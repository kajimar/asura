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image" Target="../media/image11.png"/><Relationship Id="rId12"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9.png"/><Relationship Id="rId9" Type="http://schemas.openxmlformats.org/officeDocument/2006/relationships/image" Target="../media/image20.png"/><Relationship Id="rId10"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 Id="rId9"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33.png"/><Relationship Id="rId8" Type="http://schemas.openxmlformats.org/officeDocument/2006/relationships/image" Target="../media/image34.png"/><Relationship Id="rId9" Type="http://schemas.openxmlformats.org/officeDocument/2006/relationships/image" Target="../media/image35.png"/><Relationship Id="rId10" Type="http://schemas.openxmlformats.org/officeDocument/2006/relationships/image" Target="../media/image3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 Id="rId9"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42.png"/><Relationship Id="rId8" Type="http://schemas.openxmlformats.org/officeDocument/2006/relationships/image" Target="../media/image43.png"/><Relationship Id="rId9" Type="http://schemas.openxmlformats.org/officeDocument/2006/relationships/image" Target="../media/image4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 Id="rId9"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image" Target="../media/image11.png"/><Relationship Id="rId12"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42.png"/><Relationship Id="rId8" Type="http://schemas.openxmlformats.org/officeDocument/2006/relationships/image" Target="../media/image43.png"/><Relationship Id="rId9" Type="http://schemas.openxmlformats.org/officeDocument/2006/relationships/image" Target="../media/image4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 Id="rId9"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3383279" y="3844138"/>
            <a:ext cx="534010" cy="309524"/>
          </a:xfrm>
          <a:prstGeom prst="rect">
            <a:avLst/>
          </a:prstGeom>
          <a:noFill/>
          <a:ln w="38100"/>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p>
        </p:txBody>
      </p:sp>
      <p:sp>
        <p:nvSpPr>
          <p:cNvPr id="4" name="Rectangle 3"/>
          <p:cNvSpPr/>
          <p:nvPr/>
        </p:nvSpPr>
        <p:spPr>
          <a:xfrm>
            <a:off x="5239510" y="3844138"/>
            <a:ext cx="504748" cy="309524"/>
          </a:xfrm>
          <a:prstGeom prst="rect">
            <a:avLst/>
          </a:prstGeom>
          <a:noFill/>
          <a:ln w="38100"/>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p>
        </p:txBody>
      </p:sp>
      <p:sp>
        <p:nvSpPr>
          <p:cNvPr id="5" name="Rectangle 4"/>
          <p:cNvSpPr/>
          <p:nvPr/>
        </p:nvSpPr>
        <p:spPr>
          <a:xfrm>
            <a:off x="7651697" y="3844138"/>
            <a:ext cx="1162202" cy="309524"/>
          </a:xfrm>
          <a:prstGeom prst="rect">
            <a:avLst/>
          </a:prstGeom>
          <a:noFill/>
          <a:ln w="38100"/>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p>
        </p:txBody>
      </p:sp>
      <p:sp>
        <p:nvSpPr>
          <p:cNvPr id="6" name="Rectangle 5"/>
          <p:cNvSpPr/>
          <p:nvPr/>
        </p:nvSpPr>
        <p:spPr>
          <a:xfrm>
            <a:off x="4637837" y="3844138"/>
            <a:ext cx="512977" cy="309524"/>
          </a:xfrm>
          <a:prstGeom prst="rect">
            <a:avLst/>
          </a:prstGeom>
          <a:noFill/>
          <a:ln w="38100"/>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p>
        </p:txBody>
      </p:sp>
      <p:sp>
        <p:nvSpPr>
          <p:cNvPr id="7" name="Rectangle 6"/>
          <p:cNvSpPr/>
          <p:nvPr/>
        </p:nvSpPr>
        <p:spPr>
          <a:xfrm>
            <a:off x="4631436" y="3844138"/>
            <a:ext cx="523951" cy="314553"/>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000">
                <a:solidFill>
                  <a:srgbClr val="1D1D1F"/>
                </a:solidFill>
                <a:latin typeface="Cambria"/>
              </a:rPr>
              <a:t>Template Routing</a:t>
            </a:r>
          </a:p>
        </p:txBody>
      </p:sp>
      <p:sp>
        <p:nvSpPr>
          <p:cNvPr id="8" name="Rectangle 7"/>
          <p:cNvSpPr/>
          <p:nvPr/>
        </p:nvSpPr>
        <p:spPr>
          <a:xfrm>
            <a:off x="3384194" y="3844138"/>
            <a:ext cx="534010" cy="314553"/>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000">
                <a:solidFill>
                  <a:srgbClr val="1D1D1F"/>
                </a:solidFill>
                <a:latin typeface="Cambria"/>
              </a:rPr>
              <a:t>Context Design</a:t>
            </a:r>
          </a:p>
        </p:txBody>
      </p:sp>
      <p:sp>
        <p:nvSpPr>
          <p:cNvPr id="9" name="Rectangle 8"/>
          <p:cNvSpPr/>
          <p:nvPr/>
        </p:nvSpPr>
        <p:spPr>
          <a:xfrm>
            <a:off x="5244998" y="3844138"/>
            <a:ext cx="505662" cy="314553"/>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p>
        </p:txBody>
      </p:sp>
      <p:sp>
        <p:nvSpPr>
          <p:cNvPr id="10" name="Rectangle 9"/>
          <p:cNvSpPr/>
          <p:nvPr/>
        </p:nvSpPr>
        <p:spPr>
          <a:xfrm>
            <a:off x="7653528" y="3844138"/>
            <a:ext cx="1162202" cy="314553"/>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p>
        </p:txBody>
      </p:sp>
      <p:sp>
        <p:nvSpPr>
          <p:cNvPr id="11" name="Rectangle 10"/>
          <p:cNvSpPr/>
          <p:nvPr/>
        </p:nvSpPr>
        <p:spPr>
          <a:xfrm>
            <a:off x="4010558" y="3844138"/>
            <a:ext cx="526693" cy="309524"/>
          </a:xfrm>
          <a:prstGeom prst="rect">
            <a:avLst/>
          </a:prstGeom>
          <a:noFill/>
          <a:ln w="38100"/>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p>
        </p:txBody>
      </p:sp>
      <p:sp>
        <p:nvSpPr>
          <p:cNvPr id="12" name="Rectangle 11"/>
          <p:cNvSpPr/>
          <p:nvPr/>
        </p:nvSpPr>
        <p:spPr>
          <a:xfrm>
            <a:off x="5844846" y="3844138"/>
            <a:ext cx="532179" cy="309524"/>
          </a:xfrm>
          <a:prstGeom prst="rect">
            <a:avLst/>
          </a:prstGeom>
          <a:noFill/>
          <a:ln w="38100"/>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p>
        </p:txBody>
      </p:sp>
      <p:sp>
        <p:nvSpPr>
          <p:cNvPr id="13" name="Rectangle 12"/>
          <p:cNvSpPr/>
          <p:nvPr/>
        </p:nvSpPr>
        <p:spPr>
          <a:xfrm>
            <a:off x="6472124" y="3847636"/>
            <a:ext cx="1090878" cy="309524"/>
          </a:xfrm>
          <a:prstGeom prst="rect">
            <a:avLst/>
          </a:prstGeom>
          <a:noFill/>
          <a:ln w="38100"/>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p>
        </p:txBody>
      </p:sp>
      <p:sp>
        <p:nvSpPr>
          <p:cNvPr id="14" name="Rectangle 13"/>
          <p:cNvSpPr/>
          <p:nvPr/>
        </p:nvSpPr>
        <p:spPr>
          <a:xfrm>
            <a:off x="4005072" y="3844138"/>
            <a:ext cx="534010" cy="314553"/>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000">
                <a:solidFill>
                  <a:srgbClr val="1D1D1F"/>
                </a:solidFill>
                <a:latin typeface="Cambria"/>
              </a:rPr>
              <a:t>Local LLM</a:t>
            </a:r>
          </a:p>
        </p:txBody>
      </p:sp>
      <p:sp>
        <p:nvSpPr>
          <p:cNvPr id="15" name="Rectangle 14"/>
          <p:cNvSpPr/>
          <p:nvPr/>
        </p:nvSpPr>
        <p:spPr>
          <a:xfrm>
            <a:off x="5844845" y="3844138"/>
            <a:ext cx="534010" cy="314553"/>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p>
        </p:txBody>
      </p:sp>
      <p:sp>
        <p:nvSpPr>
          <p:cNvPr id="16" name="Rectangle 15"/>
          <p:cNvSpPr/>
          <p:nvPr/>
        </p:nvSpPr>
        <p:spPr>
          <a:xfrm>
            <a:off x="6467551" y="3844138"/>
            <a:ext cx="1095451" cy="314553"/>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p>
        </p:txBody>
      </p:sp>
      <p:sp>
        <p:nvSpPr>
          <p:cNvPr id="17" name="TextBox 16"/>
          <p:cNvSpPr txBox="1"/>
          <p:nvPr/>
        </p:nvSpPr>
        <p:spPr>
          <a:xfrm>
            <a:off x="0" y="6277356"/>
            <a:ext cx="12306910" cy="200253"/>
          </a:xfrm>
          <a:prstGeom prst="rect">
            <a:avLst/>
          </a:prstGeom>
          <a:ln w="0">
            <a:noFill/>
          </a:ln>
          <a:noFill/>
        </p:spPr>
        <p:txBody>
          <a:bodyPr wrap="square" lIns="0" rIns="0" tIns="0" bIns="0">
            <a:noAutofit/>
          </a:bodyPr>
          <a:lstStyle/>
          <a:p>
            <a:pPr algn="ctr"/>
            <a:r>
              <a:rPr sz="1000">
                <a:solidFill>
                  <a:srgbClr val="86868B"/>
                </a:solidFill>
                <a:latin typeface="Cambria"/>
              </a:rPr>
              <a:t>一次情報の収集・安全化・構造化による生成AI活用の試作</a:t>
            </a:r>
          </a:p>
        </p:txBody>
      </p:sp>
      <p:pic>
        <p:nvPicPr>
          <p:cNvPr id="18" name="Picture 17" descr="image.png"/>
          <p:cNvPicPr>
            <a:picLocks noChangeAspect="1"/>
          </p:cNvPicPr>
          <p:nvPr/>
        </p:nvPicPr>
        <p:blipFill>
          <a:blip r:embed="rId2"/>
          <a:stretch>
            <a:fillRect/>
          </a:stretch>
        </p:blipFill>
        <p:spPr>
          <a:xfrm>
            <a:off x="2190902" y="809244"/>
            <a:ext cx="609905" cy="609905"/>
          </a:xfrm>
          <a:prstGeom prst="rect">
            <a:avLst/>
          </a:prstGeom>
          <a:ln w="0">
            <a:noFill/>
          </a:ln>
        </p:spPr>
      </p:pic>
      <p:sp>
        <p:nvSpPr>
          <p:cNvPr id="19" name="TextBox 18"/>
          <p:cNvSpPr txBox="1"/>
          <p:nvPr/>
        </p:nvSpPr>
        <p:spPr>
          <a:xfrm>
            <a:off x="2133295" y="1705356"/>
            <a:ext cx="7925105" cy="257861"/>
          </a:xfrm>
          <a:prstGeom prst="rect">
            <a:avLst/>
          </a:prstGeom>
          <a:ln w="0">
            <a:noFill/>
          </a:ln>
          <a:noFill/>
        </p:spPr>
        <p:txBody>
          <a:bodyPr wrap="square" lIns="0" rIns="0" tIns="0" bIns="0">
            <a:noAutofit/>
          </a:bodyPr>
          <a:lstStyle/>
          <a:p>
            <a:pPr algn="ctr"/>
            <a:r>
              <a:rPr sz="1300">
                <a:solidFill>
                  <a:srgbClr val="86868B"/>
                </a:solidFill>
                <a:latin typeface="Cambria"/>
              </a:rPr>
              <a:t>Company Report / AI Utilization</a:t>
            </a:r>
          </a:p>
        </p:txBody>
      </p:sp>
      <p:sp>
        <p:nvSpPr>
          <p:cNvPr id="20" name="TextBox 19"/>
          <p:cNvSpPr txBox="1"/>
          <p:nvPr/>
        </p:nvSpPr>
        <p:spPr>
          <a:xfrm>
            <a:off x="1677924" y="2190902"/>
            <a:ext cx="8837676" cy="590701"/>
          </a:xfrm>
          <a:prstGeom prst="rect">
            <a:avLst/>
          </a:prstGeom>
          <a:ln w="0">
            <a:noFill/>
          </a:ln>
          <a:noFill/>
        </p:spPr>
        <p:txBody>
          <a:bodyPr wrap="square" lIns="0" rIns="0" tIns="0" bIns="0">
            <a:noAutofit/>
          </a:bodyPr>
          <a:lstStyle/>
          <a:p>
            <a:pPr algn="ctr"/>
            <a:r>
              <a:rPr sz="4200" b="1">
                <a:solidFill>
                  <a:srgbClr val="1D1D1F"/>
                </a:solidFill>
                <a:latin typeface="Noto Sans JP"/>
              </a:rPr>
              <a:t>一次情報の収集・安全化・構造化による生成AI活用の試作</a:t>
            </a:r>
          </a:p>
        </p:txBody>
      </p:sp>
      <p:sp>
        <p:nvSpPr>
          <p:cNvPr id="21" name="TextBox 20"/>
          <p:cNvSpPr txBox="1"/>
          <p:nvPr/>
        </p:nvSpPr>
        <p:spPr>
          <a:xfrm>
            <a:off x="2095805" y="2929738"/>
            <a:ext cx="8001000" cy="457200"/>
          </a:xfrm>
          <a:prstGeom prst="rect">
            <a:avLst/>
          </a:prstGeom>
          <a:ln w="0">
            <a:noFill/>
          </a:ln>
          <a:noFill/>
        </p:spPr>
        <p:txBody>
          <a:bodyPr wrap="square" lIns="0" rIns="0" tIns="0" bIns="0">
            <a:noAutofit/>
          </a:bodyPr>
          <a:lstStyle/>
          <a:p>
            <a:pPr algn="ctr"/>
            <a:r>
              <a:rPr sz="2400">
                <a:solidFill>
                  <a:srgbClr val="424245"/>
                </a:solidFill>
                <a:latin typeface="Noto Sans JP"/>
              </a:rPr>
              <a:t>3つのユースケースを通じた実務適用の整理</a:t>
            </a:r>
          </a:p>
        </p:txBody>
      </p:sp>
      <p:sp>
        <p:nvSpPr>
          <p:cNvPr id="22" name="Rounded Rectangle 21"/>
          <p:cNvSpPr/>
          <p:nvPr/>
        </p:nvSpPr>
        <p:spPr>
          <a:xfrm>
            <a:off x="2190902" y="4463186"/>
            <a:ext cx="7810805" cy="1591055"/>
          </a:xfrm>
          <a:prstGeom prst="roundRect">
            <a:avLst/>
          </a:prstGeom>
          <a:solidFill>
            <a:srgbClr val="F5F5F7"/>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ounded Rectangle 22"/>
          <p:cNvSpPr/>
          <p:nvPr/>
        </p:nvSpPr>
        <p:spPr>
          <a:xfrm>
            <a:off x="2190902" y="4463186"/>
            <a:ext cx="38405" cy="1591055"/>
          </a:xfrm>
          <a:prstGeom prst="roundRect">
            <a:avLst/>
          </a:prstGeom>
          <a:solidFill>
            <a:srgbClr val="007A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2533802" y="4691786"/>
            <a:ext cx="7277710" cy="228600"/>
          </a:xfrm>
          <a:prstGeom prst="rect">
            <a:avLst/>
          </a:prstGeom>
          <a:ln w="0">
            <a:noFill/>
          </a:ln>
          <a:noFill/>
        </p:spPr>
        <p:txBody>
          <a:bodyPr wrap="square" lIns="0" rIns="0" tIns="0" bIns="0">
            <a:noAutofit/>
          </a:bodyPr>
          <a:lstStyle/>
          <a:p>
            <a:pPr algn="l"/>
            <a:r>
              <a:rPr sz="1200" b="1">
                <a:solidFill>
                  <a:srgbClr val="007AFF"/>
                </a:solidFill>
                <a:latin typeface="Cambria"/>
              </a:rPr>
              <a:t>Takeaway</a:t>
            </a:r>
          </a:p>
        </p:txBody>
      </p:sp>
      <p:sp>
        <p:nvSpPr>
          <p:cNvPr id="25" name="TextBox 24"/>
          <p:cNvSpPr txBox="1"/>
          <p:nvPr/>
        </p:nvSpPr>
        <p:spPr>
          <a:xfrm>
            <a:off x="2533802" y="4997196"/>
            <a:ext cx="7239305" cy="829360"/>
          </a:xfrm>
          <a:prstGeom prst="rect">
            <a:avLst/>
          </a:prstGeom>
          <a:ln w="0">
            <a:noFill/>
          </a:ln>
          <a:noFill/>
        </p:spPr>
        <p:txBody>
          <a:bodyPr wrap="square" lIns="0" rIns="0" tIns="0" bIns="0">
            <a:noAutofit/>
          </a:bodyPr>
          <a:lstStyle/>
          <a:p>
            <a:pPr algn="l"/>
            <a:r>
              <a:rPr sz="1300">
                <a:solidFill>
                  <a:srgbClr val="1D1D1F"/>
                </a:solidFill>
                <a:latin typeface="Cambria"/>
              </a:rPr>
              <a:t>生成AIの品質差は、モデル差よりも、一次情報をどれだけ集めて、安全に前処理し、目的に沿って構造化して渡せるかで決まる。</a:t>
            </a:r>
          </a:p>
        </p:txBody>
      </p:sp>
      <p:sp>
        <p:nvSpPr>
          <p:cNvPr id="26" name="Rectangle 25"/>
          <p:cNvSpPr/>
          <p:nvPr/>
        </p:nvSpPr>
        <p:spPr>
          <a:xfrm>
            <a:off x="0" y="0"/>
            <a:ext cx="12192001" cy="75896"/>
          </a:xfrm>
          <a:prstGeom prst="rect">
            <a:avLst/>
          </a:prstGeom>
          <a:solidFill>
            <a:srgbClr val="02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6476695"/>
            <a:ext cx="12192609" cy="381305"/>
          </a:xfrm>
          <a:prstGeom prst="rect">
            <a:avLst/>
          </a:prstGeom>
          <a:solidFill>
            <a:srgbClr val="F6F5F8"/>
          </a:solidFill>
          <a:ln w="15875">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4" name="Rectangle 3"/>
          <p:cNvSpPr/>
          <p:nvPr/>
        </p:nvSpPr>
        <p:spPr>
          <a:xfrm>
            <a:off x="0" y="6476695"/>
            <a:ext cx="12192610" cy="381305"/>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900">
                <a:solidFill>
                  <a:srgbClr val="86868B"/>
                </a:solidFill>
                <a:latin typeface="Cambria"/>
              </a:rPr>
              <a:t>Page 2 | 一次情報の収集・安全化・構造化による生成AI活用の試作</a:t>
            </a:r>
          </a:p>
        </p:txBody>
      </p:sp>
      <p:sp>
        <p:nvSpPr>
          <p:cNvPr id="5" name="Rounded Rectangle 4"/>
          <p:cNvSpPr/>
          <p:nvPr/>
        </p:nvSpPr>
        <p:spPr>
          <a:xfrm>
            <a:off x="481887" y="1312153"/>
            <a:ext cx="11221662" cy="790509"/>
          </a:xfrm>
          <a:prstGeom prst="roundRect">
            <a:avLst/>
          </a:prstGeom>
          <a:solidFill>
            <a:srgbClr val="F0F9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75532" y="571500"/>
            <a:ext cx="304495" cy="304494"/>
          </a:xfrm>
          <a:prstGeom prst="rect">
            <a:avLst/>
          </a:prstGeom>
          <a:ln w="0">
            <a:noFill/>
          </a:ln>
        </p:spPr>
      </p:pic>
      <p:sp>
        <p:nvSpPr>
          <p:cNvPr id="7" name="TextBox 6"/>
          <p:cNvSpPr txBox="1"/>
          <p:nvPr/>
        </p:nvSpPr>
        <p:spPr>
          <a:xfrm>
            <a:off x="914400" y="495605"/>
            <a:ext cx="4620463" cy="457200"/>
          </a:xfrm>
          <a:prstGeom prst="rect">
            <a:avLst/>
          </a:prstGeom>
          <a:ln w="0">
            <a:noFill/>
          </a:ln>
          <a:noFill/>
        </p:spPr>
        <p:txBody>
          <a:bodyPr wrap="square" lIns="0" rIns="0" tIns="0" bIns="0">
            <a:noAutofit/>
          </a:bodyPr>
          <a:lstStyle/>
          <a:p>
            <a:pPr algn="l"/>
            <a:r>
              <a:rPr sz="2400" b="1">
                <a:solidFill>
                  <a:srgbClr val="1D1D1F"/>
                </a:solidFill>
                <a:latin typeface="Noto Sans JP"/>
              </a:rPr>
              <a:t>モデル差より、一次情報の収集と入力設計が価値になる</a:t>
            </a:r>
          </a:p>
        </p:txBody>
      </p:sp>
      <p:sp>
        <p:nvSpPr>
          <p:cNvPr id="8" name="TextBox 7"/>
          <p:cNvSpPr txBox="1"/>
          <p:nvPr/>
        </p:nvSpPr>
        <p:spPr>
          <a:xfrm>
            <a:off x="475532" y="208939"/>
            <a:ext cx="2397557" cy="257860"/>
          </a:xfrm>
          <a:prstGeom prst="rect">
            <a:avLst/>
          </a:prstGeom>
          <a:ln w="0">
            <a:noFill/>
          </a:ln>
          <a:noFill/>
        </p:spPr>
        <p:txBody>
          <a:bodyPr wrap="square" lIns="0" rIns="0" tIns="0" bIns="0">
            <a:noAutofit/>
          </a:bodyPr>
          <a:lstStyle/>
          <a:p>
            <a:pPr algn="l"/>
            <a:r>
              <a:rPr sz="1000">
                <a:solidFill>
                  <a:srgbClr val="86868B"/>
                </a:solidFill>
                <a:latin typeface="Noto Sans JP"/>
              </a:rPr>
              <a:t>My Perspective</a:t>
            </a:r>
          </a:p>
        </p:txBody>
      </p:sp>
      <p:sp>
        <p:nvSpPr>
          <p:cNvPr id="9" name="TextBox 8"/>
          <p:cNvSpPr txBox="1"/>
          <p:nvPr/>
        </p:nvSpPr>
        <p:spPr>
          <a:xfrm>
            <a:off x="914400" y="1426920"/>
            <a:ext cx="10849356" cy="648309"/>
          </a:xfrm>
          <a:prstGeom prst="rect">
            <a:avLst/>
          </a:prstGeom>
          <a:ln w="0">
            <a:noFill/>
          </a:ln>
          <a:noFill/>
        </p:spPr>
        <p:txBody>
          <a:bodyPr wrap="square" lIns="0" rIns="0" tIns="0" bIns="0">
            <a:noAutofit/>
          </a:bodyPr>
          <a:lstStyle/>
          <a:p>
            <a:pPr algn="l"/>
            <a:r>
              <a:rPr sz="1800" b="1">
                <a:solidFill>
                  <a:srgbClr val="1D1D1F"/>
                </a:solidFill>
                <a:latin typeface="Cambria"/>
              </a:rPr>
              <a:t>生成AIの性能は今後も上がる。現場で差が出るのは、何をどう渡せるかである。</a:t>
            </a:r>
          </a:p>
        </p:txBody>
      </p:sp>
      <p:sp>
        <p:nvSpPr>
          <p:cNvPr id="10" name="Rounded Rectangle 9"/>
          <p:cNvSpPr/>
          <p:nvPr/>
        </p:nvSpPr>
        <p:spPr>
          <a:xfrm>
            <a:off x="538167" y="2381097"/>
            <a:ext cx="5486400" cy="3981297"/>
          </a:xfrm>
          <a:prstGeom prst="roundRect">
            <a:avLst/>
          </a:prstGeom>
          <a:solidFill>
            <a:srgbClr val="FFFFFF"/>
          </a:solidFill>
          <a:ln w="12700">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775911" y="3019348"/>
            <a:ext cx="5009997" cy="19201"/>
          </a:xfrm>
          <a:prstGeom prst="rect">
            <a:avLst/>
          </a:prstGeom>
          <a:solidFill>
            <a:srgbClr val="F5F5F7">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3"/>
          <a:stretch>
            <a:fillRect/>
          </a:stretch>
        </p:blipFill>
        <p:spPr>
          <a:xfrm>
            <a:off x="775911" y="2667304"/>
            <a:ext cx="219456" cy="190194"/>
          </a:xfrm>
          <a:prstGeom prst="rect">
            <a:avLst/>
          </a:prstGeom>
          <a:ln w="0">
            <a:noFill/>
          </a:ln>
        </p:spPr>
      </p:pic>
      <p:sp>
        <p:nvSpPr>
          <p:cNvPr id="13" name="TextBox 12"/>
          <p:cNvSpPr txBox="1"/>
          <p:nvPr/>
        </p:nvSpPr>
        <p:spPr>
          <a:xfrm>
            <a:off x="1109667" y="2619755"/>
            <a:ext cx="2171700" cy="419710"/>
          </a:xfrm>
          <a:prstGeom prst="rect">
            <a:avLst/>
          </a:prstGeom>
          <a:ln w="0">
            <a:noFill/>
          </a:ln>
          <a:noFill/>
        </p:spPr>
        <p:txBody>
          <a:bodyPr wrap="square" lIns="0" rIns="0" tIns="0" bIns="0">
            <a:noAutofit/>
          </a:bodyPr>
          <a:lstStyle/>
          <a:p>
            <a:pPr algn="l"/>
            <a:r>
              <a:rPr sz="1500" b="1">
                <a:solidFill>
                  <a:srgbClr val="1D1D1F"/>
                </a:solidFill>
                <a:latin typeface="Noto Sans JP"/>
              </a:rPr>
              <a:t>モデル自体を作る競争では、大手基盤モデル企業に勝ちにくい。</a:t>
            </a:r>
          </a:p>
        </p:txBody>
      </p:sp>
      <p:pic>
        <p:nvPicPr>
          <p:cNvPr id="14" name="Picture 13" descr="image.png"/>
          <p:cNvPicPr>
            <a:picLocks noChangeAspect="1"/>
          </p:cNvPicPr>
          <p:nvPr/>
        </p:nvPicPr>
        <p:blipFill>
          <a:blip r:embed="rId4"/>
          <a:stretch>
            <a:fillRect/>
          </a:stretch>
        </p:blipFill>
        <p:spPr>
          <a:xfrm>
            <a:off x="775911" y="3191255"/>
            <a:ext cx="105156" cy="114300"/>
          </a:xfrm>
          <a:prstGeom prst="rect">
            <a:avLst/>
          </a:prstGeom>
          <a:ln w="0">
            <a:noFill/>
          </a:ln>
        </p:spPr>
      </p:pic>
      <p:sp>
        <p:nvSpPr>
          <p:cNvPr id="15" name="TextBox 14"/>
          <p:cNvSpPr txBox="1"/>
          <p:nvPr/>
        </p:nvSpPr>
        <p:spPr>
          <a:xfrm>
            <a:off x="976164" y="3434486"/>
            <a:ext cx="4886554" cy="495605"/>
          </a:xfrm>
          <a:prstGeom prst="rect">
            <a:avLst/>
          </a:prstGeom>
          <a:ln w="0">
            <a:noFill/>
          </a:ln>
          <a:noFill/>
        </p:spPr>
        <p:txBody>
          <a:bodyPr wrap="square" lIns="0" rIns="0" tIns="0" bIns="0">
            <a:noAutofit/>
          </a:bodyPr>
          <a:lstStyle/>
          <a:p>
            <a:pPr algn="l"/>
            <a:r>
              <a:rPr sz="1200">
                <a:solidFill>
                  <a:srgbClr val="424245"/>
                </a:solidFill>
                <a:latin typeface="Noto Sans JP"/>
              </a:rPr>
              <a:t>前提</a:t>
            </a:r>
          </a:p>
        </p:txBody>
      </p:sp>
      <p:pic>
        <p:nvPicPr>
          <p:cNvPr id="16" name="Picture 15" descr="image.png"/>
          <p:cNvPicPr>
            <a:picLocks noChangeAspect="1"/>
          </p:cNvPicPr>
          <p:nvPr/>
        </p:nvPicPr>
        <p:blipFill>
          <a:blip r:embed="rId4"/>
          <a:stretch>
            <a:fillRect/>
          </a:stretch>
        </p:blipFill>
        <p:spPr>
          <a:xfrm>
            <a:off x="775911" y="4037075"/>
            <a:ext cx="105156" cy="114300"/>
          </a:xfrm>
          <a:prstGeom prst="rect">
            <a:avLst/>
          </a:prstGeom>
          <a:ln w="0">
            <a:noFill/>
          </a:ln>
        </p:spPr>
      </p:pic>
      <p:sp>
        <p:nvSpPr>
          <p:cNvPr id="17" name="TextBox 16"/>
          <p:cNvSpPr txBox="1"/>
          <p:nvPr/>
        </p:nvSpPr>
        <p:spPr>
          <a:xfrm>
            <a:off x="976164" y="4280306"/>
            <a:ext cx="4886554" cy="495605"/>
          </a:xfrm>
          <a:prstGeom prst="rect">
            <a:avLst/>
          </a:prstGeom>
          <a:ln w="0">
            <a:noFill/>
          </a:ln>
          <a:noFill/>
        </p:spPr>
        <p:txBody>
          <a:bodyPr wrap="square" lIns="0" rIns="0" tIns="0" bIns="0">
            <a:noAutofit/>
          </a:bodyPr>
          <a:lstStyle/>
          <a:p>
            <a:pPr algn="l"/>
            <a:r>
              <a:rPr sz="1200">
                <a:solidFill>
                  <a:srgbClr val="424245"/>
                </a:solidFill>
                <a:latin typeface="Noto Sans JP"/>
              </a:rPr>
              <a:t>そのため、利用側の差別化ポイントはモデル開発より運用設計へ移る。</a:t>
            </a:r>
          </a:p>
        </p:txBody>
      </p:sp>
      <p:pic>
        <p:nvPicPr>
          <p:cNvPr id="18" name="Picture 17" descr="image.png"/>
          <p:cNvPicPr>
            <a:picLocks noChangeAspect="1"/>
          </p:cNvPicPr>
          <p:nvPr/>
        </p:nvPicPr>
        <p:blipFill>
          <a:blip r:embed="rId4"/>
          <a:stretch>
            <a:fillRect/>
          </a:stretch>
        </p:blipFill>
        <p:spPr>
          <a:xfrm>
            <a:off x="775911" y="4881981"/>
            <a:ext cx="105156" cy="114300"/>
          </a:xfrm>
          <a:prstGeom prst="rect">
            <a:avLst/>
          </a:prstGeom>
          <a:ln w="0">
            <a:noFill/>
          </a:ln>
        </p:spPr>
      </p:pic>
      <p:sp>
        <p:nvSpPr>
          <p:cNvPr id="19" name="TextBox 18"/>
          <p:cNvSpPr txBox="1"/>
          <p:nvPr/>
        </p:nvSpPr>
        <p:spPr>
          <a:xfrm>
            <a:off x="976164" y="5126126"/>
            <a:ext cx="4886554" cy="495605"/>
          </a:xfrm>
          <a:prstGeom prst="rect">
            <a:avLst/>
          </a:prstGeom>
          <a:ln w="0">
            <a:noFill/>
          </a:ln>
          <a:noFill/>
        </p:spPr>
        <p:txBody>
          <a:bodyPr wrap="square" lIns="0" rIns="0" tIns="0" bIns="0">
            <a:noAutofit/>
          </a:bodyPr>
          <a:lstStyle/>
          <a:p>
            <a:pPr algn="l"/>
            <a:r>
              <a:rPr sz="1200">
                <a:solidFill>
                  <a:srgbClr val="424245"/>
                </a:solidFill>
                <a:latin typeface="Cambria"/>
              </a:rPr>
              <a:t>人間の役割は、一次情報を集めて目的に沿って渡すことにある。</a:t>
            </a:r>
          </a:p>
        </p:txBody>
      </p:sp>
      <p:pic>
        <p:nvPicPr>
          <p:cNvPr id="20" name="Picture 19" descr="image.png"/>
          <p:cNvPicPr>
            <a:picLocks noChangeAspect="1"/>
          </p:cNvPicPr>
          <p:nvPr/>
        </p:nvPicPr>
        <p:blipFill>
          <a:blip r:embed="rId5"/>
          <a:stretch>
            <a:fillRect/>
          </a:stretch>
        </p:blipFill>
        <p:spPr>
          <a:xfrm>
            <a:off x="1052974" y="5408675"/>
            <a:ext cx="400506" cy="200253"/>
          </a:xfrm>
          <a:prstGeom prst="rect">
            <a:avLst/>
          </a:prstGeom>
          <a:ln w="0">
            <a:noFill/>
          </a:ln>
        </p:spPr>
      </p:pic>
      <p:sp>
        <p:nvSpPr>
          <p:cNvPr id="21" name="Rectangle 20"/>
          <p:cNvSpPr/>
          <p:nvPr/>
        </p:nvSpPr>
        <p:spPr>
          <a:xfrm>
            <a:off x="1052974" y="5408675"/>
            <a:ext cx="400506" cy="200253"/>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6"/>
          <a:stretch>
            <a:fillRect/>
          </a:stretch>
        </p:blipFill>
        <p:spPr>
          <a:xfrm>
            <a:off x="775911" y="5766206"/>
            <a:ext cx="857707" cy="276148"/>
          </a:xfrm>
          <a:prstGeom prst="rect">
            <a:avLst/>
          </a:prstGeom>
          <a:ln w="0">
            <a:noFill/>
          </a:ln>
        </p:spPr>
      </p:pic>
      <p:sp>
        <p:nvSpPr>
          <p:cNvPr id="23" name="Rectangle 22"/>
          <p:cNvSpPr/>
          <p:nvPr/>
        </p:nvSpPr>
        <p:spPr>
          <a:xfrm>
            <a:off x="775911" y="5766206"/>
            <a:ext cx="857707" cy="277063"/>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24" name="Picture 23" descr="image.png"/>
          <p:cNvPicPr>
            <a:picLocks noChangeAspect="1"/>
          </p:cNvPicPr>
          <p:nvPr/>
        </p:nvPicPr>
        <p:blipFill>
          <a:blip r:embed="rId7"/>
          <a:stretch>
            <a:fillRect/>
          </a:stretch>
        </p:blipFill>
        <p:spPr>
          <a:xfrm>
            <a:off x="1704027" y="5766206"/>
            <a:ext cx="1285646" cy="276148"/>
          </a:xfrm>
          <a:prstGeom prst="rect">
            <a:avLst/>
          </a:prstGeom>
          <a:ln w="0">
            <a:noFill/>
          </a:ln>
        </p:spPr>
      </p:pic>
      <p:sp>
        <p:nvSpPr>
          <p:cNvPr id="25" name="Rectangle 24"/>
          <p:cNvSpPr/>
          <p:nvPr/>
        </p:nvSpPr>
        <p:spPr>
          <a:xfrm>
            <a:off x="1704027" y="5766206"/>
            <a:ext cx="1286561" cy="277063"/>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8"/>
          <a:stretch>
            <a:fillRect/>
          </a:stretch>
        </p:blipFill>
        <p:spPr>
          <a:xfrm>
            <a:off x="3058253" y="5766206"/>
            <a:ext cx="1028700" cy="276148"/>
          </a:xfrm>
          <a:prstGeom prst="rect">
            <a:avLst/>
          </a:prstGeom>
          <a:ln w="0">
            <a:noFill/>
          </a:ln>
        </p:spPr>
      </p:pic>
      <p:sp>
        <p:nvSpPr>
          <p:cNvPr id="27" name="Rectangle 26"/>
          <p:cNvSpPr/>
          <p:nvPr/>
        </p:nvSpPr>
        <p:spPr>
          <a:xfrm>
            <a:off x="3058253" y="5766206"/>
            <a:ext cx="1028700" cy="277063"/>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ounded Rectangle 27"/>
          <p:cNvSpPr/>
          <p:nvPr/>
        </p:nvSpPr>
        <p:spPr>
          <a:xfrm>
            <a:off x="6329062" y="2381097"/>
            <a:ext cx="5486400" cy="3981297"/>
          </a:xfrm>
          <a:prstGeom prst="roundRect">
            <a:avLst/>
          </a:prstGeom>
          <a:solidFill>
            <a:srgbClr val="FFFFFF"/>
          </a:solidFill>
          <a:ln w="12700">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6567721" y="3019348"/>
            <a:ext cx="5009998" cy="19201"/>
          </a:xfrm>
          <a:prstGeom prst="rect">
            <a:avLst/>
          </a:prstGeom>
          <a:solidFill>
            <a:srgbClr val="F5F5F7">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9"/>
          <a:stretch>
            <a:fillRect/>
          </a:stretch>
        </p:blipFill>
        <p:spPr>
          <a:xfrm>
            <a:off x="6567721" y="2667304"/>
            <a:ext cx="190194" cy="190194"/>
          </a:xfrm>
          <a:prstGeom prst="rect">
            <a:avLst/>
          </a:prstGeom>
          <a:ln w="0">
            <a:noFill/>
          </a:ln>
        </p:spPr>
      </p:pic>
      <p:sp>
        <p:nvSpPr>
          <p:cNvPr id="31" name="TextBox 30"/>
          <p:cNvSpPr txBox="1"/>
          <p:nvPr/>
        </p:nvSpPr>
        <p:spPr>
          <a:xfrm>
            <a:off x="6872216" y="2619755"/>
            <a:ext cx="3324758" cy="419710"/>
          </a:xfrm>
          <a:prstGeom prst="rect">
            <a:avLst/>
          </a:prstGeom>
          <a:ln w="0">
            <a:noFill/>
          </a:ln>
          <a:noFill/>
        </p:spPr>
        <p:txBody>
          <a:bodyPr wrap="square" lIns="0" rIns="0" tIns="0" bIns="0">
            <a:noAutofit/>
          </a:bodyPr>
          <a:lstStyle/>
          <a:p>
            <a:pPr algn="l"/>
            <a:r>
              <a:rPr sz="1500" b="1">
                <a:solidFill>
                  <a:srgbClr val="1D1D1F"/>
                </a:solidFill>
                <a:latin typeface="Noto Sans JP"/>
              </a:rPr>
              <a:t>AIが会議を理解しない、自分らしく書かない、少しずれるといった課題は、多くの場合コンテキスト不足で起きる。</a:t>
            </a:r>
          </a:p>
        </p:txBody>
      </p:sp>
      <p:pic>
        <p:nvPicPr>
          <p:cNvPr id="32" name="Picture 31" descr="image.png"/>
          <p:cNvPicPr>
            <a:picLocks noChangeAspect="1"/>
          </p:cNvPicPr>
          <p:nvPr/>
        </p:nvPicPr>
        <p:blipFill>
          <a:blip r:embed="rId10"/>
          <a:stretch>
            <a:fillRect/>
          </a:stretch>
        </p:blipFill>
        <p:spPr>
          <a:xfrm>
            <a:off x="6567721" y="3191255"/>
            <a:ext cx="114300" cy="114300"/>
          </a:xfrm>
          <a:prstGeom prst="rect">
            <a:avLst/>
          </a:prstGeom>
          <a:ln w="0">
            <a:noFill/>
          </a:ln>
        </p:spPr>
      </p:pic>
      <p:sp>
        <p:nvSpPr>
          <p:cNvPr id="33" name="TextBox 32"/>
          <p:cNvSpPr txBox="1"/>
          <p:nvPr/>
        </p:nvSpPr>
        <p:spPr>
          <a:xfrm>
            <a:off x="6777118" y="3434486"/>
            <a:ext cx="4877410" cy="495605"/>
          </a:xfrm>
          <a:prstGeom prst="rect">
            <a:avLst/>
          </a:prstGeom>
          <a:ln w="0">
            <a:noFill/>
          </a:ln>
          <a:noFill/>
        </p:spPr>
        <p:txBody>
          <a:bodyPr wrap="square" lIns="0" rIns="0" tIns="0" bIns="0">
            <a:noAutofit/>
          </a:bodyPr>
          <a:lstStyle/>
          <a:p>
            <a:pPr algn="l"/>
            <a:r>
              <a:rPr sz="1200">
                <a:solidFill>
                  <a:srgbClr val="424245"/>
                </a:solidFill>
                <a:latin typeface="Cambria"/>
              </a:rPr>
              <a:t>実務上の含意</a:t>
            </a:r>
          </a:p>
        </p:txBody>
      </p:sp>
      <p:pic>
        <p:nvPicPr>
          <p:cNvPr id="34" name="Picture 33" descr="image.png"/>
          <p:cNvPicPr>
            <a:picLocks noChangeAspect="1"/>
          </p:cNvPicPr>
          <p:nvPr/>
        </p:nvPicPr>
        <p:blipFill>
          <a:blip r:embed="rId11"/>
          <a:stretch>
            <a:fillRect/>
          </a:stretch>
        </p:blipFill>
        <p:spPr>
          <a:xfrm>
            <a:off x="10510613" y="3717035"/>
            <a:ext cx="256945" cy="200253"/>
          </a:xfrm>
          <a:prstGeom prst="rect">
            <a:avLst/>
          </a:prstGeom>
          <a:ln w="0">
            <a:noFill/>
          </a:ln>
        </p:spPr>
      </p:pic>
      <p:sp>
        <p:nvSpPr>
          <p:cNvPr id="35" name="Rectangle 34"/>
          <p:cNvSpPr/>
          <p:nvPr/>
        </p:nvSpPr>
        <p:spPr>
          <a:xfrm>
            <a:off x="10510613" y="3717035"/>
            <a:ext cx="257860" cy="200253"/>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36" name="Picture 35" descr="image.png"/>
          <p:cNvPicPr>
            <a:picLocks noChangeAspect="1"/>
          </p:cNvPicPr>
          <p:nvPr/>
        </p:nvPicPr>
        <p:blipFill>
          <a:blip r:embed="rId12"/>
          <a:stretch>
            <a:fillRect/>
          </a:stretch>
        </p:blipFill>
        <p:spPr>
          <a:xfrm>
            <a:off x="6567721" y="4037075"/>
            <a:ext cx="133502" cy="114300"/>
          </a:xfrm>
          <a:prstGeom prst="rect">
            <a:avLst/>
          </a:prstGeom>
          <a:ln w="0">
            <a:noFill/>
          </a:ln>
        </p:spPr>
      </p:pic>
      <p:sp>
        <p:nvSpPr>
          <p:cNvPr id="37" name="TextBox 36"/>
          <p:cNvSpPr txBox="1"/>
          <p:nvPr/>
        </p:nvSpPr>
        <p:spPr>
          <a:xfrm>
            <a:off x="6796321" y="4280306"/>
            <a:ext cx="3781958" cy="247801"/>
          </a:xfrm>
          <a:prstGeom prst="rect">
            <a:avLst/>
          </a:prstGeom>
          <a:ln w="0">
            <a:noFill/>
          </a:ln>
          <a:noFill/>
        </p:spPr>
        <p:txBody>
          <a:bodyPr wrap="square" lIns="0" rIns="0" tIns="0" bIns="0">
            <a:noAutofit/>
          </a:bodyPr>
          <a:lstStyle/>
          <a:p>
            <a:pPr algn="l"/>
            <a:r>
              <a:rPr sz="1200">
                <a:solidFill>
                  <a:srgbClr val="424245"/>
                </a:solidFill>
                <a:latin typeface="Noto Sans JP"/>
              </a:rPr>
              <a:t>重要なのは、収集・安全化・構造化を一連で設計すること。</a:t>
            </a:r>
          </a:p>
        </p:txBody>
      </p:sp>
      <p:sp>
        <p:nvSpPr>
          <p:cNvPr id="38" name="TextBox 37"/>
          <p:cNvSpPr txBox="1"/>
          <p:nvPr/>
        </p:nvSpPr>
        <p:spPr>
          <a:xfrm>
            <a:off x="7024921" y="4561941"/>
            <a:ext cx="3477463" cy="219456"/>
          </a:xfrm>
          <a:prstGeom prst="rect">
            <a:avLst/>
          </a:prstGeom>
          <a:ln w="0">
            <a:noFill/>
          </a:ln>
          <a:noFill/>
        </p:spPr>
        <p:txBody>
          <a:bodyPr wrap="square" lIns="0" rIns="0" tIns="0" bIns="0">
            <a:noAutofit/>
          </a:bodyPr>
          <a:lstStyle/>
          <a:p>
            <a:pPr algn="l"/>
            <a:r>
              <a:rPr sz="1000" b="1">
                <a:solidFill>
                  <a:srgbClr val="4B5563"/>
                </a:solidFill>
                <a:latin typeface="Cambria"/>
              </a:rPr>
              <a:t>本資料では、その考え方を3つのユースケースで整理する。</a:t>
            </a:r>
          </a:p>
        </p:txBody>
      </p:sp>
      <p:pic>
        <p:nvPicPr>
          <p:cNvPr id="39" name="Picture 38" descr="image.png"/>
          <p:cNvPicPr>
            <a:picLocks noChangeAspect="1"/>
          </p:cNvPicPr>
          <p:nvPr/>
        </p:nvPicPr>
        <p:blipFill>
          <a:blip r:embed="rId11"/>
          <a:stretch>
            <a:fillRect/>
          </a:stretch>
        </p:blipFill>
        <p:spPr>
          <a:xfrm>
            <a:off x="10129309" y="4573828"/>
            <a:ext cx="256945" cy="200253"/>
          </a:xfrm>
          <a:prstGeom prst="rect">
            <a:avLst/>
          </a:prstGeom>
          <a:ln w="0">
            <a:noFill/>
          </a:ln>
        </p:spPr>
      </p:pic>
      <p:sp>
        <p:nvSpPr>
          <p:cNvPr id="40" name="Rectangle 39"/>
          <p:cNvSpPr/>
          <p:nvPr/>
        </p:nvSpPr>
        <p:spPr>
          <a:xfrm>
            <a:off x="10129309" y="4573828"/>
            <a:ext cx="257860" cy="200253"/>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024921" y="4774082"/>
            <a:ext cx="3477463" cy="219455"/>
          </a:xfrm>
          <a:prstGeom prst="rect">
            <a:avLst/>
          </a:prstGeom>
          <a:ln w="0">
            <a:noFill/>
          </a:ln>
          <a:noFill/>
        </p:spPr>
        <p:txBody>
          <a:bodyPr wrap="square" lIns="0" rIns="0" tIns="0" bIns="0">
            <a:noAutofit/>
          </a:bodyPr>
          <a:lstStyle/>
          <a:p>
            <a:pPr algn="l"/>
          </a:p>
        </p:txBody>
      </p:sp>
      <p:pic>
        <p:nvPicPr>
          <p:cNvPr id="42" name="Picture 41" descr="image.png"/>
          <p:cNvPicPr>
            <a:picLocks noChangeAspect="1"/>
          </p:cNvPicPr>
          <p:nvPr/>
        </p:nvPicPr>
        <p:blipFill>
          <a:blip r:embed="rId11"/>
          <a:stretch>
            <a:fillRect/>
          </a:stretch>
        </p:blipFill>
        <p:spPr>
          <a:xfrm>
            <a:off x="9850417" y="4785055"/>
            <a:ext cx="256945" cy="200253"/>
          </a:xfrm>
          <a:prstGeom prst="rect">
            <a:avLst/>
          </a:prstGeom>
          <a:ln w="0">
            <a:noFill/>
          </a:ln>
        </p:spPr>
      </p:pic>
      <p:sp>
        <p:nvSpPr>
          <p:cNvPr id="43" name="Rectangle 42"/>
          <p:cNvSpPr/>
          <p:nvPr/>
        </p:nvSpPr>
        <p:spPr>
          <a:xfrm>
            <a:off x="9850417" y="4785055"/>
            <a:ext cx="257860" cy="200253"/>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7024921" y="4985308"/>
            <a:ext cx="3477463" cy="219456"/>
          </a:xfrm>
          <a:prstGeom prst="rect">
            <a:avLst/>
          </a:prstGeom>
          <a:ln w="0">
            <a:noFill/>
          </a:ln>
          <a:noFill/>
        </p:spPr>
        <p:txBody>
          <a:bodyPr wrap="square" lIns="0" rIns="0" tIns="0" bIns="0">
            <a:noAutofit/>
          </a:bodyPr>
          <a:lstStyle/>
          <a:p>
            <a:pPr algn="l"/>
          </a:p>
        </p:txBody>
      </p:sp>
      <p:pic>
        <p:nvPicPr>
          <p:cNvPr id="45" name="Picture 44" descr="image.png"/>
          <p:cNvPicPr>
            <a:picLocks noChangeAspect="1"/>
          </p:cNvPicPr>
          <p:nvPr/>
        </p:nvPicPr>
        <p:blipFill>
          <a:blip r:embed="rId11"/>
          <a:stretch>
            <a:fillRect/>
          </a:stretch>
        </p:blipFill>
        <p:spPr>
          <a:xfrm>
            <a:off x="10006779" y="4996281"/>
            <a:ext cx="256945" cy="200253"/>
          </a:xfrm>
          <a:prstGeom prst="rect">
            <a:avLst/>
          </a:prstGeom>
          <a:ln w="0">
            <a:noFill/>
          </a:ln>
        </p:spPr>
      </p:pic>
      <p:sp>
        <p:nvSpPr>
          <p:cNvPr id="46" name="Rectangle 45"/>
          <p:cNvSpPr/>
          <p:nvPr/>
        </p:nvSpPr>
        <p:spPr>
          <a:xfrm>
            <a:off x="10006779" y="4996281"/>
            <a:ext cx="257860" cy="200253"/>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47" name="Rectangle 46"/>
          <p:cNvSpPr/>
          <p:nvPr/>
        </p:nvSpPr>
        <p:spPr>
          <a:xfrm>
            <a:off x="488450" y="1311250"/>
            <a:ext cx="49716" cy="791160"/>
          </a:xfrm>
          <a:prstGeom prst="rect">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48" name="Rectangle 47"/>
          <p:cNvSpPr/>
          <p:nvPr/>
        </p:nvSpPr>
        <p:spPr>
          <a:xfrm>
            <a:off x="0" y="0"/>
            <a:ext cx="12192001" cy="54865"/>
          </a:xfrm>
          <a:prstGeom prst="rect">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49" name="Rectangle 48"/>
          <p:cNvSpPr/>
          <p:nvPr/>
        </p:nvSpPr>
        <p:spPr>
          <a:xfrm>
            <a:off x="305" y="1032380"/>
            <a:ext cx="12191695" cy="35999"/>
          </a:xfrm>
          <a:prstGeom prst="rect">
            <a:avLst/>
          </a:prstGeom>
          <a:solidFill>
            <a:srgbClr val="E5E5E5"/>
          </a:solidFill>
          <a:ln w="12700"/>
        </p:spPr>
        <p:style>
          <a:lnRef idx="0">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4284878" y="2670105"/>
            <a:ext cx="3638398" cy="3710145"/>
          </a:xfrm>
          <a:prstGeom prst="roundRect">
            <a:avLst/>
          </a:prstGeom>
          <a:noFill/>
          <a:ln w="19050">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p>
        </p:txBody>
      </p:sp>
      <p:sp>
        <p:nvSpPr>
          <p:cNvPr id="4" name="Rounded Rectangle 3"/>
          <p:cNvSpPr/>
          <p:nvPr/>
        </p:nvSpPr>
        <p:spPr>
          <a:xfrm>
            <a:off x="8110703" y="2667523"/>
            <a:ext cx="3638397" cy="3710145"/>
          </a:xfrm>
          <a:prstGeom prst="roundRect">
            <a:avLst/>
          </a:prstGeom>
          <a:noFill/>
          <a:ln w="19050">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p>
        </p:txBody>
      </p:sp>
      <p:pic>
        <p:nvPicPr>
          <p:cNvPr id="5" name="Picture 4" descr="image.png"/>
          <p:cNvPicPr>
            <a:picLocks noChangeAspect="1"/>
          </p:cNvPicPr>
          <p:nvPr/>
        </p:nvPicPr>
        <p:blipFill>
          <a:blip r:embed="rId2"/>
          <a:stretch>
            <a:fillRect/>
          </a:stretch>
        </p:blipFill>
        <p:spPr>
          <a:xfrm>
            <a:off x="8302752" y="5459587"/>
            <a:ext cx="3238805" cy="517869"/>
          </a:xfrm>
          <a:prstGeom prst="rect">
            <a:avLst/>
          </a:prstGeom>
          <a:ln w="0">
            <a:noFill/>
          </a:ln>
        </p:spPr>
      </p:pic>
      <p:sp>
        <p:nvSpPr>
          <p:cNvPr id="6" name="Rectangle 5"/>
          <p:cNvSpPr/>
          <p:nvPr/>
        </p:nvSpPr>
        <p:spPr>
          <a:xfrm>
            <a:off x="8302752" y="5482698"/>
            <a:ext cx="3238805" cy="492995"/>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8312810" y="4658530"/>
            <a:ext cx="3238805" cy="517869"/>
          </a:xfrm>
          <a:prstGeom prst="rect">
            <a:avLst/>
          </a:prstGeom>
          <a:ln w="0">
            <a:noFill/>
          </a:ln>
        </p:spPr>
      </p:pic>
      <p:sp>
        <p:nvSpPr>
          <p:cNvPr id="8" name="Rectangle 7"/>
          <p:cNvSpPr/>
          <p:nvPr/>
        </p:nvSpPr>
        <p:spPr>
          <a:xfrm>
            <a:off x="8312810" y="4656671"/>
            <a:ext cx="3238805" cy="519727"/>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100">
                <a:solidFill>
                  <a:srgbClr val="1D1D1F"/>
                </a:solidFill>
                <a:latin typeface="Noto Sans JP"/>
              </a:rPr>
              <a:t>AI活用を業務以外のインプット改善にも広げる。</a:t>
            </a:r>
          </a:p>
        </p:txBody>
      </p:sp>
      <p:pic>
        <p:nvPicPr>
          <p:cNvPr id="9" name="Picture 8" descr="image.png"/>
          <p:cNvPicPr>
            <a:picLocks noChangeAspect="1"/>
          </p:cNvPicPr>
          <p:nvPr/>
        </p:nvPicPr>
        <p:blipFill>
          <a:blip r:embed="rId2"/>
          <a:stretch>
            <a:fillRect/>
          </a:stretch>
        </p:blipFill>
        <p:spPr>
          <a:xfrm>
            <a:off x="8295740" y="3416831"/>
            <a:ext cx="3238805" cy="352043"/>
          </a:xfrm>
          <a:prstGeom prst="rect">
            <a:avLst/>
          </a:prstGeom>
          <a:ln w="0">
            <a:noFill/>
          </a:ln>
        </p:spPr>
      </p:pic>
      <p:pic>
        <p:nvPicPr>
          <p:cNvPr id="10" name="Picture 9" descr="image.png"/>
          <p:cNvPicPr>
            <a:picLocks noChangeAspect="1"/>
          </p:cNvPicPr>
          <p:nvPr/>
        </p:nvPicPr>
        <p:blipFill>
          <a:blip r:embed="rId2"/>
          <a:stretch>
            <a:fillRect/>
          </a:stretch>
        </p:blipFill>
        <p:spPr>
          <a:xfrm>
            <a:off x="4479645" y="3417201"/>
            <a:ext cx="3238804" cy="352043"/>
          </a:xfrm>
          <a:prstGeom prst="rect">
            <a:avLst/>
          </a:prstGeom>
          <a:ln w="0">
            <a:noFill/>
          </a:ln>
        </p:spPr>
      </p:pic>
      <p:sp>
        <p:nvSpPr>
          <p:cNvPr id="11" name="TextBox 10"/>
          <p:cNvSpPr txBox="1"/>
          <p:nvPr/>
        </p:nvSpPr>
        <p:spPr>
          <a:xfrm>
            <a:off x="4477817" y="3198158"/>
            <a:ext cx="3353104" cy="191110"/>
          </a:xfrm>
          <a:prstGeom prst="rect">
            <a:avLst/>
          </a:prstGeom>
          <a:ln w="0">
            <a:noFill/>
          </a:ln>
          <a:noFill/>
        </p:spPr>
        <p:txBody>
          <a:bodyPr wrap="square" lIns="0" rIns="0" tIns="0" bIns="0">
            <a:noAutofit/>
          </a:bodyPr>
          <a:lstStyle/>
          <a:p>
            <a:pPr algn="l"/>
            <a:r>
              <a:rPr sz="900" b="1">
                <a:solidFill>
                  <a:srgbClr val="86868B"/>
                </a:solidFill>
                <a:latin typeface="Cambria"/>
              </a:rPr>
              <a:t>会議・議事録から、ローカル完結で報告資料や提案資料を生成する</a:t>
            </a:r>
          </a:p>
        </p:txBody>
      </p:sp>
      <p:sp>
        <p:nvSpPr>
          <p:cNvPr id="12" name="Rounded Rectangle 11"/>
          <p:cNvSpPr/>
          <p:nvPr/>
        </p:nvSpPr>
        <p:spPr>
          <a:xfrm>
            <a:off x="481887" y="1312153"/>
            <a:ext cx="11221662" cy="790509"/>
          </a:xfrm>
          <a:prstGeom prst="roundRect">
            <a:avLst/>
          </a:prstGeom>
          <a:solidFill>
            <a:srgbClr val="F0F9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488450" y="1311250"/>
            <a:ext cx="49716" cy="791160"/>
          </a:xfrm>
          <a:prstGeom prst="rect">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75532" y="204825"/>
            <a:ext cx="3353105" cy="257861"/>
          </a:xfrm>
          <a:prstGeom prst="rect">
            <a:avLst/>
          </a:prstGeom>
          <a:ln w="0">
            <a:noFill/>
          </a:ln>
          <a:noFill/>
        </p:spPr>
        <p:txBody>
          <a:bodyPr wrap="square" lIns="0" rIns="0" tIns="0" bIns="0">
            <a:noAutofit/>
          </a:bodyPr>
          <a:lstStyle/>
          <a:p>
            <a:pPr algn="l"/>
            <a:r>
              <a:rPr sz="1000">
                <a:solidFill>
                  <a:srgbClr val="86868B"/>
                </a:solidFill>
                <a:latin typeface="Noto Sans JP"/>
              </a:rPr>
              <a:t>Use Cases Overview</a:t>
            </a:r>
          </a:p>
        </p:txBody>
      </p:sp>
      <p:sp>
        <p:nvSpPr>
          <p:cNvPr id="15" name="TextBox 14"/>
          <p:cNvSpPr txBox="1"/>
          <p:nvPr/>
        </p:nvSpPr>
        <p:spPr>
          <a:xfrm>
            <a:off x="914400" y="1428522"/>
            <a:ext cx="10840212" cy="571499"/>
          </a:xfrm>
          <a:prstGeom prst="rect">
            <a:avLst/>
          </a:prstGeom>
          <a:ln w="0">
            <a:noFill/>
          </a:ln>
          <a:noFill/>
        </p:spPr>
        <p:txBody>
          <a:bodyPr wrap="square" lIns="0" rIns="0" tIns="0" bIns="0">
            <a:noAutofit/>
          </a:bodyPr>
          <a:lstStyle/>
          <a:p>
            <a:pPr algn="l"/>
            <a:r>
              <a:rPr b="1">
                <a:solidFill>
                  <a:srgbClr val="1D1D1F"/>
                </a:solidFill>
                <a:latin typeface="Cambria"/>
              </a:rPr>
              <a:t>3つとも、一次情報を集めて目的別の出力へ変換するという共通思想で動いている。</a:t>
            </a:r>
          </a:p>
        </p:txBody>
      </p:sp>
      <p:sp>
        <p:nvSpPr>
          <p:cNvPr id="16" name="Rounded Rectangle 15"/>
          <p:cNvSpPr/>
          <p:nvPr/>
        </p:nvSpPr>
        <p:spPr>
          <a:xfrm>
            <a:off x="457200" y="2670105"/>
            <a:ext cx="3638398" cy="3710145"/>
          </a:xfrm>
          <a:prstGeom prst="roundRect">
            <a:avLst/>
          </a:prstGeom>
          <a:noFill/>
          <a:ln w="19050">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p>
        </p:txBody>
      </p:sp>
      <p:sp>
        <p:nvSpPr>
          <p:cNvPr id="17" name="Rounded Rectangle 16"/>
          <p:cNvSpPr/>
          <p:nvPr/>
        </p:nvSpPr>
        <p:spPr>
          <a:xfrm>
            <a:off x="466344" y="2393074"/>
            <a:ext cx="3619195" cy="609905"/>
          </a:xfrm>
          <a:prstGeom prst="roundRect">
            <a:avLst/>
          </a:prstGeom>
          <a:solidFill>
            <a:srgbClr val="34C759"/>
          </a:solidFill>
          <a:ln w="12700"/>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8" name="Oval 17"/>
          <p:cNvSpPr/>
          <p:nvPr/>
        </p:nvSpPr>
        <p:spPr>
          <a:xfrm>
            <a:off x="1501445" y="2545779"/>
            <a:ext cx="304494" cy="304494"/>
          </a:xfrm>
          <a:prstGeom prst="ellipse">
            <a:avLst/>
          </a:prstGeom>
          <a:solidFill>
            <a:srgbClr val="FFFFFF">
              <a:alpha val="2000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19" name="Picture 18" descr="image.png"/>
          <p:cNvPicPr>
            <a:picLocks noChangeAspect="1"/>
          </p:cNvPicPr>
          <p:nvPr/>
        </p:nvPicPr>
        <p:blipFill>
          <a:blip r:embed="rId3"/>
          <a:stretch>
            <a:fillRect/>
          </a:stretch>
        </p:blipFill>
        <p:spPr>
          <a:xfrm>
            <a:off x="1544422" y="2602472"/>
            <a:ext cx="219455" cy="190194"/>
          </a:xfrm>
          <a:prstGeom prst="rect">
            <a:avLst/>
          </a:prstGeom>
          <a:ln w="0">
            <a:noFill/>
          </a:ln>
        </p:spPr>
      </p:pic>
      <p:sp>
        <p:nvSpPr>
          <p:cNvPr id="20" name="TextBox 19"/>
          <p:cNvSpPr txBox="1"/>
          <p:nvPr/>
        </p:nvSpPr>
        <p:spPr>
          <a:xfrm>
            <a:off x="1901952" y="2554923"/>
            <a:ext cx="1234439" cy="286206"/>
          </a:xfrm>
          <a:prstGeom prst="rect">
            <a:avLst/>
          </a:prstGeom>
          <a:ln w="0">
            <a:noFill/>
          </a:ln>
          <a:noFill/>
        </p:spPr>
        <p:txBody>
          <a:bodyPr wrap="square" lIns="0" rIns="0" tIns="0" bIns="0">
            <a:noAutofit/>
          </a:bodyPr>
          <a:lstStyle/>
          <a:p>
            <a:pPr algn="l"/>
            <a:r>
              <a:rPr sz="1500" b="1">
                <a:solidFill>
                  <a:srgbClr val="FFFFFF"/>
                </a:solidFill>
                <a:latin typeface="Noto Sans JP"/>
              </a:rPr>
              <a:t>Use Case 1</a:t>
            </a:r>
          </a:p>
        </p:txBody>
      </p:sp>
      <p:sp>
        <p:nvSpPr>
          <p:cNvPr id="21" name="TextBox 20"/>
          <p:cNvSpPr txBox="1"/>
          <p:nvPr/>
        </p:nvSpPr>
        <p:spPr>
          <a:xfrm>
            <a:off x="657454" y="3193174"/>
            <a:ext cx="3353105" cy="191110"/>
          </a:xfrm>
          <a:prstGeom prst="rect">
            <a:avLst/>
          </a:prstGeom>
          <a:ln w="0">
            <a:noFill/>
          </a:ln>
          <a:noFill/>
        </p:spPr>
        <p:txBody>
          <a:bodyPr wrap="square" lIns="0" rIns="0" tIns="0" bIns="0">
            <a:noAutofit/>
          </a:bodyPr>
          <a:lstStyle/>
          <a:p>
            <a:pPr algn="l"/>
            <a:r>
              <a:rPr sz="900" b="1">
                <a:solidFill>
                  <a:srgbClr val="86868B"/>
                </a:solidFill>
                <a:latin typeface="Cambria"/>
              </a:rPr>
              <a:t>会議コンテキストを収集し、マスキング後に外部生成AIで壁打ち品質を上げる</a:t>
            </a:r>
          </a:p>
        </p:txBody>
      </p:sp>
      <p:pic>
        <p:nvPicPr>
          <p:cNvPr id="22" name="Picture 21" descr="image.png"/>
          <p:cNvPicPr>
            <a:picLocks noChangeAspect="1"/>
          </p:cNvPicPr>
          <p:nvPr/>
        </p:nvPicPr>
        <p:blipFill>
          <a:blip r:embed="rId2"/>
          <a:stretch>
            <a:fillRect/>
          </a:stretch>
        </p:blipFill>
        <p:spPr>
          <a:xfrm>
            <a:off x="657454" y="3417201"/>
            <a:ext cx="3238805" cy="352043"/>
          </a:xfrm>
          <a:prstGeom prst="rect">
            <a:avLst/>
          </a:prstGeom>
          <a:ln w="0">
            <a:noFill/>
          </a:ln>
        </p:spPr>
      </p:pic>
      <p:sp>
        <p:nvSpPr>
          <p:cNvPr id="23" name="Rectangle 22"/>
          <p:cNvSpPr/>
          <p:nvPr/>
        </p:nvSpPr>
        <p:spPr>
          <a:xfrm>
            <a:off x="657454" y="3415499"/>
            <a:ext cx="3238805" cy="335343"/>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100">
                <a:solidFill>
                  <a:srgbClr val="1D1D1F"/>
                </a:solidFill>
                <a:latin typeface="Cambria"/>
              </a:rPr>
              <a:t>会議音声・アジェンダ・補足文脈を収集する。</a:t>
            </a:r>
          </a:p>
        </p:txBody>
      </p:sp>
      <p:sp>
        <p:nvSpPr>
          <p:cNvPr id="24" name="TextBox 23"/>
          <p:cNvSpPr txBox="1"/>
          <p:nvPr/>
        </p:nvSpPr>
        <p:spPr>
          <a:xfrm>
            <a:off x="662941" y="3890380"/>
            <a:ext cx="3353105" cy="110641"/>
          </a:xfrm>
          <a:prstGeom prst="rect">
            <a:avLst/>
          </a:prstGeom>
          <a:ln w="0">
            <a:noFill/>
          </a:ln>
          <a:noFill/>
        </p:spPr>
        <p:txBody>
          <a:bodyPr wrap="square" lIns="0" rIns="0" tIns="0" bIns="0">
            <a:noAutofit/>
          </a:bodyPr>
          <a:lstStyle/>
          <a:p>
            <a:pPr algn="l"/>
            <a:r>
              <a:rPr sz="900" b="1">
                <a:solidFill>
                  <a:srgbClr val="86868B"/>
                </a:solidFill>
                <a:latin typeface="Cambria"/>
              </a:rPr>
              <a:t>要点1</a:t>
            </a:r>
          </a:p>
        </p:txBody>
      </p:sp>
      <p:sp>
        <p:nvSpPr>
          <p:cNvPr id="25" name="TextBox 24"/>
          <p:cNvSpPr txBox="1"/>
          <p:nvPr/>
        </p:nvSpPr>
        <p:spPr>
          <a:xfrm>
            <a:off x="662941" y="4520268"/>
            <a:ext cx="3353105" cy="127417"/>
          </a:xfrm>
          <a:prstGeom prst="rect">
            <a:avLst/>
          </a:prstGeom>
          <a:ln w="0">
            <a:noFill/>
          </a:ln>
          <a:noFill/>
        </p:spPr>
        <p:txBody>
          <a:bodyPr wrap="square" lIns="0" rIns="0" tIns="0" bIns="0">
            <a:noAutofit/>
          </a:bodyPr>
          <a:lstStyle/>
          <a:p>
            <a:pPr algn="l"/>
            <a:r>
              <a:rPr sz="900" b="1">
                <a:solidFill>
                  <a:srgbClr val="86868B"/>
                </a:solidFill>
                <a:latin typeface="Cambria"/>
              </a:rPr>
              <a:t>要点2</a:t>
            </a:r>
          </a:p>
        </p:txBody>
      </p:sp>
      <p:sp>
        <p:nvSpPr>
          <p:cNvPr id="26" name="TextBox 25"/>
          <p:cNvSpPr txBox="1"/>
          <p:nvPr/>
        </p:nvSpPr>
        <p:spPr>
          <a:xfrm>
            <a:off x="657454" y="5114579"/>
            <a:ext cx="3353105" cy="191110"/>
          </a:xfrm>
          <a:prstGeom prst="rect">
            <a:avLst/>
          </a:prstGeom>
          <a:ln w="0">
            <a:noFill/>
          </a:ln>
          <a:noFill/>
        </p:spPr>
        <p:txBody>
          <a:bodyPr wrap="square" lIns="0" rIns="0" tIns="0" bIns="0">
            <a:noAutofit/>
          </a:bodyPr>
          <a:lstStyle/>
          <a:p>
            <a:pPr algn="l"/>
            <a:r>
              <a:rPr sz="900" b="1">
                <a:solidFill>
                  <a:srgbClr val="86868B"/>
                </a:solidFill>
                <a:latin typeface="Cambria"/>
              </a:rPr>
              <a:t>要点3</a:t>
            </a:r>
          </a:p>
        </p:txBody>
      </p:sp>
      <p:pic>
        <p:nvPicPr>
          <p:cNvPr id="27" name="Picture 26" descr="image.png"/>
          <p:cNvPicPr>
            <a:picLocks noChangeAspect="1"/>
          </p:cNvPicPr>
          <p:nvPr/>
        </p:nvPicPr>
        <p:blipFill>
          <a:blip r:embed="rId4"/>
          <a:stretch>
            <a:fillRect/>
          </a:stretch>
        </p:blipFill>
        <p:spPr>
          <a:xfrm>
            <a:off x="2494527" y="5933772"/>
            <a:ext cx="1333195" cy="247801"/>
          </a:xfrm>
          <a:prstGeom prst="rect">
            <a:avLst/>
          </a:prstGeom>
          <a:ln w="0">
            <a:noFill/>
          </a:ln>
        </p:spPr>
      </p:pic>
      <p:sp>
        <p:nvSpPr>
          <p:cNvPr id="28" name="Rectangle 27"/>
          <p:cNvSpPr/>
          <p:nvPr/>
        </p:nvSpPr>
        <p:spPr>
          <a:xfrm>
            <a:off x="2713983" y="5933772"/>
            <a:ext cx="1114654" cy="247801"/>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900">
                <a:solidFill>
                  <a:srgbClr val="666666"/>
                </a:solidFill>
                <a:latin typeface="Noto Sans JP"/>
              </a:rPr>
              <a:t>External AI + Masking</a:t>
            </a:r>
          </a:p>
        </p:txBody>
      </p:sp>
      <p:pic>
        <p:nvPicPr>
          <p:cNvPr id="29" name="Picture 28" descr="image.png"/>
          <p:cNvPicPr>
            <a:picLocks noChangeAspect="1"/>
          </p:cNvPicPr>
          <p:nvPr/>
        </p:nvPicPr>
        <p:blipFill>
          <a:blip r:embed="rId5"/>
          <a:stretch>
            <a:fillRect/>
          </a:stretch>
        </p:blipFill>
        <p:spPr>
          <a:xfrm>
            <a:off x="2570422" y="6000523"/>
            <a:ext cx="105156" cy="114300"/>
          </a:xfrm>
          <a:prstGeom prst="rect">
            <a:avLst/>
          </a:prstGeom>
          <a:ln w="0">
            <a:noFill/>
          </a:ln>
        </p:spPr>
      </p:pic>
      <p:sp>
        <p:nvSpPr>
          <p:cNvPr id="30" name="Rounded Rectangle 29"/>
          <p:cNvSpPr/>
          <p:nvPr/>
        </p:nvSpPr>
        <p:spPr>
          <a:xfrm>
            <a:off x="4289450" y="2393074"/>
            <a:ext cx="3619195" cy="609905"/>
          </a:xfrm>
          <a:prstGeom prst="roundRect">
            <a:avLst/>
          </a:prstGeom>
          <a:solidFill>
            <a:srgbClr val="007AFF"/>
          </a:solidFill>
          <a:ln w="12700"/>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1" name="Oval 30"/>
          <p:cNvSpPr/>
          <p:nvPr/>
        </p:nvSpPr>
        <p:spPr>
          <a:xfrm>
            <a:off x="5419649" y="2545779"/>
            <a:ext cx="304494" cy="304494"/>
          </a:xfrm>
          <a:prstGeom prst="ellipse">
            <a:avLst/>
          </a:prstGeom>
          <a:solidFill>
            <a:srgbClr val="FFFFFF">
              <a:alpha val="2000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6"/>
          <a:stretch>
            <a:fillRect/>
          </a:stretch>
        </p:blipFill>
        <p:spPr>
          <a:xfrm>
            <a:off x="5462626" y="2602472"/>
            <a:ext cx="219456" cy="190194"/>
          </a:xfrm>
          <a:prstGeom prst="rect">
            <a:avLst/>
          </a:prstGeom>
          <a:ln w="0">
            <a:noFill/>
          </a:ln>
        </p:spPr>
      </p:pic>
      <p:sp>
        <p:nvSpPr>
          <p:cNvPr id="33" name="TextBox 32"/>
          <p:cNvSpPr txBox="1"/>
          <p:nvPr/>
        </p:nvSpPr>
        <p:spPr>
          <a:xfrm>
            <a:off x="5820156" y="2554923"/>
            <a:ext cx="1028700" cy="286206"/>
          </a:xfrm>
          <a:prstGeom prst="rect">
            <a:avLst/>
          </a:prstGeom>
          <a:ln w="0">
            <a:noFill/>
          </a:ln>
          <a:noFill/>
        </p:spPr>
        <p:txBody>
          <a:bodyPr wrap="square" lIns="0" rIns="0" tIns="0" bIns="0">
            <a:noAutofit/>
          </a:bodyPr>
          <a:lstStyle/>
          <a:p>
            <a:pPr algn="l"/>
            <a:r>
              <a:rPr sz="1500" b="1">
                <a:solidFill>
                  <a:srgbClr val="FFFFFF"/>
                </a:solidFill>
                <a:latin typeface="Noto Sans JP"/>
              </a:rPr>
              <a:t>Use Case 2</a:t>
            </a:r>
          </a:p>
        </p:txBody>
      </p:sp>
      <p:sp>
        <p:nvSpPr>
          <p:cNvPr id="34" name="Rectangle 33"/>
          <p:cNvSpPr/>
          <p:nvPr/>
        </p:nvSpPr>
        <p:spPr>
          <a:xfrm>
            <a:off x="4479646" y="3417201"/>
            <a:ext cx="3238804" cy="351673"/>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100">
                <a:solidFill>
                  <a:srgbClr val="1D1D1F"/>
                </a:solidFill>
                <a:latin typeface="Cambria"/>
              </a:rPr>
              <a:t>会議ログを文字起こしし、ローカルLLMで構造化する。</a:t>
            </a:r>
          </a:p>
        </p:txBody>
      </p:sp>
      <p:pic>
        <p:nvPicPr>
          <p:cNvPr id="35" name="Picture 34" descr="image.png"/>
          <p:cNvPicPr>
            <a:picLocks noChangeAspect="1"/>
          </p:cNvPicPr>
          <p:nvPr/>
        </p:nvPicPr>
        <p:blipFill>
          <a:blip r:embed="rId7"/>
          <a:stretch>
            <a:fillRect/>
          </a:stretch>
        </p:blipFill>
        <p:spPr>
          <a:xfrm>
            <a:off x="6270040" y="5933772"/>
            <a:ext cx="1447495" cy="247801"/>
          </a:xfrm>
          <a:prstGeom prst="rect">
            <a:avLst/>
          </a:prstGeom>
          <a:ln w="0">
            <a:noFill/>
          </a:ln>
        </p:spPr>
      </p:pic>
      <p:sp>
        <p:nvSpPr>
          <p:cNvPr id="36" name="Rectangle 35"/>
          <p:cNvSpPr/>
          <p:nvPr/>
        </p:nvSpPr>
        <p:spPr>
          <a:xfrm>
            <a:off x="6489496" y="5933772"/>
            <a:ext cx="1228954" cy="247801"/>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900">
                <a:solidFill>
                  <a:srgbClr val="666666"/>
                </a:solidFill>
                <a:latin typeface="Noto Sans JP"/>
              </a:rPr>
              <a:t>Local Only</a:t>
            </a:r>
          </a:p>
        </p:txBody>
      </p:sp>
      <p:pic>
        <p:nvPicPr>
          <p:cNvPr id="37" name="Picture 36" descr="image.png"/>
          <p:cNvPicPr>
            <a:picLocks noChangeAspect="1"/>
          </p:cNvPicPr>
          <p:nvPr/>
        </p:nvPicPr>
        <p:blipFill>
          <a:blip r:embed="rId5"/>
          <a:stretch>
            <a:fillRect/>
          </a:stretch>
        </p:blipFill>
        <p:spPr>
          <a:xfrm>
            <a:off x="6346849" y="6000523"/>
            <a:ext cx="105155" cy="114300"/>
          </a:xfrm>
          <a:prstGeom prst="rect">
            <a:avLst/>
          </a:prstGeom>
          <a:ln w="0">
            <a:noFill/>
          </a:ln>
        </p:spPr>
      </p:pic>
      <p:sp>
        <p:nvSpPr>
          <p:cNvPr id="38" name="Rounded Rectangle 37"/>
          <p:cNvSpPr/>
          <p:nvPr/>
        </p:nvSpPr>
        <p:spPr>
          <a:xfrm>
            <a:off x="8112557" y="2393074"/>
            <a:ext cx="3619195" cy="609905"/>
          </a:xfrm>
          <a:prstGeom prst="roundRect">
            <a:avLst/>
          </a:prstGeom>
          <a:solidFill>
            <a:srgbClr val="FF9500"/>
          </a:solidFill>
          <a:ln w="12700"/>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9" name="Oval 38"/>
          <p:cNvSpPr/>
          <p:nvPr/>
        </p:nvSpPr>
        <p:spPr>
          <a:xfrm>
            <a:off x="9051646" y="2545779"/>
            <a:ext cx="304494" cy="304494"/>
          </a:xfrm>
          <a:prstGeom prst="ellipse">
            <a:avLst/>
          </a:prstGeom>
          <a:solidFill>
            <a:srgbClr val="FFFFFF">
              <a:alpha val="2000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40" name="Picture 39" descr="image.png"/>
          <p:cNvPicPr>
            <a:picLocks noChangeAspect="1"/>
          </p:cNvPicPr>
          <p:nvPr/>
        </p:nvPicPr>
        <p:blipFill>
          <a:blip r:embed="rId8"/>
          <a:stretch>
            <a:fillRect/>
          </a:stretch>
        </p:blipFill>
        <p:spPr>
          <a:xfrm>
            <a:off x="9109253" y="2602472"/>
            <a:ext cx="190194" cy="190194"/>
          </a:xfrm>
          <a:prstGeom prst="rect">
            <a:avLst/>
          </a:prstGeom>
          <a:ln w="0">
            <a:noFill/>
          </a:ln>
        </p:spPr>
      </p:pic>
      <p:sp>
        <p:nvSpPr>
          <p:cNvPr id="41" name="TextBox 40"/>
          <p:cNvSpPr txBox="1"/>
          <p:nvPr/>
        </p:nvSpPr>
        <p:spPr>
          <a:xfrm>
            <a:off x="9452153" y="2554923"/>
            <a:ext cx="1440179" cy="286206"/>
          </a:xfrm>
          <a:prstGeom prst="rect">
            <a:avLst/>
          </a:prstGeom>
          <a:ln w="0">
            <a:noFill/>
          </a:ln>
          <a:noFill/>
        </p:spPr>
        <p:txBody>
          <a:bodyPr wrap="square" lIns="0" rIns="0" tIns="0" bIns="0">
            <a:noAutofit/>
          </a:bodyPr>
          <a:lstStyle/>
          <a:p>
            <a:pPr algn="l"/>
            <a:r>
              <a:rPr sz="1500" b="1">
                <a:solidFill>
                  <a:srgbClr val="FFFFFF"/>
                </a:solidFill>
                <a:latin typeface="Noto Sans JP"/>
              </a:rPr>
              <a:t>Use Case 3</a:t>
            </a:r>
          </a:p>
        </p:txBody>
      </p:sp>
      <p:sp>
        <p:nvSpPr>
          <p:cNvPr id="42" name="Rectangle 41"/>
          <p:cNvSpPr/>
          <p:nvPr/>
        </p:nvSpPr>
        <p:spPr>
          <a:xfrm>
            <a:off x="8302752" y="3417201"/>
            <a:ext cx="3238805" cy="350076"/>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100">
                <a:solidFill>
                  <a:srgbClr val="1D1D1F"/>
                </a:solidFill>
                <a:latin typeface="Noto Sans JP"/>
              </a:rPr>
              <a:t>扱ってよい情報だけを入力対象にする。</a:t>
            </a:r>
          </a:p>
        </p:txBody>
      </p:sp>
      <p:sp>
        <p:nvSpPr>
          <p:cNvPr id="43" name="TextBox 42"/>
          <p:cNvSpPr txBox="1"/>
          <p:nvPr/>
        </p:nvSpPr>
        <p:spPr>
          <a:xfrm>
            <a:off x="8302752" y="4461185"/>
            <a:ext cx="3353105" cy="191110"/>
          </a:xfrm>
          <a:prstGeom prst="rect">
            <a:avLst/>
          </a:prstGeom>
          <a:ln w="0">
            <a:noFill/>
          </a:ln>
          <a:noFill/>
        </p:spPr>
        <p:txBody>
          <a:bodyPr wrap="square" lIns="0" rIns="0" tIns="0" bIns="0">
            <a:noAutofit/>
          </a:bodyPr>
          <a:lstStyle/>
          <a:p>
            <a:pPr algn="l"/>
            <a:r>
              <a:rPr sz="900" b="1">
                <a:solidFill>
                  <a:srgbClr val="86868B"/>
                </a:solidFill>
                <a:latin typeface="Cambria"/>
              </a:rPr>
              <a:t>要点2</a:t>
            </a:r>
          </a:p>
        </p:txBody>
      </p:sp>
      <p:sp>
        <p:nvSpPr>
          <p:cNvPr id="44" name="TextBox 43"/>
          <p:cNvSpPr txBox="1"/>
          <p:nvPr/>
        </p:nvSpPr>
        <p:spPr>
          <a:xfrm>
            <a:off x="8293609" y="5264102"/>
            <a:ext cx="3353105" cy="191110"/>
          </a:xfrm>
          <a:prstGeom prst="rect">
            <a:avLst/>
          </a:prstGeom>
          <a:ln w="0">
            <a:noFill/>
          </a:ln>
          <a:noFill/>
        </p:spPr>
        <p:txBody>
          <a:bodyPr wrap="square" lIns="0" rIns="0" tIns="0" bIns="0">
            <a:noAutofit/>
          </a:bodyPr>
          <a:lstStyle/>
          <a:p>
            <a:pPr algn="l"/>
            <a:r>
              <a:rPr sz="900" b="1">
                <a:solidFill>
                  <a:srgbClr val="86868B"/>
                </a:solidFill>
                <a:latin typeface="Cambria"/>
              </a:rPr>
              <a:t>要点3</a:t>
            </a:r>
          </a:p>
        </p:txBody>
      </p:sp>
      <p:pic>
        <p:nvPicPr>
          <p:cNvPr id="45" name="Picture 44" descr="image.png"/>
          <p:cNvPicPr>
            <a:picLocks noChangeAspect="1"/>
          </p:cNvPicPr>
          <p:nvPr/>
        </p:nvPicPr>
        <p:blipFill>
          <a:blip r:embed="rId9"/>
          <a:stretch>
            <a:fillRect/>
          </a:stretch>
        </p:blipFill>
        <p:spPr>
          <a:xfrm>
            <a:off x="10331805" y="6077577"/>
            <a:ext cx="1218895" cy="247801"/>
          </a:xfrm>
          <a:prstGeom prst="rect">
            <a:avLst/>
          </a:prstGeom>
          <a:ln w="0">
            <a:noFill/>
          </a:ln>
        </p:spPr>
      </p:pic>
      <p:sp>
        <p:nvSpPr>
          <p:cNvPr id="46" name="Rectangle 45"/>
          <p:cNvSpPr/>
          <p:nvPr/>
        </p:nvSpPr>
        <p:spPr>
          <a:xfrm>
            <a:off x="10551261" y="6077577"/>
            <a:ext cx="1000354" cy="247801"/>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900">
                <a:solidFill>
                  <a:srgbClr val="666666"/>
                </a:solidFill>
                <a:latin typeface="Noto Sans JP"/>
              </a:rPr>
              <a:t>Learning Content</a:t>
            </a:r>
          </a:p>
        </p:txBody>
      </p:sp>
      <p:pic>
        <p:nvPicPr>
          <p:cNvPr id="47" name="Picture 46" descr="image.png"/>
          <p:cNvPicPr>
            <a:picLocks noChangeAspect="1"/>
          </p:cNvPicPr>
          <p:nvPr/>
        </p:nvPicPr>
        <p:blipFill>
          <a:blip r:embed="rId5"/>
          <a:stretch>
            <a:fillRect/>
          </a:stretch>
        </p:blipFill>
        <p:spPr>
          <a:xfrm>
            <a:off x="10407700" y="6148900"/>
            <a:ext cx="105155" cy="114300"/>
          </a:xfrm>
          <a:prstGeom prst="rect">
            <a:avLst/>
          </a:prstGeom>
          <a:ln w="0">
            <a:noFill/>
          </a:ln>
        </p:spPr>
      </p:pic>
      <p:pic>
        <p:nvPicPr>
          <p:cNvPr id="48" name="Picture 47" descr="image.png"/>
          <p:cNvPicPr>
            <a:picLocks noChangeAspect="1"/>
          </p:cNvPicPr>
          <p:nvPr/>
        </p:nvPicPr>
        <p:blipFill>
          <a:blip r:embed="rId10"/>
          <a:stretch>
            <a:fillRect/>
          </a:stretch>
        </p:blipFill>
        <p:spPr>
          <a:xfrm>
            <a:off x="475532" y="571500"/>
            <a:ext cx="304495" cy="304494"/>
          </a:xfrm>
          <a:prstGeom prst="rect">
            <a:avLst/>
          </a:prstGeom>
          <a:ln w="0">
            <a:noFill/>
          </a:ln>
        </p:spPr>
      </p:pic>
      <p:sp>
        <p:nvSpPr>
          <p:cNvPr id="49" name="TextBox 48"/>
          <p:cNvSpPr txBox="1"/>
          <p:nvPr/>
        </p:nvSpPr>
        <p:spPr>
          <a:xfrm>
            <a:off x="914400" y="495605"/>
            <a:ext cx="4620463" cy="457200"/>
          </a:xfrm>
          <a:prstGeom prst="rect">
            <a:avLst/>
          </a:prstGeom>
          <a:ln w="0">
            <a:noFill/>
          </a:ln>
          <a:noFill/>
        </p:spPr>
        <p:txBody>
          <a:bodyPr wrap="square" lIns="0" rIns="0" tIns="0" bIns="0">
            <a:noAutofit/>
          </a:bodyPr>
          <a:lstStyle/>
          <a:p>
            <a:pPr algn="l"/>
            <a:r>
              <a:rPr sz="2400" b="1">
                <a:solidFill>
                  <a:srgbClr val="1D1D1F"/>
                </a:solidFill>
                <a:latin typeface="Noto Sans JP"/>
              </a:rPr>
              <a:t>今回紹介する3つのユースケース</a:t>
            </a:r>
          </a:p>
        </p:txBody>
      </p:sp>
      <p:sp>
        <p:nvSpPr>
          <p:cNvPr id="50" name="TextBox 49"/>
          <p:cNvSpPr txBox="1"/>
          <p:nvPr/>
        </p:nvSpPr>
        <p:spPr>
          <a:xfrm>
            <a:off x="8290864" y="3193174"/>
            <a:ext cx="3353105" cy="191110"/>
          </a:xfrm>
          <a:prstGeom prst="rect">
            <a:avLst/>
          </a:prstGeom>
          <a:ln w="0">
            <a:noFill/>
          </a:ln>
          <a:noFill/>
        </p:spPr>
        <p:txBody>
          <a:bodyPr wrap="square" lIns="0" rIns="0" tIns="0" bIns="0">
            <a:noAutofit/>
          </a:bodyPr>
          <a:lstStyle/>
          <a:p>
            <a:pPr algn="l"/>
            <a:r>
              <a:rPr sz="900" b="1">
                <a:solidFill>
                  <a:srgbClr val="86868B"/>
                </a:solidFill>
                <a:latin typeface="Cambria"/>
              </a:rPr>
              <a:t>自作ノート・公開資料・許諾済み資料を学習コンテンツ化する</a:t>
            </a:r>
          </a:p>
        </p:txBody>
      </p:sp>
      <p:pic>
        <p:nvPicPr>
          <p:cNvPr id="51" name="Picture 50" descr="image.png"/>
          <p:cNvPicPr>
            <a:picLocks noChangeAspect="1"/>
          </p:cNvPicPr>
          <p:nvPr/>
        </p:nvPicPr>
        <p:blipFill>
          <a:blip r:embed="rId2"/>
          <a:stretch>
            <a:fillRect/>
          </a:stretch>
        </p:blipFill>
        <p:spPr>
          <a:xfrm>
            <a:off x="656538" y="4053077"/>
            <a:ext cx="3238805" cy="352043"/>
          </a:xfrm>
          <a:prstGeom prst="rect">
            <a:avLst/>
          </a:prstGeom>
          <a:ln w="0">
            <a:noFill/>
          </a:ln>
        </p:spPr>
      </p:pic>
      <p:sp>
        <p:nvSpPr>
          <p:cNvPr id="52" name="Rectangle 51"/>
          <p:cNvSpPr/>
          <p:nvPr/>
        </p:nvSpPr>
        <p:spPr>
          <a:xfrm>
            <a:off x="657454" y="4058321"/>
            <a:ext cx="3238805" cy="337240"/>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100">
                <a:solidFill>
                  <a:srgbClr val="1D1D1F"/>
                </a:solidFill>
                <a:latin typeface="Cambria"/>
              </a:rPr>
              <a:t>Whisper で文字起こしした後、企業名・顧客名・数値・日付をローカルでマスキングする。</a:t>
            </a:r>
          </a:p>
        </p:txBody>
      </p:sp>
      <p:pic>
        <p:nvPicPr>
          <p:cNvPr id="53" name="Picture 52" descr="image.png"/>
          <p:cNvPicPr>
            <a:picLocks noChangeAspect="1"/>
          </p:cNvPicPr>
          <p:nvPr/>
        </p:nvPicPr>
        <p:blipFill>
          <a:blip r:embed="rId2"/>
          <a:stretch>
            <a:fillRect/>
          </a:stretch>
        </p:blipFill>
        <p:spPr>
          <a:xfrm>
            <a:off x="656538" y="4688952"/>
            <a:ext cx="3238805" cy="352044"/>
          </a:xfrm>
          <a:prstGeom prst="rect">
            <a:avLst/>
          </a:prstGeom>
          <a:ln w="0">
            <a:noFill/>
          </a:ln>
        </p:spPr>
      </p:pic>
      <p:sp>
        <p:nvSpPr>
          <p:cNvPr id="54" name="Rectangle 53"/>
          <p:cNvSpPr/>
          <p:nvPr/>
        </p:nvSpPr>
        <p:spPr>
          <a:xfrm>
            <a:off x="662941" y="4688952"/>
            <a:ext cx="3238805" cy="358876"/>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100">
                <a:solidFill>
                  <a:srgbClr val="1D1D1F"/>
                </a:solidFill>
                <a:latin typeface="Cambria"/>
              </a:rPr>
              <a:t>安全化済みコンテキストだけを外部生成AIへ渡し、壁打ち品質を上げる。</a:t>
            </a:r>
          </a:p>
        </p:txBody>
      </p:sp>
      <p:pic>
        <p:nvPicPr>
          <p:cNvPr id="55" name="Picture 54" descr="image.png"/>
          <p:cNvPicPr>
            <a:picLocks noChangeAspect="1"/>
          </p:cNvPicPr>
          <p:nvPr/>
        </p:nvPicPr>
        <p:blipFill>
          <a:blip r:embed="rId2"/>
          <a:stretch>
            <a:fillRect/>
          </a:stretch>
        </p:blipFill>
        <p:spPr>
          <a:xfrm>
            <a:off x="647395" y="5327489"/>
            <a:ext cx="3238805" cy="352043"/>
          </a:xfrm>
          <a:prstGeom prst="rect">
            <a:avLst/>
          </a:prstGeom>
          <a:ln w="0">
            <a:noFill/>
          </a:ln>
        </p:spPr>
      </p:pic>
      <p:sp>
        <p:nvSpPr>
          <p:cNvPr id="56" name="Rectangle 55"/>
          <p:cNvSpPr/>
          <p:nvPr/>
        </p:nvSpPr>
        <p:spPr>
          <a:xfrm>
            <a:off x="656538" y="5324827"/>
            <a:ext cx="3238805" cy="344251"/>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7" name="TextBox 56"/>
          <p:cNvSpPr txBox="1"/>
          <p:nvPr/>
        </p:nvSpPr>
        <p:spPr>
          <a:xfrm>
            <a:off x="4493363" y="3887665"/>
            <a:ext cx="3353105" cy="110641"/>
          </a:xfrm>
          <a:prstGeom prst="rect">
            <a:avLst/>
          </a:prstGeom>
          <a:ln w="0">
            <a:noFill/>
          </a:ln>
          <a:noFill/>
        </p:spPr>
        <p:txBody>
          <a:bodyPr wrap="square" lIns="0" rIns="0" tIns="0" bIns="0">
            <a:noAutofit/>
          </a:bodyPr>
          <a:lstStyle/>
          <a:p>
            <a:pPr algn="l"/>
            <a:r>
              <a:rPr sz="900" b="1">
                <a:solidFill>
                  <a:srgbClr val="86868B"/>
                </a:solidFill>
                <a:latin typeface="Cambria"/>
              </a:rPr>
              <a:t>要点1</a:t>
            </a:r>
          </a:p>
        </p:txBody>
      </p:sp>
      <p:sp>
        <p:nvSpPr>
          <p:cNvPr id="58" name="TextBox 57"/>
          <p:cNvSpPr txBox="1"/>
          <p:nvPr/>
        </p:nvSpPr>
        <p:spPr>
          <a:xfrm>
            <a:off x="4493363" y="4517553"/>
            <a:ext cx="3353105" cy="127417"/>
          </a:xfrm>
          <a:prstGeom prst="rect">
            <a:avLst/>
          </a:prstGeom>
          <a:ln w="0">
            <a:noFill/>
          </a:ln>
          <a:noFill/>
        </p:spPr>
        <p:txBody>
          <a:bodyPr wrap="square" lIns="0" rIns="0" tIns="0" bIns="0">
            <a:noAutofit/>
          </a:bodyPr>
          <a:lstStyle/>
          <a:p>
            <a:pPr algn="l"/>
            <a:r>
              <a:rPr sz="900" b="1">
                <a:solidFill>
                  <a:srgbClr val="86868B"/>
                </a:solidFill>
                <a:latin typeface="Cambria"/>
              </a:rPr>
              <a:t>要点2</a:t>
            </a:r>
          </a:p>
        </p:txBody>
      </p:sp>
      <p:sp>
        <p:nvSpPr>
          <p:cNvPr id="59" name="TextBox 58"/>
          <p:cNvSpPr txBox="1"/>
          <p:nvPr/>
        </p:nvSpPr>
        <p:spPr>
          <a:xfrm>
            <a:off x="4487876" y="5111864"/>
            <a:ext cx="3353105" cy="191110"/>
          </a:xfrm>
          <a:prstGeom prst="rect">
            <a:avLst/>
          </a:prstGeom>
          <a:ln w="0">
            <a:noFill/>
          </a:ln>
          <a:noFill/>
        </p:spPr>
        <p:txBody>
          <a:bodyPr wrap="square" lIns="0" rIns="0" tIns="0" bIns="0">
            <a:noAutofit/>
          </a:bodyPr>
          <a:lstStyle/>
          <a:p>
            <a:pPr algn="l"/>
            <a:r>
              <a:rPr sz="900" b="1">
                <a:solidFill>
                  <a:srgbClr val="86868B"/>
                </a:solidFill>
                <a:latin typeface="Cambria"/>
              </a:rPr>
              <a:t>要点3</a:t>
            </a:r>
          </a:p>
        </p:txBody>
      </p:sp>
      <p:pic>
        <p:nvPicPr>
          <p:cNvPr id="60" name="Picture 59" descr="image.png"/>
          <p:cNvPicPr>
            <a:picLocks noChangeAspect="1"/>
          </p:cNvPicPr>
          <p:nvPr/>
        </p:nvPicPr>
        <p:blipFill>
          <a:blip r:embed="rId2"/>
          <a:stretch>
            <a:fillRect/>
          </a:stretch>
        </p:blipFill>
        <p:spPr>
          <a:xfrm>
            <a:off x="4486960" y="4050361"/>
            <a:ext cx="3238804" cy="352044"/>
          </a:xfrm>
          <a:prstGeom prst="rect">
            <a:avLst/>
          </a:prstGeom>
          <a:ln w="0">
            <a:noFill/>
          </a:ln>
        </p:spPr>
      </p:pic>
      <p:pic>
        <p:nvPicPr>
          <p:cNvPr id="61" name="Picture 60" descr="image.png"/>
          <p:cNvPicPr>
            <a:picLocks noChangeAspect="1"/>
          </p:cNvPicPr>
          <p:nvPr/>
        </p:nvPicPr>
        <p:blipFill>
          <a:blip r:embed="rId2"/>
          <a:stretch>
            <a:fillRect/>
          </a:stretch>
        </p:blipFill>
        <p:spPr>
          <a:xfrm>
            <a:off x="4486960" y="4686237"/>
            <a:ext cx="3238804" cy="352044"/>
          </a:xfrm>
          <a:prstGeom prst="rect">
            <a:avLst/>
          </a:prstGeom>
          <a:ln w="0">
            <a:noFill/>
          </a:ln>
        </p:spPr>
      </p:pic>
      <p:pic>
        <p:nvPicPr>
          <p:cNvPr id="62" name="Picture 61" descr="image.png"/>
          <p:cNvPicPr>
            <a:picLocks noChangeAspect="1"/>
          </p:cNvPicPr>
          <p:nvPr/>
        </p:nvPicPr>
        <p:blipFill>
          <a:blip r:embed="rId2"/>
          <a:stretch>
            <a:fillRect/>
          </a:stretch>
        </p:blipFill>
        <p:spPr>
          <a:xfrm>
            <a:off x="4477817" y="5324774"/>
            <a:ext cx="3238804" cy="352043"/>
          </a:xfrm>
          <a:prstGeom prst="rect">
            <a:avLst/>
          </a:prstGeom>
          <a:ln w="0">
            <a:noFill/>
          </a:ln>
        </p:spPr>
      </p:pic>
      <p:sp>
        <p:nvSpPr>
          <p:cNvPr id="63" name="TextBox 62"/>
          <p:cNvSpPr txBox="1"/>
          <p:nvPr/>
        </p:nvSpPr>
        <p:spPr>
          <a:xfrm>
            <a:off x="8318297" y="3870642"/>
            <a:ext cx="3353105" cy="110641"/>
          </a:xfrm>
          <a:prstGeom prst="rect">
            <a:avLst/>
          </a:prstGeom>
          <a:ln w="0">
            <a:noFill/>
          </a:ln>
          <a:noFill/>
        </p:spPr>
        <p:txBody>
          <a:bodyPr wrap="square" lIns="0" rIns="0" tIns="0" bIns="0">
            <a:noAutofit/>
          </a:bodyPr>
          <a:lstStyle/>
          <a:p>
            <a:pPr algn="l"/>
            <a:r>
              <a:rPr sz="900" b="1">
                <a:solidFill>
                  <a:srgbClr val="86868B"/>
                </a:solidFill>
                <a:latin typeface="Cambria"/>
              </a:rPr>
              <a:t>要点1</a:t>
            </a:r>
          </a:p>
        </p:txBody>
      </p:sp>
      <p:pic>
        <p:nvPicPr>
          <p:cNvPr id="64" name="Picture 63" descr="image.png"/>
          <p:cNvPicPr>
            <a:picLocks noChangeAspect="1"/>
          </p:cNvPicPr>
          <p:nvPr/>
        </p:nvPicPr>
        <p:blipFill>
          <a:blip r:embed="rId2"/>
          <a:stretch>
            <a:fillRect/>
          </a:stretch>
        </p:blipFill>
        <p:spPr>
          <a:xfrm>
            <a:off x="8311895" y="4033339"/>
            <a:ext cx="3238805" cy="352043"/>
          </a:xfrm>
          <a:prstGeom prst="rect">
            <a:avLst/>
          </a:prstGeom>
          <a:ln w="0">
            <a:noFill/>
          </a:ln>
        </p:spPr>
      </p:pic>
      <p:sp>
        <p:nvSpPr>
          <p:cNvPr id="65" name="Rectangle 64"/>
          <p:cNvSpPr/>
          <p:nvPr/>
        </p:nvSpPr>
        <p:spPr>
          <a:xfrm>
            <a:off x="4476597" y="4049599"/>
            <a:ext cx="3238804" cy="352043"/>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100">
                <a:solidFill>
                  <a:srgbClr val="1D1D1F"/>
                </a:solidFill>
                <a:latin typeface="Cambria"/>
              </a:rPr>
              <a:t>JSON 中間表現へ落とし、テンプレート選択を通じて PowerPoint 化する。</a:t>
            </a:r>
          </a:p>
        </p:txBody>
      </p:sp>
      <p:sp>
        <p:nvSpPr>
          <p:cNvPr id="66" name="Rectangle 65"/>
          <p:cNvSpPr/>
          <p:nvPr/>
        </p:nvSpPr>
        <p:spPr>
          <a:xfrm>
            <a:off x="4473316" y="4688952"/>
            <a:ext cx="3238805" cy="352044"/>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100">
                <a:solidFill>
                  <a:srgbClr val="1D1D1F"/>
                </a:solidFill>
                <a:latin typeface="Cambria"/>
              </a:rPr>
              <a:t>外部AIを使わず、成果物生成までローカルで完結させる。</a:t>
            </a:r>
          </a:p>
        </p:txBody>
      </p:sp>
      <p:sp>
        <p:nvSpPr>
          <p:cNvPr id="67" name="Rectangle 66"/>
          <p:cNvSpPr/>
          <p:nvPr/>
        </p:nvSpPr>
        <p:spPr>
          <a:xfrm>
            <a:off x="4473316" y="5334974"/>
            <a:ext cx="3238805" cy="352044"/>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68" name="Rectangle 67"/>
          <p:cNvSpPr/>
          <p:nvPr/>
        </p:nvSpPr>
        <p:spPr>
          <a:xfrm>
            <a:off x="8302752" y="4047632"/>
            <a:ext cx="3238805" cy="333050"/>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100">
                <a:solidFill>
                  <a:srgbClr val="1D1D1F"/>
                </a:solidFill>
                <a:latin typeface="Cambria"/>
              </a:rPr>
              <a:t>要約・音声・動画など、学習しやすい形式へ再加工する。</a:t>
            </a:r>
          </a:p>
        </p:txBody>
      </p:sp>
      <p:sp>
        <p:nvSpPr>
          <p:cNvPr id="69" name="Rectangle 68"/>
          <p:cNvSpPr/>
          <p:nvPr/>
        </p:nvSpPr>
        <p:spPr>
          <a:xfrm>
            <a:off x="0" y="0"/>
            <a:ext cx="12192001" cy="54865"/>
          </a:xfrm>
          <a:prstGeom prst="rect">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70" name="Rectangle 69"/>
          <p:cNvSpPr/>
          <p:nvPr/>
        </p:nvSpPr>
        <p:spPr>
          <a:xfrm>
            <a:off x="305" y="1032380"/>
            <a:ext cx="12191695" cy="35999"/>
          </a:xfrm>
          <a:prstGeom prst="rect">
            <a:avLst/>
          </a:prstGeom>
          <a:solidFill>
            <a:srgbClr val="E5E5E5"/>
          </a:solidFill>
          <a:ln w="12700"/>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71" name="Rectangle 70"/>
          <p:cNvSpPr/>
          <p:nvPr/>
        </p:nvSpPr>
        <p:spPr>
          <a:xfrm>
            <a:off x="0" y="6476695"/>
            <a:ext cx="12192609" cy="381305"/>
          </a:xfrm>
          <a:prstGeom prst="rect">
            <a:avLst/>
          </a:prstGeom>
          <a:solidFill>
            <a:srgbClr val="F6F5F8"/>
          </a:solidFill>
          <a:ln w="15875">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72" name="Rectangle 71"/>
          <p:cNvSpPr/>
          <p:nvPr/>
        </p:nvSpPr>
        <p:spPr>
          <a:xfrm>
            <a:off x="0" y="6473375"/>
            <a:ext cx="12192610" cy="381305"/>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900">
                <a:solidFill>
                  <a:srgbClr val="86868B"/>
                </a:solidFill>
                <a:latin typeface="Cambria"/>
              </a:rPr>
              <a:t>Page 3 | 一次情報の収集・安全化・構造化による生成AI活用の試作</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6476695"/>
            <a:ext cx="12192609" cy="381305"/>
          </a:xfrm>
          <a:prstGeom prst="rect">
            <a:avLst/>
          </a:prstGeom>
          <a:solidFill>
            <a:srgbClr val="F6F5F8"/>
          </a:solidFill>
          <a:ln w="15875">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4" name="Rounded Rectangle 3"/>
          <p:cNvSpPr/>
          <p:nvPr/>
        </p:nvSpPr>
        <p:spPr>
          <a:xfrm>
            <a:off x="481887" y="1312153"/>
            <a:ext cx="11221662" cy="790509"/>
          </a:xfrm>
          <a:prstGeom prst="roundRect">
            <a:avLst/>
          </a:prstGeom>
          <a:solidFill>
            <a:srgbClr val="F0F9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488450" y="1311250"/>
            <a:ext cx="49716" cy="791160"/>
          </a:xfrm>
          <a:prstGeom prst="rect">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14400" y="470024"/>
            <a:ext cx="11354105" cy="514806"/>
          </a:xfrm>
          <a:prstGeom prst="rect">
            <a:avLst/>
          </a:prstGeom>
          <a:ln w="0">
            <a:noFill/>
          </a:ln>
          <a:noFill/>
        </p:spPr>
        <p:txBody>
          <a:bodyPr wrap="square" lIns="0" rIns="0" tIns="0" bIns="0">
            <a:noAutofit/>
          </a:bodyPr>
          <a:lstStyle/>
          <a:p>
            <a:pPr algn="l"/>
            <a:r>
              <a:rPr sz="2400" b="1">
                <a:solidFill>
                  <a:srgbClr val="1D1D1F"/>
                </a:solidFill>
                <a:latin typeface="Noto Sans JP"/>
              </a:rPr>
              <a:t>会議コンテキストを収集し、マスキング後に外部生成AIで壁打ち品質を上げる</a:t>
            </a:r>
          </a:p>
        </p:txBody>
      </p:sp>
      <p:sp>
        <p:nvSpPr>
          <p:cNvPr id="7" name="TextBox 6"/>
          <p:cNvSpPr txBox="1"/>
          <p:nvPr/>
        </p:nvSpPr>
        <p:spPr>
          <a:xfrm>
            <a:off x="476401" y="195681"/>
            <a:ext cx="11239805" cy="286206"/>
          </a:xfrm>
          <a:prstGeom prst="rect">
            <a:avLst/>
          </a:prstGeom>
          <a:ln w="0">
            <a:noFill/>
          </a:ln>
          <a:noFill/>
        </p:spPr>
        <p:txBody>
          <a:bodyPr wrap="square" lIns="0" rIns="0" tIns="0" bIns="0">
            <a:noAutofit/>
          </a:bodyPr>
          <a:lstStyle/>
          <a:p>
            <a:pPr algn="l"/>
            <a:r>
              <a:rPr sz="1000">
                <a:solidFill>
                  <a:srgbClr val="86868B"/>
                </a:solidFill>
                <a:latin typeface="Noto Sans JP"/>
              </a:rPr>
              <a:t>Use Case 1</a:t>
            </a:r>
          </a:p>
        </p:txBody>
      </p:sp>
      <p:sp>
        <p:nvSpPr>
          <p:cNvPr id="8" name="TextBox 7"/>
          <p:cNvSpPr txBox="1"/>
          <p:nvPr/>
        </p:nvSpPr>
        <p:spPr>
          <a:xfrm>
            <a:off x="914400" y="1421206"/>
            <a:ext cx="10611612" cy="571500"/>
          </a:xfrm>
          <a:prstGeom prst="rect">
            <a:avLst/>
          </a:prstGeom>
          <a:ln w="0">
            <a:noFill/>
          </a:ln>
          <a:noFill/>
        </p:spPr>
        <p:txBody>
          <a:bodyPr wrap="square" lIns="0" rIns="0" tIns="0" bIns="0">
            <a:noAutofit/>
          </a:bodyPr>
          <a:lstStyle/>
          <a:p>
            <a:pPr algn="l"/>
            <a:r>
              <a:rPr b="1">
                <a:solidFill>
                  <a:srgbClr val="1D1D1F"/>
                </a:solidFill>
                <a:latin typeface="Cambria"/>
              </a:rPr>
              <a:t>外部生成AIを使うなら、文脈収集とマスキングはセットで設計する必要がある。</a:t>
            </a:r>
          </a:p>
        </p:txBody>
      </p:sp>
      <p:sp>
        <p:nvSpPr>
          <p:cNvPr id="9" name="Rounded Rectangle 8"/>
          <p:cNvSpPr/>
          <p:nvPr/>
        </p:nvSpPr>
        <p:spPr>
          <a:xfrm>
            <a:off x="538167"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2"/>
          <a:stretch>
            <a:fillRect/>
          </a:stretch>
        </p:blipFill>
        <p:spPr>
          <a:xfrm>
            <a:off x="738421" y="2596440"/>
            <a:ext cx="304495" cy="228600"/>
          </a:xfrm>
          <a:prstGeom prst="rect">
            <a:avLst/>
          </a:prstGeom>
          <a:ln w="0">
            <a:noFill/>
          </a:ln>
        </p:spPr>
      </p:pic>
      <p:sp>
        <p:nvSpPr>
          <p:cNvPr id="11" name="TextBox 10"/>
          <p:cNvSpPr txBox="1"/>
          <p:nvPr/>
        </p:nvSpPr>
        <p:spPr>
          <a:xfrm>
            <a:off x="1157216" y="2582724"/>
            <a:ext cx="1286561" cy="257861"/>
          </a:xfrm>
          <a:prstGeom prst="rect">
            <a:avLst/>
          </a:prstGeom>
          <a:ln w="0">
            <a:noFill/>
          </a:ln>
          <a:noFill/>
        </p:spPr>
        <p:txBody>
          <a:bodyPr wrap="square" lIns="0" rIns="0" tIns="0" bIns="0">
            <a:noAutofit/>
          </a:bodyPr>
          <a:lstStyle/>
          <a:p>
            <a:pPr algn="l"/>
            <a:r>
              <a:rPr sz="1300" b="1">
                <a:solidFill>
                  <a:srgbClr val="1D1D1F"/>
                </a:solidFill>
                <a:latin typeface="Noto Sans JP"/>
              </a:rPr>
              <a:t>収集</a:t>
            </a:r>
          </a:p>
        </p:txBody>
      </p:sp>
      <p:sp>
        <p:nvSpPr>
          <p:cNvPr id="12" name="TextBox 11"/>
          <p:cNvSpPr txBox="1"/>
          <p:nvPr/>
        </p:nvSpPr>
        <p:spPr>
          <a:xfrm>
            <a:off x="738421" y="2953970"/>
            <a:ext cx="3324758" cy="228600"/>
          </a:xfrm>
          <a:prstGeom prst="rect">
            <a:avLst/>
          </a:prstGeom>
          <a:ln w="0">
            <a:noFill/>
          </a:ln>
          <a:noFill/>
        </p:spPr>
        <p:txBody>
          <a:bodyPr wrap="square" lIns="0" rIns="0" tIns="0" bIns="0">
            <a:noAutofit/>
          </a:bodyPr>
          <a:lstStyle/>
          <a:p>
            <a:pPr algn="l"/>
            <a:r>
              <a:rPr sz="1100">
                <a:solidFill>
                  <a:srgbClr val="424245"/>
                </a:solidFill>
                <a:latin typeface="Noto Sans JP"/>
              </a:rPr>
              <a:t>PLAUD NotePin や議事録ツールで会議音声・アジェンダ・補足文脈を集める。</a:t>
            </a:r>
          </a:p>
        </p:txBody>
      </p:sp>
      <p:sp>
        <p:nvSpPr>
          <p:cNvPr id="13" name="TextBox 12"/>
          <p:cNvSpPr txBox="1"/>
          <p:nvPr/>
        </p:nvSpPr>
        <p:spPr>
          <a:xfrm>
            <a:off x="738421" y="3239263"/>
            <a:ext cx="3324758" cy="228599"/>
          </a:xfrm>
          <a:prstGeom prst="rect">
            <a:avLst/>
          </a:prstGeom>
          <a:ln w="0">
            <a:noFill/>
          </a:ln>
          <a:noFill/>
        </p:spPr>
        <p:txBody>
          <a:bodyPr wrap="square" lIns="0" rIns="0" tIns="0" bIns="0">
            <a:noAutofit/>
          </a:bodyPr>
          <a:lstStyle/>
          <a:p>
            <a:pPr algn="l"/>
          </a:p>
        </p:txBody>
      </p:sp>
      <p:sp>
        <p:nvSpPr>
          <p:cNvPr id="14" name="TextBox 13"/>
          <p:cNvSpPr txBox="1"/>
          <p:nvPr/>
        </p:nvSpPr>
        <p:spPr>
          <a:xfrm>
            <a:off x="738421" y="3525470"/>
            <a:ext cx="3248863" cy="228600"/>
          </a:xfrm>
          <a:prstGeom prst="rect">
            <a:avLst/>
          </a:prstGeom>
          <a:ln w="0">
            <a:noFill/>
          </a:ln>
          <a:noFill/>
        </p:spPr>
        <p:txBody>
          <a:bodyPr wrap="square" lIns="0" rIns="0" tIns="0" bIns="0">
            <a:noAutofit/>
          </a:bodyPr>
          <a:lstStyle/>
          <a:p>
            <a:pPr algn="l"/>
          </a:p>
        </p:txBody>
      </p:sp>
      <p:sp>
        <p:nvSpPr>
          <p:cNvPr id="15" name="Rounded Rectangle 14"/>
          <p:cNvSpPr/>
          <p:nvPr/>
        </p:nvSpPr>
        <p:spPr>
          <a:xfrm>
            <a:off x="4297265"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3"/>
          <a:stretch>
            <a:fillRect/>
          </a:stretch>
        </p:blipFill>
        <p:spPr>
          <a:xfrm>
            <a:off x="4497519" y="2596440"/>
            <a:ext cx="304494" cy="228600"/>
          </a:xfrm>
          <a:prstGeom prst="rect">
            <a:avLst/>
          </a:prstGeom>
          <a:ln w="0">
            <a:noFill/>
          </a:ln>
        </p:spPr>
      </p:pic>
      <p:sp>
        <p:nvSpPr>
          <p:cNvPr id="17" name="TextBox 16"/>
          <p:cNvSpPr txBox="1"/>
          <p:nvPr/>
        </p:nvSpPr>
        <p:spPr>
          <a:xfrm>
            <a:off x="4916314" y="2582724"/>
            <a:ext cx="762610" cy="257861"/>
          </a:xfrm>
          <a:prstGeom prst="rect">
            <a:avLst/>
          </a:prstGeom>
          <a:ln w="0">
            <a:noFill/>
          </a:ln>
          <a:noFill/>
        </p:spPr>
        <p:txBody>
          <a:bodyPr wrap="square" lIns="0" rIns="0" tIns="0" bIns="0">
            <a:noAutofit/>
          </a:bodyPr>
          <a:lstStyle/>
          <a:p>
            <a:pPr algn="l"/>
            <a:r>
              <a:rPr sz="1300" b="1">
                <a:solidFill>
                  <a:srgbClr val="1D1D1F"/>
                </a:solidFill>
                <a:latin typeface="Noto Sans JP"/>
              </a:rPr>
              <a:t>前処理</a:t>
            </a:r>
          </a:p>
        </p:txBody>
      </p:sp>
      <p:sp>
        <p:nvSpPr>
          <p:cNvPr id="18" name="TextBox 17"/>
          <p:cNvSpPr txBox="1"/>
          <p:nvPr/>
        </p:nvSpPr>
        <p:spPr>
          <a:xfrm>
            <a:off x="5193377" y="2953970"/>
            <a:ext cx="2553005" cy="247801"/>
          </a:xfrm>
          <a:prstGeom prst="rect">
            <a:avLst/>
          </a:prstGeom>
          <a:ln w="0">
            <a:noFill/>
          </a:ln>
          <a:noFill/>
        </p:spPr>
        <p:txBody>
          <a:bodyPr wrap="square" lIns="0" rIns="0" tIns="0" bIns="0">
            <a:noAutofit/>
          </a:bodyPr>
          <a:lstStyle/>
          <a:p>
            <a:pPr algn="l"/>
            <a:r>
              <a:rPr sz="1100">
                <a:solidFill>
                  <a:srgbClr val="424245"/>
                </a:solidFill>
                <a:latin typeface="Cambria"/>
              </a:rPr>
              <a:t>Whisper で文字起こしし、企業名・顧客名・数値・日付をローカルでマスキングする。</a:t>
            </a:r>
          </a:p>
        </p:txBody>
      </p:sp>
      <p:pic>
        <p:nvPicPr>
          <p:cNvPr id="19" name="Picture 18" descr="image.png"/>
          <p:cNvPicPr>
            <a:picLocks noChangeAspect="1"/>
          </p:cNvPicPr>
          <p:nvPr/>
        </p:nvPicPr>
        <p:blipFill>
          <a:blip r:embed="rId4"/>
          <a:stretch>
            <a:fillRect/>
          </a:stretch>
        </p:blipFill>
        <p:spPr>
          <a:xfrm>
            <a:off x="4631021" y="2963114"/>
            <a:ext cx="533094" cy="237744"/>
          </a:xfrm>
          <a:prstGeom prst="rect">
            <a:avLst/>
          </a:prstGeom>
          <a:ln w="0">
            <a:noFill/>
          </a:ln>
        </p:spPr>
      </p:pic>
      <p:sp>
        <p:nvSpPr>
          <p:cNvPr id="20" name="Rectangle 19"/>
          <p:cNvSpPr/>
          <p:nvPr/>
        </p:nvSpPr>
        <p:spPr>
          <a:xfrm>
            <a:off x="4631021" y="2963114"/>
            <a:ext cx="534010" cy="238657"/>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193377" y="3256636"/>
            <a:ext cx="2628900" cy="247801"/>
          </a:xfrm>
          <a:prstGeom prst="rect">
            <a:avLst/>
          </a:prstGeom>
          <a:ln w="0">
            <a:noFill/>
          </a:ln>
          <a:noFill/>
        </p:spPr>
        <p:txBody>
          <a:bodyPr wrap="square" lIns="0" rIns="0" tIns="0" bIns="0">
            <a:noAutofit/>
          </a:bodyPr>
          <a:lstStyle/>
          <a:p>
            <a:pPr algn="l"/>
          </a:p>
        </p:txBody>
      </p:sp>
      <p:pic>
        <p:nvPicPr>
          <p:cNvPr id="22" name="Picture 21" descr="image.png"/>
          <p:cNvPicPr>
            <a:picLocks noChangeAspect="1"/>
          </p:cNvPicPr>
          <p:nvPr/>
        </p:nvPicPr>
        <p:blipFill>
          <a:blip r:embed="rId4"/>
          <a:stretch>
            <a:fillRect/>
          </a:stretch>
        </p:blipFill>
        <p:spPr>
          <a:xfrm>
            <a:off x="4631021" y="3266695"/>
            <a:ext cx="533094" cy="237743"/>
          </a:xfrm>
          <a:prstGeom prst="rect">
            <a:avLst/>
          </a:prstGeom>
          <a:ln w="0">
            <a:noFill/>
          </a:ln>
        </p:spPr>
      </p:pic>
      <p:sp>
        <p:nvSpPr>
          <p:cNvPr id="23" name="Rectangle 22"/>
          <p:cNvSpPr/>
          <p:nvPr/>
        </p:nvSpPr>
        <p:spPr>
          <a:xfrm>
            <a:off x="4631021" y="3266695"/>
            <a:ext cx="534010" cy="238658"/>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4497519" y="3559303"/>
            <a:ext cx="3248863" cy="228600"/>
          </a:xfrm>
          <a:prstGeom prst="rect">
            <a:avLst/>
          </a:prstGeom>
          <a:ln w="0">
            <a:noFill/>
          </a:ln>
          <a:noFill/>
        </p:spPr>
        <p:txBody>
          <a:bodyPr wrap="square" lIns="0" rIns="0" tIns="0" bIns="0">
            <a:noAutofit/>
          </a:bodyPr>
          <a:lstStyle/>
          <a:p>
            <a:pPr algn="l"/>
          </a:p>
        </p:txBody>
      </p:sp>
      <p:sp>
        <p:nvSpPr>
          <p:cNvPr id="25" name="Rounded Rectangle 24"/>
          <p:cNvSpPr/>
          <p:nvPr/>
        </p:nvSpPr>
        <p:spPr>
          <a:xfrm>
            <a:off x="8056364"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5"/>
          <a:stretch>
            <a:fillRect/>
          </a:stretch>
        </p:blipFill>
        <p:spPr>
          <a:xfrm>
            <a:off x="8256617" y="2596440"/>
            <a:ext cx="304494" cy="228600"/>
          </a:xfrm>
          <a:prstGeom prst="rect">
            <a:avLst/>
          </a:prstGeom>
          <a:ln w="0">
            <a:noFill/>
          </a:ln>
        </p:spPr>
      </p:pic>
      <p:sp>
        <p:nvSpPr>
          <p:cNvPr id="27" name="TextBox 26"/>
          <p:cNvSpPr txBox="1"/>
          <p:nvPr/>
        </p:nvSpPr>
        <p:spPr>
          <a:xfrm>
            <a:off x="8675413" y="2582724"/>
            <a:ext cx="1296619" cy="257861"/>
          </a:xfrm>
          <a:prstGeom prst="rect">
            <a:avLst/>
          </a:prstGeom>
          <a:ln w="0">
            <a:noFill/>
          </a:ln>
          <a:noFill/>
        </p:spPr>
        <p:txBody>
          <a:bodyPr wrap="square" lIns="0" rIns="0" tIns="0" bIns="0">
            <a:noAutofit/>
          </a:bodyPr>
          <a:lstStyle/>
          <a:p>
            <a:pPr algn="l"/>
            <a:r>
              <a:rPr sz="1300" b="1">
                <a:solidFill>
                  <a:srgbClr val="1D1D1F"/>
                </a:solidFill>
                <a:latin typeface="Noto Sans JP"/>
              </a:rPr>
              <a:t>活用</a:t>
            </a:r>
          </a:p>
        </p:txBody>
      </p:sp>
      <p:sp>
        <p:nvSpPr>
          <p:cNvPr id="28" name="TextBox 27"/>
          <p:cNvSpPr txBox="1"/>
          <p:nvPr/>
        </p:nvSpPr>
        <p:spPr>
          <a:xfrm>
            <a:off x="8256617" y="2953970"/>
            <a:ext cx="3248863" cy="228600"/>
          </a:xfrm>
          <a:prstGeom prst="rect">
            <a:avLst/>
          </a:prstGeom>
          <a:ln w="0">
            <a:noFill/>
          </a:ln>
          <a:noFill/>
        </p:spPr>
        <p:txBody>
          <a:bodyPr wrap="square" lIns="0" rIns="0" tIns="0" bIns="0">
            <a:noAutofit/>
          </a:bodyPr>
          <a:lstStyle/>
          <a:p>
            <a:pPr algn="l"/>
            <a:r>
              <a:rPr sz="1100" b="1">
                <a:solidFill>
                  <a:srgbClr val="424245"/>
                </a:solidFill>
                <a:latin typeface="Cambria"/>
              </a:rPr>
              <a:t>安全化済みコンテキストだけを外部生成AIへ渡し、壁打ちや論点整理の品質を上げる。</a:t>
            </a:r>
          </a:p>
        </p:txBody>
      </p:sp>
      <p:sp>
        <p:nvSpPr>
          <p:cNvPr id="29" name="TextBox 28"/>
          <p:cNvSpPr txBox="1"/>
          <p:nvPr/>
        </p:nvSpPr>
        <p:spPr>
          <a:xfrm>
            <a:off x="8256617" y="3239263"/>
            <a:ext cx="3248863" cy="228599"/>
          </a:xfrm>
          <a:prstGeom prst="rect">
            <a:avLst/>
          </a:prstGeom>
          <a:ln w="0">
            <a:noFill/>
          </a:ln>
          <a:noFill/>
        </p:spPr>
        <p:txBody>
          <a:bodyPr wrap="square" lIns="0" rIns="0" tIns="0" bIns="0">
            <a:noAutofit/>
          </a:bodyPr>
          <a:lstStyle/>
          <a:p>
            <a:pPr algn="l"/>
          </a:p>
        </p:txBody>
      </p:sp>
      <p:sp>
        <p:nvSpPr>
          <p:cNvPr id="30" name="TextBox 29"/>
          <p:cNvSpPr txBox="1"/>
          <p:nvPr/>
        </p:nvSpPr>
        <p:spPr>
          <a:xfrm>
            <a:off x="8256617" y="3525470"/>
            <a:ext cx="3248863" cy="228600"/>
          </a:xfrm>
          <a:prstGeom prst="rect">
            <a:avLst/>
          </a:prstGeom>
          <a:ln w="0">
            <a:noFill/>
          </a:ln>
          <a:noFill/>
        </p:spPr>
        <p:txBody>
          <a:bodyPr wrap="square" lIns="0" rIns="0" tIns="0" bIns="0">
            <a:noAutofit/>
          </a:bodyPr>
          <a:lstStyle/>
          <a:p>
            <a:pPr algn="l"/>
          </a:p>
        </p:txBody>
      </p:sp>
      <p:sp>
        <p:nvSpPr>
          <p:cNvPr id="31" name="Rounded Rectangle 30"/>
          <p:cNvSpPr/>
          <p:nvPr/>
        </p:nvSpPr>
        <p:spPr>
          <a:xfrm>
            <a:off x="538167" y="4274364"/>
            <a:ext cx="7295997" cy="1647749"/>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6"/>
          <a:stretch>
            <a:fillRect/>
          </a:stretch>
        </p:blipFill>
        <p:spPr>
          <a:xfrm>
            <a:off x="738421" y="4488333"/>
            <a:ext cx="304495" cy="228600"/>
          </a:xfrm>
          <a:prstGeom prst="rect">
            <a:avLst/>
          </a:prstGeom>
          <a:ln w="0">
            <a:noFill/>
          </a:ln>
        </p:spPr>
      </p:pic>
      <p:sp>
        <p:nvSpPr>
          <p:cNvPr id="33" name="TextBox 32"/>
          <p:cNvSpPr txBox="1"/>
          <p:nvPr/>
        </p:nvSpPr>
        <p:spPr>
          <a:xfrm>
            <a:off x="1157216" y="4473703"/>
            <a:ext cx="3656686" cy="257860"/>
          </a:xfrm>
          <a:prstGeom prst="rect">
            <a:avLst/>
          </a:prstGeom>
          <a:ln w="0">
            <a:noFill/>
          </a:ln>
          <a:noFill/>
        </p:spPr>
        <p:txBody>
          <a:bodyPr wrap="square" lIns="0" rIns="0" tIns="0" bIns="0">
            <a:noAutofit/>
          </a:bodyPr>
          <a:lstStyle/>
          <a:p>
            <a:pPr algn="l"/>
          </a:p>
        </p:txBody>
      </p:sp>
      <p:sp>
        <p:nvSpPr>
          <p:cNvPr id="34" name="TextBox 33"/>
          <p:cNvSpPr txBox="1"/>
          <p:nvPr/>
        </p:nvSpPr>
        <p:spPr>
          <a:xfrm>
            <a:off x="738421" y="4855008"/>
            <a:ext cx="2595982" cy="200253"/>
          </a:xfrm>
          <a:prstGeom prst="rect">
            <a:avLst/>
          </a:prstGeom>
          <a:ln w="0">
            <a:noFill/>
          </a:ln>
          <a:noFill/>
        </p:spPr>
        <p:txBody>
          <a:bodyPr wrap="square" lIns="0" rIns="0" tIns="0" bIns="0">
            <a:noAutofit/>
          </a:bodyPr>
          <a:lstStyle/>
          <a:p>
            <a:pPr algn="l"/>
          </a:p>
        </p:txBody>
      </p:sp>
      <p:sp>
        <p:nvSpPr>
          <p:cNvPr id="35" name="TextBox 34"/>
          <p:cNvSpPr txBox="1"/>
          <p:nvPr/>
        </p:nvSpPr>
        <p:spPr>
          <a:xfrm>
            <a:off x="738421" y="5150359"/>
            <a:ext cx="3419855" cy="228600"/>
          </a:xfrm>
          <a:prstGeom prst="rect">
            <a:avLst/>
          </a:prstGeom>
          <a:ln w="0">
            <a:noFill/>
          </a:ln>
          <a:noFill/>
        </p:spPr>
        <p:txBody>
          <a:bodyPr wrap="square" lIns="0" rIns="0" tIns="0" bIns="0">
            <a:noAutofit/>
          </a:bodyPr>
          <a:lstStyle/>
          <a:p>
            <a:pPr algn="l"/>
          </a:p>
        </p:txBody>
      </p:sp>
      <p:sp>
        <p:nvSpPr>
          <p:cNvPr id="36" name="TextBox 35"/>
          <p:cNvSpPr txBox="1"/>
          <p:nvPr/>
        </p:nvSpPr>
        <p:spPr>
          <a:xfrm>
            <a:off x="738421" y="5435652"/>
            <a:ext cx="3419855" cy="228600"/>
          </a:xfrm>
          <a:prstGeom prst="rect">
            <a:avLst/>
          </a:prstGeom>
          <a:ln w="0">
            <a:noFill/>
          </a:ln>
          <a:noFill/>
        </p:spPr>
        <p:txBody>
          <a:bodyPr wrap="square" lIns="0" rIns="0" tIns="0" bIns="0">
            <a:noAutofit/>
          </a:bodyPr>
          <a:lstStyle/>
          <a:p>
            <a:pPr algn="l"/>
          </a:p>
        </p:txBody>
      </p:sp>
      <p:sp>
        <p:nvSpPr>
          <p:cNvPr id="37" name="Rectangle 36"/>
          <p:cNvSpPr/>
          <p:nvPr/>
        </p:nvSpPr>
        <p:spPr>
          <a:xfrm>
            <a:off x="4178393" y="4845864"/>
            <a:ext cx="9144" cy="875994"/>
          </a:xfrm>
          <a:prstGeom prst="rect">
            <a:avLst/>
          </a:prstGeom>
          <a:solidFill>
            <a:srgbClr val="E5E5E5">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331098" y="4855008"/>
            <a:ext cx="2296972" cy="200253"/>
          </a:xfrm>
          <a:prstGeom prst="rect">
            <a:avLst/>
          </a:prstGeom>
          <a:ln w="0">
            <a:noFill/>
          </a:ln>
          <a:noFill/>
        </p:spPr>
        <p:txBody>
          <a:bodyPr wrap="square" lIns="0" rIns="0" tIns="0" bIns="0">
            <a:noAutofit/>
          </a:bodyPr>
          <a:lstStyle/>
          <a:p>
            <a:pPr algn="l"/>
          </a:p>
        </p:txBody>
      </p:sp>
      <p:sp>
        <p:nvSpPr>
          <p:cNvPr id="39" name="TextBox 38"/>
          <p:cNvSpPr txBox="1"/>
          <p:nvPr/>
        </p:nvSpPr>
        <p:spPr>
          <a:xfrm>
            <a:off x="4331098" y="5150359"/>
            <a:ext cx="3419855" cy="228600"/>
          </a:xfrm>
          <a:prstGeom prst="rect">
            <a:avLst/>
          </a:prstGeom>
          <a:ln w="0">
            <a:noFill/>
          </a:ln>
          <a:noFill/>
        </p:spPr>
        <p:txBody>
          <a:bodyPr wrap="square" lIns="0" rIns="0" tIns="0" bIns="0">
            <a:noAutofit/>
          </a:bodyPr>
          <a:lstStyle/>
          <a:p>
            <a:pPr algn="l"/>
          </a:p>
        </p:txBody>
      </p:sp>
      <p:sp>
        <p:nvSpPr>
          <p:cNvPr id="40" name="TextBox 39"/>
          <p:cNvSpPr txBox="1"/>
          <p:nvPr/>
        </p:nvSpPr>
        <p:spPr>
          <a:xfrm>
            <a:off x="4331098" y="5435652"/>
            <a:ext cx="3419855" cy="228600"/>
          </a:xfrm>
          <a:prstGeom prst="rect">
            <a:avLst/>
          </a:prstGeom>
          <a:ln w="0">
            <a:noFill/>
          </a:ln>
          <a:noFill/>
        </p:spPr>
        <p:txBody>
          <a:bodyPr wrap="square" lIns="0" rIns="0" tIns="0" bIns="0">
            <a:noAutofit/>
          </a:bodyPr>
          <a:lstStyle/>
          <a:p>
            <a:pPr algn="l"/>
          </a:p>
        </p:txBody>
      </p:sp>
      <p:sp>
        <p:nvSpPr>
          <p:cNvPr id="41" name="Rounded Rectangle 40"/>
          <p:cNvSpPr/>
          <p:nvPr/>
        </p:nvSpPr>
        <p:spPr>
          <a:xfrm>
            <a:off x="8056364" y="4274364"/>
            <a:ext cx="3534155" cy="1647749"/>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42" name="Picture 41" descr="image.png"/>
          <p:cNvPicPr>
            <a:picLocks noChangeAspect="1"/>
          </p:cNvPicPr>
          <p:nvPr/>
        </p:nvPicPr>
        <p:blipFill>
          <a:blip r:embed="rId7"/>
          <a:stretch>
            <a:fillRect/>
          </a:stretch>
        </p:blipFill>
        <p:spPr>
          <a:xfrm>
            <a:off x="8256617" y="4488333"/>
            <a:ext cx="304494" cy="228600"/>
          </a:xfrm>
          <a:prstGeom prst="rect">
            <a:avLst/>
          </a:prstGeom>
          <a:ln w="0">
            <a:noFill/>
          </a:ln>
        </p:spPr>
      </p:pic>
      <p:sp>
        <p:nvSpPr>
          <p:cNvPr id="43" name="TextBox 42"/>
          <p:cNvSpPr txBox="1"/>
          <p:nvPr/>
        </p:nvSpPr>
        <p:spPr>
          <a:xfrm>
            <a:off x="8675413" y="4473703"/>
            <a:ext cx="1110996" cy="257860"/>
          </a:xfrm>
          <a:prstGeom prst="rect">
            <a:avLst/>
          </a:prstGeom>
          <a:ln w="0">
            <a:noFill/>
          </a:ln>
          <a:noFill/>
        </p:spPr>
        <p:txBody>
          <a:bodyPr wrap="square" lIns="0" rIns="0" tIns="0" bIns="0">
            <a:noAutofit/>
          </a:bodyPr>
          <a:lstStyle/>
          <a:p>
            <a:pPr algn="l"/>
          </a:p>
        </p:txBody>
      </p:sp>
      <p:sp>
        <p:nvSpPr>
          <p:cNvPr id="44" name="TextBox 43"/>
          <p:cNvSpPr txBox="1"/>
          <p:nvPr/>
        </p:nvSpPr>
        <p:spPr>
          <a:xfrm>
            <a:off x="8256617" y="4845864"/>
            <a:ext cx="3248863" cy="228600"/>
          </a:xfrm>
          <a:prstGeom prst="rect">
            <a:avLst/>
          </a:prstGeom>
          <a:ln w="0">
            <a:noFill/>
          </a:ln>
          <a:noFill/>
        </p:spPr>
        <p:txBody>
          <a:bodyPr wrap="square" lIns="0" rIns="0" tIns="0" bIns="0">
            <a:noAutofit/>
          </a:bodyPr>
          <a:lstStyle/>
          <a:p>
            <a:pPr algn="l"/>
          </a:p>
        </p:txBody>
      </p:sp>
      <p:sp>
        <p:nvSpPr>
          <p:cNvPr id="45" name="TextBox 44"/>
          <p:cNvSpPr txBox="1"/>
          <p:nvPr/>
        </p:nvSpPr>
        <p:spPr>
          <a:xfrm>
            <a:off x="8256617" y="5131157"/>
            <a:ext cx="3248863" cy="228600"/>
          </a:xfrm>
          <a:prstGeom prst="rect">
            <a:avLst/>
          </a:prstGeom>
          <a:ln w="0">
            <a:noFill/>
          </a:ln>
          <a:noFill/>
        </p:spPr>
        <p:txBody>
          <a:bodyPr wrap="square" lIns="0" rIns="0" tIns="0" bIns="0">
            <a:noAutofit/>
          </a:bodyPr>
          <a:lstStyle/>
          <a:p>
            <a:pPr algn="l"/>
          </a:p>
        </p:txBody>
      </p:sp>
      <p:sp>
        <p:nvSpPr>
          <p:cNvPr id="46" name="TextBox 45"/>
          <p:cNvSpPr txBox="1"/>
          <p:nvPr/>
        </p:nvSpPr>
        <p:spPr>
          <a:xfrm>
            <a:off x="8256617" y="5417364"/>
            <a:ext cx="3248863" cy="228600"/>
          </a:xfrm>
          <a:prstGeom prst="rect">
            <a:avLst/>
          </a:prstGeom>
          <a:ln w="0">
            <a:noFill/>
          </a:ln>
          <a:noFill/>
        </p:spPr>
        <p:txBody>
          <a:bodyPr wrap="square" lIns="0" rIns="0" tIns="0" bIns="0">
            <a:noAutofit/>
          </a:bodyPr>
          <a:lstStyle/>
          <a:p>
            <a:pPr algn="l"/>
          </a:p>
        </p:txBody>
      </p:sp>
      <p:pic>
        <p:nvPicPr>
          <p:cNvPr id="47" name="Picture 46" descr="image.png"/>
          <p:cNvPicPr>
            <a:picLocks noChangeAspect="1"/>
          </p:cNvPicPr>
          <p:nvPr/>
        </p:nvPicPr>
        <p:blipFill>
          <a:blip r:embed="rId8"/>
          <a:stretch>
            <a:fillRect/>
          </a:stretch>
        </p:blipFill>
        <p:spPr>
          <a:xfrm>
            <a:off x="4455871" y="6242541"/>
            <a:ext cx="133501" cy="133501"/>
          </a:xfrm>
          <a:prstGeom prst="rect">
            <a:avLst/>
          </a:prstGeom>
          <a:ln w="0">
            <a:noFill/>
          </a:ln>
        </p:spPr>
      </p:pic>
      <p:sp>
        <p:nvSpPr>
          <p:cNvPr id="48" name="TextBox 47"/>
          <p:cNvSpPr txBox="1"/>
          <p:nvPr/>
        </p:nvSpPr>
        <p:spPr>
          <a:xfrm>
            <a:off x="4656123" y="6202719"/>
            <a:ext cx="7535571" cy="213146"/>
          </a:xfrm>
          <a:prstGeom prst="rect">
            <a:avLst/>
          </a:prstGeom>
          <a:ln w="0">
            <a:noFill/>
          </a:ln>
          <a:noFill/>
        </p:spPr>
        <p:txBody>
          <a:bodyPr wrap="square" lIns="0" rIns="0" tIns="0" bIns="0">
            <a:noAutofit/>
          </a:bodyPr>
          <a:lstStyle/>
          <a:p/>
        </p:txBody>
      </p:sp>
      <p:sp>
        <p:nvSpPr>
          <p:cNvPr id="49" name="Rectangle 48"/>
          <p:cNvSpPr/>
          <p:nvPr/>
        </p:nvSpPr>
        <p:spPr>
          <a:xfrm>
            <a:off x="0" y="6471666"/>
            <a:ext cx="12192610" cy="381304"/>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900">
                <a:solidFill>
                  <a:srgbClr val="86868B"/>
                </a:solidFill>
                <a:latin typeface="Cambria"/>
              </a:rPr>
              <a:t>Page 4 | 一次情報の収集・安全化・構造化による生成AI活用の試作</a:t>
            </a:r>
          </a:p>
        </p:txBody>
      </p:sp>
      <p:pic>
        <p:nvPicPr>
          <p:cNvPr id="50" name="Picture 49" descr="image.png"/>
          <p:cNvPicPr>
            <a:picLocks noChangeAspect="1"/>
          </p:cNvPicPr>
          <p:nvPr/>
        </p:nvPicPr>
        <p:blipFill>
          <a:blip r:embed="rId9"/>
          <a:stretch>
            <a:fillRect/>
          </a:stretch>
        </p:blipFill>
        <p:spPr>
          <a:xfrm>
            <a:off x="475532" y="571500"/>
            <a:ext cx="304495" cy="304494"/>
          </a:xfrm>
          <a:prstGeom prst="rect">
            <a:avLst/>
          </a:prstGeom>
          <a:ln w="0">
            <a:noFill/>
          </a:ln>
        </p:spPr>
      </p:pic>
      <p:sp>
        <p:nvSpPr>
          <p:cNvPr id="51" name="Rectangle 50"/>
          <p:cNvSpPr/>
          <p:nvPr/>
        </p:nvSpPr>
        <p:spPr>
          <a:xfrm>
            <a:off x="0" y="0"/>
            <a:ext cx="12192001" cy="54865"/>
          </a:xfrm>
          <a:prstGeom prst="rect">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ectangle 51"/>
          <p:cNvSpPr/>
          <p:nvPr/>
        </p:nvSpPr>
        <p:spPr>
          <a:xfrm>
            <a:off x="305" y="1032380"/>
            <a:ext cx="12191695" cy="35999"/>
          </a:xfrm>
          <a:prstGeom prst="rect">
            <a:avLst/>
          </a:prstGeom>
          <a:solidFill>
            <a:srgbClr val="E5E5E5"/>
          </a:solidFill>
          <a:ln w="12700"/>
        </p:spPr>
        <p:style>
          <a:lnRef idx="0">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6476695"/>
            <a:ext cx="12192609" cy="381305"/>
          </a:xfrm>
          <a:prstGeom prst="rect">
            <a:avLst/>
          </a:prstGeom>
          <a:solidFill>
            <a:srgbClr val="F6F5F8"/>
          </a:solidFill>
          <a:ln w="15875">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4" name="Rectangle 3"/>
          <p:cNvSpPr/>
          <p:nvPr/>
        </p:nvSpPr>
        <p:spPr>
          <a:xfrm>
            <a:off x="305" y="1032380"/>
            <a:ext cx="12191695" cy="35999"/>
          </a:xfrm>
          <a:prstGeom prst="rect">
            <a:avLst/>
          </a:prstGeom>
          <a:solidFill>
            <a:srgbClr val="E5E5E5"/>
          </a:solidFill>
          <a:ln w="12700"/>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0" y="6476695"/>
            <a:ext cx="12192610" cy="381305"/>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900">
                <a:solidFill>
                  <a:srgbClr val="86868B"/>
                </a:solidFill>
                <a:latin typeface="Cambria"/>
              </a:rPr>
              <a:t>Page 5 | 一次情報の収集・安全化・構造化による生成AI活用の試作</a:t>
            </a:r>
          </a:p>
        </p:txBody>
      </p:sp>
      <p:sp>
        <p:nvSpPr>
          <p:cNvPr id="6" name="Rectangle 5"/>
          <p:cNvSpPr/>
          <p:nvPr/>
        </p:nvSpPr>
        <p:spPr>
          <a:xfrm>
            <a:off x="0" y="0"/>
            <a:ext cx="12192001" cy="54865"/>
          </a:xfrm>
          <a:prstGeom prst="rect">
            <a:avLst/>
          </a:prstGeom>
          <a:solidFill>
            <a:srgbClr val="E21C48"/>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10032957" y="4967704"/>
            <a:ext cx="724205" cy="205632"/>
          </a:xfrm>
          <a:prstGeom prst="roundRect">
            <a:avLst/>
          </a:prstGeom>
          <a:solidFill>
            <a:srgbClr val="DCEAFE"/>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6765806" y="4941590"/>
            <a:ext cx="4877410" cy="257860"/>
          </a:xfrm>
          <a:prstGeom prst="rect">
            <a:avLst/>
          </a:prstGeom>
          <a:ln w="0">
            <a:noFill/>
          </a:ln>
          <a:noFill/>
        </p:spPr>
        <p:txBody>
          <a:bodyPr wrap="square" lIns="0" rIns="0" tIns="0" bIns="0">
            <a:noAutofit/>
          </a:bodyPr>
          <a:lstStyle/>
          <a:p>
            <a:pPr algn="l"/>
            <a:r>
              <a:rPr sz="1300" b="1">
                <a:solidFill>
                  <a:srgbClr val="1F2937"/>
                </a:solidFill>
                <a:latin typeface="Noto Sans JP"/>
              </a:rPr>
              <a:t>最終確認だけを人間に残せる。</a:t>
            </a:r>
          </a:p>
        </p:txBody>
      </p:sp>
      <p:sp>
        <p:nvSpPr>
          <p:cNvPr id="9" name="Rectangle 8"/>
          <p:cNvSpPr/>
          <p:nvPr/>
        </p:nvSpPr>
        <p:spPr>
          <a:xfrm>
            <a:off x="10032957" y="4965364"/>
            <a:ext cx="724205" cy="210312"/>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8865269" y="4089825"/>
            <a:ext cx="504749" cy="209398"/>
          </a:xfrm>
          <a:prstGeom prst="roundRect">
            <a:avLst/>
          </a:prstGeom>
          <a:solidFill>
            <a:srgbClr val="DCEAFE"/>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8866183" y="4089368"/>
            <a:ext cx="505663" cy="210312"/>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742032" y="3188685"/>
            <a:ext cx="4981651" cy="257860"/>
          </a:xfrm>
          <a:prstGeom prst="rect">
            <a:avLst/>
          </a:prstGeom>
          <a:ln w="0">
            <a:noFill/>
          </a:ln>
          <a:noFill/>
        </p:spPr>
        <p:txBody>
          <a:bodyPr wrap="square" lIns="0" rIns="0" tIns="0" bIns="0">
            <a:noAutofit/>
          </a:bodyPr>
          <a:lstStyle/>
          <a:p>
            <a:pPr algn="l"/>
            <a:r>
              <a:rPr sz="1300" b="1">
                <a:solidFill>
                  <a:srgbClr val="1F2937"/>
                </a:solidFill>
                <a:latin typeface="Noto Sans JP"/>
              </a:rPr>
              <a:t>マスキング済みコンテキストのみを外部AIへ渡せる。</a:t>
            </a:r>
          </a:p>
        </p:txBody>
      </p:sp>
      <p:sp>
        <p:nvSpPr>
          <p:cNvPr id="13" name="Rounded Rectangle 12"/>
          <p:cNvSpPr/>
          <p:nvPr/>
        </p:nvSpPr>
        <p:spPr>
          <a:xfrm>
            <a:off x="9729376" y="3246292"/>
            <a:ext cx="391363" cy="187344"/>
          </a:xfrm>
          <a:prstGeom prst="roundRect">
            <a:avLst/>
          </a:prstGeom>
          <a:solidFill>
            <a:srgbClr val="DCEAFE"/>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ounded Rectangle 13"/>
          <p:cNvSpPr/>
          <p:nvPr/>
        </p:nvSpPr>
        <p:spPr>
          <a:xfrm>
            <a:off x="3190694" y="4100852"/>
            <a:ext cx="484246" cy="187344"/>
          </a:xfrm>
          <a:prstGeom prst="roundRect">
            <a:avLst/>
          </a:prstGeom>
          <a:solidFill>
            <a:srgbClr val="FFF2F2"/>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970339" y="4065594"/>
            <a:ext cx="4924958" cy="257860"/>
          </a:xfrm>
          <a:prstGeom prst="rect">
            <a:avLst/>
          </a:prstGeom>
          <a:ln w="0">
            <a:noFill/>
          </a:ln>
          <a:noFill/>
        </p:spPr>
        <p:txBody>
          <a:bodyPr wrap="square" lIns="0" rIns="0" tIns="0" bIns="0">
            <a:noAutofit/>
          </a:bodyPr>
          <a:lstStyle/>
          <a:p>
            <a:pPr algn="l"/>
            <a:r>
              <a:rPr sz="1300" b="1">
                <a:solidFill>
                  <a:srgbClr val="1F2937"/>
                </a:solidFill>
                <a:latin typeface="Cambria"/>
              </a:rPr>
              <a:t>利用者ごとの自己判断に依存し、運用が再現しにくい。</a:t>
            </a:r>
          </a:p>
        </p:txBody>
      </p:sp>
      <p:sp>
        <p:nvSpPr>
          <p:cNvPr id="16" name="Rectangle 15"/>
          <p:cNvSpPr/>
          <p:nvPr/>
        </p:nvSpPr>
        <p:spPr>
          <a:xfrm>
            <a:off x="3182272" y="4089368"/>
            <a:ext cx="505662" cy="210312"/>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3643515" y="3223943"/>
            <a:ext cx="484247" cy="187345"/>
          </a:xfrm>
          <a:prstGeom prst="roundRect">
            <a:avLst/>
          </a:prstGeom>
          <a:solidFill>
            <a:srgbClr val="FFF2F2"/>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992284" y="3188685"/>
            <a:ext cx="4905756" cy="257860"/>
          </a:xfrm>
          <a:prstGeom prst="rect">
            <a:avLst/>
          </a:prstGeom>
          <a:ln w="0">
            <a:noFill/>
          </a:ln>
          <a:noFill/>
        </p:spPr>
        <p:txBody>
          <a:bodyPr wrap="square" lIns="0" rIns="0" tIns="0" bIns="0">
            <a:noAutofit/>
          </a:bodyPr>
          <a:lstStyle/>
          <a:p>
            <a:pPr algn="l"/>
            <a:r>
              <a:rPr sz="1300" b="1">
                <a:solidFill>
                  <a:srgbClr val="1F2937"/>
                </a:solidFill>
                <a:latin typeface="Noto Sans JP"/>
              </a:rPr>
              <a:t>企業名・顧客名・数値・日付がそのまま入力される。</a:t>
            </a:r>
          </a:p>
        </p:txBody>
      </p:sp>
      <p:sp>
        <p:nvSpPr>
          <p:cNvPr id="19" name="Rectangle 18"/>
          <p:cNvSpPr/>
          <p:nvPr/>
        </p:nvSpPr>
        <p:spPr>
          <a:xfrm>
            <a:off x="3639473" y="3212459"/>
            <a:ext cx="505663" cy="210312"/>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992284" y="3484035"/>
            <a:ext cx="4867351" cy="428853"/>
          </a:xfrm>
          <a:prstGeom prst="rect">
            <a:avLst/>
          </a:prstGeom>
          <a:ln w="0">
            <a:noFill/>
          </a:ln>
          <a:noFill/>
        </p:spPr>
        <p:txBody>
          <a:bodyPr wrap="square" lIns="0" rIns="0" tIns="0" bIns="0">
            <a:noAutofit/>
          </a:bodyPr>
          <a:lstStyle/>
          <a:p>
            <a:pPr algn="l"/>
          </a:p>
        </p:txBody>
      </p:sp>
      <p:sp>
        <p:nvSpPr>
          <p:cNvPr id="21" name="Rounded Rectangle 20"/>
          <p:cNvSpPr/>
          <p:nvPr/>
        </p:nvSpPr>
        <p:spPr>
          <a:xfrm>
            <a:off x="481887" y="1312153"/>
            <a:ext cx="11221662" cy="790509"/>
          </a:xfrm>
          <a:prstGeom prst="roundRect">
            <a:avLst/>
          </a:prstGeom>
          <a:solidFill>
            <a:srgbClr val="FFF2F2"/>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2"/>
          <a:stretch>
            <a:fillRect/>
          </a:stretch>
        </p:blipFill>
        <p:spPr>
          <a:xfrm>
            <a:off x="480857" y="587045"/>
            <a:ext cx="299169" cy="258797"/>
          </a:xfrm>
          <a:prstGeom prst="rect">
            <a:avLst/>
          </a:prstGeom>
          <a:ln w="0">
            <a:noFill/>
          </a:ln>
        </p:spPr>
      </p:pic>
      <p:sp>
        <p:nvSpPr>
          <p:cNvPr id="23" name="TextBox 22"/>
          <p:cNvSpPr txBox="1"/>
          <p:nvPr/>
        </p:nvSpPr>
        <p:spPr>
          <a:xfrm>
            <a:off x="939088" y="491490"/>
            <a:ext cx="4772254" cy="457200"/>
          </a:xfrm>
          <a:prstGeom prst="rect">
            <a:avLst/>
          </a:prstGeom>
          <a:ln w="0">
            <a:noFill/>
          </a:ln>
          <a:noFill/>
        </p:spPr>
        <p:txBody>
          <a:bodyPr wrap="square" lIns="0" rIns="0" tIns="0" bIns="0">
            <a:noAutofit/>
          </a:bodyPr>
          <a:lstStyle/>
          <a:p>
            <a:pPr algn="l"/>
            <a:r>
              <a:rPr sz="2400" b="1">
                <a:solidFill>
                  <a:srgbClr val="1D1D1F"/>
                </a:solidFill>
                <a:latin typeface="Noto Sans JP"/>
              </a:rPr>
              <a:t>なぜユースケース1ではマスキングが必要か</a:t>
            </a:r>
          </a:p>
        </p:txBody>
      </p:sp>
      <p:sp>
        <p:nvSpPr>
          <p:cNvPr id="24" name="TextBox 23"/>
          <p:cNvSpPr txBox="1"/>
          <p:nvPr/>
        </p:nvSpPr>
        <p:spPr>
          <a:xfrm>
            <a:off x="482397" y="205740"/>
            <a:ext cx="1841602" cy="257860"/>
          </a:xfrm>
          <a:prstGeom prst="rect">
            <a:avLst/>
          </a:prstGeom>
          <a:ln w="0">
            <a:noFill/>
          </a:ln>
          <a:noFill/>
        </p:spPr>
        <p:txBody>
          <a:bodyPr wrap="square" lIns="0" rIns="0" tIns="0" bIns="0">
            <a:noAutofit/>
          </a:bodyPr>
          <a:lstStyle/>
          <a:p>
            <a:pPr algn="l"/>
            <a:r>
              <a:rPr sz="1000">
                <a:solidFill>
                  <a:srgbClr val="86868B"/>
                </a:solidFill>
                <a:latin typeface="Noto Sans JP"/>
              </a:rPr>
              <a:t>Use Case 1 Detail</a:t>
            </a:r>
          </a:p>
        </p:txBody>
      </p:sp>
      <p:sp>
        <p:nvSpPr>
          <p:cNvPr id="25" name="TextBox 24"/>
          <p:cNvSpPr txBox="1"/>
          <p:nvPr/>
        </p:nvSpPr>
        <p:spPr>
          <a:xfrm>
            <a:off x="939088" y="1318555"/>
            <a:ext cx="10849356" cy="782288"/>
          </a:xfrm>
          <a:prstGeom prst="rect">
            <a:avLst/>
          </a:prstGeom>
          <a:ln w="0">
            <a:noFill/>
          </a:ln>
          <a:noFill/>
        </p:spPr>
        <p:txBody>
          <a:bodyPr wrap="square" lIns="0" rIns="0" tIns="0" bIns="0">
            <a:noAutofit/>
          </a:bodyPr>
          <a:lstStyle/>
          <a:p>
            <a:pPr algn="just"/>
            <a:r>
              <a:rPr sz="1800" b="1">
                <a:solidFill>
                  <a:srgbClr val="DC2626"/>
                </a:solidFill>
                <a:latin typeface="Cambria"/>
              </a:rPr>
              <a:t>会議文脈は応答品質に効くが、そのまま外部AIへ渡すと企業利用には乗らない。</a:t>
            </a:r>
          </a:p>
        </p:txBody>
      </p:sp>
      <p:sp>
        <p:nvSpPr>
          <p:cNvPr id="26" name="Rounded Rectangle 25"/>
          <p:cNvSpPr/>
          <p:nvPr/>
        </p:nvSpPr>
        <p:spPr>
          <a:xfrm>
            <a:off x="488451" y="2398643"/>
            <a:ext cx="5482742" cy="3504896"/>
          </a:xfrm>
          <a:prstGeom prst="roundRect">
            <a:avLst/>
          </a:prstGeom>
          <a:noFill/>
          <a:ln w="12700">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p>
        </p:txBody>
      </p:sp>
      <p:sp>
        <p:nvSpPr>
          <p:cNvPr id="27" name="Rectangle 26"/>
          <p:cNvSpPr/>
          <p:nvPr/>
        </p:nvSpPr>
        <p:spPr>
          <a:xfrm>
            <a:off x="726194" y="3016778"/>
            <a:ext cx="5048402" cy="19201"/>
          </a:xfrm>
          <a:prstGeom prst="rect">
            <a:avLst/>
          </a:prstGeom>
          <a:solidFill>
            <a:srgbClr val="F5F5F7">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28" name="Picture 27" descr="image.png"/>
          <p:cNvPicPr>
            <a:picLocks noChangeAspect="1"/>
          </p:cNvPicPr>
          <p:nvPr/>
        </p:nvPicPr>
        <p:blipFill>
          <a:blip r:embed="rId3"/>
          <a:stretch>
            <a:fillRect/>
          </a:stretch>
        </p:blipFill>
        <p:spPr>
          <a:xfrm>
            <a:off x="726194" y="2620431"/>
            <a:ext cx="190195" cy="190194"/>
          </a:xfrm>
          <a:prstGeom prst="rect">
            <a:avLst/>
          </a:prstGeom>
          <a:ln w="0">
            <a:noFill/>
          </a:ln>
        </p:spPr>
      </p:pic>
      <p:sp>
        <p:nvSpPr>
          <p:cNvPr id="29" name="TextBox 28"/>
          <p:cNvSpPr txBox="1"/>
          <p:nvPr/>
        </p:nvSpPr>
        <p:spPr>
          <a:xfrm>
            <a:off x="1031604" y="2397730"/>
            <a:ext cx="3096158" cy="619048"/>
          </a:xfrm>
          <a:prstGeom prst="rect">
            <a:avLst/>
          </a:prstGeom>
          <a:ln w="0">
            <a:noFill/>
          </a:ln>
          <a:noFill/>
        </p:spPr>
        <p:txBody>
          <a:bodyPr wrap="square" lIns="0" rIns="0" tIns="0" bIns="0">
            <a:noAutofit/>
          </a:bodyPr>
          <a:lstStyle/>
          <a:p>
            <a:pPr algn="l"/>
            <a:r>
              <a:rPr sz="1500" b="1">
                <a:solidFill>
                  <a:srgbClr val="1D1D1F"/>
                </a:solidFill>
                <a:latin typeface="Noto Sans JP"/>
              </a:rPr>
              <a:t>そのまま外部AIへ渡す場合</a:t>
            </a:r>
          </a:p>
        </p:txBody>
      </p:sp>
      <p:pic>
        <p:nvPicPr>
          <p:cNvPr id="30" name="Picture 29" descr="image.png"/>
          <p:cNvPicPr>
            <a:picLocks noChangeAspect="1"/>
          </p:cNvPicPr>
          <p:nvPr/>
        </p:nvPicPr>
        <p:blipFill>
          <a:blip r:embed="rId4"/>
          <a:stretch>
            <a:fillRect/>
          </a:stretch>
        </p:blipFill>
        <p:spPr>
          <a:xfrm>
            <a:off x="744482" y="3241263"/>
            <a:ext cx="114300" cy="152705"/>
          </a:xfrm>
          <a:prstGeom prst="rect">
            <a:avLst/>
          </a:prstGeom>
          <a:ln w="0">
            <a:noFill/>
          </a:ln>
        </p:spPr>
      </p:pic>
      <p:pic>
        <p:nvPicPr>
          <p:cNvPr id="31" name="Picture 30" descr="image.png"/>
          <p:cNvPicPr>
            <a:picLocks noChangeAspect="1"/>
          </p:cNvPicPr>
          <p:nvPr/>
        </p:nvPicPr>
        <p:blipFill>
          <a:blip r:embed="rId5"/>
          <a:stretch>
            <a:fillRect/>
          </a:stretch>
        </p:blipFill>
        <p:spPr>
          <a:xfrm>
            <a:off x="734424" y="4118171"/>
            <a:ext cx="114300" cy="152705"/>
          </a:xfrm>
          <a:prstGeom prst="rect">
            <a:avLst/>
          </a:prstGeom>
          <a:ln w="0">
            <a:noFill/>
          </a:ln>
        </p:spPr>
      </p:pic>
      <p:sp>
        <p:nvSpPr>
          <p:cNvPr id="32" name="TextBox 31"/>
          <p:cNvSpPr txBox="1"/>
          <p:nvPr/>
        </p:nvSpPr>
        <p:spPr>
          <a:xfrm>
            <a:off x="970339" y="4360946"/>
            <a:ext cx="4886554" cy="428853"/>
          </a:xfrm>
          <a:prstGeom prst="rect">
            <a:avLst/>
          </a:prstGeom>
          <a:ln w="0">
            <a:noFill/>
          </a:ln>
          <a:noFill/>
        </p:spPr>
        <p:txBody>
          <a:bodyPr wrap="square" lIns="0" rIns="0" tIns="0" bIns="0">
            <a:noAutofit/>
          </a:bodyPr>
          <a:lstStyle/>
          <a:p>
            <a:pPr algn="l"/>
          </a:p>
        </p:txBody>
      </p:sp>
      <p:pic>
        <p:nvPicPr>
          <p:cNvPr id="33" name="Picture 32" descr="image.png"/>
          <p:cNvPicPr>
            <a:picLocks noChangeAspect="1"/>
          </p:cNvPicPr>
          <p:nvPr/>
        </p:nvPicPr>
        <p:blipFill>
          <a:blip r:embed="rId6"/>
          <a:stretch>
            <a:fillRect/>
          </a:stretch>
        </p:blipFill>
        <p:spPr>
          <a:xfrm>
            <a:off x="743568" y="4994168"/>
            <a:ext cx="114300" cy="152705"/>
          </a:xfrm>
          <a:prstGeom prst="rect">
            <a:avLst/>
          </a:prstGeom>
          <a:ln w="0">
            <a:noFill/>
          </a:ln>
        </p:spPr>
      </p:pic>
      <p:sp>
        <p:nvSpPr>
          <p:cNvPr id="34" name="TextBox 33"/>
          <p:cNvSpPr txBox="1"/>
          <p:nvPr/>
        </p:nvSpPr>
        <p:spPr>
          <a:xfrm>
            <a:off x="989541" y="4941590"/>
            <a:ext cx="4981651" cy="257860"/>
          </a:xfrm>
          <a:prstGeom prst="rect">
            <a:avLst/>
          </a:prstGeom>
          <a:ln w="0">
            <a:noFill/>
          </a:ln>
          <a:noFill/>
        </p:spPr>
        <p:txBody>
          <a:bodyPr wrap="square" lIns="0" rIns="0" tIns="0" bIns="0">
            <a:noAutofit/>
          </a:bodyPr>
          <a:lstStyle/>
          <a:p>
            <a:pPr algn="l"/>
            <a:r>
              <a:rPr sz="1300" b="1">
                <a:solidFill>
                  <a:srgbClr val="1F2937"/>
                </a:solidFill>
                <a:latin typeface="Noto Sans JP"/>
              </a:rPr>
              <a:t>情報統制の観点で説明が難しくなる。</a:t>
            </a:r>
          </a:p>
        </p:txBody>
      </p:sp>
      <p:sp>
        <p:nvSpPr>
          <p:cNvPr id="35" name="TextBox 34"/>
          <p:cNvSpPr txBox="1"/>
          <p:nvPr/>
        </p:nvSpPr>
        <p:spPr>
          <a:xfrm>
            <a:off x="989541" y="5236941"/>
            <a:ext cx="4867351" cy="428853"/>
          </a:xfrm>
          <a:prstGeom prst="rect">
            <a:avLst/>
          </a:prstGeom>
          <a:ln w="0">
            <a:noFill/>
          </a:ln>
          <a:noFill/>
        </p:spPr>
        <p:txBody>
          <a:bodyPr wrap="square" lIns="0" rIns="0" tIns="0" bIns="0">
            <a:noAutofit/>
          </a:bodyPr>
          <a:lstStyle/>
          <a:p>
            <a:pPr algn="l"/>
          </a:p>
        </p:txBody>
      </p:sp>
      <p:sp>
        <p:nvSpPr>
          <p:cNvPr id="36" name="Rounded Rectangle 35"/>
          <p:cNvSpPr/>
          <p:nvPr/>
        </p:nvSpPr>
        <p:spPr>
          <a:xfrm>
            <a:off x="6275686" y="2398643"/>
            <a:ext cx="5490974" cy="3504896"/>
          </a:xfrm>
          <a:prstGeom prst="roundRect">
            <a:avLst/>
          </a:prstGeom>
          <a:noFill/>
          <a:ln w="12700">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p>
        </p:txBody>
      </p:sp>
      <p:sp>
        <p:nvSpPr>
          <p:cNvPr id="37" name="Rectangle 36"/>
          <p:cNvSpPr/>
          <p:nvPr/>
        </p:nvSpPr>
        <p:spPr>
          <a:xfrm>
            <a:off x="6479599" y="3016778"/>
            <a:ext cx="5048402" cy="19201"/>
          </a:xfrm>
          <a:prstGeom prst="rect">
            <a:avLst/>
          </a:prstGeom>
          <a:solidFill>
            <a:srgbClr val="F5F5F7">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38" name="Picture 37" descr="image.png"/>
          <p:cNvPicPr>
            <a:picLocks noChangeAspect="1"/>
          </p:cNvPicPr>
          <p:nvPr/>
        </p:nvPicPr>
        <p:blipFill>
          <a:blip r:embed="rId7"/>
          <a:stretch>
            <a:fillRect/>
          </a:stretch>
        </p:blipFill>
        <p:spPr>
          <a:xfrm>
            <a:off x="6479599" y="2620431"/>
            <a:ext cx="190195" cy="190194"/>
          </a:xfrm>
          <a:prstGeom prst="rect">
            <a:avLst/>
          </a:prstGeom>
          <a:ln w="0">
            <a:noFill/>
          </a:ln>
        </p:spPr>
      </p:pic>
      <p:sp>
        <p:nvSpPr>
          <p:cNvPr id="39" name="TextBox 38"/>
          <p:cNvSpPr txBox="1"/>
          <p:nvPr/>
        </p:nvSpPr>
        <p:spPr>
          <a:xfrm>
            <a:off x="6784094" y="2396826"/>
            <a:ext cx="2563063" cy="619496"/>
          </a:xfrm>
          <a:prstGeom prst="rect">
            <a:avLst/>
          </a:prstGeom>
          <a:ln w="0">
            <a:noFill/>
          </a:ln>
          <a:noFill/>
        </p:spPr>
        <p:txBody>
          <a:bodyPr wrap="square" lIns="0" rIns="0" tIns="0" bIns="0">
            <a:noAutofit/>
          </a:bodyPr>
          <a:lstStyle/>
          <a:p>
            <a:pPr algn="l"/>
            <a:r>
              <a:rPr sz="1500" b="1">
                <a:solidFill>
                  <a:srgbClr val="1D1D1F"/>
                </a:solidFill>
                <a:latin typeface="Noto Sans JP"/>
              </a:rPr>
              <a:t>ローカル前処理を挟む場合</a:t>
            </a:r>
          </a:p>
        </p:txBody>
      </p:sp>
      <p:pic>
        <p:nvPicPr>
          <p:cNvPr id="40" name="Picture 39" descr="image.png"/>
          <p:cNvPicPr>
            <a:picLocks noChangeAspect="1"/>
          </p:cNvPicPr>
          <p:nvPr/>
        </p:nvPicPr>
        <p:blipFill>
          <a:blip r:embed="rId8"/>
          <a:stretch>
            <a:fillRect/>
          </a:stretch>
        </p:blipFill>
        <p:spPr>
          <a:xfrm>
            <a:off x="6486914" y="3241263"/>
            <a:ext cx="133501" cy="152705"/>
          </a:xfrm>
          <a:prstGeom prst="rect">
            <a:avLst/>
          </a:prstGeom>
          <a:ln w="0">
            <a:noFill/>
          </a:ln>
        </p:spPr>
      </p:pic>
      <p:sp>
        <p:nvSpPr>
          <p:cNvPr id="41" name="Rectangle 40"/>
          <p:cNvSpPr/>
          <p:nvPr/>
        </p:nvSpPr>
        <p:spPr>
          <a:xfrm>
            <a:off x="9729375" y="3249950"/>
            <a:ext cx="391363" cy="183686"/>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6742032" y="3484035"/>
            <a:ext cx="4867351" cy="428853"/>
          </a:xfrm>
          <a:prstGeom prst="rect">
            <a:avLst/>
          </a:prstGeom>
          <a:ln w="0">
            <a:noFill/>
          </a:ln>
          <a:noFill/>
        </p:spPr>
        <p:txBody>
          <a:bodyPr wrap="square" lIns="0" rIns="0" tIns="0" bIns="0">
            <a:noAutofit/>
          </a:bodyPr>
          <a:lstStyle/>
          <a:p>
            <a:pPr algn="l"/>
          </a:p>
        </p:txBody>
      </p:sp>
      <p:pic>
        <p:nvPicPr>
          <p:cNvPr id="43" name="Picture 42" descr="image.png"/>
          <p:cNvPicPr>
            <a:picLocks noChangeAspect="1"/>
          </p:cNvPicPr>
          <p:nvPr/>
        </p:nvPicPr>
        <p:blipFill>
          <a:blip r:embed="rId9"/>
          <a:stretch>
            <a:fillRect/>
          </a:stretch>
        </p:blipFill>
        <p:spPr>
          <a:xfrm>
            <a:off x="6479599" y="4118171"/>
            <a:ext cx="152704" cy="152705"/>
          </a:xfrm>
          <a:prstGeom prst="rect">
            <a:avLst/>
          </a:prstGeom>
          <a:ln w="0">
            <a:noFill/>
          </a:ln>
        </p:spPr>
      </p:pic>
      <p:sp>
        <p:nvSpPr>
          <p:cNvPr id="44" name="TextBox 43"/>
          <p:cNvSpPr txBox="1"/>
          <p:nvPr/>
        </p:nvSpPr>
        <p:spPr>
          <a:xfrm>
            <a:off x="6746604" y="4065594"/>
            <a:ext cx="4972507" cy="257860"/>
          </a:xfrm>
          <a:prstGeom prst="rect">
            <a:avLst/>
          </a:prstGeom>
          <a:ln w="0">
            <a:noFill/>
          </a:ln>
          <a:noFill/>
        </p:spPr>
        <p:txBody>
          <a:bodyPr wrap="square" lIns="0" rIns="0" tIns="0" bIns="0">
            <a:noAutofit/>
          </a:bodyPr>
          <a:lstStyle/>
          <a:p>
            <a:pPr algn="l"/>
            <a:r>
              <a:rPr sz="1300" b="1">
                <a:solidFill>
                  <a:srgbClr val="1F2937"/>
                </a:solidFill>
                <a:latin typeface="Cambria"/>
              </a:rPr>
              <a:t>手順を標準化でき、誰でも同じ流れで利用しやすい。</a:t>
            </a:r>
          </a:p>
        </p:txBody>
      </p:sp>
      <p:sp>
        <p:nvSpPr>
          <p:cNvPr id="45" name="TextBox 44"/>
          <p:cNvSpPr txBox="1"/>
          <p:nvPr/>
        </p:nvSpPr>
        <p:spPr>
          <a:xfrm>
            <a:off x="6746604" y="4360946"/>
            <a:ext cx="4858207" cy="428853"/>
          </a:xfrm>
          <a:prstGeom prst="rect">
            <a:avLst/>
          </a:prstGeom>
          <a:ln w="0">
            <a:noFill/>
          </a:ln>
          <a:noFill/>
        </p:spPr>
        <p:txBody>
          <a:bodyPr wrap="square" lIns="0" rIns="0" tIns="0" bIns="0">
            <a:noAutofit/>
          </a:bodyPr>
          <a:lstStyle/>
          <a:p>
            <a:pPr algn="l"/>
          </a:p>
        </p:txBody>
      </p:sp>
      <p:pic>
        <p:nvPicPr>
          <p:cNvPr id="46" name="Picture 45" descr="image.png"/>
          <p:cNvPicPr>
            <a:picLocks noChangeAspect="1"/>
          </p:cNvPicPr>
          <p:nvPr/>
        </p:nvPicPr>
        <p:blipFill>
          <a:blip r:embed="rId10"/>
          <a:stretch>
            <a:fillRect/>
          </a:stretch>
        </p:blipFill>
        <p:spPr>
          <a:xfrm>
            <a:off x="6479599" y="4994168"/>
            <a:ext cx="171906" cy="152705"/>
          </a:xfrm>
          <a:prstGeom prst="rect">
            <a:avLst/>
          </a:prstGeom>
          <a:ln w="0">
            <a:noFill/>
          </a:ln>
        </p:spPr>
      </p:pic>
      <p:sp>
        <p:nvSpPr>
          <p:cNvPr id="47" name="TextBox 46"/>
          <p:cNvSpPr txBox="1"/>
          <p:nvPr/>
        </p:nvSpPr>
        <p:spPr>
          <a:xfrm>
            <a:off x="6765806" y="5236941"/>
            <a:ext cx="4839005" cy="428853"/>
          </a:xfrm>
          <a:prstGeom prst="rect">
            <a:avLst/>
          </a:prstGeom>
          <a:ln w="0">
            <a:noFill/>
          </a:ln>
          <a:noFill/>
        </p:spPr>
        <p:txBody>
          <a:bodyPr wrap="square" lIns="0" rIns="0" tIns="0" bIns="0">
            <a:noAutofit/>
          </a:bodyPr>
          <a:lstStyle/>
          <a:p>
            <a:pPr algn="l"/>
          </a:p>
        </p:txBody>
      </p:sp>
      <p:sp>
        <p:nvSpPr>
          <p:cNvPr id="48" name="Rectangle 47"/>
          <p:cNvSpPr/>
          <p:nvPr/>
        </p:nvSpPr>
        <p:spPr>
          <a:xfrm>
            <a:off x="488450" y="1311250"/>
            <a:ext cx="49716" cy="791160"/>
          </a:xfrm>
          <a:prstGeom prst="rect">
            <a:avLst/>
          </a:prstGeom>
          <a:solidFill>
            <a:srgbClr val="E21C48"/>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49" name="Rounded Rectangle 48"/>
          <p:cNvSpPr/>
          <p:nvPr/>
        </p:nvSpPr>
        <p:spPr>
          <a:xfrm>
            <a:off x="6279345" y="2385617"/>
            <a:ext cx="5486400" cy="38405"/>
          </a:xfrm>
          <a:prstGeom prst="roundRect">
            <a:avLst/>
          </a:prstGeom>
          <a:solidFill>
            <a:srgbClr val="007A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0" name="Rounded Rectangle 49"/>
          <p:cNvSpPr/>
          <p:nvPr/>
        </p:nvSpPr>
        <p:spPr>
          <a:xfrm>
            <a:off x="488450" y="2385617"/>
            <a:ext cx="5486400" cy="38405"/>
          </a:xfrm>
          <a:prstGeom prst="roundRect">
            <a:avLst/>
          </a:prstGeom>
          <a:solidFill>
            <a:srgbClr val="EF4444">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6476695"/>
            <a:ext cx="12192609" cy="381305"/>
          </a:xfrm>
          <a:prstGeom prst="rect">
            <a:avLst/>
          </a:prstGeom>
          <a:solidFill>
            <a:srgbClr val="F6F5F8"/>
          </a:solidFill>
          <a:ln w="15875">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4" name="Rounded Rectangle 3"/>
          <p:cNvSpPr/>
          <p:nvPr/>
        </p:nvSpPr>
        <p:spPr>
          <a:xfrm>
            <a:off x="481887" y="1312153"/>
            <a:ext cx="11221662" cy="790509"/>
          </a:xfrm>
          <a:prstGeom prst="roundRect">
            <a:avLst/>
          </a:prstGeom>
          <a:solidFill>
            <a:srgbClr val="F0F9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488450" y="1311250"/>
            <a:ext cx="49716" cy="791160"/>
          </a:xfrm>
          <a:prstGeom prst="rect">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14400" y="470024"/>
            <a:ext cx="11354105" cy="514806"/>
          </a:xfrm>
          <a:prstGeom prst="rect">
            <a:avLst/>
          </a:prstGeom>
          <a:ln w="0">
            <a:noFill/>
          </a:ln>
          <a:noFill/>
        </p:spPr>
        <p:txBody>
          <a:bodyPr wrap="square" lIns="0" rIns="0" tIns="0" bIns="0">
            <a:noAutofit/>
          </a:bodyPr>
          <a:lstStyle/>
          <a:p>
            <a:pPr algn="l"/>
            <a:r>
              <a:rPr sz="2400" b="1">
                <a:solidFill>
                  <a:srgbClr val="1D1D1F"/>
                </a:solidFill>
                <a:latin typeface="Noto Sans JP"/>
              </a:rPr>
              <a:t>会議・議事録から、ローカル完結で報告資料や提案資料を生成する</a:t>
            </a:r>
          </a:p>
        </p:txBody>
      </p:sp>
      <p:sp>
        <p:nvSpPr>
          <p:cNvPr id="7" name="TextBox 6"/>
          <p:cNvSpPr txBox="1"/>
          <p:nvPr/>
        </p:nvSpPr>
        <p:spPr>
          <a:xfrm>
            <a:off x="476401" y="195681"/>
            <a:ext cx="11239805" cy="286206"/>
          </a:xfrm>
          <a:prstGeom prst="rect">
            <a:avLst/>
          </a:prstGeom>
          <a:ln w="0">
            <a:noFill/>
          </a:ln>
          <a:noFill/>
        </p:spPr>
        <p:txBody>
          <a:bodyPr wrap="square" lIns="0" rIns="0" tIns="0" bIns="0">
            <a:noAutofit/>
          </a:bodyPr>
          <a:lstStyle/>
          <a:p>
            <a:pPr algn="l"/>
            <a:r>
              <a:rPr sz="1000">
                <a:solidFill>
                  <a:srgbClr val="86868B"/>
                </a:solidFill>
                <a:latin typeface="Noto Sans JP"/>
              </a:rPr>
              <a:t>Use Case 2</a:t>
            </a:r>
          </a:p>
        </p:txBody>
      </p:sp>
      <p:sp>
        <p:nvSpPr>
          <p:cNvPr id="8" name="TextBox 7"/>
          <p:cNvSpPr txBox="1"/>
          <p:nvPr/>
        </p:nvSpPr>
        <p:spPr>
          <a:xfrm>
            <a:off x="914400" y="1421206"/>
            <a:ext cx="10611612" cy="571500"/>
          </a:xfrm>
          <a:prstGeom prst="rect">
            <a:avLst/>
          </a:prstGeom>
          <a:ln w="0">
            <a:noFill/>
          </a:ln>
          <a:noFill/>
        </p:spPr>
        <p:txBody>
          <a:bodyPr wrap="square" lIns="0" rIns="0" tIns="0" bIns="0">
            <a:noAutofit/>
          </a:bodyPr>
          <a:lstStyle/>
          <a:p>
            <a:pPr algn="l"/>
            <a:r>
              <a:rPr b="1">
                <a:solidFill>
                  <a:srgbClr val="1D1D1F"/>
                </a:solidFill>
                <a:latin typeface="Cambria"/>
              </a:rPr>
              <a:t>会議ログを記録で終わらせず、ローカル完結で成果物へ変換する。</a:t>
            </a:r>
          </a:p>
        </p:txBody>
      </p:sp>
      <p:sp>
        <p:nvSpPr>
          <p:cNvPr id="9" name="Rounded Rectangle 8"/>
          <p:cNvSpPr/>
          <p:nvPr/>
        </p:nvSpPr>
        <p:spPr>
          <a:xfrm>
            <a:off x="538167"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2"/>
          <a:stretch>
            <a:fillRect/>
          </a:stretch>
        </p:blipFill>
        <p:spPr>
          <a:xfrm>
            <a:off x="738421" y="2596440"/>
            <a:ext cx="304495" cy="228600"/>
          </a:xfrm>
          <a:prstGeom prst="rect">
            <a:avLst/>
          </a:prstGeom>
          <a:ln w="0">
            <a:noFill/>
          </a:ln>
        </p:spPr>
      </p:pic>
      <p:sp>
        <p:nvSpPr>
          <p:cNvPr id="11" name="TextBox 10"/>
          <p:cNvSpPr txBox="1"/>
          <p:nvPr/>
        </p:nvSpPr>
        <p:spPr>
          <a:xfrm>
            <a:off x="1157216" y="2582724"/>
            <a:ext cx="1286561" cy="257861"/>
          </a:xfrm>
          <a:prstGeom prst="rect">
            <a:avLst/>
          </a:prstGeom>
          <a:ln w="0">
            <a:noFill/>
          </a:ln>
          <a:noFill/>
        </p:spPr>
        <p:txBody>
          <a:bodyPr wrap="square" lIns="0" rIns="0" tIns="0" bIns="0">
            <a:noAutofit/>
          </a:bodyPr>
          <a:lstStyle/>
          <a:p>
            <a:pPr algn="l"/>
            <a:r>
              <a:rPr sz="1300" b="1">
                <a:solidFill>
                  <a:srgbClr val="1D1D1F"/>
                </a:solidFill>
                <a:latin typeface="Noto Sans JP"/>
              </a:rPr>
              <a:t>入力</a:t>
            </a:r>
          </a:p>
        </p:txBody>
      </p:sp>
      <p:sp>
        <p:nvSpPr>
          <p:cNvPr id="12" name="TextBox 11"/>
          <p:cNvSpPr txBox="1"/>
          <p:nvPr/>
        </p:nvSpPr>
        <p:spPr>
          <a:xfrm>
            <a:off x="738421" y="2953970"/>
            <a:ext cx="3324758" cy="228600"/>
          </a:xfrm>
          <a:prstGeom prst="rect">
            <a:avLst/>
          </a:prstGeom>
          <a:ln w="0">
            <a:noFill/>
          </a:ln>
          <a:noFill/>
        </p:spPr>
        <p:txBody>
          <a:bodyPr wrap="square" lIns="0" rIns="0" tIns="0" bIns="0">
            <a:noAutofit/>
          </a:bodyPr>
          <a:lstStyle/>
          <a:p>
            <a:pPr algn="l"/>
            <a:r>
              <a:rPr sz="1100">
                <a:solidFill>
                  <a:srgbClr val="424245"/>
                </a:solidFill>
                <a:latin typeface="Noto Sans JP"/>
              </a:rPr>
              <a:t>会議音声、議事録、アジェンダ、補足メモを入力として扱う。</a:t>
            </a:r>
          </a:p>
        </p:txBody>
      </p:sp>
      <p:sp>
        <p:nvSpPr>
          <p:cNvPr id="13" name="TextBox 12"/>
          <p:cNvSpPr txBox="1"/>
          <p:nvPr/>
        </p:nvSpPr>
        <p:spPr>
          <a:xfrm>
            <a:off x="738421" y="3239263"/>
            <a:ext cx="3324758" cy="228599"/>
          </a:xfrm>
          <a:prstGeom prst="rect">
            <a:avLst/>
          </a:prstGeom>
          <a:ln w="0">
            <a:noFill/>
          </a:ln>
          <a:noFill/>
        </p:spPr>
        <p:txBody>
          <a:bodyPr wrap="square" lIns="0" rIns="0" tIns="0" bIns="0">
            <a:noAutofit/>
          </a:bodyPr>
          <a:lstStyle/>
          <a:p>
            <a:pPr algn="l"/>
          </a:p>
        </p:txBody>
      </p:sp>
      <p:sp>
        <p:nvSpPr>
          <p:cNvPr id="14" name="TextBox 13"/>
          <p:cNvSpPr txBox="1"/>
          <p:nvPr/>
        </p:nvSpPr>
        <p:spPr>
          <a:xfrm>
            <a:off x="738421" y="3525470"/>
            <a:ext cx="3248863" cy="228600"/>
          </a:xfrm>
          <a:prstGeom prst="rect">
            <a:avLst/>
          </a:prstGeom>
          <a:ln w="0">
            <a:noFill/>
          </a:ln>
          <a:noFill/>
        </p:spPr>
        <p:txBody>
          <a:bodyPr wrap="square" lIns="0" rIns="0" tIns="0" bIns="0">
            <a:noAutofit/>
          </a:bodyPr>
          <a:lstStyle/>
          <a:p>
            <a:pPr algn="l"/>
          </a:p>
        </p:txBody>
      </p:sp>
      <p:sp>
        <p:nvSpPr>
          <p:cNvPr id="15" name="Rounded Rectangle 14"/>
          <p:cNvSpPr/>
          <p:nvPr/>
        </p:nvSpPr>
        <p:spPr>
          <a:xfrm>
            <a:off x="4297265"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3"/>
          <a:stretch>
            <a:fillRect/>
          </a:stretch>
        </p:blipFill>
        <p:spPr>
          <a:xfrm>
            <a:off x="4497519" y="2596440"/>
            <a:ext cx="304494" cy="228600"/>
          </a:xfrm>
          <a:prstGeom prst="rect">
            <a:avLst/>
          </a:prstGeom>
          <a:ln w="0">
            <a:noFill/>
          </a:ln>
        </p:spPr>
      </p:pic>
      <p:sp>
        <p:nvSpPr>
          <p:cNvPr id="17" name="TextBox 16"/>
          <p:cNvSpPr txBox="1"/>
          <p:nvPr/>
        </p:nvSpPr>
        <p:spPr>
          <a:xfrm>
            <a:off x="4916314" y="2582724"/>
            <a:ext cx="762610" cy="257861"/>
          </a:xfrm>
          <a:prstGeom prst="rect">
            <a:avLst/>
          </a:prstGeom>
          <a:ln w="0">
            <a:noFill/>
          </a:ln>
          <a:noFill/>
        </p:spPr>
        <p:txBody>
          <a:bodyPr wrap="square" lIns="0" rIns="0" tIns="0" bIns="0">
            <a:noAutofit/>
          </a:bodyPr>
          <a:lstStyle/>
          <a:p>
            <a:pPr algn="l"/>
            <a:r>
              <a:rPr sz="1300" b="1">
                <a:solidFill>
                  <a:srgbClr val="1D1D1F"/>
                </a:solidFill>
                <a:latin typeface="Noto Sans JP"/>
              </a:rPr>
              <a:t>構造化</a:t>
            </a:r>
          </a:p>
        </p:txBody>
      </p:sp>
      <p:sp>
        <p:nvSpPr>
          <p:cNvPr id="18" name="TextBox 17"/>
          <p:cNvSpPr txBox="1"/>
          <p:nvPr/>
        </p:nvSpPr>
        <p:spPr>
          <a:xfrm>
            <a:off x="5193377" y="2953970"/>
            <a:ext cx="2553005" cy="247801"/>
          </a:xfrm>
          <a:prstGeom prst="rect">
            <a:avLst/>
          </a:prstGeom>
          <a:ln w="0">
            <a:noFill/>
          </a:ln>
          <a:noFill/>
        </p:spPr>
        <p:txBody>
          <a:bodyPr wrap="square" lIns="0" rIns="0" tIns="0" bIns="0">
            <a:noAutofit/>
          </a:bodyPr>
          <a:lstStyle/>
          <a:p>
            <a:pPr algn="l"/>
            <a:r>
              <a:rPr sz="1100">
                <a:solidFill>
                  <a:srgbClr val="424245"/>
                </a:solidFill>
                <a:latin typeface="Cambria"/>
              </a:rPr>
              <a:t>Whisper とローカルLLMで内容を構造化し、JSON 中間表現へ落とす。</a:t>
            </a:r>
          </a:p>
        </p:txBody>
      </p:sp>
      <p:pic>
        <p:nvPicPr>
          <p:cNvPr id="19" name="Picture 18" descr="image.png"/>
          <p:cNvPicPr>
            <a:picLocks noChangeAspect="1"/>
          </p:cNvPicPr>
          <p:nvPr/>
        </p:nvPicPr>
        <p:blipFill>
          <a:blip r:embed="rId4"/>
          <a:stretch>
            <a:fillRect/>
          </a:stretch>
        </p:blipFill>
        <p:spPr>
          <a:xfrm>
            <a:off x="4631021" y="2963114"/>
            <a:ext cx="533094" cy="237744"/>
          </a:xfrm>
          <a:prstGeom prst="rect">
            <a:avLst/>
          </a:prstGeom>
          <a:ln w="0">
            <a:noFill/>
          </a:ln>
        </p:spPr>
      </p:pic>
      <p:sp>
        <p:nvSpPr>
          <p:cNvPr id="20" name="Rectangle 19"/>
          <p:cNvSpPr/>
          <p:nvPr/>
        </p:nvSpPr>
        <p:spPr>
          <a:xfrm>
            <a:off x="4631021" y="2963114"/>
            <a:ext cx="534010" cy="238657"/>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193377" y="3256636"/>
            <a:ext cx="2628900" cy="247801"/>
          </a:xfrm>
          <a:prstGeom prst="rect">
            <a:avLst/>
          </a:prstGeom>
          <a:ln w="0">
            <a:noFill/>
          </a:ln>
          <a:noFill/>
        </p:spPr>
        <p:txBody>
          <a:bodyPr wrap="square" lIns="0" rIns="0" tIns="0" bIns="0">
            <a:noAutofit/>
          </a:bodyPr>
          <a:lstStyle/>
          <a:p>
            <a:pPr algn="l"/>
          </a:p>
        </p:txBody>
      </p:sp>
      <p:pic>
        <p:nvPicPr>
          <p:cNvPr id="22" name="Picture 21" descr="image.png"/>
          <p:cNvPicPr>
            <a:picLocks noChangeAspect="1"/>
          </p:cNvPicPr>
          <p:nvPr/>
        </p:nvPicPr>
        <p:blipFill>
          <a:blip r:embed="rId4"/>
          <a:stretch>
            <a:fillRect/>
          </a:stretch>
        </p:blipFill>
        <p:spPr>
          <a:xfrm>
            <a:off x="4631021" y="3266695"/>
            <a:ext cx="533094" cy="237743"/>
          </a:xfrm>
          <a:prstGeom prst="rect">
            <a:avLst/>
          </a:prstGeom>
          <a:ln w="0">
            <a:noFill/>
          </a:ln>
        </p:spPr>
      </p:pic>
      <p:sp>
        <p:nvSpPr>
          <p:cNvPr id="23" name="Rectangle 22"/>
          <p:cNvSpPr/>
          <p:nvPr/>
        </p:nvSpPr>
        <p:spPr>
          <a:xfrm>
            <a:off x="4631021" y="3266695"/>
            <a:ext cx="534010" cy="238658"/>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4497519" y="3559303"/>
            <a:ext cx="3248863" cy="228600"/>
          </a:xfrm>
          <a:prstGeom prst="rect">
            <a:avLst/>
          </a:prstGeom>
          <a:ln w="0">
            <a:noFill/>
          </a:ln>
          <a:noFill/>
        </p:spPr>
        <p:txBody>
          <a:bodyPr wrap="square" lIns="0" rIns="0" tIns="0" bIns="0">
            <a:noAutofit/>
          </a:bodyPr>
          <a:lstStyle/>
          <a:p>
            <a:pPr algn="l"/>
          </a:p>
        </p:txBody>
      </p:sp>
      <p:sp>
        <p:nvSpPr>
          <p:cNvPr id="25" name="Rounded Rectangle 24"/>
          <p:cNvSpPr/>
          <p:nvPr/>
        </p:nvSpPr>
        <p:spPr>
          <a:xfrm>
            <a:off x="8056364"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5"/>
          <a:stretch>
            <a:fillRect/>
          </a:stretch>
        </p:blipFill>
        <p:spPr>
          <a:xfrm>
            <a:off x="8256617" y="2596440"/>
            <a:ext cx="304494" cy="228600"/>
          </a:xfrm>
          <a:prstGeom prst="rect">
            <a:avLst/>
          </a:prstGeom>
          <a:ln w="0">
            <a:noFill/>
          </a:ln>
        </p:spPr>
      </p:pic>
      <p:sp>
        <p:nvSpPr>
          <p:cNvPr id="27" name="TextBox 26"/>
          <p:cNvSpPr txBox="1"/>
          <p:nvPr/>
        </p:nvSpPr>
        <p:spPr>
          <a:xfrm>
            <a:off x="8675413" y="2582724"/>
            <a:ext cx="1296619" cy="257861"/>
          </a:xfrm>
          <a:prstGeom prst="rect">
            <a:avLst/>
          </a:prstGeom>
          <a:ln w="0">
            <a:noFill/>
          </a:ln>
          <a:noFill/>
        </p:spPr>
        <p:txBody>
          <a:bodyPr wrap="square" lIns="0" rIns="0" tIns="0" bIns="0">
            <a:noAutofit/>
          </a:bodyPr>
          <a:lstStyle/>
          <a:p>
            <a:pPr algn="l"/>
            <a:r>
              <a:rPr sz="1300" b="1">
                <a:solidFill>
                  <a:srgbClr val="1D1D1F"/>
                </a:solidFill>
                <a:latin typeface="Noto Sans JP"/>
              </a:rPr>
              <a:t>出力</a:t>
            </a:r>
          </a:p>
        </p:txBody>
      </p:sp>
      <p:sp>
        <p:nvSpPr>
          <p:cNvPr id="28" name="TextBox 27"/>
          <p:cNvSpPr txBox="1"/>
          <p:nvPr/>
        </p:nvSpPr>
        <p:spPr>
          <a:xfrm>
            <a:off x="8256617" y="2953970"/>
            <a:ext cx="3248863" cy="228600"/>
          </a:xfrm>
          <a:prstGeom prst="rect">
            <a:avLst/>
          </a:prstGeom>
          <a:ln w="0">
            <a:noFill/>
          </a:ln>
          <a:noFill/>
        </p:spPr>
        <p:txBody>
          <a:bodyPr wrap="square" lIns="0" rIns="0" tIns="0" bIns="0">
            <a:noAutofit/>
          </a:bodyPr>
          <a:lstStyle/>
          <a:p>
            <a:pPr algn="l"/>
            <a:r>
              <a:rPr sz="1100" b="1">
                <a:solidFill>
                  <a:srgbClr val="424245"/>
                </a:solidFill>
                <a:latin typeface="Cambria"/>
              </a:rPr>
              <a:t>テンプレート選択を通じて、報告資料や提案資料へ変換する。</a:t>
            </a:r>
          </a:p>
        </p:txBody>
      </p:sp>
      <p:sp>
        <p:nvSpPr>
          <p:cNvPr id="29" name="TextBox 28"/>
          <p:cNvSpPr txBox="1"/>
          <p:nvPr/>
        </p:nvSpPr>
        <p:spPr>
          <a:xfrm>
            <a:off x="8256617" y="3239263"/>
            <a:ext cx="3248863" cy="228599"/>
          </a:xfrm>
          <a:prstGeom prst="rect">
            <a:avLst/>
          </a:prstGeom>
          <a:ln w="0">
            <a:noFill/>
          </a:ln>
          <a:noFill/>
        </p:spPr>
        <p:txBody>
          <a:bodyPr wrap="square" lIns="0" rIns="0" tIns="0" bIns="0">
            <a:noAutofit/>
          </a:bodyPr>
          <a:lstStyle/>
          <a:p>
            <a:pPr algn="l"/>
          </a:p>
        </p:txBody>
      </p:sp>
      <p:sp>
        <p:nvSpPr>
          <p:cNvPr id="30" name="TextBox 29"/>
          <p:cNvSpPr txBox="1"/>
          <p:nvPr/>
        </p:nvSpPr>
        <p:spPr>
          <a:xfrm>
            <a:off x="8256617" y="3525470"/>
            <a:ext cx="3248863" cy="228600"/>
          </a:xfrm>
          <a:prstGeom prst="rect">
            <a:avLst/>
          </a:prstGeom>
          <a:ln w="0">
            <a:noFill/>
          </a:ln>
          <a:noFill/>
        </p:spPr>
        <p:txBody>
          <a:bodyPr wrap="square" lIns="0" rIns="0" tIns="0" bIns="0">
            <a:noAutofit/>
          </a:bodyPr>
          <a:lstStyle/>
          <a:p>
            <a:pPr algn="l"/>
          </a:p>
        </p:txBody>
      </p:sp>
      <p:sp>
        <p:nvSpPr>
          <p:cNvPr id="31" name="Rounded Rectangle 30"/>
          <p:cNvSpPr/>
          <p:nvPr/>
        </p:nvSpPr>
        <p:spPr>
          <a:xfrm>
            <a:off x="538167" y="4274364"/>
            <a:ext cx="7295997" cy="1647749"/>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6"/>
          <a:stretch>
            <a:fillRect/>
          </a:stretch>
        </p:blipFill>
        <p:spPr>
          <a:xfrm>
            <a:off x="738421" y="4488333"/>
            <a:ext cx="304495" cy="228600"/>
          </a:xfrm>
          <a:prstGeom prst="rect">
            <a:avLst/>
          </a:prstGeom>
          <a:ln w="0">
            <a:noFill/>
          </a:ln>
        </p:spPr>
      </p:pic>
      <p:sp>
        <p:nvSpPr>
          <p:cNvPr id="33" name="TextBox 32"/>
          <p:cNvSpPr txBox="1"/>
          <p:nvPr/>
        </p:nvSpPr>
        <p:spPr>
          <a:xfrm>
            <a:off x="1157216" y="4473703"/>
            <a:ext cx="3656686" cy="257860"/>
          </a:xfrm>
          <a:prstGeom prst="rect">
            <a:avLst/>
          </a:prstGeom>
          <a:ln w="0">
            <a:noFill/>
          </a:ln>
          <a:noFill/>
        </p:spPr>
        <p:txBody>
          <a:bodyPr wrap="square" lIns="0" rIns="0" tIns="0" bIns="0">
            <a:noAutofit/>
          </a:bodyPr>
          <a:lstStyle/>
          <a:p>
            <a:pPr algn="l"/>
          </a:p>
        </p:txBody>
      </p:sp>
      <p:sp>
        <p:nvSpPr>
          <p:cNvPr id="34" name="TextBox 33"/>
          <p:cNvSpPr txBox="1"/>
          <p:nvPr/>
        </p:nvSpPr>
        <p:spPr>
          <a:xfrm>
            <a:off x="738421" y="4855008"/>
            <a:ext cx="2595982" cy="200253"/>
          </a:xfrm>
          <a:prstGeom prst="rect">
            <a:avLst/>
          </a:prstGeom>
          <a:ln w="0">
            <a:noFill/>
          </a:ln>
          <a:noFill/>
        </p:spPr>
        <p:txBody>
          <a:bodyPr wrap="square" lIns="0" rIns="0" tIns="0" bIns="0">
            <a:noAutofit/>
          </a:bodyPr>
          <a:lstStyle/>
          <a:p>
            <a:pPr algn="l"/>
          </a:p>
        </p:txBody>
      </p:sp>
      <p:sp>
        <p:nvSpPr>
          <p:cNvPr id="35" name="TextBox 34"/>
          <p:cNvSpPr txBox="1"/>
          <p:nvPr/>
        </p:nvSpPr>
        <p:spPr>
          <a:xfrm>
            <a:off x="738421" y="5150359"/>
            <a:ext cx="3419855" cy="228600"/>
          </a:xfrm>
          <a:prstGeom prst="rect">
            <a:avLst/>
          </a:prstGeom>
          <a:ln w="0">
            <a:noFill/>
          </a:ln>
          <a:noFill/>
        </p:spPr>
        <p:txBody>
          <a:bodyPr wrap="square" lIns="0" rIns="0" tIns="0" bIns="0">
            <a:noAutofit/>
          </a:bodyPr>
          <a:lstStyle/>
          <a:p>
            <a:pPr algn="l"/>
          </a:p>
        </p:txBody>
      </p:sp>
      <p:sp>
        <p:nvSpPr>
          <p:cNvPr id="36" name="TextBox 35"/>
          <p:cNvSpPr txBox="1"/>
          <p:nvPr/>
        </p:nvSpPr>
        <p:spPr>
          <a:xfrm>
            <a:off x="738421" y="5435652"/>
            <a:ext cx="3419855" cy="228600"/>
          </a:xfrm>
          <a:prstGeom prst="rect">
            <a:avLst/>
          </a:prstGeom>
          <a:ln w="0">
            <a:noFill/>
          </a:ln>
          <a:noFill/>
        </p:spPr>
        <p:txBody>
          <a:bodyPr wrap="square" lIns="0" rIns="0" tIns="0" bIns="0">
            <a:noAutofit/>
          </a:bodyPr>
          <a:lstStyle/>
          <a:p>
            <a:pPr algn="l"/>
          </a:p>
        </p:txBody>
      </p:sp>
      <p:sp>
        <p:nvSpPr>
          <p:cNvPr id="37" name="Rectangle 36"/>
          <p:cNvSpPr/>
          <p:nvPr/>
        </p:nvSpPr>
        <p:spPr>
          <a:xfrm>
            <a:off x="4178393" y="4845864"/>
            <a:ext cx="9144" cy="875994"/>
          </a:xfrm>
          <a:prstGeom prst="rect">
            <a:avLst/>
          </a:prstGeom>
          <a:solidFill>
            <a:srgbClr val="E5E5E5">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331098" y="4855008"/>
            <a:ext cx="2296972" cy="200253"/>
          </a:xfrm>
          <a:prstGeom prst="rect">
            <a:avLst/>
          </a:prstGeom>
          <a:ln w="0">
            <a:noFill/>
          </a:ln>
          <a:noFill/>
        </p:spPr>
        <p:txBody>
          <a:bodyPr wrap="square" lIns="0" rIns="0" tIns="0" bIns="0">
            <a:noAutofit/>
          </a:bodyPr>
          <a:lstStyle/>
          <a:p>
            <a:pPr algn="l"/>
          </a:p>
        </p:txBody>
      </p:sp>
      <p:sp>
        <p:nvSpPr>
          <p:cNvPr id="39" name="TextBox 38"/>
          <p:cNvSpPr txBox="1"/>
          <p:nvPr/>
        </p:nvSpPr>
        <p:spPr>
          <a:xfrm>
            <a:off x="4331098" y="5150359"/>
            <a:ext cx="3419855" cy="228600"/>
          </a:xfrm>
          <a:prstGeom prst="rect">
            <a:avLst/>
          </a:prstGeom>
          <a:ln w="0">
            <a:noFill/>
          </a:ln>
          <a:noFill/>
        </p:spPr>
        <p:txBody>
          <a:bodyPr wrap="square" lIns="0" rIns="0" tIns="0" bIns="0">
            <a:noAutofit/>
          </a:bodyPr>
          <a:lstStyle/>
          <a:p>
            <a:pPr algn="l"/>
          </a:p>
        </p:txBody>
      </p:sp>
      <p:sp>
        <p:nvSpPr>
          <p:cNvPr id="40" name="TextBox 39"/>
          <p:cNvSpPr txBox="1"/>
          <p:nvPr/>
        </p:nvSpPr>
        <p:spPr>
          <a:xfrm>
            <a:off x="4331098" y="5435652"/>
            <a:ext cx="3419855" cy="228600"/>
          </a:xfrm>
          <a:prstGeom prst="rect">
            <a:avLst/>
          </a:prstGeom>
          <a:ln w="0">
            <a:noFill/>
          </a:ln>
          <a:noFill/>
        </p:spPr>
        <p:txBody>
          <a:bodyPr wrap="square" lIns="0" rIns="0" tIns="0" bIns="0">
            <a:noAutofit/>
          </a:bodyPr>
          <a:lstStyle/>
          <a:p>
            <a:pPr algn="l"/>
          </a:p>
        </p:txBody>
      </p:sp>
      <p:sp>
        <p:nvSpPr>
          <p:cNvPr id="41" name="Rounded Rectangle 40"/>
          <p:cNvSpPr/>
          <p:nvPr/>
        </p:nvSpPr>
        <p:spPr>
          <a:xfrm>
            <a:off x="8056364" y="4274364"/>
            <a:ext cx="3534155" cy="1647749"/>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42" name="Picture 41" descr="image.png"/>
          <p:cNvPicPr>
            <a:picLocks noChangeAspect="1"/>
          </p:cNvPicPr>
          <p:nvPr/>
        </p:nvPicPr>
        <p:blipFill>
          <a:blip r:embed="rId7"/>
          <a:stretch>
            <a:fillRect/>
          </a:stretch>
        </p:blipFill>
        <p:spPr>
          <a:xfrm>
            <a:off x="8256617" y="4488333"/>
            <a:ext cx="304494" cy="228600"/>
          </a:xfrm>
          <a:prstGeom prst="rect">
            <a:avLst/>
          </a:prstGeom>
          <a:ln w="0">
            <a:noFill/>
          </a:ln>
        </p:spPr>
      </p:pic>
      <p:sp>
        <p:nvSpPr>
          <p:cNvPr id="43" name="TextBox 42"/>
          <p:cNvSpPr txBox="1"/>
          <p:nvPr/>
        </p:nvSpPr>
        <p:spPr>
          <a:xfrm>
            <a:off x="8675413" y="4473703"/>
            <a:ext cx="1110996" cy="257860"/>
          </a:xfrm>
          <a:prstGeom prst="rect">
            <a:avLst/>
          </a:prstGeom>
          <a:ln w="0">
            <a:noFill/>
          </a:ln>
          <a:noFill/>
        </p:spPr>
        <p:txBody>
          <a:bodyPr wrap="square" lIns="0" rIns="0" tIns="0" bIns="0">
            <a:noAutofit/>
          </a:bodyPr>
          <a:lstStyle/>
          <a:p>
            <a:pPr algn="l"/>
          </a:p>
        </p:txBody>
      </p:sp>
      <p:sp>
        <p:nvSpPr>
          <p:cNvPr id="44" name="TextBox 43"/>
          <p:cNvSpPr txBox="1"/>
          <p:nvPr/>
        </p:nvSpPr>
        <p:spPr>
          <a:xfrm>
            <a:off x="8256617" y="4845864"/>
            <a:ext cx="3248863" cy="228600"/>
          </a:xfrm>
          <a:prstGeom prst="rect">
            <a:avLst/>
          </a:prstGeom>
          <a:ln w="0">
            <a:noFill/>
          </a:ln>
          <a:noFill/>
        </p:spPr>
        <p:txBody>
          <a:bodyPr wrap="square" lIns="0" rIns="0" tIns="0" bIns="0">
            <a:noAutofit/>
          </a:bodyPr>
          <a:lstStyle/>
          <a:p>
            <a:pPr algn="l"/>
          </a:p>
        </p:txBody>
      </p:sp>
      <p:sp>
        <p:nvSpPr>
          <p:cNvPr id="45" name="TextBox 44"/>
          <p:cNvSpPr txBox="1"/>
          <p:nvPr/>
        </p:nvSpPr>
        <p:spPr>
          <a:xfrm>
            <a:off x="8256617" y="5131157"/>
            <a:ext cx="3248863" cy="228600"/>
          </a:xfrm>
          <a:prstGeom prst="rect">
            <a:avLst/>
          </a:prstGeom>
          <a:ln w="0">
            <a:noFill/>
          </a:ln>
          <a:noFill/>
        </p:spPr>
        <p:txBody>
          <a:bodyPr wrap="square" lIns="0" rIns="0" tIns="0" bIns="0">
            <a:noAutofit/>
          </a:bodyPr>
          <a:lstStyle/>
          <a:p>
            <a:pPr algn="l"/>
          </a:p>
        </p:txBody>
      </p:sp>
      <p:sp>
        <p:nvSpPr>
          <p:cNvPr id="46" name="TextBox 45"/>
          <p:cNvSpPr txBox="1"/>
          <p:nvPr/>
        </p:nvSpPr>
        <p:spPr>
          <a:xfrm>
            <a:off x="8256617" y="5417364"/>
            <a:ext cx="3248863" cy="228600"/>
          </a:xfrm>
          <a:prstGeom prst="rect">
            <a:avLst/>
          </a:prstGeom>
          <a:ln w="0">
            <a:noFill/>
          </a:ln>
          <a:noFill/>
        </p:spPr>
        <p:txBody>
          <a:bodyPr wrap="square" lIns="0" rIns="0" tIns="0" bIns="0">
            <a:noAutofit/>
          </a:bodyPr>
          <a:lstStyle/>
          <a:p>
            <a:pPr algn="l"/>
          </a:p>
        </p:txBody>
      </p:sp>
      <p:pic>
        <p:nvPicPr>
          <p:cNvPr id="47" name="Picture 46" descr="image.png"/>
          <p:cNvPicPr>
            <a:picLocks noChangeAspect="1"/>
          </p:cNvPicPr>
          <p:nvPr/>
        </p:nvPicPr>
        <p:blipFill>
          <a:blip r:embed="rId8"/>
          <a:stretch>
            <a:fillRect/>
          </a:stretch>
        </p:blipFill>
        <p:spPr>
          <a:xfrm>
            <a:off x="4455871" y="6242541"/>
            <a:ext cx="133501" cy="133501"/>
          </a:xfrm>
          <a:prstGeom prst="rect">
            <a:avLst/>
          </a:prstGeom>
          <a:ln w="0">
            <a:noFill/>
          </a:ln>
        </p:spPr>
      </p:pic>
      <p:sp>
        <p:nvSpPr>
          <p:cNvPr id="48" name="TextBox 47"/>
          <p:cNvSpPr txBox="1"/>
          <p:nvPr/>
        </p:nvSpPr>
        <p:spPr>
          <a:xfrm>
            <a:off x="4656123" y="6202719"/>
            <a:ext cx="7535571" cy="213146"/>
          </a:xfrm>
          <a:prstGeom prst="rect">
            <a:avLst/>
          </a:prstGeom>
          <a:ln w="0">
            <a:noFill/>
          </a:ln>
          <a:noFill/>
        </p:spPr>
        <p:txBody>
          <a:bodyPr wrap="square" lIns="0" rIns="0" tIns="0" bIns="0">
            <a:noAutofit/>
          </a:bodyPr>
          <a:lstStyle/>
          <a:p/>
        </p:txBody>
      </p:sp>
      <p:sp>
        <p:nvSpPr>
          <p:cNvPr id="49" name="Rectangle 48"/>
          <p:cNvSpPr/>
          <p:nvPr/>
        </p:nvSpPr>
        <p:spPr>
          <a:xfrm>
            <a:off x="0" y="6471666"/>
            <a:ext cx="12192610" cy="381304"/>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900">
                <a:solidFill>
                  <a:srgbClr val="86868B"/>
                </a:solidFill>
                <a:latin typeface="Cambria"/>
              </a:rPr>
              <a:t>Page 6 | 一次情報の収集・安全化・構造化による生成AI活用の試作</a:t>
            </a:r>
          </a:p>
        </p:txBody>
      </p:sp>
      <p:pic>
        <p:nvPicPr>
          <p:cNvPr id="50" name="Picture 49" descr="image.png"/>
          <p:cNvPicPr>
            <a:picLocks noChangeAspect="1"/>
          </p:cNvPicPr>
          <p:nvPr/>
        </p:nvPicPr>
        <p:blipFill>
          <a:blip r:embed="rId9"/>
          <a:stretch>
            <a:fillRect/>
          </a:stretch>
        </p:blipFill>
        <p:spPr>
          <a:xfrm>
            <a:off x="475532" y="571500"/>
            <a:ext cx="304495" cy="304494"/>
          </a:xfrm>
          <a:prstGeom prst="rect">
            <a:avLst/>
          </a:prstGeom>
          <a:ln w="0">
            <a:noFill/>
          </a:ln>
        </p:spPr>
      </p:pic>
      <p:sp>
        <p:nvSpPr>
          <p:cNvPr id="51" name="Rectangle 50"/>
          <p:cNvSpPr/>
          <p:nvPr/>
        </p:nvSpPr>
        <p:spPr>
          <a:xfrm>
            <a:off x="0" y="0"/>
            <a:ext cx="12192001" cy="54865"/>
          </a:xfrm>
          <a:prstGeom prst="rect">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ectangle 51"/>
          <p:cNvSpPr/>
          <p:nvPr/>
        </p:nvSpPr>
        <p:spPr>
          <a:xfrm>
            <a:off x="305" y="1032380"/>
            <a:ext cx="12191695" cy="35999"/>
          </a:xfrm>
          <a:prstGeom prst="rect">
            <a:avLst/>
          </a:prstGeom>
          <a:solidFill>
            <a:srgbClr val="E5E5E5"/>
          </a:solidFill>
          <a:ln w="12700"/>
        </p:spPr>
        <p:style>
          <a:lnRef idx="0">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6476695"/>
            <a:ext cx="12191695" cy="381305"/>
          </a:xfrm>
          <a:prstGeom prst="rect">
            <a:avLst/>
          </a:prstGeom>
          <a:ln w="0">
            <a:noFill/>
          </a:ln>
        </p:spPr>
      </p:pic>
      <p:sp>
        <p:nvSpPr>
          <p:cNvPr id="4" name="Rectangle 3"/>
          <p:cNvSpPr/>
          <p:nvPr/>
        </p:nvSpPr>
        <p:spPr>
          <a:xfrm>
            <a:off x="0" y="752551"/>
            <a:ext cx="12191695" cy="9143"/>
          </a:xfrm>
          <a:prstGeom prst="rect">
            <a:avLst/>
          </a:prstGeom>
          <a:solidFill>
            <a:srgbClr val="E5E5E5"/>
          </a:solidFill>
          <a:ln w="12700">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0" y="6476695"/>
            <a:ext cx="12192610" cy="381305"/>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900">
                <a:solidFill>
                  <a:srgbClr val="86868B"/>
                </a:solidFill>
                <a:latin typeface="Cambria"/>
              </a:rPr>
              <a:t>Page 7 | 一次情報の収集・安全化・構造化による生成AI活用の試作</a:t>
            </a:r>
          </a:p>
        </p:txBody>
      </p:sp>
      <p:sp>
        <p:nvSpPr>
          <p:cNvPr id="6" name="Oval 5"/>
          <p:cNvSpPr/>
          <p:nvPr/>
        </p:nvSpPr>
        <p:spPr>
          <a:xfrm>
            <a:off x="1398118" y="2029054"/>
            <a:ext cx="456286" cy="457200"/>
          </a:xfrm>
          <a:prstGeom prst="ellipse">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p:cNvSpPr/>
          <p:nvPr/>
        </p:nvSpPr>
        <p:spPr>
          <a:xfrm>
            <a:off x="3632910" y="2029054"/>
            <a:ext cx="456286" cy="457200"/>
          </a:xfrm>
          <a:prstGeom prst="ellipse">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p:cNvSpPr/>
          <p:nvPr/>
        </p:nvSpPr>
        <p:spPr>
          <a:xfrm>
            <a:off x="5867705" y="2029054"/>
            <a:ext cx="456286" cy="457200"/>
          </a:xfrm>
          <a:prstGeom prst="ellipse">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9" name="Oval 8"/>
          <p:cNvSpPr/>
          <p:nvPr/>
        </p:nvSpPr>
        <p:spPr>
          <a:xfrm>
            <a:off x="8101583" y="2029054"/>
            <a:ext cx="456286" cy="457200"/>
          </a:xfrm>
          <a:prstGeom prst="ellipse">
            <a:avLst/>
          </a:prstGeom>
          <a:solidFill>
            <a:srgbClr val="33C759"/>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0" name="Oval 9"/>
          <p:cNvSpPr/>
          <p:nvPr/>
        </p:nvSpPr>
        <p:spPr>
          <a:xfrm>
            <a:off x="10336378" y="2029054"/>
            <a:ext cx="456286" cy="457200"/>
          </a:xfrm>
          <a:prstGeom prst="ellipse">
            <a:avLst/>
          </a:prstGeom>
          <a:solidFill>
            <a:srgbClr val="FF9502"/>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1398118" y="2029054"/>
            <a:ext cx="457200" cy="457200"/>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500" b="1">
                <a:solidFill>
                  <a:srgbClr val="FFFFFF"/>
                </a:solidFill>
                <a:latin typeface="Noto Sans JP"/>
              </a:rPr>
              <a:t>1</a:t>
            </a:r>
          </a:p>
        </p:txBody>
      </p:sp>
      <p:sp>
        <p:nvSpPr>
          <p:cNvPr id="12" name="Rectangle 11"/>
          <p:cNvSpPr/>
          <p:nvPr/>
        </p:nvSpPr>
        <p:spPr>
          <a:xfrm>
            <a:off x="3632910" y="2029054"/>
            <a:ext cx="457200" cy="457200"/>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500" b="1">
                <a:solidFill>
                  <a:srgbClr val="FFFFFF"/>
                </a:solidFill>
                <a:latin typeface="Noto Sans JP"/>
              </a:rPr>
              <a:t>2</a:t>
            </a:r>
          </a:p>
        </p:txBody>
      </p:sp>
      <p:sp>
        <p:nvSpPr>
          <p:cNvPr id="13" name="Rectangle 12"/>
          <p:cNvSpPr/>
          <p:nvPr/>
        </p:nvSpPr>
        <p:spPr>
          <a:xfrm>
            <a:off x="5867705" y="2029054"/>
            <a:ext cx="457200" cy="457200"/>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500" b="1">
                <a:solidFill>
                  <a:srgbClr val="FFFFFF"/>
                </a:solidFill>
                <a:latin typeface="Noto Sans JP"/>
              </a:rPr>
              <a:t>3</a:t>
            </a:r>
          </a:p>
        </p:txBody>
      </p:sp>
      <p:sp>
        <p:nvSpPr>
          <p:cNvPr id="14" name="Rectangle 13"/>
          <p:cNvSpPr/>
          <p:nvPr/>
        </p:nvSpPr>
        <p:spPr>
          <a:xfrm>
            <a:off x="8101583" y="2029054"/>
            <a:ext cx="457200" cy="457200"/>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500" b="1">
                <a:solidFill>
                  <a:srgbClr val="FFFFFF"/>
                </a:solidFill>
                <a:latin typeface="Noto Sans JP"/>
              </a:rPr>
              <a:t>4</a:t>
            </a:r>
          </a:p>
        </p:txBody>
      </p:sp>
      <p:sp>
        <p:nvSpPr>
          <p:cNvPr id="15" name="Rectangle 14"/>
          <p:cNvSpPr/>
          <p:nvPr/>
        </p:nvSpPr>
        <p:spPr>
          <a:xfrm>
            <a:off x="10336378" y="2029054"/>
            <a:ext cx="457200" cy="457200"/>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500" b="1">
                <a:solidFill>
                  <a:srgbClr val="FFFFFF"/>
                </a:solidFill>
                <a:latin typeface="Noto Sans JP"/>
              </a:rPr>
              <a:t>5</a:t>
            </a:r>
          </a:p>
        </p:txBody>
      </p:sp>
      <p:sp>
        <p:nvSpPr>
          <p:cNvPr id="16" name="Rounded Rectangle 15"/>
          <p:cNvSpPr/>
          <p:nvPr/>
        </p:nvSpPr>
        <p:spPr>
          <a:xfrm>
            <a:off x="457200" y="1828800"/>
            <a:ext cx="11277295" cy="1752905"/>
          </a:xfrm>
          <a:prstGeom prst="roundRect">
            <a:avLst/>
          </a:prstGeom>
          <a:noFill/>
          <a:ln w="12700">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p>
        </p:txBody>
      </p:sp>
      <p:sp>
        <p:nvSpPr>
          <p:cNvPr id="17" name="Rounded Rectangle 16"/>
          <p:cNvSpPr/>
          <p:nvPr/>
        </p:nvSpPr>
        <p:spPr>
          <a:xfrm>
            <a:off x="457200" y="3882541"/>
            <a:ext cx="3638398" cy="1864385"/>
          </a:xfrm>
          <a:prstGeom prst="roundRect">
            <a:avLst/>
          </a:prstGeom>
          <a:solidFill>
            <a:srgbClr val="FFFFFF"/>
          </a:solidFill>
          <a:ln w="12700">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ounded Rectangle 17"/>
          <p:cNvSpPr/>
          <p:nvPr/>
        </p:nvSpPr>
        <p:spPr>
          <a:xfrm>
            <a:off x="4280306" y="3882541"/>
            <a:ext cx="3638398" cy="1864385"/>
          </a:xfrm>
          <a:prstGeom prst="roundRect">
            <a:avLst/>
          </a:prstGeom>
          <a:solidFill>
            <a:srgbClr val="FFFFFF"/>
          </a:solidFill>
          <a:ln w="12700">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ounded Rectangle 18"/>
          <p:cNvSpPr/>
          <p:nvPr/>
        </p:nvSpPr>
        <p:spPr>
          <a:xfrm>
            <a:off x="8102497" y="3882541"/>
            <a:ext cx="3638398" cy="1864385"/>
          </a:xfrm>
          <a:prstGeom prst="roundRect">
            <a:avLst/>
          </a:prstGeom>
          <a:solidFill>
            <a:srgbClr val="FFFFFF"/>
          </a:solidFill>
          <a:ln w="12700">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ounded Rectangle 19"/>
          <p:cNvSpPr/>
          <p:nvPr/>
        </p:nvSpPr>
        <p:spPr>
          <a:xfrm>
            <a:off x="657454" y="4095191"/>
            <a:ext cx="304495" cy="304494"/>
          </a:xfrm>
          <a:prstGeom prst="roundRect">
            <a:avLst/>
          </a:prstGeom>
          <a:solidFill>
            <a:srgbClr val="007A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21" name="Picture 20" descr="image.png"/>
          <p:cNvPicPr>
            <a:picLocks noChangeAspect="1"/>
          </p:cNvPicPr>
          <p:nvPr/>
        </p:nvPicPr>
        <p:blipFill>
          <a:blip r:embed="rId3"/>
          <a:stretch>
            <a:fillRect/>
          </a:stretch>
        </p:blipFill>
        <p:spPr>
          <a:xfrm>
            <a:off x="743407" y="4181145"/>
            <a:ext cx="133501" cy="133501"/>
          </a:xfrm>
          <a:prstGeom prst="rect">
            <a:avLst/>
          </a:prstGeom>
          <a:ln w="0">
            <a:noFill/>
          </a:ln>
        </p:spPr>
      </p:pic>
      <p:sp>
        <p:nvSpPr>
          <p:cNvPr id="22" name="TextBox 21"/>
          <p:cNvSpPr txBox="1"/>
          <p:nvPr/>
        </p:nvSpPr>
        <p:spPr>
          <a:xfrm>
            <a:off x="1057046" y="4133596"/>
            <a:ext cx="1163117" cy="228600"/>
          </a:xfrm>
          <a:prstGeom prst="rect">
            <a:avLst/>
          </a:prstGeom>
          <a:ln w="0">
            <a:noFill/>
          </a:ln>
          <a:noFill/>
        </p:spPr>
        <p:txBody>
          <a:bodyPr wrap="square" lIns="0" rIns="0" tIns="0" bIns="0">
            <a:noAutofit/>
          </a:bodyPr>
          <a:lstStyle/>
          <a:p>
            <a:pPr algn="l"/>
            <a:r>
              <a:rPr sz="1200" b="1">
                <a:solidFill>
                  <a:srgbClr val="1D1D1F"/>
                </a:solidFill>
                <a:latin typeface="Noto Sans JP"/>
              </a:rPr>
              <a:t>分類</a:t>
            </a:r>
          </a:p>
        </p:txBody>
      </p:sp>
      <p:sp>
        <p:nvSpPr>
          <p:cNvPr id="23" name="Rounded Rectangle 22"/>
          <p:cNvSpPr/>
          <p:nvPr/>
        </p:nvSpPr>
        <p:spPr>
          <a:xfrm>
            <a:off x="4479646" y="4095191"/>
            <a:ext cx="304494" cy="304494"/>
          </a:xfrm>
          <a:prstGeom prst="roundRect">
            <a:avLst/>
          </a:prstGeom>
          <a:solidFill>
            <a:srgbClr val="34C759">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24" name="Picture 23" descr="image.png"/>
          <p:cNvPicPr>
            <a:picLocks noChangeAspect="1"/>
          </p:cNvPicPr>
          <p:nvPr/>
        </p:nvPicPr>
        <p:blipFill>
          <a:blip r:embed="rId4"/>
          <a:stretch>
            <a:fillRect/>
          </a:stretch>
        </p:blipFill>
        <p:spPr>
          <a:xfrm>
            <a:off x="4556455" y="4181145"/>
            <a:ext cx="152705" cy="133501"/>
          </a:xfrm>
          <a:prstGeom prst="rect">
            <a:avLst/>
          </a:prstGeom>
          <a:ln w="0">
            <a:noFill/>
          </a:ln>
        </p:spPr>
      </p:pic>
      <p:sp>
        <p:nvSpPr>
          <p:cNvPr id="25" name="TextBox 24"/>
          <p:cNvSpPr txBox="1"/>
          <p:nvPr/>
        </p:nvSpPr>
        <p:spPr>
          <a:xfrm>
            <a:off x="4880153" y="4133596"/>
            <a:ext cx="1975103" cy="228600"/>
          </a:xfrm>
          <a:prstGeom prst="rect">
            <a:avLst/>
          </a:prstGeom>
          <a:ln w="0">
            <a:noFill/>
          </a:ln>
          <a:noFill/>
        </p:spPr>
        <p:txBody>
          <a:bodyPr wrap="square" lIns="0" rIns="0" tIns="0" bIns="0">
            <a:noAutofit/>
          </a:bodyPr>
          <a:lstStyle/>
          <a:p>
            <a:pPr algn="l"/>
            <a:r>
              <a:rPr sz="1200" b="1">
                <a:solidFill>
                  <a:srgbClr val="1D1D1F"/>
                </a:solidFill>
                <a:latin typeface="Noto Sans JP"/>
              </a:rPr>
              <a:t>抽出</a:t>
            </a:r>
          </a:p>
        </p:txBody>
      </p:sp>
      <p:sp>
        <p:nvSpPr>
          <p:cNvPr id="26" name="Rounded Rectangle 25"/>
          <p:cNvSpPr/>
          <p:nvPr/>
        </p:nvSpPr>
        <p:spPr>
          <a:xfrm>
            <a:off x="8302752" y="4095191"/>
            <a:ext cx="304494" cy="304494"/>
          </a:xfrm>
          <a:prstGeom prst="roundRect">
            <a:avLst/>
          </a:prstGeom>
          <a:solidFill>
            <a:srgbClr val="FF9500">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27" name="Picture 26" descr="image.png"/>
          <p:cNvPicPr>
            <a:picLocks noChangeAspect="1"/>
          </p:cNvPicPr>
          <p:nvPr/>
        </p:nvPicPr>
        <p:blipFill>
          <a:blip r:embed="rId5"/>
          <a:stretch>
            <a:fillRect/>
          </a:stretch>
        </p:blipFill>
        <p:spPr>
          <a:xfrm>
            <a:off x="8369502" y="4181145"/>
            <a:ext cx="171907" cy="133501"/>
          </a:xfrm>
          <a:prstGeom prst="rect">
            <a:avLst/>
          </a:prstGeom>
          <a:ln w="0">
            <a:noFill/>
          </a:ln>
        </p:spPr>
      </p:pic>
      <p:sp>
        <p:nvSpPr>
          <p:cNvPr id="28" name="TextBox 27"/>
          <p:cNvSpPr txBox="1"/>
          <p:nvPr/>
        </p:nvSpPr>
        <p:spPr>
          <a:xfrm>
            <a:off x="8702345" y="4133596"/>
            <a:ext cx="1049731" cy="228600"/>
          </a:xfrm>
          <a:prstGeom prst="rect">
            <a:avLst/>
          </a:prstGeom>
          <a:ln w="0">
            <a:noFill/>
          </a:ln>
          <a:noFill/>
        </p:spPr>
        <p:txBody>
          <a:bodyPr wrap="square" lIns="0" rIns="0" tIns="0" bIns="0">
            <a:noAutofit/>
          </a:bodyPr>
          <a:lstStyle/>
          <a:p>
            <a:pPr algn="l"/>
            <a:r>
              <a:rPr sz="1200" b="1">
                <a:solidFill>
                  <a:srgbClr val="1D1D1F"/>
                </a:solidFill>
                <a:latin typeface="Noto Sans JP"/>
              </a:rPr>
              <a:t>選択</a:t>
            </a:r>
          </a:p>
        </p:txBody>
      </p:sp>
      <p:sp>
        <p:nvSpPr>
          <p:cNvPr id="29" name="Rectangle 28"/>
          <p:cNvSpPr/>
          <p:nvPr/>
        </p:nvSpPr>
        <p:spPr>
          <a:xfrm>
            <a:off x="657454" y="4475074"/>
            <a:ext cx="3238805" cy="9144"/>
          </a:xfrm>
          <a:prstGeom prst="rect">
            <a:avLst/>
          </a:prstGeom>
          <a:solidFill>
            <a:srgbClr val="F0F0F0">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4479646" y="4475074"/>
            <a:ext cx="3238804" cy="9144"/>
          </a:xfrm>
          <a:prstGeom prst="rect">
            <a:avLst/>
          </a:prstGeom>
          <a:solidFill>
            <a:srgbClr val="F0F0F0">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8302752" y="4475074"/>
            <a:ext cx="3238805" cy="9144"/>
          </a:xfrm>
          <a:prstGeom prst="rect">
            <a:avLst/>
          </a:prstGeom>
          <a:solidFill>
            <a:srgbClr val="F0F0F0">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6"/>
          <a:stretch>
            <a:fillRect/>
          </a:stretch>
        </p:blipFill>
        <p:spPr>
          <a:xfrm>
            <a:off x="457200" y="243230"/>
            <a:ext cx="200253" cy="267004"/>
          </a:xfrm>
          <a:prstGeom prst="rect">
            <a:avLst/>
          </a:prstGeom>
          <a:ln w="0">
            <a:noFill/>
          </a:ln>
        </p:spPr>
      </p:pic>
      <p:sp>
        <p:nvSpPr>
          <p:cNvPr id="33" name="TextBox 32"/>
          <p:cNvSpPr txBox="1"/>
          <p:nvPr/>
        </p:nvSpPr>
        <p:spPr>
          <a:xfrm>
            <a:off x="809244" y="176479"/>
            <a:ext cx="4182466" cy="400507"/>
          </a:xfrm>
          <a:prstGeom prst="rect">
            <a:avLst/>
          </a:prstGeom>
          <a:ln w="0">
            <a:noFill/>
          </a:ln>
          <a:noFill/>
        </p:spPr>
        <p:txBody>
          <a:bodyPr wrap="square" lIns="0" rIns="0" tIns="0" bIns="0">
            <a:noAutofit/>
          </a:bodyPr>
          <a:lstStyle/>
          <a:p>
            <a:pPr algn="l"/>
            <a:r>
              <a:rPr sz="2400" b="1">
                <a:solidFill>
                  <a:srgbClr val="1D1D1F"/>
                </a:solidFill>
                <a:latin typeface="Noto Sans JP"/>
              </a:rPr>
              <a:t>ユースケース2では、直接生成ではなく中間表現を挟んで品質を固定する</a:t>
            </a:r>
          </a:p>
        </p:txBody>
      </p:sp>
      <p:sp>
        <p:nvSpPr>
          <p:cNvPr id="34" name="TextBox 33"/>
          <p:cNvSpPr txBox="1"/>
          <p:nvPr/>
        </p:nvSpPr>
        <p:spPr>
          <a:xfrm>
            <a:off x="8489290" y="261518"/>
            <a:ext cx="3439058" cy="228600"/>
          </a:xfrm>
          <a:prstGeom prst="rect">
            <a:avLst/>
          </a:prstGeom>
          <a:ln w="0">
            <a:noFill/>
          </a:ln>
          <a:noFill/>
        </p:spPr>
        <p:txBody>
          <a:bodyPr wrap="square" lIns="0" rIns="0" tIns="0" bIns="0">
            <a:noAutofit/>
          </a:bodyPr>
          <a:lstStyle/>
          <a:p>
            <a:pPr algn="l"/>
            <a:r>
              <a:rPr sz="1000">
                <a:solidFill>
                  <a:srgbClr val="86868B"/>
                </a:solidFill>
                <a:latin typeface="Noto Sans JP"/>
              </a:rPr>
              <a:t>Use Case 2 Detail</a:t>
            </a:r>
          </a:p>
        </p:txBody>
      </p:sp>
      <p:pic>
        <p:nvPicPr>
          <p:cNvPr id="35" name="Picture 34" descr="image.png"/>
          <p:cNvPicPr>
            <a:picLocks noChangeAspect="1"/>
          </p:cNvPicPr>
          <p:nvPr/>
        </p:nvPicPr>
        <p:blipFill>
          <a:blip r:embed="rId7"/>
          <a:stretch>
            <a:fillRect/>
          </a:stretch>
        </p:blipFill>
        <p:spPr>
          <a:xfrm>
            <a:off x="457200" y="990294"/>
            <a:ext cx="11277295" cy="571500"/>
          </a:xfrm>
          <a:prstGeom prst="rect">
            <a:avLst/>
          </a:prstGeom>
          <a:ln w="0">
            <a:noFill/>
          </a:ln>
        </p:spPr>
      </p:pic>
      <p:sp>
        <p:nvSpPr>
          <p:cNvPr id="36" name="TextBox 35"/>
          <p:cNvSpPr txBox="1"/>
          <p:nvPr/>
        </p:nvSpPr>
        <p:spPr>
          <a:xfrm>
            <a:off x="743407" y="1143000"/>
            <a:ext cx="10954512" cy="267005"/>
          </a:xfrm>
          <a:prstGeom prst="rect">
            <a:avLst/>
          </a:prstGeom>
          <a:ln w="0">
            <a:noFill/>
          </a:ln>
          <a:noFill/>
        </p:spPr>
        <p:txBody>
          <a:bodyPr wrap="square" lIns="0" rIns="0" tIns="0" bIns="0">
            <a:noAutofit/>
          </a:bodyPr>
          <a:lstStyle/>
          <a:p>
            <a:pPr algn="l"/>
            <a:r>
              <a:rPr sz="1500" b="1">
                <a:solidFill>
                  <a:srgbClr val="1D1D1F"/>
                </a:solidFill>
                <a:latin typeface="Noto Sans JP"/>
              </a:rPr>
              <a:t>PowerPoint を直接生成せず、JSON とテンプレート選択を挟むことで品質を安定化できる。</a:t>
            </a:r>
          </a:p>
        </p:txBody>
      </p:sp>
      <p:pic>
        <p:nvPicPr>
          <p:cNvPr id="37" name="Picture 36" descr="image.png"/>
          <p:cNvPicPr>
            <a:picLocks noChangeAspect="1"/>
          </p:cNvPicPr>
          <p:nvPr/>
        </p:nvPicPr>
        <p:blipFill>
          <a:blip r:embed="rId8"/>
          <a:stretch>
            <a:fillRect/>
          </a:stretch>
        </p:blipFill>
        <p:spPr>
          <a:xfrm>
            <a:off x="2691994" y="2348179"/>
            <a:ext cx="105156" cy="171906"/>
          </a:xfrm>
          <a:prstGeom prst="rect">
            <a:avLst/>
          </a:prstGeom>
          <a:ln w="0">
            <a:noFill/>
          </a:ln>
        </p:spPr>
      </p:pic>
      <p:pic>
        <p:nvPicPr>
          <p:cNvPr id="38" name="Picture 37" descr="image.png"/>
          <p:cNvPicPr>
            <a:picLocks noChangeAspect="1"/>
          </p:cNvPicPr>
          <p:nvPr/>
        </p:nvPicPr>
        <p:blipFill>
          <a:blip r:embed="rId8"/>
          <a:stretch>
            <a:fillRect/>
          </a:stretch>
        </p:blipFill>
        <p:spPr>
          <a:xfrm>
            <a:off x="4926787" y="2348179"/>
            <a:ext cx="105155" cy="171906"/>
          </a:xfrm>
          <a:prstGeom prst="rect">
            <a:avLst/>
          </a:prstGeom>
          <a:ln w="0">
            <a:noFill/>
          </a:ln>
        </p:spPr>
      </p:pic>
      <p:pic>
        <p:nvPicPr>
          <p:cNvPr id="39" name="Picture 38" descr="image.png"/>
          <p:cNvPicPr>
            <a:picLocks noChangeAspect="1"/>
          </p:cNvPicPr>
          <p:nvPr/>
        </p:nvPicPr>
        <p:blipFill>
          <a:blip r:embed="rId8"/>
          <a:stretch>
            <a:fillRect/>
          </a:stretch>
        </p:blipFill>
        <p:spPr>
          <a:xfrm>
            <a:off x="7160666" y="2348179"/>
            <a:ext cx="105155" cy="171906"/>
          </a:xfrm>
          <a:prstGeom prst="rect">
            <a:avLst/>
          </a:prstGeom>
          <a:ln w="0">
            <a:noFill/>
          </a:ln>
        </p:spPr>
      </p:pic>
      <p:pic>
        <p:nvPicPr>
          <p:cNvPr id="40" name="Picture 39" descr="image.png"/>
          <p:cNvPicPr>
            <a:picLocks noChangeAspect="1"/>
          </p:cNvPicPr>
          <p:nvPr/>
        </p:nvPicPr>
        <p:blipFill>
          <a:blip r:embed="rId8"/>
          <a:stretch>
            <a:fillRect/>
          </a:stretch>
        </p:blipFill>
        <p:spPr>
          <a:xfrm>
            <a:off x="9395460" y="2348179"/>
            <a:ext cx="105155" cy="171906"/>
          </a:xfrm>
          <a:prstGeom prst="rect">
            <a:avLst/>
          </a:prstGeom>
          <a:ln w="0">
            <a:noFill/>
          </a:ln>
        </p:spPr>
      </p:pic>
      <p:sp>
        <p:nvSpPr>
          <p:cNvPr id="41" name="TextBox 40"/>
          <p:cNvSpPr txBox="1"/>
          <p:nvPr/>
        </p:nvSpPr>
        <p:spPr>
          <a:xfrm>
            <a:off x="752551" y="4646981"/>
            <a:ext cx="3219602" cy="412293"/>
          </a:xfrm>
          <a:prstGeom prst="rect">
            <a:avLst/>
          </a:prstGeom>
          <a:ln w="0">
            <a:noFill/>
          </a:ln>
          <a:noFill/>
        </p:spPr>
        <p:txBody>
          <a:bodyPr wrap="square" lIns="0" rIns="0" tIns="0" bIns="0">
            <a:noAutofit/>
          </a:bodyPr>
          <a:lstStyle/>
          <a:p>
            <a:pPr algn="l"/>
            <a:r>
              <a:rPr sz="900" b="1">
                <a:solidFill>
                  <a:srgbClr val="1D1D1F"/>
                </a:solidFill>
                <a:latin typeface="Noto Sans JP"/>
              </a:rPr>
              <a:t>Insight / Flow / Failure / Table のどれに載せるかを決める。</a:t>
            </a:r>
          </a:p>
        </p:txBody>
      </p:sp>
      <p:sp>
        <p:nvSpPr>
          <p:cNvPr id="42" name="TextBox 41"/>
          <p:cNvSpPr txBox="1"/>
          <p:nvPr/>
        </p:nvSpPr>
        <p:spPr>
          <a:xfrm>
            <a:off x="752551" y="5184571"/>
            <a:ext cx="3219602" cy="412293"/>
          </a:xfrm>
          <a:prstGeom prst="rect">
            <a:avLst/>
          </a:prstGeom>
          <a:ln w="0">
            <a:noFill/>
          </a:ln>
          <a:noFill/>
        </p:spPr>
        <p:txBody>
          <a:bodyPr wrap="square" lIns="0" rIns="0" tIns="0" bIns="0">
            <a:noAutofit/>
          </a:bodyPr>
          <a:lstStyle/>
          <a:p>
            <a:pPr algn="l"/>
          </a:p>
        </p:txBody>
      </p:sp>
      <p:sp>
        <p:nvSpPr>
          <p:cNvPr id="43" name="TextBox 42"/>
          <p:cNvSpPr txBox="1"/>
          <p:nvPr/>
        </p:nvSpPr>
        <p:spPr>
          <a:xfrm>
            <a:off x="4574743" y="4646981"/>
            <a:ext cx="3219602" cy="545031"/>
          </a:xfrm>
          <a:prstGeom prst="rect">
            <a:avLst/>
          </a:prstGeom>
          <a:ln w="0">
            <a:noFill/>
          </a:ln>
          <a:noFill/>
        </p:spPr>
        <p:txBody>
          <a:bodyPr wrap="square" lIns="0" rIns="0" tIns="0" bIns="0">
            <a:noAutofit/>
          </a:bodyPr>
          <a:lstStyle/>
          <a:p>
            <a:pPr algn="l"/>
            <a:r>
              <a:rPr sz="900" b="1">
                <a:solidFill>
                  <a:srgbClr val="1D1D1F"/>
                </a:solidFill>
                <a:latin typeface="Noto Sans JP"/>
              </a:rPr>
              <a:t>タイトル、本文、比較軸、表要素として使う情報を抜き出す。</a:t>
            </a:r>
          </a:p>
        </p:txBody>
      </p:sp>
      <p:sp>
        <p:nvSpPr>
          <p:cNvPr id="44" name="TextBox 43"/>
          <p:cNvSpPr txBox="1"/>
          <p:nvPr/>
        </p:nvSpPr>
        <p:spPr>
          <a:xfrm>
            <a:off x="4574743" y="5184571"/>
            <a:ext cx="3219602" cy="412293"/>
          </a:xfrm>
          <a:prstGeom prst="rect">
            <a:avLst/>
          </a:prstGeom>
          <a:ln w="0">
            <a:noFill/>
          </a:ln>
          <a:noFill/>
        </p:spPr>
        <p:txBody>
          <a:bodyPr wrap="square" lIns="0" rIns="0" tIns="0" bIns="0">
            <a:noAutofit/>
          </a:bodyPr>
          <a:lstStyle/>
          <a:p>
            <a:pPr algn="l"/>
          </a:p>
        </p:txBody>
      </p:sp>
      <p:sp>
        <p:nvSpPr>
          <p:cNvPr id="45" name="TextBox 44"/>
          <p:cNvSpPr txBox="1"/>
          <p:nvPr/>
        </p:nvSpPr>
        <p:spPr>
          <a:xfrm>
            <a:off x="8397850" y="4646981"/>
            <a:ext cx="3219602" cy="412293"/>
          </a:xfrm>
          <a:prstGeom prst="rect">
            <a:avLst/>
          </a:prstGeom>
          <a:ln w="0">
            <a:noFill/>
          </a:ln>
          <a:noFill/>
        </p:spPr>
        <p:txBody>
          <a:bodyPr wrap="square" lIns="0" rIns="0" tIns="0" bIns="0">
            <a:noAutofit/>
          </a:bodyPr>
          <a:lstStyle/>
          <a:p>
            <a:pPr algn="l"/>
            <a:r>
              <a:rPr sz="900" b="1">
                <a:solidFill>
                  <a:srgbClr val="1D1D1F"/>
                </a:solidFill>
                <a:latin typeface="Noto Sans JP"/>
              </a:rPr>
              <a:t>A1 / A3 / D1 などのテンプレートへ割り当てる。</a:t>
            </a:r>
          </a:p>
        </p:txBody>
      </p:sp>
      <p:sp>
        <p:nvSpPr>
          <p:cNvPr id="46" name="TextBox 45"/>
          <p:cNvSpPr txBox="1"/>
          <p:nvPr/>
        </p:nvSpPr>
        <p:spPr>
          <a:xfrm>
            <a:off x="8397850" y="5184571"/>
            <a:ext cx="3219602" cy="412293"/>
          </a:xfrm>
          <a:prstGeom prst="rect">
            <a:avLst/>
          </a:prstGeom>
          <a:ln w="0">
            <a:noFill/>
          </a:ln>
          <a:noFill/>
        </p:spPr>
        <p:txBody>
          <a:bodyPr wrap="square" lIns="0" rIns="0" tIns="0" bIns="0">
            <a:noAutofit/>
          </a:bodyPr>
          <a:lstStyle/>
          <a:p>
            <a:pPr algn="l"/>
          </a:p>
        </p:txBody>
      </p:sp>
      <p:sp>
        <p:nvSpPr>
          <p:cNvPr id="47" name="TextBox 46"/>
          <p:cNvSpPr txBox="1"/>
          <p:nvPr/>
        </p:nvSpPr>
        <p:spPr>
          <a:xfrm>
            <a:off x="1322222" y="2562149"/>
            <a:ext cx="609904" cy="200254"/>
          </a:xfrm>
          <a:prstGeom prst="rect">
            <a:avLst/>
          </a:prstGeom>
          <a:ln w="0">
            <a:noFill/>
          </a:ln>
          <a:noFill/>
        </p:spPr>
        <p:txBody>
          <a:bodyPr wrap="square" lIns="0" rIns="0" tIns="0" bIns="0">
            <a:noAutofit/>
          </a:bodyPr>
          <a:lstStyle/>
          <a:p>
            <a:pPr algn="ctr"/>
            <a:r>
              <a:rPr sz="1000" b="1">
                <a:solidFill>
                  <a:srgbClr val="1D1D1F"/>
                </a:solidFill>
                <a:latin typeface="Noto Sans JP"/>
              </a:rPr>
              <a:t>STEP 1</a:t>
            </a:r>
          </a:p>
        </p:txBody>
      </p:sp>
      <p:sp>
        <p:nvSpPr>
          <p:cNvPr id="48" name="TextBox 47"/>
          <p:cNvSpPr txBox="1"/>
          <p:nvPr/>
        </p:nvSpPr>
        <p:spPr>
          <a:xfrm>
            <a:off x="1022299" y="2838298"/>
            <a:ext cx="1209751" cy="277062"/>
          </a:xfrm>
          <a:prstGeom prst="rect">
            <a:avLst/>
          </a:prstGeom>
          <a:ln w="0">
            <a:noFill/>
          </a:ln>
          <a:noFill/>
        </p:spPr>
        <p:txBody>
          <a:bodyPr wrap="square" lIns="0" rIns="0" tIns="0" bIns="0">
            <a:noAutofit/>
          </a:bodyPr>
          <a:lstStyle/>
          <a:p>
            <a:pPr algn="ctr"/>
            <a:r>
              <a:rPr sz="800">
                <a:solidFill>
                  <a:srgbClr val="6E6E73"/>
                </a:solidFill>
                <a:latin typeface="Noto Sans JP"/>
              </a:rPr>
              <a:t>会議データを文字起こしする</a:t>
            </a:r>
          </a:p>
        </p:txBody>
      </p:sp>
      <p:sp>
        <p:nvSpPr>
          <p:cNvPr id="49" name="TextBox 48"/>
          <p:cNvSpPr txBox="1"/>
          <p:nvPr/>
        </p:nvSpPr>
        <p:spPr>
          <a:xfrm>
            <a:off x="3622853" y="2562149"/>
            <a:ext cx="476401" cy="200254"/>
          </a:xfrm>
          <a:prstGeom prst="rect">
            <a:avLst/>
          </a:prstGeom>
          <a:ln w="0">
            <a:noFill/>
          </a:ln>
          <a:noFill/>
        </p:spPr>
        <p:txBody>
          <a:bodyPr wrap="square" lIns="0" rIns="0" tIns="0" bIns="0">
            <a:noAutofit/>
          </a:bodyPr>
          <a:lstStyle/>
          <a:p>
            <a:pPr algn="ctr"/>
            <a:r>
              <a:rPr sz="1000" b="1">
                <a:solidFill>
                  <a:srgbClr val="1D1D1F"/>
                </a:solidFill>
                <a:latin typeface="Noto Sans JP"/>
              </a:rPr>
              <a:t>STEP 2</a:t>
            </a:r>
          </a:p>
        </p:txBody>
      </p:sp>
      <p:sp>
        <p:nvSpPr>
          <p:cNvPr id="50" name="TextBox 49"/>
          <p:cNvSpPr txBox="1"/>
          <p:nvPr/>
        </p:nvSpPr>
        <p:spPr>
          <a:xfrm>
            <a:off x="3361334" y="2838298"/>
            <a:ext cx="1000353" cy="277062"/>
          </a:xfrm>
          <a:prstGeom prst="rect">
            <a:avLst/>
          </a:prstGeom>
          <a:ln w="0">
            <a:noFill/>
          </a:ln>
          <a:noFill/>
        </p:spPr>
        <p:txBody>
          <a:bodyPr wrap="square" lIns="0" rIns="0" tIns="0" bIns="0">
            <a:noAutofit/>
          </a:bodyPr>
          <a:lstStyle/>
          <a:p>
            <a:pPr algn="ctr"/>
            <a:r>
              <a:rPr sz="800">
                <a:solidFill>
                  <a:srgbClr val="6E6E73"/>
                </a:solidFill>
                <a:latin typeface="Noto Sans JP"/>
              </a:rPr>
              <a:t>ローカルで内容を構造化する</a:t>
            </a:r>
          </a:p>
        </p:txBody>
      </p:sp>
      <p:sp>
        <p:nvSpPr>
          <p:cNvPr id="51" name="TextBox 50"/>
          <p:cNvSpPr txBox="1"/>
          <p:nvPr/>
        </p:nvSpPr>
        <p:spPr>
          <a:xfrm>
            <a:off x="5724144" y="2562149"/>
            <a:ext cx="743407" cy="200254"/>
          </a:xfrm>
          <a:prstGeom prst="rect">
            <a:avLst/>
          </a:prstGeom>
          <a:ln w="0">
            <a:noFill/>
          </a:ln>
          <a:noFill/>
        </p:spPr>
        <p:txBody>
          <a:bodyPr wrap="square" lIns="0" rIns="0" tIns="0" bIns="0">
            <a:noAutofit/>
          </a:bodyPr>
          <a:lstStyle/>
          <a:p>
            <a:pPr algn="ctr"/>
            <a:r>
              <a:rPr sz="1000" b="1">
                <a:solidFill>
                  <a:srgbClr val="1D1D1F"/>
                </a:solidFill>
                <a:latin typeface="Noto Sans JP"/>
              </a:rPr>
              <a:t>STEP 3</a:t>
            </a:r>
          </a:p>
        </p:txBody>
      </p:sp>
      <p:sp>
        <p:nvSpPr>
          <p:cNvPr id="52" name="TextBox 51"/>
          <p:cNvSpPr txBox="1"/>
          <p:nvPr/>
        </p:nvSpPr>
        <p:spPr>
          <a:xfrm>
            <a:off x="5589727" y="2838298"/>
            <a:ext cx="1019556" cy="277062"/>
          </a:xfrm>
          <a:prstGeom prst="rect">
            <a:avLst/>
          </a:prstGeom>
          <a:ln w="0">
            <a:noFill/>
          </a:ln>
          <a:noFill/>
        </p:spPr>
        <p:txBody>
          <a:bodyPr wrap="square" lIns="0" rIns="0" tIns="0" bIns="0">
            <a:noAutofit/>
          </a:bodyPr>
          <a:lstStyle/>
          <a:p>
            <a:pPr algn="ctr"/>
            <a:r>
              <a:rPr sz="800">
                <a:solidFill>
                  <a:srgbClr val="6E6E73"/>
                </a:solidFill>
                <a:latin typeface="Noto Sans JP"/>
              </a:rPr>
              <a:t>JSON 中間表現へ落とす</a:t>
            </a:r>
          </a:p>
        </p:txBody>
      </p:sp>
      <p:sp>
        <p:nvSpPr>
          <p:cNvPr id="53" name="TextBox 52"/>
          <p:cNvSpPr txBox="1"/>
          <p:nvPr/>
        </p:nvSpPr>
        <p:spPr>
          <a:xfrm>
            <a:off x="8001914" y="2562149"/>
            <a:ext cx="667512" cy="200254"/>
          </a:xfrm>
          <a:prstGeom prst="rect">
            <a:avLst/>
          </a:prstGeom>
          <a:ln w="0">
            <a:noFill/>
          </a:ln>
          <a:noFill/>
        </p:spPr>
        <p:txBody>
          <a:bodyPr wrap="square" lIns="0" rIns="0" tIns="0" bIns="0">
            <a:noAutofit/>
          </a:bodyPr>
          <a:lstStyle/>
          <a:p>
            <a:pPr algn="ctr"/>
            <a:r>
              <a:rPr sz="1000" b="1">
                <a:solidFill>
                  <a:srgbClr val="1D1D1F"/>
                </a:solidFill>
                <a:latin typeface="Noto Sans JP"/>
              </a:rPr>
              <a:t>STEP 4</a:t>
            </a:r>
          </a:p>
        </p:txBody>
      </p:sp>
      <p:sp>
        <p:nvSpPr>
          <p:cNvPr id="54" name="TextBox 53"/>
          <p:cNvSpPr txBox="1"/>
          <p:nvPr/>
        </p:nvSpPr>
        <p:spPr>
          <a:xfrm>
            <a:off x="7777886" y="2838298"/>
            <a:ext cx="1105510" cy="277062"/>
          </a:xfrm>
          <a:prstGeom prst="rect">
            <a:avLst/>
          </a:prstGeom>
          <a:ln w="0">
            <a:noFill/>
          </a:ln>
          <a:noFill/>
        </p:spPr>
        <p:txBody>
          <a:bodyPr wrap="square" lIns="0" rIns="0" tIns="0" bIns="0">
            <a:noAutofit/>
          </a:bodyPr>
          <a:lstStyle/>
          <a:p>
            <a:pPr algn="ctr"/>
            <a:r>
              <a:rPr sz="800">
                <a:solidFill>
                  <a:srgbClr val="6E6E73"/>
                </a:solidFill>
                <a:latin typeface="Noto Sans JP"/>
              </a:rPr>
              <a:t>分類・抽出・選択でテンプレートを決める</a:t>
            </a:r>
          </a:p>
        </p:txBody>
      </p:sp>
      <p:sp>
        <p:nvSpPr>
          <p:cNvPr id="55" name="TextBox 54"/>
          <p:cNvSpPr txBox="1"/>
          <p:nvPr/>
        </p:nvSpPr>
        <p:spPr>
          <a:xfrm>
            <a:off x="10260482" y="2562149"/>
            <a:ext cx="609905" cy="200254"/>
          </a:xfrm>
          <a:prstGeom prst="rect">
            <a:avLst/>
          </a:prstGeom>
          <a:ln w="0">
            <a:noFill/>
          </a:ln>
          <a:noFill/>
        </p:spPr>
        <p:txBody>
          <a:bodyPr wrap="square" lIns="0" rIns="0" tIns="0" bIns="0">
            <a:noAutofit/>
          </a:bodyPr>
          <a:lstStyle/>
          <a:p>
            <a:pPr algn="ctr"/>
            <a:r>
              <a:rPr sz="1000" b="1">
                <a:solidFill>
                  <a:srgbClr val="1D1D1F"/>
                </a:solidFill>
                <a:latin typeface="Noto Sans JP"/>
              </a:rPr>
              <a:t>STEP 5</a:t>
            </a:r>
          </a:p>
        </p:txBody>
      </p:sp>
      <p:sp>
        <p:nvSpPr>
          <p:cNvPr id="56" name="TextBox 55"/>
          <p:cNvSpPr txBox="1"/>
          <p:nvPr/>
        </p:nvSpPr>
        <p:spPr>
          <a:xfrm>
            <a:off x="10076688" y="2838298"/>
            <a:ext cx="981150" cy="277062"/>
          </a:xfrm>
          <a:prstGeom prst="rect">
            <a:avLst/>
          </a:prstGeom>
          <a:ln w="0">
            <a:noFill/>
          </a:ln>
          <a:noFill/>
        </p:spPr>
        <p:txBody>
          <a:bodyPr wrap="square" lIns="0" rIns="0" tIns="0" bIns="0">
            <a:noAutofit/>
          </a:bodyPr>
          <a:lstStyle/>
          <a:p>
            <a:pPr algn="ctr"/>
            <a:r>
              <a:rPr sz="800">
                <a:solidFill>
                  <a:srgbClr val="6E6E73"/>
                </a:solidFill>
                <a:latin typeface="Noto Sans JP"/>
              </a:rPr>
              <a:t>PowerPoint へ変換する</a:t>
            </a:r>
          </a:p>
        </p:txBody>
      </p:sp>
      <p:pic>
        <p:nvPicPr>
          <p:cNvPr id="57" name="Picture 56" descr="image.png"/>
          <p:cNvPicPr>
            <a:picLocks noChangeAspect="1"/>
          </p:cNvPicPr>
          <p:nvPr/>
        </p:nvPicPr>
        <p:blipFill>
          <a:blip r:embed="rId9"/>
          <a:stretch>
            <a:fillRect/>
          </a:stretch>
        </p:blipFill>
        <p:spPr>
          <a:xfrm>
            <a:off x="591468" y="4646981"/>
            <a:ext cx="95098" cy="95098"/>
          </a:xfrm>
          <a:prstGeom prst="rect">
            <a:avLst/>
          </a:prstGeom>
          <a:ln w="0">
            <a:noFill/>
          </a:ln>
        </p:spPr>
      </p:pic>
      <p:pic>
        <p:nvPicPr>
          <p:cNvPr id="58" name="Picture 57" descr="image.png"/>
          <p:cNvPicPr>
            <a:picLocks noChangeAspect="1"/>
          </p:cNvPicPr>
          <p:nvPr/>
        </p:nvPicPr>
        <p:blipFill>
          <a:blip r:embed="rId9"/>
          <a:stretch>
            <a:fillRect/>
          </a:stretch>
        </p:blipFill>
        <p:spPr>
          <a:xfrm>
            <a:off x="591468" y="5184571"/>
            <a:ext cx="95098" cy="95098"/>
          </a:xfrm>
          <a:prstGeom prst="rect">
            <a:avLst/>
          </a:prstGeom>
          <a:ln w="0">
            <a:noFill/>
          </a:ln>
        </p:spPr>
      </p:pic>
      <p:pic>
        <p:nvPicPr>
          <p:cNvPr id="59" name="Picture 58" descr="image.png"/>
          <p:cNvPicPr>
            <a:picLocks noChangeAspect="1"/>
          </p:cNvPicPr>
          <p:nvPr/>
        </p:nvPicPr>
        <p:blipFill>
          <a:blip r:embed="rId9"/>
          <a:stretch>
            <a:fillRect/>
          </a:stretch>
        </p:blipFill>
        <p:spPr>
          <a:xfrm>
            <a:off x="4413660" y="4646981"/>
            <a:ext cx="95098" cy="95098"/>
          </a:xfrm>
          <a:prstGeom prst="rect">
            <a:avLst/>
          </a:prstGeom>
          <a:ln w="0">
            <a:noFill/>
          </a:ln>
        </p:spPr>
      </p:pic>
      <p:pic>
        <p:nvPicPr>
          <p:cNvPr id="60" name="Picture 59" descr="image.png"/>
          <p:cNvPicPr>
            <a:picLocks noChangeAspect="1"/>
          </p:cNvPicPr>
          <p:nvPr/>
        </p:nvPicPr>
        <p:blipFill>
          <a:blip r:embed="rId9"/>
          <a:stretch>
            <a:fillRect/>
          </a:stretch>
        </p:blipFill>
        <p:spPr>
          <a:xfrm>
            <a:off x="4413660" y="5184571"/>
            <a:ext cx="95098" cy="95098"/>
          </a:xfrm>
          <a:prstGeom prst="rect">
            <a:avLst/>
          </a:prstGeom>
          <a:ln w="0">
            <a:noFill/>
          </a:ln>
        </p:spPr>
      </p:pic>
      <p:pic>
        <p:nvPicPr>
          <p:cNvPr id="61" name="Picture 60" descr="image.png"/>
          <p:cNvPicPr>
            <a:picLocks noChangeAspect="1"/>
          </p:cNvPicPr>
          <p:nvPr/>
        </p:nvPicPr>
        <p:blipFill>
          <a:blip r:embed="rId9"/>
          <a:stretch>
            <a:fillRect/>
          </a:stretch>
        </p:blipFill>
        <p:spPr>
          <a:xfrm>
            <a:off x="8236766" y="4646981"/>
            <a:ext cx="95097" cy="95098"/>
          </a:xfrm>
          <a:prstGeom prst="rect">
            <a:avLst/>
          </a:prstGeom>
          <a:ln w="0">
            <a:noFill/>
          </a:ln>
        </p:spPr>
      </p:pic>
      <p:pic>
        <p:nvPicPr>
          <p:cNvPr id="62" name="Picture 61" descr="image.png"/>
          <p:cNvPicPr>
            <a:picLocks noChangeAspect="1"/>
          </p:cNvPicPr>
          <p:nvPr/>
        </p:nvPicPr>
        <p:blipFill>
          <a:blip r:embed="rId9"/>
          <a:stretch>
            <a:fillRect/>
          </a:stretch>
        </p:blipFill>
        <p:spPr>
          <a:xfrm>
            <a:off x="8236766" y="5184571"/>
            <a:ext cx="95097" cy="95098"/>
          </a:xfrm>
          <a:prstGeom prst="rect">
            <a:avLst/>
          </a:prstGeom>
          <a:ln w="0">
            <a:noFill/>
          </a:ln>
        </p:spPr>
      </p:pic>
      <p:sp>
        <p:nvSpPr>
          <p:cNvPr id="63" name="Rectangle 62"/>
          <p:cNvSpPr/>
          <p:nvPr/>
        </p:nvSpPr>
        <p:spPr>
          <a:xfrm>
            <a:off x="0" y="0"/>
            <a:ext cx="12192001" cy="54865"/>
          </a:xfrm>
          <a:prstGeom prst="rect">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6476695"/>
            <a:ext cx="12192609" cy="381305"/>
          </a:xfrm>
          <a:prstGeom prst="rect">
            <a:avLst/>
          </a:prstGeom>
          <a:solidFill>
            <a:srgbClr val="F6F5F8"/>
          </a:solidFill>
          <a:ln w="15875">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4" name="Rounded Rectangle 3"/>
          <p:cNvSpPr/>
          <p:nvPr/>
        </p:nvSpPr>
        <p:spPr>
          <a:xfrm>
            <a:off x="481887" y="1312153"/>
            <a:ext cx="11221662" cy="790509"/>
          </a:xfrm>
          <a:prstGeom prst="roundRect">
            <a:avLst/>
          </a:prstGeom>
          <a:solidFill>
            <a:srgbClr val="F0F9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488450" y="1311250"/>
            <a:ext cx="49716" cy="791160"/>
          </a:xfrm>
          <a:prstGeom prst="rect">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14400" y="470024"/>
            <a:ext cx="11354105" cy="514806"/>
          </a:xfrm>
          <a:prstGeom prst="rect">
            <a:avLst/>
          </a:prstGeom>
          <a:ln w="0">
            <a:noFill/>
          </a:ln>
          <a:noFill/>
        </p:spPr>
        <p:txBody>
          <a:bodyPr wrap="square" lIns="0" rIns="0" tIns="0" bIns="0">
            <a:noAutofit/>
          </a:bodyPr>
          <a:lstStyle/>
          <a:p>
            <a:pPr algn="l"/>
            <a:r>
              <a:rPr sz="2400" b="1">
                <a:solidFill>
                  <a:srgbClr val="1D1D1F"/>
                </a:solidFill>
                <a:latin typeface="Noto Sans JP"/>
              </a:rPr>
              <a:t>自作ノート・公開資料・許諾済み資料を学習コンテンツ化する</a:t>
            </a:r>
          </a:p>
        </p:txBody>
      </p:sp>
      <p:sp>
        <p:nvSpPr>
          <p:cNvPr id="7" name="TextBox 6"/>
          <p:cNvSpPr txBox="1"/>
          <p:nvPr/>
        </p:nvSpPr>
        <p:spPr>
          <a:xfrm>
            <a:off x="476401" y="195681"/>
            <a:ext cx="11239805" cy="286206"/>
          </a:xfrm>
          <a:prstGeom prst="rect">
            <a:avLst/>
          </a:prstGeom>
          <a:ln w="0">
            <a:noFill/>
          </a:ln>
          <a:noFill/>
        </p:spPr>
        <p:txBody>
          <a:bodyPr wrap="square" lIns="0" rIns="0" tIns="0" bIns="0">
            <a:noAutofit/>
          </a:bodyPr>
          <a:lstStyle/>
          <a:p>
            <a:pPr algn="l"/>
            <a:r>
              <a:rPr sz="1000">
                <a:solidFill>
                  <a:srgbClr val="86868B"/>
                </a:solidFill>
                <a:latin typeface="Noto Sans JP"/>
              </a:rPr>
              <a:t>Use Case 3</a:t>
            </a:r>
          </a:p>
        </p:txBody>
      </p:sp>
      <p:sp>
        <p:nvSpPr>
          <p:cNvPr id="8" name="TextBox 7"/>
          <p:cNvSpPr txBox="1"/>
          <p:nvPr/>
        </p:nvSpPr>
        <p:spPr>
          <a:xfrm>
            <a:off x="914400" y="1421206"/>
            <a:ext cx="10611612" cy="571500"/>
          </a:xfrm>
          <a:prstGeom prst="rect">
            <a:avLst/>
          </a:prstGeom>
          <a:ln w="0">
            <a:noFill/>
          </a:ln>
          <a:noFill/>
        </p:spPr>
        <p:txBody>
          <a:bodyPr wrap="square" lIns="0" rIns="0" tIns="0" bIns="0">
            <a:noAutofit/>
          </a:bodyPr>
          <a:lstStyle/>
          <a:p>
            <a:pPr algn="l"/>
            <a:r>
              <a:rPr b="1">
                <a:solidFill>
                  <a:srgbClr val="1D1D1F"/>
                </a:solidFill>
                <a:latin typeface="Cambria"/>
              </a:rPr>
              <a:t>扱ってよい情報を、要約・音声・動画など学習しやすい形式へ変換する。</a:t>
            </a:r>
          </a:p>
        </p:txBody>
      </p:sp>
      <p:sp>
        <p:nvSpPr>
          <p:cNvPr id="9" name="Rounded Rectangle 8"/>
          <p:cNvSpPr/>
          <p:nvPr/>
        </p:nvSpPr>
        <p:spPr>
          <a:xfrm>
            <a:off x="538167"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2"/>
          <a:stretch>
            <a:fillRect/>
          </a:stretch>
        </p:blipFill>
        <p:spPr>
          <a:xfrm>
            <a:off x="738421" y="2596440"/>
            <a:ext cx="304495" cy="228600"/>
          </a:xfrm>
          <a:prstGeom prst="rect">
            <a:avLst/>
          </a:prstGeom>
          <a:ln w="0">
            <a:noFill/>
          </a:ln>
        </p:spPr>
      </p:pic>
      <p:sp>
        <p:nvSpPr>
          <p:cNvPr id="11" name="TextBox 10"/>
          <p:cNvSpPr txBox="1"/>
          <p:nvPr/>
        </p:nvSpPr>
        <p:spPr>
          <a:xfrm>
            <a:off x="1157216" y="2582724"/>
            <a:ext cx="1286561" cy="257861"/>
          </a:xfrm>
          <a:prstGeom prst="rect">
            <a:avLst/>
          </a:prstGeom>
          <a:ln w="0">
            <a:noFill/>
          </a:ln>
          <a:noFill/>
        </p:spPr>
        <p:txBody>
          <a:bodyPr wrap="square" lIns="0" rIns="0" tIns="0" bIns="0">
            <a:noAutofit/>
          </a:bodyPr>
          <a:lstStyle/>
          <a:p>
            <a:pPr algn="l"/>
            <a:r>
              <a:rPr sz="1300" b="1">
                <a:solidFill>
                  <a:srgbClr val="1D1D1F"/>
                </a:solidFill>
                <a:latin typeface="Noto Sans JP"/>
              </a:rPr>
              <a:t>入力対象</a:t>
            </a:r>
          </a:p>
        </p:txBody>
      </p:sp>
      <p:sp>
        <p:nvSpPr>
          <p:cNvPr id="12" name="TextBox 11"/>
          <p:cNvSpPr txBox="1"/>
          <p:nvPr/>
        </p:nvSpPr>
        <p:spPr>
          <a:xfrm>
            <a:off x="738421" y="2953970"/>
            <a:ext cx="3324758" cy="228600"/>
          </a:xfrm>
          <a:prstGeom prst="rect">
            <a:avLst/>
          </a:prstGeom>
          <a:ln w="0">
            <a:noFill/>
          </a:ln>
          <a:noFill/>
        </p:spPr>
        <p:txBody>
          <a:bodyPr wrap="square" lIns="0" rIns="0" tIns="0" bIns="0">
            <a:noAutofit/>
          </a:bodyPr>
          <a:lstStyle/>
          <a:p>
            <a:pPr algn="l"/>
            <a:r>
              <a:rPr sz="1100">
                <a:solidFill>
                  <a:srgbClr val="424245"/>
                </a:solidFill>
                <a:latin typeface="Noto Sans JP"/>
              </a:rPr>
              <a:t>自作ノート、公開資料、許諾済み資料に限定する。</a:t>
            </a:r>
          </a:p>
        </p:txBody>
      </p:sp>
      <p:sp>
        <p:nvSpPr>
          <p:cNvPr id="13" name="TextBox 12"/>
          <p:cNvSpPr txBox="1"/>
          <p:nvPr/>
        </p:nvSpPr>
        <p:spPr>
          <a:xfrm>
            <a:off x="738421" y="3239263"/>
            <a:ext cx="3324758" cy="228599"/>
          </a:xfrm>
          <a:prstGeom prst="rect">
            <a:avLst/>
          </a:prstGeom>
          <a:ln w="0">
            <a:noFill/>
          </a:ln>
          <a:noFill/>
        </p:spPr>
        <p:txBody>
          <a:bodyPr wrap="square" lIns="0" rIns="0" tIns="0" bIns="0">
            <a:noAutofit/>
          </a:bodyPr>
          <a:lstStyle/>
          <a:p>
            <a:pPr algn="l"/>
          </a:p>
        </p:txBody>
      </p:sp>
      <p:sp>
        <p:nvSpPr>
          <p:cNvPr id="14" name="TextBox 13"/>
          <p:cNvSpPr txBox="1"/>
          <p:nvPr/>
        </p:nvSpPr>
        <p:spPr>
          <a:xfrm>
            <a:off x="738421" y="3525470"/>
            <a:ext cx="3248863" cy="228600"/>
          </a:xfrm>
          <a:prstGeom prst="rect">
            <a:avLst/>
          </a:prstGeom>
          <a:ln w="0">
            <a:noFill/>
          </a:ln>
          <a:noFill/>
        </p:spPr>
        <p:txBody>
          <a:bodyPr wrap="square" lIns="0" rIns="0" tIns="0" bIns="0">
            <a:noAutofit/>
          </a:bodyPr>
          <a:lstStyle/>
          <a:p>
            <a:pPr algn="l"/>
          </a:p>
        </p:txBody>
      </p:sp>
      <p:sp>
        <p:nvSpPr>
          <p:cNvPr id="15" name="Rounded Rectangle 14"/>
          <p:cNvSpPr/>
          <p:nvPr/>
        </p:nvSpPr>
        <p:spPr>
          <a:xfrm>
            <a:off x="4297265"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3"/>
          <a:stretch>
            <a:fillRect/>
          </a:stretch>
        </p:blipFill>
        <p:spPr>
          <a:xfrm>
            <a:off x="4497519" y="2596440"/>
            <a:ext cx="304494" cy="228600"/>
          </a:xfrm>
          <a:prstGeom prst="rect">
            <a:avLst/>
          </a:prstGeom>
          <a:ln w="0">
            <a:noFill/>
          </a:ln>
        </p:spPr>
      </p:pic>
      <p:sp>
        <p:nvSpPr>
          <p:cNvPr id="17" name="TextBox 16"/>
          <p:cNvSpPr txBox="1"/>
          <p:nvPr/>
        </p:nvSpPr>
        <p:spPr>
          <a:xfrm>
            <a:off x="4916314" y="2582724"/>
            <a:ext cx="762610" cy="257861"/>
          </a:xfrm>
          <a:prstGeom prst="rect">
            <a:avLst/>
          </a:prstGeom>
          <a:ln w="0">
            <a:noFill/>
          </a:ln>
          <a:noFill/>
        </p:spPr>
        <p:txBody>
          <a:bodyPr wrap="square" lIns="0" rIns="0" tIns="0" bIns="0">
            <a:noAutofit/>
          </a:bodyPr>
          <a:lstStyle/>
          <a:p>
            <a:pPr algn="l"/>
            <a:r>
              <a:rPr sz="1300" b="1">
                <a:solidFill>
                  <a:srgbClr val="1D1D1F"/>
                </a:solidFill>
                <a:latin typeface="Noto Sans JP"/>
              </a:rPr>
              <a:t>変換内容</a:t>
            </a:r>
          </a:p>
        </p:txBody>
      </p:sp>
      <p:sp>
        <p:nvSpPr>
          <p:cNvPr id="18" name="TextBox 17"/>
          <p:cNvSpPr txBox="1"/>
          <p:nvPr/>
        </p:nvSpPr>
        <p:spPr>
          <a:xfrm>
            <a:off x="5193377" y="2953970"/>
            <a:ext cx="2553005" cy="247801"/>
          </a:xfrm>
          <a:prstGeom prst="rect">
            <a:avLst/>
          </a:prstGeom>
          <a:ln w="0">
            <a:noFill/>
          </a:ln>
          <a:noFill/>
        </p:spPr>
        <p:txBody>
          <a:bodyPr wrap="square" lIns="0" rIns="0" tIns="0" bIns="0">
            <a:noAutofit/>
          </a:bodyPr>
          <a:lstStyle/>
          <a:p>
            <a:pPr algn="l"/>
            <a:r>
              <a:rPr sz="1100">
                <a:solidFill>
                  <a:srgbClr val="424245"/>
                </a:solidFill>
                <a:latin typeface="Cambria"/>
              </a:rPr>
              <a:t>要約、音声、動画、学習用整理資料などへ再加工する。</a:t>
            </a:r>
          </a:p>
        </p:txBody>
      </p:sp>
      <p:pic>
        <p:nvPicPr>
          <p:cNvPr id="19" name="Picture 18" descr="image.png"/>
          <p:cNvPicPr>
            <a:picLocks noChangeAspect="1"/>
          </p:cNvPicPr>
          <p:nvPr/>
        </p:nvPicPr>
        <p:blipFill>
          <a:blip r:embed="rId4"/>
          <a:stretch>
            <a:fillRect/>
          </a:stretch>
        </p:blipFill>
        <p:spPr>
          <a:xfrm>
            <a:off x="4631021" y="2963114"/>
            <a:ext cx="533094" cy="237744"/>
          </a:xfrm>
          <a:prstGeom prst="rect">
            <a:avLst/>
          </a:prstGeom>
          <a:ln w="0">
            <a:noFill/>
          </a:ln>
        </p:spPr>
      </p:pic>
      <p:sp>
        <p:nvSpPr>
          <p:cNvPr id="20" name="Rectangle 19"/>
          <p:cNvSpPr/>
          <p:nvPr/>
        </p:nvSpPr>
        <p:spPr>
          <a:xfrm>
            <a:off x="4631021" y="2963114"/>
            <a:ext cx="534010" cy="238657"/>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193377" y="3256636"/>
            <a:ext cx="2628900" cy="247801"/>
          </a:xfrm>
          <a:prstGeom prst="rect">
            <a:avLst/>
          </a:prstGeom>
          <a:ln w="0">
            <a:noFill/>
          </a:ln>
          <a:noFill/>
        </p:spPr>
        <p:txBody>
          <a:bodyPr wrap="square" lIns="0" rIns="0" tIns="0" bIns="0">
            <a:noAutofit/>
          </a:bodyPr>
          <a:lstStyle/>
          <a:p>
            <a:pPr algn="l"/>
          </a:p>
        </p:txBody>
      </p:sp>
      <p:pic>
        <p:nvPicPr>
          <p:cNvPr id="22" name="Picture 21" descr="image.png"/>
          <p:cNvPicPr>
            <a:picLocks noChangeAspect="1"/>
          </p:cNvPicPr>
          <p:nvPr/>
        </p:nvPicPr>
        <p:blipFill>
          <a:blip r:embed="rId4"/>
          <a:stretch>
            <a:fillRect/>
          </a:stretch>
        </p:blipFill>
        <p:spPr>
          <a:xfrm>
            <a:off x="4631021" y="3266695"/>
            <a:ext cx="533094" cy="237743"/>
          </a:xfrm>
          <a:prstGeom prst="rect">
            <a:avLst/>
          </a:prstGeom>
          <a:ln w="0">
            <a:noFill/>
          </a:ln>
        </p:spPr>
      </p:pic>
      <p:sp>
        <p:nvSpPr>
          <p:cNvPr id="23" name="Rectangle 22"/>
          <p:cNvSpPr/>
          <p:nvPr/>
        </p:nvSpPr>
        <p:spPr>
          <a:xfrm>
            <a:off x="4631021" y="3266695"/>
            <a:ext cx="534010" cy="238658"/>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4497519" y="3559303"/>
            <a:ext cx="3248863" cy="228600"/>
          </a:xfrm>
          <a:prstGeom prst="rect">
            <a:avLst/>
          </a:prstGeom>
          <a:ln w="0">
            <a:noFill/>
          </a:ln>
          <a:noFill/>
        </p:spPr>
        <p:txBody>
          <a:bodyPr wrap="square" lIns="0" rIns="0" tIns="0" bIns="0">
            <a:noAutofit/>
          </a:bodyPr>
          <a:lstStyle/>
          <a:p>
            <a:pPr algn="l"/>
          </a:p>
        </p:txBody>
      </p:sp>
      <p:sp>
        <p:nvSpPr>
          <p:cNvPr id="25" name="Rounded Rectangle 24"/>
          <p:cNvSpPr/>
          <p:nvPr/>
        </p:nvSpPr>
        <p:spPr>
          <a:xfrm>
            <a:off x="8056364"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5"/>
          <a:stretch>
            <a:fillRect/>
          </a:stretch>
        </p:blipFill>
        <p:spPr>
          <a:xfrm>
            <a:off x="8256617" y="2596440"/>
            <a:ext cx="304494" cy="228600"/>
          </a:xfrm>
          <a:prstGeom prst="rect">
            <a:avLst/>
          </a:prstGeom>
          <a:ln w="0">
            <a:noFill/>
          </a:ln>
        </p:spPr>
      </p:pic>
      <p:sp>
        <p:nvSpPr>
          <p:cNvPr id="27" name="TextBox 26"/>
          <p:cNvSpPr txBox="1"/>
          <p:nvPr/>
        </p:nvSpPr>
        <p:spPr>
          <a:xfrm>
            <a:off x="8675413" y="2582724"/>
            <a:ext cx="1296619" cy="257861"/>
          </a:xfrm>
          <a:prstGeom prst="rect">
            <a:avLst/>
          </a:prstGeom>
          <a:ln w="0">
            <a:noFill/>
          </a:ln>
          <a:noFill/>
        </p:spPr>
        <p:txBody>
          <a:bodyPr wrap="square" lIns="0" rIns="0" tIns="0" bIns="0">
            <a:noAutofit/>
          </a:bodyPr>
          <a:lstStyle/>
          <a:p>
            <a:pPr algn="l"/>
            <a:r>
              <a:rPr sz="1300" b="1">
                <a:solidFill>
                  <a:srgbClr val="1D1D1F"/>
                </a:solidFill>
                <a:latin typeface="Noto Sans JP"/>
              </a:rPr>
              <a:t>狙い</a:t>
            </a:r>
          </a:p>
        </p:txBody>
      </p:sp>
      <p:sp>
        <p:nvSpPr>
          <p:cNvPr id="28" name="TextBox 27"/>
          <p:cNvSpPr txBox="1"/>
          <p:nvPr/>
        </p:nvSpPr>
        <p:spPr>
          <a:xfrm>
            <a:off x="8256617" y="2953970"/>
            <a:ext cx="3248863" cy="228600"/>
          </a:xfrm>
          <a:prstGeom prst="rect">
            <a:avLst/>
          </a:prstGeom>
          <a:ln w="0">
            <a:noFill/>
          </a:ln>
          <a:noFill/>
        </p:spPr>
        <p:txBody>
          <a:bodyPr wrap="square" lIns="0" rIns="0" tIns="0" bIns="0">
            <a:noAutofit/>
          </a:bodyPr>
          <a:lstStyle/>
          <a:p>
            <a:pPr algn="l"/>
            <a:r>
              <a:rPr sz="1100" b="1">
                <a:solidFill>
                  <a:srgbClr val="424245"/>
                </a:solidFill>
                <a:latin typeface="Cambria"/>
              </a:rPr>
              <a:t>AI 活用を業務効率化だけでなく、インプット改善にも広げる。</a:t>
            </a:r>
          </a:p>
        </p:txBody>
      </p:sp>
      <p:sp>
        <p:nvSpPr>
          <p:cNvPr id="29" name="TextBox 28"/>
          <p:cNvSpPr txBox="1"/>
          <p:nvPr/>
        </p:nvSpPr>
        <p:spPr>
          <a:xfrm>
            <a:off x="8256617" y="3239263"/>
            <a:ext cx="3248863" cy="228599"/>
          </a:xfrm>
          <a:prstGeom prst="rect">
            <a:avLst/>
          </a:prstGeom>
          <a:ln w="0">
            <a:noFill/>
          </a:ln>
          <a:noFill/>
        </p:spPr>
        <p:txBody>
          <a:bodyPr wrap="square" lIns="0" rIns="0" tIns="0" bIns="0">
            <a:noAutofit/>
          </a:bodyPr>
          <a:lstStyle/>
          <a:p>
            <a:pPr algn="l"/>
          </a:p>
        </p:txBody>
      </p:sp>
      <p:sp>
        <p:nvSpPr>
          <p:cNvPr id="30" name="TextBox 29"/>
          <p:cNvSpPr txBox="1"/>
          <p:nvPr/>
        </p:nvSpPr>
        <p:spPr>
          <a:xfrm>
            <a:off x="8256617" y="3525470"/>
            <a:ext cx="3248863" cy="228600"/>
          </a:xfrm>
          <a:prstGeom prst="rect">
            <a:avLst/>
          </a:prstGeom>
          <a:ln w="0">
            <a:noFill/>
          </a:ln>
          <a:noFill/>
        </p:spPr>
        <p:txBody>
          <a:bodyPr wrap="square" lIns="0" rIns="0" tIns="0" bIns="0">
            <a:noAutofit/>
          </a:bodyPr>
          <a:lstStyle/>
          <a:p>
            <a:pPr algn="l"/>
          </a:p>
        </p:txBody>
      </p:sp>
      <p:sp>
        <p:nvSpPr>
          <p:cNvPr id="31" name="Rounded Rectangle 30"/>
          <p:cNvSpPr/>
          <p:nvPr/>
        </p:nvSpPr>
        <p:spPr>
          <a:xfrm>
            <a:off x="538167" y="4274364"/>
            <a:ext cx="7295997" cy="1647749"/>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6"/>
          <a:stretch>
            <a:fillRect/>
          </a:stretch>
        </p:blipFill>
        <p:spPr>
          <a:xfrm>
            <a:off x="738421" y="4488333"/>
            <a:ext cx="304495" cy="228600"/>
          </a:xfrm>
          <a:prstGeom prst="rect">
            <a:avLst/>
          </a:prstGeom>
          <a:ln w="0">
            <a:noFill/>
          </a:ln>
        </p:spPr>
      </p:pic>
      <p:sp>
        <p:nvSpPr>
          <p:cNvPr id="33" name="TextBox 32"/>
          <p:cNvSpPr txBox="1"/>
          <p:nvPr/>
        </p:nvSpPr>
        <p:spPr>
          <a:xfrm>
            <a:off x="1157216" y="4473703"/>
            <a:ext cx="3656686" cy="257860"/>
          </a:xfrm>
          <a:prstGeom prst="rect">
            <a:avLst/>
          </a:prstGeom>
          <a:ln w="0">
            <a:noFill/>
          </a:ln>
          <a:noFill/>
        </p:spPr>
        <p:txBody>
          <a:bodyPr wrap="square" lIns="0" rIns="0" tIns="0" bIns="0">
            <a:noAutofit/>
          </a:bodyPr>
          <a:lstStyle/>
          <a:p>
            <a:pPr algn="l"/>
          </a:p>
        </p:txBody>
      </p:sp>
      <p:sp>
        <p:nvSpPr>
          <p:cNvPr id="34" name="TextBox 33"/>
          <p:cNvSpPr txBox="1"/>
          <p:nvPr/>
        </p:nvSpPr>
        <p:spPr>
          <a:xfrm>
            <a:off x="738421" y="4855008"/>
            <a:ext cx="2595982" cy="200253"/>
          </a:xfrm>
          <a:prstGeom prst="rect">
            <a:avLst/>
          </a:prstGeom>
          <a:ln w="0">
            <a:noFill/>
          </a:ln>
          <a:noFill/>
        </p:spPr>
        <p:txBody>
          <a:bodyPr wrap="square" lIns="0" rIns="0" tIns="0" bIns="0">
            <a:noAutofit/>
          </a:bodyPr>
          <a:lstStyle/>
          <a:p>
            <a:pPr algn="l"/>
          </a:p>
        </p:txBody>
      </p:sp>
      <p:sp>
        <p:nvSpPr>
          <p:cNvPr id="35" name="TextBox 34"/>
          <p:cNvSpPr txBox="1"/>
          <p:nvPr/>
        </p:nvSpPr>
        <p:spPr>
          <a:xfrm>
            <a:off x="738421" y="5150359"/>
            <a:ext cx="3419855" cy="228600"/>
          </a:xfrm>
          <a:prstGeom prst="rect">
            <a:avLst/>
          </a:prstGeom>
          <a:ln w="0">
            <a:noFill/>
          </a:ln>
          <a:noFill/>
        </p:spPr>
        <p:txBody>
          <a:bodyPr wrap="square" lIns="0" rIns="0" tIns="0" bIns="0">
            <a:noAutofit/>
          </a:bodyPr>
          <a:lstStyle/>
          <a:p>
            <a:pPr algn="l"/>
          </a:p>
        </p:txBody>
      </p:sp>
      <p:sp>
        <p:nvSpPr>
          <p:cNvPr id="36" name="TextBox 35"/>
          <p:cNvSpPr txBox="1"/>
          <p:nvPr/>
        </p:nvSpPr>
        <p:spPr>
          <a:xfrm>
            <a:off x="738421" y="5435652"/>
            <a:ext cx="3419855" cy="228600"/>
          </a:xfrm>
          <a:prstGeom prst="rect">
            <a:avLst/>
          </a:prstGeom>
          <a:ln w="0">
            <a:noFill/>
          </a:ln>
          <a:noFill/>
        </p:spPr>
        <p:txBody>
          <a:bodyPr wrap="square" lIns="0" rIns="0" tIns="0" bIns="0">
            <a:noAutofit/>
          </a:bodyPr>
          <a:lstStyle/>
          <a:p>
            <a:pPr algn="l"/>
          </a:p>
        </p:txBody>
      </p:sp>
      <p:sp>
        <p:nvSpPr>
          <p:cNvPr id="37" name="Rectangle 36"/>
          <p:cNvSpPr/>
          <p:nvPr/>
        </p:nvSpPr>
        <p:spPr>
          <a:xfrm>
            <a:off x="4178393" y="4845864"/>
            <a:ext cx="9144" cy="875994"/>
          </a:xfrm>
          <a:prstGeom prst="rect">
            <a:avLst/>
          </a:prstGeom>
          <a:solidFill>
            <a:srgbClr val="E5E5E5">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331098" y="4855008"/>
            <a:ext cx="2296972" cy="200253"/>
          </a:xfrm>
          <a:prstGeom prst="rect">
            <a:avLst/>
          </a:prstGeom>
          <a:ln w="0">
            <a:noFill/>
          </a:ln>
          <a:noFill/>
        </p:spPr>
        <p:txBody>
          <a:bodyPr wrap="square" lIns="0" rIns="0" tIns="0" bIns="0">
            <a:noAutofit/>
          </a:bodyPr>
          <a:lstStyle/>
          <a:p>
            <a:pPr algn="l"/>
          </a:p>
        </p:txBody>
      </p:sp>
      <p:sp>
        <p:nvSpPr>
          <p:cNvPr id="39" name="TextBox 38"/>
          <p:cNvSpPr txBox="1"/>
          <p:nvPr/>
        </p:nvSpPr>
        <p:spPr>
          <a:xfrm>
            <a:off x="4331098" y="5150359"/>
            <a:ext cx="3419855" cy="228600"/>
          </a:xfrm>
          <a:prstGeom prst="rect">
            <a:avLst/>
          </a:prstGeom>
          <a:ln w="0">
            <a:noFill/>
          </a:ln>
          <a:noFill/>
        </p:spPr>
        <p:txBody>
          <a:bodyPr wrap="square" lIns="0" rIns="0" tIns="0" bIns="0">
            <a:noAutofit/>
          </a:bodyPr>
          <a:lstStyle/>
          <a:p>
            <a:pPr algn="l"/>
          </a:p>
        </p:txBody>
      </p:sp>
      <p:sp>
        <p:nvSpPr>
          <p:cNvPr id="40" name="TextBox 39"/>
          <p:cNvSpPr txBox="1"/>
          <p:nvPr/>
        </p:nvSpPr>
        <p:spPr>
          <a:xfrm>
            <a:off x="4331098" y="5435652"/>
            <a:ext cx="3419855" cy="228600"/>
          </a:xfrm>
          <a:prstGeom prst="rect">
            <a:avLst/>
          </a:prstGeom>
          <a:ln w="0">
            <a:noFill/>
          </a:ln>
          <a:noFill/>
        </p:spPr>
        <p:txBody>
          <a:bodyPr wrap="square" lIns="0" rIns="0" tIns="0" bIns="0">
            <a:noAutofit/>
          </a:bodyPr>
          <a:lstStyle/>
          <a:p>
            <a:pPr algn="l"/>
          </a:p>
        </p:txBody>
      </p:sp>
      <p:sp>
        <p:nvSpPr>
          <p:cNvPr id="41" name="Rounded Rectangle 40"/>
          <p:cNvSpPr/>
          <p:nvPr/>
        </p:nvSpPr>
        <p:spPr>
          <a:xfrm>
            <a:off x="8056364" y="4274364"/>
            <a:ext cx="3534155" cy="1647749"/>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42" name="Picture 41" descr="image.png"/>
          <p:cNvPicPr>
            <a:picLocks noChangeAspect="1"/>
          </p:cNvPicPr>
          <p:nvPr/>
        </p:nvPicPr>
        <p:blipFill>
          <a:blip r:embed="rId7"/>
          <a:stretch>
            <a:fillRect/>
          </a:stretch>
        </p:blipFill>
        <p:spPr>
          <a:xfrm>
            <a:off x="8256617" y="4488333"/>
            <a:ext cx="304494" cy="228600"/>
          </a:xfrm>
          <a:prstGeom prst="rect">
            <a:avLst/>
          </a:prstGeom>
          <a:ln w="0">
            <a:noFill/>
          </a:ln>
        </p:spPr>
      </p:pic>
      <p:sp>
        <p:nvSpPr>
          <p:cNvPr id="43" name="TextBox 42"/>
          <p:cNvSpPr txBox="1"/>
          <p:nvPr/>
        </p:nvSpPr>
        <p:spPr>
          <a:xfrm>
            <a:off x="8675413" y="4473703"/>
            <a:ext cx="1110996" cy="257860"/>
          </a:xfrm>
          <a:prstGeom prst="rect">
            <a:avLst/>
          </a:prstGeom>
          <a:ln w="0">
            <a:noFill/>
          </a:ln>
          <a:noFill/>
        </p:spPr>
        <p:txBody>
          <a:bodyPr wrap="square" lIns="0" rIns="0" tIns="0" bIns="0">
            <a:noAutofit/>
          </a:bodyPr>
          <a:lstStyle/>
          <a:p>
            <a:pPr algn="l"/>
          </a:p>
        </p:txBody>
      </p:sp>
      <p:sp>
        <p:nvSpPr>
          <p:cNvPr id="44" name="TextBox 43"/>
          <p:cNvSpPr txBox="1"/>
          <p:nvPr/>
        </p:nvSpPr>
        <p:spPr>
          <a:xfrm>
            <a:off x="8256617" y="4845864"/>
            <a:ext cx="3248863" cy="228600"/>
          </a:xfrm>
          <a:prstGeom prst="rect">
            <a:avLst/>
          </a:prstGeom>
          <a:ln w="0">
            <a:noFill/>
          </a:ln>
          <a:noFill/>
        </p:spPr>
        <p:txBody>
          <a:bodyPr wrap="square" lIns="0" rIns="0" tIns="0" bIns="0">
            <a:noAutofit/>
          </a:bodyPr>
          <a:lstStyle/>
          <a:p>
            <a:pPr algn="l"/>
          </a:p>
        </p:txBody>
      </p:sp>
      <p:sp>
        <p:nvSpPr>
          <p:cNvPr id="45" name="TextBox 44"/>
          <p:cNvSpPr txBox="1"/>
          <p:nvPr/>
        </p:nvSpPr>
        <p:spPr>
          <a:xfrm>
            <a:off x="8256617" y="5131157"/>
            <a:ext cx="3248863" cy="228600"/>
          </a:xfrm>
          <a:prstGeom prst="rect">
            <a:avLst/>
          </a:prstGeom>
          <a:ln w="0">
            <a:noFill/>
          </a:ln>
          <a:noFill/>
        </p:spPr>
        <p:txBody>
          <a:bodyPr wrap="square" lIns="0" rIns="0" tIns="0" bIns="0">
            <a:noAutofit/>
          </a:bodyPr>
          <a:lstStyle/>
          <a:p>
            <a:pPr algn="l"/>
          </a:p>
        </p:txBody>
      </p:sp>
      <p:sp>
        <p:nvSpPr>
          <p:cNvPr id="46" name="TextBox 45"/>
          <p:cNvSpPr txBox="1"/>
          <p:nvPr/>
        </p:nvSpPr>
        <p:spPr>
          <a:xfrm>
            <a:off x="8256617" y="5417364"/>
            <a:ext cx="3248863" cy="228600"/>
          </a:xfrm>
          <a:prstGeom prst="rect">
            <a:avLst/>
          </a:prstGeom>
          <a:ln w="0">
            <a:noFill/>
          </a:ln>
          <a:noFill/>
        </p:spPr>
        <p:txBody>
          <a:bodyPr wrap="square" lIns="0" rIns="0" tIns="0" bIns="0">
            <a:noAutofit/>
          </a:bodyPr>
          <a:lstStyle/>
          <a:p>
            <a:pPr algn="l"/>
          </a:p>
        </p:txBody>
      </p:sp>
      <p:pic>
        <p:nvPicPr>
          <p:cNvPr id="47" name="Picture 46" descr="image.png"/>
          <p:cNvPicPr>
            <a:picLocks noChangeAspect="1"/>
          </p:cNvPicPr>
          <p:nvPr/>
        </p:nvPicPr>
        <p:blipFill>
          <a:blip r:embed="rId8"/>
          <a:stretch>
            <a:fillRect/>
          </a:stretch>
        </p:blipFill>
        <p:spPr>
          <a:xfrm>
            <a:off x="4455871" y="6242541"/>
            <a:ext cx="133501" cy="133501"/>
          </a:xfrm>
          <a:prstGeom prst="rect">
            <a:avLst/>
          </a:prstGeom>
          <a:ln w="0">
            <a:noFill/>
          </a:ln>
        </p:spPr>
      </p:pic>
      <p:sp>
        <p:nvSpPr>
          <p:cNvPr id="48" name="TextBox 47"/>
          <p:cNvSpPr txBox="1"/>
          <p:nvPr/>
        </p:nvSpPr>
        <p:spPr>
          <a:xfrm>
            <a:off x="4656123" y="6202719"/>
            <a:ext cx="7535571" cy="213146"/>
          </a:xfrm>
          <a:prstGeom prst="rect">
            <a:avLst/>
          </a:prstGeom>
          <a:ln w="0">
            <a:noFill/>
          </a:ln>
          <a:noFill/>
        </p:spPr>
        <p:txBody>
          <a:bodyPr wrap="square" lIns="0" rIns="0" tIns="0" bIns="0">
            <a:noAutofit/>
          </a:bodyPr>
          <a:lstStyle/>
          <a:p/>
        </p:txBody>
      </p:sp>
      <p:sp>
        <p:nvSpPr>
          <p:cNvPr id="49" name="Rectangle 48"/>
          <p:cNvSpPr/>
          <p:nvPr/>
        </p:nvSpPr>
        <p:spPr>
          <a:xfrm>
            <a:off x="0" y="6471666"/>
            <a:ext cx="12192610" cy="381304"/>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900">
                <a:solidFill>
                  <a:srgbClr val="86868B"/>
                </a:solidFill>
                <a:latin typeface="Cambria"/>
              </a:rPr>
              <a:t>Page 8 | 一次情報の収集・安全化・構造化による生成AI活用の試作</a:t>
            </a:r>
          </a:p>
        </p:txBody>
      </p:sp>
      <p:pic>
        <p:nvPicPr>
          <p:cNvPr id="50" name="Picture 49" descr="image.png"/>
          <p:cNvPicPr>
            <a:picLocks noChangeAspect="1"/>
          </p:cNvPicPr>
          <p:nvPr/>
        </p:nvPicPr>
        <p:blipFill>
          <a:blip r:embed="rId9"/>
          <a:stretch>
            <a:fillRect/>
          </a:stretch>
        </p:blipFill>
        <p:spPr>
          <a:xfrm>
            <a:off x="475532" y="571500"/>
            <a:ext cx="304495" cy="304494"/>
          </a:xfrm>
          <a:prstGeom prst="rect">
            <a:avLst/>
          </a:prstGeom>
          <a:ln w="0">
            <a:noFill/>
          </a:ln>
        </p:spPr>
      </p:pic>
      <p:sp>
        <p:nvSpPr>
          <p:cNvPr id="51" name="Rectangle 50"/>
          <p:cNvSpPr/>
          <p:nvPr/>
        </p:nvSpPr>
        <p:spPr>
          <a:xfrm>
            <a:off x="0" y="0"/>
            <a:ext cx="12192001" cy="54865"/>
          </a:xfrm>
          <a:prstGeom prst="rect">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ectangle 51"/>
          <p:cNvSpPr/>
          <p:nvPr/>
        </p:nvSpPr>
        <p:spPr>
          <a:xfrm>
            <a:off x="305" y="1032380"/>
            <a:ext cx="12191695" cy="35999"/>
          </a:xfrm>
          <a:prstGeom prst="rect">
            <a:avLst/>
          </a:prstGeom>
          <a:solidFill>
            <a:srgbClr val="E5E5E5"/>
          </a:solidFill>
          <a:ln w="12700"/>
        </p:spPr>
        <p:style>
          <a:lnRef idx="0">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6476695"/>
            <a:ext cx="12192609" cy="381305"/>
          </a:xfrm>
          <a:prstGeom prst="rect">
            <a:avLst/>
          </a:prstGeom>
          <a:solidFill>
            <a:srgbClr val="F6F5F8"/>
          </a:solidFill>
          <a:ln w="15875">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4" name="Rectangle 3"/>
          <p:cNvSpPr/>
          <p:nvPr/>
        </p:nvSpPr>
        <p:spPr>
          <a:xfrm>
            <a:off x="0" y="6476695"/>
            <a:ext cx="12192610" cy="381305"/>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900">
                <a:solidFill>
                  <a:srgbClr val="86868B"/>
                </a:solidFill>
                <a:latin typeface="Cambria"/>
              </a:rPr>
              <a:t>Page 9 | 一次情報の収集・安全化・構造化による生成AI活用の試作</a:t>
            </a:r>
          </a:p>
        </p:txBody>
      </p:sp>
      <p:sp>
        <p:nvSpPr>
          <p:cNvPr id="5" name="Rounded Rectangle 4"/>
          <p:cNvSpPr/>
          <p:nvPr/>
        </p:nvSpPr>
        <p:spPr>
          <a:xfrm>
            <a:off x="481887" y="1312153"/>
            <a:ext cx="11221662" cy="790509"/>
          </a:xfrm>
          <a:prstGeom prst="roundRect">
            <a:avLst/>
          </a:prstGeom>
          <a:solidFill>
            <a:srgbClr val="F0F9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75532" y="571500"/>
            <a:ext cx="304495" cy="304494"/>
          </a:xfrm>
          <a:prstGeom prst="rect">
            <a:avLst/>
          </a:prstGeom>
          <a:ln w="0">
            <a:noFill/>
          </a:ln>
        </p:spPr>
      </p:pic>
      <p:sp>
        <p:nvSpPr>
          <p:cNvPr id="7" name="TextBox 6"/>
          <p:cNvSpPr txBox="1"/>
          <p:nvPr/>
        </p:nvSpPr>
        <p:spPr>
          <a:xfrm>
            <a:off x="914400" y="495605"/>
            <a:ext cx="4620463" cy="457200"/>
          </a:xfrm>
          <a:prstGeom prst="rect">
            <a:avLst/>
          </a:prstGeom>
          <a:ln w="0">
            <a:noFill/>
          </a:ln>
          <a:noFill/>
        </p:spPr>
        <p:txBody>
          <a:bodyPr wrap="square" lIns="0" rIns="0" tIns="0" bIns="0">
            <a:noAutofit/>
          </a:bodyPr>
          <a:lstStyle/>
          <a:p>
            <a:pPr algn="l"/>
            <a:r>
              <a:rPr sz="2400" b="1">
                <a:solidFill>
                  <a:srgbClr val="1D1D1F"/>
                </a:solidFill>
                <a:latin typeface="Noto Sans JP"/>
              </a:rPr>
              <a:t>3ユースケースに共通する考え方</a:t>
            </a:r>
          </a:p>
        </p:txBody>
      </p:sp>
      <p:sp>
        <p:nvSpPr>
          <p:cNvPr id="8" name="TextBox 7"/>
          <p:cNvSpPr txBox="1"/>
          <p:nvPr/>
        </p:nvSpPr>
        <p:spPr>
          <a:xfrm>
            <a:off x="475532" y="208939"/>
            <a:ext cx="2397557" cy="257860"/>
          </a:xfrm>
          <a:prstGeom prst="rect">
            <a:avLst/>
          </a:prstGeom>
          <a:ln w="0">
            <a:noFill/>
          </a:ln>
          <a:noFill/>
        </p:spPr>
        <p:txBody>
          <a:bodyPr wrap="square" lIns="0" rIns="0" tIns="0" bIns="0">
            <a:noAutofit/>
          </a:bodyPr>
          <a:lstStyle/>
          <a:p>
            <a:pPr algn="l"/>
            <a:r>
              <a:rPr sz="1000">
                <a:solidFill>
                  <a:srgbClr val="86868B"/>
                </a:solidFill>
                <a:latin typeface="Noto Sans JP"/>
              </a:rPr>
              <a:t>Shared Principle</a:t>
            </a:r>
          </a:p>
        </p:txBody>
      </p:sp>
      <p:sp>
        <p:nvSpPr>
          <p:cNvPr id="9" name="TextBox 8"/>
          <p:cNvSpPr txBox="1"/>
          <p:nvPr/>
        </p:nvSpPr>
        <p:spPr>
          <a:xfrm>
            <a:off x="914400" y="1426920"/>
            <a:ext cx="10849356" cy="648309"/>
          </a:xfrm>
          <a:prstGeom prst="rect">
            <a:avLst/>
          </a:prstGeom>
          <a:ln w="0">
            <a:noFill/>
          </a:ln>
          <a:noFill/>
        </p:spPr>
        <p:txBody>
          <a:bodyPr wrap="square" lIns="0" rIns="0" tIns="0" bIns="0">
            <a:noAutofit/>
          </a:bodyPr>
          <a:lstStyle/>
          <a:p>
            <a:pPr algn="l"/>
            <a:r>
              <a:rPr sz="1800" b="1">
                <a:solidFill>
                  <a:srgbClr val="1D1D1F"/>
                </a:solidFill>
                <a:latin typeface="Cambria"/>
              </a:rPr>
              <a:t>重要なのは、モデルの使い分けそのものより、一次情報をどう集め、どう安全化し、どう構造化するかである。</a:t>
            </a:r>
          </a:p>
        </p:txBody>
      </p:sp>
      <p:sp>
        <p:nvSpPr>
          <p:cNvPr id="10" name="Rounded Rectangle 9"/>
          <p:cNvSpPr/>
          <p:nvPr/>
        </p:nvSpPr>
        <p:spPr>
          <a:xfrm>
            <a:off x="538167" y="2381097"/>
            <a:ext cx="5486400" cy="3981297"/>
          </a:xfrm>
          <a:prstGeom prst="roundRect">
            <a:avLst/>
          </a:prstGeom>
          <a:solidFill>
            <a:srgbClr val="FFFFFF"/>
          </a:solidFill>
          <a:ln w="12700">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775911" y="3019348"/>
            <a:ext cx="5009997" cy="19201"/>
          </a:xfrm>
          <a:prstGeom prst="rect">
            <a:avLst/>
          </a:prstGeom>
          <a:solidFill>
            <a:srgbClr val="F5F5F7">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3"/>
          <a:stretch>
            <a:fillRect/>
          </a:stretch>
        </p:blipFill>
        <p:spPr>
          <a:xfrm>
            <a:off x="775911" y="2667304"/>
            <a:ext cx="219456" cy="190194"/>
          </a:xfrm>
          <a:prstGeom prst="rect">
            <a:avLst/>
          </a:prstGeom>
          <a:ln w="0">
            <a:noFill/>
          </a:ln>
        </p:spPr>
      </p:pic>
      <p:sp>
        <p:nvSpPr>
          <p:cNvPr id="13" name="TextBox 12"/>
          <p:cNvSpPr txBox="1"/>
          <p:nvPr/>
        </p:nvSpPr>
        <p:spPr>
          <a:xfrm>
            <a:off x="1109667" y="2619755"/>
            <a:ext cx="2171700" cy="419710"/>
          </a:xfrm>
          <a:prstGeom prst="rect">
            <a:avLst/>
          </a:prstGeom>
          <a:ln w="0">
            <a:noFill/>
          </a:ln>
          <a:noFill/>
        </p:spPr>
        <p:txBody>
          <a:bodyPr wrap="square" lIns="0" rIns="0" tIns="0" bIns="0">
            <a:noAutofit/>
          </a:bodyPr>
          <a:lstStyle/>
          <a:p>
            <a:pPr algn="l"/>
            <a:r>
              <a:rPr sz="1500" b="1">
                <a:solidFill>
                  <a:srgbClr val="1D1D1F"/>
                </a:solidFill>
                <a:latin typeface="Noto Sans JP"/>
              </a:rPr>
              <a:t>まず一次情報を集める。</a:t>
            </a:r>
          </a:p>
        </p:txBody>
      </p:sp>
      <p:pic>
        <p:nvPicPr>
          <p:cNvPr id="14" name="Picture 13" descr="image.png"/>
          <p:cNvPicPr>
            <a:picLocks noChangeAspect="1"/>
          </p:cNvPicPr>
          <p:nvPr/>
        </p:nvPicPr>
        <p:blipFill>
          <a:blip r:embed="rId4"/>
          <a:stretch>
            <a:fillRect/>
          </a:stretch>
        </p:blipFill>
        <p:spPr>
          <a:xfrm>
            <a:off x="775911" y="3191255"/>
            <a:ext cx="105156" cy="114300"/>
          </a:xfrm>
          <a:prstGeom prst="rect">
            <a:avLst/>
          </a:prstGeom>
          <a:ln w="0">
            <a:noFill/>
          </a:ln>
        </p:spPr>
      </p:pic>
      <p:sp>
        <p:nvSpPr>
          <p:cNvPr id="15" name="TextBox 14"/>
          <p:cNvSpPr txBox="1"/>
          <p:nvPr/>
        </p:nvSpPr>
        <p:spPr>
          <a:xfrm>
            <a:off x="976164" y="3434486"/>
            <a:ext cx="4886554" cy="495605"/>
          </a:xfrm>
          <a:prstGeom prst="rect">
            <a:avLst/>
          </a:prstGeom>
          <a:ln w="0">
            <a:noFill/>
          </a:ln>
          <a:noFill/>
        </p:spPr>
        <p:txBody>
          <a:bodyPr wrap="square" lIns="0" rIns="0" tIns="0" bIns="0">
            <a:noAutofit/>
          </a:bodyPr>
          <a:lstStyle/>
          <a:p>
            <a:pPr algn="l"/>
            <a:r>
              <a:rPr sz="1200">
                <a:solidFill>
                  <a:srgbClr val="424245"/>
                </a:solidFill>
                <a:latin typeface="Noto Sans JP"/>
              </a:rPr>
              <a:t>共通ステップ</a:t>
            </a:r>
          </a:p>
        </p:txBody>
      </p:sp>
      <p:pic>
        <p:nvPicPr>
          <p:cNvPr id="16" name="Picture 15" descr="image.png"/>
          <p:cNvPicPr>
            <a:picLocks noChangeAspect="1"/>
          </p:cNvPicPr>
          <p:nvPr/>
        </p:nvPicPr>
        <p:blipFill>
          <a:blip r:embed="rId4"/>
          <a:stretch>
            <a:fillRect/>
          </a:stretch>
        </p:blipFill>
        <p:spPr>
          <a:xfrm>
            <a:off x="775911" y="4037075"/>
            <a:ext cx="105156" cy="114300"/>
          </a:xfrm>
          <a:prstGeom prst="rect">
            <a:avLst/>
          </a:prstGeom>
          <a:ln w="0">
            <a:noFill/>
          </a:ln>
        </p:spPr>
      </p:pic>
      <p:sp>
        <p:nvSpPr>
          <p:cNvPr id="17" name="TextBox 16"/>
          <p:cNvSpPr txBox="1"/>
          <p:nvPr/>
        </p:nvSpPr>
        <p:spPr>
          <a:xfrm>
            <a:off x="976164" y="4280306"/>
            <a:ext cx="4886554" cy="495605"/>
          </a:xfrm>
          <a:prstGeom prst="rect">
            <a:avLst/>
          </a:prstGeom>
          <a:ln w="0">
            <a:noFill/>
          </a:ln>
          <a:noFill/>
        </p:spPr>
        <p:txBody>
          <a:bodyPr wrap="square" lIns="0" rIns="0" tIns="0" bIns="0">
            <a:noAutofit/>
          </a:bodyPr>
          <a:lstStyle/>
          <a:p>
            <a:pPr algn="l"/>
            <a:r>
              <a:rPr sz="1200">
                <a:solidFill>
                  <a:srgbClr val="424245"/>
                </a:solidFill>
                <a:latin typeface="Noto Sans JP"/>
              </a:rPr>
              <a:t>必要に応じてローカルで安全化する。</a:t>
            </a:r>
          </a:p>
        </p:txBody>
      </p:sp>
      <p:pic>
        <p:nvPicPr>
          <p:cNvPr id="18" name="Picture 17" descr="image.png"/>
          <p:cNvPicPr>
            <a:picLocks noChangeAspect="1"/>
          </p:cNvPicPr>
          <p:nvPr/>
        </p:nvPicPr>
        <p:blipFill>
          <a:blip r:embed="rId4"/>
          <a:stretch>
            <a:fillRect/>
          </a:stretch>
        </p:blipFill>
        <p:spPr>
          <a:xfrm>
            <a:off x="775911" y="4881981"/>
            <a:ext cx="105156" cy="114300"/>
          </a:xfrm>
          <a:prstGeom prst="rect">
            <a:avLst/>
          </a:prstGeom>
          <a:ln w="0">
            <a:noFill/>
          </a:ln>
        </p:spPr>
      </p:pic>
      <p:sp>
        <p:nvSpPr>
          <p:cNvPr id="19" name="TextBox 18"/>
          <p:cNvSpPr txBox="1"/>
          <p:nvPr/>
        </p:nvSpPr>
        <p:spPr>
          <a:xfrm>
            <a:off x="976164" y="5126126"/>
            <a:ext cx="4886554" cy="495605"/>
          </a:xfrm>
          <a:prstGeom prst="rect">
            <a:avLst/>
          </a:prstGeom>
          <a:ln w="0">
            <a:noFill/>
          </a:ln>
          <a:noFill/>
        </p:spPr>
        <p:txBody>
          <a:bodyPr wrap="square" lIns="0" rIns="0" tIns="0" bIns="0">
            <a:noAutofit/>
          </a:bodyPr>
          <a:lstStyle/>
          <a:p>
            <a:pPr algn="l"/>
            <a:r>
              <a:rPr sz="1200">
                <a:solidFill>
                  <a:srgbClr val="424245"/>
                </a:solidFill>
                <a:latin typeface="Cambria"/>
              </a:rPr>
              <a:t>目的別の出力へ変換する。</a:t>
            </a:r>
          </a:p>
        </p:txBody>
      </p:sp>
      <p:pic>
        <p:nvPicPr>
          <p:cNvPr id="20" name="Picture 19" descr="image.png"/>
          <p:cNvPicPr>
            <a:picLocks noChangeAspect="1"/>
          </p:cNvPicPr>
          <p:nvPr/>
        </p:nvPicPr>
        <p:blipFill>
          <a:blip r:embed="rId5"/>
          <a:stretch>
            <a:fillRect/>
          </a:stretch>
        </p:blipFill>
        <p:spPr>
          <a:xfrm>
            <a:off x="1052974" y="5408675"/>
            <a:ext cx="400506" cy="200253"/>
          </a:xfrm>
          <a:prstGeom prst="rect">
            <a:avLst/>
          </a:prstGeom>
          <a:ln w="0">
            <a:noFill/>
          </a:ln>
        </p:spPr>
      </p:pic>
      <p:sp>
        <p:nvSpPr>
          <p:cNvPr id="21" name="Rectangle 20"/>
          <p:cNvSpPr/>
          <p:nvPr/>
        </p:nvSpPr>
        <p:spPr>
          <a:xfrm>
            <a:off x="1052974" y="5408675"/>
            <a:ext cx="400506" cy="200253"/>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6"/>
          <a:stretch>
            <a:fillRect/>
          </a:stretch>
        </p:blipFill>
        <p:spPr>
          <a:xfrm>
            <a:off x="775911" y="5766206"/>
            <a:ext cx="857707" cy="276148"/>
          </a:xfrm>
          <a:prstGeom prst="rect">
            <a:avLst/>
          </a:prstGeom>
          <a:ln w="0">
            <a:noFill/>
          </a:ln>
        </p:spPr>
      </p:pic>
      <p:sp>
        <p:nvSpPr>
          <p:cNvPr id="23" name="Rectangle 22"/>
          <p:cNvSpPr/>
          <p:nvPr/>
        </p:nvSpPr>
        <p:spPr>
          <a:xfrm>
            <a:off x="775911" y="5766206"/>
            <a:ext cx="857707" cy="277063"/>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24" name="Picture 23" descr="image.png"/>
          <p:cNvPicPr>
            <a:picLocks noChangeAspect="1"/>
          </p:cNvPicPr>
          <p:nvPr/>
        </p:nvPicPr>
        <p:blipFill>
          <a:blip r:embed="rId7"/>
          <a:stretch>
            <a:fillRect/>
          </a:stretch>
        </p:blipFill>
        <p:spPr>
          <a:xfrm>
            <a:off x="1704027" y="5766206"/>
            <a:ext cx="1285646" cy="276148"/>
          </a:xfrm>
          <a:prstGeom prst="rect">
            <a:avLst/>
          </a:prstGeom>
          <a:ln w="0">
            <a:noFill/>
          </a:ln>
        </p:spPr>
      </p:pic>
      <p:sp>
        <p:nvSpPr>
          <p:cNvPr id="25" name="Rectangle 24"/>
          <p:cNvSpPr/>
          <p:nvPr/>
        </p:nvSpPr>
        <p:spPr>
          <a:xfrm>
            <a:off x="1704027" y="5766206"/>
            <a:ext cx="1286561" cy="277063"/>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8"/>
          <a:stretch>
            <a:fillRect/>
          </a:stretch>
        </p:blipFill>
        <p:spPr>
          <a:xfrm>
            <a:off x="3058253" y="5766206"/>
            <a:ext cx="1028700" cy="276148"/>
          </a:xfrm>
          <a:prstGeom prst="rect">
            <a:avLst/>
          </a:prstGeom>
          <a:ln w="0">
            <a:noFill/>
          </a:ln>
        </p:spPr>
      </p:pic>
      <p:sp>
        <p:nvSpPr>
          <p:cNvPr id="27" name="Rectangle 26"/>
          <p:cNvSpPr/>
          <p:nvPr/>
        </p:nvSpPr>
        <p:spPr>
          <a:xfrm>
            <a:off x="3058253" y="5766206"/>
            <a:ext cx="1028700" cy="277063"/>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ounded Rectangle 27"/>
          <p:cNvSpPr/>
          <p:nvPr/>
        </p:nvSpPr>
        <p:spPr>
          <a:xfrm>
            <a:off x="6329062" y="2381097"/>
            <a:ext cx="5486400" cy="3981297"/>
          </a:xfrm>
          <a:prstGeom prst="roundRect">
            <a:avLst/>
          </a:prstGeom>
          <a:solidFill>
            <a:srgbClr val="FFFFFF"/>
          </a:solidFill>
          <a:ln w="12700">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6567721" y="3019348"/>
            <a:ext cx="5009998" cy="19201"/>
          </a:xfrm>
          <a:prstGeom prst="rect">
            <a:avLst/>
          </a:prstGeom>
          <a:solidFill>
            <a:srgbClr val="F5F5F7">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9"/>
          <a:stretch>
            <a:fillRect/>
          </a:stretch>
        </p:blipFill>
        <p:spPr>
          <a:xfrm>
            <a:off x="6567721" y="2667304"/>
            <a:ext cx="190194" cy="190194"/>
          </a:xfrm>
          <a:prstGeom prst="rect">
            <a:avLst/>
          </a:prstGeom>
          <a:ln w="0">
            <a:noFill/>
          </a:ln>
        </p:spPr>
      </p:pic>
      <p:sp>
        <p:nvSpPr>
          <p:cNvPr id="31" name="TextBox 30"/>
          <p:cNvSpPr txBox="1"/>
          <p:nvPr/>
        </p:nvSpPr>
        <p:spPr>
          <a:xfrm>
            <a:off x="6872216" y="2619755"/>
            <a:ext cx="3324758" cy="419710"/>
          </a:xfrm>
          <a:prstGeom prst="rect">
            <a:avLst/>
          </a:prstGeom>
          <a:ln w="0">
            <a:noFill/>
          </a:ln>
          <a:noFill/>
        </p:spPr>
        <p:txBody>
          <a:bodyPr wrap="square" lIns="0" rIns="0" tIns="0" bIns="0">
            <a:noAutofit/>
          </a:bodyPr>
          <a:lstStyle/>
          <a:p>
            <a:pPr algn="l"/>
            <a:r>
              <a:rPr sz="1500" b="1">
                <a:solidFill>
                  <a:srgbClr val="1D1D1F"/>
                </a:solidFill>
                <a:latin typeface="Noto Sans JP"/>
              </a:rPr>
              <a:t>ユースケース1では外部AI活用の前提としてマスキングが必要。</a:t>
            </a:r>
          </a:p>
        </p:txBody>
      </p:sp>
      <p:pic>
        <p:nvPicPr>
          <p:cNvPr id="32" name="Picture 31" descr="image.png"/>
          <p:cNvPicPr>
            <a:picLocks noChangeAspect="1"/>
          </p:cNvPicPr>
          <p:nvPr/>
        </p:nvPicPr>
        <p:blipFill>
          <a:blip r:embed="rId10"/>
          <a:stretch>
            <a:fillRect/>
          </a:stretch>
        </p:blipFill>
        <p:spPr>
          <a:xfrm>
            <a:off x="6567721" y="3191255"/>
            <a:ext cx="114300" cy="114300"/>
          </a:xfrm>
          <a:prstGeom prst="rect">
            <a:avLst/>
          </a:prstGeom>
          <a:ln w="0">
            <a:noFill/>
          </a:ln>
        </p:spPr>
      </p:pic>
      <p:sp>
        <p:nvSpPr>
          <p:cNvPr id="33" name="TextBox 32"/>
          <p:cNvSpPr txBox="1"/>
          <p:nvPr/>
        </p:nvSpPr>
        <p:spPr>
          <a:xfrm>
            <a:off x="6777118" y="3434486"/>
            <a:ext cx="4877410" cy="495605"/>
          </a:xfrm>
          <a:prstGeom prst="rect">
            <a:avLst/>
          </a:prstGeom>
          <a:ln w="0">
            <a:noFill/>
          </a:ln>
          <a:noFill/>
        </p:spPr>
        <p:txBody>
          <a:bodyPr wrap="square" lIns="0" rIns="0" tIns="0" bIns="0">
            <a:noAutofit/>
          </a:bodyPr>
          <a:lstStyle/>
          <a:p>
            <a:pPr algn="l"/>
            <a:r>
              <a:rPr sz="1200">
                <a:solidFill>
                  <a:srgbClr val="424245"/>
                </a:solidFill>
                <a:latin typeface="Cambria"/>
              </a:rPr>
              <a:t>設計上の意味</a:t>
            </a:r>
          </a:p>
        </p:txBody>
      </p:sp>
      <p:pic>
        <p:nvPicPr>
          <p:cNvPr id="34" name="Picture 33" descr="image.png"/>
          <p:cNvPicPr>
            <a:picLocks noChangeAspect="1"/>
          </p:cNvPicPr>
          <p:nvPr/>
        </p:nvPicPr>
        <p:blipFill>
          <a:blip r:embed="rId11"/>
          <a:stretch>
            <a:fillRect/>
          </a:stretch>
        </p:blipFill>
        <p:spPr>
          <a:xfrm>
            <a:off x="10510613" y="3717035"/>
            <a:ext cx="256945" cy="200253"/>
          </a:xfrm>
          <a:prstGeom prst="rect">
            <a:avLst/>
          </a:prstGeom>
          <a:ln w="0">
            <a:noFill/>
          </a:ln>
        </p:spPr>
      </p:pic>
      <p:sp>
        <p:nvSpPr>
          <p:cNvPr id="35" name="Rectangle 34"/>
          <p:cNvSpPr/>
          <p:nvPr/>
        </p:nvSpPr>
        <p:spPr>
          <a:xfrm>
            <a:off x="10510613" y="3717035"/>
            <a:ext cx="257860" cy="200253"/>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36" name="Picture 35" descr="image.png"/>
          <p:cNvPicPr>
            <a:picLocks noChangeAspect="1"/>
          </p:cNvPicPr>
          <p:nvPr/>
        </p:nvPicPr>
        <p:blipFill>
          <a:blip r:embed="rId12"/>
          <a:stretch>
            <a:fillRect/>
          </a:stretch>
        </p:blipFill>
        <p:spPr>
          <a:xfrm>
            <a:off x="6567721" y="4037075"/>
            <a:ext cx="133502" cy="114300"/>
          </a:xfrm>
          <a:prstGeom prst="rect">
            <a:avLst/>
          </a:prstGeom>
          <a:ln w="0">
            <a:noFill/>
          </a:ln>
        </p:spPr>
      </p:pic>
      <p:sp>
        <p:nvSpPr>
          <p:cNvPr id="37" name="TextBox 36"/>
          <p:cNvSpPr txBox="1"/>
          <p:nvPr/>
        </p:nvSpPr>
        <p:spPr>
          <a:xfrm>
            <a:off x="6796321" y="4280306"/>
            <a:ext cx="3781958" cy="247801"/>
          </a:xfrm>
          <a:prstGeom prst="rect">
            <a:avLst/>
          </a:prstGeom>
          <a:ln w="0">
            <a:noFill/>
          </a:ln>
          <a:noFill/>
        </p:spPr>
        <p:txBody>
          <a:bodyPr wrap="square" lIns="0" rIns="0" tIns="0" bIns="0">
            <a:noAutofit/>
          </a:bodyPr>
          <a:lstStyle/>
          <a:p>
            <a:pPr algn="l"/>
            <a:r>
              <a:rPr sz="1200">
                <a:solidFill>
                  <a:srgbClr val="424245"/>
                </a:solidFill>
                <a:latin typeface="Noto Sans JP"/>
              </a:rPr>
              <a:t>ユースケース2ではローカル完結を前提に成果物化へ寄せる。</a:t>
            </a:r>
          </a:p>
        </p:txBody>
      </p:sp>
      <p:sp>
        <p:nvSpPr>
          <p:cNvPr id="38" name="TextBox 37"/>
          <p:cNvSpPr txBox="1"/>
          <p:nvPr/>
        </p:nvSpPr>
        <p:spPr>
          <a:xfrm>
            <a:off x="7024921" y="4561941"/>
            <a:ext cx="3477463" cy="219456"/>
          </a:xfrm>
          <a:prstGeom prst="rect">
            <a:avLst/>
          </a:prstGeom>
          <a:ln w="0">
            <a:noFill/>
          </a:ln>
          <a:noFill/>
        </p:spPr>
        <p:txBody>
          <a:bodyPr wrap="square" lIns="0" rIns="0" tIns="0" bIns="0">
            <a:noAutofit/>
          </a:bodyPr>
          <a:lstStyle/>
          <a:p>
            <a:pPr algn="l"/>
            <a:r>
              <a:rPr sz="1000" b="1">
                <a:solidFill>
                  <a:srgbClr val="4B5563"/>
                </a:solidFill>
                <a:latin typeface="Cambria"/>
              </a:rPr>
              <a:t>ユースケース3では扱ってよい情報に限定して学習支援へ広げる。</a:t>
            </a:r>
          </a:p>
        </p:txBody>
      </p:sp>
      <p:pic>
        <p:nvPicPr>
          <p:cNvPr id="39" name="Picture 38" descr="image.png"/>
          <p:cNvPicPr>
            <a:picLocks noChangeAspect="1"/>
          </p:cNvPicPr>
          <p:nvPr/>
        </p:nvPicPr>
        <p:blipFill>
          <a:blip r:embed="rId11"/>
          <a:stretch>
            <a:fillRect/>
          </a:stretch>
        </p:blipFill>
        <p:spPr>
          <a:xfrm>
            <a:off x="10129309" y="4573828"/>
            <a:ext cx="256945" cy="200253"/>
          </a:xfrm>
          <a:prstGeom prst="rect">
            <a:avLst/>
          </a:prstGeom>
          <a:ln w="0">
            <a:noFill/>
          </a:ln>
        </p:spPr>
      </p:pic>
      <p:sp>
        <p:nvSpPr>
          <p:cNvPr id="40" name="Rectangle 39"/>
          <p:cNvSpPr/>
          <p:nvPr/>
        </p:nvSpPr>
        <p:spPr>
          <a:xfrm>
            <a:off x="10129309" y="4573828"/>
            <a:ext cx="257860" cy="200253"/>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024921" y="4774082"/>
            <a:ext cx="3477463" cy="219455"/>
          </a:xfrm>
          <a:prstGeom prst="rect">
            <a:avLst/>
          </a:prstGeom>
          <a:ln w="0">
            <a:noFill/>
          </a:ln>
          <a:noFill/>
        </p:spPr>
        <p:txBody>
          <a:bodyPr wrap="square" lIns="0" rIns="0" tIns="0" bIns="0">
            <a:noAutofit/>
          </a:bodyPr>
          <a:lstStyle/>
          <a:p>
            <a:pPr algn="l"/>
          </a:p>
        </p:txBody>
      </p:sp>
      <p:pic>
        <p:nvPicPr>
          <p:cNvPr id="42" name="Picture 41" descr="image.png"/>
          <p:cNvPicPr>
            <a:picLocks noChangeAspect="1"/>
          </p:cNvPicPr>
          <p:nvPr/>
        </p:nvPicPr>
        <p:blipFill>
          <a:blip r:embed="rId11"/>
          <a:stretch>
            <a:fillRect/>
          </a:stretch>
        </p:blipFill>
        <p:spPr>
          <a:xfrm>
            <a:off x="9850417" y="4785055"/>
            <a:ext cx="256945" cy="200253"/>
          </a:xfrm>
          <a:prstGeom prst="rect">
            <a:avLst/>
          </a:prstGeom>
          <a:ln w="0">
            <a:noFill/>
          </a:ln>
        </p:spPr>
      </p:pic>
      <p:sp>
        <p:nvSpPr>
          <p:cNvPr id="43" name="Rectangle 42"/>
          <p:cNvSpPr/>
          <p:nvPr/>
        </p:nvSpPr>
        <p:spPr>
          <a:xfrm>
            <a:off x="9850417" y="4785055"/>
            <a:ext cx="257860" cy="200253"/>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7024921" y="4985308"/>
            <a:ext cx="3477463" cy="219456"/>
          </a:xfrm>
          <a:prstGeom prst="rect">
            <a:avLst/>
          </a:prstGeom>
          <a:ln w="0">
            <a:noFill/>
          </a:ln>
          <a:noFill/>
        </p:spPr>
        <p:txBody>
          <a:bodyPr wrap="square" lIns="0" rIns="0" tIns="0" bIns="0">
            <a:noAutofit/>
          </a:bodyPr>
          <a:lstStyle/>
          <a:p>
            <a:pPr algn="l"/>
          </a:p>
        </p:txBody>
      </p:sp>
      <p:pic>
        <p:nvPicPr>
          <p:cNvPr id="45" name="Picture 44" descr="image.png"/>
          <p:cNvPicPr>
            <a:picLocks noChangeAspect="1"/>
          </p:cNvPicPr>
          <p:nvPr/>
        </p:nvPicPr>
        <p:blipFill>
          <a:blip r:embed="rId11"/>
          <a:stretch>
            <a:fillRect/>
          </a:stretch>
        </p:blipFill>
        <p:spPr>
          <a:xfrm>
            <a:off x="10006779" y="4996281"/>
            <a:ext cx="256945" cy="200253"/>
          </a:xfrm>
          <a:prstGeom prst="rect">
            <a:avLst/>
          </a:prstGeom>
          <a:ln w="0">
            <a:noFill/>
          </a:ln>
        </p:spPr>
      </p:pic>
      <p:sp>
        <p:nvSpPr>
          <p:cNvPr id="46" name="Rectangle 45"/>
          <p:cNvSpPr/>
          <p:nvPr/>
        </p:nvSpPr>
        <p:spPr>
          <a:xfrm>
            <a:off x="10006779" y="4996281"/>
            <a:ext cx="257860" cy="200253"/>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47" name="Rectangle 46"/>
          <p:cNvSpPr/>
          <p:nvPr/>
        </p:nvSpPr>
        <p:spPr>
          <a:xfrm>
            <a:off x="488450" y="1311250"/>
            <a:ext cx="49716" cy="791160"/>
          </a:xfrm>
          <a:prstGeom prst="rect">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48" name="Rectangle 47"/>
          <p:cNvSpPr/>
          <p:nvPr/>
        </p:nvSpPr>
        <p:spPr>
          <a:xfrm>
            <a:off x="0" y="0"/>
            <a:ext cx="12192001" cy="54865"/>
          </a:xfrm>
          <a:prstGeom prst="rect">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49" name="Rectangle 48"/>
          <p:cNvSpPr/>
          <p:nvPr/>
        </p:nvSpPr>
        <p:spPr>
          <a:xfrm>
            <a:off x="305" y="1032380"/>
            <a:ext cx="12191695" cy="35999"/>
          </a:xfrm>
          <a:prstGeom prst="rect">
            <a:avLst/>
          </a:prstGeom>
          <a:solidFill>
            <a:srgbClr val="E5E5E5"/>
          </a:solidFill>
          <a:ln w="12700"/>
        </p:spPr>
        <p:style>
          <a:lnRef idx="0">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6476695"/>
            <a:ext cx="12191695" cy="381305"/>
          </a:xfrm>
          <a:prstGeom prst="rect">
            <a:avLst/>
          </a:prstGeom>
          <a:ln w="0">
            <a:noFill/>
          </a:ln>
        </p:spPr>
      </p:pic>
      <p:sp>
        <p:nvSpPr>
          <p:cNvPr id="4" name="Rectangle 3"/>
          <p:cNvSpPr/>
          <p:nvPr/>
        </p:nvSpPr>
        <p:spPr>
          <a:xfrm>
            <a:off x="0" y="752551"/>
            <a:ext cx="12191695" cy="9143"/>
          </a:xfrm>
          <a:prstGeom prst="rect">
            <a:avLst/>
          </a:prstGeom>
          <a:solidFill>
            <a:srgbClr val="E5E5E5"/>
          </a:solidFill>
          <a:ln w="12700">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0" y="6476695"/>
            <a:ext cx="12192610" cy="381305"/>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900">
                <a:solidFill>
                  <a:srgbClr val="86868B"/>
                </a:solidFill>
                <a:latin typeface="Cambria"/>
              </a:rPr>
              <a:t>Page 10 | 一次情報の収集・安全化・構造化による生成AI活用の試作</a:t>
            </a:r>
          </a:p>
        </p:txBody>
      </p:sp>
      <p:sp>
        <p:nvSpPr>
          <p:cNvPr id="6" name="Oval 5"/>
          <p:cNvSpPr/>
          <p:nvPr/>
        </p:nvSpPr>
        <p:spPr>
          <a:xfrm>
            <a:off x="1398118" y="2029054"/>
            <a:ext cx="456286" cy="457200"/>
          </a:xfrm>
          <a:prstGeom prst="ellipse">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p:cNvSpPr/>
          <p:nvPr/>
        </p:nvSpPr>
        <p:spPr>
          <a:xfrm>
            <a:off x="3632910" y="2029054"/>
            <a:ext cx="456286" cy="457200"/>
          </a:xfrm>
          <a:prstGeom prst="ellipse">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p:cNvSpPr/>
          <p:nvPr/>
        </p:nvSpPr>
        <p:spPr>
          <a:xfrm>
            <a:off x="5867705" y="2029054"/>
            <a:ext cx="456286" cy="457200"/>
          </a:xfrm>
          <a:prstGeom prst="ellipse">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9" name="Oval 8"/>
          <p:cNvSpPr/>
          <p:nvPr/>
        </p:nvSpPr>
        <p:spPr>
          <a:xfrm>
            <a:off x="8101583" y="2029054"/>
            <a:ext cx="456286" cy="457200"/>
          </a:xfrm>
          <a:prstGeom prst="ellipse">
            <a:avLst/>
          </a:prstGeom>
          <a:solidFill>
            <a:srgbClr val="33C759"/>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0" name="Oval 9"/>
          <p:cNvSpPr/>
          <p:nvPr/>
        </p:nvSpPr>
        <p:spPr>
          <a:xfrm>
            <a:off x="10336378" y="2029054"/>
            <a:ext cx="456286" cy="457200"/>
          </a:xfrm>
          <a:prstGeom prst="ellipse">
            <a:avLst/>
          </a:prstGeom>
          <a:solidFill>
            <a:srgbClr val="FF9502"/>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1398118" y="2029054"/>
            <a:ext cx="457200" cy="457200"/>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500" b="1">
                <a:solidFill>
                  <a:srgbClr val="FFFFFF"/>
                </a:solidFill>
                <a:latin typeface="Noto Sans JP"/>
              </a:rPr>
              <a:t>1</a:t>
            </a:r>
          </a:p>
        </p:txBody>
      </p:sp>
      <p:sp>
        <p:nvSpPr>
          <p:cNvPr id="12" name="Rectangle 11"/>
          <p:cNvSpPr/>
          <p:nvPr/>
        </p:nvSpPr>
        <p:spPr>
          <a:xfrm>
            <a:off x="3632910" y="2029054"/>
            <a:ext cx="457200" cy="457200"/>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500" b="1">
                <a:solidFill>
                  <a:srgbClr val="FFFFFF"/>
                </a:solidFill>
                <a:latin typeface="Noto Sans JP"/>
              </a:rPr>
              <a:t>2</a:t>
            </a:r>
          </a:p>
        </p:txBody>
      </p:sp>
      <p:sp>
        <p:nvSpPr>
          <p:cNvPr id="13" name="Rectangle 12"/>
          <p:cNvSpPr/>
          <p:nvPr/>
        </p:nvSpPr>
        <p:spPr>
          <a:xfrm>
            <a:off x="5867705" y="2029054"/>
            <a:ext cx="457200" cy="457200"/>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500" b="1">
                <a:solidFill>
                  <a:srgbClr val="FFFFFF"/>
                </a:solidFill>
                <a:latin typeface="Noto Sans JP"/>
              </a:rPr>
              <a:t>3</a:t>
            </a:r>
          </a:p>
        </p:txBody>
      </p:sp>
      <p:sp>
        <p:nvSpPr>
          <p:cNvPr id="14" name="Rectangle 13"/>
          <p:cNvSpPr/>
          <p:nvPr/>
        </p:nvSpPr>
        <p:spPr>
          <a:xfrm>
            <a:off x="8101583" y="2029054"/>
            <a:ext cx="457200" cy="457200"/>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500" b="1">
                <a:solidFill>
                  <a:srgbClr val="FFFFFF"/>
                </a:solidFill>
                <a:latin typeface="Noto Sans JP"/>
              </a:rPr>
              <a:t>4</a:t>
            </a:r>
          </a:p>
        </p:txBody>
      </p:sp>
      <p:sp>
        <p:nvSpPr>
          <p:cNvPr id="15" name="Rectangle 14"/>
          <p:cNvSpPr/>
          <p:nvPr/>
        </p:nvSpPr>
        <p:spPr>
          <a:xfrm>
            <a:off x="10336378" y="2029054"/>
            <a:ext cx="457200" cy="457200"/>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500" b="1">
                <a:solidFill>
                  <a:srgbClr val="FFFFFF"/>
                </a:solidFill>
                <a:latin typeface="Noto Sans JP"/>
              </a:rPr>
              <a:t>5</a:t>
            </a:r>
          </a:p>
        </p:txBody>
      </p:sp>
      <p:sp>
        <p:nvSpPr>
          <p:cNvPr id="16" name="Rounded Rectangle 15"/>
          <p:cNvSpPr/>
          <p:nvPr/>
        </p:nvSpPr>
        <p:spPr>
          <a:xfrm>
            <a:off x="457200" y="1828800"/>
            <a:ext cx="11277295" cy="1752905"/>
          </a:xfrm>
          <a:prstGeom prst="roundRect">
            <a:avLst/>
          </a:prstGeom>
          <a:noFill/>
          <a:ln w="12700">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p>
        </p:txBody>
      </p:sp>
      <p:sp>
        <p:nvSpPr>
          <p:cNvPr id="17" name="Rounded Rectangle 16"/>
          <p:cNvSpPr/>
          <p:nvPr/>
        </p:nvSpPr>
        <p:spPr>
          <a:xfrm>
            <a:off x="457200" y="3882541"/>
            <a:ext cx="3638398" cy="1864385"/>
          </a:xfrm>
          <a:prstGeom prst="roundRect">
            <a:avLst/>
          </a:prstGeom>
          <a:solidFill>
            <a:srgbClr val="FFFFFF"/>
          </a:solidFill>
          <a:ln w="12700">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ounded Rectangle 17"/>
          <p:cNvSpPr/>
          <p:nvPr/>
        </p:nvSpPr>
        <p:spPr>
          <a:xfrm>
            <a:off x="4280306" y="3882541"/>
            <a:ext cx="3638398" cy="1864385"/>
          </a:xfrm>
          <a:prstGeom prst="roundRect">
            <a:avLst/>
          </a:prstGeom>
          <a:solidFill>
            <a:srgbClr val="FFFFFF"/>
          </a:solidFill>
          <a:ln w="12700">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ounded Rectangle 18"/>
          <p:cNvSpPr/>
          <p:nvPr/>
        </p:nvSpPr>
        <p:spPr>
          <a:xfrm>
            <a:off x="8102497" y="3882541"/>
            <a:ext cx="3638398" cy="1864385"/>
          </a:xfrm>
          <a:prstGeom prst="roundRect">
            <a:avLst/>
          </a:prstGeom>
          <a:solidFill>
            <a:srgbClr val="FFFFFF"/>
          </a:solidFill>
          <a:ln w="12700">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ounded Rectangle 19"/>
          <p:cNvSpPr/>
          <p:nvPr/>
        </p:nvSpPr>
        <p:spPr>
          <a:xfrm>
            <a:off x="657454" y="4095191"/>
            <a:ext cx="304495" cy="304494"/>
          </a:xfrm>
          <a:prstGeom prst="roundRect">
            <a:avLst/>
          </a:prstGeom>
          <a:solidFill>
            <a:srgbClr val="007A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21" name="Picture 20" descr="image.png"/>
          <p:cNvPicPr>
            <a:picLocks noChangeAspect="1"/>
          </p:cNvPicPr>
          <p:nvPr/>
        </p:nvPicPr>
        <p:blipFill>
          <a:blip r:embed="rId3"/>
          <a:stretch>
            <a:fillRect/>
          </a:stretch>
        </p:blipFill>
        <p:spPr>
          <a:xfrm>
            <a:off x="743407" y="4181145"/>
            <a:ext cx="133501" cy="133501"/>
          </a:xfrm>
          <a:prstGeom prst="rect">
            <a:avLst/>
          </a:prstGeom>
          <a:ln w="0">
            <a:noFill/>
          </a:ln>
        </p:spPr>
      </p:pic>
      <p:sp>
        <p:nvSpPr>
          <p:cNvPr id="22" name="TextBox 21"/>
          <p:cNvSpPr txBox="1"/>
          <p:nvPr/>
        </p:nvSpPr>
        <p:spPr>
          <a:xfrm>
            <a:off x="1057046" y="4133596"/>
            <a:ext cx="1163117" cy="228600"/>
          </a:xfrm>
          <a:prstGeom prst="rect">
            <a:avLst/>
          </a:prstGeom>
          <a:ln w="0">
            <a:noFill/>
          </a:ln>
          <a:noFill/>
        </p:spPr>
        <p:txBody>
          <a:bodyPr wrap="square" lIns="0" rIns="0" tIns="0" bIns="0">
            <a:noAutofit/>
          </a:bodyPr>
          <a:lstStyle/>
          <a:p>
            <a:pPr algn="l"/>
            <a:r>
              <a:rPr sz="1200" b="1">
                <a:solidFill>
                  <a:srgbClr val="1D1D1F"/>
                </a:solidFill>
                <a:latin typeface="Noto Sans JP"/>
              </a:rPr>
              <a:t>入力</a:t>
            </a:r>
          </a:p>
        </p:txBody>
      </p:sp>
      <p:sp>
        <p:nvSpPr>
          <p:cNvPr id="23" name="Rounded Rectangle 22"/>
          <p:cNvSpPr/>
          <p:nvPr/>
        </p:nvSpPr>
        <p:spPr>
          <a:xfrm>
            <a:off x="4479646" y="4095191"/>
            <a:ext cx="304494" cy="304494"/>
          </a:xfrm>
          <a:prstGeom prst="roundRect">
            <a:avLst/>
          </a:prstGeom>
          <a:solidFill>
            <a:srgbClr val="34C759">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24" name="Picture 23" descr="image.png"/>
          <p:cNvPicPr>
            <a:picLocks noChangeAspect="1"/>
          </p:cNvPicPr>
          <p:nvPr/>
        </p:nvPicPr>
        <p:blipFill>
          <a:blip r:embed="rId4"/>
          <a:stretch>
            <a:fillRect/>
          </a:stretch>
        </p:blipFill>
        <p:spPr>
          <a:xfrm>
            <a:off x="4556455" y="4181145"/>
            <a:ext cx="152705" cy="133501"/>
          </a:xfrm>
          <a:prstGeom prst="rect">
            <a:avLst/>
          </a:prstGeom>
          <a:ln w="0">
            <a:noFill/>
          </a:ln>
        </p:spPr>
      </p:pic>
      <p:sp>
        <p:nvSpPr>
          <p:cNvPr id="25" name="TextBox 24"/>
          <p:cNvSpPr txBox="1"/>
          <p:nvPr/>
        </p:nvSpPr>
        <p:spPr>
          <a:xfrm>
            <a:off x="4880153" y="4133596"/>
            <a:ext cx="1975103" cy="228600"/>
          </a:xfrm>
          <a:prstGeom prst="rect">
            <a:avLst/>
          </a:prstGeom>
          <a:ln w="0">
            <a:noFill/>
          </a:ln>
          <a:noFill/>
        </p:spPr>
        <p:txBody>
          <a:bodyPr wrap="square" lIns="0" rIns="0" tIns="0" bIns="0">
            <a:noAutofit/>
          </a:bodyPr>
          <a:lstStyle/>
          <a:p>
            <a:pPr algn="l"/>
            <a:r>
              <a:rPr sz="1200" b="1">
                <a:solidFill>
                  <a:srgbClr val="1D1D1F"/>
                </a:solidFill>
                <a:latin typeface="Noto Sans JP"/>
              </a:rPr>
              <a:t>変換</a:t>
            </a:r>
          </a:p>
        </p:txBody>
      </p:sp>
      <p:sp>
        <p:nvSpPr>
          <p:cNvPr id="26" name="Rounded Rectangle 25"/>
          <p:cNvSpPr/>
          <p:nvPr/>
        </p:nvSpPr>
        <p:spPr>
          <a:xfrm>
            <a:off x="8302752" y="4095191"/>
            <a:ext cx="304494" cy="304494"/>
          </a:xfrm>
          <a:prstGeom prst="roundRect">
            <a:avLst/>
          </a:prstGeom>
          <a:solidFill>
            <a:srgbClr val="FF9500">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27" name="Picture 26" descr="image.png"/>
          <p:cNvPicPr>
            <a:picLocks noChangeAspect="1"/>
          </p:cNvPicPr>
          <p:nvPr/>
        </p:nvPicPr>
        <p:blipFill>
          <a:blip r:embed="rId5"/>
          <a:stretch>
            <a:fillRect/>
          </a:stretch>
        </p:blipFill>
        <p:spPr>
          <a:xfrm>
            <a:off x="8369502" y="4181145"/>
            <a:ext cx="171907" cy="133501"/>
          </a:xfrm>
          <a:prstGeom prst="rect">
            <a:avLst/>
          </a:prstGeom>
          <a:ln w="0">
            <a:noFill/>
          </a:ln>
        </p:spPr>
      </p:pic>
      <p:sp>
        <p:nvSpPr>
          <p:cNvPr id="28" name="TextBox 27"/>
          <p:cNvSpPr txBox="1"/>
          <p:nvPr/>
        </p:nvSpPr>
        <p:spPr>
          <a:xfrm>
            <a:off x="8702345" y="4133596"/>
            <a:ext cx="1049731" cy="228600"/>
          </a:xfrm>
          <a:prstGeom prst="rect">
            <a:avLst/>
          </a:prstGeom>
          <a:ln w="0">
            <a:noFill/>
          </a:ln>
          <a:noFill/>
        </p:spPr>
        <p:txBody>
          <a:bodyPr wrap="square" lIns="0" rIns="0" tIns="0" bIns="0">
            <a:noAutofit/>
          </a:bodyPr>
          <a:lstStyle/>
          <a:p>
            <a:pPr algn="l"/>
            <a:r>
              <a:rPr sz="1200" b="1">
                <a:solidFill>
                  <a:srgbClr val="1D1D1F"/>
                </a:solidFill>
                <a:latin typeface="Noto Sans JP"/>
              </a:rPr>
              <a:t>出力</a:t>
            </a:r>
          </a:p>
        </p:txBody>
      </p:sp>
      <p:sp>
        <p:nvSpPr>
          <p:cNvPr id="29" name="Rectangle 28"/>
          <p:cNvSpPr/>
          <p:nvPr/>
        </p:nvSpPr>
        <p:spPr>
          <a:xfrm>
            <a:off x="657454" y="4475074"/>
            <a:ext cx="3238805" cy="9144"/>
          </a:xfrm>
          <a:prstGeom prst="rect">
            <a:avLst/>
          </a:prstGeom>
          <a:solidFill>
            <a:srgbClr val="F0F0F0">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4479646" y="4475074"/>
            <a:ext cx="3238804" cy="9144"/>
          </a:xfrm>
          <a:prstGeom prst="rect">
            <a:avLst/>
          </a:prstGeom>
          <a:solidFill>
            <a:srgbClr val="F0F0F0">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8302752" y="4475074"/>
            <a:ext cx="3238805" cy="9144"/>
          </a:xfrm>
          <a:prstGeom prst="rect">
            <a:avLst/>
          </a:prstGeom>
          <a:solidFill>
            <a:srgbClr val="F0F0F0">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6"/>
          <a:stretch>
            <a:fillRect/>
          </a:stretch>
        </p:blipFill>
        <p:spPr>
          <a:xfrm>
            <a:off x="457200" y="243230"/>
            <a:ext cx="200253" cy="267004"/>
          </a:xfrm>
          <a:prstGeom prst="rect">
            <a:avLst/>
          </a:prstGeom>
          <a:ln w="0">
            <a:noFill/>
          </a:ln>
        </p:spPr>
      </p:pic>
      <p:sp>
        <p:nvSpPr>
          <p:cNvPr id="33" name="TextBox 32"/>
          <p:cNvSpPr txBox="1"/>
          <p:nvPr/>
        </p:nvSpPr>
        <p:spPr>
          <a:xfrm>
            <a:off x="809244" y="176479"/>
            <a:ext cx="4182466" cy="400507"/>
          </a:xfrm>
          <a:prstGeom prst="rect">
            <a:avLst/>
          </a:prstGeom>
          <a:ln w="0">
            <a:noFill/>
          </a:ln>
          <a:noFill/>
        </p:spPr>
        <p:txBody>
          <a:bodyPr wrap="square" lIns="0" rIns="0" tIns="0" bIns="0">
            <a:noAutofit/>
          </a:bodyPr>
          <a:lstStyle/>
          <a:p>
            <a:pPr algn="l"/>
            <a:r>
              <a:rPr sz="2400" b="1">
                <a:solidFill>
                  <a:srgbClr val="1D1D1F"/>
                </a:solidFill>
                <a:latin typeface="Noto Sans JP"/>
              </a:rPr>
              <a:t>一次情報の収集から成果物化までの全体フロー</a:t>
            </a:r>
          </a:p>
        </p:txBody>
      </p:sp>
      <p:sp>
        <p:nvSpPr>
          <p:cNvPr id="34" name="TextBox 33"/>
          <p:cNvSpPr txBox="1"/>
          <p:nvPr/>
        </p:nvSpPr>
        <p:spPr>
          <a:xfrm>
            <a:off x="8489290" y="261518"/>
            <a:ext cx="3439058" cy="228600"/>
          </a:xfrm>
          <a:prstGeom prst="rect">
            <a:avLst/>
          </a:prstGeom>
          <a:ln w="0">
            <a:noFill/>
          </a:ln>
          <a:noFill/>
        </p:spPr>
        <p:txBody>
          <a:bodyPr wrap="square" lIns="0" rIns="0" tIns="0" bIns="0">
            <a:noAutofit/>
          </a:bodyPr>
          <a:lstStyle/>
          <a:p>
            <a:pPr algn="l"/>
            <a:r>
              <a:rPr sz="1000">
                <a:solidFill>
                  <a:srgbClr val="86868B"/>
                </a:solidFill>
                <a:latin typeface="Noto Sans JP"/>
              </a:rPr>
              <a:t>Overall Architecture</a:t>
            </a:r>
          </a:p>
        </p:txBody>
      </p:sp>
      <p:pic>
        <p:nvPicPr>
          <p:cNvPr id="35" name="Picture 34" descr="image.png"/>
          <p:cNvPicPr>
            <a:picLocks noChangeAspect="1"/>
          </p:cNvPicPr>
          <p:nvPr/>
        </p:nvPicPr>
        <p:blipFill>
          <a:blip r:embed="rId7"/>
          <a:stretch>
            <a:fillRect/>
          </a:stretch>
        </p:blipFill>
        <p:spPr>
          <a:xfrm>
            <a:off x="457200" y="990294"/>
            <a:ext cx="11277295" cy="571500"/>
          </a:xfrm>
          <a:prstGeom prst="rect">
            <a:avLst/>
          </a:prstGeom>
          <a:ln w="0">
            <a:noFill/>
          </a:ln>
        </p:spPr>
      </p:pic>
      <p:sp>
        <p:nvSpPr>
          <p:cNvPr id="36" name="TextBox 35"/>
          <p:cNvSpPr txBox="1"/>
          <p:nvPr/>
        </p:nvSpPr>
        <p:spPr>
          <a:xfrm>
            <a:off x="743407" y="1143000"/>
            <a:ext cx="10954512" cy="267005"/>
          </a:xfrm>
          <a:prstGeom prst="rect">
            <a:avLst/>
          </a:prstGeom>
          <a:ln w="0">
            <a:noFill/>
          </a:ln>
          <a:noFill/>
        </p:spPr>
        <p:txBody>
          <a:bodyPr wrap="square" lIns="0" rIns="0" tIns="0" bIns="0">
            <a:noAutofit/>
          </a:bodyPr>
          <a:lstStyle/>
          <a:p>
            <a:pPr algn="l"/>
            <a:r>
              <a:rPr sz="1500" b="1">
                <a:solidFill>
                  <a:srgbClr val="1D1D1F"/>
                </a:solidFill>
                <a:latin typeface="Noto Sans JP"/>
              </a:rPr>
              <a:t>出力品質を左右するのは、生成そのものより前後の設計である。</a:t>
            </a:r>
          </a:p>
        </p:txBody>
      </p:sp>
      <p:pic>
        <p:nvPicPr>
          <p:cNvPr id="37" name="Picture 36" descr="image.png"/>
          <p:cNvPicPr>
            <a:picLocks noChangeAspect="1"/>
          </p:cNvPicPr>
          <p:nvPr/>
        </p:nvPicPr>
        <p:blipFill>
          <a:blip r:embed="rId8"/>
          <a:stretch>
            <a:fillRect/>
          </a:stretch>
        </p:blipFill>
        <p:spPr>
          <a:xfrm>
            <a:off x="2691994" y="2348179"/>
            <a:ext cx="105156" cy="171906"/>
          </a:xfrm>
          <a:prstGeom prst="rect">
            <a:avLst/>
          </a:prstGeom>
          <a:ln w="0">
            <a:noFill/>
          </a:ln>
        </p:spPr>
      </p:pic>
      <p:pic>
        <p:nvPicPr>
          <p:cNvPr id="38" name="Picture 37" descr="image.png"/>
          <p:cNvPicPr>
            <a:picLocks noChangeAspect="1"/>
          </p:cNvPicPr>
          <p:nvPr/>
        </p:nvPicPr>
        <p:blipFill>
          <a:blip r:embed="rId8"/>
          <a:stretch>
            <a:fillRect/>
          </a:stretch>
        </p:blipFill>
        <p:spPr>
          <a:xfrm>
            <a:off x="4926787" y="2348179"/>
            <a:ext cx="105155" cy="171906"/>
          </a:xfrm>
          <a:prstGeom prst="rect">
            <a:avLst/>
          </a:prstGeom>
          <a:ln w="0">
            <a:noFill/>
          </a:ln>
        </p:spPr>
      </p:pic>
      <p:pic>
        <p:nvPicPr>
          <p:cNvPr id="39" name="Picture 38" descr="image.png"/>
          <p:cNvPicPr>
            <a:picLocks noChangeAspect="1"/>
          </p:cNvPicPr>
          <p:nvPr/>
        </p:nvPicPr>
        <p:blipFill>
          <a:blip r:embed="rId8"/>
          <a:stretch>
            <a:fillRect/>
          </a:stretch>
        </p:blipFill>
        <p:spPr>
          <a:xfrm>
            <a:off x="7160666" y="2348179"/>
            <a:ext cx="105155" cy="171906"/>
          </a:xfrm>
          <a:prstGeom prst="rect">
            <a:avLst/>
          </a:prstGeom>
          <a:ln w="0">
            <a:noFill/>
          </a:ln>
        </p:spPr>
      </p:pic>
      <p:pic>
        <p:nvPicPr>
          <p:cNvPr id="40" name="Picture 39" descr="image.png"/>
          <p:cNvPicPr>
            <a:picLocks noChangeAspect="1"/>
          </p:cNvPicPr>
          <p:nvPr/>
        </p:nvPicPr>
        <p:blipFill>
          <a:blip r:embed="rId8"/>
          <a:stretch>
            <a:fillRect/>
          </a:stretch>
        </p:blipFill>
        <p:spPr>
          <a:xfrm>
            <a:off x="9395460" y="2348179"/>
            <a:ext cx="105155" cy="171906"/>
          </a:xfrm>
          <a:prstGeom prst="rect">
            <a:avLst/>
          </a:prstGeom>
          <a:ln w="0">
            <a:noFill/>
          </a:ln>
        </p:spPr>
      </p:pic>
      <p:sp>
        <p:nvSpPr>
          <p:cNvPr id="41" name="TextBox 40"/>
          <p:cNvSpPr txBox="1"/>
          <p:nvPr/>
        </p:nvSpPr>
        <p:spPr>
          <a:xfrm>
            <a:off x="752551" y="4646981"/>
            <a:ext cx="3219602" cy="412293"/>
          </a:xfrm>
          <a:prstGeom prst="rect">
            <a:avLst/>
          </a:prstGeom>
          <a:ln w="0">
            <a:noFill/>
          </a:ln>
          <a:noFill/>
        </p:spPr>
        <p:txBody>
          <a:bodyPr wrap="square" lIns="0" rIns="0" tIns="0" bIns="0">
            <a:noAutofit/>
          </a:bodyPr>
          <a:lstStyle/>
          <a:p>
            <a:pPr algn="l"/>
            <a:r>
              <a:rPr sz="900" b="1">
                <a:solidFill>
                  <a:srgbClr val="1D1D1F"/>
                </a:solidFill>
                <a:latin typeface="Noto Sans JP"/>
              </a:rPr>
              <a:t>会議音声、議事録、メモ、資料などの一次情報を集める。</a:t>
            </a:r>
          </a:p>
        </p:txBody>
      </p:sp>
      <p:sp>
        <p:nvSpPr>
          <p:cNvPr id="42" name="TextBox 41"/>
          <p:cNvSpPr txBox="1"/>
          <p:nvPr/>
        </p:nvSpPr>
        <p:spPr>
          <a:xfrm>
            <a:off x="752551" y="5184571"/>
            <a:ext cx="3219602" cy="412293"/>
          </a:xfrm>
          <a:prstGeom prst="rect">
            <a:avLst/>
          </a:prstGeom>
          <a:ln w="0">
            <a:noFill/>
          </a:ln>
          <a:noFill/>
        </p:spPr>
        <p:txBody>
          <a:bodyPr wrap="square" lIns="0" rIns="0" tIns="0" bIns="0">
            <a:noAutofit/>
          </a:bodyPr>
          <a:lstStyle/>
          <a:p>
            <a:pPr algn="l"/>
          </a:p>
        </p:txBody>
      </p:sp>
      <p:sp>
        <p:nvSpPr>
          <p:cNvPr id="43" name="TextBox 42"/>
          <p:cNvSpPr txBox="1"/>
          <p:nvPr/>
        </p:nvSpPr>
        <p:spPr>
          <a:xfrm>
            <a:off x="4574743" y="4646981"/>
            <a:ext cx="3219602" cy="545031"/>
          </a:xfrm>
          <a:prstGeom prst="rect">
            <a:avLst/>
          </a:prstGeom>
          <a:ln w="0">
            <a:noFill/>
          </a:ln>
          <a:noFill/>
        </p:spPr>
        <p:txBody>
          <a:bodyPr wrap="square" lIns="0" rIns="0" tIns="0" bIns="0">
            <a:noAutofit/>
          </a:bodyPr>
          <a:lstStyle/>
          <a:p>
            <a:pPr algn="l"/>
            <a:r>
              <a:rPr sz="900" b="1">
                <a:solidFill>
                  <a:srgbClr val="1D1D1F"/>
                </a:solidFill>
                <a:latin typeface="Noto Sans JP"/>
              </a:rPr>
              <a:t>安全化・構造化・分類・選択の工程を経る。</a:t>
            </a:r>
          </a:p>
        </p:txBody>
      </p:sp>
      <p:sp>
        <p:nvSpPr>
          <p:cNvPr id="44" name="TextBox 43"/>
          <p:cNvSpPr txBox="1"/>
          <p:nvPr/>
        </p:nvSpPr>
        <p:spPr>
          <a:xfrm>
            <a:off x="4574743" y="5184571"/>
            <a:ext cx="3219602" cy="412293"/>
          </a:xfrm>
          <a:prstGeom prst="rect">
            <a:avLst/>
          </a:prstGeom>
          <a:ln w="0">
            <a:noFill/>
          </a:ln>
          <a:noFill/>
        </p:spPr>
        <p:txBody>
          <a:bodyPr wrap="square" lIns="0" rIns="0" tIns="0" bIns="0">
            <a:noAutofit/>
          </a:bodyPr>
          <a:lstStyle/>
          <a:p>
            <a:pPr algn="l"/>
          </a:p>
        </p:txBody>
      </p:sp>
      <p:sp>
        <p:nvSpPr>
          <p:cNvPr id="45" name="TextBox 44"/>
          <p:cNvSpPr txBox="1"/>
          <p:nvPr/>
        </p:nvSpPr>
        <p:spPr>
          <a:xfrm>
            <a:off x="8397850" y="4646981"/>
            <a:ext cx="3219602" cy="412293"/>
          </a:xfrm>
          <a:prstGeom prst="rect">
            <a:avLst/>
          </a:prstGeom>
          <a:ln w="0">
            <a:noFill/>
          </a:ln>
          <a:noFill/>
        </p:spPr>
        <p:txBody>
          <a:bodyPr wrap="square" lIns="0" rIns="0" tIns="0" bIns="0">
            <a:noAutofit/>
          </a:bodyPr>
          <a:lstStyle/>
          <a:p>
            <a:pPr algn="l"/>
            <a:r>
              <a:rPr sz="900" b="1">
                <a:solidFill>
                  <a:srgbClr val="1D1D1F"/>
                </a:solidFill>
                <a:latin typeface="Noto Sans JP"/>
              </a:rPr>
              <a:t>壁打ち、資料生成、学習コンテンツ化など目的別に出力する。</a:t>
            </a:r>
          </a:p>
        </p:txBody>
      </p:sp>
      <p:sp>
        <p:nvSpPr>
          <p:cNvPr id="46" name="TextBox 45"/>
          <p:cNvSpPr txBox="1"/>
          <p:nvPr/>
        </p:nvSpPr>
        <p:spPr>
          <a:xfrm>
            <a:off x="8397850" y="5184571"/>
            <a:ext cx="3219602" cy="412293"/>
          </a:xfrm>
          <a:prstGeom prst="rect">
            <a:avLst/>
          </a:prstGeom>
          <a:ln w="0">
            <a:noFill/>
          </a:ln>
          <a:noFill/>
        </p:spPr>
        <p:txBody>
          <a:bodyPr wrap="square" lIns="0" rIns="0" tIns="0" bIns="0">
            <a:noAutofit/>
          </a:bodyPr>
          <a:lstStyle/>
          <a:p>
            <a:pPr algn="l"/>
          </a:p>
        </p:txBody>
      </p:sp>
      <p:sp>
        <p:nvSpPr>
          <p:cNvPr id="47" name="TextBox 46"/>
          <p:cNvSpPr txBox="1"/>
          <p:nvPr/>
        </p:nvSpPr>
        <p:spPr>
          <a:xfrm>
            <a:off x="1322222" y="2562149"/>
            <a:ext cx="609904" cy="200254"/>
          </a:xfrm>
          <a:prstGeom prst="rect">
            <a:avLst/>
          </a:prstGeom>
          <a:ln w="0">
            <a:noFill/>
          </a:ln>
          <a:noFill/>
        </p:spPr>
        <p:txBody>
          <a:bodyPr wrap="square" lIns="0" rIns="0" tIns="0" bIns="0">
            <a:noAutofit/>
          </a:bodyPr>
          <a:lstStyle/>
          <a:p>
            <a:pPr algn="ctr"/>
            <a:r>
              <a:rPr sz="1000" b="1">
                <a:solidFill>
                  <a:srgbClr val="1D1D1F"/>
                </a:solidFill>
                <a:latin typeface="Noto Sans JP"/>
              </a:rPr>
              <a:t>STEP 1</a:t>
            </a:r>
          </a:p>
        </p:txBody>
      </p:sp>
      <p:sp>
        <p:nvSpPr>
          <p:cNvPr id="48" name="TextBox 47"/>
          <p:cNvSpPr txBox="1"/>
          <p:nvPr/>
        </p:nvSpPr>
        <p:spPr>
          <a:xfrm>
            <a:off x="1022299" y="2838298"/>
            <a:ext cx="1209751" cy="277062"/>
          </a:xfrm>
          <a:prstGeom prst="rect">
            <a:avLst/>
          </a:prstGeom>
          <a:ln w="0">
            <a:noFill/>
          </a:ln>
          <a:noFill/>
        </p:spPr>
        <p:txBody>
          <a:bodyPr wrap="square" lIns="0" rIns="0" tIns="0" bIns="0">
            <a:noAutofit/>
          </a:bodyPr>
          <a:lstStyle/>
          <a:p>
            <a:pPr algn="ctr"/>
            <a:r>
              <a:rPr sz="800">
                <a:solidFill>
                  <a:srgbClr val="6E6E73"/>
                </a:solidFill>
                <a:latin typeface="Noto Sans JP"/>
              </a:rPr>
              <a:t>一次情報を収集する</a:t>
            </a:r>
          </a:p>
        </p:txBody>
      </p:sp>
      <p:sp>
        <p:nvSpPr>
          <p:cNvPr id="49" name="TextBox 48"/>
          <p:cNvSpPr txBox="1"/>
          <p:nvPr/>
        </p:nvSpPr>
        <p:spPr>
          <a:xfrm>
            <a:off x="3622853" y="2562149"/>
            <a:ext cx="476401" cy="200254"/>
          </a:xfrm>
          <a:prstGeom prst="rect">
            <a:avLst/>
          </a:prstGeom>
          <a:ln w="0">
            <a:noFill/>
          </a:ln>
          <a:noFill/>
        </p:spPr>
        <p:txBody>
          <a:bodyPr wrap="square" lIns="0" rIns="0" tIns="0" bIns="0">
            <a:noAutofit/>
          </a:bodyPr>
          <a:lstStyle/>
          <a:p>
            <a:pPr algn="ctr"/>
            <a:r>
              <a:rPr sz="1000" b="1">
                <a:solidFill>
                  <a:srgbClr val="1D1D1F"/>
                </a:solidFill>
                <a:latin typeface="Noto Sans JP"/>
              </a:rPr>
              <a:t>STEP 2</a:t>
            </a:r>
          </a:p>
        </p:txBody>
      </p:sp>
      <p:sp>
        <p:nvSpPr>
          <p:cNvPr id="50" name="TextBox 49"/>
          <p:cNvSpPr txBox="1"/>
          <p:nvPr/>
        </p:nvSpPr>
        <p:spPr>
          <a:xfrm>
            <a:off x="3361334" y="2838298"/>
            <a:ext cx="1000353" cy="277062"/>
          </a:xfrm>
          <a:prstGeom prst="rect">
            <a:avLst/>
          </a:prstGeom>
          <a:ln w="0">
            <a:noFill/>
          </a:ln>
          <a:noFill/>
        </p:spPr>
        <p:txBody>
          <a:bodyPr wrap="square" lIns="0" rIns="0" tIns="0" bIns="0">
            <a:noAutofit/>
          </a:bodyPr>
          <a:lstStyle/>
          <a:p>
            <a:pPr algn="ctr"/>
            <a:r>
              <a:rPr sz="800">
                <a:solidFill>
                  <a:srgbClr val="6E6E73"/>
                </a:solidFill>
                <a:latin typeface="Noto Sans JP"/>
              </a:rPr>
              <a:t>必要に応じてローカルで安全化する</a:t>
            </a:r>
          </a:p>
        </p:txBody>
      </p:sp>
      <p:sp>
        <p:nvSpPr>
          <p:cNvPr id="51" name="TextBox 50"/>
          <p:cNvSpPr txBox="1"/>
          <p:nvPr/>
        </p:nvSpPr>
        <p:spPr>
          <a:xfrm>
            <a:off x="5724144" y="2562149"/>
            <a:ext cx="743407" cy="200254"/>
          </a:xfrm>
          <a:prstGeom prst="rect">
            <a:avLst/>
          </a:prstGeom>
          <a:ln w="0">
            <a:noFill/>
          </a:ln>
          <a:noFill/>
        </p:spPr>
        <p:txBody>
          <a:bodyPr wrap="square" lIns="0" rIns="0" tIns="0" bIns="0">
            <a:noAutofit/>
          </a:bodyPr>
          <a:lstStyle/>
          <a:p>
            <a:pPr algn="ctr"/>
            <a:r>
              <a:rPr sz="1000" b="1">
                <a:solidFill>
                  <a:srgbClr val="1D1D1F"/>
                </a:solidFill>
                <a:latin typeface="Noto Sans JP"/>
              </a:rPr>
              <a:t>STEP 3</a:t>
            </a:r>
          </a:p>
        </p:txBody>
      </p:sp>
      <p:sp>
        <p:nvSpPr>
          <p:cNvPr id="52" name="TextBox 51"/>
          <p:cNvSpPr txBox="1"/>
          <p:nvPr/>
        </p:nvSpPr>
        <p:spPr>
          <a:xfrm>
            <a:off x="5589727" y="2838298"/>
            <a:ext cx="1019556" cy="277062"/>
          </a:xfrm>
          <a:prstGeom prst="rect">
            <a:avLst/>
          </a:prstGeom>
          <a:ln w="0">
            <a:noFill/>
          </a:ln>
          <a:noFill/>
        </p:spPr>
        <p:txBody>
          <a:bodyPr wrap="square" lIns="0" rIns="0" tIns="0" bIns="0">
            <a:noAutofit/>
          </a:bodyPr>
          <a:lstStyle/>
          <a:p>
            <a:pPr algn="ctr"/>
            <a:r>
              <a:rPr sz="800">
                <a:solidFill>
                  <a:srgbClr val="6E6E73"/>
                </a:solidFill>
                <a:latin typeface="Noto Sans JP"/>
              </a:rPr>
              <a:t>外部AIまたはローカルLLMへ接続する</a:t>
            </a:r>
          </a:p>
        </p:txBody>
      </p:sp>
      <p:sp>
        <p:nvSpPr>
          <p:cNvPr id="53" name="TextBox 52"/>
          <p:cNvSpPr txBox="1"/>
          <p:nvPr/>
        </p:nvSpPr>
        <p:spPr>
          <a:xfrm>
            <a:off x="8001914" y="2562149"/>
            <a:ext cx="667512" cy="200254"/>
          </a:xfrm>
          <a:prstGeom prst="rect">
            <a:avLst/>
          </a:prstGeom>
          <a:ln w="0">
            <a:noFill/>
          </a:ln>
          <a:noFill/>
        </p:spPr>
        <p:txBody>
          <a:bodyPr wrap="square" lIns="0" rIns="0" tIns="0" bIns="0">
            <a:noAutofit/>
          </a:bodyPr>
          <a:lstStyle/>
          <a:p>
            <a:pPr algn="ctr"/>
            <a:r>
              <a:rPr sz="1000" b="1">
                <a:solidFill>
                  <a:srgbClr val="1D1D1F"/>
                </a:solidFill>
                <a:latin typeface="Noto Sans JP"/>
              </a:rPr>
              <a:t>STEP 4</a:t>
            </a:r>
          </a:p>
        </p:txBody>
      </p:sp>
      <p:sp>
        <p:nvSpPr>
          <p:cNvPr id="54" name="TextBox 53"/>
          <p:cNvSpPr txBox="1"/>
          <p:nvPr/>
        </p:nvSpPr>
        <p:spPr>
          <a:xfrm>
            <a:off x="7777886" y="2838298"/>
            <a:ext cx="1105510" cy="277062"/>
          </a:xfrm>
          <a:prstGeom prst="rect">
            <a:avLst/>
          </a:prstGeom>
          <a:ln w="0">
            <a:noFill/>
          </a:ln>
          <a:noFill/>
        </p:spPr>
        <p:txBody>
          <a:bodyPr wrap="square" lIns="0" rIns="0" tIns="0" bIns="0">
            <a:noAutofit/>
          </a:bodyPr>
          <a:lstStyle/>
          <a:p>
            <a:pPr algn="ctr"/>
            <a:r>
              <a:rPr sz="800">
                <a:solidFill>
                  <a:srgbClr val="6E6E73"/>
                </a:solidFill>
                <a:latin typeface="Noto Sans JP"/>
              </a:rPr>
              <a:t>JSON 中間表現へ構造化する</a:t>
            </a:r>
          </a:p>
        </p:txBody>
      </p:sp>
      <p:sp>
        <p:nvSpPr>
          <p:cNvPr id="55" name="TextBox 54"/>
          <p:cNvSpPr txBox="1"/>
          <p:nvPr/>
        </p:nvSpPr>
        <p:spPr>
          <a:xfrm>
            <a:off x="10260482" y="2562149"/>
            <a:ext cx="609905" cy="200254"/>
          </a:xfrm>
          <a:prstGeom prst="rect">
            <a:avLst/>
          </a:prstGeom>
          <a:ln w="0">
            <a:noFill/>
          </a:ln>
          <a:noFill/>
        </p:spPr>
        <p:txBody>
          <a:bodyPr wrap="square" lIns="0" rIns="0" tIns="0" bIns="0">
            <a:noAutofit/>
          </a:bodyPr>
          <a:lstStyle/>
          <a:p>
            <a:pPr algn="ctr"/>
            <a:r>
              <a:rPr sz="1000" b="1">
                <a:solidFill>
                  <a:srgbClr val="1D1D1F"/>
                </a:solidFill>
                <a:latin typeface="Noto Sans JP"/>
              </a:rPr>
              <a:t>STEP 5</a:t>
            </a:r>
          </a:p>
        </p:txBody>
      </p:sp>
      <p:sp>
        <p:nvSpPr>
          <p:cNvPr id="56" name="TextBox 55"/>
          <p:cNvSpPr txBox="1"/>
          <p:nvPr/>
        </p:nvSpPr>
        <p:spPr>
          <a:xfrm>
            <a:off x="10076688" y="2838298"/>
            <a:ext cx="981150" cy="277062"/>
          </a:xfrm>
          <a:prstGeom prst="rect">
            <a:avLst/>
          </a:prstGeom>
          <a:ln w="0">
            <a:noFill/>
          </a:ln>
          <a:noFill/>
        </p:spPr>
        <p:txBody>
          <a:bodyPr wrap="square" lIns="0" rIns="0" tIns="0" bIns="0">
            <a:noAutofit/>
          </a:bodyPr>
          <a:lstStyle/>
          <a:p>
            <a:pPr algn="ctr"/>
            <a:r>
              <a:rPr sz="800">
                <a:solidFill>
                  <a:srgbClr val="6E6E73"/>
                </a:solidFill>
                <a:latin typeface="Noto Sans JP"/>
              </a:rPr>
              <a:t>テンプレート選択を通じて成果物化する</a:t>
            </a:r>
          </a:p>
        </p:txBody>
      </p:sp>
      <p:pic>
        <p:nvPicPr>
          <p:cNvPr id="57" name="Picture 56" descr="image.png"/>
          <p:cNvPicPr>
            <a:picLocks noChangeAspect="1"/>
          </p:cNvPicPr>
          <p:nvPr/>
        </p:nvPicPr>
        <p:blipFill>
          <a:blip r:embed="rId9"/>
          <a:stretch>
            <a:fillRect/>
          </a:stretch>
        </p:blipFill>
        <p:spPr>
          <a:xfrm>
            <a:off x="591468" y="4646981"/>
            <a:ext cx="95098" cy="95098"/>
          </a:xfrm>
          <a:prstGeom prst="rect">
            <a:avLst/>
          </a:prstGeom>
          <a:ln w="0">
            <a:noFill/>
          </a:ln>
        </p:spPr>
      </p:pic>
      <p:pic>
        <p:nvPicPr>
          <p:cNvPr id="58" name="Picture 57" descr="image.png"/>
          <p:cNvPicPr>
            <a:picLocks noChangeAspect="1"/>
          </p:cNvPicPr>
          <p:nvPr/>
        </p:nvPicPr>
        <p:blipFill>
          <a:blip r:embed="rId9"/>
          <a:stretch>
            <a:fillRect/>
          </a:stretch>
        </p:blipFill>
        <p:spPr>
          <a:xfrm>
            <a:off x="591468" y="5184571"/>
            <a:ext cx="95098" cy="95098"/>
          </a:xfrm>
          <a:prstGeom prst="rect">
            <a:avLst/>
          </a:prstGeom>
          <a:ln w="0">
            <a:noFill/>
          </a:ln>
        </p:spPr>
      </p:pic>
      <p:pic>
        <p:nvPicPr>
          <p:cNvPr id="59" name="Picture 58" descr="image.png"/>
          <p:cNvPicPr>
            <a:picLocks noChangeAspect="1"/>
          </p:cNvPicPr>
          <p:nvPr/>
        </p:nvPicPr>
        <p:blipFill>
          <a:blip r:embed="rId9"/>
          <a:stretch>
            <a:fillRect/>
          </a:stretch>
        </p:blipFill>
        <p:spPr>
          <a:xfrm>
            <a:off x="4413660" y="4646981"/>
            <a:ext cx="95098" cy="95098"/>
          </a:xfrm>
          <a:prstGeom prst="rect">
            <a:avLst/>
          </a:prstGeom>
          <a:ln w="0">
            <a:noFill/>
          </a:ln>
        </p:spPr>
      </p:pic>
      <p:pic>
        <p:nvPicPr>
          <p:cNvPr id="60" name="Picture 59" descr="image.png"/>
          <p:cNvPicPr>
            <a:picLocks noChangeAspect="1"/>
          </p:cNvPicPr>
          <p:nvPr/>
        </p:nvPicPr>
        <p:blipFill>
          <a:blip r:embed="rId9"/>
          <a:stretch>
            <a:fillRect/>
          </a:stretch>
        </p:blipFill>
        <p:spPr>
          <a:xfrm>
            <a:off x="4413660" y="5184571"/>
            <a:ext cx="95098" cy="95098"/>
          </a:xfrm>
          <a:prstGeom prst="rect">
            <a:avLst/>
          </a:prstGeom>
          <a:ln w="0">
            <a:noFill/>
          </a:ln>
        </p:spPr>
      </p:pic>
      <p:pic>
        <p:nvPicPr>
          <p:cNvPr id="61" name="Picture 60" descr="image.png"/>
          <p:cNvPicPr>
            <a:picLocks noChangeAspect="1"/>
          </p:cNvPicPr>
          <p:nvPr/>
        </p:nvPicPr>
        <p:blipFill>
          <a:blip r:embed="rId9"/>
          <a:stretch>
            <a:fillRect/>
          </a:stretch>
        </p:blipFill>
        <p:spPr>
          <a:xfrm>
            <a:off x="8236766" y="4646981"/>
            <a:ext cx="95097" cy="95098"/>
          </a:xfrm>
          <a:prstGeom prst="rect">
            <a:avLst/>
          </a:prstGeom>
          <a:ln w="0">
            <a:noFill/>
          </a:ln>
        </p:spPr>
      </p:pic>
      <p:pic>
        <p:nvPicPr>
          <p:cNvPr id="62" name="Picture 61" descr="image.png"/>
          <p:cNvPicPr>
            <a:picLocks noChangeAspect="1"/>
          </p:cNvPicPr>
          <p:nvPr/>
        </p:nvPicPr>
        <p:blipFill>
          <a:blip r:embed="rId9"/>
          <a:stretch>
            <a:fillRect/>
          </a:stretch>
        </p:blipFill>
        <p:spPr>
          <a:xfrm>
            <a:off x="8236766" y="5184571"/>
            <a:ext cx="95097" cy="95098"/>
          </a:xfrm>
          <a:prstGeom prst="rect">
            <a:avLst/>
          </a:prstGeom>
          <a:ln w="0">
            <a:noFill/>
          </a:ln>
        </p:spPr>
      </p:pic>
      <p:sp>
        <p:nvSpPr>
          <p:cNvPr id="63" name="Rectangle 62"/>
          <p:cNvSpPr/>
          <p:nvPr/>
        </p:nvSpPr>
        <p:spPr>
          <a:xfrm>
            <a:off x="0" y="0"/>
            <a:ext cx="12192001" cy="54865"/>
          </a:xfrm>
          <a:prstGeom prst="rect">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6476695"/>
            <a:ext cx="12192609" cy="381305"/>
          </a:xfrm>
          <a:prstGeom prst="rect">
            <a:avLst/>
          </a:prstGeom>
          <a:solidFill>
            <a:srgbClr val="F6F5F8"/>
          </a:solidFill>
          <a:ln w="15875">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4" name="Rounded Rectangle 3"/>
          <p:cNvSpPr/>
          <p:nvPr/>
        </p:nvSpPr>
        <p:spPr>
          <a:xfrm>
            <a:off x="481887" y="1312153"/>
            <a:ext cx="11221662" cy="790509"/>
          </a:xfrm>
          <a:prstGeom prst="roundRect">
            <a:avLst/>
          </a:prstGeom>
          <a:solidFill>
            <a:srgbClr val="F0F9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488450" y="1311250"/>
            <a:ext cx="49716" cy="791160"/>
          </a:xfrm>
          <a:prstGeom prst="rect">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14400" y="470024"/>
            <a:ext cx="11354105" cy="514806"/>
          </a:xfrm>
          <a:prstGeom prst="rect">
            <a:avLst/>
          </a:prstGeom>
          <a:ln w="0">
            <a:noFill/>
          </a:ln>
          <a:noFill/>
        </p:spPr>
        <p:txBody>
          <a:bodyPr wrap="square" lIns="0" rIns="0" tIns="0" bIns="0">
            <a:noAutofit/>
          </a:bodyPr>
          <a:lstStyle/>
          <a:p>
            <a:pPr algn="l"/>
            <a:r>
              <a:rPr sz="2400" b="1">
                <a:solidFill>
                  <a:srgbClr val="1D1D1F"/>
                </a:solidFill>
                <a:latin typeface="Noto Sans JP"/>
              </a:rPr>
              <a:t>現時点の実装状況と今後の課題</a:t>
            </a:r>
          </a:p>
        </p:txBody>
      </p:sp>
      <p:sp>
        <p:nvSpPr>
          <p:cNvPr id="7" name="TextBox 6"/>
          <p:cNvSpPr txBox="1"/>
          <p:nvPr/>
        </p:nvSpPr>
        <p:spPr>
          <a:xfrm>
            <a:off x="476401" y="195681"/>
            <a:ext cx="11239805" cy="286206"/>
          </a:xfrm>
          <a:prstGeom prst="rect">
            <a:avLst/>
          </a:prstGeom>
          <a:ln w="0">
            <a:noFill/>
          </a:ln>
          <a:noFill/>
        </p:spPr>
        <p:txBody>
          <a:bodyPr wrap="square" lIns="0" rIns="0" tIns="0" bIns="0">
            <a:noAutofit/>
          </a:bodyPr>
          <a:lstStyle/>
          <a:p>
            <a:pPr algn="l"/>
            <a:r>
              <a:rPr sz="1000">
                <a:solidFill>
                  <a:srgbClr val="86868B"/>
                </a:solidFill>
                <a:latin typeface="Noto Sans JP"/>
              </a:rPr>
              <a:t>Implementation Status</a:t>
            </a:r>
          </a:p>
        </p:txBody>
      </p:sp>
      <p:sp>
        <p:nvSpPr>
          <p:cNvPr id="8" name="TextBox 7"/>
          <p:cNvSpPr txBox="1"/>
          <p:nvPr/>
        </p:nvSpPr>
        <p:spPr>
          <a:xfrm>
            <a:off x="914400" y="1421206"/>
            <a:ext cx="10611612" cy="571500"/>
          </a:xfrm>
          <a:prstGeom prst="rect">
            <a:avLst/>
          </a:prstGeom>
          <a:ln w="0">
            <a:noFill/>
          </a:ln>
          <a:noFill/>
        </p:spPr>
        <p:txBody>
          <a:bodyPr wrap="square" lIns="0" rIns="0" tIns="0" bIns="0">
            <a:noAutofit/>
          </a:bodyPr>
          <a:lstStyle/>
          <a:p>
            <a:pPr algn="l"/>
            <a:r>
              <a:rPr b="1">
                <a:solidFill>
                  <a:srgbClr val="1D1D1F"/>
                </a:solidFill>
                <a:latin typeface="Cambria"/>
              </a:rPr>
              <a:t>基本動作は作れているが、精度・厳密運用・評価設計には追加検証が必要である。</a:t>
            </a:r>
          </a:p>
        </p:txBody>
      </p:sp>
      <p:sp>
        <p:nvSpPr>
          <p:cNvPr id="9" name="Rounded Rectangle 8"/>
          <p:cNvSpPr/>
          <p:nvPr/>
        </p:nvSpPr>
        <p:spPr>
          <a:xfrm>
            <a:off x="538167"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2"/>
          <a:stretch>
            <a:fillRect/>
          </a:stretch>
        </p:blipFill>
        <p:spPr>
          <a:xfrm>
            <a:off x="738421" y="2596440"/>
            <a:ext cx="304495" cy="228600"/>
          </a:xfrm>
          <a:prstGeom prst="rect">
            <a:avLst/>
          </a:prstGeom>
          <a:ln w="0">
            <a:noFill/>
          </a:ln>
        </p:spPr>
      </p:pic>
      <p:sp>
        <p:nvSpPr>
          <p:cNvPr id="11" name="TextBox 10"/>
          <p:cNvSpPr txBox="1"/>
          <p:nvPr/>
        </p:nvSpPr>
        <p:spPr>
          <a:xfrm>
            <a:off x="1157216" y="2582724"/>
            <a:ext cx="1286561" cy="257861"/>
          </a:xfrm>
          <a:prstGeom prst="rect">
            <a:avLst/>
          </a:prstGeom>
          <a:ln w="0">
            <a:noFill/>
          </a:ln>
          <a:noFill/>
        </p:spPr>
        <p:txBody>
          <a:bodyPr wrap="square" lIns="0" rIns="0" tIns="0" bIns="0">
            <a:noAutofit/>
          </a:bodyPr>
          <a:lstStyle/>
          <a:p>
            <a:pPr algn="l"/>
            <a:r>
              <a:rPr sz="1300" b="1">
                <a:solidFill>
                  <a:srgbClr val="1D1D1F"/>
                </a:solidFill>
                <a:latin typeface="Noto Sans JP"/>
              </a:rPr>
              <a:t>実装済み</a:t>
            </a:r>
          </a:p>
        </p:txBody>
      </p:sp>
      <p:sp>
        <p:nvSpPr>
          <p:cNvPr id="12" name="TextBox 11"/>
          <p:cNvSpPr txBox="1"/>
          <p:nvPr/>
        </p:nvSpPr>
        <p:spPr>
          <a:xfrm>
            <a:off x="738421" y="2953970"/>
            <a:ext cx="3324758" cy="228600"/>
          </a:xfrm>
          <a:prstGeom prst="rect">
            <a:avLst/>
          </a:prstGeom>
          <a:ln w="0">
            <a:noFill/>
          </a:ln>
          <a:noFill/>
        </p:spPr>
        <p:txBody>
          <a:bodyPr wrap="square" lIns="0" rIns="0" tIns="0" bIns="0">
            <a:noAutofit/>
          </a:bodyPr>
          <a:lstStyle/>
          <a:p>
            <a:pPr algn="l"/>
            <a:r>
              <a:rPr sz="1100">
                <a:solidFill>
                  <a:srgbClr val="424245"/>
                </a:solidFill>
                <a:latin typeface="Noto Sans JP"/>
              </a:rPr>
              <a:t>一次情報収集の流れ</a:t>
            </a:r>
          </a:p>
        </p:txBody>
      </p:sp>
      <p:sp>
        <p:nvSpPr>
          <p:cNvPr id="13" name="TextBox 12"/>
          <p:cNvSpPr txBox="1"/>
          <p:nvPr/>
        </p:nvSpPr>
        <p:spPr>
          <a:xfrm>
            <a:off x="738421" y="3239263"/>
            <a:ext cx="3324758" cy="228599"/>
          </a:xfrm>
          <a:prstGeom prst="rect">
            <a:avLst/>
          </a:prstGeom>
          <a:ln w="0">
            <a:noFill/>
          </a:ln>
          <a:noFill/>
        </p:spPr>
        <p:txBody>
          <a:bodyPr wrap="square" lIns="0" rIns="0" tIns="0" bIns="0">
            <a:noAutofit/>
          </a:bodyPr>
          <a:lstStyle/>
          <a:p>
            <a:pPr algn="l"/>
            <a:r>
              <a:rPr sz="1100">
                <a:solidFill>
                  <a:srgbClr val="424245"/>
                </a:solidFill>
                <a:latin typeface="Noto Sans JP"/>
              </a:rPr>
              <a:t>文字起こし</a:t>
            </a:r>
          </a:p>
        </p:txBody>
      </p:sp>
      <p:sp>
        <p:nvSpPr>
          <p:cNvPr id="14" name="TextBox 13"/>
          <p:cNvSpPr txBox="1"/>
          <p:nvPr/>
        </p:nvSpPr>
        <p:spPr>
          <a:xfrm>
            <a:off x="738421" y="3525470"/>
            <a:ext cx="3248863" cy="228600"/>
          </a:xfrm>
          <a:prstGeom prst="rect">
            <a:avLst/>
          </a:prstGeom>
          <a:ln w="0">
            <a:noFill/>
          </a:ln>
          <a:noFill/>
        </p:spPr>
        <p:txBody>
          <a:bodyPr wrap="square" lIns="0" rIns="0" tIns="0" bIns="0">
            <a:noAutofit/>
          </a:bodyPr>
          <a:lstStyle/>
          <a:p>
            <a:pPr algn="l"/>
            <a:r>
              <a:rPr sz="1100">
                <a:solidFill>
                  <a:srgbClr val="424245"/>
                </a:solidFill>
                <a:latin typeface="Cambria"/>
              </a:rPr>
              <a:t>JSON 中間表現</a:t>
            </a:r>
          </a:p>
        </p:txBody>
      </p:sp>
      <p:sp>
        <p:nvSpPr>
          <p:cNvPr id="15" name="Rounded Rectangle 14"/>
          <p:cNvSpPr/>
          <p:nvPr/>
        </p:nvSpPr>
        <p:spPr>
          <a:xfrm>
            <a:off x="4297265"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3"/>
          <a:stretch>
            <a:fillRect/>
          </a:stretch>
        </p:blipFill>
        <p:spPr>
          <a:xfrm>
            <a:off x="4497519" y="2596440"/>
            <a:ext cx="304494" cy="228600"/>
          </a:xfrm>
          <a:prstGeom prst="rect">
            <a:avLst/>
          </a:prstGeom>
          <a:ln w="0">
            <a:noFill/>
          </a:ln>
        </p:spPr>
      </p:pic>
      <p:sp>
        <p:nvSpPr>
          <p:cNvPr id="17" name="TextBox 16"/>
          <p:cNvSpPr txBox="1"/>
          <p:nvPr/>
        </p:nvSpPr>
        <p:spPr>
          <a:xfrm>
            <a:off x="4916314" y="2582724"/>
            <a:ext cx="762610" cy="257861"/>
          </a:xfrm>
          <a:prstGeom prst="rect">
            <a:avLst/>
          </a:prstGeom>
          <a:ln w="0">
            <a:noFill/>
          </a:ln>
          <a:noFill/>
        </p:spPr>
        <p:txBody>
          <a:bodyPr wrap="square" lIns="0" rIns="0" tIns="0" bIns="0">
            <a:noAutofit/>
          </a:bodyPr>
          <a:lstStyle/>
          <a:p>
            <a:pPr algn="l"/>
            <a:r>
              <a:rPr sz="1300" b="1">
                <a:solidFill>
                  <a:srgbClr val="1D1D1F"/>
                </a:solidFill>
                <a:latin typeface="Noto Sans JP"/>
              </a:rPr>
              <a:t>一部実装 / 検証中</a:t>
            </a:r>
          </a:p>
        </p:txBody>
      </p:sp>
      <p:sp>
        <p:nvSpPr>
          <p:cNvPr id="18" name="TextBox 17"/>
          <p:cNvSpPr txBox="1"/>
          <p:nvPr/>
        </p:nvSpPr>
        <p:spPr>
          <a:xfrm>
            <a:off x="5193377" y="2953970"/>
            <a:ext cx="2553005" cy="247801"/>
          </a:xfrm>
          <a:prstGeom prst="rect">
            <a:avLst/>
          </a:prstGeom>
          <a:ln w="0">
            <a:noFill/>
          </a:ln>
          <a:noFill/>
        </p:spPr>
        <p:txBody>
          <a:bodyPr wrap="square" lIns="0" rIns="0" tIns="0" bIns="0">
            <a:noAutofit/>
          </a:bodyPr>
          <a:lstStyle/>
          <a:p>
            <a:pPr algn="l"/>
            <a:r>
              <a:rPr sz="1100">
                <a:solidFill>
                  <a:srgbClr val="424245"/>
                </a:solidFill>
                <a:latin typeface="Cambria"/>
              </a:rPr>
              <a:t>マスキング精度</a:t>
            </a:r>
          </a:p>
        </p:txBody>
      </p:sp>
      <p:pic>
        <p:nvPicPr>
          <p:cNvPr id="19" name="Picture 18" descr="image.png"/>
          <p:cNvPicPr>
            <a:picLocks noChangeAspect="1"/>
          </p:cNvPicPr>
          <p:nvPr/>
        </p:nvPicPr>
        <p:blipFill>
          <a:blip r:embed="rId4"/>
          <a:stretch>
            <a:fillRect/>
          </a:stretch>
        </p:blipFill>
        <p:spPr>
          <a:xfrm>
            <a:off x="4631021" y="2963114"/>
            <a:ext cx="533094" cy="237744"/>
          </a:xfrm>
          <a:prstGeom prst="rect">
            <a:avLst/>
          </a:prstGeom>
          <a:ln w="0">
            <a:noFill/>
          </a:ln>
        </p:spPr>
      </p:pic>
      <p:sp>
        <p:nvSpPr>
          <p:cNvPr id="20" name="Rectangle 19"/>
          <p:cNvSpPr/>
          <p:nvPr/>
        </p:nvSpPr>
        <p:spPr>
          <a:xfrm>
            <a:off x="4631021" y="2963114"/>
            <a:ext cx="534010" cy="238657"/>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193377" y="3256636"/>
            <a:ext cx="2628900" cy="247801"/>
          </a:xfrm>
          <a:prstGeom prst="rect">
            <a:avLst/>
          </a:prstGeom>
          <a:ln w="0">
            <a:noFill/>
          </a:ln>
          <a:noFill/>
        </p:spPr>
        <p:txBody>
          <a:bodyPr wrap="square" lIns="0" rIns="0" tIns="0" bIns="0">
            <a:noAutofit/>
          </a:bodyPr>
          <a:lstStyle/>
          <a:p>
            <a:pPr algn="l"/>
            <a:r>
              <a:rPr sz="1100">
                <a:solidFill>
                  <a:srgbClr val="424245"/>
                </a:solidFill>
                <a:latin typeface="Cambria"/>
              </a:rPr>
              <a:t>意味分類精度</a:t>
            </a:r>
          </a:p>
        </p:txBody>
      </p:sp>
      <p:pic>
        <p:nvPicPr>
          <p:cNvPr id="22" name="Picture 21" descr="image.png"/>
          <p:cNvPicPr>
            <a:picLocks noChangeAspect="1"/>
          </p:cNvPicPr>
          <p:nvPr/>
        </p:nvPicPr>
        <p:blipFill>
          <a:blip r:embed="rId4"/>
          <a:stretch>
            <a:fillRect/>
          </a:stretch>
        </p:blipFill>
        <p:spPr>
          <a:xfrm>
            <a:off x="4631021" y="3266695"/>
            <a:ext cx="533094" cy="237743"/>
          </a:xfrm>
          <a:prstGeom prst="rect">
            <a:avLst/>
          </a:prstGeom>
          <a:ln w="0">
            <a:noFill/>
          </a:ln>
        </p:spPr>
      </p:pic>
      <p:sp>
        <p:nvSpPr>
          <p:cNvPr id="23" name="Rectangle 22"/>
          <p:cNvSpPr/>
          <p:nvPr/>
        </p:nvSpPr>
        <p:spPr>
          <a:xfrm>
            <a:off x="4631021" y="3266695"/>
            <a:ext cx="534010" cy="238658"/>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4497519" y="3559303"/>
            <a:ext cx="3248863" cy="228600"/>
          </a:xfrm>
          <a:prstGeom prst="rect">
            <a:avLst/>
          </a:prstGeom>
          <a:ln w="0">
            <a:noFill/>
          </a:ln>
          <a:noFill/>
        </p:spPr>
        <p:txBody>
          <a:bodyPr wrap="square" lIns="0" rIns="0" tIns="0" bIns="0">
            <a:noAutofit/>
          </a:bodyPr>
          <a:lstStyle/>
          <a:p>
            <a:pPr algn="l"/>
            <a:r>
              <a:rPr sz="1100">
                <a:solidFill>
                  <a:srgbClr val="424245"/>
                </a:solidFill>
                <a:latin typeface="Cambria"/>
              </a:rPr>
              <a:t>一部テンプレートの厳密運用</a:t>
            </a:r>
          </a:p>
        </p:txBody>
      </p:sp>
      <p:sp>
        <p:nvSpPr>
          <p:cNvPr id="25" name="Rounded Rectangle 24"/>
          <p:cNvSpPr/>
          <p:nvPr/>
        </p:nvSpPr>
        <p:spPr>
          <a:xfrm>
            <a:off x="8056364"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5"/>
          <a:stretch>
            <a:fillRect/>
          </a:stretch>
        </p:blipFill>
        <p:spPr>
          <a:xfrm>
            <a:off x="8256617" y="2596440"/>
            <a:ext cx="304494" cy="228600"/>
          </a:xfrm>
          <a:prstGeom prst="rect">
            <a:avLst/>
          </a:prstGeom>
          <a:ln w="0">
            <a:noFill/>
          </a:ln>
        </p:spPr>
      </p:pic>
      <p:sp>
        <p:nvSpPr>
          <p:cNvPr id="27" name="TextBox 26"/>
          <p:cNvSpPr txBox="1"/>
          <p:nvPr/>
        </p:nvSpPr>
        <p:spPr>
          <a:xfrm>
            <a:off x="8675413" y="2582724"/>
            <a:ext cx="1296619" cy="257861"/>
          </a:xfrm>
          <a:prstGeom prst="rect">
            <a:avLst/>
          </a:prstGeom>
          <a:ln w="0">
            <a:noFill/>
          </a:ln>
          <a:noFill/>
        </p:spPr>
        <p:txBody>
          <a:bodyPr wrap="square" lIns="0" rIns="0" tIns="0" bIns="0">
            <a:noAutofit/>
          </a:bodyPr>
          <a:lstStyle/>
          <a:p>
            <a:pPr algn="l"/>
            <a:r>
              <a:rPr sz="1300" b="1">
                <a:solidFill>
                  <a:srgbClr val="1D1D1F"/>
                </a:solidFill>
                <a:latin typeface="Noto Sans JP"/>
              </a:rPr>
              <a:t>今後の課題</a:t>
            </a:r>
          </a:p>
        </p:txBody>
      </p:sp>
      <p:sp>
        <p:nvSpPr>
          <p:cNvPr id="28" name="TextBox 27"/>
          <p:cNvSpPr txBox="1"/>
          <p:nvPr/>
        </p:nvSpPr>
        <p:spPr>
          <a:xfrm>
            <a:off x="8256617" y="2953970"/>
            <a:ext cx="3248863" cy="228600"/>
          </a:xfrm>
          <a:prstGeom prst="rect">
            <a:avLst/>
          </a:prstGeom>
          <a:ln w="0">
            <a:noFill/>
          </a:ln>
          <a:noFill/>
        </p:spPr>
        <p:txBody>
          <a:bodyPr wrap="square" lIns="0" rIns="0" tIns="0" bIns="0">
            <a:noAutofit/>
          </a:bodyPr>
          <a:lstStyle/>
          <a:p>
            <a:pPr algn="l"/>
            <a:r>
              <a:rPr sz="1100" b="1">
                <a:solidFill>
                  <a:srgbClr val="424245"/>
                </a:solidFill>
                <a:latin typeface="Cambria"/>
              </a:rPr>
              <a:t>テンプレート準拠率の定義</a:t>
            </a:r>
          </a:p>
        </p:txBody>
      </p:sp>
      <p:sp>
        <p:nvSpPr>
          <p:cNvPr id="29" name="TextBox 28"/>
          <p:cNvSpPr txBox="1"/>
          <p:nvPr/>
        </p:nvSpPr>
        <p:spPr>
          <a:xfrm>
            <a:off x="8256617" y="3239263"/>
            <a:ext cx="3248863" cy="228599"/>
          </a:xfrm>
          <a:prstGeom prst="rect">
            <a:avLst/>
          </a:prstGeom>
          <a:ln w="0">
            <a:noFill/>
          </a:ln>
          <a:noFill/>
        </p:spPr>
        <p:txBody>
          <a:bodyPr wrap="square" lIns="0" rIns="0" tIns="0" bIns="0">
            <a:noAutofit/>
          </a:bodyPr>
          <a:lstStyle/>
          <a:p>
            <a:pPr algn="l"/>
            <a:r>
              <a:rPr sz="1100" b="1">
                <a:solidFill>
                  <a:srgbClr val="424245"/>
                </a:solidFill>
                <a:latin typeface="Cambria"/>
              </a:rPr>
              <a:t>精度の定量評価</a:t>
            </a:r>
          </a:p>
        </p:txBody>
      </p:sp>
      <p:sp>
        <p:nvSpPr>
          <p:cNvPr id="30" name="TextBox 29"/>
          <p:cNvSpPr txBox="1"/>
          <p:nvPr/>
        </p:nvSpPr>
        <p:spPr>
          <a:xfrm>
            <a:off x="8256617" y="3525470"/>
            <a:ext cx="3248863" cy="228600"/>
          </a:xfrm>
          <a:prstGeom prst="rect">
            <a:avLst/>
          </a:prstGeom>
          <a:ln w="0">
            <a:noFill/>
          </a:ln>
          <a:noFill/>
        </p:spPr>
        <p:txBody>
          <a:bodyPr wrap="square" lIns="0" rIns="0" tIns="0" bIns="0">
            <a:noAutofit/>
          </a:bodyPr>
          <a:lstStyle/>
          <a:p>
            <a:pPr algn="l"/>
            <a:r>
              <a:rPr sz="1100" b="1">
                <a:solidFill>
                  <a:srgbClr val="424245"/>
                </a:solidFill>
                <a:latin typeface="Cambria"/>
              </a:rPr>
              <a:t>利用シーンごとの運用整理</a:t>
            </a:r>
          </a:p>
        </p:txBody>
      </p:sp>
      <p:sp>
        <p:nvSpPr>
          <p:cNvPr id="31" name="Rounded Rectangle 30"/>
          <p:cNvSpPr/>
          <p:nvPr/>
        </p:nvSpPr>
        <p:spPr>
          <a:xfrm>
            <a:off x="538167" y="4274364"/>
            <a:ext cx="7295997" cy="1647749"/>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6"/>
          <a:stretch>
            <a:fillRect/>
          </a:stretch>
        </p:blipFill>
        <p:spPr>
          <a:xfrm>
            <a:off x="738421" y="4488333"/>
            <a:ext cx="304495" cy="228600"/>
          </a:xfrm>
          <a:prstGeom prst="rect">
            <a:avLst/>
          </a:prstGeom>
          <a:ln w="0">
            <a:noFill/>
          </a:ln>
        </p:spPr>
      </p:pic>
      <p:sp>
        <p:nvSpPr>
          <p:cNvPr id="33" name="TextBox 32"/>
          <p:cNvSpPr txBox="1"/>
          <p:nvPr/>
        </p:nvSpPr>
        <p:spPr>
          <a:xfrm>
            <a:off x="1157216" y="4473703"/>
            <a:ext cx="3656686" cy="257860"/>
          </a:xfrm>
          <a:prstGeom prst="rect">
            <a:avLst/>
          </a:prstGeom>
          <a:ln w="0">
            <a:noFill/>
          </a:ln>
          <a:noFill/>
        </p:spPr>
        <p:txBody>
          <a:bodyPr wrap="square" lIns="0" rIns="0" tIns="0" bIns="0">
            <a:noAutofit/>
          </a:bodyPr>
          <a:lstStyle/>
          <a:p>
            <a:pPr algn="l"/>
          </a:p>
        </p:txBody>
      </p:sp>
      <p:sp>
        <p:nvSpPr>
          <p:cNvPr id="34" name="TextBox 33"/>
          <p:cNvSpPr txBox="1"/>
          <p:nvPr/>
        </p:nvSpPr>
        <p:spPr>
          <a:xfrm>
            <a:off x="738421" y="4855008"/>
            <a:ext cx="2595982" cy="200253"/>
          </a:xfrm>
          <a:prstGeom prst="rect">
            <a:avLst/>
          </a:prstGeom>
          <a:ln w="0">
            <a:noFill/>
          </a:ln>
          <a:noFill/>
        </p:spPr>
        <p:txBody>
          <a:bodyPr wrap="square" lIns="0" rIns="0" tIns="0" bIns="0">
            <a:noAutofit/>
          </a:bodyPr>
          <a:lstStyle/>
          <a:p>
            <a:pPr algn="l"/>
          </a:p>
        </p:txBody>
      </p:sp>
      <p:sp>
        <p:nvSpPr>
          <p:cNvPr id="35" name="TextBox 34"/>
          <p:cNvSpPr txBox="1"/>
          <p:nvPr/>
        </p:nvSpPr>
        <p:spPr>
          <a:xfrm>
            <a:off x="738421" y="5150359"/>
            <a:ext cx="3419855" cy="228600"/>
          </a:xfrm>
          <a:prstGeom prst="rect">
            <a:avLst/>
          </a:prstGeom>
          <a:ln w="0">
            <a:noFill/>
          </a:ln>
          <a:noFill/>
        </p:spPr>
        <p:txBody>
          <a:bodyPr wrap="square" lIns="0" rIns="0" tIns="0" bIns="0">
            <a:noAutofit/>
          </a:bodyPr>
          <a:lstStyle/>
          <a:p>
            <a:pPr algn="l"/>
          </a:p>
        </p:txBody>
      </p:sp>
      <p:sp>
        <p:nvSpPr>
          <p:cNvPr id="36" name="TextBox 35"/>
          <p:cNvSpPr txBox="1"/>
          <p:nvPr/>
        </p:nvSpPr>
        <p:spPr>
          <a:xfrm>
            <a:off x="738421" y="5435652"/>
            <a:ext cx="3419855" cy="228600"/>
          </a:xfrm>
          <a:prstGeom prst="rect">
            <a:avLst/>
          </a:prstGeom>
          <a:ln w="0">
            <a:noFill/>
          </a:ln>
          <a:noFill/>
        </p:spPr>
        <p:txBody>
          <a:bodyPr wrap="square" lIns="0" rIns="0" tIns="0" bIns="0">
            <a:noAutofit/>
          </a:bodyPr>
          <a:lstStyle/>
          <a:p>
            <a:pPr algn="l"/>
          </a:p>
        </p:txBody>
      </p:sp>
      <p:sp>
        <p:nvSpPr>
          <p:cNvPr id="37" name="Rectangle 36"/>
          <p:cNvSpPr/>
          <p:nvPr/>
        </p:nvSpPr>
        <p:spPr>
          <a:xfrm>
            <a:off x="4178393" y="4845864"/>
            <a:ext cx="9144" cy="875994"/>
          </a:xfrm>
          <a:prstGeom prst="rect">
            <a:avLst/>
          </a:prstGeom>
          <a:solidFill>
            <a:srgbClr val="E5E5E5">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331098" y="4855008"/>
            <a:ext cx="2296972" cy="200253"/>
          </a:xfrm>
          <a:prstGeom prst="rect">
            <a:avLst/>
          </a:prstGeom>
          <a:ln w="0">
            <a:noFill/>
          </a:ln>
          <a:noFill/>
        </p:spPr>
        <p:txBody>
          <a:bodyPr wrap="square" lIns="0" rIns="0" tIns="0" bIns="0">
            <a:noAutofit/>
          </a:bodyPr>
          <a:lstStyle/>
          <a:p>
            <a:pPr algn="l"/>
          </a:p>
        </p:txBody>
      </p:sp>
      <p:sp>
        <p:nvSpPr>
          <p:cNvPr id="39" name="TextBox 38"/>
          <p:cNvSpPr txBox="1"/>
          <p:nvPr/>
        </p:nvSpPr>
        <p:spPr>
          <a:xfrm>
            <a:off x="4331098" y="5150359"/>
            <a:ext cx="3419855" cy="228600"/>
          </a:xfrm>
          <a:prstGeom prst="rect">
            <a:avLst/>
          </a:prstGeom>
          <a:ln w="0">
            <a:noFill/>
          </a:ln>
          <a:noFill/>
        </p:spPr>
        <p:txBody>
          <a:bodyPr wrap="square" lIns="0" rIns="0" tIns="0" bIns="0">
            <a:noAutofit/>
          </a:bodyPr>
          <a:lstStyle/>
          <a:p>
            <a:pPr algn="l"/>
          </a:p>
        </p:txBody>
      </p:sp>
      <p:sp>
        <p:nvSpPr>
          <p:cNvPr id="40" name="TextBox 39"/>
          <p:cNvSpPr txBox="1"/>
          <p:nvPr/>
        </p:nvSpPr>
        <p:spPr>
          <a:xfrm>
            <a:off x="4331098" y="5435652"/>
            <a:ext cx="3419855" cy="228600"/>
          </a:xfrm>
          <a:prstGeom prst="rect">
            <a:avLst/>
          </a:prstGeom>
          <a:ln w="0">
            <a:noFill/>
          </a:ln>
          <a:noFill/>
        </p:spPr>
        <p:txBody>
          <a:bodyPr wrap="square" lIns="0" rIns="0" tIns="0" bIns="0">
            <a:noAutofit/>
          </a:bodyPr>
          <a:lstStyle/>
          <a:p>
            <a:pPr algn="l"/>
          </a:p>
        </p:txBody>
      </p:sp>
      <p:sp>
        <p:nvSpPr>
          <p:cNvPr id="41" name="Rounded Rectangle 40"/>
          <p:cNvSpPr/>
          <p:nvPr/>
        </p:nvSpPr>
        <p:spPr>
          <a:xfrm>
            <a:off x="8056364" y="4274364"/>
            <a:ext cx="3534155" cy="1647749"/>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42" name="Picture 41" descr="image.png"/>
          <p:cNvPicPr>
            <a:picLocks noChangeAspect="1"/>
          </p:cNvPicPr>
          <p:nvPr/>
        </p:nvPicPr>
        <p:blipFill>
          <a:blip r:embed="rId7"/>
          <a:stretch>
            <a:fillRect/>
          </a:stretch>
        </p:blipFill>
        <p:spPr>
          <a:xfrm>
            <a:off x="8256617" y="4488333"/>
            <a:ext cx="304494" cy="228600"/>
          </a:xfrm>
          <a:prstGeom prst="rect">
            <a:avLst/>
          </a:prstGeom>
          <a:ln w="0">
            <a:noFill/>
          </a:ln>
        </p:spPr>
      </p:pic>
      <p:sp>
        <p:nvSpPr>
          <p:cNvPr id="43" name="TextBox 42"/>
          <p:cNvSpPr txBox="1"/>
          <p:nvPr/>
        </p:nvSpPr>
        <p:spPr>
          <a:xfrm>
            <a:off x="8675413" y="4473703"/>
            <a:ext cx="1110996" cy="257860"/>
          </a:xfrm>
          <a:prstGeom prst="rect">
            <a:avLst/>
          </a:prstGeom>
          <a:ln w="0">
            <a:noFill/>
          </a:ln>
          <a:noFill/>
        </p:spPr>
        <p:txBody>
          <a:bodyPr wrap="square" lIns="0" rIns="0" tIns="0" bIns="0">
            <a:noAutofit/>
          </a:bodyPr>
          <a:lstStyle/>
          <a:p>
            <a:pPr algn="l"/>
          </a:p>
        </p:txBody>
      </p:sp>
      <p:sp>
        <p:nvSpPr>
          <p:cNvPr id="44" name="TextBox 43"/>
          <p:cNvSpPr txBox="1"/>
          <p:nvPr/>
        </p:nvSpPr>
        <p:spPr>
          <a:xfrm>
            <a:off x="8256617" y="4845864"/>
            <a:ext cx="3248863" cy="228600"/>
          </a:xfrm>
          <a:prstGeom prst="rect">
            <a:avLst/>
          </a:prstGeom>
          <a:ln w="0">
            <a:noFill/>
          </a:ln>
          <a:noFill/>
        </p:spPr>
        <p:txBody>
          <a:bodyPr wrap="square" lIns="0" rIns="0" tIns="0" bIns="0">
            <a:noAutofit/>
          </a:bodyPr>
          <a:lstStyle/>
          <a:p>
            <a:pPr algn="l"/>
          </a:p>
        </p:txBody>
      </p:sp>
      <p:sp>
        <p:nvSpPr>
          <p:cNvPr id="45" name="TextBox 44"/>
          <p:cNvSpPr txBox="1"/>
          <p:nvPr/>
        </p:nvSpPr>
        <p:spPr>
          <a:xfrm>
            <a:off x="8256617" y="5131157"/>
            <a:ext cx="3248863" cy="228600"/>
          </a:xfrm>
          <a:prstGeom prst="rect">
            <a:avLst/>
          </a:prstGeom>
          <a:ln w="0">
            <a:noFill/>
          </a:ln>
          <a:noFill/>
        </p:spPr>
        <p:txBody>
          <a:bodyPr wrap="square" lIns="0" rIns="0" tIns="0" bIns="0">
            <a:noAutofit/>
          </a:bodyPr>
          <a:lstStyle/>
          <a:p>
            <a:pPr algn="l"/>
          </a:p>
        </p:txBody>
      </p:sp>
      <p:sp>
        <p:nvSpPr>
          <p:cNvPr id="46" name="TextBox 45"/>
          <p:cNvSpPr txBox="1"/>
          <p:nvPr/>
        </p:nvSpPr>
        <p:spPr>
          <a:xfrm>
            <a:off x="8256617" y="5417364"/>
            <a:ext cx="3248863" cy="228600"/>
          </a:xfrm>
          <a:prstGeom prst="rect">
            <a:avLst/>
          </a:prstGeom>
          <a:ln w="0">
            <a:noFill/>
          </a:ln>
          <a:noFill/>
        </p:spPr>
        <p:txBody>
          <a:bodyPr wrap="square" lIns="0" rIns="0" tIns="0" bIns="0">
            <a:noAutofit/>
          </a:bodyPr>
          <a:lstStyle/>
          <a:p>
            <a:pPr algn="l"/>
          </a:p>
        </p:txBody>
      </p:sp>
      <p:pic>
        <p:nvPicPr>
          <p:cNvPr id="47" name="Picture 46" descr="image.png"/>
          <p:cNvPicPr>
            <a:picLocks noChangeAspect="1"/>
          </p:cNvPicPr>
          <p:nvPr/>
        </p:nvPicPr>
        <p:blipFill>
          <a:blip r:embed="rId8"/>
          <a:stretch>
            <a:fillRect/>
          </a:stretch>
        </p:blipFill>
        <p:spPr>
          <a:xfrm>
            <a:off x="4455871" y="6242541"/>
            <a:ext cx="133501" cy="133501"/>
          </a:xfrm>
          <a:prstGeom prst="rect">
            <a:avLst/>
          </a:prstGeom>
          <a:ln w="0">
            <a:noFill/>
          </a:ln>
        </p:spPr>
      </p:pic>
      <p:sp>
        <p:nvSpPr>
          <p:cNvPr id="48" name="TextBox 47"/>
          <p:cNvSpPr txBox="1"/>
          <p:nvPr/>
        </p:nvSpPr>
        <p:spPr>
          <a:xfrm>
            <a:off x="4656123" y="6202719"/>
            <a:ext cx="7535571" cy="213146"/>
          </a:xfrm>
          <a:prstGeom prst="rect">
            <a:avLst/>
          </a:prstGeom>
          <a:ln w="0">
            <a:noFill/>
          </a:ln>
          <a:noFill/>
        </p:spPr>
        <p:txBody>
          <a:bodyPr wrap="square" lIns="0" rIns="0" tIns="0" bIns="0">
            <a:noAutofit/>
          </a:bodyPr>
          <a:lstStyle/>
          <a:p/>
        </p:txBody>
      </p:sp>
      <p:sp>
        <p:nvSpPr>
          <p:cNvPr id="49" name="Rectangle 48"/>
          <p:cNvSpPr/>
          <p:nvPr/>
        </p:nvSpPr>
        <p:spPr>
          <a:xfrm>
            <a:off x="0" y="6471666"/>
            <a:ext cx="12192610" cy="381304"/>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900">
                <a:solidFill>
                  <a:srgbClr val="86868B"/>
                </a:solidFill>
                <a:latin typeface="Cambria"/>
              </a:rPr>
              <a:t>Page 11 | 一次情報の収集・安全化・構造化による生成AI活用の試作</a:t>
            </a:r>
          </a:p>
        </p:txBody>
      </p:sp>
      <p:pic>
        <p:nvPicPr>
          <p:cNvPr id="50" name="Picture 49" descr="image.png"/>
          <p:cNvPicPr>
            <a:picLocks noChangeAspect="1"/>
          </p:cNvPicPr>
          <p:nvPr/>
        </p:nvPicPr>
        <p:blipFill>
          <a:blip r:embed="rId9"/>
          <a:stretch>
            <a:fillRect/>
          </a:stretch>
        </p:blipFill>
        <p:spPr>
          <a:xfrm>
            <a:off x="475532" y="571500"/>
            <a:ext cx="304495" cy="304494"/>
          </a:xfrm>
          <a:prstGeom prst="rect">
            <a:avLst/>
          </a:prstGeom>
          <a:ln w="0">
            <a:noFill/>
          </a:ln>
        </p:spPr>
      </p:pic>
      <p:sp>
        <p:nvSpPr>
          <p:cNvPr id="51" name="Rectangle 50"/>
          <p:cNvSpPr/>
          <p:nvPr/>
        </p:nvSpPr>
        <p:spPr>
          <a:xfrm>
            <a:off x="0" y="0"/>
            <a:ext cx="12192001" cy="54865"/>
          </a:xfrm>
          <a:prstGeom prst="rect">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ectangle 51"/>
          <p:cNvSpPr/>
          <p:nvPr/>
        </p:nvSpPr>
        <p:spPr>
          <a:xfrm>
            <a:off x="305" y="1032380"/>
            <a:ext cx="12191695" cy="35999"/>
          </a:xfrm>
          <a:prstGeom prst="rect">
            <a:avLst/>
          </a:prstGeom>
          <a:solidFill>
            <a:srgbClr val="E5E5E5"/>
          </a:solidFill>
          <a:ln w="12700"/>
        </p:spPr>
        <p:style>
          <a:lnRef idx="0">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