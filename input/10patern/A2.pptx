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7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705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216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6430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0C01BF1-763D-54F8-4C32-94913549EF75}"/>
              </a:ext>
            </a:extLst>
          </p:cNvPr>
          <p:cNvSpPr/>
          <p:nvPr/>
        </p:nvSpPr>
        <p:spPr>
          <a:xfrm>
            <a:off x="-1830" y="6476695"/>
            <a:ext cx="12192609" cy="381305"/>
          </a:xfrm>
          <a:prstGeom prst="rect">
            <a:avLst/>
          </a:prstGeom>
          <a:solidFill>
            <a:srgbClr val="F6F5F8"/>
          </a:solidFill>
          <a:ln w="15875"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961A5E4-C73D-57E7-7503-24435639F58A}"/>
              </a:ext>
            </a:extLst>
          </p:cNvPr>
          <p:cNvSpPr/>
          <p:nvPr/>
        </p:nvSpPr>
        <p:spPr>
          <a:xfrm>
            <a:off x="305" y="1032380"/>
            <a:ext cx="12191695" cy="36000"/>
          </a:xfrm>
          <a:prstGeom prst="rect">
            <a:avLst/>
          </a:prstGeom>
          <a:solidFill>
            <a:srgbClr val="E5E5E5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6" name="Text 31">
            <a:extLst>
              <a:ext uri="{FF2B5EF4-FFF2-40B4-BE49-F238E27FC236}">
                <a16:creationId xmlns:a16="http://schemas.microsoft.com/office/drawing/2014/main" id="{DE5D0BEE-1645-8C3E-2036-B609C47BB7D7}"/>
              </a:ext>
            </a:extLst>
          </p:cNvPr>
          <p:cNvSpPr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Page 1 |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ローカル</a:t>
            </a: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AI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技術調査レポート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75793" y="221683"/>
            <a:ext cx="3238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カテゴリ別代表モデル・ランタイム・主用途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685" r="-685"/>
          <a:stretch/>
        </p:blipFill>
        <p:spPr>
          <a:xfrm>
            <a:off x="457200" y="590701"/>
            <a:ext cx="304495" cy="2670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00226" y="519598"/>
            <a:ext cx="44394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ローカル</a:t>
            </a:r>
            <a:r>
              <a:rPr lang="en-US" sz="21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AI</a:t>
            </a:r>
            <a:r>
              <a:rPr lang="en-US" sz="21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ランドスケープ（詳細）</a:t>
            </a:r>
            <a:endParaRPr lang="en-US" sz="2100" dirty="0"/>
          </a:p>
        </p:txBody>
      </p:sp>
      <p:sp>
        <p:nvSpPr>
          <p:cNvPr id="11" name="Shape 7"/>
          <p:cNvSpPr/>
          <p:nvPr/>
        </p:nvSpPr>
        <p:spPr>
          <a:xfrm>
            <a:off x="457200" y="1489863"/>
            <a:ext cx="3657600" cy="1505102"/>
          </a:xfrm>
          <a:prstGeom prst="roundRect">
            <a:avLst>
              <a:gd name="adj" fmla="val 307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 sz="2400"/>
          </a:p>
        </p:txBody>
      </p:sp>
      <p:sp>
        <p:nvSpPr>
          <p:cNvPr id="12" name="Shape 8"/>
          <p:cNvSpPr/>
          <p:nvPr/>
        </p:nvSpPr>
        <p:spPr>
          <a:xfrm>
            <a:off x="599846" y="1927861"/>
            <a:ext cx="33723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240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rcRect l="-12275" r="-12275"/>
          <a:stretch/>
        </p:blipFill>
        <p:spPr>
          <a:xfrm>
            <a:off x="599846" y="1639413"/>
            <a:ext cx="190195" cy="15270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66850" y="1563060"/>
            <a:ext cx="150510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テキスト</a:t>
            </a:r>
            <a:r>
              <a:rPr lang="en-US" sz="14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LLM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599846" y="2046733"/>
            <a:ext cx="600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形式</a:t>
            </a:r>
            <a:r>
              <a:rPr lang="en-US" sz="1050" b="1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</a:t>
            </a:r>
            <a:endParaRPr lang="en-US" sz="1050" dirty="0">
              <a:latin typeface="Cambria" panose="02040503050406030204" pitchFamily="18" charset="0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1181405" y="2046733"/>
            <a:ext cx="28675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GGUF (llama.cpp</a:t>
            </a: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必須</a:t>
            </a: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), GPTQ/AWQ/EXL2 (GPU</a:t>
            </a: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向け</a:t>
            </a: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)</a:t>
            </a:r>
            <a:endParaRPr lang="en-US" sz="1050" dirty="0">
              <a:latin typeface="Cambria" panose="02040503050406030204" pitchFamily="18" charset="0"/>
            </a:endParaRPr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9381" y="2252744"/>
            <a:ext cx="247802" cy="16184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729381" y="2252744"/>
            <a:ext cx="247802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[21]</a:t>
            </a:r>
            <a:endParaRPr lang="en-US" sz="1000" dirty="0">
              <a:latin typeface="Cambria" panose="02040503050406030204" pitchFamily="18" charset="0"/>
            </a:endParaRPr>
          </a:p>
        </p:txBody>
      </p:sp>
      <p:sp>
        <p:nvSpPr>
          <p:cNvPr id="19" name="Text 13"/>
          <p:cNvSpPr txBox="1"/>
          <p:nvPr/>
        </p:nvSpPr>
        <p:spPr>
          <a:xfrm>
            <a:off x="599846" y="2447240"/>
            <a:ext cx="600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</a:t>
            </a:r>
            <a:r>
              <a:rPr lang="en-US" sz="1050" b="1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</a:t>
            </a:r>
            <a:endParaRPr lang="en-US" sz="1050" dirty="0">
              <a:latin typeface="Cambria" panose="02040503050406030204" pitchFamily="18" charset="0"/>
            </a:endParaRPr>
          </a:p>
        </p:txBody>
      </p:sp>
      <p:sp>
        <p:nvSpPr>
          <p:cNvPr id="20" name="Text 14"/>
          <p:cNvSpPr txBox="1"/>
          <p:nvPr/>
        </p:nvSpPr>
        <p:spPr>
          <a:xfrm>
            <a:off x="1181405" y="2447240"/>
            <a:ext cx="243779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Llama 3.1, Qwen2.5, Gemma 2, Phi-3/4</a:t>
            </a:r>
            <a:endParaRPr lang="en-US" sz="1050" dirty="0">
              <a:latin typeface="Cambria" panose="02040503050406030204" pitchFamily="18" charset="0"/>
            </a:endParaRPr>
          </a:p>
        </p:txBody>
      </p:sp>
      <p:sp>
        <p:nvSpPr>
          <p:cNvPr id="21" name="Text 15"/>
          <p:cNvSpPr txBox="1"/>
          <p:nvPr/>
        </p:nvSpPr>
        <p:spPr>
          <a:xfrm>
            <a:off x="599846" y="2675840"/>
            <a:ext cx="600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用途</a:t>
            </a:r>
            <a:r>
              <a:rPr lang="en-US" sz="1050" b="1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</a:t>
            </a:r>
            <a:endParaRPr lang="en-US" sz="1050" dirty="0">
              <a:latin typeface="Cambria" panose="02040503050406030204" pitchFamily="18" charset="0"/>
            </a:endParaRPr>
          </a:p>
        </p:txBody>
      </p:sp>
      <p:sp>
        <p:nvSpPr>
          <p:cNvPr id="22" name="Text 16"/>
          <p:cNvSpPr txBox="1"/>
          <p:nvPr/>
        </p:nvSpPr>
        <p:spPr>
          <a:xfrm>
            <a:off x="1181405" y="2675840"/>
            <a:ext cx="15480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汎用対話</a:t>
            </a: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, </a:t>
            </a: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要約</a:t>
            </a: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, RAG, </a:t>
            </a: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翻訳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267505" y="1489863"/>
            <a:ext cx="3657600" cy="1505102"/>
          </a:xfrm>
          <a:prstGeom prst="roundRect">
            <a:avLst>
              <a:gd name="adj" fmla="val 307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 sz="2400"/>
          </a:p>
        </p:txBody>
      </p:sp>
      <p:sp>
        <p:nvSpPr>
          <p:cNvPr id="24" name="Shape 18"/>
          <p:cNvSpPr/>
          <p:nvPr/>
        </p:nvSpPr>
        <p:spPr>
          <a:xfrm>
            <a:off x="4410151" y="1927861"/>
            <a:ext cx="33723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240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rcRect l="-12275" r="-12275"/>
          <a:stretch/>
        </p:blipFill>
        <p:spPr>
          <a:xfrm>
            <a:off x="4410151" y="1639413"/>
            <a:ext cx="190195" cy="15270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677156" y="1563060"/>
            <a:ext cx="146852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VLM / LMM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27" name="Text 20"/>
          <p:cNvSpPr txBox="1"/>
          <p:nvPr/>
        </p:nvSpPr>
        <p:spPr>
          <a:xfrm>
            <a:off x="4410151" y="2046733"/>
            <a:ext cx="600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</a:t>
            </a:r>
            <a:r>
              <a:rPr lang="en-US" sz="1050" b="1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</a:t>
            </a:r>
            <a:endParaRPr lang="en-US" sz="1050" dirty="0">
              <a:latin typeface="Cambria" panose="02040503050406030204" pitchFamily="18" charset="0"/>
            </a:endParaRPr>
          </a:p>
        </p:txBody>
      </p:sp>
      <p:sp>
        <p:nvSpPr>
          <p:cNvPr id="28" name="Text 21"/>
          <p:cNvSpPr txBox="1"/>
          <p:nvPr/>
        </p:nvSpPr>
        <p:spPr>
          <a:xfrm>
            <a:off x="4990795" y="2046733"/>
            <a:ext cx="191566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Qwen2-VL, Phi-3-Vision, LLaVA</a:t>
            </a:r>
            <a:endParaRPr lang="en-US" sz="1050" dirty="0">
              <a:latin typeface="Cambria" panose="02040503050406030204" pitchFamily="18" charset="0"/>
            </a:endParaRPr>
          </a:p>
        </p:txBody>
      </p:sp>
      <p:sp>
        <p:nvSpPr>
          <p:cNvPr id="29" name="Text 22"/>
          <p:cNvSpPr txBox="1"/>
          <p:nvPr/>
        </p:nvSpPr>
        <p:spPr>
          <a:xfrm>
            <a:off x="4410151" y="2275333"/>
            <a:ext cx="600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</a:t>
            </a:r>
            <a:r>
              <a:rPr lang="en-US" sz="1050" b="1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</a:t>
            </a:r>
            <a:endParaRPr lang="en-US" sz="1050" dirty="0">
              <a:latin typeface="Cambria" panose="02040503050406030204" pitchFamily="18" charset="0"/>
            </a:endParaRPr>
          </a:p>
        </p:txBody>
      </p:sp>
      <p:sp>
        <p:nvSpPr>
          <p:cNvPr id="30" name="Text 23"/>
          <p:cNvSpPr txBox="1"/>
          <p:nvPr/>
        </p:nvSpPr>
        <p:spPr>
          <a:xfrm>
            <a:off x="4990795" y="2275333"/>
            <a:ext cx="276148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MLX-VLM (Mac</a:t>
            </a: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最適化</a:t>
            </a: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), Transformers, vLLM</a:t>
            </a:r>
            <a:endParaRPr lang="en-US" sz="1050" dirty="0">
              <a:latin typeface="Cambria" panose="02040503050406030204" pitchFamily="18" charset="0"/>
            </a:endParaRPr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0376" y="2284477"/>
            <a:ext cx="247802" cy="16184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580376" y="2284477"/>
            <a:ext cx="247802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[28]</a:t>
            </a:r>
            <a:endParaRPr lang="en-US" sz="1000" dirty="0">
              <a:latin typeface="Cambria" panose="02040503050406030204" pitchFamily="18" charset="0"/>
            </a:endParaRPr>
          </a:p>
        </p:txBody>
      </p:sp>
      <p:sp>
        <p:nvSpPr>
          <p:cNvPr id="33" name="Text 25"/>
          <p:cNvSpPr txBox="1"/>
          <p:nvPr/>
        </p:nvSpPr>
        <p:spPr>
          <a:xfrm>
            <a:off x="4410151" y="2503933"/>
            <a:ext cx="600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用途</a:t>
            </a:r>
            <a:r>
              <a:rPr lang="en-US" sz="1050" b="1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</a:t>
            </a:r>
            <a:endParaRPr lang="en-US" sz="1050" dirty="0">
              <a:latin typeface="Cambria" panose="02040503050406030204" pitchFamily="18" charset="0"/>
            </a:endParaRPr>
          </a:p>
        </p:txBody>
      </p:sp>
      <p:sp>
        <p:nvSpPr>
          <p:cNvPr id="34" name="Text 26"/>
          <p:cNvSpPr txBox="1"/>
          <p:nvPr/>
        </p:nvSpPr>
        <p:spPr>
          <a:xfrm>
            <a:off x="4990795" y="2503933"/>
            <a:ext cx="155082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画像理解</a:t>
            </a: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, OCR</a:t>
            </a: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代替</a:t>
            </a: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, UI</a:t>
            </a: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解析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8076895" y="1489863"/>
            <a:ext cx="3657600" cy="1505102"/>
          </a:xfrm>
          <a:prstGeom prst="roundRect">
            <a:avLst>
              <a:gd name="adj" fmla="val 307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 sz="2400"/>
          </a:p>
        </p:txBody>
      </p:sp>
      <p:sp>
        <p:nvSpPr>
          <p:cNvPr id="36" name="Shape 28"/>
          <p:cNvSpPr/>
          <p:nvPr/>
        </p:nvSpPr>
        <p:spPr>
          <a:xfrm>
            <a:off x="8220456" y="1927861"/>
            <a:ext cx="33723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2400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7"/>
          <a:srcRect l="-33034" r="-33034"/>
          <a:stretch/>
        </p:blipFill>
        <p:spPr>
          <a:xfrm>
            <a:off x="8220456" y="1639413"/>
            <a:ext cx="190195" cy="152705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8486546" y="1563060"/>
            <a:ext cx="159773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ASR</a:t>
            </a:r>
            <a:r>
              <a:rPr lang="en-US" sz="14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（音声認識）</a:t>
            </a:r>
            <a:endParaRPr lang="en-US" sz="1400" dirty="0"/>
          </a:p>
        </p:txBody>
      </p:sp>
      <p:sp>
        <p:nvSpPr>
          <p:cNvPr id="39" name="Text 30"/>
          <p:cNvSpPr txBox="1"/>
          <p:nvPr/>
        </p:nvSpPr>
        <p:spPr>
          <a:xfrm>
            <a:off x="8220456" y="2046733"/>
            <a:ext cx="600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方式</a:t>
            </a:r>
            <a:r>
              <a:rPr lang="en-US" sz="1050" b="1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</a:t>
            </a:r>
            <a:endParaRPr lang="en-US" sz="1050" dirty="0">
              <a:latin typeface="Cambria" panose="02040503050406030204" pitchFamily="18" charset="0"/>
            </a:endParaRPr>
          </a:p>
        </p:txBody>
      </p:sp>
      <p:sp>
        <p:nvSpPr>
          <p:cNvPr id="40" name="Text 31"/>
          <p:cNvSpPr txBox="1"/>
          <p:nvPr/>
        </p:nvSpPr>
        <p:spPr>
          <a:xfrm>
            <a:off x="8801100" y="2046733"/>
            <a:ext cx="289041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Whisper</a:t>
            </a: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系</a:t>
            </a: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(faster-whisper, whisper.cpp)</a:t>
            </a:r>
            <a:endParaRPr lang="en-US" sz="1050" dirty="0">
              <a:latin typeface="Cambria" panose="02040503050406030204" pitchFamily="18" charset="0"/>
            </a:endParaRPr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70444" y="2058923"/>
            <a:ext cx="247802" cy="161849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11170444" y="2058923"/>
            <a:ext cx="247802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[50]</a:t>
            </a:r>
            <a:endParaRPr lang="en-US" sz="1000" dirty="0">
              <a:latin typeface="Cambria" panose="02040503050406030204" pitchFamily="18" charset="0"/>
            </a:endParaRPr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6857" y="2260930"/>
            <a:ext cx="247802" cy="161849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11436857" y="2260930"/>
            <a:ext cx="247802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[51]</a:t>
            </a:r>
            <a:endParaRPr lang="en-US" sz="1000" dirty="0">
              <a:latin typeface="Cambria" panose="02040503050406030204" pitchFamily="18" charset="0"/>
            </a:endParaRPr>
          </a:p>
        </p:txBody>
      </p:sp>
      <p:sp>
        <p:nvSpPr>
          <p:cNvPr id="45" name="Text 34"/>
          <p:cNvSpPr txBox="1"/>
          <p:nvPr/>
        </p:nvSpPr>
        <p:spPr>
          <a:xfrm>
            <a:off x="8220456" y="2275333"/>
            <a:ext cx="600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特徴</a:t>
            </a:r>
            <a:r>
              <a:rPr lang="en-US" sz="1050" b="1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</a:t>
            </a:r>
            <a:endParaRPr lang="en-US" sz="1050" dirty="0">
              <a:latin typeface="Cambria" panose="02040503050406030204" pitchFamily="18" charset="0"/>
            </a:endParaRPr>
          </a:p>
        </p:txBody>
      </p:sp>
      <p:sp>
        <p:nvSpPr>
          <p:cNvPr id="46" name="Text 35"/>
          <p:cNvSpPr txBox="1"/>
          <p:nvPr/>
        </p:nvSpPr>
        <p:spPr>
          <a:xfrm>
            <a:off x="8801100" y="2256131"/>
            <a:ext cx="2607868" cy="191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CTranslate2</a:t>
            </a: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で高速・省メモリ</a:t>
            </a: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, C++</a:t>
            </a: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軽量実装</a:t>
            </a:r>
            <a:endParaRPr lang="en-US" sz="1050" dirty="0"/>
          </a:p>
        </p:txBody>
      </p:sp>
      <p:sp>
        <p:nvSpPr>
          <p:cNvPr id="47" name="Text 36"/>
          <p:cNvSpPr txBox="1"/>
          <p:nvPr/>
        </p:nvSpPr>
        <p:spPr>
          <a:xfrm>
            <a:off x="8220456" y="2503933"/>
            <a:ext cx="600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用途</a:t>
            </a:r>
            <a:r>
              <a:rPr lang="en-US" sz="1050" b="1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</a:t>
            </a:r>
            <a:endParaRPr lang="en-US" sz="1050" dirty="0">
              <a:latin typeface="Cambria" panose="02040503050406030204" pitchFamily="18" charset="0"/>
            </a:endParaRPr>
          </a:p>
        </p:txBody>
      </p:sp>
      <p:sp>
        <p:nvSpPr>
          <p:cNvPr id="48" name="Text 37"/>
          <p:cNvSpPr txBox="1"/>
          <p:nvPr/>
        </p:nvSpPr>
        <p:spPr>
          <a:xfrm>
            <a:off x="8801100" y="2503933"/>
            <a:ext cx="24181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議事録</a:t>
            </a: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, </a:t>
            </a: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音声コマンド</a:t>
            </a: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, </a:t>
            </a: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文字起こし</a:t>
            </a:r>
            <a:endParaRPr lang="en-US" sz="1050" dirty="0"/>
          </a:p>
        </p:txBody>
      </p:sp>
      <p:sp>
        <p:nvSpPr>
          <p:cNvPr id="49" name="Shape 38"/>
          <p:cNvSpPr/>
          <p:nvPr/>
        </p:nvSpPr>
        <p:spPr>
          <a:xfrm>
            <a:off x="457200" y="3142184"/>
            <a:ext cx="3657600" cy="1333195"/>
          </a:xfrm>
          <a:prstGeom prst="roundRect">
            <a:avLst>
              <a:gd name="adj" fmla="val 391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 sz="2400"/>
          </a:p>
        </p:txBody>
      </p:sp>
      <p:sp>
        <p:nvSpPr>
          <p:cNvPr id="50" name="Shape 39"/>
          <p:cNvSpPr/>
          <p:nvPr/>
        </p:nvSpPr>
        <p:spPr>
          <a:xfrm>
            <a:off x="599846" y="3580182"/>
            <a:ext cx="33723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2400"/>
          </a:p>
        </p:txBody>
      </p:sp>
      <p:pic>
        <p:nvPicPr>
          <p:cNvPr id="51" name="Image 9" descr="preencoded.png"/>
          <p:cNvPicPr>
            <a:picLocks noChangeAspect="1"/>
          </p:cNvPicPr>
          <p:nvPr/>
        </p:nvPicPr>
        <p:blipFill>
          <a:blip r:embed="rId8"/>
          <a:srcRect t="-180" b="-180"/>
          <a:stretch/>
        </p:blipFill>
        <p:spPr>
          <a:xfrm>
            <a:off x="599846" y="3291734"/>
            <a:ext cx="190195" cy="152705"/>
          </a:xfrm>
          <a:prstGeom prst="rect">
            <a:avLst/>
          </a:prstGeom>
        </p:spPr>
      </p:pic>
      <p:sp>
        <p:nvSpPr>
          <p:cNvPr id="52" name="Text 40"/>
          <p:cNvSpPr txBox="1"/>
          <p:nvPr/>
        </p:nvSpPr>
        <p:spPr>
          <a:xfrm>
            <a:off x="866851" y="3215381"/>
            <a:ext cx="15051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TTS</a:t>
            </a:r>
            <a:r>
              <a:rPr lang="en-US" sz="14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（音声合成）</a:t>
            </a:r>
            <a:endParaRPr lang="en-US" sz="1400" dirty="0"/>
          </a:p>
        </p:txBody>
      </p:sp>
      <p:sp>
        <p:nvSpPr>
          <p:cNvPr id="53" name="Text 41"/>
          <p:cNvSpPr txBox="1"/>
          <p:nvPr/>
        </p:nvSpPr>
        <p:spPr>
          <a:xfrm>
            <a:off x="599846" y="3699968"/>
            <a:ext cx="600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軽量</a:t>
            </a:r>
            <a:r>
              <a:rPr lang="en-US" sz="1050" b="1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</a:t>
            </a:r>
            <a:endParaRPr lang="en-US" sz="1050" dirty="0">
              <a:latin typeface="Cambria" panose="02040503050406030204" pitchFamily="18" charset="0"/>
            </a:endParaRPr>
          </a:p>
        </p:txBody>
      </p:sp>
      <p:sp>
        <p:nvSpPr>
          <p:cNvPr id="54" name="Text 42"/>
          <p:cNvSpPr txBox="1"/>
          <p:nvPr/>
        </p:nvSpPr>
        <p:spPr>
          <a:xfrm>
            <a:off x="1181405" y="3699968"/>
            <a:ext cx="218998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Piper / Kokoro (</a:t>
            </a: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高速・</a:t>
            </a: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CPU</a:t>
            </a: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向け</a:t>
            </a: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)</a:t>
            </a:r>
            <a:endParaRPr lang="en-US" sz="1050" dirty="0">
              <a:latin typeface="Cambria" panose="02040503050406030204" pitchFamily="18" charset="0"/>
            </a:endParaRPr>
          </a:p>
        </p:txBody>
      </p:sp>
      <p:pic>
        <p:nvPicPr>
          <p:cNvPr id="55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59303" y="3726029"/>
            <a:ext cx="490118" cy="161849"/>
          </a:xfrm>
          <a:prstGeom prst="rect">
            <a:avLst/>
          </a:prstGeom>
        </p:spPr>
      </p:pic>
      <p:sp>
        <p:nvSpPr>
          <p:cNvPr id="56" name="Text 43"/>
          <p:cNvSpPr/>
          <p:nvPr/>
        </p:nvSpPr>
        <p:spPr>
          <a:xfrm>
            <a:off x="3514954" y="3708198"/>
            <a:ext cx="600761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[52][53]</a:t>
            </a:r>
            <a:endParaRPr lang="en-US" sz="1000" dirty="0">
              <a:latin typeface="Cambria" panose="02040503050406030204" pitchFamily="18" charset="0"/>
            </a:endParaRPr>
          </a:p>
        </p:txBody>
      </p:sp>
      <p:sp>
        <p:nvSpPr>
          <p:cNvPr id="57" name="Text 44"/>
          <p:cNvSpPr txBox="1"/>
          <p:nvPr/>
        </p:nvSpPr>
        <p:spPr>
          <a:xfrm>
            <a:off x="599846" y="3928568"/>
            <a:ext cx="600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高品質</a:t>
            </a:r>
            <a:r>
              <a:rPr lang="en-US" sz="1050" b="1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</a:t>
            </a:r>
            <a:endParaRPr lang="en-US" sz="1050" dirty="0">
              <a:latin typeface="Cambria" panose="02040503050406030204" pitchFamily="18" charset="0"/>
            </a:endParaRPr>
          </a:p>
        </p:txBody>
      </p:sp>
      <p:sp>
        <p:nvSpPr>
          <p:cNvPr id="58" name="Text 45"/>
          <p:cNvSpPr txBox="1"/>
          <p:nvPr/>
        </p:nvSpPr>
        <p:spPr>
          <a:xfrm>
            <a:off x="1181405" y="3928568"/>
            <a:ext cx="254660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XTTS / StyleTTS2 (</a:t>
            </a: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クローン・</a:t>
            </a: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GPU</a:t>
            </a: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推奨</a:t>
            </a: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)</a:t>
            </a:r>
            <a:endParaRPr lang="en-US" sz="1050" dirty="0">
              <a:latin typeface="Cambria" panose="02040503050406030204" pitchFamily="18" charset="0"/>
            </a:endParaRPr>
          </a:p>
        </p:txBody>
      </p:sp>
      <p:pic>
        <p:nvPicPr>
          <p:cNvPr id="59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61542" y="3938398"/>
            <a:ext cx="482849" cy="161849"/>
          </a:xfrm>
          <a:prstGeom prst="rect">
            <a:avLst/>
          </a:prstGeom>
        </p:spPr>
      </p:pic>
      <p:sp>
        <p:nvSpPr>
          <p:cNvPr id="60" name="Text 46"/>
          <p:cNvSpPr/>
          <p:nvPr/>
        </p:nvSpPr>
        <p:spPr>
          <a:xfrm>
            <a:off x="3535071" y="3927654"/>
            <a:ext cx="528523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[54][55]</a:t>
            </a:r>
            <a:endParaRPr lang="en-US" sz="1000" dirty="0">
              <a:latin typeface="Cambria" panose="02040503050406030204" pitchFamily="18" charset="0"/>
            </a:endParaRPr>
          </a:p>
        </p:txBody>
      </p:sp>
      <p:sp>
        <p:nvSpPr>
          <p:cNvPr id="61" name="Text 47"/>
          <p:cNvSpPr txBox="1"/>
          <p:nvPr/>
        </p:nvSpPr>
        <p:spPr>
          <a:xfrm>
            <a:off x="599846" y="4157168"/>
            <a:ext cx="600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用途</a:t>
            </a:r>
            <a:r>
              <a:rPr lang="en-US" sz="1050" b="1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</a:t>
            </a:r>
            <a:endParaRPr lang="en-US" sz="1050" dirty="0">
              <a:latin typeface="Cambria" panose="02040503050406030204" pitchFamily="18" charset="0"/>
            </a:endParaRPr>
          </a:p>
        </p:txBody>
      </p:sp>
      <p:sp>
        <p:nvSpPr>
          <p:cNvPr id="62" name="Text 48"/>
          <p:cNvSpPr txBox="1"/>
          <p:nvPr/>
        </p:nvSpPr>
        <p:spPr>
          <a:xfrm>
            <a:off x="1181405" y="4157168"/>
            <a:ext cx="209626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読み上げ</a:t>
            </a: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, </a:t>
            </a: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通知</a:t>
            </a: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, </a:t>
            </a: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ボイスボット</a:t>
            </a:r>
            <a:endParaRPr lang="en-US" sz="1050" dirty="0"/>
          </a:p>
        </p:txBody>
      </p:sp>
      <p:sp>
        <p:nvSpPr>
          <p:cNvPr id="63" name="Shape 49"/>
          <p:cNvSpPr/>
          <p:nvPr/>
        </p:nvSpPr>
        <p:spPr>
          <a:xfrm>
            <a:off x="4267505" y="3142184"/>
            <a:ext cx="3657600" cy="1333195"/>
          </a:xfrm>
          <a:prstGeom prst="roundRect">
            <a:avLst>
              <a:gd name="adj" fmla="val 391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 sz="2400"/>
          </a:p>
        </p:txBody>
      </p:sp>
      <p:sp>
        <p:nvSpPr>
          <p:cNvPr id="64" name="Shape 50"/>
          <p:cNvSpPr/>
          <p:nvPr/>
        </p:nvSpPr>
        <p:spPr>
          <a:xfrm>
            <a:off x="4410151" y="3580182"/>
            <a:ext cx="33723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2400"/>
          </a:p>
        </p:txBody>
      </p:sp>
      <p:pic>
        <p:nvPicPr>
          <p:cNvPr id="65" name="Image 12" descr="preencoded.png"/>
          <p:cNvPicPr>
            <a:picLocks noChangeAspect="1"/>
          </p:cNvPicPr>
          <p:nvPr/>
        </p:nvPicPr>
        <p:blipFill>
          <a:blip r:embed="rId10"/>
          <a:srcRect l="-12275" r="-12275"/>
          <a:stretch/>
        </p:blipFill>
        <p:spPr>
          <a:xfrm>
            <a:off x="4410151" y="3291734"/>
            <a:ext cx="190195" cy="152705"/>
          </a:xfrm>
          <a:prstGeom prst="rect">
            <a:avLst/>
          </a:prstGeom>
        </p:spPr>
      </p:pic>
      <p:sp>
        <p:nvSpPr>
          <p:cNvPr id="66" name="Text 51"/>
          <p:cNvSpPr txBox="1"/>
          <p:nvPr/>
        </p:nvSpPr>
        <p:spPr>
          <a:xfrm>
            <a:off x="4677156" y="3215381"/>
            <a:ext cx="194309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Embedding/Reranker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67" name="Text 52"/>
          <p:cNvSpPr txBox="1"/>
          <p:nvPr/>
        </p:nvSpPr>
        <p:spPr>
          <a:xfrm>
            <a:off x="4410151" y="3699968"/>
            <a:ext cx="600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</a:t>
            </a:r>
            <a:r>
              <a:rPr lang="en-US" sz="1050" b="1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</a:t>
            </a:r>
            <a:endParaRPr lang="en-US" sz="1050" dirty="0">
              <a:latin typeface="Cambria" panose="02040503050406030204" pitchFamily="18" charset="0"/>
            </a:endParaRPr>
          </a:p>
        </p:txBody>
      </p:sp>
      <p:sp>
        <p:nvSpPr>
          <p:cNvPr id="68" name="Text 53"/>
          <p:cNvSpPr txBox="1"/>
          <p:nvPr/>
        </p:nvSpPr>
        <p:spPr>
          <a:xfrm>
            <a:off x="4990795" y="3699968"/>
            <a:ext cx="263530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bge-m3, multilingual-e5, bge-reranker</a:t>
            </a:r>
            <a:endParaRPr lang="en-US" sz="1050" dirty="0">
              <a:latin typeface="Cambria" panose="02040503050406030204" pitchFamily="18" charset="0"/>
            </a:endParaRPr>
          </a:p>
        </p:txBody>
      </p:sp>
      <p:pic>
        <p:nvPicPr>
          <p:cNvPr id="69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75551" y="3708198"/>
            <a:ext cx="452627" cy="161849"/>
          </a:xfrm>
          <a:prstGeom prst="rect">
            <a:avLst/>
          </a:prstGeom>
        </p:spPr>
      </p:pic>
      <p:sp>
        <p:nvSpPr>
          <p:cNvPr id="70" name="Text 54"/>
          <p:cNvSpPr/>
          <p:nvPr/>
        </p:nvSpPr>
        <p:spPr>
          <a:xfrm>
            <a:off x="7327087" y="3703219"/>
            <a:ext cx="549554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[58-62]</a:t>
            </a:r>
            <a:endParaRPr lang="en-US" sz="1000" dirty="0">
              <a:latin typeface="Cambria" panose="02040503050406030204" pitchFamily="18" charset="0"/>
            </a:endParaRPr>
          </a:p>
        </p:txBody>
      </p:sp>
      <p:sp>
        <p:nvSpPr>
          <p:cNvPr id="71" name="Text 55"/>
          <p:cNvSpPr txBox="1"/>
          <p:nvPr/>
        </p:nvSpPr>
        <p:spPr>
          <a:xfrm>
            <a:off x="4410151" y="3928568"/>
            <a:ext cx="600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重要性</a:t>
            </a:r>
            <a:r>
              <a:rPr lang="en-US" sz="1050" b="1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</a:t>
            </a:r>
            <a:endParaRPr lang="en-US" sz="1050" dirty="0">
              <a:latin typeface="Cambria" panose="02040503050406030204" pitchFamily="18" charset="0"/>
            </a:endParaRPr>
          </a:p>
        </p:txBody>
      </p:sp>
      <p:sp>
        <p:nvSpPr>
          <p:cNvPr id="72" name="Text 56"/>
          <p:cNvSpPr txBox="1"/>
          <p:nvPr/>
        </p:nvSpPr>
        <p:spPr>
          <a:xfrm>
            <a:off x="4990795" y="3928568"/>
            <a:ext cx="263530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RAG</a:t>
            </a: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の検索精度（</a:t>
            </a: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Recall/Precision</a:t>
            </a: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）を決定</a:t>
            </a:r>
            <a:endParaRPr lang="en-US" sz="1050" dirty="0"/>
          </a:p>
        </p:txBody>
      </p:sp>
      <p:sp>
        <p:nvSpPr>
          <p:cNvPr id="73" name="Text 57"/>
          <p:cNvSpPr txBox="1"/>
          <p:nvPr/>
        </p:nvSpPr>
        <p:spPr>
          <a:xfrm>
            <a:off x="4410151" y="4157168"/>
            <a:ext cx="600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用途</a:t>
            </a:r>
            <a:r>
              <a:rPr lang="en-US" sz="1050" b="1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</a:t>
            </a:r>
            <a:endParaRPr lang="en-US" sz="1050" dirty="0">
              <a:latin typeface="Cambria" panose="02040503050406030204" pitchFamily="18" charset="0"/>
            </a:endParaRPr>
          </a:p>
        </p:txBody>
      </p:sp>
      <p:sp>
        <p:nvSpPr>
          <p:cNvPr id="74" name="Text 58"/>
          <p:cNvSpPr txBox="1"/>
          <p:nvPr/>
        </p:nvSpPr>
        <p:spPr>
          <a:xfrm>
            <a:off x="4990795" y="4157168"/>
            <a:ext cx="185099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ベクトル検索</a:t>
            </a: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, </a:t>
            </a: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再ランキング</a:t>
            </a:r>
            <a:endParaRPr lang="en-US" sz="1050" dirty="0"/>
          </a:p>
        </p:txBody>
      </p:sp>
      <p:sp>
        <p:nvSpPr>
          <p:cNvPr id="75" name="Shape 59"/>
          <p:cNvSpPr/>
          <p:nvPr/>
        </p:nvSpPr>
        <p:spPr>
          <a:xfrm>
            <a:off x="8076895" y="3142184"/>
            <a:ext cx="3657600" cy="1333195"/>
          </a:xfrm>
          <a:prstGeom prst="roundRect">
            <a:avLst>
              <a:gd name="adj" fmla="val 391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 sz="2400"/>
          </a:p>
        </p:txBody>
      </p:sp>
      <p:sp>
        <p:nvSpPr>
          <p:cNvPr id="76" name="Shape 60"/>
          <p:cNvSpPr/>
          <p:nvPr/>
        </p:nvSpPr>
        <p:spPr>
          <a:xfrm>
            <a:off x="8220456" y="3580182"/>
            <a:ext cx="33723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2400"/>
          </a:p>
        </p:txBody>
      </p:sp>
      <p:pic>
        <p:nvPicPr>
          <p:cNvPr id="77" name="Image 14" descr="preencoded.png"/>
          <p:cNvPicPr>
            <a:picLocks noChangeAspect="1"/>
          </p:cNvPicPr>
          <p:nvPr/>
        </p:nvPicPr>
        <p:blipFill>
          <a:blip r:embed="rId12"/>
          <a:srcRect l="-33034" r="-33034"/>
          <a:stretch/>
        </p:blipFill>
        <p:spPr>
          <a:xfrm>
            <a:off x="8220456" y="3291734"/>
            <a:ext cx="190195" cy="152705"/>
          </a:xfrm>
          <a:prstGeom prst="rect">
            <a:avLst/>
          </a:prstGeom>
        </p:spPr>
      </p:pic>
      <p:sp>
        <p:nvSpPr>
          <p:cNvPr id="78" name="Text 61"/>
          <p:cNvSpPr txBox="1"/>
          <p:nvPr/>
        </p:nvSpPr>
        <p:spPr>
          <a:xfrm>
            <a:off x="8486546" y="3215381"/>
            <a:ext cx="170444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OCR / Document AI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79" name="Text 62"/>
          <p:cNvSpPr txBox="1"/>
          <p:nvPr/>
        </p:nvSpPr>
        <p:spPr>
          <a:xfrm>
            <a:off x="8220456" y="3699968"/>
            <a:ext cx="600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古典</a:t>
            </a:r>
            <a:r>
              <a:rPr lang="en-US" sz="1050" b="1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</a:t>
            </a:r>
            <a:endParaRPr lang="en-US" sz="1050" dirty="0">
              <a:latin typeface="Cambria" panose="02040503050406030204" pitchFamily="18" charset="0"/>
            </a:endParaRPr>
          </a:p>
        </p:txBody>
      </p:sp>
      <p:sp>
        <p:nvSpPr>
          <p:cNvPr id="80" name="Text 63"/>
          <p:cNvSpPr txBox="1"/>
          <p:nvPr/>
        </p:nvSpPr>
        <p:spPr>
          <a:xfrm>
            <a:off x="8801100" y="3699968"/>
            <a:ext cx="215981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Tesseract / PaddleOCR (</a:t>
            </a: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構造化</a:t>
            </a: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)</a:t>
            </a:r>
            <a:endParaRPr lang="en-US" sz="1050" dirty="0">
              <a:latin typeface="Cambria" panose="02040503050406030204" pitchFamily="18" charset="0"/>
            </a:endParaRPr>
          </a:p>
        </p:txBody>
      </p:sp>
      <p:pic>
        <p:nvPicPr>
          <p:cNvPr id="81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99445" y="3673908"/>
            <a:ext cx="498174" cy="161849"/>
          </a:xfrm>
          <a:prstGeom prst="rect">
            <a:avLst/>
          </a:prstGeom>
        </p:spPr>
      </p:pic>
      <p:sp>
        <p:nvSpPr>
          <p:cNvPr id="82" name="Text 64"/>
          <p:cNvSpPr/>
          <p:nvPr/>
        </p:nvSpPr>
        <p:spPr>
          <a:xfrm>
            <a:off x="11099445" y="3673908"/>
            <a:ext cx="499262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[64][66]</a:t>
            </a:r>
            <a:endParaRPr lang="en-US" sz="1000" dirty="0">
              <a:latin typeface="Cambria" panose="02040503050406030204" pitchFamily="18" charset="0"/>
            </a:endParaRPr>
          </a:p>
        </p:txBody>
      </p:sp>
      <p:sp>
        <p:nvSpPr>
          <p:cNvPr id="83" name="Text 65"/>
          <p:cNvSpPr txBox="1"/>
          <p:nvPr/>
        </p:nvSpPr>
        <p:spPr>
          <a:xfrm>
            <a:off x="8220456" y="3928568"/>
            <a:ext cx="600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AI</a:t>
            </a:r>
            <a:r>
              <a:rPr lang="en-US" sz="1050" b="1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型</a:t>
            </a:r>
            <a:r>
              <a:rPr lang="en-US" sz="1050" b="1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</a:t>
            </a:r>
            <a:endParaRPr lang="en-US" sz="1050" dirty="0">
              <a:latin typeface="Cambria" panose="02040503050406030204" pitchFamily="18" charset="0"/>
            </a:endParaRPr>
          </a:p>
        </p:txBody>
      </p:sp>
      <p:sp>
        <p:nvSpPr>
          <p:cNvPr id="84" name="Text 66"/>
          <p:cNvSpPr txBox="1"/>
          <p:nvPr/>
        </p:nvSpPr>
        <p:spPr>
          <a:xfrm>
            <a:off x="8801100" y="3928568"/>
            <a:ext cx="21497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Donut / LayoutLMv3 (</a:t>
            </a: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文書理解</a:t>
            </a: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)</a:t>
            </a:r>
            <a:endParaRPr lang="en-US" sz="1050" dirty="0">
              <a:latin typeface="Cambria" panose="02040503050406030204" pitchFamily="18" charset="0"/>
            </a:endParaRPr>
          </a:p>
        </p:txBody>
      </p:sp>
      <p:pic>
        <p:nvPicPr>
          <p:cNvPr id="85" name="Image 1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92130" y="3902508"/>
            <a:ext cx="498174" cy="161849"/>
          </a:xfrm>
          <a:prstGeom prst="rect">
            <a:avLst/>
          </a:prstGeom>
        </p:spPr>
      </p:pic>
      <p:sp>
        <p:nvSpPr>
          <p:cNvPr id="86" name="Text 67"/>
          <p:cNvSpPr/>
          <p:nvPr/>
        </p:nvSpPr>
        <p:spPr>
          <a:xfrm>
            <a:off x="11092130" y="3902508"/>
            <a:ext cx="499262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[68][69]</a:t>
            </a:r>
            <a:endParaRPr lang="en-US" sz="1000" dirty="0">
              <a:latin typeface="Cambria" panose="02040503050406030204" pitchFamily="18" charset="0"/>
            </a:endParaRPr>
          </a:p>
        </p:txBody>
      </p:sp>
      <p:sp>
        <p:nvSpPr>
          <p:cNvPr id="87" name="Text 68"/>
          <p:cNvSpPr txBox="1"/>
          <p:nvPr/>
        </p:nvSpPr>
        <p:spPr>
          <a:xfrm>
            <a:off x="8220456" y="4157168"/>
            <a:ext cx="600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用途</a:t>
            </a:r>
            <a:r>
              <a:rPr lang="en-US" sz="1050" b="1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</a:t>
            </a:r>
            <a:endParaRPr lang="en-US" sz="1050" dirty="0">
              <a:latin typeface="Cambria" panose="02040503050406030204" pitchFamily="18" charset="0"/>
            </a:endParaRPr>
          </a:p>
        </p:txBody>
      </p:sp>
      <p:sp>
        <p:nvSpPr>
          <p:cNvPr id="88" name="Text 69"/>
          <p:cNvSpPr txBox="1"/>
          <p:nvPr/>
        </p:nvSpPr>
        <p:spPr>
          <a:xfrm>
            <a:off x="8801099" y="4157168"/>
            <a:ext cx="215981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PDF</a:t>
            </a: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解析</a:t>
            </a: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, </a:t>
            </a: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請求書読取</a:t>
            </a: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, </a:t>
            </a: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スキャン処理</a:t>
            </a:r>
            <a:endParaRPr lang="en-US" sz="1050" dirty="0"/>
          </a:p>
        </p:txBody>
      </p:sp>
      <p:sp>
        <p:nvSpPr>
          <p:cNvPr id="89" name="Shape 70"/>
          <p:cNvSpPr/>
          <p:nvPr/>
        </p:nvSpPr>
        <p:spPr>
          <a:xfrm>
            <a:off x="457200" y="4623512"/>
            <a:ext cx="3657600" cy="1333195"/>
          </a:xfrm>
          <a:prstGeom prst="roundRect">
            <a:avLst>
              <a:gd name="adj" fmla="val 3919"/>
            </a:avLst>
          </a:prstGeom>
          <a:solidFill>
            <a:schemeClr val="bg1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 sz="2400"/>
          </a:p>
        </p:txBody>
      </p:sp>
      <p:sp>
        <p:nvSpPr>
          <p:cNvPr id="90" name="Shape 71"/>
          <p:cNvSpPr/>
          <p:nvPr/>
        </p:nvSpPr>
        <p:spPr>
          <a:xfrm>
            <a:off x="599846" y="5061510"/>
            <a:ext cx="33723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2400"/>
          </a:p>
        </p:txBody>
      </p:sp>
      <p:pic>
        <p:nvPicPr>
          <p:cNvPr id="91" name="Image 17" descr="preencoded.png"/>
          <p:cNvPicPr>
            <a:picLocks noChangeAspect="1"/>
          </p:cNvPicPr>
          <p:nvPr/>
        </p:nvPicPr>
        <p:blipFill>
          <a:blip r:embed="rId13"/>
          <a:srcRect l="-12275" r="-12275"/>
          <a:stretch/>
        </p:blipFill>
        <p:spPr>
          <a:xfrm>
            <a:off x="599846" y="4773062"/>
            <a:ext cx="190195" cy="152705"/>
          </a:xfrm>
          <a:prstGeom prst="rect">
            <a:avLst/>
          </a:prstGeom>
        </p:spPr>
      </p:pic>
      <p:sp>
        <p:nvSpPr>
          <p:cNvPr id="92" name="Text 72"/>
          <p:cNvSpPr txBox="1"/>
          <p:nvPr/>
        </p:nvSpPr>
        <p:spPr>
          <a:xfrm>
            <a:off x="866851" y="4696709"/>
            <a:ext cx="141052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画像生成</a:t>
            </a:r>
            <a:endParaRPr lang="en-US" sz="1400" dirty="0"/>
          </a:p>
        </p:txBody>
      </p:sp>
      <p:sp>
        <p:nvSpPr>
          <p:cNvPr id="93" name="Text 73"/>
          <p:cNvSpPr txBox="1"/>
          <p:nvPr/>
        </p:nvSpPr>
        <p:spPr>
          <a:xfrm>
            <a:off x="599846" y="5180382"/>
            <a:ext cx="600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</a:t>
            </a:r>
            <a:r>
              <a:rPr lang="en-US" sz="1050" b="1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</a:t>
            </a:r>
            <a:endParaRPr lang="en-US" sz="1050" dirty="0">
              <a:latin typeface="Cambria" panose="02040503050406030204" pitchFamily="18" charset="0"/>
            </a:endParaRPr>
          </a:p>
        </p:txBody>
      </p:sp>
      <p:sp>
        <p:nvSpPr>
          <p:cNvPr id="94" name="Text 74"/>
          <p:cNvSpPr txBox="1"/>
          <p:nvPr/>
        </p:nvSpPr>
        <p:spPr>
          <a:xfrm>
            <a:off x="1181405" y="5180382"/>
            <a:ext cx="19531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SDXL, FLUX.1 (</a:t>
            </a: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</a:t>
            </a: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VRAM</a:t>
            </a: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確認</a:t>
            </a: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)</a:t>
            </a:r>
            <a:endParaRPr lang="en-US" sz="1050" dirty="0">
              <a:latin typeface="Cambria" panose="02040503050406030204" pitchFamily="18" charset="0"/>
            </a:endParaRPr>
          </a:p>
        </p:txBody>
      </p:sp>
      <p:pic>
        <p:nvPicPr>
          <p:cNvPr id="95" name="Image 1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53358" y="5206288"/>
            <a:ext cx="491033" cy="161849"/>
          </a:xfrm>
          <a:prstGeom prst="rect">
            <a:avLst/>
          </a:prstGeom>
        </p:spPr>
      </p:pic>
      <p:sp>
        <p:nvSpPr>
          <p:cNvPr id="96" name="Text 75"/>
          <p:cNvSpPr/>
          <p:nvPr/>
        </p:nvSpPr>
        <p:spPr>
          <a:xfrm>
            <a:off x="3477006" y="5188612"/>
            <a:ext cx="644652" cy="15867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[71][75]</a:t>
            </a:r>
            <a:endParaRPr lang="en-US" sz="1000" dirty="0">
              <a:latin typeface="Cambria" panose="02040503050406030204" pitchFamily="18" charset="0"/>
            </a:endParaRPr>
          </a:p>
        </p:txBody>
      </p:sp>
      <p:sp>
        <p:nvSpPr>
          <p:cNvPr id="97" name="Text 76"/>
          <p:cNvSpPr txBox="1"/>
          <p:nvPr/>
        </p:nvSpPr>
        <p:spPr>
          <a:xfrm>
            <a:off x="599846" y="5408982"/>
            <a:ext cx="600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</a:t>
            </a:r>
            <a:r>
              <a:rPr lang="en-US" sz="1050" b="1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</a:t>
            </a:r>
            <a:endParaRPr lang="en-US" sz="1050" dirty="0">
              <a:latin typeface="Cambria" panose="02040503050406030204" pitchFamily="18" charset="0"/>
            </a:endParaRPr>
          </a:p>
        </p:txBody>
      </p:sp>
      <p:sp>
        <p:nvSpPr>
          <p:cNvPr id="98" name="Text 77"/>
          <p:cNvSpPr txBox="1"/>
          <p:nvPr/>
        </p:nvSpPr>
        <p:spPr>
          <a:xfrm>
            <a:off x="1181405" y="5408982"/>
            <a:ext cx="16578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ComfyUI, SD WebUI</a:t>
            </a:r>
            <a:endParaRPr lang="en-US" sz="1050" dirty="0">
              <a:latin typeface="Cambria" panose="02040503050406030204" pitchFamily="18" charset="0"/>
            </a:endParaRPr>
          </a:p>
        </p:txBody>
      </p:sp>
      <p:pic>
        <p:nvPicPr>
          <p:cNvPr id="99" name="Image 1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9303" y="5407240"/>
            <a:ext cx="485088" cy="161849"/>
          </a:xfrm>
          <a:prstGeom prst="rect">
            <a:avLst/>
          </a:prstGeom>
        </p:spPr>
      </p:pic>
      <p:sp>
        <p:nvSpPr>
          <p:cNvPr id="100" name="Text 78"/>
          <p:cNvSpPr/>
          <p:nvPr/>
        </p:nvSpPr>
        <p:spPr>
          <a:xfrm>
            <a:off x="3556788" y="5396537"/>
            <a:ext cx="485088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6B728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[72]</a:t>
            </a:r>
            <a:r>
              <a:rPr lang="en-US" altLang="ja-JP" sz="1000" dirty="0">
                <a:solidFill>
                  <a:srgbClr val="6B728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[73]</a:t>
            </a:r>
            <a:endParaRPr lang="en-US" altLang="ja-JP" sz="1000" dirty="0">
              <a:latin typeface="Cambria" panose="02040503050406030204" pitchFamily="18" charset="0"/>
            </a:endParaRPr>
          </a:p>
        </p:txBody>
      </p:sp>
      <p:sp>
        <p:nvSpPr>
          <p:cNvPr id="103" name="Text 80"/>
          <p:cNvSpPr txBox="1"/>
          <p:nvPr/>
        </p:nvSpPr>
        <p:spPr>
          <a:xfrm>
            <a:off x="599846" y="5637582"/>
            <a:ext cx="600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用途</a:t>
            </a:r>
            <a:r>
              <a:rPr lang="en-US" sz="1050" b="1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</a:t>
            </a:r>
            <a:endParaRPr lang="en-US" sz="1050" dirty="0">
              <a:latin typeface="Cambria" panose="02040503050406030204" pitchFamily="18" charset="0"/>
            </a:endParaRPr>
          </a:p>
        </p:txBody>
      </p:sp>
      <p:sp>
        <p:nvSpPr>
          <p:cNvPr id="104" name="Text 81"/>
          <p:cNvSpPr txBox="1"/>
          <p:nvPr/>
        </p:nvSpPr>
        <p:spPr>
          <a:xfrm>
            <a:off x="1181405" y="5637582"/>
            <a:ext cx="209489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素材生成</a:t>
            </a: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, UI</a:t>
            </a: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モック</a:t>
            </a: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, </a:t>
            </a: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コンテンツ制作</a:t>
            </a:r>
            <a:endParaRPr lang="en-US" sz="1050" dirty="0"/>
          </a:p>
        </p:txBody>
      </p:sp>
      <p:sp>
        <p:nvSpPr>
          <p:cNvPr id="105" name="Shape 82"/>
          <p:cNvSpPr/>
          <p:nvPr/>
        </p:nvSpPr>
        <p:spPr>
          <a:xfrm>
            <a:off x="4267505" y="4623512"/>
            <a:ext cx="3657600" cy="1333195"/>
          </a:xfrm>
          <a:prstGeom prst="roundRect">
            <a:avLst>
              <a:gd name="adj" fmla="val 391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 sz="2400"/>
          </a:p>
        </p:txBody>
      </p:sp>
      <p:sp>
        <p:nvSpPr>
          <p:cNvPr id="106" name="Shape 83"/>
          <p:cNvSpPr/>
          <p:nvPr/>
        </p:nvSpPr>
        <p:spPr>
          <a:xfrm>
            <a:off x="4410151" y="5061510"/>
            <a:ext cx="33723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2400"/>
          </a:p>
        </p:txBody>
      </p:sp>
      <p:pic>
        <p:nvPicPr>
          <p:cNvPr id="107" name="Image 21" descr="preencoded.png"/>
          <p:cNvPicPr>
            <a:picLocks noChangeAspect="1"/>
          </p:cNvPicPr>
          <p:nvPr/>
        </p:nvPicPr>
        <p:blipFill>
          <a:blip r:embed="rId14"/>
          <a:srcRect t="-180" b="-180"/>
          <a:stretch/>
        </p:blipFill>
        <p:spPr>
          <a:xfrm>
            <a:off x="4410151" y="4773062"/>
            <a:ext cx="190195" cy="152705"/>
          </a:xfrm>
          <a:prstGeom prst="rect">
            <a:avLst/>
          </a:prstGeom>
        </p:spPr>
      </p:pic>
      <p:sp>
        <p:nvSpPr>
          <p:cNvPr id="108" name="Text 84"/>
          <p:cNvSpPr txBox="1"/>
          <p:nvPr/>
        </p:nvSpPr>
        <p:spPr>
          <a:xfrm>
            <a:off x="4677156" y="4696709"/>
            <a:ext cx="146852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Agent / Tool-use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09" name="Text 85"/>
          <p:cNvSpPr txBox="1"/>
          <p:nvPr/>
        </p:nvSpPr>
        <p:spPr>
          <a:xfrm>
            <a:off x="4410151" y="5180382"/>
            <a:ext cx="600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方式</a:t>
            </a:r>
            <a:r>
              <a:rPr lang="en-US" sz="1050" b="1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</a:t>
            </a:r>
            <a:endParaRPr lang="en-US" sz="1050" dirty="0">
              <a:latin typeface="Cambria" panose="02040503050406030204" pitchFamily="18" charset="0"/>
            </a:endParaRPr>
          </a:p>
        </p:txBody>
      </p:sp>
      <p:sp>
        <p:nvSpPr>
          <p:cNvPr id="110" name="Text 86"/>
          <p:cNvSpPr txBox="1"/>
          <p:nvPr/>
        </p:nvSpPr>
        <p:spPr>
          <a:xfrm>
            <a:off x="4990795" y="5180382"/>
            <a:ext cx="224942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OpenAI</a:t>
            </a: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互換</a:t>
            </a: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API</a:t>
            </a: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での</a:t>
            </a: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Function Calling</a:t>
            </a:r>
            <a:endParaRPr lang="en-US" sz="1050" dirty="0">
              <a:latin typeface="Cambria" panose="02040503050406030204" pitchFamily="18" charset="0"/>
            </a:endParaRPr>
          </a:p>
        </p:txBody>
      </p:sp>
      <p:pic>
        <p:nvPicPr>
          <p:cNvPr id="111" name="Image 2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0376" y="5205374"/>
            <a:ext cx="247802" cy="161849"/>
          </a:xfrm>
          <a:prstGeom prst="rect">
            <a:avLst/>
          </a:prstGeom>
        </p:spPr>
      </p:pic>
      <p:sp>
        <p:nvSpPr>
          <p:cNvPr id="112" name="Text 87"/>
          <p:cNvSpPr/>
          <p:nvPr/>
        </p:nvSpPr>
        <p:spPr>
          <a:xfrm>
            <a:off x="7580376" y="5205374"/>
            <a:ext cx="247802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[24]</a:t>
            </a:r>
            <a:endParaRPr lang="en-US" sz="1000" dirty="0">
              <a:latin typeface="Cambria" panose="02040503050406030204" pitchFamily="18" charset="0"/>
            </a:endParaRPr>
          </a:p>
        </p:txBody>
      </p:sp>
      <p:sp>
        <p:nvSpPr>
          <p:cNvPr id="113" name="Text 88"/>
          <p:cNvSpPr txBox="1"/>
          <p:nvPr/>
        </p:nvSpPr>
        <p:spPr>
          <a:xfrm>
            <a:off x="4410151" y="5408982"/>
            <a:ext cx="600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</a:t>
            </a:r>
            <a:r>
              <a:rPr lang="en-US" sz="1050" b="1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</a:t>
            </a:r>
            <a:endParaRPr lang="en-US" sz="1050" dirty="0">
              <a:latin typeface="Cambria" panose="02040503050406030204" pitchFamily="18" charset="0"/>
            </a:endParaRPr>
          </a:p>
        </p:txBody>
      </p:sp>
      <p:sp>
        <p:nvSpPr>
          <p:cNvPr id="114" name="Text 89"/>
          <p:cNvSpPr txBox="1"/>
          <p:nvPr/>
        </p:nvSpPr>
        <p:spPr>
          <a:xfrm>
            <a:off x="4990795" y="5408982"/>
            <a:ext cx="19815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Ollama / LM Studio</a:t>
            </a: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が実務的</a:t>
            </a:r>
            <a:endParaRPr lang="en-US" sz="1050" dirty="0"/>
          </a:p>
        </p:txBody>
      </p:sp>
      <p:pic>
        <p:nvPicPr>
          <p:cNvPr id="115" name="Image 2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6886" y="5433974"/>
            <a:ext cx="499998" cy="161849"/>
          </a:xfrm>
          <a:prstGeom prst="rect">
            <a:avLst/>
          </a:prstGeom>
        </p:spPr>
      </p:pic>
      <p:sp>
        <p:nvSpPr>
          <p:cNvPr id="116" name="Text 90"/>
          <p:cNvSpPr/>
          <p:nvPr/>
        </p:nvSpPr>
        <p:spPr>
          <a:xfrm>
            <a:off x="7327086" y="5433974"/>
            <a:ext cx="501091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[23][41]</a:t>
            </a:r>
            <a:endParaRPr lang="en-US" sz="1000" dirty="0">
              <a:latin typeface="Cambria" panose="02040503050406030204" pitchFamily="18" charset="0"/>
            </a:endParaRPr>
          </a:p>
        </p:txBody>
      </p:sp>
      <p:sp>
        <p:nvSpPr>
          <p:cNvPr id="117" name="Text 91"/>
          <p:cNvSpPr txBox="1"/>
          <p:nvPr/>
        </p:nvSpPr>
        <p:spPr>
          <a:xfrm>
            <a:off x="4410151" y="5637582"/>
            <a:ext cx="600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用途</a:t>
            </a:r>
            <a:r>
              <a:rPr lang="en-US" sz="1050" b="1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</a:t>
            </a:r>
            <a:endParaRPr lang="en-US" sz="1050" dirty="0">
              <a:latin typeface="Cambria" panose="02040503050406030204" pitchFamily="18" charset="0"/>
            </a:endParaRPr>
          </a:p>
        </p:txBody>
      </p:sp>
      <p:sp>
        <p:nvSpPr>
          <p:cNvPr id="118" name="Text 92"/>
          <p:cNvSpPr txBox="1"/>
          <p:nvPr/>
        </p:nvSpPr>
        <p:spPr>
          <a:xfrm>
            <a:off x="4990795" y="5637582"/>
            <a:ext cx="185099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タスク自動化</a:t>
            </a: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, </a:t>
            </a: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外部ツール連携</a:t>
            </a:r>
            <a:endParaRPr lang="en-US" sz="1050" dirty="0"/>
          </a:p>
        </p:txBody>
      </p:sp>
      <p:sp>
        <p:nvSpPr>
          <p:cNvPr id="119" name="Shape 93"/>
          <p:cNvSpPr/>
          <p:nvPr/>
        </p:nvSpPr>
        <p:spPr>
          <a:xfrm>
            <a:off x="8076895" y="4623512"/>
            <a:ext cx="3657600" cy="1333195"/>
          </a:xfrm>
          <a:prstGeom prst="roundRect">
            <a:avLst>
              <a:gd name="adj" fmla="val 391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 sz="2400"/>
          </a:p>
        </p:txBody>
      </p:sp>
      <p:sp>
        <p:nvSpPr>
          <p:cNvPr id="120" name="Shape 94"/>
          <p:cNvSpPr/>
          <p:nvPr/>
        </p:nvSpPr>
        <p:spPr>
          <a:xfrm>
            <a:off x="8220456" y="5061510"/>
            <a:ext cx="33723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2400"/>
          </a:p>
        </p:txBody>
      </p:sp>
      <p:pic>
        <p:nvPicPr>
          <p:cNvPr id="121" name="Image 24" descr="preencoded.png"/>
          <p:cNvPicPr>
            <a:picLocks noChangeAspect="1"/>
          </p:cNvPicPr>
          <p:nvPr/>
        </p:nvPicPr>
        <p:blipFill>
          <a:blip r:embed="rId15"/>
          <a:srcRect t="-180" b="-180"/>
          <a:stretch/>
        </p:blipFill>
        <p:spPr>
          <a:xfrm>
            <a:off x="8220456" y="4773062"/>
            <a:ext cx="190195" cy="152705"/>
          </a:xfrm>
          <a:prstGeom prst="rect">
            <a:avLst/>
          </a:prstGeom>
        </p:spPr>
      </p:pic>
      <p:sp>
        <p:nvSpPr>
          <p:cNvPr id="122" name="Text 95"/>
          <p:cNvSpPr txBox="1"/>
          <p:nvPr/>
        </p:nvSpPr>
        <p:spPr>
          <a:xfrm>
            <a:off x="8486546" y="4696709"/>
            <a:ext cx="120091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音声前処理</a:t>
            </a:r>
            <a:endParaRPr lang="en-US" sz="1400" dirty="0"/>
          </a:p>
        </p:txBody>
      </p:sp>
      <p:sp>
        <p:nvSpPr>
          <p:cNvPr id="123" name="Text 96"/>
          <p:cNvSpPr txBox="1"/>
          <p:nvPr/>
        </p:nvSpPr>
        <p:spPr>
          <a:xfrm>
            <a:off x="8220456" y="5180382"/>
            <a:ext cx="600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</a:t>
            </a:r>
            <a:r>
              <a:rPr lang="en-US" sz="1050" b="1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</a:t>
            </a:r>
            <a:endParaRPr lang="en-US" sz="1050" dirty="0">
              <a:latin typeface="Cambria" panose="02040503050406030204" pitchFamily="18" charset="0"/>
            </a:endParaRPr>
          </a:p>
        </p:txBody>
      </p:sp>
      <p:sp>
        <p:nvSpPr>
          <p:cNvPr id="124" name="Text 97"/>
          <p:cNvSpPr txBox="1"/>
          <p:nvPr/>
        </p:nvSpPr>
        <p:spPr>
          <a:xfrm>
            <a:off x="8801100" y="5180382"/>
            <a:ext cx="213969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Silero VAD, pyannote, RNNoise</a:t>
            </a:r>
            <a:endParaRPr lang="en-US" sz="1050" dirty="0">
              <a:latin typeface="Cambria" panose="02040503050406030204" pitchFamily="18" charset="0"/>
            </a:endParaRPr>
          </a:p>
        </p:txBody>
      </p:sp>
      <p:pic>
        <p:nvPicPr>
          <p:cNvPr id="125" name="Image 2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78871" y="5205374"/>
            <a:ext cx="512772" cy="161849"/>
          </a:xfrm>
          <a:prstGeom prst="rect">
            <a:avLst/>
          </a:prstGeom>
        </p:spPr>
      </p:pic>
      <p:sp>
        <p:nvSpPr>
          <p:cNvPr id="126" name="Text 98"/>
          <p:cNvSpPr/>
          <p:nvPr/>
        </p:nvSpPr>
        <p:spPr>
          <a:xfrm>
            <a:off x="11078871" y="5205374"/>
            <a:ext cx="513892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[82][84]</a:t>
            </a:r>
            <a:endParaRPr lang="en-US" sz="1000" dirty="0">
              <a:latin typeface="Cambria" panose="02040503050406030204" pitchFamily="18" charset="0"/>
            </a:endParaRPr>
          </a:p>
        </p:txBody>
      </p:sp>
      <p:sp>
        <p:nvSpPr>
          <p:cNvPr id="127" name="Text 99"/>
          <p:cNvSpPr txBox="1"/>
          <p:nvPr/>
        </p:nvSpPr>
        <p:spPr>
          <a:xfrm>
            <a:off x="8220456" y="5408982"/>
            <a:ext cx="600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</a:t>
            </a:r>
            <a:r>
              <a:rPr lang="en-US" sz="1050" b="1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</a:t>
            </a:r>
            <a:endParaRPr lang="en-US" sz="1050" dirty="0">
              <a:latin typeface="Cambria" panose="02040503050406030204" pitchFamily="18" charset="0"/>
            </a:endParaRPr>
          </a:p>
        </p:txBody>
      </p:sp>
      <p:sp>
        <p:nvSpPr>
          <p:cNvPr id="128" name="Text 100"/>
          <p:cNvSpPr txBox="1"/>
          <p:nvPr/>
        </p:nvSpPr>
        <p:spPr>
          <a:xfrm>
            <a:off x="8801100" y="5408982"/>
            <a:ext cx="243110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品質の下限担保（無音除去・話者分離）</a:t>
            </a:r>
            <a:endParaRPr lang="en-US" sz="1050" dirty="0"/>
          </a:p>
        </p:txBody>
      </p:sp>
      <p:sp>
        <p:nvSpPr>
          <p:cNvPr id="129" name="Text 101"/>
          <p:cNvSpPr txBox="1"/>
          <p:nvPr/>
        </p:nvSpPr>
        <p:spPr>
          <a:xfrm>
            <a:off x="8220456" y="5637582"/>
            <a:ext cx="600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用途</a:t>
            </a:r>
            <a:r>
              <a:rPr lang="en-US" sz="1050" b="1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</a:t>
            </a:r>
            <a:endParaRPr lang="en-US" sz="1050" dirty="0">
              <a:latin typeface="Cambria" panose="02040503050406030204" pitchFamily="18" charset="0"/>
            </a:endParaRPr>
          </a:p>
        </p:txBody>
      </p:sp>
      <p:sp>
        <p:nvSpPr>
          <p:cNvPr id="130" name="Text 102"/>
          <p:cNvSpPr txBox="1"/>
          <p:nvPr/>
        </p:nvSpPr>
        <p:spPr>
          <a:xfrm>
            <a:off x="8801100" y="5637582"/>
            <a:ext cx="19485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会議録音の前処理</a:t>
            </a:r>
            <a:r>
              <a:rPr lang="en-US" sz="105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, </a:t>
            </a:r>
            <a:r>
              <a:rPr lang="en-US" sz="105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ノイズ除去</a:t>
            </a:r>
            <a:endParaRPr lang="en-US" sz="1050" dirty="0"/>
          </a:p>
        </p:txBody>
      </p:sp>
      <p:sp>
        <p:nvSpPr>
          <p:cNvPr id="151" name="正方形/長方形 150">
            <a:extLst>
              <a:ext uri="{FF2B5EF4-FFF2-40B4-BE49-F238E27FC236}">
                <a16:creationId xmlns:a16="http://schemas.microsoft.com/office/drawing/2014/main" id="{CA4F579C-CBDB-63ED-7736-9AED412A3E2F}"/>
              </a:ext>
            </a:extLst>
          </p:cNvPr>
          <p:cNvSpPr/>
          <p:nvPr/>
        </p:nvSpPr>
        <p:spPr>
          <a:xfrm>
            <a:off x="-1" y="-1"/>
            <a:ext cx="12192001" cy="54865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</TotalTime>
  <Words>348</Words>
  <Application>Microsoft Macintosh PowerPoint</Application>
  <PresentationFormat>ワイド画面</PresentationFormat>
  <Paragraphs>81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Noto Sans JP</vt:lpstr>
      <vt:lpstr>Arial</vt:lpstr>
      <vt:lpstr>Cambria</vt:lpstr>
      <vt:lpstr>Office Theme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e19217_木更津</cp:lastModifiedBy>
  <cp:revision>5</cp:revision>
  <dcterms:created xsi:type="dcterms:W3CDTF">2026-02-15T07:19:24Z</dcterms:created>
  <dcterms:modified xsi:type="dcterms:W3CDTF">2026-02-25T12:00:39Z</dcterms:modified>
</cp:coreProperties>
</file>