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68" r:id="rId2"/>
    <p:sldId id="271" r:id="rId3"/>
    <p:sldId id="300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24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18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7913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5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14.png"/><Relationship Id="rId5" Type="http://schemas.openxmlformats.org/officeDocument/2006/relationships/image" Target="../media/image9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12.png"/><Relationship Id="rId1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7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3.png"/><Relationship Id="rId10" Type="http://schemas.openxmlformats.org/officeDocument/2006/relationships/image" Target="../media/image2.png"/><Relationship Id="rId4" Type="http://schemas.openxmlformats.org/officeDocument/2006/relationships/image" Target="../media/image17.png"/><Relationship Id="rId9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">
            <a:extLst>
              <a:ext uri="{FF2B5EF4-FFF2-40B4-BE49-F238E27FC236}">
                <a16:creationId xmlns:a16="http://schemas.microsoft.com/office/drawing/2014/main" id="{8F7A2874-EDD1-E5DB-86A9-82572790824A}"/>
              </a:ext>
            </a:extLst>
          </p:cNvPr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000000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">
            <a:extLst>
              <a:ext uri="{FF2B5EF4-FFF2-40B4-BE49-F238E27FC236}">
                <a16:creationId xmlns:a16="http://schemas.microsoft.com/office/drawing/2014/main" id="{870F6980-5C67-C700-F0DA-FB02EA0357F1}"/>
              </a:ext>
            </a:extLst>
          </p:cNvPr>
          <p:cNvSpPr/>
          <p:nvPr/>
        </p:nvSpPr>
        <p:spPr>
          <a:xfrm>
            <a:off x="5486705" y="0"/>
            <a:ext cx="6705295" cy="6858000"/>
          </a:xfrm>
          <a:prstGeom prst="rect">
            <a:avLst/>
          </a:prstGeom>
          <a:solidFill>
            <a:srgbClr val="1D1D1F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4"/>
          <p:cNvSpPr txBox="1"/>
          <p:nvPr/>
        </p:nvSpPr>
        <p:spPr>
          <a:xfrm>
            <a:off x="761695" y="1495285"/>
            <a:ext cx="415320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333336"/>
                </a:solidFill>
                <a:latin typeface="Cambria" panose="02040503050406030204" pitchFamily="18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9000" dirty="0">
              <a:latin typeface="Cambria" panose="02040503050406030204" pitchFamily="18" charset="0"/>
            </a:endParaRPr>
          </a:p>
        </p:txBody>
      </p:sp>
      <p:sp>
        <p:nvSpPr>
          <p:cNvPr id="10" name="Text 5"/>
          <p:cNvSpPr txBox="1"/>
          <p:nvPr/>
        </p:nvSpPr>
        <p:spPr>
          <a:xfrm>
            <a:off x="761695" y="3270217"/>
            <a:ext cx="4396714" cy="1367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b="1" kern="0" spc="-84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特徴軸（評価軸）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kern="0" spc="-84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の定義</a:t>
            </a:r>
            <a:endParaRPr lang="en-US" sz="4200" dirty="0"/>
          </a:p>
        </p:txBody>
      </p:sp>
      <p:sp>
        <p:nvSpPr>
          <p:cNvPr id="11" name="Text 6"/>
          <p:cNvSpPr txBox="1"/>
          <p:nvPr/>
        </p:nvSpPr>
        <p:spPr>
          <a:xfrm>
            <a:off x="761695" y="4672584"/>
            <a:ext cx="4048963" cy="323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 err="1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評価の共通物差しと測定基準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6248095" y="1009498"/>
            <a:ext cx="5296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07AF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KEY TAKEAWAYS</a:t>
            </a:r>
            <a:endParaRPr lang="en-US" sz="1200" dirty="0">
              <a:latin typeface="Cambria" panose="02040503050406030204" pitchFamily="18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rcRect l="-4" r="-4"/>
          <a:stretch/>
        </p:blipFill>
        <p:spPr>
          <a:xfrm>
            <a:off x="6248095" y="1429207"/>
            <a:ext cx="5181905" cy="3705149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810451" y="1714500"/>
            <a:ext cx="452536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</a:t>
            </a: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本章の要点</a:t>
            </a:r>
            <a:r>
              <a:rPr lang="en-US" sz="1500" b="1" dirty="0">
                <a:solidFill>
                  <a:srgbClr val="FFFFF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sz="1500" dirty="0">
              <a:latin typeface="Cambria" panose="02040503050406030204" pitchFamily="18" charset="0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72707" y="1762049"/>
            <a:ext cx="142646" cy="190195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6801307" y="2356201"/>
            <a:ext cx="4420210" cy="61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5E5E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13</a:t>
            </a:r>
            <a:r>
              <a:rPr lang="en-US" sz="1300" b="1" dirty="0">
                <a:solidFill>
                  <a:srgbClr val="E5E5E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の評価軸：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5E5E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</a:t>
            </a:r>
            <a:r>
              <a:rPr lang="en-US" sz="1300" dirty="0">
                <a:solidFill>
                  <a:srgbClr val="E5E5E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指示追従、</a:t>
            </a:r>
            <a:r>
              <a:rPr lang="en-US" sz="1300" dirty="0">
                <a:solidFill>
                  <a:srgbClr val="E5E5E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JSON</a:t>
            </a:r>
            <a:r>
              <a:rPr lang="en-US" sz="1300" dirty="0">
                <a:solidFill>
                  <a:srgbClr val="E5E5E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堅牢性、長文耐性、速度、メモリなど、多角的な視点でモデルを比較評価します。</a:t>
            </a:r>
            <a:r>
              <a:rPr lang="en-US" sz="1300" dirty="0">
                <a:solidFill>
                  <a:srgbClr val="E5E5E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sz="1300" dirty="0">
              <a:latin typeface="Cambria" panose="02040503050406030204" pitchFamily="18" charset="0"/>
            </a:endParaRPr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6572707" y="2356201"/>
            <a:ext cx="114300" cy="133502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6801307" y="3270217"/>
            <a:ext cx="4420210" cy="61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5E5E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KV</a:t>
            </a:r>
            <a:r>
              <a:rPr lang="en-US" sz="1300" b="1" dirty="0">
                <a:solidFill>
                  <a:srgbClr val="E5E5E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キャッシュ最適化：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5E5E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paged/quantized KV</a:t>
            </a:r>
            <a:r>
              <a:rPr lang="en-US" sz="1300" dirty="0">
                <a:solidFill>
                  <a:srgbClr val="E5E5E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や</a:t>
            </a:r>
            <a:r>
              <a:rPr lang="en-US" sz="1300" dirty="0">
                <a:solidFill>
                  <a:srgbClr val="E5E5E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reuse</a:t>
            </a:r>
            <a:r>
              <a:rPr lang="en-US" sz="1300" dirty="0">
                <a:solidFill>
                  <a:srgbClr val="E5E5E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機能が、長文コンテキストや多同時リクエスト処理の鍵となります。</a:t>
            </a:r>
            <a:r>
              <a:rPr lang="en-US" sz="1300" dirty="0">
                <a:solidFill>
                  <a:srgbClr val="E5E5E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sz="1300" dirty="0">
              <a:latin typeface="Cambria" panose="02040503050406030204" pitchFamily="18" charset="0"/>
            </a:endParaRPr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6572707" y="3270217"/>
            <a:ext cx="114300" cy="133502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6810451" y="4184233"/>
            <a:ext cx="4420210" cy="61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5E5E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JSON</a:t>
            </a:r>
            <a:r>
              <a:rPr lang="en-US" sz="1300" b="1" dirty="0">
                <a:solidFill>
                  <a:srgbClr val="E5E5E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制約の重要性：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5E5E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</a:t>
            </a:r>
            <a:r>
              <a:rPr lang="en-US" sz="1300" dirty="0">
                <a:solidFill>
                  <a:srgbClr val="E5E5E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ツール利用において</a:t>
            </a:r>
            <a:r>
              <a:rPr lang="en-US" sz="1300" dirty="0">
                <a:solidFill>
                  <a:srgbClr val="E5E5E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JSON</a:t>
            </a:r>
            <a:r>
              <a:rPr lang="en-US" sz="1300" dirty="0">
                <a:solidFill>
                  <a:srgbClr val="E5E5E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出力の安定性は必須ですが、機能はランタイムに強く依存します。</a:t>
            </a:r>
            <a:r>
              <a:rPr lang="en-US" sz="1300" dirty="0">
                <a:solidFill>
                  <a:srgbClr val="E5E5E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sz="1300" dirty="0">
              <a:latin typeface="Cambria" panose="02040503050406030204" pitchFamily="18" charset="0"/>
            </a:endParaRPr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6572707" y="4184233"/>
            <a:ext cx="114300" cy="133502"/>
          </a:xfrm>
          <a:prstGeom prst="rect">
            <a:avLst/>
          </a:prstGeom>
        </p:spPr>
      </p:pic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095" y="5514746"/>
            <a:ext cx="1276502" cy="333756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6248095" y="5514746"/>
            <a:ext cx="1276502" cy="3337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1A1A6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13</a:t>
            </a:r>
            <a:r>
              <a:rPr lang="en-US" sz="1000" dirty="0">
                <a:solidFill>
                  <a:srgbClr val="A1A1A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の評価軸定義</a:t>
            </a:r>
            <a:endParaRPr lang="en-US" sz="1000" dirty="0"/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8898" y="5514746"/>
            <a:ext cx="857707" cy="333756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7638898" y="5514746"/>
            <a:ext cx="857707" cy="3337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1A1A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測定手順</a:t>
            </a:r>
            <a:endParaRPr lang="en-US" sz="1000" dirty="0"/>
          </a:p>
        </p:txBody>
      </p:sp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09990" y="5514746"/>
            <a:ext cx="857707" cy="333756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8609990" y="5514746"/>
            <a:ext cx="857707" cy="3337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1A1A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設計含意</a:t>
            </a:r>
            <a:endParaRPr lang="en-US" sz="1000" dirty="0"/>
          </a:p>
        </p:txBody>
      </p:sp>
      <p:pic>
        <p:nvPicPr>
          <p:cNvPr id="28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81998" y="5514746"/>
            <a:ext cx="895198" cy="333756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9581998" y="5514746"/>
            <a:ext cx="896112" cy="3337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1A1A6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KV</a:t>
            </a:r>
            <a:r>
              <a:rPr lang="en-US" sz="1000" dirty="0">
                <a:solidFill>
                  <a:srgbClr val="A1A1A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最適化</a:t>
            </a:r>
            <a:endParaRPr lang="en-US" sz="1000" dirty="0"/>
          </a:p>
        </p:txBody>
      </p:sp>
      <p:pic>
        <p:nvPicPr>
          <p:cNvPr id="40" name="Image 1" descr="preencoded.png">
            <a:extLst>
              <a:ext uri="{FF2B5EF4-FFF2-40B4-BE49-F238E27FC236}">
                <a16:creationId xmlns:a16="http://schemas.microsoft.com/office/drawing/2014/main" id="{CE537274-B0AA-0A47-2ED6-BF5A0D367F0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-420" b="-420"/>
          <a:stretch/>
        </p:blipFill>
        <p:spPr>
          <a:xfrm>
            <a:off x="761695" y="2832811"/>
            <a:ext cx="761695" cy="576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">
            <a:extLst>
              <a:ext uri="{FF2B5EF4-FFF2-40B4-BE49-F238E27FC236}">
                <a16:creationId xmlns:a16="http://schemas.microsoft.com/office/drawing/2014/main" id="{425509EC-08F0-47C9-9936-2EC63111DE6B}"/>
              </a:ext>
            </a:extLst>
          </p:cNvPr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000000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Shape 2">
            <a:extLst>
              <a:ext uri="{FF2B5EF4-FFF2-40B4-BE49-F238E27FC236}">
                <a16:creationId xmlns:a16="http://schemas.microsoft.com/office/drawing/2014/main" id="{543FBED2-1255-0289-FB1E-5562875E1A63}"/>
              </a:ext>
            </a:extLst>
          </p:cNvPr>
          <p:cNvSpPr/>
          <p:nvPr/>
        </p:nvSpPr>
        <p:spPr>
          <a:xfrm>
            <a:off x="5486400" y="0"/>
            <a:ext cx="6705295" cy="6858000"/>
          </a:xfrm>
          <a:prstGeom prst="rect">
            <a:avLst/>
          </a:prstGeom>
          <a:solidFill>
            <a:srgbClr val="1D1D1F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4"/>
          <p:cNvSpPr txBox="1"/>
          <p:nvPr/>
        </p:nvSpPr>
        <p:spPr>
          <a:xfrm>
            <a:off x="761695" y="1499616"/>
            <a:ext cx="415320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333336"/>
                </a:solidFill>
                <a:latin typeface="Cambria" panose="02040503050406030204" pitchFamily="18" charset="0"/>
                <a:ea typeface="Helvetica Neue" pitchFamily="34" charset="-122"/>
                <a:cs typeface="Helvetica Neue" pitchFamily="34" charset="-120"/>
              </a:rPr>
              <a:t>06</a:t>
            </a:r>
            <a:endParaRPr lang="en-US" sz="9000" dirty="0">
              <a:latin typeface="Cambria" panose="02040503050406030204" pitchFamily="18" charset="0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rcRect t="-420" b="-420"/>
          <a:stretch/>
        </p:blipFill>
        <p:spPr>
          <a:xfrm>
            <a:off x="761695" y="2832811"/>
            <a:ext cx="761695" cy="5760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61695" y="3270809"/>
            <a:ext cx="4121201" cy="118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b="1" kern="0" spc="-84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カテゴリ別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kern="0" spc="-84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モデルカタログ</a:t>
            </a:r>
            <a:endParaRPr lang="en-US" sz="4200" dirty="0"/>
          </a:p>
        </p:txBody>
      </p:sp>
      <p:sp>
        <p:nvSpPr>
          <p:cNvPr id="10" name="Text 6"/>
          <p:cNvSpPr txBox="1"/>
          <p:nvPr/>
        </p:nvSpPr>
        <p:spPr>
          <a:xfrm>
            <a:off x="761695" y="4672584"/>
            <a:ext cx="40489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主要</a:t>
            </a:r>
            <a:r>
              <a:rPr lang="en-US" sz="18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9</a:t>
            </a:r>
            <a:r>
              <a:rPr lang="en-US" sz="18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カテゴリの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詳細データと採用判断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6248095" y="1008965"/>
            <a:ext cx="5296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07AF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SECTION OVERVIEW</a:t>
            </a:r>
            <a:endParaRPr lang="en-US" sz="1200" dirty="0">
              <a:latin typeface="Cambria" panose="02040503050406030204" pitchFamily="18" charset="0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rcRect t="-4" b="-4"/>
          <a:stretch/>
        </p:blipFill>
        <p:spPr>
          <a:xfrm>
            <a:off x="6248094" y="1428293"/>
            <a:ext cx="5181905" cy="337230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848856" y="1714424"/>
            <a:ext cx="44485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</a:t>
            </a: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提示方針：三層構造</a:t>
            </a:r>
            <a:r>
              <a:rPr lang="en-US" sz="1500" b="1" dirty="0">
                <a:solidFill>
                  <a:srgbClr val="FFFFF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sz="1500" dirty="0">
              <a:latin typeface="Cambria" panose="02040503050406030204" pitchFamily="18" charset="0"/>
            </a:endParaRPr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rcRect l="-1282" r="-1282"/>
          <a:stretch/>
        </p:blipFill>
        <p:spPr>
          <a:xfrm>
            <a:off x="6552590" y="1762431"/>
            <a:ext cx="219456" cy="19019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801307" y="2356201"/>
            <a:ext cx="4420210" cy="440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5E5E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概要（</a:t>
            </a:r>
            <a:r>
              <a:rPr lang="en-US" sz="1300" b="1" dirty="0">
                <a:solidFill>
                  <a:srgbClr val="E5E5E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Overview</a:t>
            </a:r>
            <a:r>
              <a:rPr lang="en-US" sz="1300" b="1" dirty="0">
                <a:solidFill>
                  <a:srgbClr val="E5E5E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）：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5E5E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</a:t>
            </a:r>
            <a:r>
              <a:rPr lang="en-US" sz="1300" dirty="0">
                <a:solidFill>
                  <a:srgbClr val="E5E5E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カテゴリごとの主要トレンドと代表モデルの要点を概説。</a:t>
            </a:r>
            <a:r>
              <a:rPr lang="en-US" sz="1300" dirty="0">
                <a:solidFill>
                  <a:srgbClr val="E5E5E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sz="1300" dirty="0">
              <a:latin typeface="Cambria" panose="02040503050406030204" pitchFamily="18" charset="0"/>
            </a:endParaRPr>
          </a:p>
        </p:txBody>
      </p:sp>
      <p:sp>
        <p:nvSpPr>
          <p:cNvPr id="17" name="Text 10"/>
          <p:cNvSpPr txBox="1"/>
          <p:nvPr/>
        </p:nvSpPr>
        <p:spPr>
          <a:xfrm>
            <a:off x="6801307" y="3043604"/>
            <a:ext cx="4420210" cy="65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5E5E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完全版表（</a:t>
            </a:r>
            <a:r>
              <a:rPr lang="en-US" sz="1300" b="1" dirty="0">
                <a:solidFill>
                  <a:srgbClr val="E5E5E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Full Data</a:t>
            </a:r>
            <a:r>
              <a:rPr lang="en-US" sz="1300" b="1" dirty="0">
                <a:solidFill>
                  <a:srgbClr val="E5E5E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）：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5E5E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</a:t>
            </a:r>
            <a:r>
              <a:rPr lang="en-US" sz="1300" dirty="0">
                <a:solidFill>
                  <a:srgbClr val="E5E5E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規模・量子化・得意不得意・ランタイム相性・リスク・参考文献を列落ちなく全掲載。</a:t>
            </a:r>
            <a:r>
              <a:rPr lang="en-US" sz="1300" dirty="0">
                <a:solidFill>
                  <a:srgbClr val="E5E5E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sz="1300" dirty="0">
              <a:latin typeface="Cambria" panose="02040503050406030204" pitchFamily="18" charset="0"/>
            </a:endParaRPr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6"/>
          <a:srcRect t="-1100" b="-1100"/>
          <a:stretch/>
        </p:blipFill>
        <p:spPr>
          <a:xfrm>
            <a:off x="6572707" y="3043604"/>
            <a:ext cx="114300" cy="133502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6801307" y="3943808"/>
            <a:ext cx="4420210" cy="437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5E5E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採用判断（</a:t>
            </a:r>
            <a:r>
              <a:rPr lang="en-US" sz="1300" b="1" dirty="0">
                <a:solidFill>
                  <a:srgbClr val="E5E5E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Decision</a:t>
            </a:r>
            <a:r>
              <a:rPr lang="en-US" sz="1300" b="1" dirty="0">
                <a:solidFill>
                  <a:srgbClr val="E5E5E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）：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5E5E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</a:t>
            </a:r>
            <a:r>
              <a:rPr lang="en-US" sz="1300" dirty="0">
                <a:solidFill>
                  <a:srgbClr val="E5E5E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「どう選ぶか」の意思決定基準と失敗回避策を提示。</a:t>
            </a:r>
            <a:r>
              <a:rPr lang="en-US" sz="1300" dirty="0">
                <a:solidFill>
                  <a:srgbClr val="E5E5E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sz="1300" dirty="0">
              <a:latin typeface="Cambria" panose="02040503050406030204" pitchFamily="18" charset="0"/>
            </a:endParaRPr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6"/>
          <a:srcRect t="-1100" b="-1100"/>
          <a:stretch/>
        </p:blipFill>
        <p:spPr>
          <a:xfrm>
            <a:off x="6572707" y="3943808"/>
            <a:ext cx="114300" cy="133502"/>
          </a:xfrm>
          <a:prstGeom prst="rect">
            <a:avLst/>
          </a:prstGeom>
        </p:spPr>
      </p:pic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095" y="5124298"/>
            <a:ext cx="1114654" cy="333756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6248095" y="5124298"/>
            <a:ext cx="1114654" cy="3337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1A1A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テキスト</a:t>
            </a:r>
            <a:r>
              <a:rPr lang="en-US" sz="1000" dirty="0">
                <a:solidFill>
                  <a:srgbClr val="A1A1A6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LLM</a:t>
            </a:r>
            <a:endParaRPr lang="en-US" sz="1000" dirty="0">
              <a:latin typeface="Cambria" panose="02040503050406030204" pitchFamily="18" charset="0"/>
            </a:endParaRPr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75220" y="5124298"/>
            <a:ext cx="942746" cy="333756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7475220" y="5124298"/>
            <a:ext cx="943661" cy="3337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1A1A6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VLM/LMM</a:t>
            </a:r>
            <a:endParaRPr lang="en-US" sz="1000" dirty="0">
              <a:latin typeface="Cambria" panose="02040503050406030204" pitchFamily="18" charset="0"/>
            </a:endParaRPr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25866" y="5124298"/>
            <a:ext cx="580644" cy="333756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8525866" y="5124298"/>
            <a:ext cx="581558" cy="3337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1A1A6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ASR</a:t>
            </a:r>
            <a:endParaRPr lang="en-US" sz="1000" dirty="0">
              <a:latin typeface="Cambria" panose="02040503050406030204" pitchFamily="18" charset="0"/>
            </a:endParaRPr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15323" y="5124298"/>
            <a:ext cx="562356" cy="333756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9215323" y="5124298"/>
            <a:ext cx="562356" cy="3337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1A1A6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TTS</a:t>
            </a:r>
            <a:endParaRPr lang="en-US" sz="1000" dirty="0">
              <a:latin typeface="Cambria" panose="02040503050406030204" pitchFamily="18" charset="0"/>
            </a:endParaRPr>
          </a:p>
        </p:txBody>
      </p:sp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91979" y="5124298"/>
            <a:ext cx="1057046" cy="333756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9891979" y="5124298"/>
            <a:ext cx="1057961" cy="3337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1A1A6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Embedding</a:t>
            </a:r>
            <a:endParaRPr lang="en-US" sz="1000" dirty="0">
              <a:latin typeface="Cambria" panose="02040503050406030204" pitchFamily="18" charset="0"/>
            </a:endParaRPr>
          </a:p>
        </p:txBody>
      </p:sp>
      <p:pic>
        <p:nvPicPr>
          <p:cNvPr id="31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48095" y="5572354"/>
            <a:ext cx="599846" cy="333756"/>
          </a:xfrm>
          <a:prstGeom prst="rect">
            <a:avLst/>
          </a:prstGeom>
        </p:spPr>
      </p:pic>
      <p:sp>
        <p:nvSpPr>
          <p:cNvPr id="32" name="Text 17"/>
          <p:cNvSpPr/>
          <p:nvPr/>
        </p:nvSpPr>
        <p:spPr>
          <a:xfrm>
            <a:off x="6248095" y="5572354"/>
            <a:ext cx="600761" cy="3337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1A1A6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OCR</a:t>
            </a:r>
            <a:endParaRPr lang="en-US" sz="1000" dirty="0">
              <a:latin typeface="Cambria" panose="02040503050406030204" pitchFamily="18" charset="0"/>
            </a:endParaRPr>
          </a:p>
        </p:txBody>
      </p:sp>
      <p:pic>
        <p:nvPicPr>
          <p:cNvPr id="33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60413" y="5572354"/>
            <a:ext cx="857707" cy="333756"/>
          </a:xfrm>
          <a:prstGeom prst="rect">
            <a:avLst/>
          </a:prstGeom>
        </p:spPr>
      </p:pic>
      <p:sp>
        <p:nvSpPr>
          <p:cNvPr id="34" name="Text 18"/>
          <p:cNvSpPr/>
          <p:nvPr/>
        </p:nvSpPr>
        <p:spPr>
          <a:xfrm>
            <a:off x="6960413" y="5572354"/>
            <a:ext cx="857707" cy="3337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1A1A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画像生成</a:t>
            </a:r>
            <a:endParaRPr lang="en-US" sz="1000" dirty="0"/>
          </a:p>
        </p:txBody>
      </p:sp>
      <p:pic>
        <p:nvPicPr>
          <p:cNvPr id="35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32420" y="5572354"/>
            <a:ext cx="694944" cy="333756"/>
          </a:xfrm>
          <a:prstGeom prst="rect">
            <a:avLst/>
          </a:prstGeom>
        </p:spPr>
      </p:pic>
      <p:sp>
        <p:nvSpPr>
          <p:cNvPr id="36" name="Text 19"/>
          <p:cNvSpPr/>
          <p:nvPr/>
        </p:nvSpPr>
        <p:spPr>
          <a:xfrm>
            <a:off x="7932420" y="5572354"/>
            <a:ext cx="695858" cy="3337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1A1A6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Agent</a:t>
            </a:r>
            <a:endParaRPr lang="en-US" sz="1000" dirty="0">
              <a:latin typeface="Cambria" panose="02040503050406030204" pitchFamily="18" charset="0"/>
            </a:endParaRPr>
          </a:p>
        </p:txBody>
      </p:sp>
      <p:pic>
        <p:nvPicPr>
          <p:cNvPr id="49" name="Image 5" descr="preencoded.png">
            <a:extLst>
              <a:ext uri="{FF2B5EF4-FFF2-40B4-BE49-F238E27FC236}">
                <a16:creationId xmlns:a16="http://schemas.microsoft.com/office/drawing/2014/main" id="{3E06B9D8-999A-6467-5B42-BD87C186120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1100" b="-1100"/>
          <a:stretch/>
        </p:blipFill>
        <p:spPr>
          <a:xfrm>
            <a:off x="6576339" y="2356201"/>
            <a:ext cx="114300" cy="1335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2">
            <a:extLst>
              <a:ext uri="{FF2B5EF4-FFF2-40B4-BE49-F238E27FC236}">
                <a16:creationId xmlns:a16="http://schemas.microsoft.com/office/drawing/2014/main" id="{B2AF3FBE-1B6F-A273-9A4F-ECB89BF8A415}"/>
              </a:ext>
            </a:extLst>
          </p:cNvPr>
          <p:cNvSpPr/>
          <p:nvPr/>
        </p:nvSpPr>
        <p:spPr>
          <a:xfrm>
            <a:off x="5486400" y="0"/>
            <a:ext cx="6705295" cy="6858000"/>
          </a:xfrm>
          <a:prstGeom prst="rect">
            <a:avLst/>
          </a:prstGeom>
          <a:solidFill>
            <a:srgbClr val="1D1D1F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3C0CC0BF-B8D5-B6D8-D0DD-E286ECB04E9E}"/>
              </a:ext>
            </a:extLst>
          </p:cNvPr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000000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4"/>
          <p:cNvSpPr txBox="1"/>
          <p:nvPr/>
        </p:nvSpPr>
        <p:spPr>
          <a:xfrm>
            <a:off x="761695" y="1499616"/>
            <a:ext cx="415320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333336"/>
                </a:solidFill>
                <a:latin typeface="Cambria" panose="02040503050406030204" pitchFamily="18" charset="0"/>
                <a:ea typeface="Helvetica Neue" pitchFamily="34" charset="-122"/>
                <a:cs typeface="Helvetica Neue" pitchFamily="34" charset="-120"/>
              </a:rPr>
              <a:t>07</a:t>
            </a:r>
            <a:endParaRPr lang="en-US" sz="9000" dirty="0">
              <a:latin typeface="Cambria" panose="02040503050406030204" pitchFamily="18" charset="0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rcRect t="-420" b="-420"/>
          <a:stretch/>
        </p:blipFill>
        <p:spPr>
          <a:xfrm>
            <a:off x="761695" y="2832811"/>
            <a:ext cx="761695" cy="5760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61695" y="3270809"/>
            <a:ext cx="4121201" cy="118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b="1" kern="0" spc="-84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メモリ設計の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kern="0" spc="-84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コア</a:t>
            </a:r>
            <a:endParaRPr lang="en-US" sz="4200" dirty="0"/>
          </a:p>
        </p:txBody>
      </p:sp>
      <p:sp>
        <p:nvSpPr>
          <p:cNvPr id="10" name="Text 6"/>
          <p:cNvSpPr txBox="1"/>
          <p:nvPr/>
        </p:nvSpPr>
        <p:spPr>
          <a:xfrm>
            <a:off x="761695" y="4672584"/>
            <a:ext cx="40489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重み量子化・</a:t>
            </a:r>
            <a:r>
              <a:rPr lang="en-US" sz="18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KV</a:t>
            </a:r>
            <a:r>
              <a:rPr lang="en-US" sz="18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キャッシュ管理と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最適化技術</a:t>
            </a:r>
            <a:endParaRPr lang="en-US" sz="18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rcRect l="-3" r="-3"/>
          <a:stretch/>
        </p:blipFill>
        <p:spPr>
          <a:xfrm>
            <a:off x="6248095" y="1423721"/>
            <a:ext cx="5181905" cy="38862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801307" y="2356201"/>
            <a:ext cx="4420210" cy="6256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5E5E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重みメモリの現実解：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5E5E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4bit</a:t>
            </a:r>
            <a:r>
              <a:rPr lang="en-US" sz="1300" dirty="0">
                <a:solidFill>
                  <a:srgbClr val="E5E5E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量子化（</a:t>
            </a:r>
            <a:r>
              <a:rPr lang="en-US" sz="1300" dirty="0">
                <a:solidFill>
                  <a:srgbClr val="E5E5E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weight-only</a:t>
            </a:r>
            <a:r>
              <a:rPr lang="en-US" sz="1300" dirty="0">
                <a:solidFill>
                  <a:srgbClr val="E5E5E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）が基本。理論値＋</a:t>
            </a:r>
            <a:r>
              <a:rPr lang="en-US" sz="1300" dirty="0">
                <a:solidFill>
                  <a:srgbClr val="E5E5E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10%</a:t>
            </a:r>
            <a:r>
              <a:rPr lang="en-US" sz="1300" dirty="0">
                <a:solidFill>
                  <a:srgbClr val="E5E5E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オーバーヘッドで設計します。</a:t>
            </a:r>
            <a:r>
              <a:rPr lang="en-US" sz="1300" dirty="0">
                <a:solidFill>
                  <a:srgbClr val="E5E5E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sz="1300" dirty="0">
              <a:latin typeface="Cambria" panose="02040503050406030204" pitchFamily="18" charset="0"/>
            </a:endParaRPr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6586880" y="2356201"/>
            <a:ext cx="114300" cy="133502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6801307" y="3226917"/>
            <a:ext cx="442021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5E5E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KV</a:t>
            </a:r>
            <a:r>
              <a:rPr lang="en-US" sz="1300" b="1" dirty="0">
                <a:solidFill>
                  <a:srgbClr val="E5E5E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キャッシュの支配性：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5E5E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</a:t>
            </a:r>
            <a:r>
              <a:rPr lang="en-US" sz="1300" dirty="0">
                <a:solidFill>
                  <a:srgbClr val="E5E5E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長文コンテキストでは</a:t>
            </a:r>
            <a:r>
              <a:rPr lang="en-US" sz="1300" dirty="0">
                <a:solidFill>
                  <a:srgbClr val="E5E5E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KV</a:t>
            </a:r>
            <a:r>
              <a:rPr lang="en-US" sz="1300" dirty="0">
                <a:solidFill>
                  <a:srgbClr val="E5E5E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がメモリを圧迫。</a:t>
            </a:r>
            <a:r>
              <a:rPr lang="en-US" sz="1300" dirty="0">
                <a:solidFill>
                  <a:srgbClr val="E5E5E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vLLM</a:t>
            </a:r>
            <a:r>
              <a:rPr lang="en-US" sz="1300" dirty="0">
                <a:solidFill>
                  <a:srgbClr val="E5E5E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r>
              <a:rPr lang="en-US" sz="1300" dirty="0">
                <a:solidFill>
                  <a:srgbClr val="E5E5E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paged/quantized KV</a:t>
            </a:r>
            <a:r>
              <a:rPr lang="en-US" sz="1000" dirty="0">
                <a:solidFill>
                  <a:srgbClr val="6B7280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[5,6]</a:t>
            </a:r>
            <a:r>
              <a:rPr lang="en-US" sz="1300" dirty="0">
                <a:solidFill>
                  <a:srgbClr val="E5E5E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や</a:t>
            </a:r>
            <a:r>
              <a:rPr lang="en-US" sz="1300" dirty="0">
                <a:solidFill>
                  <a:srgbClr val="E5E5E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TensorRT-LLM</a:t>
            </a:r>
            <a:r>
              <a:rPr lang="en-US" sz="1300" dirty="0">
                <a:solidFill>
                  <a:srgbClr val="E5E5E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r>
              <a:rPr lang="en-US" sz="1300" dirty="0">
                <a:solidFill>
                  <a:srgbClr val="E5E5E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KV reuse</a:t>
            </a:r>
            <a:r>
              <a:rPr lang="en-US" sz="1000" dirty="0">
                <a:solidFill>
                  <a:srgbClr val="6B7280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[7]</a:t>
            </a:r>
            <a:r>
              <a:rPr lang="en-US" sz="1300" dirty="0">
                <a:solidFill>
                  <a:srgbClr val="E5E5E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が必須です。</a:t>
            </a:r>
            <a:r>
              <a:rPr lang="en-US" sz="1300" dirty="0">
                <a:solidFill>
                  <a:srgbClr val="E5E5E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sz="1300" dirty="0">
              <a:latin typeface="Cambria" panose="02040503050406030204" pitchFamily="18" charset="0"/>
            </a:endParaRPr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6572707" y="3226917"/>
            <a:ext cx="114300" cy="133502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6801307" y="4243730"/>
            <a:ext cx="4420210" cy="617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5E5E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最適化技術の活用：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5E5E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llama.cpp</a:t>
            </a:r>
            <a:r>
              <a:rPr lang="en-US" sz="1300" dirty="0">
                <a:solidFill>
                  <a:srgbClr val="E5E5E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r>
              <a:rPr lang="en-US" sz="1300" dirty="0">
                <a:solidFill>
                  <a:srgbClr val="E5E5E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prompt cache</a:t>
            </a:r>
            <a:r>
              <a:rPr lang="en-US" sz="1000" dirty="0">
                <a:solidFill>
                  <a:srgbClr val="6B7280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[88,90]</a:t>
            </a:r>
            <a:r>
              <a:rPr lang="en-US" sz="1300" dirty="0">
                <a:solidFill>
                  <a:srgbClr val="E5E5E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等で</a:t>
            </a:r>
            <a:r>
              <a:rPr lang="en-US" sz="1300" dirty="0">
                <a:solidFill>
                  <a:srgbClr val="E5E5E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TTFT</a:t>
            </a:r>
            <a:r>
              <a:rPr lang="en-US" sz="1300" dirty="0">
                <a:solidFill>
                  <a:srgbClr val="E5E5E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を短縮し、実用性を高めます。</a:t>
            </a:r>
            <a:r>
              <a:rPr lang="en-US" sz="1300" dirty="0">
                <a:solidFill>
                  <a:srgbClr val="E5E5E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sz="1300" dirty="0">
              <a:latin typeface="Cambria" panose="02040503050406030204" pitchFamily="18" charset="0"/>
            </a:endParaRPr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6572707" y="4243730"/>
            <a:ext cx="114300" cy="133502"/>
          </a:xfrm>
          <a:prstGeom prst="rect">
            <a:avLst/>
          </a:prstGeom>
        </p:spPr>
      </p:pic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095" y="5605272"/>
            <a:ext cx="1257300" cy="333756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6247180" y="5600700"/>
            <a:ext cx="1257300" cy="3337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1A1A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重み理論値計算</a:t>
            </a:r>
            <a:endParaRPr lang="en-US" sz="10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9695" y="5605272"/>
            <a:ext cx="1429207" cy="333756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7619695" y="5605272"/>
            <a:ext cx="1429207" cy="3337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1A1A6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KV</a:t>
            </a:r>
            <a:r>
              <a:rPr lang="en-US" sz="1000" dirty="0">
                <a:solidFill>
                  <a:srgbClr val="A1A1A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キャッシュ詳細</a:t>
            </a:r>
            <a:endParaRPr lang="en-US" sz="1000" dirty="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56802" y="5605272"/>
            <a:ext cx="1123798" cy="333756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9156802" y="5605272"/>
            <a:ext cx="1124712" cy="3337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1A1A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数式・数値例</a:t>
            </a:r>
            <a:endParaRPr lang="en-US" sz="100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94899" y="5605272"/>
            <a:ext cx="990295" cy="333756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10394899" y="5605272"/>
            <a:ext cx="991210" cy="3337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1A1A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最適化技術</a:t>
            </a:r>
            <a:endParaRPr lang="en-US" sz="1000" dirty="0"/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0786E1D9-431E-37E6-BA5A-4D32DF687B73}"/>
              </a:ext>
            </a:extLst>
          </p:cNvPr>
          <p:cNvSpPr txBox="1"/>
          <p:nvPr/>
        </p:nvSpPr>
        <p:spPr>
          <a:xfrm>
            <a:off x="6810451" y="1714500"/>
            <a:ext cx="452536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</a:t>
            </a: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本章の要点</a:t>
            </a:r>
            <a:r>
              <a:rPr lang="en-US" sz="1500" b="1" dirty="0">
                <a:solidFill>
                  <a:srgbClr val="FFFFF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sz="1500" dirty="0">
              <a:latin typeface="Cambria" panose="02040503050406030204" pitchFamily="18" charset="0"/>
            </a:endParaRPr>
          </a:p>
        </p:txBody>
      </p:sp>
      <p:pic>
        <p:nvPicPr>
          <p:cNvPr id="32" name="Image 4" descr="preencoded.png">
            <a:extLst>
              <a:ext uri="{FF2B5EF4-FFF2-40B4-BE49-F238E27FC236}">
                <a16:creationId xmlns:a16="http://schemas.microsoft.com/office/drawing/2014/main" id="{C3F0CC38-4C7F-DD23-6C49-9F3C80A66754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572707" y="1762049"/>
            <a:ext cx="142646" cy="190195"/>
          </a:xfrm>
          <a:prstGeom prst="rect">
            <a:avLst/>
          </a:prstGeom>
        </p:spPr>
      </p:pic>
      <p:sp>
        <p:nvSpPr>
          <p:cNvPr id="37" name="Text 7">
            <a:extLst>
              <a:ext uri="{FF2B5EF4-FFF2-40B4-BE49-F238E27FC236}">
                <a16:creationId xmlns:a16="http://schemas.microsoft.com/office/drawing/2014/main" id="{6D69E4CF-9B1D-058A-6CD8-8989AAC551F9}"/>
              </a:ext>
            </a:extLst>
          </p:cNvPr>
          <p:cNvSpPr txBox="1"/>
          <p:nvPr/>
        </p:nvSpPr>
        <p:spPr>
          <a:xfrm>
            <a:off x="6248095" y="1009498"/>
            <a:ext cx="5296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07AF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KEY TAKEAWAYS</a:t>
            </a:r>
            <a:endParaRPr lang="en-US" sz="12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208</Words>
  <Application>Microsoft Macintosh PowerPoint</Application>
  <PresentationFormat>ワイド画面</PresentationFormat>
  <Paragraphs>57</Paragraphs>
  <Slides>3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Noto Sans JP</vt:lpstr>
      <vt:lpstr>Arial</vt:lpstr>
      <vt:lpstr>Cambria</vt:lpstr>
      <vt:lpstr>Office Theme</vt:lpstr>
      <vt:lpstr>PowerPoint プレゼンテーション</vt:lpstr>
      <vt:lpstr>PowerPoint プレゼンテーション</vt:lpstr>
      <vt:lpstr>PowerPoint プレゼンテーション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e19217_木更津</cp:lastModifiedBy>
  <cp:revision>4</cp:revision>
  <dcterms:created xsi:type="dcterms:W3CDTF">2026-02-15T07:19:24Z</dcterms:created>
  <dcterms:modified xsi:type="dcterms:W3CDTF">2026-02-25T04:51:31Z</dcterms:modified>
</cp:coreProperties>
</file>