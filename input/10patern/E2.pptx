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8" r:id="rId2"/>
    <p:sldId id="269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96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8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398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57B7DDB-A479-2D56-7713-D1A88B6CDA85}"/>
              </a:ext>
            </a:extLst>
          </p:cNvPr>
          <p:cNvSpPr/>
          <p:nvPr/>
        </p:nvSpPr>
        <p:spPr>
          <a:xfrm>
            <a:off x="-1830" y="6476695"/>
            <a:ext cx="12192609" cy="381305"/>
          </a:xfrm>
          <a:prstGeom prst="rect">
            <a:avLst/>
          </a:prstGeom>
          <a:solidFill>
            <a:srgbClr val="F6F5F8"/>
          </a:solidFill>
          <a:ln w="15875"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2A34FED-ABA8-04AF-302F-E7F4355C8DB7}"/>
              </a:ext>
            </a:extLst>
          </p:cNvPr>
          <p:cNvSpPr/>
          <p:nvPr/>
        </p:nvSpPr>
        <p:spPr>
          <a:xfrm>
            <a:off x="305" y="1032380"/>
            <a:ext cx="12191695" cy="36000"/>
          </a:xfrm>
          <a:prstGeom prst="rect">
            <a:avLst/>
          </a:prstGeom>
          <a:solidFill>
            <a:srgbClr val="E5E5E5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8" name="Text 31">
            <a:extLst>
              <a:ext uri="{FF2B5EF4-FFF2-40B4-BE49-F238E27FC236}">
                <a16:creationId xmlns:a16="http://schemas.microsoft.com/office/drawing/2014/main" id="{9A50289B-3642-0E84-357F-A75EE80B32A6}"/>
              </a:ext>
            </a:extLst>
          </p:cNvPr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Page 1 |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技術調査レポート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76402" y="235458"/>
            <a:ext cx="24368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75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Local AI Technical Report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470307" y="488746"/>
            <a:ext cx="2436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目次</a:t>
            </a:r>
            <a:r>
              <a:rPr lang="en-US" sz="24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（Agenda）</a:t>
            </a:r>
            <a:endParaRPr lang="en-US" sz="2400" dirty="0">
              <a:latin typeface="Cambria" panose="020405030504060302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10613844" y="740110"/>
            <a:ext cx="12810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Total 13 Chapters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580542" y="1250165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01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923442" y="1250165"/>
            <a:ext cx="50484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タイトル／目的／読み方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23442" y="1475107"/>
            <a:ext cx="50484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レポートの目的と、概要→詳細の二層構造の活用方法。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80542" y="2006373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02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923442" y="2006373"/>
            <a:ext cx="50484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エグゼクティブサマリ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923442" y="2231316"/>
            <a:ext cx="50484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実務要点、中核技術、推奨スタックの概要を提示。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80542" y="2763497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03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923442" y="2763497"/>
            <a:ext cx="50484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ローカル</a:t>
            </a:r>
            <a:r>
              <a:rPr lang="en-US" sz="16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AI</a:t>
            </a:r>
            <a:r>
              <a:rPr lang="en-US" sz="16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の定義・前提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923442" y="2988439"/>
            <a:ext cx="50484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オンデバイス／ローカル</a:t>
            </a:r>
            <a:r>
              <a:rPr lang="en-US" sz="105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LAN</a:t>
            </a: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推論の定義と範囲。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80542" y="3519705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04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923442" y="3519705"/>
            <a:ext cx="50484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ローカル</a:t>
            </a:r>
            <a:r>
              <a:rPr lang="en-US" sz="16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AI</a:t>
            </a:r>
            <a:r>
              <a:rPr lang="en-US" sz="16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ランドスケープ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923442" y="3744648"/>
            <a:ext cx="50484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LLM</a:t>
            </a: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から</a:t>
            </a:r>
            <a:r>
              <a:rPr lang="en-US" sz="105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Agent</a:t>
            </a: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まで、技術スタックの全体像を図解。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580542" y="4275914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05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923442" y="4275914"/>
            <a:ext cx="50484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特徴軸（評価軸）の定義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23442" y="4500857"/>
            <a:ext cx="50484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指示追従、</a:t>
            </a:r>
            <a:r>
              <a:rPr lang="en-US" sz="105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JSON</a:t>
            </a: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堅牢性、メモリ効率などの評価基準。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580542" y="5033037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06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923442" y="5033037"/>
            <a:ext cx="50484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カテゴリ別モデルカタログ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923442" y="5257980"/>
            <a:ext cx="49725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LLM/VLM/ASR/TTS</a:t>
            </a: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等の代表モデルと採用判断。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580542" y="5789246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07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923442" y="5789246"/>
            <a:ext cx="50484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メモリ設計のコア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923442" y="6014189"/>
            <a:ext cx="50484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重み理論値、</a:t>
            </a:r>
            <a:r>
              <a:rPr lang="en-US" sz="105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KV</a:t>
            </a: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キャッシュ、最適化技術の詳解。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6390640" y="1250165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08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31" name="Text 28"/>
          <p:cNvSpPr txBox="1"/>
          <p:nvPr/>
        </p:nvSpPr>
        <p:spPr>
          <a:xfrm>
            <a:off x="6733540" y="1250165"/>
            <a:ext cx="50484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Tier</a:t>
            </a:r>
            <a:r>
              <a:rPr lang="en-US" sz="1600" b="1" dirty="0" err="1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定義と現実ライン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6733540" y="1475107"/>
            <a:ext cx="49725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Apple Silicon / Windows GPU / CPU</a:t>
            </a: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ごとの実用ライン。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6390640" y="2006373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09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34" name="Text 31"/>
          <p:cNvSpPr txBox="1"/>
          <p:nvPr/>
        </p:nvSpPr>
        <p:spPr>
          <a:xfrm>
            <a:off x="6733540" y="2006373"/>
            <a:ext cx="50484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ユースケース別推奨スタック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6733540" y="2231316"/>
            <a:ext cx="50484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低コスト</a:t>
            </a:r>
            <a:r>
              <a:rPr lang="en-US" sz="105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／</a:t>
            </a: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高品質／ハード制約別の構成案（</a:t>
            </a:r>
            <a:r>
              <a:rPr lang="en-US" sz="105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6</a:t>
            </a: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ケース）。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6390640" y="2763497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10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37" name="Text 34"/>
          <p:cNvSpPr txBox="1"/>
          <p:nvPr/>
        </p:nvSpPr>
        <p:spPr>
          <a:xfrm>
            <a:off x="6733540" y="2763497"/>
            <a:ext cx="50484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測定と比較の方法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6733540" y="2988439"/>
            <a:ext cx="50484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再現可能なベンチマーク手順と指標（</a:t>
            </a:r>
            <a:r>
              <a:rPr lang="en-US" sz="105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tok/s, TTFT</a:t>
            </a: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等）。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6390640" y="3519705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11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40" name="Text 37"/>
          <p:cNvSpPr txBox="1"/>
          <p:nvPr/>
        </p:nvSpPr>
        <p:spPr>
          <a:xfrm>
            <a:off x="6733540" y="3519705"/>
            <a:ext cx="50484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リスク／コンプライアンス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6733540" y="3744648"/>
            <a:ext cx="50484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ライセンス条件、商用利用、セキュリティリスク。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6390640" y="4275914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12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43" name="Text 40"/>
          <p:cNvSpPr txBox="1"/>
          <p:nvPr/>
        </p:nvSpPr>
        <p:spPr>
          <a:xfrm>
            <a:off x="6733540" y="4275914"/>
            <a:ext cx="50484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まとめ（意思決定フロー）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6733540" y="4500857"/>
            <a:ext cx="50484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モデル選定と環境構築のための意思決定チャート。</a:t>
            </a:r>
            <a:endParaRPr lang="en-US" sz="1050" dirty="0"/>
          </a:p>
        </p:txBody>
      </p:sp>
      <p:sp>
        <p:nvSpPr>
          <p:cNvPr id="45" name="Text 42"/>
          <p:cNvSpPr txBox="1"/>
          <p:nvPr/>
        </p:nvSpPr>
        <p:spPr>
          <a:xfrm>
            <a:off x="6390640" y="5033037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13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46" name="Text 43"/>
          <p:cNvSpPr txBox="1"/>
          <p:nvPr/>
        </p:nvSpPr>
        <p:spPr>
          <a:xfrm>
            <a:off x="6733540" y="5033037"/>
            <a:ext cx="49725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References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47" name="Text 44"/>
          <p:cNvSpPr txBox="1"/>
          <p:nvPr/>
        </p:nvSpPr>
        <p:spPr>
          <a:xfrm>
            <a:off x="6733540" y="5257980"/>
            <a:ext cx="50484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一次情報源および参照</a:t>
            </a:r>
            <a:r>
              <a:rPr lang="en-US" sz="105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URL</a:t>
            </a: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一覧。</a:t>
            </a:r>
            <a:endParaRPr lang="en-US" sz="1050" dirty="0"/>
          </a:p>
        </p:txBody>
      </p:sp>
      <p:pic>
        <p:nvPicPr>
          <p:cNvPr id="48" name="Image 1" descr="preencoded.png"/>
          <p:cNvPicPr>
            <a:picLocks noChangeAspect="1"/>
          </p:cNvPicPr>
          <p:nvPr/>
        </p:nvPicPr>
        <p:blipFill>
          <a:blip r:embed="rId3"/>
          <a:srcRect t="-15" b="-15"/>
          <a:stretch/>
        </p:blipFill>
        <p:spPr>
          <a:xfrm>
            <a:off x="6390640" y="5833138"/>
            <a:ext cx="4045306" cy="362102"/>
          </a:xfrm>
          <a:prstGeom prst="rect">
            <a:avLst/>
          </a:prstGeom>
        </p:spPr>
      </p:pic>
      <p:sp>
        <p:nvSpPr>
          <p:cNvPr id="49" name="Text 45"/>
          <p:cNvSpPr txBox="1"/>
          <p:nvPr/>
        </p:nvSpPr>
        <p:spPr>
          <a:xfrm>
            <a:off x="6751828" y="5928235"/>
            <a:ext cx="3734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56B3"/>
                </a:solidFill>
                <a:latin typeface="Noto Sans JP" pitchFamily="34" charset="0"/>
                <a:ea typeface="Noto Sans JP" pitchFamily="34" charset="-122"/>
                <a:cs typeface="Gigi" panose="020F0502020204030204" pitchFamily="34" charset="0"/>
              </a:rPr>
              <a:t>各章は「概要（要点）」→「詳細（完全版）」の順で構成されています</a:t>
            </a:r>
            <a:endParaRPr lang="en-US" sz="900" dirty="0"/>
          </a:p>
        </p:txBody>
      </p:sp>
      <p:pic>
        <p:nvPicPr>
          <p:cNvPr id="50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61633" y="5961154"/>
            <a:ext cx="114300" cy="114300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ED9293D-8026-9BC4-B89E-291B649C98AD}"/>
              </a:ext>
            </a:extLst>
          </p:cNvPr>
          <p:cNvSpPr/>
          <p:nvPr/>
        </p:nvSpPr>
        <p:spPr>
          <a:xfrm>
            <a:off x="-1" y="-1"/>
            <a:ext cx="12192001" cy="54865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05A2A0D-69FD-6D71-C037-C68099E50D5F}"/>
              </a:ext>
            </a:extLst>
          </p:cNvPr>
          <p:cNvSpPr/>
          <p:nvPr/>
        </p:nvSpPr>
        <p:spPr>
          <a:xfrm>
            <a:off x="-1830" y="6476695"/>
            <a:ext cx="12192609" cy="381305"/>
          </a:xfrm>
          <a:prstGeom prst="rect">
            <a:avLst/>
          </a:prstGeom>
          <a:solidFill>
            <a:srgbClr val="F6F5F8"/>
          </a:solidFill>
          <a:ln w="15875"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C2EFFD0-6355-CA91-F2E7-C8BA4E32CCE4}"/>
              </a:ext>
            </a:extLst>
          </p:cNvPr>
          <p:cNvSpPr/>
          <p:nvPr/>
        </p:nvSpPr>
        <p:spPr>
          <a:xfrm>
            <a:off x="305" y="1032380"/>
            <a:ext cx="12191695" cy="36000"/>
          </a:xfrm>
          <a:prstGeom prst="rect">
            <a:avLst/>
          </a:prstGeom>
          <a:solidFill>
            <a:srgbClr val="E5E5E5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3" name="Text 31">
            <a:extLst>
              <a:ext uri="{FF2B5EF4-FFF2-40B4-BE49-F238E27FC236}">
                <a16:creationId xmlns:a16="http://schemas.microsoft.com/office/drawing/2014/main" id="{0C88E9C6-BAD2-FA62-0190-F6EB6DA3373C}"/>
              </a:ext>
            </a:extLst>
          </p:cNvPr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Page 2 |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技術調査レポート</a:t>
            </a:r>
            <a:endParaRPr lang="en-US" sz="900" dirty="0"/>
          </a:p>
        </p:txBody>
      </p:sp>
      <p:pic>
        <p:nvPicPr>
          <p:cNvPr id="177" name="Image 1" descr="preencoded.png">
            <a:extLst>
              <a:ext uri="{FF2B5EF4-FFF2-40B4-BE49-F238E27FC236}">
                <a16:creationId xmlns:a16="http://schemas.microsoft.com/office/drawing/2014/main" id="{0ADF0F82-3389-19E7-E3EC-0FAB89B824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5" b="-15"/>
          <a:stretch/>
        </p:blipFill>
        <p:spPr>
          <a:xfrm>
            <a:off x="6390640" y="5833138"/>
            <a:ext cx="4219956" cy="362102"/>
          </a:xfrm>
          <a:prstGeom prst="rect">
            <a:avLst/>
          </a:prstGeom>
        </p:spPr>
      </p:pic>
      <p:pic>
        <p:nvPicPr>
          <p:cNvPr id="179" name="Image 2" descr="preencoded.png">
            <a:extLst>
              <a:ext uri="{FF2B5EF4-FFF2-40B4-BE49-F238E27FC236}">
                <a16:creationId xmlns:a16="http://schemas.microsoft.com/office/drawing/2014/main" id="{6B9586D4-5C87-3D7A-A877-9B04BBEAF3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61633" y="5961154"/>
            <a:ext cx="114300" cy="114300"/>
          </a:xfrm>
          <a:prstGeom prst="rect">
            <a:avLst/>
          </a:prstGeom>
        </p:spPr>
      </p:pic>
      <p:sp>
        <p:nvSpPr>
          <p:cNvPr id="49" name="Text 45"/>
          <p:cNvSpPr txBox="1"/>
          <p:nvPr/>
        </p:nvSpPr>
        <p:spPr>
          <a:xfrm>
            <a:off x="6751828" y="5928235"/>
            <a:ext cx="385876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56B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各評価軸の測定手法と設計含意は、次スライド以降で詳細に解説します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6733540" y="5042638"/>
            <a:ext cx="5058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ライセンス</a:t>
            </a:r>
            <a:r>
              <a:rPr lang="en-US" sz="16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(License &amp; Compliance)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43" name="Text 40"/>
          <p:cNvSpPr txBox="1"/>
          <p:nvPr/>
        </p:nvSpPr>
        <p:spPr>
          <a:xfrm>
            <a:off x="6733540" y="4285515"/>
            <a:ext cx="5058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量子化耐性</a:t>
            </a:r>
            <a:r>
              <a:rPr lang="en-US" sz="16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(Quantization Robustness)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41" name="Text 38"/>
          <p:cNvSpPr txBox="1"/>
          <p:nvPr/>
        </p:nvSpPr>
        <p:spPr>
          <a:xfrm>
            <a:off x="6733540" y="3755279"/>
            <a:ext cx="5134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重み＋</a:t>
            </a:r>
            <a:r>
              <a:rPr lang="en-US" sz="105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KV</a:t>
            </a: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キャッシュ＋ランタイムオーバーヘッドの総消費量。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6733540" y="3529306"/>
            <a:ext cx="5058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メモリ</a:t>
            </a:r>
            <a:r>
              <a:rPr lang="en-US" sz="16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/VRAM (Memory Footprint)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38" name="Text 35"/>
          <p:cNvSpPr txBox="1"/>
          <p:nvPr/>
        </p:nvSpPr>
        <p:spPr>
          <a:xfrm>
            <a:off x="6733540" y="2996549"/>
            <a:ext cx="50584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LLM</a:t>
            </a: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の生成速度</a:t>
            </a:r>
            <a:r>
              <a:rPr lang="en-US" sz="105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(tok/s)</a:t>
            </a: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および</a:t>
            </a:r>
            <a:r>
              <a:rPr lang="en-US" sz="105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ASR/TTS</a:t>
            </a: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の実時間比</a:t>
            </a:r>
            <a:r>
              <a:rPr lang="en-US" sz="105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(RTF)</a:t>
            </a: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6733540" y="2763497"/>
            <a:ext cx="5058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速度</a:t>
            </a:r>
            <a:r>
              <a:rPr lang="en-US" sz="16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(Speed / Throughput)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923442" y="6028361"/>
            <a:ext cx="5134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文法・敬語・語彙の自然さと、業務文書スタイルの再現性。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913383" y="5798847"/>
            <a:ext cx="5058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日本語品質</a:t>
            </a:r>
            <a:r>
              <a:rPr lang="en-US" sz="16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(Japanese Quality)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913383" y="5277649"/>
            <a:ext cx="5134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関数呼び出しの意思決定、必要引数の抽出、曖昧性の解消能力。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913383" y="5042638"/>
            <a:ext cx="5058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ツール呼び出し適性</a:t>
            </a:r>
            <a:r>
              <a:rPr lang="en-US" sz="16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(Tool-use)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923442" y="4516743"/>
            <a:ext cx="5134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タスク分解、複数ステップの自己検証、外部ツール呼び出し順序の妥当性。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913383" y="4285515"/>
            <a:ext cx="5058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推論計画</a:t>
            </a:r>
            <a:r>
              <a:rPr lang="en-US" sz="16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(Planning)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923442" y="3519993"/>
            <a:ext cx="5058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長文耐性</a:t>
            </a:r>
            <a:r>
              <a:rPr lang="en-US" sz="16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(Long-context Stability)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913383" y="3782595"/>
            <a:ext cx="5134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長い入力に対する要約崩れや重要情報の欠落、自己矛盾の抑制。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95198" y="2766014"/>
            <a:ext cx="5058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JSON</a:t>
            </a:r>
            <a:r>
              <a:rPr lang="en-US" sz="16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堅牢性</a:t>
            </a:r>
            <a:r>
              <a:rPr lang="en-US" sz="16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(Structured Output)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923442" y="3011181"/>
            <a:ext cx="5134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スキーマ遵守・構文破壊率の低さ。ツール呼び出しやシステム連携の要。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95198" y="2025000"/>
            <a:ext cx="5058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幻覚耐性</a:t>
            </a:r>
            <a:r>
              <a:rPr lang="en-US" sz="16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(Hallucination Resistance)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923442" y="2246401"/>
            <a:ext cx="5134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根拠のない固有名詞や数値を捏造せず、不確実性を提示できる性質。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913383" y="1249538"/>
            <a:ext cx="5058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指示追従</a:t>
            </a:r>
            <a:r>
              <a:rPr lang="en-US" sz="16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(Instruction Following)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918870" y="1488366"/>
            <a:ext cx="5134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プロンプトの制約・禁止事項・形式指定（箇条書き禁止等）を遵守する能力。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0826442" y="740110"/>
            <a:ext cx="115671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Total 13 Metrics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476402" y="237744"/>
            <a:ext cx="34774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75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Evaluation Metrics Overview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476402" y="495605"/>
            <a:ext cx="35533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特徴軸（評価軸）の定義</a:t>
            </a:r>
            <a:endParaRPr lang="en-US" sz="2400" dirty="0"/>
          </a:p>
        </p:txBody>
      </p:sp>
      <p:sp>
        <p:nvSpPr>
          <p:cNvPr id="31" name="Text 28"/>
          <p:cNvSpPr txBox="1"/>
          <p:nvPr/>
        </p:nvSpPr>
        <p:spPr>
          <a:xfrm>
            <a:off x="6733540" y="1249138"/>
            <a:ext cx="5058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音声品質</a:t>
            </a:r>
            <a:r>
              <a:rPr lang="en-US" sz="16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(TTS Quality)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6733540" y="1451220"/>
            <a:ext cx="5134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自然さ（抑揚・間）、アクセント、ノイズの少なさ、声質再現性。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6733540" y="2034607"/>
            <a:ext cx="5058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画像理解精度</a:t>
            </a:r>
            <a:r>
              <a:rPr lang="en-US" sz="16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(VLM Accuracy)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35" name="Text 32"/>
          <p:cNvSpPr txBox="1"/>
          <p:nvPr/>
        </p:nvSpPr>
        <p:spPr>
          <a:xfrm>
            <a:off x="6733540" y="2236690"/>
            <a:ext cx="5134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OCR</a:t>
            </a: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的読み取り、図表理解、空間関係、</a:t>
            </a:r>
            <a:r>
              <a:rPr lang="en-US" sz="105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UI</a:t>
            </a: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スクリーンショットの解釈。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6733540" y="4515030"/>
            <a:ext cx="5134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4bit</a:t>
            </a: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等に圧縮した際の品質劣化の小ささ（モデルと手法の相性）。</a:t>
            </a:r>
            <a:endParaRPr lang="en-US" sz="1050" dirty="0"/>
          </a:p>
        </p:txBody>
      </p:sp>
      <p:sp>
        <p:nvSpPr>
          <p:cNvPr id="47" name="Text 44"/>
          <p:cNvSpPr txBox="1"/>
          <p:nvPr/>
        </p:nvSpPr>
        <p:spPr>
          <a:xfrm>
            <a:off x="6733540" y="5272153"/>
            <a:ext cx="5134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コードの</a:t>
            </a:r>
            <a:r>
              <a:rPr lang="en-US" sz="105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OSS</a:t>
            </a:r>
            <a:r>
              <a:rPr lang="en-US" sz="105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ライセンスと、モデル重みの利用条件（商用制限等）の区別。</a:t>
            </a:r>
            <a:endParaRPr lang="en-US" sz="1050" dirty="0"/>
          </a:p>
        </p:txBody>
      </p:sp>
      <p:sp>
        <p:nvSpPr>
          <p:cNvPr id="104" name="Text 6">
            <a:extLst>
              <a:ext uri="{FF2B5EF4-FFF2-40B4-BE49-F238E27FC236}">
                <a16:creationId xmlns:a16="http://schemas.microsoft.com/office/drawing/2014/main" id="{0D45B102-B86E-8154-ACD0-351A9F98FB14}"/>
              </a:ext>
            </a:extLst>
          </p:cNvPr>
          <p:cNvSpPr txBox="1"/>
          <p:nvPr/>
        </p:nvSpPr>
        <p:spPr>
          <a:xfrm>
            <a:off x="580542" y="1250165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01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105" name="Text 9">
            <a:extLst>
              <a:ext uri="{FF2B5EF4-FFF2-40B4-BE49-F238E27FC236}">
                <a16:creationId xmlns:a16="http://schemas.microsoft.com/office/drawing/2014/main" id="{2DF2372F-6436-E26B-3D2F-C5AAD42EDCF2}"/>
              </a:ext>
            </a:extLst>
          </p:cNvPr>
          <p:cNvSpPr txBox="1"/>
          <p:nvPr/>
        </p:nvSpPr>
        <p:spPr>
          <a:xfrm>
            <a:off x="580542" y="2006373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02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106" name="Text 12">
            <a:extLst>
              <a:ext uri="{FF2B5EF4-FFF2-40B4-BE49-F238E27FC236}">
                <a16:creationId xmlns:a16="http://schemas.microsoft.com/office/drawing/2014/main" id="{F5C5A656-407D-1C38-F693-7C4574FAB75E}"/>
              </a:ext>
            </a:extLst>
          </p:cNvPr>
          <p:cNvSpPr txBox="1"/>
          <p:nvPr/>
        </p:nvSpPr>
        <p:spPr>
          <a:xfrm>
            <a:off x="580542" y="2763497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03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107" name="Text 15">
            <a:extLst>
              <a:ext uri="{FF2B5EF4-FFF2-40B4-BE49-F238E27FC236}">
                <a16:creationId xmlns:a16="http://schemas.microsoft.com/office/drawing/2014/main" id="{383B975A-1CF7-F63B-1216-8BDB939B751E}"/>
              </a:ext>
            </a:extLst>
          </p:cNvPr>
          <p:cNvSpPr txBox="1"/>
          <p:nvPr/>
        </p:nvSpPr>
        <p:spPr>
          <a:xfrm>
            <a:off x="580542" y="3519705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04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108" name="Text 18">
            <a:extLst>
              <a:ext uri="{FF2B5EF4-FFF2-40B4-BE49-F238E27FC236}">
                <a16:creationId xmlns:a16="http://schemas.microsoft.com/office/drawing/2014/main" id="{3F120127-4B21-E9E8-4677-E018AE4C86F4}"/>
              </a:ext>
            </a:extLst>
          </p:cNvPr>
          <p:cNvSpPr txBox="1"/>
          <p:nvPr/>
        </p:nvSpPr>
        <p:spPr>
          <a:xfrm>
            <a:off x="580542" y="4275914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05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ED3DA8FD-DD7F-5B0F-548D-D95AE03511EB}"/>
              </a:ext>
            </a:extLst>
          </p:cNvPr>
          <p:cNvSpPr txBox="1"/>
          <p:nvPr/>
        </p:nvSpPr>
        <p:spPr>
          <a:xfrm>
            <a:off x="580542" y="5033037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06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110" name="Text 24">
            <a:extLst>
              <a:ext uri="{FF2B5EF4-FFF2-40B4-BE49-F238E27FC236}">
                <a16:creationId xmlns:a16="http://schemas.microsoft.com/office/drawing/2014/main" id="{989939DE-B1B9-5B92-E5A9-02F5690D2E38}"/>
              </a:ext>
            </a:extLst>
          </p:cNvPr>
          <p:cNvSpPr txBox="1"/>
          <p:nvPr/>
        </p:nvSpPr>
        <p:spPr>
          <a:xfrm>
            <a:off x="580542" y="5789246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07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171" name="Text 27">
            <a:extLst>
              <a:ext uri="{FF2B5EF4-FFF2-40B4-BE49-F238E27FC236}">
                <a16:creationId xmlns:a16="http://schemas.microsoft.com/office/drawing/2014/main" id="{B261EBF0-92AA-9701-2070-FBFC12152820}"/>
              </a:ext>
            </a:extLst>
          </p:cNvPr>
          <p:cNvSpPr txBox="1"/>
          <p:nvPr/>
        </p:nvSpPr>
        <p:spPr>
          <a:xfrm>
            <a:off x="6390640" y="1250165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08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172" name="Text 30">
            <a:extLst>
              <a:ext uri="{FF2B5EF4-FFF2-40B4-BE49-F238E27FC236}">
                <a16:creationId xmlns:a16="http://schemas.microsoft.com/office/drawing/2014/main" id="{4E52D06C-6BFE-642F-21C8-3F0B95F4B5E2}"/>
              </a:ext>
            </a:extLst>
          </p:cNvPr>
          <p:cNvSpPr txBox="1"/>
          <p:nvPr/>
        </p:nvSpPr>
        <p:spPr>
          <a:xfrm>
            <a:off x="6390640" y="2006373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09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173" name="Text 33">
            <a:extLst>
              <a:ext uri="{FF2B5EF4-FFF2-40B4-BE49-F238E27FC236}">
                <a16:creationId xmlns:a16="http://schemas.microsoft.com/office/drawing/2014/main" id="{2A6F7986-2C8A-2476-726E-B3ABA35725DA}"/>
              </a:ext>
            </a:extLst>
          </p:cNvPr>
          <p:cNvSpPr txBox="1"/>
          <p:nvPr/>
        </p:nvSpPr>
        <p:spPr>
          <a:xfrm>
            <a:off x="6390640" y="2763497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10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174" name="Text 36">
            <a:extLst>
              <a:ext uri="{FF2B5EF4-FFF2-40B4-BE49-F238E27FC236}">
                <a16:creationId xmlns:a16="http://schemas.microsoft.com/office/drawing/2014/main" id="{903FD298-340C-D367-9FA3-4A32A16CA2C4}"/>
              </a:ext>
            </a:extLst>
          </p:cNvPr>
          <p:cNvSpPr txBox="1"/>
          <p:nvPr/>
        </p:nvSpPr>
        <p:spPr>
          <a:xfrm>
            <a:off x="6390640" y="3519705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11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175" name="Text 39">
            <a:extLst>
              <a:ext uri="{FF2B5EF4-FFF2-40B4-BE49-F238E27FC236}">
                <a16:creationId xmlns:a16="http://schemas.microsoft.com/office/drawing/2014/main" id="{E2C6AC39-81F6-4DB5-63EF-866CB3DC525C}"/>
              </a:ext>
            </a:extLst>
          </p:cNvPr>
          <p:cNvSpPr txBox="1"/>
          <p:nvPr/>
        </p:nvSpPr>
        <p:spPr>
          <a:xfrm>
            <a:off x="6390640" y="4275914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12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176" name="Text 42">
            <a:extLst>
              <a:ext uri="{FF2B5EF4-FFF2-40B4-BE49-F238E27FC236}">
                <a16:creationId xmlns:a16="http://schemas.microsoft.com/office/drawing/2014/main" id="{672FF9C5-2D6D-99A1-8A80-8752AF2BF0C3}"/>
              </a:ext>
            </a:extLst>
          </p:cNvPr>
          <p:cNvSpPr txBox="1"/>
          <p:nvPr/>
        </p:nvSpPr>
        <p:spPr>
          <a:xfrm>
            <a:off x="6390640" y="5033037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Gigi" panose="020F0502020204030204" pitchFamily="34" charset="0"/>
              </a:rPr>
              <a:t>13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AECCB35-91FE-34DF-6920-132FA26311A8}"/>
              </a:ext>
            </a:extLst>
          </p:cNvPr>
          <p:cNvSpPr/>
          <p:nvPr/>
        </p:nvSpPr>
        <p:spPr>
          <a:xfrm>
            <a:off x="-1" y="-1"/>
            <a:ext cx="12192001" cy="54865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901</TotalTime>
  <Words>416</Words>
  <Application>Microsoft Macintosh PowerPoint</Application>
  <PresentationFormat>ワイド画面</PresentationFormat>
  <Paragraphs>90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Noto Sans JP</vt:lpstr>
      <vt:lpstr>Arial</vt:lpstr>
      <vt:lpstr>Cambria</vt:lpstr>
      <vt:lpstr>Office Theme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e19217_木更津</cp:lastModifiedBy>
  <cp:revision>9</cp:revision>
  <dcterms:created xsi:type="dcterms:W3CDTF">2026-02-15T07:19:24Z</dcterms:created>
  <dcterms:modified xsi:type="dcterms:W3CDTF">2026-02-25T12:06:10Z</dcterms:modified>
</cp:coreProperties>
</file>