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60" r:id="rId3"/>
    <p:sldId id="261" r:id="rId4"/>
    <p:sldId id="26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F8"/>
    <a:srgbClr val="E5E5E5"/>
    <a:srgbClr val="007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8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48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8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8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9934951-4B0C-95E3-C3CB-D7E59AF31455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B7E0B503-7DA8-5928-9BB7-1354DFFAF41B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3E147BF-0BF8-846D-515C-1F54A7FCE01A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470024"/>
            <a:ext cx="11354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エグゼクティブサマリ（実務要点）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195681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導入における意思決定の重要ポイント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421206"/>
            <a:ext cx="106116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結論：ローカル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は「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量子化＋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管理」を前提に、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GGUF/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系と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/LM Studio/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で実務化可能です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b="1" dirty="0">
              <a:latin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38167" y="2382470"/>
            <a:ext cx="3534156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6600" r="-16600"/>
          <a:stretch/>
        </p:blipFill>
        <p:spPr>
          <a:xfrm>
            <a:off x="738421" y="2596440"/>
            <a:ext cx="304495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57216" y="2582724"/>
            <a:ext cx="12865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定義とスコープ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8421" y="2953970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推論が端末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or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内で完結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8421" y="3239263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入力データは外部へ送信されない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8421" y="352547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サーブ含む（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LM Studio, Ollama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265" y="2382470"/>
            <a:ext cx="3534156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16600" r="-16600"/>
          <a:stretch/>
        </p:blipFill>
        <p:spPr>
          <a:xfrm>
            <a:off x="4497519" y="2596440"/>
            <a:ext cx="304495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916314" y="2582724"/>
            <a:ext cx="762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中核技術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193377" y="2953970"/>
            <a:ext cx="25530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 4bit (AWQ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021" y="2963114"/>
            <a:ext cx="533095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31021" y="2963114"/>
            <a:ext cx="5340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5193377" y="325663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キャッシュ管理最適化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1021" y="3266695"/>
            <a:ext cx="533095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31021" y="3266695"/>
            <a:ext cx="5340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497519" y="3559303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Paged Attention / Quantized KV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056364" y="2382470"/>
            <a:ext cx="3534156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rcRect l="-3280" r="-3280"/>
          <a:stretch/>
        </p:blipFill>
        <p:spPr>
          <a:xfrm>
            <a:off x="8256617" y="2596440"/>
            <a:ext cx="304495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675413" y="2582724"/>
            <a:ext cx="129661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主要ランタイム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8256617" y="295397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 (GGUF)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汎用・軽量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256617" y="3239263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 / LM Studio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UI + API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8256617" y="3525470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Apple Silicon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特化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38167" y="4274364"/>
            <a:ext cx="7295998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l="-3280" r="-3280"/>
          <a:stretch/>
        </p:blipFill>
        <p:spPr>
          <a:xfrm>
            <a:off x="738421" y="4488333"/>
            <a:ext cx="304495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157216" y="4473703"/>
            <a:ext cx="36566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ハードウェア実用ライン</a:t>
            </a:r>
            <a:r>
              <a:rPr lang="en-US" sz="13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(4bit</a:t>
            </a: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量子化前提</a:t>
            </a:r>
            <a:r>
              <a:rPr lang="en-US" sz="13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738421" y="4855008"/>
            <a:ext cx="2595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 (Unified Memory)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738421" y="5150359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16GB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3B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7/8B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738421" y="54356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24-32GB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7B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(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業務最小ライン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4178393" y="4845864"/>
            <a:ext cx="9144" cy="875995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1"/>
          <p:cNvSpPr txBox="1"/>
          <p:nvPr/>
        </p:nvSpPr>
        <p:spPr>
          <a:xfrm>
            <a:off x="4331098" y="4855008"/>
            <a:ext cx="22969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(NVIDIA GPU VRAM)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4331098" y="5150359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8GB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7B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/ </a:t>
            </a: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12GB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14B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4331098" y="543565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24GB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27B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34B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(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実務域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8056364" y="4274364"/>
            <a:ext cx="3534156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l="-9200" r="-9200"/>
          <a:stretch/>
        </p:blipFill>
        <p:spPr>
          <a:xfrm>
            <a:off x="8256617" y="4488333"/>
            <a:ext cx="304495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675413" y="4473703"/>
            <a:ext cx="11109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推奨スタック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8256617" y="4845864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低コスト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GGUF + llama.cpp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6" name="Text 37"/>
          <p:cNvSpPr txBox="1"/>
          <p:nvPr/>
        </p:nvSpPr>
        <p:spPr>
          <a:xfrm>
            <a:off x="8256617" y="5131157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GPU + TensorRT-LLM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47" name="Text 38"/>
          <p:cNvSpPr txBox="1"/>
          <p:nvPr/>
        </p:nvSpPr>
        <p:spPr>
          <a:xfrm>
            <a:off x="8256617" y="5417364"/>
            <a:ext cx="3248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ハード制約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 3B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</a:t>
            </a:r>
            <a:r>
              <a:rPr lang="en-US" sz="11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+ RAG</a:t>
            </a:r>
            <a:r>
              <a:rPr lang="en-US" sz="11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工夫</a:t>
            </a:r>
            <a:endParaRPr lang="en-US" sz="1100" dirty="0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5871" y="6242541"/>
            <a:ext cx="133502" cy="13350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4656123" y="6202719"/>
            <a:ext cx="7535571" cy="21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補足：長文コンテキストは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キャッシュがメモリを支配します。最終判断は再現ベンチマーク（後述の手順）で確定してください。</a:t>
            </a:r>
            <a:endParaRPr lang="en-US" sz="1000" dirty="0"/>
          </a:p>
        </p:txBody>
      </p:sp>
      <p:sp>
        <p:nvSpPr>
          <p:cNvPr id="55" name="Text 31">
            <a:extLst>
              <a:ext uri="{FF2B5EF4-FFF2-40B4-BE49-F238E27FC236}">
                <a16:creationId xmlns:a16="http://schemas.microsoft.com/office/drawing/2014/main" id="{4EDC0BFF-D7BD-41E2-B95F-9F676769B35B}"/>
              </a:ext>
            </a:extLst>
          </p:cNvPr>
          <p:cNvSpPr/>
          <p:nvPr/>
        </p:nvSpPr>
        <p:spPr>
          <a:xfrm>
            <a:off x="0" y="6471666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1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D00F7B32-4901-8FB0-9150-68D7907BE54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E1C7D35-298A-D906-EE5C-8E4FD3DF6688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A2EF8434-BBB6-CB7C-6151-3989426B08FB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FF21A5-2BF8-CFB9-94FB-B25C03296A2D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Text 31">
            <a:extLst>
              <a:ext uri="{FF2B5EF4-FFF2-40B4-BE49-F238E27FC236}">
                <a16:creationId xmlns:a16="http://schemas.microsoft.com/office/drawing/2014/main" id="{D783820D-E294-82B7-FAE7-AFD106EF0AED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2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80" name="Shape 5">
            <a:extLst>
              <a:ext uri="{FF2B5EF4-FFF2-40B4-BE49-F238E27FC236}">
                <a16:creationId xmlns:a16="http://schemas.microsoft.com/office/drawing/2014/main" id="{0900C03C-9124-D22F-6546-DD552A5F174A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エグゼクティブサマリ（詳細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75532" y="208940"/>
            <a:ext cx="23975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の定義と中核技術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426920"/>
            <a:ext cx="108493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結論：ローカル</a:t>
            </a: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は「推論がユーザー管理下で完結する構成」と定義され、</a:t>
            </a: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800" dirty="0">
              <a:latin typeface="Cambria" panose="02040503050406030204" pitchFamily="18" charset="0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重み量子化（</a:t>
            </a:r>
            <a:r>
              <a:rPr lang="en-US" sz="1800" b="1" dirty="0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</a:t>
            </a:r>
            <a:r>
              <a:rPr lang="en-US" sz="1800" b="1" dirty="0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キャッシュ最適化</a:t>
            </a:r>
            <a:r>
              <a:rPr lang="en-US" sz="18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が実運用の技術的基盤です。</a:t>
            </a:r>
            <a:r>
              <a:rPr lang="en-US" sz="18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800" dirty="0">
              <a:latin typeface="Cambria" panose="020405030504060302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38167" y="2381097"/>
            <a:ext cx="5486400" cy="3981298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775911" y="3019348"/>
            <a:ext cx="5009998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775911" y="2667304"/>
            <a:ext cx="219456" cy="19019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09667" y="2619755"/>
            <a:ext cx="21717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5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の定義と射程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75911" y="3191255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6165" y="3434486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ユーザー端末（オンデバイス）、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PC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、またはローカル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内サーバで完結。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75911" y="4037075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76165" y="4280306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入力データ（文書・音声・画像）がデフォルトでクラウドへ送出されない構成。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775911" y="4881981"/>
            <a:ext cx="105156" cy="1143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76165" y="5126126"/>
            <a:ext cx="48865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LM Studio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の「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localhost/network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公開」機能を含みます。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974" y="5408675"/>
            <a:ext cx="400507" cy="20025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2974" y="5408675"/>
            <a:ext cx="4005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[1][2]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911" y="5766206"/>
            <a:ext cx="857707" cy="27614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75911" y="5766206"/>
            <a:ext cx="8577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Localhost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027" y="5766206"/>
            <a:ext cx="1285646" cy="276149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704027" y="5766206"/>
            <a:ext cx="128656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On-Premise LAN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8253" y="5766206"/>
            <a:ext cx="1028700" cy="27614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058253" y="5766206"/>
            <a:ext cx="10287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Privacy First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329062" y="2381097"/>
            <a:ext cx="5486400" cy="3981298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8"/>
          <p:cNvSpPr/>
          <p:nvPr/>
        </p:nvSpPr>
        <p:spPr>
          <a:xfrm>
            <a:off x="6567721" y="3019348"/>
            <a:ext cx="5009998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67721" y="2667304"/>
            <a:ext cx="190195" cy="190195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872216" y="2619755"/>
            <a:ext cx="332475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中核技術（</a:t>
            </a:r>
            <a:r>
              <a:rPr lang="en-US" sz="15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Enabling Technologies</a:t>
            </a:r>
            <a:r>
              <a:rPr lang="en-US" sz="15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15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67721" y="3191255"/>
            <a:ext cx="114300" cy="1143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777118" y="3434486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前後の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量子化（</a:t>
            </a:r>
            <a:r>
              <a:rPr lang="en-US" sz="12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AWQ/GGUF</a:t>
            </a: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等）が主流。メモリ消費を劇的に削減し、コンシューマ機での実行を可能に。</a:t>
            </a:r>
            <a:endParaRPr lang="en-US" sz="12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0613" y="3717035"/>
            <a:ext cx="256946" cy="200254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10510613" y="3717035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[4]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3"/>
          <a:srcRect l="-1911" r="-1911"/>
          <a:stretch/>
        </p:blipFill>
        <p:spPr>
          <a:xfrm>
            <a:off x="6567721" y="4037075"/>
            <a:ext cx="133502" cy="11430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6796321" y="4280306"/>
            <a:ext cx="37819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長文・多同時接続のメモリ管理が鍵。</a:t>
            </a:r>
            <a:endParaRPr lang="en-US" sz="1200" dirty="0"/>
          </a:p>
        </p:txBody>
      </p:sp>
      <p:sp>
        <p:nvSpPr>
          <p:cNvPr id="39" name="Text 23"/>
          <p:cNvSpPr txBox="1"/>
          <p:nvPr/>
        </p:nvSpPr>
        <p:spPr>
          <a:xfrm>
            <a:off x="7024921" y="4561941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Paged KV Cache: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メモリ断片化を防ぐ（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vLLM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等）</a:t>
            </a:r>
            <a:endParaRPr lang="en-US" sz="10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29309" y="4573828"/>
            <a:ext cx="256946" cy="200254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10129309" y="4573828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[5]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2" name="Text 25"/>
          <p:cNvSpPr txBox="1"/>
          <p:nvPr/>
        </p:nvSpPr>
        <p:spPr>
          <a:xfrm>
            <a:off x="7024921" y="4774082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Quantized KV: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KV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FP8/INT4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化して容量削減</a:t>
            </a:r>
            <a:endParaRPr lang="en-US" sz="10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0417" y="4785055"/>
            <a:ext cx="256946" cy="20025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9850417" y="4785055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[6]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5" name="Text 27"/>
          <p:cNvSpPr txBox="1"/>
          <p:nvPr/>
        </p:nvSpPr>
        <p:spPr>
          <a:xfrm>
            <a:off x="7024921" y="4985308"/>
            <a:ext cx="34774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 Reuse / Prompt Cache:</a:t>
            </a:r>
            <a:r>
              <a:rPr lang="en-US" sz="1000" dirty="0">
                <a:solidFill>
                  <a:srgbClr val="4B556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計算再利用で高速化</a:t>
            </a:r>
            <a:endParaRPr lang="en-US" sz="100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6779" y="4996281"/>
            <a:ext cx="256946" cy="200254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10006779" y="4996281"/>
            <a:ext cx="2578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[7]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C0A01659-F5D3-3093-95B9-EAD884BB9D1E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F61E6CE-9398-C7EF-575E-A2F356627454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D4F3AB5D-9F6B-D5D9-8942-41F7835721C4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DC0C3D3-C96D-238E-A2A7-8642B84382A6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Text 31">
            <a:extLst>
              <a:ext uri="{FF2B5EF4-FFF2-40B4-BE49-F238E27FC236}">
                <a16:creationId xmlns:a16="http://schemas.microsoft.com/office/drawing/2014/main" id="{0DDDBEC8-F5E8-3C10-336B-93971DF6A229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3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90" name="Shape 5">
            <a:extLst>
              <a:ext uri="{FF2B5EF4-FFF2-40B4-BE49-F238E27FC236}">
                <a16:creationId xmlns:a16="http://schemas.microsoft.com/office/drawing/2014/main" id="{47C87A28-9F7F-AF7B-5BC3-C7D4E32C3DC4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50B8F593-49EF-C182-7657-5DB225F531B9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475532" y="224028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実運用ランタイムとハードウェア実用ライン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418234"/>
            <a:ext cx="1091885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結論：ランタイムは</a:t>
            </a:r>
            <a:r>
              <a:rPr lang="en-US" b="1" dirty="0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llama.cpp/</a:t>
            </a:r>
            <a:r>
              <a:rPr lang="en-US" b="1" dirty="0" err="1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GGUF</a:t>
            </a:r>
            <a:r>
              <a:rPr lang="en-US" b="1" dirty="0" err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系・</a:t>
            </a:r>
            <a:r>
              <a:rPr lang="en-US" b="1" dirty="0" err="1">
                <a:solidFill>
                  <a:srgbClr val="2563E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が第一選択となり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</a:p>
          <a:p>
            <a:pPr marL="0" indent="0" algn="l">
              <a:buNone/>
            </a:pP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ハードウェアはメモリ容量で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Tier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化されます（長文は</a:t>
            </a:r>
            <a:r>
              <a:rPr lang="en-US" b="1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b="1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支配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）。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31811" y="2382470"/>
            <a:ext cx="5486400" cy="3372307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8"/>
          <p:cNvSpPr/>
          <p:nvPr/>
        </p:nvSpPr>
        <p:spPr>
          <a:xfrm>
            <a:off x="732065" y="2915565"/>
            <a:ext cx="5086807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732065" y="2625700"/>
            <a:ext cx="190195" cy="1719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17357" y="2582723"/>
            <a:ext cx="2477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実運用ランタイム（第一選択）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732065" y="3049982"/>
            <a:ext cx="133502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44636" y="3049982"/>
            <a:ext cx="33265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クロスプラットフォーム標準：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462" y="3059126"/>
            <a:ext cx="666598" cy="2002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41462" y="3059126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1170062" y="3302356"/>
            <a:ext cx="3801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GGUF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形式必須。最小セットアップで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CPU/GPU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推論が可能。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170062" y="3540100"/>
            <a:ext cx="3801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軽量・汎用で多くのフロントエンドの基盤。</a:t>
            </a: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[8]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2065" y="3835451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120124" y="3835451"/>
            <a:ext cx="21268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UI</a:t>
            </a: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＋ローカル</a:t>
            </a: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API</a:t>
            </a: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260" y="3844595"/>
            <a:ext cx="1162202" cy="20025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2260" y="3844595"/>
            <a:ext cx="11622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Ollama / LM Studio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150860" y="4087826"/>
            <a:ext cx="3096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OpenAI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互換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API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サーバとして動作（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LAN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公開可）。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1150860" y="4325570"/>
            <a:ext cx="3139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Windows/macOS/Linux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対応で導入が容易。</a:t>
            </a: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[23]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732065" y="4620921"/>
            <a:ext cx="85954" cy="1143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277047" y="4620921"/>
            <a:ext cx="33412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</a:t>
            </a:r>
            <a:r>
              <a:rPr lang="en-US" sz="11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特化：</a:t>
            </a:r>
            <a:endParaRPr lang="en-US" sz="11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913" y="4630979"/>
            <a:ext cx="352044" cy="20025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93913" y="4630979"/>
            <a:ext cx="3529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1FA2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1122513" y="4873295"/>
            <a:ext cx="35725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Unified Memory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前提で設計された配列フレームワーク。</a:t>
            </a:r>
            <a:endParaRPr lang="en-US" sz="1000" dirty="0"/>
          </a:p>
        </p:txBody>
      </p:sp>
      <p:sp>
        <p:nvSpPr>
          <p:cNvPr id="32" name="Text 21"/>
          <p:cNvSpPr txBox="1"/>
          <p:nvPr/>
        </p:nvSpPr>
        <p:spPr>
          <a:xfrm>
            <a:off x="1122513" y="5111954"/>
            <a:ext cx="3523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MLX-LM/MLX-VLM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により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Metal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最適化推論を実現。</a:t>
            </a:r>
            <a:r>
              <a:rPr lang="en-US" sz="900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[22]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6322706" y="2382470"/>
            <a:ext cx="5486400" cy="3372307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23"/>
          <p:cNvSpPr/>
          <p:nvPr/>
        </p:nvSpPr>
        <p:spPr>
          <a:xfrm>
            <a:off x="6522960" y="2915565"/>
            <a:ext cx="5086807" cy="19202"/>
          </a:xfrm>
          <a:prstGeom prst="rect">
            <a:avLst/>
          </a:prstGeom>
          <a:solidFill>
            <a:srgbClr val="F5F5F7"/>
          </a:solidFill>
          <a:ln w="12700">
            <a:solidFill>
              <a:srgbClr val="F5F5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22960" y="2625700"/>
            <a:ext cx="171907" cy="171907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789965" y="2582723"/>
            <a:ext cx="33339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ハードウェア実用ライン（</a:t>
            </a:r>
            <a:r>
              <a:rPr lang="en-US" sz="13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4bit</a:t>
            </a:r>
            <a:r>
              <a:rPr lang="en-US" sz="13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中心概算）</a:t>
            </a:r>
            <a:endParaRPr lang="en-US" sz="13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6522960" y="3049982"/>
            <a:ext cx="85954" cy="1143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684809" y="3049982"/>
            <a:ext cx="3514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 (Unified Memory):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7386153" y="3302356"/>
            <a:ext cx="28136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7/8B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級（インタラクティブ）</a:t>
            </a:r>
            <a:endParaRPr lang="en-US" sz="10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409" y="3302356"/>
            <a:ext cx="409651" cy="20025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13409" y="3302356"/>
            <a:ext cx="4096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16GB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2" name="Text 28"/>
          <p:cNvSpPr txBox="1"/>
          <p:nvPr/>
        </p:nvSpPr>
        <p:spPr>
          <a:xfrm>
            <a:off x="7560804" y="3540100"/>
            <a:ext cx="2638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級（業務実用・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最小ライン）</a:t>
            </a:r>
            <a:endParaRPr lang="en-US" sz="10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3409" y="3540100"/>
            <a:ext cx="580644" cy="200254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913409" y="3540100"/>
            <a:ext cx="5815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24-32GB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45" name="Text 30"/>
          <p:cNvSpPr txBox="1"/>
          <p:nvPr/>
        </p:nvSpPr>
        <p:spPr>
          <a:xfrm>
            <a:off x="7452905" y="3777844"/>
            <a:ext cx="28236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32B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級以上（高品質・長文要約可）</a:t>
            </a:r>
            <a:endParaRPr lang="en-US" sz="100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3409" y="3777844"/>
            <a:ext cx="476402" cy="200254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913409" y="3777844"/>
            <a:ext cx="4764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64GB+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4"/>
          <a:srcRect l="-2571" r="-2571"/>
          <a:stretch/>
        </p:blipFill>
        <p:spPr>
          <a:xfrm>
            <a:off x="6522960" y="4073195"/>
            <a:ext cx="105156" cy="114300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6704011" y="4073195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(Discrete GPU):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50" name="Text 33"/>
          <p:cNvSpPr txBox="1"/>
          <p:nvPr/>
        </p:nvSpPr>
        <p:spPr>
          <a:xfrm>
            <a:off x="7677847" y="4325570"/>
            <a:ext cx="22933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級（最小ライン）</a:t>
            </a:r>
            <a:endParaRPr lang="en-US" sz="10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2611" y="4325570"/>
            <a:ext cx="685800" cy="200254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932611" y="4325570"/>
            <a:ext cx="6858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 8GB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3" name="Text 35"/>
          <p:cNvSpPr txBox="1"/>
          <p:nvPr/>
        </p:nvSpPr>
        <p:spPr>
          <a:xfrm>
            <a:off x="7918334" y="4564228"/>
            <a:ext cx="19769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級〜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級（品質寄り）</a:t>
            </a:r>
            <a:endParaRPr lang="en-US" sz="1000" dirty="0"/>
          </a:p>
        </p:txBody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2611" y="4564228"/>
            <a:ext cx="923544" cy="200254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6932611" y="4564228"/>
            <a:ext cx="9244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 12-16GB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56" name="Text 37"/>
          <p:cNvSpPr txBox="1"/>
          <p:nvPr/>
        </p:nvSpPr>
        <p:spPr>
          <a:xfrm>
            <a:off x="7744598" y="4801972"/>
            <a:ext cx="22265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32-34B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級・重い画像生成が実務域</a:t>
            </a:r>
            <a:endParaRPr lang="en-US" sz="1000" dirty="0"/>
          </a:p>
        </p:txBody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2611" y="4801972"/>
            <a:ext cx="752551" cy="200254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6932611" y="4801972"/>
            <a:ext cx="7525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VRAM 24GB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18"/>
          <a:srcRect l="-1911" r="-1911"/>
          <a:stretch/>
        </p:blipFill>
        <p:spPr>
          <a:xfrm>
            <a:off x="6522960" y="5097323"/>
            <a:ext cx="133502" cy="11430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6732357" y="5097323"/>
            <a:ext cx="33439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CPU-only: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61" name="Text 40"/>
          <p:cNvSpPr txBox="1"/>
          <p:nvPr/>
        </p:nvSpPr>
        <p:spPr>
          <a:xfrm>
            <a:off x="7769287" y="5349698"/>
            <a:ext cx="23070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7B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級が「使える」境界（</a:t>
            </a:r>
            <a:r>
              <a:rPr lang="en-US" sz="1000" dirty="0">
                <a:solidFill>
                  <a:srgbClr val="6E6E73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AVX</a:t>
            </a:r>
            <a:r>
              <a:rPr lang="en-US" sz="1000" dirty="0">
                <a:solidFill>
                  <a:srgbClr val="6E6E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活用）。</a:t>
            </a:r>
            <a:endParaRPr lang="en-US" sz="100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60957" y="5349698"/>
            <a:ext cx="743407" cy="200254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6960957" y="5349698"/>
            <a:ext cx="7434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2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32GB RAM+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65" name="Image 20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981151" y="6200546"/>
            <a:ext cx="152705" cy="152705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1228954" y="6200546"/>
            <a:ext cx="109728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上記は重み（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weight-only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）の概算です。長文（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Long Context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）を扱う場合、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キャッシュがメモリを線形に圧迫するため、別途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KV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量子化やコンテキスト長制限（</a:t>
            </a:r>
            <a:r>
              <a:rPr lang="en-US" sz="1000" dirty="0">
                <a:solidFill>
                  <a:srgbClr val="78350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4k/8k</a:t>
            </a:r>
            <a:r>
              <a:rPr lang="en-US" sz="1000" dirty="0">
                <a:solidFill>
                  <a:srgbClr val="78350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等）の設計が必要です。</a:t>
            </a:r>
            <a:endParaRPr lang="en-US" sz="1000" dirty="0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C3B2EFDF-7C82-3D40-E14D-9F5228CA02CC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76" name="Text 4">
            <a:extLst>
              <a:ext uri="{FF2B5EF4-FFF2-40B4-BE49-F238E27FC236}">
                <a16:creationId xmlns:a16="http://schemas.microsoft.com/office/drawing/2014/main" id="{C0EE363D-C45E-300F-27EB-B24A526745B8}"/>
              </a:ext>
            </a:extLst>
          </p:cNvPr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エグゼクティブサマリ（詳細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</a:t>
            </a: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AB37B91C-A9E2-6093-08D3-6831EFB04CE4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75D840C1-666C-E54E-8704-EA6CC6B38956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9">
            <a:extLst>
              <a:ext uri="{FF2B5EF4-FFF2-40B4-BE49-F238E27FC236}">
                <a16:creationId xmlns:a16="http://schemas.microsoft.com/office/drawing/2014/main" id="{066B7837-E3DF-EF6D-AF0F-DC5CEAB3E7B2}"/>
              </a:ext>
            </a:extLst>
          </p:cNvPr>
          <p:cNvSpPr/>
          <p:nvPr/>
        </p:nvSpPr>
        <p:spPr>
          <a:xfrm>
            <a:off x="4284878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90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Shape 9">
            <a:extLst>
              <a:ext uri="{FF2B5EF4-FFF2-40B4-BE49-F238E27FC236}">
                <a16:creationId xmlns:a16="http://schemas.microsoft.com/office/drawing/2014/main" id="{0BF6F1B3-7347-6EED-523B-C566941FF7EF}"/>
              </a:ext>
            </a:extLst>
          </p:cNvPr>
          <p:cNvSpPr/>
          <p:nvPr/>
        </p:nvSpPr>
        <p:spPr>
          <a:xfrm>
            <a:off x="8110703" y="2667523"/>
            <a:ext cx="3638398" cy="3710145"/>
          </a:xfrm>
          <a:prstGeom prst="roundRect">
            <a:avLst>
              <a:gd name="adj" fmla="val 789"/>
            </a:avLst>
          </a:prstGeom>
          <a:noFill/>
          <a:ln w="190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8" name="Image 2" descr="preencoded.png">
            <a:extLst>
              <a:ext uri="{FF2B5EF4-FFF2-40B4-BE49-F238E27FC236}">
                <a16:creationId xmlns:a16="http://schemas.microsoft.com/office/drawing/2014/main" id="{DC1D1A55-D547-D81D-2F07-9DEF4F715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459587"/>
            <a:ext cx="3238805" cy="517869"/>
          </a:xfrm>
          <a:prstGeom prst="rect">
            <a:avLst/>
          </a:prstGeom>
        </p:spPr>
      </p:pic>
      <p:sp>
        <p:nvSpPr>
          <p:cNvPr id="134" name="Text 49">
            <a:extLst>
              <a:ext uri="{FF2B5EF4-FFF2-40B4-BE49-F238E27FC236}">
                <a16:creationId xmlns:a16="http://schemas.microsoft.com/office/drawing/2014/main" id="{F69BCC50-05E4-2A53-521E-12051EB70938}"/>
              </a:ext>
            </a:extLst>
          </p:cNvPr>
          <p:cNvSpPr/>
          <p:nvPr/>
        </p:nvSpPr>
        <p:spPr>
          <a:xfrm>
            <a:off x="8302752" y="5482698"/>
            <a:ext cx="3238805" cy="4929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自体を軽くし、検索精度で補う生成タスクを</a:t>
            </a:r>
            <a:endParaRPr lang="en-US" sz="1100" dirty="0">
              <a:solidFill>
                <a:srgbClr val="1D1D1F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限定する</a:t>
            </a:r>
            <a:endParaRPr lang="en-US" sz="1100" dirty="0"/>
          </a:p>
        </p:txBody>
      </p:sp>
      <p:pic>
        <p:nvPicPr>
          <p:cNvPr id="135" name="Image 2" descr="preencoded.png">
            <a:extLst>
              <a:ext uri="{FF2B5EF4-FFF2-40B4-BE49-F238E27FC236}">
                <a16:creationId xmlns:a16="http://schemas.microsoft.com/office/drawing/2014/main" id="{BCB53F64-B000-7649-C123-923B546D0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810" y="4658530"/>
            <a:ext cx="3238805" cy="517869"/>
          </a:xfrm>
          <a:prstGeom prst="rect">
            <a:avLst/>
          </a:prstGeom>
        </p:spPr>
      </p:pic>
      <p:sp>
        <p:nvSpPr>
          <p:cNvPr id="133" name="Text 47">
            <a:extLst>
              <a:ext uri="{FF2B5EF4-FFF2-40B4-BE49-F238E27FC236}">
                <a16:creationId xmlns:a16="http://schemas.microsoft.com/office/drawing/2014/main" id="{7B768C6E-3AEE-681C-0DCE-CE8BC9B0C1C8}"/>
              </a:ext>
            </a:extLst>
          </p:cNvPr>
          <p:cNvSpPr/>
          <p:nvPr/>
        </p:nvSpPr>
        <p:spPr>
          <a:xfrm>
            <a:off x="8312810" y="4656671"/>
            <a:ext cx="3238805" cy="51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短いコンテキストで完結させる</a:t>
            </a:r>
            <a:r>
              <a:rPr lang="en-US" sz="1100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</a:t>
            </a:r>
            <a:endParaRPr lang="en-US" sz="1100" dirty="0">
              <a:solidFill>
                <a:srgbClr val="1D1D1F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en-US" sz="1100" dirty="0" err="1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Embedding</a:t>
            </a:r>
            <a:r>
              <a:rPr lang="en-US" sz="1100" dirty="0" err="1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検索を重視</a:t>
            </a:r>
            <a:endParaRPr lang="en-US" sz="1100" dirty="0"/>
          </a:p>
        </p:txBody>
      </p:sp>
      <p:pic>
        <p:nvPicPr>
          <p:cNvPr id="103" name="Image 2" descr="preencoded.png">
            <a:extLst>
              <a:ext uri="{FF2B5EF4-FFF2-40B4-BE49-F238E27FC236}">
                <a16:creationId xmlns:a16="http://schemas.microsoft.com/office/drawing/2014/main" id="{7BD45F02-C0A0-7619-BA9C-F990E646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741" y="3416831"/>
            <a:ext cx="3238805" cy="352044"/>
          </a:xfrm>
          <a:prstGeom prst="rect">
            <a:avLst/>
          </a:prstGeom>
        </p:spPr>
      </p:pic>
      <p:pic>
        <p:nvPicPr>
          <p:cNvPr id="101" name="Image 2" descr="preencoded.png">
            <a:extLst>
              <a:ext uri="{FF2B5EF4-FFF2-40B4-BE49-F238E27FC236}">
                <a16:creationId xmlns:a16="http://schemas.microsoft.com/office/drawing/2014/main" id="{A4F02E60-3499-13F4-68D0-9BE146A1A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45" y="3417202"/>
            <a:ext cx="3238805" cy="352044"/>
          </a:xfrm>
          <a:prstGeom prst="rect">
            <a:avLst/>
          </a:prstGeom>
        </p:spPr>
      </p:pic>
      <p:sp>
        <p:nvSpPr>
          <p:cNvPr id="95" name="Text 14">
            <a:extLst>
              <a:ext uri="{FF2B5EF4-FFF2-40B4-BE49-F238E27FC236}">
                <a16:creationId xmlns:a16="http://schemas.microsoft.com/office/drawing/2014/main" id="{A3139211-5D90-6AAF-837C-321052C117FC}"/>
              </a:ext>
            </a:extLst>
          </p:cNvPr>
          <p:cNvSpPr txBox="1"/>
          <p:nvPr/>
        </p:nvSpPr>
        <p:spPr>
          <a:xfrm>
            <a:off x="4477817" y="3198158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Target HW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92" name="Shape 5">
            <a:extLst>
              <a:ext uri="{FF2B5EF4-FFF2-40B4-BE49-F238E27FC236}">
                <a16:creationId xmlns:a16="http://schemas.microsoft.com/office/drawing/2014/main" id="{EAD0BFB8-2B64-764E-CD63-8AD4A06443F4}"/>
              </a:ext>
            </a:extLst>
          </p:cNvPr>
          <p:cNvSpPr/>
          <p:nvPr/>
        </p:nvSpPr>
        <p:spPr>
          <a:xfrm>
            <a:off x="481888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A19CCB8A-605C-313F-863E-182BBDB6366F}"/>
              </a:ext>
            </a:extLst>
          </p:cNvPr>
          <p:cNvSpPr/>
          <p:nvPr/>
        </p:nvSpPr>
        <p:spPr>
          <a:xfrm>
            <a:off x="488450" y="1311250"/>
            <a:ext cx="49717" cy="79116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475532" y="204825"/>
            <a:ext cx="3353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推奨スタック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パターン（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Tier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別構成案）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428522"/>
            <a:ext cx="10840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結論：用途とリソースに応じて「低コスト／高品質／ハード制約」の</a:t>
            </a:r>
            <a:r>
              <a:rPr lang="en-US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</a:t>
            </a:r>
            <a:r>
              <a:rPr lang="en-US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構成を選択します。</a:t>
            </a:r>
            <a:endParaRPr lang="en-US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※各構成の具体的な失敗モードと回避策は、後述の「ユースケース別推奨スタック」章で詳細に展開します。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90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466344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34C759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1501445" y="2545779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1544422" y="2602472"/>
            <a:ext cx="21945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01952" y="2554923"/>
            <a:ext cx="123444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低コスト構成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7454" y="3193174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Target HW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4" y="3417202"/>
            <a:ext cx="3238805" cy="3520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454" y="3415499"/>
            <a:ext cx="3238805" cy="33534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CPU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のみ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/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エントリー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 / Apple 16GB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662941" y="3890380"/>
            <a:ext cx="3353105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 Runtime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662941" y="4520268"/>
            <a:ext cx="3353105" cy="12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 / TTS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657454" y="5114579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 / Embedding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527" y="5933772"/>
            <a:ext cx="1333195" cy="2478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713983" y="5933772"/>
            <a:ext cx="11146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最低限の業務自動化</a:t>
            </a:r>
            <a:endParaRPr lang="en-US" sz="9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2570422" y="6000523"/>
            <a:ext cx="105156" cy="11430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4289450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007AFF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5"/>
          <p:cNvSpPr/>
          <p:nvPr/>
        </p:nvSpPr>
        <p:spPr>
          <a:xfrm>
            <a:off x="5419649" y="2545779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5462626" y="2602472"/>
            <a:ext cx="219456" cy="19019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820156" y="2554923"/>
            <a:ext cx="10287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高品質構成</a:t>
            </a:r>
            <a:endParaRPr lang="en-US" sz="1500" dirty="0"/>
          </a:p>
        </p:txBody>
      </p:sp>
      <p:sp>
        <p:nvSpPr>
          <p:cNvPr id="41" name="Text 29"/>
          <p:cNvSpPr/>
          <p:nvPr/>
        </p:nvSpPr>
        <p:spPr>
          <a:xfrm>
            <a:off x="4479646" y="3417201"/>
            <a:ext cx="3238805" cy="35167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搭載機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(VRAM 16-24GB+) Apple 64GB+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0040" y="5933772"/>
            <a:ext cx="1447495" cy="247802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6489496" y="5933772"/>
            <a:ext cx="1228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リッチな体験・高精度</a:t>
            </a:r>
            <a:endParaRPr lang="en-US" sz="9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6346849" y="6000523"/>
            <a:ext cx="105156" cy="114300"/>
          </a:xfrm>
          <a:prstGeom prst="rect">
            <a:avLst/>
          </a:prstGeom>
        </p:spPr>
      </p:pic>
      <p:sp>
        <p:nvSpPr>
          <p:cNvPr id="55" name="Shape 38"/>
          <p:cNvSpPr/>
          <p:nvPr/>
        </p:nvSpPr>
        <p:spPr>
          <a:xfrm>
            <a:off x="8112557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FF9500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39"/>
          <p:cNvSpPr/>
          <p:nvPr/>
        </p:nvSpPr>
        <p:spPr>
          <a:xfrm>
            <a:off x="9051646" y="2545779"/>
            <a:ext cx="304495" cy="304495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109253" y="2602472"/>
            <a:ext cx="190195" cy="190195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9452153" y="2554923"/>
            <a:ext cx="14401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ハード制約構成</a:t>
            </a:r>
            <a:endParaRPr lang="en-US" sz="1500" dirty="0"/>
          </a:p>
        </p:txBody>
      </p:sp>
      <p:sp>
        <p:nvSpPr>
          <p:cNvPr id="62" name="Text 43"/>
          <p:cNvSpPr/>
          <p:nvPr/>
        </p:nvSpPr>
        <p:spPr>
          <a:xfrm>
            <a:off x="8302752" y="3417202"/>
            <a:ext cx="3238805" cy="3500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低スペック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PC /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古い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Mac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8GB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以下等</a:t>
            </a:r>
            <a:endParaRPr lang="en-US" sz="1100" dirty="0"/>
          </a:p>
        </p:txBody>
      </p:sp>
      <p:sp>
        <p:nvSpPr>
          <p:cNvPr id="66" name="Text 46"/>
          <p:cNvSpPr txBox="1"/>
          <p:nvPr/>
        </p:nvSpPr>
        <p:spPr>
          <a:xfrm>
            <a:off x="8302752" y="4461185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Strategy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69" name="Text 48"/>
          <p:cNvSpPr txBox="1"/>
          <p:nvPr/>
        </p:nvSpPr>
        <p:spPr>
          <a:xfrm>
            <a:off x="8293609" y="5264102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Compromise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1805" y="6077577"/>
            <a:ext cx="1218895" cy="247802"/>
          </a:xfrm>
          <a:prstGeom prst="rect">
            <a:avLst/>
          </a:prstGeom>
        </p:spPr>
      </p:pic>
      <p:sp>
        <p:nvSpPr>
          <p:cNvPr id="73" name="Text 50"/>
          <p:cNvSpPr/>
          <p:nvPr/>
        </p:nvSpPr>
        <p:spPr>
          <a:xfrm>
            <a:off x="10551261" y="6077577"/>
            <a:ext cx="10003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極限環境での動作</a:t>
            </a:r>
            <a:endParaRPr lang="en-US" sz="900" dirty="0"/>
          </a:p>
        </p:txBody>
      </p:sp>
      <p:pic>
        <p:nvPicPr>
          <p:cNvPr id="74" name="Image 21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407700" y="6148900"/>
            <a:ext cx="105156" cy="114300"/>
          </a:xfrm>
          <a:prstGeom prst="rect">
            <a:avLst/>
          </a:prstGeom>
        </p:spPr>
      </p:pic>
      <p:pic>
        <p:nvPicPr>
          <p:cNvPr id="82" name="Image 0" descr="preencoded.png">
            <a:extLst>
              <a:ext uri="{FF2B5EF4-FFF2-40B4-BE49-F238E27FC236}">
                <a16:creationId xmlns:a16="http://schemas.microsoft.com/office/drawing/2014/main" id="{9F5BB9BC-2792-0A2D-653B-1EBEFAA6A28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5532" y="571500"/>
            <a:ext cx="304495" cy="304495"/>
          </a:xfrm>
          <a:prstGeom prst="rect">
            <a:avLst/>
          </a:prstGeom>
        </p:spPr>
      </p:pic>
      <p:sp>
        <p:nvSpPr>
          <p:cNvPr id="83" name="Text 4">
            <a:extLst>
              <a:ext uri="{FF2B5EF4-FFF2-40B4-BE49-F238E27FC236}">
                <a16:creationId xmlns:a16="http://schemas.microsoft.com/office/drawing/2014/main" id="{549D833B-9E12-6F8C-B8B8-CBC92E19E0FC}"/>
              </a:ext>
            </a:extLst>
          </p:cNvPr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エグゼクティブサマリ（詳細</a:t>
            </a:r>
            <a:r>
              <a:rPr lang="en-US" sz="2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3</a:t>
            </a: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2400" dirty="0"/>
          </a:p>
        </p:txBody>
      </p:sp>
      <p:sp>
        <p:nvSpPr>
          <p:cNvPr id="97" name="Text 14">
            <a:extLst>
              <a:ext uri="{FF2B5EF4-FFF2-40B4-BE49-F238E27FC236}">
                <a16:creationId xmlns:a16="http://schemas.microsoft.com/office/drawing/2014/main" id="{348AEC31-D680-C0F4-F28D-AC5F3B939E23}"/>
              </a:ext>
            </a:extLst>
          </p:cNvPr>
          <p:cNvSpPr txBox="1"/>
          <p:nvPr/>
        </p:nvSpPr>
        <p:spPr>
          <a:xfrm>
            <a:off x="8290865" y="3193174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Target HW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05" name="Image 2" descr="preencoded.png">
            <a:extLst>
              <a:ext uri="{FF2B5EF4-FFF2-40B4-BE49-F238E27FC236}">
                <a16:creationId xmlns:a16="http://schemas.microsoft.com/office/drawing/2014/main" id="{E6F63798-3C66-3D9C-B166-5F3C46D86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8" y="4053077"/>
            <a:ext cx="3238805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7454" y="4058321"/>
            <a:ext cx="3238805" cy="33724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llama.cpp (GGUF Q4/K) Ollama / LM Studio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110" name="Image 2" descr="preencoded.png">
            <a:extLst>
              <a:ext uri="{FF2B5EF4-FFF2-40B4-BE49-F238E27FC236}">
                <a16:creationId xmlns:a16="http://schemas.microsoft.com/office/drawing/2014/main" id="{107CD62E-E885-0FC3-AFC5-A78C7200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8" y="4688952"/>
            <a:ext cx="3238805" cy="3520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2941" y="4688952"/>
            <a:ext cx="3238805" cy="3588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faster-whisper (INT8) Piper / Kokoro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軽量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pic>
        <p:nvPicPr>
          <p:cNvPr id="113" name="Image 2" descr="preencoded.png">
            <a:extLst>
              <a:ext uri="{FF2B5EF4-FFF2-40B4-BE49-F238E27FC236}">
                <a16:creationId xmlns:a16="http://schemas.microsoft.com/office/drawing/2014/main" id="{48DCF1E4-F026-0390-6D27-9E71EB41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5327489"/>
            <a:ext cx="3238805" cy="3520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56538" y="5324827"/>
            <a:ext cx="3238805" cy="3442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BGE-M3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多言語・多用途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 bge-reranker-base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15" name="Text 16">
            <a:extLst>
              <a:ext uri="{FF2B5EF4-FFF2-40B4-BE49-F238E27FC236}">
                <a16:creationId xmlns:a16="http://schemas.microsoft.com/office/drawing/2014/main" id="{C45ADB30-0937-BE2F-8293-D2FEFCA938FE}"/>
              </a:ext>
            </a:extLst>
          </p:cNvPr>
          <p:cNvSpPr txBox="1"/>
          <p:nvPr/>
        </p:nvSpPr>
        <p:spPr>
          <a:xfrm>
            <a:off x="4493363" y="3887665"/>
            <a:ext cx="3353105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 Runtime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16" name="Text 18">
            <a:extLst>
              <a:ext uri="{FF2B5EF4-FFF2-40B4-BE49-F238E27FC236}">
                <a16:creationId xmlns:a16="http://schemas.microsoft.com/office/drawing/2014/main" id="{293B6693-DA95-2212-AF8E-2D6E44D592CC}"/>
              </a:ext>
            </a:extLst>
          </p:cNvPr>
          <p:cNvSpPr txBox="1"/>
          <p:nvPr/>
        </p:nvSpPr>
        <p:spPr>
          <a:xfrm>
            <a:off x="4493363" y="4517553"/>
            <a:ext cx="3353105" cy="127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 / TTS</a:t>
            </a:r>
            <a:endParaRPr lang="en-US" sz="900" dirty="0">
              <a:latin typeface="Cambria" panose="02040503050406030204" pitchFamily="18" charset="0"/>
            </a:endParaRPr>
          </a:p>
        </p:txBody>
      </p:sp>
      <p:sp>
        <p:nvSpPr>
          <p:cNvPr id="117" name="Text 20">
            <a:extLst>
              <a:ext uri="{FF2B5EF4-FFF2-40B4-BE49-F238E27FC236}">
                <a16:creationId xmlns:a16="http://schemas.microsoft.com/office/drawing/2014/main" id="{BF842E5D-583D-58E1-D09B-7F3999B0EF45}"/>
              </a:ext>
            </a:extLst>
          </p:cNvPr>
          <p:cNvSpPr txBox="1"/>
          <p:nvPr/>
        </p:nvSpPr>
        <p:spPr>
          <a:xfrm>
            <a:off x="4487876" y="5111864"/>
            <a:ext cx="33531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 /VLM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18" name="Image 2" descr="preencoded.png">
            <a:extLst>
              <a:ext uri="{FF2B5EF4-FFF2-40B4-BE49-F238E27FC236}">
                <a16:creationId xmlns:a16="http://schemas.microsoft.com/office/drawing/2014/main" id="{A9BE47E2-5C3C-1F9E-508C-512111F8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60" y="4050362"/>
            <a:ext cx="3238805" cy="352044"/>
          </a:xfrm>
          <a:prstGeom prst="rect">
            <a:avLst/>
          </a:prstGeom>
        </p:spPr>
      </p:pic>
      <p:pic>
        <p:nvPicPr>
          <p:cNvPr id="120" name="Image 2" descr="preencoded.png">
            <a:extLst>
              <a:ext uri="{FF2B5EF4-FFF2-40B4-BE49-F238E27FC236}">
                <a16:creationId xmlns:a16="http://schemas.microsoft.com/office/drawing/2014/main" id="{FE1C6C7D-2710-9D95-D0A1-BE20FFA0D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60" y="4686237"/>
            <a:ext cx="3238805" cy="352044"/>
          </a:xfrm>
          <a:prstGeom prst="rect">
            <a:avLst/>
          </a:prstGeom>
        </p:spPr>
      </p:pic>
      <p:pic>
        <p:nvPicPr>
          <p:cNvPr id="121" name="Image 2" descr="preencoded.png">
            <a:extLst>
              <a:ext uri="{FF2B5EF4-FFF2-40B4-BE49-F238E27FC236}">
                <a16:creationId xmlns:a16="http://schemas.microsoft.com/office/drawing/2014/main" id="{64CA3EEA-2F6E-DB24-7AA1-3A60CA74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817" y="5324774"/>
            <a:ext cx="3238805" cy="352044"/>
          </a:xfrm>
          <a:prstGeom prst="rect">
            <a:avLst/>
          </a:prstGeom>
        </p:spPr>
      </p:pic>
      <p:sp>
        <p:nvSpPr>
          <p:cNvPr id="122" name="Text 16">
            <a:extLst>
              <a:ext uri="{FF2B5EF4-FFF2-40B4-BE49-F238E27FC236}">
                <a16:creationId xmlns:a16="http://schemas.microsoft.com/office/drawing/2014/main" id="{8C599D9C-D7F1-1669-F400-877A8E03B9ED}"/>
              </a:ext>
            </a:extLst>
          </p:cNvPr>
          <p:cNvSpPr txBox="1"/>
          <p:nvPr/>
        </p:nvSpPr>
        <p:spPr>
          <a:xfrm>
            <a:off x="8318298" y="3870642"/>
            <a:ext cx="3353105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 Runtime</a:t>
            </a:r>
            <a:endParaRPr lang="en-US" sz="900" dirty="0">
              <a:latin typeface="Cambria" panose="02040503050406030204" pitchFamily="18" charset="0"/>
            </a:endParaRPr>
          </a:p>
        </p:txBody>
      </p:sp>
      <p:pic>
        <p:nvPicPr>
          <p:cNvPr id="125" name="Image 2" descr="preencoded.png">
            <a:extLst>
              <a:ext uri="{FF2B5EF4-FFF2-40B4-BE49-F238E27FC236}">
                <a16:creationId xmlns:a16="http://schemas.microsoft.com/office/drawing/2014/main" id="{18B358DD-E9F5-DAA4-C79F-D691FD837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5" y="4033339"/>
            <a:ext cx="3238805" cy="352044"/>
          </a:xfrm>
          <a:prstGeom prst="rect">
            <a:avLst/>
          </a:prstGeom>
        </p:spPr>
      </p:pic>
      <p:sp>
        <p:nvSpPr>
          <p:cNvPr id="129" name="Text 31">
            <a:extLst>
              <a:ext uri="{FF2B5EF4-FFF2-40B4-BE49-F238E27FC236}">
                <a16:creationId xmlns:a16="http://schemas.microsoft.com/office/drawing/2014/main" id="{3E9F71E2-52E1-0211-6E8C-4DA38F7D5D17}"/>
              </a:ext>
            </a:extLst>
          </p:cNvPr>
          <p:cNvSpPr/>
          <p:nvPr/>
        </p:nvSpPr>
        <p:spPr>
          <a:xfrm>
            <a:off x="4476597" y="4049600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GPU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(TensorRT-LLM / vLLM) 32B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70B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級モデル</a:t>
            </a:r>
            <a:endParaRPr lang="en-US" sz="1100" dirty="0"/>
          </a:p>
        </p:txBody>
      </p:sp>
      <p:sp>
        <p:nvSpPr>
          <p:cNvPr id="130" name="Text 33">
            <a:extLst>
              <a:ext uri="{FF2B5EF4-FFF2-40B4-BE49-F238E27FC236}">
                <a16:creationId xmlns:a16="http://schemas.microsoft.com/office/drawing/2014/main" id="{91930DF3-0397-4394-1ECB-FF57237DEE97}"/>
              </a:ext>
            </a:extLst>
          </p:cNvPr>
          <p:cNvSpPr/>
          <p:nvPr/>
        </p:nvSpPr>
        <p:spPr>
          <a:xfrm>
            <a:off x="4473316" y="4688952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faster-whisper (GPU) XTTS / StyleTTS2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31" name="Text 35">
            <a:extLst>
              <a:ext uri="{FF2B5EF4-FFF2-40B4-BE49-F238E27FC236}">
                <a16:creationId xmlns:a16="http://schemas.microsoft.com/office/drawing/2014/main" id="{7F914F50-30ED-F0C2-A123-04BF12FDB995}"/>
              </a:ext>
            </a:extLst>
          </p:cNvPr>
          <p:cNvSpPr/>
          <p:nvPr/>
        </p:nvSpPr>
        <p:spPr>
          <a:xfrm>
            <a:off x="4473316" y="5334974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bge-reranker-large Qwen2-VL 7B / InternVL2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32" name="Text 45">
            <a:extLst>
              <a:ext uri="{FF2B5EF4-FFF2-40B4-BE49-F238E27FC236}">
                <a16:creationId xmlns:a16="http://schemas.microsoft.com/office/drawing/2014/main" id="{B4A29D3F-C834-76C1-A900-FC8972692194}"/>
              </a:ext>
            </a:extLst>
          </p:cNvPr>
          <p:cNvSpPr/>
          <p:nvPr/>
        </p:nvSpPr>
        <p:spPr>
          <a:xfrm>
            <a:off x="8302752" y="4047632"/>
            <a:ext cx="3238805" cy="3330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Phi-3 mini (3.8B) 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GGUF Q4 (</a:t>
            </a:r>
            <a:r>
              <a:rPr lang="en-US" sz="1100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極小モデル</a:t>
            </a:r>
            <a:r>
              <a:rPr lang="en-US" sz="11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100" dirty="0">
              <a:latin typeface="Cambria" panose="02040503050406030204" pitchFamily="18" charset="0"/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21AB6B49-67BC-C3BA-DE78-2703DA7DBC59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4EB3E070-24E7-1819-8CA3-720F98AF70C0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DF656AE-B244-F915-7E11-3D4C4643B9DF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Text 31">
            <a:extLst>
              <a:ext uri="{FF2B5EF4-FFF2-40B4-BE49-F238E27FC236}">
                <a16:creationId xmlns:a16="http://schemas.microsoft.com/office/drawing/2014/main" id="{463AD4F6-DAA7-12B7-492C-E7DB9BE4058E}"/>
              </a:ext>
            </a:extLst>
          </p:cNvPr>
          <p:cNvSpPr/>
          <p:nvPr/>
        </p:nvSpPr>
        <p:spPr>
          <a:xfrm>
            <a:off x="0" y="647337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 4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803</Words>
  <Application>Microsoft Macintosh PowerPoint</Application>
  <PresentationFormat>ワイド画面</PresentationFormat>
  <Paragraphs>132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Noto Sans JP</vt:lpstr>
      <vt:lpstr>Arial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10</cp:revision>
  <dcterms:created xsi:type="dcterms:W3CDTF">2026-02-15T07:19:24Z</dcterms:created>
  <dcterms:modified xsi:type="dcterms:W3CDTF">2026-02-25T11:20:24Z</dcterms:modified>
</cp:coreProperties>
</file>