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1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FF"/>
    <a:srgbClr val="DC2626"/>
    <a:srgbClr val="E21C48"/>
    <a:srgbClr val="DCEAFE"/>
    <a:srgbClr val="FF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34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131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25ED10C-BA82-1EE6-776E-CE5D6364E5B3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A8F7C9-2EE9-EC0A-6897-33CC1B6BED56}"/>
              </a:ext>
            </a:extLst>
          </p:cNvPr>
          <p:cNvSpPr/>
          <p:nvPr/>
        </p:nvSpPr>
        <p:spPr>
          <a:xfrm>
            <a:off x="305" y="1032380"/>
            <a:ext cx="12191695" cy="36000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Text 31">
            <a:extLst>
              <a:ext uri="{FF2B5EF4-FFF2-40B4-BE49-F238E27FC236}">
                <a16:creationId xmlns:a16="http://schemas.microsoft.com/office/drawing/2014/main" id="{98D19682-6FFC-5E14-707D-908F61D2F9FB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1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8FA5A36A-FD94-91C3-0737-C9337B83754A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E21C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Shape 5">
            <a:extLst>
              <a:ext uri="{FF2B5EF4-FFF2-40B4-BE49-F238E27FC236}">
                <a16:creationId xmlns:a16="http://schemas.microsoft.com/office/drawing/2014/main" id="{69066EEF-C7AA-9CF2-78FF-69B5FD30E1ED}"/>
              </a:ext>
            </a:extLst>
          </p:cNvPr>
          <p:cNvSpPr/>
          <p:nvPr/>
        </p:nvSpPr>
        <p:spPr>
          <a:xfrm>
            <a:off x="10032957" y="4967704"/>
            <a:ext cx="724205" cy="205633"/>
          </a:xfrm>
          <a:prstGeom prst="roundRect">
            <a:avLst>
              <a:gd name="adj" fmla="val 9077"/>
            </a:avLst>
          </a:prstGeom>
          <a:solidFill>
            <a:srgbClr val="DCEAFE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27"/>
          <p:cNvSpPr txBox="1"/>
          <p:nvPr/>
        </p:nvSpPr>
        <p:spPr>
          <a:xfrm>
            <a:off x="6765806" y="4941590"/>
            <a:ext cx="48774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逐次要約（</a:t>
            </a:r>
            <a:r>
              <a:rPr lang="en-US" sz="1300" b="1" dirty="0">
                <a:solidFill>
                  <a:srgbClr val="1F2937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Rolling Summary</a:t>
            </a: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）＋</a:t>
            </a:r>
            <a:r>
              <a:rPr lang="en-US" sz="1300" b="1" dirty="0">
                <a:solidFill>
                  <a:srgbClr val="1F2937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節約</a:t>
            </a:r>
            <a:endParaRPr lang="en-US" sz="1300" dirty="0"/>
          </a:p>
        </p:txBody>
      </p:sp>
      <p:sp>
        <p:nvSpPr>
          <p:cNvPr id="45" name="Text 28"/>
          <p:cNvSpPr/>
          <p:nvPr/>
        </p:nvSpPr>
        <p:spPr>
          <a:xfrm>
            <a:off x="10032957" y="4965364"/>
            <a:ext cx="7242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</a:t>
            </a: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最適化</a:t>
            </a:r>
            <a:endParaRPr lang="en-US" sz="900" dirty="0"/>
          </a:p>
        </p:txBody>
      </p:sp>
      <p:sp>
        <p:nvSpPr>
          <p:cNvPr id="70" name="Shape 5">
            <a:extLst>
              <a:ext uri="{FF2B5EF4-FFF2-40B4-BE49-F238E27FC236}">
                <a16:creationId xmlns:a16="http://schemas.microsoft.com/office/drawing/2014/main" id="{89865779-4C8E-50BA-14EC-60FF525679FD}"/>
              </a:ext>
            </a:extLst>
          </p:cNvPr>
          <p:cNvSpPr/>
          <p:nvPr/>
        </p:nvSpPr>
        <p:spPr>
          <a:xfrm>
            <a:off x="8865269" y="4089825"/>
            <a:ext cx="504749" cy="209398"/>
          </a:xfrm>
          <a:prstGeom prst="roundRect">
            <a:avLst>
              <a:gd name="adj" fmla="val 9077"/>
            </a:avLst>
          </a:prstGeom>
          <a:solidFill>
            <a:srgbClr val="DCEAFE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25"/>
          <p:cNvSpPr/>
          <p:nvPr/>
        </p:nvSpPr>
        <p:spPr>
          <a:xfrm>
            <a:off x="8866183" y="4089368"/>
            <a:ext cx="505663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前処理</a:t>
            </a:r>
            <a:endParaRPr lang="en-US" sz="900" dirty="0"/>
          </a:p>
        </p:txBody>
      </p:sp>
      <p:sp>
        <p:nvSpPr>
          <p:cNvPr id="33" name="Text 21"/>
          <p:cNvSpPr txBox="1"/>
          <p:nvPr/>
        </p:nvSpPr>
        <p:spPr>
          <a:xfrm>
            <a:off x="6742032" y="3188685"/>
            <a:ext cx="49816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短い切れ目のマージ＋手動マッピング</a:t>
            </a:r>
            <a:endParaRPr lang="en-US" sz="1300" dirty="0"/>
          </a:p>
        </p:txBody>
      </p:sp>
      <p:sp>
        <p:nvSpPr>
          <p:cNvPr id="69" name="Shape 5">
            <a:extLst>
              <a:ext uri="{FF2B5EF4-FFF2-40B4-BE49-F238E27FC236}">
                <a16:creationId xmlns:a16="http://schemas.microsoft.com/office/drawing/2014/main" id="{1FE17215-D749-1488-6CF2-9A86DDD3ABD5}"/>
              </a:ext>
            </a:extLst>
          </p:cNvPr>
          <p:cNvSpPr/>
          <p:nvPr/>
        </p:nvSpPr>
        <p:spPr>
          <a:xfrm>
            <a:off x="9729376" y="3246292"/>
            <a:ext cx="391363" cy="187345"/>
          </a:xfrm>
          <a:prstGeom prst="roundRect">
            <a:avLst>
              <a:gd name="adj" fmla="val 9077"/>
            </a:avLst>
          </a:prstGeom>
          <a:solidFill>
            <a:srgbClr val="DCEAFE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Shape 5">
            <a:extLst>
              <a:ext uri="{FF2B5EF4-FFF2-40B4-BE49-F238E27FC236}">
                <a16:creationId xmlns:a16="http://schemas.microsoft.com/office/drawing/2014/main" id="{76A9F73E-9A5F-73CD-28A0-8C5F8D8E73E9}"/>
              </a:ext>
            </a:extLst>
          </p:cNvPr>
          <p:cNvSpPr/>
          <p:nvPr/>
        </p:nvSpPr>
        <p:spPr>
          <a:xfrm>
            <a:off x="3190694" y="4100852"/>
            <a:ext cx="484247" cy="187345"/>
          </a:xfrm>
          <a:prstGeom prst="roundRect">
            <a:avLst>
              <a:gd name="adj" fmla="val 9077"/>
            </a:avLst>
          </a:prstGeom>
          <a:solidFill>
            <a:srgbClr val="FFF2F2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970339" y="4065594"/>
            <a:ext cx="4924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ASR</a:t>
            </a: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幻覚（</a:t>
            </a:r>
            <a:r>
              <a:rPr lang="en-US" sz="1300" b="1" dirty="0">
                <a:solidFill>
                  <a:srgbClr val="1F2937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Hallucination</a:t>
            </a: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3182272" y="4089368"/>
            <a:ext cx="505663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致命的</a:t>
            </a:r>
            <a:endParaRPr lang="en-US" sz="900" dirty="0"/>
          </a:p>
        </p:txBody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663D37DE-3E23-AC46-D82B-F7AAD3A38556}"/>
              </a:ext>
            </a:extLst>
          </p:cNvPr>
          <p:cNvSpPr/>
          <p:nvPr/>
        </p:nvSpPr>
        <p:spPr>
          <a:xfrm>
            <a:off x="3643515" y="3223943"/>
            <a:ext cx="484247" cy="187345"/>
          </a:xfrm>
          <a:prstGeom prst="roundRect">
            <a:avLst>
              <a:gd name="adj" fmla="val 9077"/>
            </a:avLst>
          </a:prstGeom>
          <a:solidFill>
            <a:srgbClr val="FFF2F2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0"/>
          <p:cNvSpPr txBox="1"/>
          <p:nvPr/>
        </p:nvSpPr>
        <p:spPr>
          <a:xfrm>
            <a:off x="992284" y="3188685"/>
            <a:ext cx="49057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話者誤割当（</a:t>
            </a:r>
            <a:r>
              <a:rPr lang="en-US" sz="1300" b="1" dirty="0">
                <a:solidFill>
                  <a:srgbClr val="1F2937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Diarization Error</a:t>
            </a: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3639473" y="3212459"/>
            <a:ext cx="505663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高頻度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992284" y="3484036"/>
            <a:ext cx="48673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発話の切れ目が不明確で、</a:t>
            </a:r>
            <a:r>
              <a:rPr lang="en-US" sz="11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</a:t>
            </a: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さんの発言が</a:t>
            </a:r>
            <a:r>
              <a:rPr lang="en-US" sz="11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B</a:t>
            </a: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さんとして記録される。特に割り込み発話で多発。</a:t>
            </a:r>
            <a:endParaRPr lang="en-US" sz="1100" dirty="0"/>
          </a:p>
        </p:txBody>
      </p:sp>
      <p:sp>
        <p:nvSpPr>
          <p:cNvPr id="55" name="Shape 5">
            <a:extLst>
              <a:ext uri="{FF2B5EF4-FFF2-40B4-BE49-F238E27FC236}">
                <a16:creationId xmlns:a16="http://schemas.microsoft.com/office/drawing/2014/main" id="{7E105C7D-7737-FBFB-5C6B-460B5FE4203B}"/>
              </a:ext>
            </a:extLst>
          </p:cNvPr>
          <p:cNvSpPr/>
          <p:nvPr/>
        </p:nvSpPr>
        <p:spPr>
          <a:xfrm>
            <a:off x="481888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FF2F2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480858" y="587045"/>
            <a:ext cx="299169" cy="2587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9089" y="491490"/>
            <a:ext cx="4772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会議議事録：失敗モードと回避策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82397" y="205740"/>
            <a:ext cx="18416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ユースケース詳細分析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939089" y="1318555"/>
            <a:ext cx="10849356" cy="782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800" b="1" dirty="0">
                <a:solidFill>
                  <a:srgbClr val="DC2626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600" b="1" dirty="0" err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結論：話者誤割当・</a:t>
            </a:r>
            <a:r>
              <a:rPr lang="en-US" sz="1600" b="1" dirty="0" err="1">
                <a:solidFill>
                  <a:srgbClr val="DC2626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ASR</a:t>
            </a:r>
            <a:r>
              <a:rPr lang="en-US" sz="1600" b="1" dirty="0" err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幻覚・長時間処理の負荷を設計で抑止</a:t>
            </a:r>
            <a:r>
              <a:rPr lang="en-US" sz="16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</a:p>
          <a:p>
            <a:pPr algn="just"/>
            <a:r>
              <a:rPr lang="en-US" sz="1200" b="1" dirty="0" err="1">
                <a:solidFill>
                  <a:srgbClr val="374151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VAD</a:t>
            </a:r>
            <a:r>
              <a:rPr lang="en-US" sz="1200" b="1" dirty="0" err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（無音除去）の厳格化とタイムスタンプベースの検証が品質の防波堤となります</a:t>
            </a: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88451" y="2398643"/>
            <a:ext cx="5482742" cy="3504896"/>
          </a:xfrm>
          <a:prstGeom prst="roundRect">
            <a:avLst>
              <a:gd name="adj" fmla="val 842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8"/>
          <p:cNvSpPr/>
          <p:nvPr/>
        </p:nvSpPr>
        <p:spPr>
          <a:xfrm>
            <a:off x="726194" y="3016778"/>
            <a:ext cx="5048402" cy="1920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6194" y="2620431"/>
            <a:ext cx="190195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31604" y="2397730"/>
            <a:ext cx="3096158" cy="619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主な失敗モード（</a:t>
            </a:r>
            <a:r>
              <a:rPr lang="en-US" sz="15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Failure Modes</a:t>
            </a: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744482" y="3241263"/>
            <a:ext cx="114300" cy="152705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734424" y="4118172"/>
            <a:ext cx="114300" cy="15270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70339" y="4360946"/>
            <a:ext cx="48865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無音区間やノイズに対して、存在しない文章（「ご視聴ありがとうございました」等）を生成してしまう現象。</a:t>
            </a:r>
            <a:endParaRPr lang="en-US" sz="11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743568" y="4994168"/>
            <a:ext cx="114300" cy="15270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989541" y="4941590"/>
            <a:ext cx="49816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長文による要点漏れ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989541" y="5236941"/>
            <a:ext cx="48673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コンテキスト長超過により、議論の後半や中間部分の重要決定事項が</a:t>
            </a:r>
            <a:r>
              <a:rPr lang="en-US" sz="11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</a:t>
            </a: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の要約から欠落する。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6275686" y="2398643"/>
            <a:ext cx="5490974" cy="3504896"/>
          </a:xfrm>
          <a:prstGeom prst="roundRect">
            <a:avLst>
              <a:gd name="adj" fmla="val 842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19"/>
          <p:cNvSpPr/>
          <p:nvPr/>
        </p:nvSpPr>
        <p:spPr>
          <a:xfrm>
            <a:off x="6479599" y="3016778"/>
            <a:ext cx="5048402" cy="1920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9599" y="2620431"/>
            <a:ext cx="190195" cy="190195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784094" y="2396826"/>
            <a:ext cx="2563063" cy="61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回避策と設計（</a:t>
            </a:r>
            <a:r>
              <a:rPr lang="en-US" sz="15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Mitigation</a:t>
            </a: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15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6486914" y="3241263"/>
            <a:ext cx="133502" cy="152705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9729375" y="3249950"/>
            <a:ext cx="391363" cy="18368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</a:t>
            </a:r>
            <a:endParaRPr lang="en-US" sz="900" dirty="0"/>
          </a:p>
        </p:txBody>
      </p:sp>
      <p:sp>
        <p:nvSpPr>
          <p:cNvPr id="36" name="Text 23"/>
          <p:cNvSpPr txBox="1"/>
          <p:nvPr/>
        </p:nvSpPr>
        <p:spPr>
          <a:xfrm>
            <a:off x="6742032" y="3484036"/>
            <a:ext cx="48673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極端に短い発話区間を前後の発話者に統合するルールを適用。参加者名と</a:t>
            </a:r>
            <a:r>
              <a:rPr lang="en-US" sz="11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ID</a:t>
            </a: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の紐付け</a:t>
            </a:r>
            <a:r>
              <a:rPr lang="en-US" sz="11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UI</a:t>
            </a: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を用意。</a:t>
            </a:r>
            <a:endParaRPr lang="en-US" sz="11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79599" y="4118172"/>
            <a:ext cx="152705" cy="152705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6746604" y="4065594"/>
            <a:ext cx="4972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VAD</a:t>
            </a: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厳格化＋無音区間破棄</a:t>
            </a:r>
            <a:endParaRPr lang="en-US" sz="1300" dirty="0"/>
          </a:p>
        </p:txBody>
      </p:sp>
      <p:sp>
        <p:nvSpPr>
          <p:cNvPr id="41" name="Text 26"/>
          <p:cNvSpPr txBox="1"/>
          <p:nvPr/>
        </p:nvSpPr>
        <p:spPr>
          <a:xfrm>
            <a:off x="6746604" y="4360946"/>
            <a:ext cx="48582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Silero VAD</a:t>
            </a: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等の閾値を調整し、確実に音声がある区間のみ</a:t>
            </a:r>
            <a:r>
              <a:rPr lang="en-US" sz="11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ASR</a:t>
            </a: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へ渡す。「要審査フラグ」で怪しい出力をマーク。</a:t>
            </a:r>
            <a:endParaRPr lang="en-US" sz="11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6479599" y="4994168"/>
            <a:ext cx="171907" cy="152705"/>
          </a:xfrm>
          <a:prstGeom prst="rect">
            <a:avLst/>
          </a:prstGeom>
        </p:spPr>
      </p:pic>
      <p:sp>
        <p:nvSpPr>
          <p:cNvPr id="46" name="Text 29"/>
          <p:cNvSpPr txBox="1"/>
          <p:nvPr/>
        </p:nvSpPr>
        <p:spPr>
          <a:xfrm>
            <a:off x="6765806" y="5236941"/>
            <a:ext cx="4839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議論を短めのチャンクに分割して逐次要約し、最終的に統合。</a:t>
            </a:r>
            <a:r>
              <a:rPr lang="en-US" sz="11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量子化やコンテキスト分割でメモリ節約。</a:t>
            </a:r>
            <a:endParaRPr lang="en-US" sz="1100" dirty="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5EE14A45-0B86-6A67-FA9C-3B0BB4AA31AB}"/>
              </a:ext>
            </a:extLst>
          </p:cNvPr>
          <p:cNvSpPr/>
          <p:nvPr/>
        </p:nvSpPr>
        <p:spPr>
          <a:xfrm>
            <a:off x="488450" y="1311250"/>
            <a:ext cx="49717" cy="791160"/>
          </a:xfrm>
          <a:prstGeom prst="rect">
            <a:avLst/>
          </a:prstGeom>
          <a:solidFill>
            <a:srgbClr val="E21C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Shape 15">
            <a:extLst>
              <a:ext uri="{FF2B5EF4-FFF2-40B4-BE49-F238E27FC236}">
                <a16:creationId xmlns:a16="http://schemas.microsoft.com/office/drawing/2014/main" id="{F4D9736D-0D65-5A6C-DB10-F52D14CED3C6}"/>
              </a:ext>
            </a:extLst>
          </p:cNvPr>
          <p:cNvSpPr/>
          <p:nvPr/>
        </p:nvSpPr>
        <p:spPr>
          <a:xfrm>
            <a:off x="6279345" y="2385617"/>
            <a:ext cx="5486400" cy="38405"/>
          </a:xfrm>
          <a:prstGeom prst="roundRect">
            <a:avLst>
              <a:gd name="adj" fmla="val 75987"/>
            </a:avLst>
          </a:prstGeom>
          <a:solidFill>
            <a:srgbClr val="007AFF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" name="Shape 8">
            <a:extLst>
              <a:ext uri="{FF2B5EF4-FFF2-40B4-BE49-F238E27FC236}">
                <a16:creationId xmlns:a16="http://schemas.microsoft.com/office/drawing/2014/main" id="{71A84D39-7F57-BFD7-649B-8217AFEC0C69}"/>
              </a:ext>
            </a:extLst>
          </p:cNvPr>
          <p:cNvSpPr/>
          <p:nvPr/>
        </p:nvSpPr>
        <p:spPr>
          <a:xfrm>
            <a:off x="488450" y="2385617"/>
            <a:ext cx="5486400" cy="38405"/>
          </a:xfrm>
          <a:prstGeom prst="roundRect">
            <a:avLst>
              <a:gd name="adj" fmla="val 75987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140</Words>
  <Application>Microsoft Macintosh PowerPoint</Application>
  <PresentationFormat>ワイド画面</PresentationFormat>
  <Paragraphs>25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Noto Sans JP</vt:lpstr>
      <vt:lpstr>Arial</vt:lpstr>
      <vt:lpstr>Cambria</vt:lpstr>
      <vt:lpstr>Office Theme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e19217_木更津</cp:lastModifiedBy>
  <cp:revision>5</cp:revision>
  <dcterms:created xsi:type="dcterms:W3CDTF">2026-02-15T07:19:24Z</dcterms:created>
  <dcterms:modified xsi:type="dcterms:W3CDTF">2026-02-25T12:01:02Z</dcterms:modified>
</cp:coreProperties>
</file>