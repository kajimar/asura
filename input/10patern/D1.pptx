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96" r:id="rId3"/>
    <p:sldId id="281" r:id="rId4"/>
    <p:sldId id="284" r:id="rId5"/>
    <p:sldId id="287" r:id="rId6"/>
    <p:sldId id="29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759"/>
    <a:srgbClr val="FF9502"/>
    <a:srgbClr val="5755D6"/>
    <a:srgbClr val="007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4610"/>
  </p:normalViewPr>
  <p:slideViewPr>
    <p:cSldViewPr snapToGrid="0" snapToObjects="1">
      <p:cViewPr>
        <p:scale>
          <a:sx n="89" d="100"/>
          <a:sy n="89" d="100"/>
        </p:scale>
        <p:origin x="2352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49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6.png"/><Relationship Id="rId10" Type="http://schemas.openxmlformats.org/officeDocument/2006/relationships/image" Target="../media/image6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3.png"/><Relationship Id="rId10" Type="http://schemas.openxmlformats.org/officeDocument/2006/relationships/image" Target="../media/image6.png"/><Relationship Id="rId4" Type="http://schemas.openxmlformats.org/officeDocument/2006/relationships/image" Target="../media/image39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 descr="preencoded.png">
            <a:extLst>
              <a:ext uri="{FF2B5EF4-FFF2-40B4-BE49-F238E27FC236}">
                <a16:creationId xmlns:a16="http://schemas.microsoft.com/office/drawing/2014/main" id="{03F63D51-92A5-7510-33D1-AB795A4D9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76EFD8CB-5F82-9EE4-B064-E00C9D340DD5}"/>
              </a:ext>
            </a:extLst>
          </p:cNvPr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CB2BE1FB-8671-5D4D-3658-FE5FD033D037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43230"/>
            <a:ext cx="26700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5995" y="0"/>
            <a:ext cx="4004158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採用判断基準（VLM/LMM）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756648" y="26151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ランタイム適合性と運用設計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457200" y="990295"/>
            <a:ext cx="112772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結論：画像理解は前処理・プロセッサ依存が強いため、「ランタイムの明示サポート確認」が最優先です。2B/7B級を基本とし、不足分をRAG/OCRで補うのが安全策です。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095805"/>
            <a:ext cx="1127729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3274466" y="2681021"/>
            <a:ext cx="105156" cy="1719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2681021"/>
            <a:ext cx="105156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8812987" y="2681021"/>
            <a:ext cx="105156" cy="171907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57200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0"/>
          <p:cNvSpPr/>
          <p:nvPr/>
        </p:nvSpPr>
        <p:spPr>
          <a:xfrm>
            <a:off x="657454" y="4689958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1"/>
          <p:cNvSpPr/>
          <p:nvPr/>
        </p:nvSpPr>
        <p:spPr>
          <a:xfrm>
            <a:off x="657454" y="430865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52551" y="4394606"/>
            <a:ext cx="114300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7046" y="4347058"/>
            <a:ext cx="131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ランタイム適合性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1468" y="4892604"/>
            <a:ext cx="95098" cy="9509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52551" y="4873752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一次情報の確認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ランタイムがモデルを明示サポートしているか確認が安全（例: MLX-VLMのQwen2-VL対応コマンド提示）。 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1468" y="5463971"/>
            <a:ext cx="95098" cy="9509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52551" y="5445119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プロセッサ依存性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テキストLLMより前処理（画像トークン化）の依存が強く、変換ミスが起きやすい。 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4280306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4479646" y="4689958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17"/>
          <p:cNvSpPr/>
          <p:nvPr/>
        </p:nvSpPr>
        <p:spPr>
          <a:xfrm>
            <a:off x="4479646" y="430865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585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4546397" y="4394606"/>
            <a:ext cx="171907" cy="13350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880153" y="434705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運用設計（2B/7B級）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13660" y="4892604"/>
            <a:ext cx="95098" cy="95098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574743" y="4873752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現実的なライン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72B級は96GB+メモリや複数GPUが必要なため、実務では2B/7B級での運用設計に寄せる。 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13660" y="5463971"/>
            <a:ext cx="95098" cy="95098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4574743" y="5445119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視覚トークン制御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長文・多画像時はKV支配とトークン肥大に注意。max-pixels/マルチ画像数を制御する。 </a:t>
            </a:r>
            <a:endParaRPr lang="en-US" sz="900" dirty="0"/>
          </a:p>
        </p:txBody>
      </p:sp>
      <p:sp>
        <p:nvSpPr>
          <p:cNvPr id="34" name="Shape 21"/>
          <p:cNvSpPr/>
          <p:nvPr/>
        </p:nvSpPr>
        <p:spPr>
          <a:xfrm>
            <a:off x="8102498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2"/>
          <p:cNvSpPr/>
          <p:nvPr/>
        </p:nvSpPr>
        <p:spPr>
          <a:xfrm>
            <a:off x="8302752" y="4689958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8302752" y="430865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9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88706" y="4394606"/>
            <a:ext cx="133502" cy="13350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702345" y="4347058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補完戦略（OCR/RAG）</a:t>
            </a:r>
            <a:endParaRPr lang="en-US" sz="12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6766" y="4892604"/>
            <a:ext cx="95098" cy="95098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397850" y="4873752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不得意のカバー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微細な文字認識や構造化はOCR（PaddleOCR等）に任せ、VLMは「意味理解」に集中させる。 </a:t>
            </a:r>
            <a:endParaRPr lang="en-US" sz="9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6766" y="5463971"/>
            <a:ext cx="95098" cy="95098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397850" y="5445119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ハイブリッド構成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画像から情報をテキスト抽出し、Embedding化してRAGで検索可能にする設計が堅牢。 </a:t>
            </a:r>
            <a:endParaRPr lang="en-US" sz="900" dirty="0"/>
          </a:p>
        </p:txBody>
      </p:sp>
      <p:sp>
        <p:nvSpPr>
          <p:cNvPr id="45" name="Shape 28"/>
          <p:cNvSpPr/>
          <p:nvPr/>
        </p:nvSpPr>
        <p:spPr>
          <a:xfrm>
            <a:off x="1675181" y="22951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827886" y="2447849"/>
            <a:ext cx="228600" cy="228600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1474927" y="2905049"/>
            <a:ext cx="9436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サポート確認</a:t>
            </a:r>
            <a:endParaRPr lang="en-US" sz="1100" dirty="0"/>
          </a:p>
        </p:txBody>
      </p:sp>
      <p:sp>
        <p:nvSpPr>
          <p:cNvPr id="48" name="Text 30"/>
          <p:cNvSpPr txBox="1"/>
          <p:nvPr/>
        </p:nvSpPr>
        <p:spPr>
          <a:xfrm>
            <a:off x="1370686" y="3195828"/>
            <a:ext cx="12307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README等でランタイム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(MLX/vLLM)の対応を確認</a:t>
            </a:r>
            <a:endParaRPr lang="en-US" sz="8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7944" y="3458261"/>
            <a:ext cx="247802" cy="161849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1837944" y="3458261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[28]</a:t>
            </a:r>
            <a:endParaRPr lang="en-US" sz="800" dirty="0"/>
          </a:p>
        </p:txBody>
      </p:sp>
      <p:sp>
        <p:nvSpPr>
          <p:cNvPr id="51" name="Shape 32"/>
          <p:cNvSpPr/>
          <p:nvPr/>
        </p:nvSpPr>
        <p:spPr>
          <a:xfrm>
            <a:off x="4444898" y="236372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4582973" y="2515514"/>
            <a:ext cx="256946" cy="22860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4387291" y="2972714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規模選定</a:t>
            </a:r>
            <a:endParaRPr lang="en-US" sz="1100" dirty="0"/>
          </a:p>
        </p:txBody>
      </p:sp>
      <p:sp>
        <p:nvSpPr>
          <p:cNvPr id="54" name="Text 34"/>
          <p:cNvSpPr txBox="1"/>
          <p:nvPr/>
        </p:nvSpPr>
        <p:spPr>
          <a:xfrm>
            <a:off x="4155948" y="3263494"/>
            <a:ext cx="1114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2B/7B級で設計開始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(72B級は上位HW要件)</a:t>
            </a:r>
            <a:endParaRPr lang="en-US" sz="800" dirty="0"/>
          </a:p>
        </p:txBody>
      </p:sp>
      <p:sp>
        <p:nvSpPr>
          <p:cNvPr id="55" name="Shape 35"/>
          <p:cNvSpPr/>
          <p:nvPr/>
        </p:nvSpPr>
        <p:spPr>
          <a:xfrm>
            <a:off x="7213702" y="236372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66406" y="2515514"/>
            <a:ext cx="228600" cy="228600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7013448" y="2972714"/>
            <a:ext cx="9436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トークン制御</a:t>
            </a:r>
            <a:endParaRPr lang="en-US" sz="1100" dirty="0"/>
          </a:p>
        </p:txBody>
      </p:sp>
      <p:sp>
        <p:nvSpPr>
          <p:cNvPr id="58" name="Text 37"/>
          <p:cNvSpPr txBox="1"/>
          <p:nvPr/>
        </p:nvSpPr>
        <p:spPr>
          <a:xfrm>
            <a:off x="6876288" y="3263494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解像度・max-pixels制御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でメモリ爆発を防ぐ</a:t>
            </a:r>
            <a:endParaRPr lang="en-US" sz="800" dirty="0"/>
          </a:p>
        </p:txBody>
      </p:sp>
      <p:sp>
        <p:nvSpPr>
          <p:cNvPr id="59" name="Shape 38"/>
          <p:cNvSpPr/>
          <p:nvPr/>
        </p:nvSpPr>
        <p:spPr>
          <a:xfrm>
            <a:off x="9983419" y="236372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136124" y="2515514"/>
            <a:ext cx="228600" cy="228600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9784994" y="2972714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</a:t>
            </a:r>
            <a:endParaRPr lang="en-US" sz="1100" dirty="0"/>
          </a:p>
        </p:txBody>
      </p:sp>
      <p:sp>
        <p:nvSpPr>
          <p:cNvPr id="62" name="Text 40"/>
          <p:cNvSpPr txBox="1"/>
          <p:nvPr/>
        </p:nvSpPr>
        <p:spPr>
          <a:xfrm>
            <a:off x="9702698" y="3263494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OCRやRAGを併用して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精度と速度を補完</a:t>
            </a:r>
            <a:endParaRPr lang="en-US" sz="800" dirty="0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50063A-F9E1-DEC2-BE39-53985DE16F2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C9C91CC-4438-BF14-620E-9D044349FF97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Text 31">
            <a:extLst>
              <a:ext uri="{FF2B5EF4-FFF2-40B4-BE49-F238E27FC236}">
                <a16:creationId xmlns:a16="http://schemas.microsoft.com/office/drawing/2014/main" id="{9591716C-282C-4304-E2FF-D678159C6741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2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1CB419B-D34E-46F2-E7CF-6F54AC70AFBE}"/>
              </a:ext>
            </a:extLst>
          </p:cNvPr>
          <p:cNvSpPr/>
          <p:nvPr/>
        </p:nvSpPr>
        <p:spPr>
          <a:xfrm>
            <a:off x="305" y="734551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AA470727-E42B-E191-0D6D-224C382AC6DB}"/>
              </a:ext>
            </a:extLst>
          </p:cNvPr>
          <p:cNvSpPr/>
          <p:nvPr/>
        </p:nvSpPr>
        <p:spPr>
          <a:xfrm>
            <a:off x="457200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50EC1C28-15F8-B882-0BA8-73563BCB3C7A}"/>
              </a:ext>
            </a:extLst>
          </p:cNvPr>
          <p:cNvSpPr/>
          <p:nvPr/>
        </p:nvSpPr>
        <p:spPr>
          <a:xfrm>
            <a:off x="4280306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1141AAC2-B024-3345-138F-4F8C4AF256C7}"/>
              </a:ext>
            </a:extLst>
          </p:cNvPr>
          <p:cNvSpPr/>
          <p:nvPr/>
        </p:nvSpPr>
        <p:spPr>
          <a:xfrm>
            <a:off x="8102498" y="4109314"/>
            <a:ext cx="3638398" cy="1977847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604D90F3-7D74-623F-1DCB-4899BF868C28}"/>
              </a:ext>
            </a:extLst>
          </p:cNvPr>
          <p:cNvSpPr/>
          <p:nvPr/>
        </p:nvSpPr>
        <p:spPr>
          <a:xfrm>
            <a:off x="457200" y="2095805"/>
            <a:ext cx="1127729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43230"/>
            <a:ext cx="333756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2746" y="176479"/>
            <a:ext cx="467898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採用判断基準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（Agent / Tool-use）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449970" y="261518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2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スキーマ固定と検証ループによる安全運用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457200" y="990295"/>
            <a:ext cx="112772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結論：JSONスキーマ固定＋検証ループ（自動チェック）による安全運用を基本とし、Ollama/LM StudioのOpenAI互換APIで実装を統一します。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3307385" y="2632558"/>
            <a:ext cx="123444" cy="19019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6034126" y="2632558"/>
            <a:ext cx="123444" cy="19019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8760866" y="2632558"/>
            <a:ext cx="123444" cy="1901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57454" y="4655210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1"/>
          <p:cNvSpPr/>
          <p:nvPr/>
        </p:nvSpPr>
        <p:spPr>
          <a:xfrm>
            <a:off x="657454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2551" y="4330598"/>
            <a:ext cx="15270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5451" y="4285793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スキーマと検証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52551" y="4892604"/>
            <a:ext cx="3219602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JSONスキーマの厳格化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必須引数、型定義、Enum制約を厳密に記述し、モデルの構造化出力能力を最大限に活用。破壊時は即時再生成へ。 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752551" y="5463971"/>
            <a:ext cx="3219602" cy="49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検証ループの実装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「コード生成→コンパイル/テスト実行」自体をツールとして組み込み、LLM自身に結果をフィードバックするループを構築。 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4479646" y="4655210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17"/>
          <p:cNvSpPr/>
          <p:nvPr/>
        </p:nvSpPr>
        <p:spPr>
          <a:xfrm>
            <a:off x="4479646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F52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4565599" y="4330598"/>
            <a:ext cx="171907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17643" y="4285793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実装基盤の統一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4574743" y="4892604"/>
            <a:ext cx="3219602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OpenAI互換APIで統一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Ollama/LM Studio等の互換APIを採用し、クライアントコードを標準化。移行性・保守性を確保。 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3838" y="5148286"/>
            <a:ext cx="400507" cy="161849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393838" y="5148286"/>
            <a:ext cx="400507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[24,41]</a:t>
            </a:r>
            <a:endParaRPr lang="en-US" sz="800" dirty="0"/>
          </a:p>
        </p:txBody>
      </p:sp>
      <p:sp>
        <p:nvSpPr>
          <p:cNvPr id="35" name="Text 21"/>
          <p:cNvSpPr txBox="1"/>
          <p:nvPr/>
        </p:nvSpPr>
        <p:spPr>
          <a:xfrm>
            <a:off x="4574743" y="5463971"/>
            <a:ext cx="3219602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ランタイム機能の活用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必要に応じて、llama-cpp-python等のランタイム固有機能（文法制約機能など）を補助的に活用。 </a:t>
            </a:r>
            <a:endParaRPr lang="en-US" sz="9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05" y="5715000"/>
            <a:ext cx="247802" cy="161849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7534605" y="5715000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[25]</a:t>
            </a:r>
            <a:endParaRPr lang="en-US" sz="800" dirty="0"/>
          </a:p>
        </p:txBody>
      </p:sp>
      <p:sp>
        <p:nvSpPr>
          <p:cNvPr id="39" name="Shape 24"/>
          <p:cNvSpPr/>
          <p:nvPr/>
        </p:nvSpPr>
        <p:spPr>
          <a:xfrm>
            <a:off x="8302752" y="4655210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8302752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3B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97850" y="4330598"/>
            <a:ext cx="152705" cy="152705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740750" y="4285793"/>
            <a:ext cx="10177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幻覚API対策</a:t>
            </a:r>
            <a:endParaRPr lang="en-US" sz="1200" dirty="0"/>
          </a:p>
        </p:txBody>
      </p:sp>
      <p:sp>
        <p:nvSpPr>
          <p:cNvPr id="44" name="Text 27"/>
          <p:cNvSpPr txBox="1"/>
          <p:nvPr/>
        </p:nvSpPr>
        <p:spPr>
          <a:xfrm>
            <a:off x="8397850" y="4892604"/>
            <a:ext cx="3219602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ホワイトリスト化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実行可能な関数セットを厳密にホワイトリスト化し、存在しないAPIの呼び出し（幻覚）をシステム側で遮断。 </a:t>
            </a:r>
            <a:endParaRPr lang="en-US" sz="900" dirty="0"/>
          </a:p>
        </p:txBody>
      </p:sp>
      <p:sp>
        <p:nvSpPr>
          <p:cNvPr id="46" name="Text 28"/>
          <p:cNvSpPr txBox="1"/>
          <p:nvPr/>
        </p:nvSpPr>
        <p:spPr>
          <a:xfrm>
            <a:off x="8397850" y="5463971"/>
            <a:ext cx="3219602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タイムアウトとリトライ</a:t>
            </a: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無限ループや応答遅延を防ぐため、標準でタイムアウト設定とリトライ上限を設ける設計を義務化。 </a:t>
            </a:r>
            <a:endParaRPr lang="en-US" sz="9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39189" y="2295144"/>
            <a:ext cx="533095" cy="533095"/>
          </a:xfrm>
          <a:prstGeom prst="rect">
            <a:avLst/>
          </a:prstGeom>
        </p:spPr>
      </p:pic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1863547" y="2447849"/>
            <a:ext cx="286207" cy="2286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1538935" y="2943454"/>
            <a:ext cx="9436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スキーマ定義</a:t>
            </a:r>
            <a:endParaRPr lang="en-US" sz="1100" dirty="0"/>
          </a:p>
        </p:txBody>
      </p:sp>
      <p:sp>
        <p:nvSpPr>
          <p:cNvPr id="52" name="Text 31"/>
          <p:cNvSpPr txBox="1"/>
          <p:nvPr/>
        </p:nvSpPr>
        <p:spPr>
          <a:xfrm>
            <a:off x="1406347" y="3233318"/>
            <a:ext cx="1209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必須引数・型・制約を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厳格化して固定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465930" y="2295144"/>
            <a:ext cx="533095" cy="533095"/>
          </a:xfrm>
          <a:prstGeom prst="rect">
            <a:avLst/>
          </a:prstGeom>
        </p:spPr>
      </p:pic>
      <p:pic>
        <p:nvPicPr>
          <p:cNvPr id="54" name="Image 20" descr="preencoded.png"/>
          <p:cNvPicPr>
            <a:picLocks noChangeAspect="1"/>
          </p:cNvPicPr>
          <p:nvPr/>
        </p:nvPicPr>
        <p:blipFill>
          <a:blip r:embed="rId14"/>
          <a:srcRect t="-45" b="-45"/>
          <a:stretch/>
        </p:blipFill>
        <p:spPr>
          <a:xfrm>
            <a:off x="4604004" y="2447849"/>
            <a:ext cx="256946" cy="228600"/>
          </a:xfrm>
          <a:prstGeom prst="rect">
            <a:avLst/>
          </a:prstGeom>
        </p:spPr>
      </p:pic>
      <p:sp>
        <p:nvSpPr>
          <p:cNvPr id="55" name="Text 32"/>
          <p:cNvSpPr txBox="1"/>
          <p:nvPr/>
        </p:nvSpPr>
        <p:spPr>
          <a:xfrm>
            <a:off x="4336999" y="2943454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ツール実行</a:t>
            </a:r>
            <a:endParaRPr lang="en-US" sz="1100" dirty="0"/>
          </a:p>
        </p:txBody>
      </p:sp>
      <p:sp>
        <p:nvSpPr>
          <p:cNvPr id="56" name="Text 33"/>
          <p:cNvSpPr txBox="1"/>
          <p:nvPr/>
        </p:nvSpPr>
        <p:spPr>
          <a:xfrm>
            <a:off x="4110228" y="3233318"/>
            <a:ext cx="1248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Ollama/LM Studio経由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OpenAI互換API</a:t>
            </a:r>
            <a:endParaRPr lang="en-US" sz="900" dirty="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192670" y="2295144"/>
            <a:ext cx="533095" cy="533095"/>
          </a:xfrm>
          <a:prstGeom prst="rect">
            <a:avLst/>
          </a:prstGeom>
        </p:spPr>
      </p:pic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345375" y="2447849"/>
            <a:ext cx="228600" cy="228600"/>
          </a:xfrm>
          <a:prstGeom prst="rect">
            <a:avLst/>
          </a:prstGeom>
        </p:spPr>
      </p:pic>
      <p:sp>
        <p:nvSpPr>
          <p:cNvPr id="59" name="Text 34"/>
          <p:cNvSpPr txBox="1"/>
          <p:nvPr/>
        </p:nvSpPr>
        <p:spPr>
          <a:xfrm>
            <a:off x="7068312" y="2943454"/>
            <a:ext cx="79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検証ループ</a:t>
            </a:r>
            <a:endParaRPr lang="en-US" sz="1100" dirty="0"/>
          </a:p>
        </p:txBody>
      </p:sp>
      <p:sp>
        <p:nvSpPr>
          <p:cNvPr id="60" name="Text 35"/>
          <p:cNvSpPr txBox="1"/>
          <p:nvPr/>
        </p:nvSpPr>
        <p:spPr>
          <a:xfrm>
            <a:off x="6836969" y="3233318"/>
            <a:ext cx="1248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コンパイル/テスト実行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失敗時は再生成</a:t>
            </a:r>
            <a:endParaRPr lang="en-US" sz="900" dirty="0"/>
          </a:p>
        </p:txBody>
      </p:sp>
      <p:pic>
        <p:nvPicPr>
          <p:cNvPr id="61" name="Image 2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919411" y="2295144"/>
            <a:ext cx="533095" cy="533095"/>
          </a:xfrm>
          <a:prstGeom prst="rect">
            <a:avLst/>
          </a:prstGeom>
        </p:spPr>
      </p:pic>
      <p:pic>
        <p:nvPicPr>
          <p:cNvPr id="62" name="Image 2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071202" y="2447849"/>
            <a:ext cx="228600" cy="228600"/>
          </a:xfrm>
          <a:prstGeom prst="rect">
            <a:avLst/>
          </a:prstGeom>
        </p:spPr>
      </p:pic>
      <p:sp>
        <p:nvSpPr>
          <p:cNvPr id="63" name="Text 36"/>
          <p:cNvSpPr txBox="1"/>
          <p:nvPr/>
        </p:nvSpPr>
        <p:spPr>
          <a:xfrm>
            <a:off x="9680753" y="2943454"/>
            <a:ext cx="10122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完了/リトライ</a:t>
            </a:r>
            <a:endParaRPr lang="en-US" sz="1100" dirty="0"/>
          </a:p>
        </p:txBody>
      </p:sp>
      <p:sp>
        <p:nvSpPr>
          <p:cNvPr id="64" name="Text 37"/>
          <p:cNvSpPr txBox="1"/>
          <p:nvPr/>
        </p:nvSpPr>
        <p:spPr>
          <a:xfrm>
            <a:off x="9756648" y="3233318"/>
            <a:ext cx="8668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結果確認または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フォールバック</a:t>
            </a:r>
            <a:endParaRPr lang="en-US" sz="900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48AC2B59-2312-EA63-AA38-77900AE7888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91468" y="4892604"/>
            <a:ext cx="95098" cy="95098"/>
          </a:xfrm>
          <a:prstGeom prst="rect">
            <a:avLst/>
          </a:prstGeom>
        </p:spPr>
      </p:pic>
      <p:pic>
        <p:nvPicPr>
          <p:cNvPr id="73" name="Image 7" descr="preencoded.png">
            <a:extLst>
              <a:ext uri="{FF2B5EF4-FFF2-40B4-BE49-F238E27FC236}">
                <a16:creationId xmlns:a16="http://schemas.microsoft.com/office/drawing/2014/main" id="{132312EF-BDA8-2180-5D90-B20BB653882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91468" y="5463971"/>
            <a:ext cx="95098" cy="95098"/>
          </a:xfrm>
          <a:prstGeom prst="rect">
            <a:avLst/>
          </a:prstGeom>
        </p:spPr>
      </p:pic>
      <p:pic>
        <p:nvPicPr>
          <p:cNvPr id="74" name="Image 9" descr="preencoded.png">
            <a:extLst>
              <a:ext uri="{FF2B5EF4-FFF2-40B4-BE49-F238E27FC236}">
                <a16:creationId xmlns:a16="http://schemas.microsoft.com/office/drawing/2014/main" id="{6D9292A7-2B87-EDFA-4C94-6BE31613F53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413660" y="4892604"/>
            <a:ext cx="95098" cy="95098"/>
          </a:xfrm>
          <a:prstGeom prst="rect">
            <a:avLst/>
          </a:prstGeom>
        </p:spPr>
      </p:pic>
      <p:pic>
        <p:nvPicPr>
          <p:cNvPr id="75" name="Image 10" descr="preencoded.png">
            <a:extLst>
              <a:ext uri="{FF2B5EF4-FFF2-40B4-BE49-F238E27FC236}">
                <a16:creationId xmlns:a16="http://schemas.microsoft.com/office/drawing/2014/main" id="{8C2A6C3E-5AEA-9F83-76EA-817EC137A82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413660" y="5463971"/>
            <a:ext cx="95098" cy="95098"/>
          </a:xfrm>
          <a:prstGeom prst="rect">
            <a:avLst/>
          </a:prstGeom>
        </p:spPr>
      </p:pic>
      <p:pic>
        <p:nvPicPr>
          <p:cNvPr id="76" name="Image 12" descr="preencoded.png">
            <a:extLst>
              <a:ext uri="{FF2B5EF4-FFF2-40B4-BE49-F238E27FC236}">
                <a16:creationId xmlns:a16="http://schemas.microsoft.com/office/drawing/2014/main" id="{587F9120-7686-EE71-12AA-C807AA4E824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236766" y="4892604"/>
            <a:ext cx="95098" cy="95098"/>
          </a:xfrm>
          <a:prstGeom prst="rect">
            <a:avLst/>
          </a:prstGeom>
        </p:spPr>
      </p:pic>
      <p:pic>
        <p:nvPicPr>
          <p:cNvPr id="77" name="Image 13" descr="preencoded.png">
            <a:extLst>
              <a:ext uri="{FF2B5EF4-FFF2-40B4-BE49-F238E27FC236}">
                <a16:creationId xmlns:a16="http://schemas.microsoft.com/office/drawing/2014/main" id="{8FF6606A-97F0-DE2E-9180-601BC1090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236766" y="5463971"/>
            <a:ext cx="95098" cy="95098"/>
          </a:xfrm>
          <a:prstGeom prst="rect">
            <a:avLst/>
          </a:prstGeom>
        </p:spPr>
      </p:pic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4C777930-0909-2718-FAFC-D6856DF85955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 descr="preencoded.png">
            <a:extLst>
              <a:ext uri="{FF2B5EF4-FFF2-40B4-BE49-F238E27FC236}">
                <a16:creationId xmlns:a16="http://schemas.microsoft.com/office/drawing/2014/main" id="{06793081-0109-B06F-F427-80DDB26CA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BAA268FC-B924-9287-37FA-74A65AB431ED}"/>
              </a:ext>
            </a:extLst>
          </p:cNvPr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9E34B2A0-AC8E-7B50-1656-45C681A327D5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3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75" name="円/楕円 74">
            <a:extLst>
              <a:ext uri="{FF2B5EF4-FFF2-40B4-BE49-F238E27FC236}">
                <a16:creationId xmlns:a16="http://schemas.microsoft.com/office/drawing/2014/main" id="{ABFC584C-5C4A-0FB6-B126-33665B80C7A3}"/>
              </a:ext>
            </a:extLst>
          </p:cNvPr>
          <p:cNvSpPr/>
          <p:nvPr/>
        </p:nvSpPr>
        <p:spPr>
          <a:xfrm>
            <a:off x="1749247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Text 29"/>
          <p:cNvSpPr/>
          <p:nvPr/>
        </p:nvSpPr>
        <p:spPr>
          <a:xfrm>
            <a:off x="1749247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71" name="円/楕円 70">
            <a:extLst>
              <a:ext uri="{FF2B5EF4-FFF2-40B4-BE49-F238E27FC236}">
                <a16:creationId xmlns:a16="http://schemas.microsoft.com/office/drawing/2014/main" id="{1A3D90C9-B7EF-D117-17FD-F4B7B9D85E48}"/>
              </a:ext>
            </a:extLst>
          </p:cNvPr>
          <p:cNvSpPr/>
          <p:nvPr/>
        </p:nvSpPr>
        <p:spPr>
          <a:xfrm>
            <a:off x="4495190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Text 32"/>
          <p:cNvSpPr/>
          <p:nvPr/>
        </p:nvSpPr>
        <p:spPr>
          <a:xfrm>
            <a:off x="4494276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73" name="円/楕円 72">
            <a:extLst>
              <a:ext uri="{FF2B5EF4-FFF2-40B4-BE49-F238E27FC236}">
                <a16:creationId xmlns:a16="http://schemas.microsoft.com/office/drawing/2014/main" id="{E72519C0-BC07-0E01-5993-4702D75CF6B3}"/>
              </a:ext>
            </a:extLst>
          </p:cNvPr>
          <p:cNvSpPr/>
          <p:nvPr/>
        </p:nvSpPr>
        <p:spPr>
          <a:xfrm>
            <a:off x="9986162" y="2295144"/>
            <a:ext cx="456286" cy="457200"/>
          </a:xfrm>
          <a:prstGeom prst="ellipse">
            <a:avLst/>
          </a:prstGeom>
          <a:solidFill>
            <a:srgbClr val="33C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Text 38"/>
          <p:cNvSpPr/>
          <p:nvPr/>
        </p:nvSpPr>
        <p:spPr>
          <a:xfrm>
            <a:off x="9986162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72" name="円/楕円 71">
            <a:extLst>
              <a:ext uri="{FF2B5EF4-FFF2-40B4-BE49-F238E27FC236}">
                <a16:creationId xmlns:a16="http://schemas.microsoft.com/office/drawing/2014/main" id="{B4EBFD68-3F09-4712-A358-4740421FC856}"/>
              </a:ext>
            </a:extLst>
          </p:cNvPr>
          <p:cNvSpPr/>
          <p:nvPr/>
        </p:nvSpPr>
        <p:spPr>
          <a:xfrm>
            <a:off x="7240219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Text 35"/>
          <p:cNvSpPr/>
          <p:nvPr/>
        </p:nvSpPr>
        <p:spPr>
          <a:xfrm>
            <a:off x="7240219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43230"/>
            <a:ext cx="200254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9244" y="176479"/>
            <a:ext cx="28483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採用判断基準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（ASR）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715146" y="261518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RTF要件と誤転記リスクに基づく選定フロー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457200" y="990295"/>
            <a:ext cx="112772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結論：faster-whisperを基準実装とし、RTF要件・誤転記リスクに応じてGPU化やモデル拡大を検討する段階的最適化が合理的です。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095805"/>
            <a:ext cx="11277295" cy="1485900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3298241" y="2615184"/>
            <a:ext cx="105156" cy="1719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2615184"/>
            <a:ext cx="105156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8789213" y="2615184"/>
            <a:ext cx="105156" cy="171907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57200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0"/>
          <p:cNvSpPr/>
          <p:nvPr/>
        </p:nvSpPr>
        <p:spPr>
          <a:xfrm>
            <a:off x="657454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1"/>
          <p:cNvSpPr/>
          <p:nvPr/>
        </p:nvSpPr>
        <p:spPr>
          <a:xfrm>
            <a:off x="657454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4167835"/>
            <a:ext cx="133502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7046" y="4120286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前処理の固定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52551" y="464698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VAD設定の統一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無音区間の除去は認識精度と速度に直結するため、Silero VAD等の設定を固定し再現性を担保する。 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752551" y="518457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ベンチマーク条件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同一音声・同一前処理での比較が必須（後章のベンチ設計参照）。 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4280306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4479646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17"/>
          <p:cNvSpPr/>
          <p:nvPr/>
        </p:nvSpPr>
        <p:spPr>
          <a:xfrm>
            <a:off x="4479646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4C7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4546397" y="4167835"/>
            <a:ext cx="171907" cy="13350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880153" y="4120286"/>
            <a:ext cx="1163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会議用途の要点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4574743" y="464698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話者分離が品質の土台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pyannote.audio等の話者分離（Diarization）精度が議事録の質を左右する。 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4574743" y="518457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無音除去の設計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幻覚（無音区間にテキストが入る現象）を防ぐため、VADによる無音区間の破棄を徹底する。 </a:t>
            </a:r>
            <a:endParaRPr lang="en-US" sz="900" dirty="0"/>
          </a:p>
        </p:txBody>
      </p:sp>
      <p:sp>
        <p:nvSpPr>
          <p:cNvPr id="34" name="Shape 21"/>
          <p:cNvSpPr/>
          <p:nvPr/>
        </p:nvSpPr>
        <p:spPr>
          <a:xfrm>
            <a:off x="8102498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2"/>
          <p:cNvSpPr/>
          <p:nvPr/>
        </p:nvSpPr>
        <p:spPr>
          <a:xfrm>
            <a:off x="8302752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8302752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9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88706" y="4167835"/>
            <a:ext cx="133502" cy="13350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702345" y="4120286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</a:t>
            </a:r>
            <a:endParaRPr lang="en-US" sz="1200" dirty="0"/>
          </a:p>
        </p:txBody>
      </p:sp>
      <p:sp>
        <p:nvSpPr>
          <p:cNvPr id="40" name="Text 25"/>
          <p:cNvSpPr txBox="1"/>
          <p:nvPr/>
        </p:nvSpPr>
        <p:spPr>
          <a:xfrm>
            <a:off x="8397850" y="464698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誤転記（幻覚）への対処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医療や重要業務では誤転記が実害となる可能性があるため、検証プロセスを必須化。 </a:t>
            </a:r>
            <a:endParaRPr lang="en-US" sz="9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7057" y="4935017"/>
            <a:ext cx="247802" cy="161849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9827057" y="4935017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[49]</a:t>
            </a:r>
            <a:endParaRPr lang="en-US" sz="800" dirty="0"/>
          </a:p>
        </p:txBody>
      </p:sp>
      <p:sp>
        <p:nvSpPr>
          <p:cNvPr id="44" name="Text 27"/>
          <p:cNvSpPr txBox="1"/>
          <p:nvPr/>
        </p:nvSpPr>
        <p:spPr>
          <a:xfrm>
            <a:off x="8397850" y="5184571"/>
            <a:ext cx="3219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リソース監視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ストリーミング用途ではRTFだけでなく、長時間稼働時のメモリリーク等も監視対象とする。 </a:t>
            </a:r>
            <a:endParaRPr lang="en-US" sz="900" dirty="0"/>
          </a:p>
        </p:txBody>
      </p:sp>
      <p:sp>
        <p:nvSpPr>
          <p:cNvPr id="49" name="Text 30"/>
          <p:cNvSpPr txBox="1"/>
          <p:nvPr/>
        </p:nvSpPr>
        <p:spPr>
          <a:xfrm>
            <a:off x="1672438" y="2829154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基準実装</a:t>
            </a:r>
            <a:endParaRPr lang="en-US" sz="1000" dirty="0"/>
          </a:p>
        </p:txBody>
      </p:sp>
      <p:sp>
        <p:nvSpPr>
          <p:cNvPr id="50" name="Text 31"/>
          <p:cNvSpPr txBox="1"/>
          <p:nvPr/>
        </p:nvSpPr>
        <p:spPr>
          <a:xfrm>
            <a:off x="1519733" y="3105302"/>
            <a:ext cx="924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faster-whisper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(CPU/INT8)で検証</a:t>
            </a:r>
            <a:endParaRPr lang="en-US" sz="800" dirty="0"/>
          </a:p>
        </p:txBody>
      </p:sp>
      <p:sp>
        <p:nvSpPr>
          <p:cNvPr id="53" name="Text 33"/>
          <p:cNvSpPr txBox="1"/>
          <p:nvPr/>
        </p:nvSpPr>
        <p:spPr>
          <a:xfrm>
            <a:off x="4427525" y="2829154"/>
            <a:ext cx="600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RTF評価</a:t>
            </a:r>
            <a:endParaRPr lang="en-US" sz="1000" dirty="0"/>
          </a:p>
        </p:txBody>
      </p:sp>
      <p:sp>
        <p:nvSpPr>
          <p:cNvPr id="54" name="Text 34"/>
          <p:cNvSpPr txBox="1"/>
          <p:nvPr/>
        </p:nvSpPr>
        <p:spPr>
          <a:xfrm>
            <a:off x="4298594" y="3105302"/>
            <a:ext cx="857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実時間比(RTF)&lt;1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を満たすか確認</a:t>
            </a:r>
            <a:endParaRPr lang="en-US" sz="800" dirty="0"/>
          </a:p>
        </p:txBody>
      </p:sp>
      <p:sp>
        <p:nvSpPr>
          <p:cNvPr id="57" name="Text 36"/>
          <p:cNvSpPr txBox="1"/>
          <p:nvPr/>
        </p:nvSpPr>
        <p:spPr>
          <a:xfrm>
            <a:off x="7164324" y="2829154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品質評価</a:t>
            </a:r>
            <a:endParaRPr lang="en-US" sz="1000" dirty="0"/>
          </a:p>
        </p:txBody>
      </p:sp>
      <p:sp>
        <p:nvSpPr>
          <p:cNvPr id="58" name="Text 37"/>
          <p:cNvSpPr txBox="1"/>
          <p:nvPr/>
        </p:nvSpPr>
        <p:spPr>
          <a:xfrm>
            <a:off x="7090258" y="3105302"/>
            <a:ext cx="762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誤転記(幻覚)の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許容範囲内か</a:t>
            </a:r>
            <a:endParaRPr lang="en-US" sz="800" dirty="0"/>
          </a:p>
        </p:txBody>
      </p:sp>
      <p:sp>
        <p:nvSpPr>
          <p:cNvPr id="61" name="Text 39"/>
          <p:cNvSpPr txBox="1"/>
          <p:nvPr/>
        </p:nvSpPr>
        <p:spPr>
          <a:xfrm>
            <a:off x="9976104" y="2829154"/>
            <a:ext cx="476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</a:t>
            </a:r>
            <a:endParaRPr lang="en-US" sz="1000" dirty="0"/>
          </a:p>
        </p:txBody>
      </p:sp>
      <p:sp>
        <p:nvSpPr>
          <p:cNvPr id="62" name="Text 40"/>
          <p:cNvSpPr txBox="1"/>
          <p:nvPr/>
        </p:nvSpPr>
        <p:spPr>
          <a:xfrm>
            <a:off x="9766706" y="3105302"/>
            <a:ext cx="896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不足ならGPU化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またはモデル拡大</a:t>
            </a:r>
            <a:endParaRPr lang="en-US" sz="800" dirty="0"/>
          </a:p>
        </p:txBody>
      </p:sp>
      <p:pic>
        <p:nvPicPr>
          <p:cNvPr id="63" name="Image 6" descr="preencoded.png">
            <a:extLst>
              <a:ext uri="{FF2B5EF4-FFF2-40B4-BE49-F238E27FC236}">
                <a16:creationId xmlns:a16="http://schemas.microsoft.com/office/drawing/2014/main" id="{11526623-C925-1C83-36F8-A8FF66A97ED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1468" y="4646981"/>
            <a:ext cx="95098" cy="95098"/>
          </a:xfrm>
          <a:prstGeom prst="rect">
            <a:avLst/>
          </a:prstGeom>
        </p:spPr>
      </p:pic>
      <p:pic>
        <p:nvPicPr>
          <p:cNvPr id="64" name="Image 7" descr="preencoded.png">
            <a:extLst>
              <a:ext uri="{FF2B5EF4-FFF2-40B4-BE49-F238E27FC236}">
                <a16:creationId xmlns:a16="http://schemas.microsoft.com/office/drawing/2014/main" id="{5EC1A256-31D8-369B-284F-EA740C741F6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1468" y="5184571"/>
            <a:ext cx="95098" cy="95098"/>
          </a:xfrm>
          <a:prstGeom prst="rect">
            <a:avLst/>
          </a:prstGeom>
        </p:spPr>
      </p:pic>
      <p:pic>
        <p:nvPicPr>
          <p:cNvPr id="65" name="Image 9" descr="preencoded.png">
            <a:extLst>
              <a:ext uri="{FF2B5EF4-FFF2-40B4-BE49-F238E27FC236}">
                <a16:creationId xmlns:a16="http://schemas.microsoft.com/office/drawing/2014/main" id="{DABB3D84-7A8F-01F3-1595-41F30A4557B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13660" y="4646981"/>
            <a:ext cx="95098" cy="95098"/>
          </a:xfrm>
          <a:prstGeom prst="rect">
            <a:avLst/>
          </a:prstGeom>
        </p:spPr>
      </p:pic>
      <p:pic>
        <p:nvPicPr>
          <p:cNvPr id="66" name="Image 10" descr="preencoded.png">
            <a:extLst>
              <a:ext uri="{FF2B5EF4-FFF2-40B4-BE49-F238E27FC236}">
                <a16:creationId xmlns:a16="http://schemas.microsoft.com/office/drawing/2014/main" id="{C40635E5-385A-5C88-4DA7-79688DE0F5C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13660" y="5184571"/>
            <a:ext cx="95098" cy="95098"/>
          </a:xfrm>
          <a:prstGeom prst="rect">
            <a:avLst/>
          </a:prstGeom>
        </p:spPr>
      </p:pic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0D67D2ED-43C2-B6B7-5170-9067CC35B54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36766" y="4646981"/>
            <a:ext cx="95098" cy="95098"/>
          </a:xfrm>
          <a:prstGeom prst="rect">
            <a:avLst/>
          </a:prstGeom>
        </p:spPr>
      </p:pic>
      <p:pic>
        <p:nvPicPr>
          <p:cNvPr id="68" name="Image 13" descr="preencoded.png">
            <a:extLst>
              <a:ext uri="{FF2B5EF4-FFF2-40B4-BE49-F238E27FC236}">
                <a16:creationId xmlns:a16="http://schemas.microsoft.com/office/drawing/2014/main" id="{1CB7BA73-50FF-C9C4-70BE-8BDFD72387D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36766" y="5184571"/>
            <a:ext cx="95098" cy="95098"/>
          </a:xfrm>
          <a:prstGeom prst="rect">
            <a:avLst/>
          </a:prstGeom>
        </p:spPr>
      </p:pic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213F1AEE-4D90-5461-AE47-B0CAED027FFE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 descr="preencoded.png">
            <a:extLst>
              <a:ext uri="{FF2B5EF4-FFF2-40B4-BE49-F238E27FC236}">
                <a16:creationId xmlns:a16="http://schemas.microsoft.com/office/drawing/2014/main" id="{2BC29A4B-3939-3112-0959-DE15E8D36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8DA9E8F6-73A2-C477-96DC-9B284362D515}"/>
              </a:ext>
            </a:extLst>
          </p:cNvPr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31">
            <a:extLst>
              <a:ext uri="{FF2B5EF4-FFF2-40B4-BE49-F238E27FC236}">
                <a16:creationId xmlns:a16="http://schemas.microsoft.com/office/drawing/2014/main" id="{2FC710C0-8516-853F-A077-052299C70B13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4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72" name="円/楕円 71">
            <a:extLst>
              <a:ext uri="{FF2B5EF4-FFF2-40B4-BE49-F238E27FC236}">
                <a16:creationId xmlns:a16="http://schemas.microsoft.com/office/drawing/2014/main" id="{E02AB74E-C3CE-EB61-5717-4F36AEF8293C}"/>
              </a:ext>
            </a:extLst>
          </p:cNvPr>
          <p:cNvSpPr/>
          <p:nvPr/>
        </p:nvSpPr>
        <p:spPr>
          <a:xfrm>
            <a:off x="10057486" y="2295144"/>
            <a:ext cx="456286" cy="457200"/>
          </a:xfrm>
          <a:prstGeom prst="ellipse">
            <a:avLst/>
          </a:prstGeom>
          <a:solidFill>
            <a:srgbClr val="33C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円/楕円 72">
            <a:extLst>
              <a:ext uri="{FF2B5EF4-FFF2-40B4-BE49-F238E27FC236}">
                <a16:creationId xmlns:a16="http://schemas.microsoft.com/office/drawing/2014/main" id="{A30246DA-B5AD-8AAB-1C32-62E3BADC0078}"/>
              </a:ext>
            </a:extLst>
          </p:cNvPr>
          <p:cNvSpPr/>
          <p:nvPr/>
        </p:nvSpPr>
        <p:spPr>
          <a:xfrm>
            <a:off x="7263994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円/楕円 74">
            <a:extLst>
              <a:ext uri="{FF2B5EF4-FFF2-40B4-BE49-F238E27FC236}">
                <a16:creationId xmlns:a16="http://schemas.microsoft.com/office/drawing/2014/main" id="{DABAC3BA-BA8F-0879-19FD-743EADBB450A}"/>
              </a:ext>
            </a:extLst>
          </p:cNvPr>
          <p:cNvSpPr/>
          <p:nvPr/>
        </p:nvSpPr>
        <p:spPr>
          <a:xfrm>
            <a:off x="4470502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円/楕円 73">
            <a:extLst>
              <a:ext uri="{FF2B5EF4-FFF2-40B4-BE49-F238E27FC236}">
                <a16:creationId xmlns:a16="http://schemas.microsoft.com/office/drawing/2014/main" id="{94830358-FE50-4409-DE8D-68724C312F6C}"/>
              </a:ext>
            </a:extLst>
          </p:cNvPr>
          <p:cNvSpPr/>
          <p:nvPr/>
        </p:nvSpPr>
        <p:spPr>
          <a:xfrm>
            <a:off x="1677924" y="229514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Text 29"/>
          <p:cNvSpPr/>
          <p:nvPr/>
        </p:nvSpPr>
        <p:spPr>
          <a:xfrm>
            <a:off x="1677924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52" name="Text 32"/>
          <p:cNvSpPr/>
          <p:nvPr/>
        </p:nvSpPr>
        <p:spPr>
          <a:xfrm>
            <a:off x="4470502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56" name="Text 35"/>
          <p:cNvSpPr/>
          <p:nvPr/>
        </p:nvSpPr>
        <p:spPr>
          <a:xfrm>
            <a:off x="7263994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60" name="Text 38"/>
          <p:cNvSpPr/>
          <p:nvPr/>
        </p:nvSpPr>
        <p:spPr>
          <a:xfrm>
            <a:off x="10057486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B05973CC-E59A-E7A0-3E0B-1FE613828ADA}"/>
              </a:ext>
            </a:extLst>
          </p:cNvPr>
          <p:cNvSpPr/>
          <p:nvPr/>
        </p:nvSpPr>
        <p:spPr>
          <a:xfrm>
            <a:off x="457200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15">
            <a:extLst>
              <a:ext uri="{FF2B5EF4-FFF2-40B4-BE49-F238E27FC236}">
                <a16:creationId xmlns:a16="http://schemas.microsoft.com/office/drawing/2014/main" id="{9B76D6E6-2A06-525E-AF1B-C98E6FB05682}"/>
              </a:ext>
            </a:extLst>
          </p:cNvPr>
          <p:cNvSpPr/>
          <p:nvPr/>
        </p:nvSpPr>
        <p:spPr>
          <a:xfrm>
            <a:off x="4280306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C99D0668-D1F3-3F3C-A764-648D50ACE252}"/>
              </a:ext>
            </a:extLst>
          </p:cNvPr>
          <p:cNvSpPr/>
          <p:nvPr/>
        </p:nvSpPr>
        <p:spPr>
          <a:xfrm>
            <a:off x="8102498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43230"/>
            <a:ext cx="333756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2746" y="176479"/>
            <a:ext cx="28200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採用判断基準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（TTS）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261518"/>
            <a:ext cx="24798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品質・コスト・リスクの分離管理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457200" y="990295"/>
            <a:ext cx="11277295" cy="8385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結論：「読み上げ（通知・要約）」と「クローン（本人声）」は別レイヤで運用すべきです。前者は軽量化し、後者は法務・倫理リスクを管理します。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095805"/>
            <a:ext cx="11277295" cy="1485900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3250692" y="2615184"/>
            <a:ext cx="105156" cy="1719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2615184"/>
            <a:ext cx="105156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8836762" y="2615184"/>
            <a:ext cx="105156" cy="171907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57454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1"/>
          <p:cNvSpPr/>
          <p:nvPr/>
        </p:nvSpPr>
        <p:spPr>
          <a:xfrm>
            <a:off x="657454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733349" y="4167835"/>
            <a:ext cx="152705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7046" y="412028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分離運用（Layered）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52551" y="4646981"/>
            <a:ext cx="3219602" cy="3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軽量TTSの常駐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通知・要約読み上げはPiper/Kokoro等で省リソース化し、システムに常駐させる。 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752551" y="5184571"/>
            <a:ext cx="321960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クローンは別系統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XTTS等はGPUリソースを消費するため、必要な時のみ呼び出す別サービスとして切り出す。 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4479646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17"/>
          <p:cNvSpPr/>
          <p:nvPr/>
        </p:nvSpPr>
        <p:spPr>
          <a:xfrm>
            <a:off x="4479646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9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5599" y="4167835"/>
            <a:ext cx="133502" cy="13350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880153" y="4120286"/>
            <a:ext cx="19650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リスク・コンプライアンス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4574743" y="4646981"/>
            <a:ext cx="3219602" cy="3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権利同意の必須化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音声クローンは法務・倫理リスクが高い。業務利用時は対象者の書面同意をプロセス化する。 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4574743" y="5184571"/>
            <a:ext cx="321960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ログ監査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「誰が・いつ・何を」生成したかのログを保存し、不正利用を追跡可能にする。 </a:t>
            </a:r>
            <a:endParaRPr lang="en-US" sz="9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6543" y="5507812"/>
            <a:ext cx="247802" cy="161849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7546543" y="5507812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[56]</a:t>
            </a:r>
            <a:endParaRPr lang="en-US" sz="800" dirty="0"/>
          </a:p>
        </p:txBody>
      </p:sp>
      <p:sp>
        <p:nvSpPr>
          <p:cNvPr id="37" name="Shape 23"/>
          <p:cNvSpPr/>
          <p:nvPr/>
        </p:nvSpPr>
        <p:spPr>
          <a:xfrm>
            <a:off x="8302752" y="4464101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24"/>
          <p:cNvSpPr/>
          <p:nvPr/>
        </p:nvSpPr>
        <p:spPr>
          <a:xfrm>
            <a:off x="8302752" y="408279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4C7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8402422" y="4167835"/>
            <a:ext cx="105156" cy="13350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702345" y="4120286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品質保証（QA）</a:t>
            </a:r>
            <a:endParaRPr lang="en-US" sz="1200" dirty="0"/>
          </a:p>
        </p:txBody>
      </p:sp>
      <p:sp>
        <p:nvSpPr>
          <p:cNvPr id="42" name="Text 26"/>
          <p:cNvSpPr txBox="1"/>
          <p:nvPr/>
        </p:nvSpPr>
        <p:spPr>
          <a:xfrm>
            <a:off x="8397850" y="4646981"/>
            <a:ext cx="3219602" cy="3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日本語品質の事前試験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モデルによりアクセントや読み間違い（数値・固有名詞）の差が大きい。 </a:t>
            </a:r>
            <a:endParaRPr lang="en-US" sz="900" dirty="0"/>
          </a:p>
        </p:txBody>
      </p:sp>
      <p:sp>
        <p:nvSpPr>
          <p:cNvPr id="44" name="Text 27"/>
          <p:cNvSpPr txBox="1"/>
          <p:nvPr/>
        </p:nvSpPr>
        <p:spPr>
          <a:xfrm>
            <a:off x="8397850" y="5184571"/>
            <a:ext cx="3219602" cy="40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辞書・前処理の標準化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業務特有の用語はユーザー辞書や前処理ルール（正規化）でカバーする義務を課す。 </a:t>
            </a:r>
            <a:endParaRPr lang="en-US" sz="900" dirty="0"/>
          </a:p>
        </p:txBody>
      </p:sp>
      <p:sp>
        <p:nvSpPr>
          <p:cNvPr id="49" name="Text 30"/>
          <p:cNvSpPr txBox="1"/>
          <p:nvPr/>
        </p:nvSpPr>
        <p:spPr>
          <a:xfrm>
            <a:off x="1601114" y="2829154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用途定義</a:t>
            </a:r>
            <a:endParaRPr lang="en-US" sz="1000" dirty="0"/>
          </a:p>
        </p:txBody>
      </p:sp>
      <p:sp>
        <p:nvSpPr>
          <p:cNvPr id="50" name="Text 31"/>
          <p:cNvSpPr txBox="1"/>
          <p:nvPr/>
        </p:nvSpPr>
        <p:spPr>
          <a:xfrm>
            <a:off x="1458468" y="3105302"/>
            <a:ext cx="896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単なる読み上げか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本人性の再現か</a:t>
            </a:r>
            <a:endParaRPr lang="en-US" sz="800" dirty="0"/>
          </a:p>
        </p:txBody>
      </p:sp>
      <p:sp>
        <p:nvSpPr>
          <p:cNvPr id="53" name="Text 33"/>
          <p:cNvSpPr txBox="1"/>
          <p:nvPr/>
        </p:nvSpPr>
        <p:spPr>
          <a:xfrm>
            <a:off x="4327855" y="2829154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モデル選定</a:t>
            </a:r>
            <a:endParaRPr lang="en-US" sz="1000" dirty="0"/>
          </a:p>
        </p:txBody>
      </p:sp>
      <p:sp>
        <p:nvSpPr>
          <p:cNvPr id="54" name="Text 34"/>
          <p:cNvSpPr txBox="1"/>
          <p:nvPr/>
        </p:nvSpPr>
        <p:spPr>
          <a:xfrm>
            <a:off x="4337914" y="3105302"/>
            <a:ext cx="724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軽量(Piper) vs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高品質(XTTS)</a:t>
            </a:r>
            <a:endParaRPr lang="en-US" sz="800" dirty="0"/>
          </a:p>
        </p:txBody>
      </p:sp>
      <p:sp>
        <p:nvSpPr>
          <p:cNvPr id="57" name="Text 36"/>
          <p:cNvSpPr txBox="1"/>
          <p:nvPr/>
        </p:nvSpPr>
        <p:spPr>
          <a:xfrm>
            <a:off x="7121347" y="2829154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リスク判定</a:t>
            </a:r>
            <a:endParaRPr lang="en-US" sz="1000" dirty="0"/>
          </a:p>
        </p:txBody>
      </p:sp>
      <p:sp>
        <p:nvSpPr>
          <p:cNvPr id="58" name="Text 37"/>
          <p:cNvSpPr txBox="1"/>
          <p:nvPr/>
        </p:nvSpPr>
        <p:spPr>
          <a:xfrm>
            <a:off x="7097573" y="3105302"/>
            <a:ext cx="790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声の権利許諾と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ログ監査設計</a:t>
            </a:r>
            <a:endParaRPr lang="en-US" sz="800" dirty="0"/>
          </a:p>
        </p:txBody>
      </p:sp>
      <p:sp>
        <p:nvSpPr>
          <p:cNvPr id="61" name="Text 39"/>
          <p:cNvSpPr txBox="1"/>
          <p:nvPr/>
        </p:nvSpPr>
        <p:spPr>
          <a:xfrm>
            <a:off x="9913925" y="2829154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実装・運用</a:t>
            </a:r>
            <a:endParaRPr lang="en-US" sz="1000" dirty="0"/>
          </a:p>
        </p:txBody>
      </p:sp>
      <p:sp>
        <p:nvSpPr>
          <p:cNvPr id="62" name="Text 40"/>
          <p:cNvSpPr txBox="1"/>
          <p:nvPr/>
        </p:nvSpPr>
        <p:spPr>
          <a:xfrm>
            <a:off x="9800539" y="3105302"/>
            <a:ext cx="972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常駐(CPU) 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オンデマンド(GPU)</a:t>
            </a:r>
            <a:endParaRPr lang="en-US" sz="800" dirty="0"/>
          </a:p>
        </p:txBody>
      </p:sp>
      <p:pic>
        <p:nvPicPr>
          <p:cNvPr id="63" name="Image 6" descr="preencoded.png">
            <a:extLst>
              <a:ext uri="{FF2B5EF4-FFF2-40B4-BE49-F238E27FC236}">
                <a16:creationId xmlns:a16="http://schemas.microsoft.com/office/drawing/2014/main" id="{98C2D64C-A9B9-092C-20F3-E64F88010C0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1468" y="4646981"/>
            <a:ext cx="95098" cy="95098"/>
          </a:xfrm>
          <a:prstGeom prst="rect">
            <a:avLst/>
          </a:prstGeom>
        </p:spPr>
      </p:pic>
      <p:pic>
        <p:nvPicPr>
          <p:cNvPr id="64" name="Image 7" descr="preencoded.png">
            <a:extLst>
              <a:ext uri="{FF2B5EF4-FFF2-40B4-BE49-F238E27FC236}">
                <a16:creationId xmlns:a16="http://schemas.microsoft.com/office/drawing/2014/main" id="{0761FA7B-8F4E-5DB6-8763-82C181A5F12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1468" y="5184571"/>
            <a:ext cx="95098" cy="95098"/>
          </a:xfrm>
          <a:prstGeom prst="rect">
            <a:avLst/>
          </a:prstGeom>
        </p:spPr>
      </p:pic>
      <p:pic>
        <p:nvPicPr>
          <p:cNvPr id="65" name="Image 9" descr="preencoded.png">
            <a:extLst>
              <a:ext uri="{FF2B5EF4-FFF2-40B4-BE49-F238E27FC236}">
                <a16:creationId xmlns:a16="http://schemas.microsoft.com/office/drawing/2014/main" id="{1D97AE11-1CED-8AF0-911A-13F807C6AD5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13660" y="4646981"/>
            <a:ext cx="95098" cy="95098"/>
          </a:xfrm>
          <a:prstGeom prst="rect">
            <a:avLst/>
          </a:prstGeom>
        </p:spPr>
      </p:pic>
      <p:pic>
        <p:nvPicPr>
          <p:cNvPr id="66" name="Image 10" descr="preencoded.png">
            <a:extLst>
              <a:ext uri="{FF2B5EF4-FFF2-40B4-BE49-F238E27FC236}">
                <a16:creationId xmlns:a16="http://schemas.microsoft.com/office/drawing/2014/main" id="{AA61957E-1EE4-7D86-8909-B3B4E489BB9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13660" y="5184571"/>
            <a:ext cx="95098" cy="95098"/>
          </a:xfrm>
          <a:prstGeom prst="rect">
            <a:avLst/>
          </a:prstGeom>
        </p:spPr>
      </p:pic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FE2AADD8-882A-B21E-2937-3DDDC1B2FA6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36766" y="4646981"/>
            <a:ext cx="95098" cy="95098"/>
          </a:xfrm>
          <a:prstGeom prst="rect">
            <a:avLst/>
          </a:prstGeom>
        </p:spPr>
      </p:pic>
      <p:pic>
        <p:nvPicPr>
          <p:cNvPr id="68" name="Image 13" descr="preencoded.png">
            <a:extLst>
              <a:ext uri="{FF2B5EF4-FFF2-40B4-BE49-F238E27FC236}">
                <a16:creationId xmlns:a16="http://schemas.microsoft.com/office/drawing/2014/main" id="{A64AA253-F5DD-F826-6C31-0E91D654B09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36766" y="5184571"/>
            <a:ext cx="95098" cy="95098"/>
          </a:xfrm>
          <a:prstGeom prst="rect">
            <a:avLst/>
          </a:prstGeom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84134D75-8343-EC61-5157-25D23758992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 descr="preencoded.png">
            <a:extLst>
              <a:ext uri="{FF2B5EF4-FFF2-40B4-BE49-F238E27FC236}">
                <a16:creationId xmlns:a16="http://schemas.microsoft.com/office/drawing/2014/main" id="{DC804F0C-912F-5E75-CC96-0D94576F7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3BB7E6AA-760B-4A01-4555-79B5346469AD}"/>
              </a:ext>
            </a:extLst>
          </p:cNvPr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31">
            <a:extLst>
              <a:ext uri="{FF2B5EF4-FFF2-40B4-BE49-F238E27FC236}">
                <a16:creationId xmlns:a16="http://schemas.microsoft.com/office/drawing/2014/main" id="{BE1CD20F-FD9C-7B71-A222-E529F6B85863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5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80" name="円/楕円 79">
            <a:extLst>
              <a:ext uri="{FF2B5EF4-FFF2-40B4-BE49-F238E27FC236}">
                <a16:creationId xmlns:a16="http://schemas.microsoft.com/office/drawing/2014/main" id="{EC6C574D-27A3-836C-4521-E257A2E819A9}"/>
              </a:ext>
            </a:extLst>
          </p:cNvPr>
          <p:cNvSpPr/>
          <p:nvPr/>
        </p:nvSpPr>
        <p:spPr>
          <a:xfrm>
            <a:off x="9534906" y="2141525"/>
            <a:ext cx="456286" cy="457200"/>
          </a:xfrm>
          <a:prstGeom prst="ellipse">
            <a:avLst/>
          </a:prstGeom>
          <a:solidFill>
            <a:srgbClr val="575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円/楕円 78">
            <a:extLst>
              <a:ext uri="{FF2B5EF4-FFF2-40B4-BE49-F238E27FC236}">
                <a16:creationId xmlns:a16="http://schemas.microsoft.com/office/drawing/2014/main" id="{F2403B85-8534-4B88-74B5-7DAC61C5F78D}"/>
              </a:ext>
            </a:extLst>
          </p:cNvPr>
          <p:cNvSpPr/>
          <p:nvPr/>
        </p:nvSpPr>
        <p:spPr>
          <a:xfrm>
            <a:off x="5868162" y="2067459"/>
            <a:ext cx="456286" cy="457200"/>
          </a:xfrm>
          <a:prstGeom prst="ellipse">
            <a:avLst/>
          </a:prstGeom>
          <a:solidFill>
            <a:srgbClr val="33C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Text 31"/>
          <p:cNvSpPr/>
          <p:nvPr/>
        </p:nvSpPr>
        <p:spPr>
          <a:xfrm>
            <a:off x="5867246" y="2066240"/>
            <a:ext cx="456286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78" name="円/楕円 77">
            <a:extLst>
              <a:ext uri="{FF2B5EF4-FFF2-40B4-BE49-F238E27FC236}">
                <a16:creationId xmlns:a16="http://schemas.microsoft.com/office/drawing/2014/main" id="{9744A226-820E-13CB-AB06-FE7F15E1AF5C}"/>
              </a:ext>
            </a:extLst>
          </p:cNvPr>
          <p:cNvSpPr/>
          <p:nvPr/>
        </p:nvSpPr>
        <p:spPr>
          <a:xfrm>
            <a:off x="2201418" y="2067459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Text 28"/>
          <p:cNvSpPr/>
          <p:nvPr/>
        </p:nvSpPr>
        <p:spPr>
          <a:xfrm>
            <a:off x="2201418" y="2066240"/>
            <a:ext cx="456286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53" name="Text 34"/>
          <p:cNvSpPr/>
          <p:nvPr/>
        </p:nvSpPr>
        <p:spPr>
          <a:xfrm>
            <a:off x="9496044" y="2103120"/>
            <a:ext cx="53401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091E79C4-BD8B-4240-087B-7BA005903D79}"/>
              </a:ext>
            </a:extLst>
          </p:cNvPr>
          <p:cNvSpPr/>
          <p:nvPr/>
        </p:nvSpPr>
        <p:spPr>
          <a:xfrm>
            <a:off x="457200" y="1828800"/>
            <a:ext cx="11277295" cy="1752905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E74854AF-CB95-D846-508A-7D6B6F19BFC8}"/>
              </a:ext>
            </a:extLst>
          </p:cNvPr>
          <p:cNvSpPr/>
          <p:nvPr/>
        </p:nvSpPr>
        <p:spPr>
          <a:xfrm>
            <a:off x="457200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AB9DA8FA-58B8-9CB3-9096-57507F99F479}"/>
              </a:ext>
            </a:extLst>
          </p:cNvPr>
          <p:cNvSpPr/>
          <p:nvPr/>
        </p:nvSpPr>
        <p:spPr>
          <a:xfrm>
            <a:off x="4280306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249D092F-7BD2-A661-7A3D-C5EA83DAB68F}"/>
              </a:ext>
            </a:extLst>
          </p:cNvPr>
          <p:cNvSpPr/>
          <p:nvPr/>
        </p:nvSpPr>
        <p:spPr>
          <a:xfrm>
            <a:off x="8102498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43230"/>
            <a:ext cx="26700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5995" y="176479"/>
            <a:ext cx="53400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採用判断基準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（Embedding / Reranker）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61518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検索精度と運用安定化のための二段構え設計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457200" y="990295"/>
            <a:ext cx="11277295" cy="571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877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結論：Embeddingで網羅性(Recall)を確保し、Rerankerで精度(Precision)を上げる「二段構え」が実務的な最適解です。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4200754" y="2446934"/>
            <a:ext cx="123444" cy="19019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7867498" y="2446934"/>
            <a:ext cx="123444" cy="19019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7454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1"/>
          <p:cNvSpPr/>
          <p:nvPr/>
        </p:nvSpPr>
        <p:spPr>
          <a:xfrm>
            <a:off x="657454" y="409376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4179722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7046" y="4132174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運用の安定化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752551" y="464698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前計算（夜間バッチ）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検索対象文書のEmbedding化やOCR処理は夜間にバッチ実行し、日中の計算資源をLLMの応答生成に集中させる。 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752551" y="518457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インデックス更新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頻繁な更新が必要ない場合は、静的インデックスとして管理し、運用負荷を下げる。 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4479646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7"/>
          <p:cNvSpPr/>
          <p:nvPr/>
        </p:nvSpPr>
        <p:spPr>
          <a:xfrm>
            <a:off x="4479646" y="409376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3B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5599" y="4179722"/>
            <a:ext cx="133502" cy="13350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880153" y="413217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失敗パターンと回避策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4574743" y="464698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検索が外れる（Recall不足）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回避策：文書の前処理（チャンク分割）を見直す、またはHybrid検索（キーワード検索併用）を導入する。 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4574743" y="518457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上位文書の関連度が弱い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回避策：Rerankerを導入して上位の並び順を補正し、LLMに渡すノイズを減らす。 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8302752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3"/>
          <p:cNvSpPr/>
          <p:nvPr/>
        </p:nvSpPr>
        <p:spPr>
          <a:xfrm>
            <a:off x="8302752" y="409376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4C7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88706" y="4179722"/>
            <a:ext cx="133502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702345" y="4132174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文脈長対策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8397850" y="464698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文脈が長すぎる失敗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検索結果を詰め込みすぎるとLLMの「Lost in the Middle」現象やメモリ枯渇を招く。 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8397850" y="5184571"/>
            <a:ext cx="3219602" cy="40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Rerankerでの絞り込み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Rerankerでスコアの低い文書を大胆にカットし、LLMには「確度の高い少数精鋭」のコンテキストを渡す。 </a:t>
            </a:r>
            <a:endParaRPr lang="en-US" sz="900" dirty="0"/>
          </a:p>
        </p:txBody>
      </p:sp>
      <p:sp>
        <p:nvSpPr>
          <p:cNvPr id="46" name="Text 29"/>
          <p:cNvSpPr txBox="1"/>
          <p:nvPr/>
        </p:nvSpPr>
        <p:spPr>
          <a:xfrm>
            <a:off x="1961388" y="2638044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47" name="Text 30"/>
          <p:cNvSpPr txBox="1"/>
          <p:nvPr/>
        </p:nvSpPr>
        <p:spPr>
          <a:xfrm>
            <a:off x="1733702" y="2943454"/>
            <a:ext cx="1441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広く候補を取得 (Recall重視)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BGE-M3 / E5</a:t>
            </a:r>
            <a:endParaRPr lang="en-US" sz="900" dirty="0"/>
          </a:p>
        </p:txBody>
      </p:sp>
      <p:sp>
        <p:nvSpPr>
          <p:cNvPr id="50" name="Text 32"/>
          <p:cNvSpPr txBox="1"/>
          <p:nvPr/>
        </p:nvSpPr>
        <p:spPr>
          <a:xfrm>
            <a:off x="5706770" y="2638044"/>
            <a:ext cx="783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Reranker</a:t>
            </a:r>
            <a:endParaRPr lang="en-US" sz="1200" dirty="0"/>
          </a:p>
        </p:txBody>
      </p:sp>
      <p:sp>
        <p:nvSpPr>
          <p:cNvPr id="51" name="Text 33"/>
          <p:cNvSpPr txBox="1"/>
          <p:nvPr/>
        </p:nvSpPr>
        <p:spPr>
          <a:xfrm>
            <a:off x="5400446" y="2943454"/>
            <a:ext cx="13908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上位を厳選 (Precision重視)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bge-reranker</a:t>
            </a:r>
            <a:endParaRPr lang="en-US" sz="900" dirty="0"/>
          </a:p>
        </p:txBody>
      </p:sp>
      <p:sp>
        <p:nvSpPr>
          <p:cNvPr id="54" name="Text 35"/>
          <p:cNvSpPr txBox="1"/>
          <p:nvPr/>
        </p:nvSpPr>
        <p:spPr>
          <a:xfrm>
            <a:off x="9419234" y="2713025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LLM生成</a:t>
            </a:r>
            <a:endParaRPr lang="en-US" sz="1200" dirty="0"/>
          </a:p>
        </p:txBody>
      </p:sp>
      <p:sp>
        <p:nvSpPr>
          <p:cNvPr id="55" name="Text 36"/>
          <p:cNvSpPr txBox="1"/>
          <p:nvPr/>
        </p:nvSpPr>
        <p:spPr>
          <a:xfrm>
            <a:off x="9163202" y="3017520"/>
            <a:ext cx="1209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精度の高い文脈で回答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(幻覚抑制)</a:t>
            </a:r>
            <a:endParaRPr lang="en-US" sz="900" dirty="0"/>
          </a:p>
        </p:txBody>
      </p:sp>
      <p:pic>
        <p:nvPicPr>
          <p:cNvPr id="71" name="Image 6" descr="preencoded.png">
            <a:extLst>
              <a:ext uri="{FF2B5EF4-FFF2-40B4-BE49-F238E27FC236}">
                <a16:creationId xmlns:a16="http://schemas.microsoft.com/office/drawing/2014/main" id="{44624D88-344A-36CD-E993-22046D837A7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468" y="4646981"/>
            <a:ext cx="95098" cy="95098"/>
          </a:xfrm>
          <a:prstGeom prst="rect">
            <a:avLst/>
          </a:prstGeom>
        </p:spPr>
      </p:pic>
      <p:pic>
        <p:nvPicPr>
          <p:cNvPr id="72" name="Image 7" descr="preencoded.png">
            <a:extLst>
              <a:ext uri="{FF2B5EF4-FFF2-40B4-BE49-F238E27FC236}">
                <a16:creationId xmlns:a16="http://schemas.microsoft.com/office/drawing/2014/main" id="{8EA8A353-BAA6-DB0E-2638-B00FC29F09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468" y="5184571"/>
            <a:ext cx="95098" cy="95098"/>
          </a:xfrm>
          <a:prstGeom prst="rect">
            <a:avLst/>
          </a:prstGeom>
        </p:spPr>
      </p:pic>
      <p:pic>
        <p:nvPicPr>
          <p:cNvPr id="73" name="Image 9" descr="preencoded.png">
            <a:extLst>
              <a:ext uri="{FF2B5EF4-FFF2-40B4-BE49-F238E27FC236}">
                <a16:creationId xmlns:a16="http://schemas.microsoft.com/office/drawing/2014/main" id="{12DDBC36-2FD9-218B-EFDF-93D0F45C133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13660" y="4646981"/>
            <a:ext cx="95098" cy="95098"/>
          </a:xfrm>
          <a:prstGeom prst="rect">
            <a:avLst/>
          </a:prstGeom>
        </p:spPr>
      </p:pic>
      <p:pic>
        <p:nvPicPr>
          <p:cNvPr id="74" name="Image 10" descr="preencoded.png">
            <a:extLst>
              <a:ext uri="{FF2B5EF4-FFF2-40B4-BE49-F238E27FC236}">
                <a16:creationId xmlns:a16="http://schemas.microsoft.com/office/drawing/2014/main" id="{8E8F1E60-5E99-2F21-893B-31C376BD6A1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13660" y="5184571"/>
            <a:ext cx="95098" cy="95098"/>
          </a:xfrm>
          <a:prstGeom prst="rect">
            <a:avLst/>
          </a:prstGeom>
        </p:spPr>
      </p:pic>
      <p:pic>
        <p:nvPicPr>
          <p:cNvPr id="75" name="Image 12" descr="preencoded.png">
            <a:extLst>
              <a:ext uri="{FF2B5EF4-FFF2-40B4-BE49-F238E27FC236}">
                <a16:creationId xmlns:a16="http://schemas.microsoft.com/office/drawing/2014/main" id="{BCBA460F-BCFB-EF1C-73D2-44FA9264FF5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36766" y="4646981"/>
            <a:ext cx="95098" cy="95098"/>
          </a:xfrm>
          <a:prstGeom prst="rect">
            <a:avLst/>
          </a:prstGeom>
        </p:spPr>
      </p:pic>
      <p:pic>
        <p:nvPicPr>
          <p:cNvPr id="76" name="Image 13" descr="preencoded.png">
            <a:extLst>
              <a:ext uri="{FF2B5EF4-FFF2-40B4-BE49-F238E27FC236}">
                <a16:creationId xmlns:a16="http://schemas.microsoft.com/office/drawing/2014/main" id="{B6BB7CEB-EB02-B0C8-6B8D-3D483D5AF50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36766" y="5184571"/>
            <a:ext cx="95098" cy="95098"/>
          </a:xfrm>
          <a:prstGeom prst="rect">
            <a:avLst/>
          </a:prstGeom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C79607E5-04D7-9894-3054-82B9975C946F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 descr="preencoded.png">
            <a:extLst>
              <a:ext uri="{FF2B5EF4-FFF2-40B4-BE49-F238E27FC236}">
                <a16:creationId xmlns:a16="http://schemas.microsoft.com/office/drawing/2014/main" id="{153EAF95-D308-3C34-EB7D-1854A3EF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D4B1A8C5-535B-CB60-7F48-190337B88185}"/>
              </a:ext>
            </a:extLst>
          </p:cNvPr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6" name="Text 31">
            <a:extLst>
              <a:ext uri="{FF2B5EF4-FFF2-40B4-BE49-F238E27FC236}">
                <a16:creationId xmlns:a16="http://schemas.microsoft.com/office/drawing/2014/main" id="{5E57C585-18FE-FECA-2F82-A016CE0AEEB7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6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98" name="円/楕円 97">
            <a:extLst>
              <a:ext uri="{FF2B5EF4-FFF2-40B4-BE49-F238E27FC236}">
                <a16:creationId xmlns:a16="http://schemas.microsoft.com/office/drawing/2014/main" id="{922164F8-BAE9-49BB-E45C-D0F59E5D1908}"/>
              </a:ext>
            </a:extLst>
          </p:cNvPr>
          <p:cNvSpPr/>
          <p:nvPr/>
        </p:nvSpPr>
        <p:spPr>
          <a:xfrm>
            <a:off x="1398118" y="202905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円/楕円 98">
            <a:extLst>
              <a:ext uri="{FF2B5EF4-FFF2-40B4-BE49-F238E27FC236}">
                <a16:creationId xmlns:a16="http://schemas.microsoft.com/office/drawing/2014/main" id="{508E0432-1D74-45B5-2EAB-B6875E16A16B}"/>
              </a:ext>
            </a:extLst>
          </p:cNvPr>
          <p:cNvSpPr/>
          <p:nvPr/>
        </p:nvSpPr>
        <p:spPr>
          <a:xfrm>
            <a:off x="3632911" y="202905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円/楕円 99">
            <a:extLst>
              <a:ext uri="{FF2B5EF4-FFF2-40B4-BE49-F238E27FC236}">
                <a16:creationId xmlns:a16="http://schemas.microsoft.com/office/drawing/2014/main" id="{F898277C-A02A-CDDE-AD5F-58132064AF0C}"/>
              </a:ext>
            </a:extLst>
          </p:cNvPr>
          <p:cNvSpPr/>
          <p:nvPr/>
        </p:nvSpPr>
        <p:spPr>
          <a:xfrm>
            <a:off x="5867705" y="2029054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>
            <a:extLst>
              <a:ext uri="{FF2B5EF4-FFF2-40B4-BE49-F238E27FC236}">
                <a16:creationId xmlns:a16="http://schemas.microsoft.com/office/drawing/2014/main" id="{F9074C19-FC57-E0B6-A5A6-B4CA1FAE8803}"/>
              </a:ext>
            </a:extLst>
          </p:cNvPr>
          <p:cNvSpPr/>
          <p:nvPr/>
        </p:nvSpPr>
        <p:spPr>
          <a:xfrm>
            <a:off x="8101584" y="2029054"/>
            <a:ext cx="456286" cy="457200"/>
          </a:xfrm>
          <a:prstGeom prst="ellipse">
            <a:avLst/>
          </a:prstGeom>
          <a:solidFill>
            <a:srgbClr val="33C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円/楕円 101">
            <a:extLst>
              <a:ext uri="{FF2B5EF4-FFF2-40B4-BE49-F238E27FC236}">
                <a16:creationId xmlns:a16="http://schemas.microsoft.com/office/drawing/2014/main" id="{6CB94FE1-5D7F-98ED-F86E-630E8ACA534E}"/>
              </a:ext>
            </a:extLst>
          </p:cNvPr>
          <p:cNvSpPr/>
          <p:nvPr/>
        </p:nvSpPr>
        <p:spPr>
          <a:xfrm>
            <a:off x="10336378" y="2029054"/>
            <a:ext cx="456286" cy="457200"/>
          </a:xfrm>
          <a:prstGeom prst="ellipse">
            <a:avLst/>
          </a:prstGeom>
          <a:solidFill>
            <a:srgbClr val="FF9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 28"/>
          <p:cNvSpPr/>
          <p:nvPr/>
        </p:nvSpPr>
        <p:spPr>
          <a:xfrm>
            <a:off x="1398118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31"/>
          <p:cNvSpPr/>
          <p:nvPr/>
        </p:nvSpPr>
        <p:spPr>
          <a:xfrm>
            <a:off x="3632911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55" name="Text 34"/>
          <p:cNvSpPr/>
          <p:nvPr/>
        </p:nvSpPr>
        <p:spPr>
          <a:xfrm>
            <a:off x="5867705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59" name="Text 37"/>
          <p:cNvSpPr/>
          <p:nvPr/>
        </p:nvSpPr>
        <p:spPr>
          <a:xfrm>
            <a:off x="8101584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63" name="Text 40"/>
          <p:cNvSpPr/>
          <p:nvPr/>
        </p:nvSpPr>
        <p:spPr>
          <a:xfrm>
            <a:off x="10336378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99B6B9D2-FCB7-9F6E-0E33-2EDC9D14F119}"/>
              </a:ext>
            </a:extLst>
          </p:cNvPr>
          <p:cNvSpPr/>
          <p:nvPr/>
        </p:nvSpPr>
        <p:spPr>
          <a:xfrm>
            <a:off x="457200" y="1828800"/>
            <a:ext cx="11277295" cy="1752905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2B83A99C-9094-D5AC-5CF1-C56057957F5C}"/>
              </a:ext>
            </a:extLst>
          </p:cNvPr>
          <p:cNvSpPr/>
          <p:nvPr/>
        </p:nvSpPr>
        <p:spPr>
          <a:xfrm>
            <a:off x="457200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64BA8EBD-73F0-6C26-BFC4-3D5335D34B1E}"/>
              </a:ext>
            </a:extLst>
          </p:cNvPr>
          <p:cNvSpPr/>
          <p:nvPr/>
        </p:nvSpPr>
        <p:spPr>
          <a:xfrm>
            <a:off x="4280306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21">
            <a:extLst>
              <a:ext uri="{FF2B5EF4-FFF2-40B4-BE49-F238E27FC236}">
                <a16:creationId xmlns:a16="http://schemas.microsoft.com/office/drawing/2014/main" id="{98580E47-6E6F-0E97-255E-CA2F300BDC79}"/>
              </a:ext>
            </a:extLst>
          </p:cNvPr>
          <p:cNvSpPr/>
          <p:nvPr/>
        </p:nvSpPr>
        <p:spPr>
          <a:xfrm>
            <a:off x="8102498" y="3882542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1"/>
          <p:cNvSpPr/>
          <p:nvPr/>
        </p:nvSpPr>
        <p:spPr>
          <a:xfrm>
            <a:off x="657454" y="409519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7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4181145"/>
            <a:ext cx="133502" cy="13350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57046" y="4133596"/>
            <a:ext cx="1163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前処理の標準化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4479646" y="409519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4C7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4556455" y="4181145"/>
            <a:ext cx="152705" cy="1335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880153" y="413359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高品質方針：ハイブリッド</a:t>
            </a:r>
            <a:endParaRPr lang="en-US" sz="1200" dirty="0"/>
          </a:p>
        </p:txBody>
      </p:sp>
      <p:sp>
        <p:nvSpPr>
          <p:cNvPr id="37" name="Shape 23"/>
          <p:cNvSpPr/>
          <p:nvPr/>
        </p:nvSpPr>
        <p:spPr>
          <a:xfrm>
            <a:off x="8302752" y="409519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9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369503" y="4181145"/>
            <a:ext cx="171907" cy="133502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8702345" y="4133596"/>
            <a:ext cx="1049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UX要件と運用</a:t>
            </a:r>
            <a:endParaRPr lang="en-US" sz="1200" dirty="0"/>
          </a:p>
        </p:txBody>
      </p:sp>
      <p:sp>
        <p:nvSpPr>
          <p:cNvPr id="85" name="Shape 10">
            <a:extLst>
              <a:ext uri="{FF2B5EF4-FFF2-40B4-BE49-F238E27FC236}">
                <a16:creationId xmlns:a16="http://schemas.microsoft.com/office/drawing/2014/main" id="{365339F2-226E-AC07-8035-AC27AF279BE5}"/>
              </a:ext>
            </a:extLst>
          </p:cNvPr>
          <p:cNvSpPr/>
          <p:nvPr/>
        </p:nvSpPr>
        <p:spPr>
          <a:xfrm>
            <a:off x="657454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DBCF955E-C2DA-5BBC-70F4-64014E6AD546}"/>
              </a:ext>
            </a:extLst>
          </p:cNvPr>
          <p:cNvSpPr/>
          <p:nvPr/>
        </p:nvSpPr>
        <p:spPr>
          <a:xfrm>
            <a:off x="4479646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Shape 22">
            <a:extLst>
              <a:ext uri="{FF2B5EF4-FFF2-40B4-BE49-F238E27FC236}">
                <a16:creationId xmlns:a16="http://schemas.microsoft.com/office/drawing/2014/main" id="{517FD12A-910B-6408-2B0D-0FB8A5F947A0}"/>
              </a:ext>
            </a:extLst>
          </p:cNvPr>
          <p:cNvSpPr/>
          <p:nvPr/>
        </p:nvSpPr>
        <p:spPr>
          <a:xfrm>
            <a:off x="8302752" y="4475074"/>
            <a:ext cx="3238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243230"/>
            <a:ext cx="200254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9244" y="176479"/>
            <a:ext cx="418246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OCR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/Document AI採用判断基準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489290" y="261518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リスク緩和のためのUX要件とハイブリッド構成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457200" y="990295"/>
            <a:ext cx="11277295" cy="571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" y="1143000"/>
            <a:ext cx="10954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結論：誤読リスクをゼロにはできない前提で、前処理の標準化と「原文引用」による人間系確認のUXを要件化します。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2691994" y="2348179"/>
            <a:ext cx="105156" cy="1719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4926787" y="2348179"/>
            <a:ext cx="105156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7160666" y="2348179"/>
            <a:ext cx="105156" cy="171907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9395460" y="2348179"/>
            <a:ext cx="105156" cy="17190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52551" y="4646981"/>
            <a:ext cx="3219602" cy="4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品質の下限を担保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傾き補正、ノイズ除去、二値化をOCR前段に固定的に組み込むことで、認識精度のベースラインを確保。 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752551" y="5184571"/>
            <a:ext cx="3219602" cy="4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画像の正規化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解像度やコントラストのバラつきを抑え、モデルの得意な入力形式に合わせる。 </a:t>
            </a:r>
            <a:endParaRPr lang="en-US" sz="900" dirty="0"/>
          </a:p>
        </p:txBody>
      </p:sp>
      <p:sp>
        <p:nvSpPr>
          <p:cNvPr id="32" name="Text 19"/>
          <p:cNvSpPr txBox="1"/>
          <p:nvPr/>
        </p:nvSpPr>
        <p:spPr>
          <a:xfrm>
            <a:off x="4574743" y="4646981"/>
            <a:ext cx="3219602" cy="545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構造化とレイアウト保持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PaddleOCRでテキスト構造化を行い、Donut/LayoutLMv3でレイアウト情報を保持してRAG連携精度を高める。 </a:t>
            </a:r>
            <a:endParaRPr lang="en-US" sz="900" dirty="0"/>
          </a:p>
        </p:txBody>
      </p:sp>
      <p:sp>
        <p:nvSpPr>
          <p:cNvPr id="34" name="Text 20"/>
          <p:cNvSpPr txBox="1"/>
          <p:nvPr/>
        </p:nvSpPr>
        <p:spPr>
          <a:xfrm>
            <a:off x="4574743" y="5184571"/>
            <a:ext cx="3219602" cy="4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図表・UIへの対応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複雑な図表やUIスクショはVLMとOCRを併用し、視覚情報と文字情報を相互補完させて堅牢化する。 </a:t>
            </a:r>
            <a:endParaRPr lang="en-US" sz="900" dirty="0"/>
          </a:p>
        </p:txBody>
      </p:sp>
      <p:sp>
        <p:nvSpPr>
          <p:cNvPr id="41" name="Text 25"/>
          <p:cNvSpPr txBox="1"/>
          <p:nvPr/>
        </p:nvSpPr>
        <p:spPr>
          <a:xfrm>
            <a:off x="8397850" y="4646981"/>
            <a:ext cx="3219602" cy="4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原文スニペット引用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AI回答の根拠となった原文箇所（画像切り出し等）を提示し、ユーザーが誤読を検証できるUXを必須化。 </a:t>
            </a:r>
            <a:endParaRPr lang="en-US" sz="900" dirty="0"/>
          </a:p>
        </p:txBody>
      </p:sp>
      <p:sp>
        <p:nvSpPr>
          <p:cNvPr id="43" name="Text 26"/>
          <p:cNvSpPr txBox="1"/>
          <p:nvPr/>
        </p:nvSpPr>
        <p:spPr>
          <a:xfrm>
            <a:off x="8397850" y="5184571"/>
            <a:ext cx="3219602" cy="41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夜間バッチへのオフロード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重いOCR/Embedding処理は夜間に回し、日中のリソースは検索と短い回答生成に集中させる。 </a:t>
            </a:r>
            <a:endParaRPr lang="en-US" sz="900" dirty="0"/>
          </a:p>
        </p:txBody>
      </p:sp>
      <p:sp>
        <p:nvSpPr>
          <p:cNvPr id="48" name="Text 29"/>
          <p:cNvSpPr txBox="1"/>
          <p:nvPr/>
        </p:nvSpPr>
        <p:spPr>
          <a:xfrm>
            <a:off x="1322222" y="2562149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品質評価</a:t>
            </a:r>
            <a:endParaRPr lang="en-US" sz="1000" dirty="0"/>
          </a:p>
        </p:txBody>
      </p:sp>
      <p:sp>
        <p:nvSpPr>
          <p:cNvPr id="49" name="Text 30"/>
          <p:cNvSpPr txBox="1"/>
          <p:nvPr/>
        </p:nvSpPr>
        <p:spPr>
          <a:xfrm>
            <a:off x="1022299" y="2838298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スキャン品質と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レイアウト複雑度を確認</a:t>
            </a:r>
            <a:endParaRPr lang="en-US" sz="800" dirty="0"/>
          </a:p>
        </p:txBody>
      </p:sp>
      <p:sp>
        <p:nvSpPr>
          <p:cNvPr id="52" name="Text 32"/>
          <p:cNvSpPr txBox="1"/>
          <p:nvPr/>
        </p:nvSpPr>
        <p:spPr>
          <a:xfrm>
            <a:off x="3622853" y="2562149"/>
            <a:ext cx="476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前処理</a:t>
            </a:r>
            <a:endParaRPr lang="en-US" sz="1000" dirty="0"/>
          </a:p>
        </p:txBody>
      </p:sp>
      <p:sp>
        <p:nvSpPr>
          <p:cNvPr id="53" name="Text 33"/>
          <p:cNvSpPr txBox="1"/>
          <p:nvPr/>
        </p:nvSpPr>
        <p:spPr>
          <a:xfrm>
            <a:off x="3361334" y="2838298"/>
            <a:ext cx="1000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傾き補正・二値化の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標準パイプライン化</a:t>
            </a:r>
            <a:endParaRPr lang="en-US" sz="800" dirty="0"/>
          </a:p>
        </p:txBody>
      </p:sp>
      <p:sp>
        <p:nvSpPr>
          <p:cNvPr id="56" name="Text 35"/>
          <p:cNvSpPr txBox="1"/>
          <p:nvPr/>
        </p:nvSpPr>
        <p:spPr>
          <a:xfrm>
            <a:off x="5724144" y="2562149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モデル選択</a:t>
            </a:r>
            <a:endParaRPr lang="en-US" sz="1000" dirty="0"/>
          </a:p>
        </p:txBody>
      </p:sp>
      <p:sp>
        <p:nvSpPr>
          <p:cNvPr id="57" name="Text 36"/>
          <p:cNvSpPr txBox="1"/>
          <p:nvPr/>
        </p:nvSpPr>
        <p:spPr>
          <a:xfrm>
            <a:off x="5589727" y="2838298"/>
            <a:ext cx="1019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PaddleOCR(構造化)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+Donut(レイアウト)</a:t>
            </a:r>
            <a:endParaRPr lang="en-US" sz="800" dirty="0"/>
          </a:p>
        </p:txBody>
      </p:sp>
      <p:sp>
        <p:nvSpPr>
          <p:cNvPr id="60" name="Text 38"/>
          <p:cNvSpPr txBox="1"/>
          <p:nvPr/>
        </p:nvSpPr>
        <p:spPr>
          <a:xfrm>
            <a:off x="8001914" y="2562149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UX要件化</a:t>
            </a:r>
            <a:endParaRPr lang="en-US" sz="1000" dirty="0"/>
          </a:p>
        </p:txBody>
      </p:sp>
      <p:sp>
        <p:nvSpPr>
          <p:cNvPr id="61" name="Text 39"/>
          <p:cNvSpPr txBox="1"/>
          <p:nvPr/>
        </p:nvSpPr>
        <p:spPr>
          <a:xfrm>
            <a:off x="7777886" y="2838298"/>
            <a:ext cx="1105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原文スニペット表示で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誤読リスクを緩和</a:t>
            </a:r>
            <a:endParaRPr lang="en-US" sz="800" dirty="0"/>
          </a:p>
        </p:txBody>
      </p:sp>
      <p:sp>
        <p:nvSpPr>
          <p:cNvPr id="64" name="Text 41"/>
          <p:cNvSpPr txBox="1"/>
          <p:nvPr/>
        </p:nvSpPr>
        <p:spPr>
          <a:xfrm>
            <a:off x="10260482" y="2562149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運用設計</a:t>
            </a:r>
            <a:endParaRPr lang="en-US" sz="1000" dirty="0"/>
          </a:p>
        </p:txBody>
      </p:sp>
      <p:sp>
        <p:nvSpPr>
          <p:cNvPr id="65" name="Text 42"/>
          <p:cNvSpPr txBox="1"/>
          <p:nvPr/>
        </p:nvSpPr>
        <p:spPr>
          <a:xfrm>
            <a:off x="10076688" y="2838298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OCR/Embeddingは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夜間バッチ処理へ</a:t>
            </a:r>
            <a:endParaRPr lang="en-US" sz="800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2EC42DA8-20B5-ED46-D2BF-4875E8F6A0E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468" y="4646981"/>
            <a:ext cx="95098" cy="95098"/>
          </a:xfrm>
          <a:prstGeom prst="rect">
            <a:avLst/>
          </a:prstGeom>
        </p:spPr>
      </p:pic>
      <p:pic>
        <p:nvPicPr>
          <p:cNvPr id="73" name="Image 7" descr="preencoded.png">
            <a:extLst>
              <a:ext uri="{FF2B5EF4-FFF2-40B4-BE49-F238E27FC236}">
                <a16:creationId xmlns:a16="http://schemas.microsoft.com/office/drawing/2014/main" id="{B6D9323F-0710-5492-30FB-0D00BF89F03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468" y="5184571"/>
            <a:ext cx="95098" cy="95098"/>
          </a:xfrm>
          <a:prstGeom prst="rect">
            <a:avLst/>
          </a:prstGeom>
        </p:spPr>
      </p:pic>
      <p:pic>
        <p:nvPicPr>
          <p:cNvPr id="74" name="Image 9" descr="preencoded.png">
            <a:extLst>
              <a:ext uri="{FF2B5EF4-FFF2-40B4-BE49-F238E27FC236}">
                <a16:creationId xmlns:a16="http://schemas.microsoft.com/office/drawing/2014/main" id="{C6E8788F-68A6-4929-35A1-F0E72F16D11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13660" y="4646981"/>
            <a:ext cx="95098" cy="95098"/>
          </a:xfrm>
          <a:prstGeom prst="rect">
            <a:avLst/>
          </a:prstGeom>
        </p:spPr>
      </p:pic>
      <p:pic>
        <p:nvPicPr>
          <p:cNvPr id="75" name="Image 10" descr="preencoded.png">
            <a:extLst>
              <a:ext uri="{FF2B5EF4-FFF2-40B4-BE49-F238E27FC236}">
                <a16:creationId xmlns:a16="http://schemas.microsoft.com/office/drawing/2014/main" id="{C87699DA-A936-10A5-2208-24D60C9615B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13660" y="5184571"/>
            <a:ext cx="95098" cy="95098"/>
          </a:xfrm>
          <a:prstGeom prst="rect">
            <a:avLst/>
          </a:prstGeom>
        </p:spPr>
      </p:pic>
      <p:pic>
        <p:nvPicPr>
          <p:cNvPr id="76" name="Image 12" descr="preencoded.png">
            <a:extLst>
              <a:ext uri="{FF2B5EF4-FFF2-40B4-BE49-F238E27FC236}">
                <a16:creationId xmlns:a16="http://schemas.microsoft.com/office/drawing/2014/main" id="{807070AF-952E-9430-256C-8062EBEF9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36766" y="4646981"/>
            <a:ext cx="95098" cy="95098"/>
          </a:xfrm>
          <a:prstGeom prst="rect">
            <a:avLst/>
          </a:prstGeom>
        </p:spPr>
      </p:pic>
      <p:pic>
        <p:nvPicPr>
          <p:cNvPr id="77" name="Image 13" descr="preencoded.png">
            <a:extLst>
              <a:ext uri="{FF2B5EF4-FFF2-40B4-BE49-F238E27FC236}">
                <a16:creationId xmlns:a16="http://schemas.microsoft.com/office/drawing/2014/main" id="{2EDB70BA-6914-2B2D-9EBA-A6D85C5D455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36766" y="5184571"/>
            <a:ext cx="95098" cy="95098"/>
          </a:xfrm>
          <a:prstGeom prst="rect">
            <a:avLst/>
          </a:prstGeom>
        </p:spPr>
      </p:pic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1A43159F-7029-72FF-7BA7-A47F28E88E6D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967</Words>
  <Application>Microsoft Macintosh PowerPoint</Application>
  <PresentationFormat>ワイド画面</PresentationFormat>
  <Paragraphs>207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5</cp:revision>
  <dcterms:created xsi:type="dcterms:W3CDTF">2026-02-15T07:19:24Z</dcterms:created>
  <dcterms:modified xsi:type="dcterms:W3CDTF">2026-02-25T12:04:45Z</dcterms:modified>
</cp:coreProperties>
</file>