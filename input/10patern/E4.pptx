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32" r:id="rId2"/>
    <p:sldId id="33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05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2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C98448-9408-3EDD-2544-DCCB524E8CE3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Text 31">
            <a:extLst>
              <a:ext uri="{FF2B5EF4-FFF2-40B4-BE49-F238E27FC236}">
                <a16:creationId xmlns:a16="http://schemas.microsoft.com/office/drawing/2014/main" id="{1B06B0B7-EE0B-81A4-6719-593AD2E6F5AA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124" name="Image 0" descr="preencoded.png">
            <a:extLst>
              <a:ext uri="{FF2B5EF4-FFF2-40B4-BE49-F238E27FC236}">
                <a16:creationId xmlns:a16="http://schemas.microsoft.com/office/drawing/2014/main" id="{79929632-C1E2-AA59-004C-EDB024DA0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-1" y="0"/>
            <a:ext cx="12191695" cy="1050646"/>
          </a:xfrm>
          <a:prstGeom prst="rect">
            <a:avLst/>
          </a:prstGeom>
        </p:spPr>
      </p:pic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457200" y="386792"/>
            <a:ext cx="237744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9244" y="329642"/>
            <a:ext cx="48849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References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（参考文献リスト</a:t>
            </a: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1/4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753551" y="395935"/>
            <a:ext cx="3554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Technical Research Report Sources [1-34]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44749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72455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533095" y="150510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952805" y="1514246"/>
            <a:ext cx="3762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https://www.apple.com/newsroom/2020/11/apple-unleashes-m1/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180776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208483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533095" y="1865376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52805" y="1874520"/>
            <a:ext cx="3762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https://docs.openhands.dev/openhands/usage/llms/local-llms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" y="216804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244510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 txBox="1"/>
          <p:nvPr/>
        </p:nvSpPr>
        <p:spPr>
          <a:xfrm>
            <a:off x="533095" y="222473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952805" y="2234794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https://lmstudio.ai/docs/developer/core/server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252740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280446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 txBox="1"/>
          <p:nvPr/>
        </p:nvSpPr>
        <p:spPr>
          <a:xfrm>
            <a:off x="533095" y="258500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952805" y="2594153"/>
            <a:ext cx="210037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https://arxiv.org/abs/2306.00978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7200" y="288767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16473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 txBox="1"/>
          <p:nvPr/>
        </p:nvSpPr>
        <p:spPr>
          <a:xfrm>
            <a:off x="533095" y="294528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52805" y="2954426"/>
            <a:ext cx="3514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https://docs.vllm.ai/en/latest/design/paged_attention/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57200" y="324794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7"/>
          <p:cNvSpPr/>
          <p:nvPr/>
        </p:nvSpPr>
        <p:spPr>
          <a:xfrm>
            <a:off x="457200" y="35250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 txBox="1"/>
          <p:nvPr/>
        </p:nvSpPr>
        <p:spPr>
          <a:xfrm>
            <a:off x="533095" y="330464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[6]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952805" y="3314700"/>
            <a:ext cx="4582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https://docs.vllm.ai/en/latest/features/quantization/quantized_kvcache/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57200" y="360822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1"/>
          <p:cNvSpPr/>
          <p:nvPr/>
        </p:nvSpPr>
        <p:spPr>
          <a:xfrm>
            <a:off x="457200" y="38852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 txBox="1"/>
          <p:nvPr/>
        </p:nvSpPr>
        <p:spPr>
          <a:xfrm>
            <a:off x="533095" y="366491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[7]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952805" y="3674974"/>
            <a:ext cx="248716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https://github.com/NVIDIA/TensorRT-LLM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7200" y="396758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5"/>
          <p:cNvSpPr/>
          <p:nvPr/>
        </p:nvSpPr>
        <p:spPr>
          <a:xfrm>
            <a:off x="457200" y="424464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6"/>
          <p:cNvSpPr txBox="1"/>
          <p:nvPr/>
        </p:nvSpPr>
        <p:spPr>
          <a:xfrm>
            <a:off x="533095" y="402518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[8]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952805" y="4034333"/>
            <a:ext cx="242773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https://github.com/ggml-org/llama.cpp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57200" y="4327855"/>
            <a:ext cx="5486400" cy="428854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39"/>
          <p:cNvSpPr/>
          <p:nvPr/>
        </p:nvSpPr>
        <p:spPr>
          <a:xfrm>
            <a:off x="457200" y="4747565"/>
            <a:ext cx="5486400" cy="9144"/>
          </a:xfrm>
          <a:prstGeom prst="roundRect">
            <a:avLst>
              <a:gd name="adj" fmla="val 888889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0"/>
          <p:cNvSpPr txBox="1"/>
          <p:nvPr/>
        </p:nvSpPr>
        <p:spPr>
          <a:xfrm>
            <a:off x="533095" y="438546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[10]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952805" y="4394606"/>
            <a:ext cx="49816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https://developer.apple.com/documentation/metal/choosing-a-resource-storage-mode-for-apple-gpus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57200" y="483077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3"/>
          <p:cNvSpPr/>
          <p:nvPr/>
        </p:nvSpPr>
        <p:spPr>
          <a:xfrm>
            <a:off x="457200" y="510783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4"/>
          <p:cNvSpPr txBox="1"/>
          <p:nvPr/>
        </p:nvSpPr>
        <p:spPr>
          <a:xfrm>
            <a:off x="533095" y="488838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[12]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952805" y="4897526"/>
            <a:ext cx="275417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https://huggingface.co/wangkanai/sdxl-fp16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57200" y="519104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7"/>
          <p:cNvSpPr/>
          <p:nvPr/>
        </p:nvSpPr>
        <p:spPr>
          <a:xfrm>
            <a:off x="457200" y="54681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8"/>
          <p:cNvSpPr txBox="1"/>
          <p:nvPr/>
        </p:nvSpPr>
        <p:spPr>
          <a:xfrm>
            <a:off x="533095" y="524774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[13]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952805" y="5257800"/>
            <a:ext cx="3391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https://github.com/intel/intel-extension-for-pytorch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57200" y="555132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1"/>
          <p:cNvSpPr/>
          <p:nvPr/>
        </p:nvSpPr>
        <p:spPr>
          <a:xfrm>
            <a:off x="457200" y="58283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2"/>
          <p:cNvSpPr txBox="1"/>
          <p:nvPr/>
        </p:nvSpPr>
        <p:spPr>
          <a:xfrm>
            <a:off x="533095" y="560801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[14]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952805" y="5618074"/>
            <a:ext cx="203088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https://github.com/xiph/rnnoise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57200" y="5910682"/>
            <a:ext cx="5486400" cy="276149"/>
          </a:xfrm>
          <a:prstGeom prst="roundRect">
            <a:avLst>
              <a:gd name="adj" fmla="val 456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5"/>
          <p:cNvSpPr txBox="1"/>
          <p:nvPr/>
        </p:nvSpPr>
        <p:spPr>
          <a:xfrm>
            <a:off x="533095" y="596828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[16]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9" name="Text 56"/>
          <p:cNvSpPr txBox="1"/>
          <p:nvPr/>
        </p:nvSpPr>
        <p:spPr>
          <a:xfrm>
            <a:off x="952805" y="5977433"/>
            <a:ext cx="3076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https://huggingface.co/meta-llama/Llama-3.1-70B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248095" y="144749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8"/>
          <p:cNvSpPr/>
          <p:nvPr/>
        </p:nvSpPr>
        <p:spPr>
          <a:xfrm>
            <a:off x="6248095" y="172455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9"/>
          <p:cNvSpPr txBox="1"/>
          <p:nvPr/>
        </p:nvSpPr>
        <p:spPr>
          <a:xfrm>
            <a:off x="6324905" y="150510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[17]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3" name="Text 60"/>
          <p:cNvSpPr txBox="1"/>
          <p:nvPr/>
        </p:nvSpPr>
        <p:spPr>
          <a:xfrm>
            <a:off x="6743700" y="1514246"/>
            <a:ext cx="3706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https://huggingface.co/microsoft/Phi-3-mini-128k-instruct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248095" y="180776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2"/>
          <p:cNvSpPr/>
          <p:nvPr/>
        </p:nvSpPr>
        <p:spPr>
          <a:xfrm>
            <a:off x="6248095" y="208483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3"/>
          <p:cNvSpPr txBox="1"/>
          <p:nvPr/>
        </p:nvSpPr>
        <p:spPr>
          <a:xfrm>
            <a:off x="6324905" y="1865376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[19]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7" name="Text 64"/>
          <p:cNvSpPr txBox="1"/>
          <p:nvPr/>
        </p:nvSpPr>
        <p:spPr>
          <a:xfrm>
            <a:off x="6743700" y="1874520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https://lmstudio.ai/docs/app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6248095" y="216804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6"/>
          <p:cNvSpPr/>
          <p:nvPr/>
        </p:nvSpPr>
        <p:spPr>
          <a:xfrm>
            <a:off x="6248095" y="244510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7"/>
          <p:cNvSpPr txBox="1"/>
          <p:nvPr/>
        </p:nvSpPr>
        <p:spPr>
          <a:xfrm>
            <a:off x="6324905" y="222473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[20]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71" name="Text 68"/>
          <p:cNvSpPr txBox="1"/>
          <p:nvPr/>
        </p:nvSpPr>
        <p:spPr>
          <a:xfrm>
            <a:off x="6743700" y="2234794"/>
            <a:ext cx="3076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https://docs.nvidia.com/tensorrt-llm/index.html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6248095" y="252740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0"/>
          <p:cNvSpPr/>
          <p:nvPr/>
        </p:nvSpPr>
        <p:spPr>
          <a:xfrm>
            <a:off x="6248095" y="280446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1"/>
          <p:cNvSpPr txBox="1"/>
          <p:nvPr/>
        </p:nvSpPr>
        <p:spPr>
          <a:xfrm>
            <a:off x="6324905" y="258500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[22]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75" name="Text 72"/>
          <p:cNvSpPr txBox="1"/>
          <p:nvPr/>
        </p:nvSpPr>
        <p:spPr>
          <a:xfrm>
            <a:off x="6743700" y="2594153"/>
            <a:ext cx="21598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https://github.com/ml-explore/mlx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6248095" y="288767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74"/>
          <p:cNvSpPr/>
          <p:nvPr/>
        </p:nvSpPr>
        <p:spPr>
          <a:xfrm>
            <a:off x="6248095" y="316473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5"/>
          <p:cNvSpPr txBox="1"/>
          <p:nvPr/>
        </p:nvSpPr>
        <p:spPr>
          <a:xfrm>
            <a:off x="6324905" y="294528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[23]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79" name="Text 76"/>
          <p:cNvSpPr txBox="1"/>
          <p:nvPr/>
        </p:nvSpPr>
        <p:spPr>
          <a:xfrm>
            <a:off x="6743700" y="2954426"/>
            <a:ext cx="210037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https://github.com/ollama/ollama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6248095" y="324794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78"/>
          <p:cNvSpPr/>
          <p:nvPr/>
        </p:nvSpPr>
        <p:spPr>
          <a:xfrm>
            <a:off x="6248095" y="35250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79"/>
          <p:cNvSpPr txBox="1"/>
          <p:nvPr/>
        </p:nvSpPr>
        <p:spPr>
          <a:xfrm>
            <a:off x="6324905" y="330464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[24]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83" name="Text 80"/>
          <p:cNvSpPr txBox="1"/>
          <p:nvPr/>
        </p:nvSpPr>
        <p:spPr>
          <a:xfrm>
            <a:off x="6743700" y="3314700"/>
            <a:ext cx="3134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https://docs.ollama.com/api/openai-compatibility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6248095" y="360822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2"/>
          <p:cNvSpPr/>
          <p:nvPr/>
        </p:nvSpPr>
        <p:spPr>
          <a:xfrm>
            <a:off x="6248095" y="38852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3"/>
          <p:cNvSpPr txBox="1"/>
          <p:nvPr/>
        </p:nvSpPr>
        <p:spPr>
          <a:xfrm>
            <a:off x="6324905" y="366491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[25]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87" name="Text 84"/>
          <p:cNvSpPr txBox="1"/>
          <p:nvPr/>
        </p:nvSpPr>
        <p:spPr>
          <a:xfrm>
            <a:off x="6743700" y="3674974"/>
            <a:ext cx="4144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https://llama-cpp-python.readthedocs.io/en/latest/api-reference/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6248095" y="396758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6"/>
          <p:cNvSpPr/>
          <p:nvPr/>
        </p:nvSpPr>
        <p:spPr>
          <a:xfrm>
            <a:off x="6248095" y="424464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7"/>
          <p:cNvSpPr txBox="1"/>
          <p:nvPr/>
        </p:nvSpPr>
        <p:spPr>
          <a:xfrm>
            <a:off x="6324905" y="402518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[27]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91" name="Text 88"/>
          <p:cNvSpPr txBox="1"/>
          <p:nvPr/>
        </p:nvSpPr>
        <p:spPr>
          <a:xfrm>
            <a:off x="6743700" y="4034333"/>
            <a:ext cx="4839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https://developers.openai.com/cookbook/articles/gpt-oss/run-locally-ollama/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6248095" y="4327855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Shape 90"/>
          <p:cNvSpPr/>
          <p:nvPr/>
        </p:nvSpPr>
        <p:spPr>
          <a:xfrm>
            <a:off x="6248095" y="460491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Text 91"/>
          <p:cNvSpPr txBox="1"/>
          <p:nvPr/>
        </p:nvSpPr>
        <p:spPr>
          <a:xfrm>
            <a:off x="6324905" y="438546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[28]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95" name="Text 92"/>
          <p:cNvSpPr txBox="1"/>
          <p:nvPr/>
        </p:nvSpPr>
        <p:spPr>
          <a:xfrm>
            <a:off x="6743700" y="4394606"/>
            <a:ext cx="2229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https://github.com/Blaizzy/mlx-vlm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6248095" y="468812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94"/>
          <p:cNvSpPr/>
          <p:nvPr/>
        </p:nvSpPr>
        <p:spPr>
          <a:xfrm>
            <a:off x="6248095" y="496519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Text 95"/>
          <p:cNvSpPr txBox="1"/>
          <p:nvPr/>
        </p:nvSpPr>
        <p:spPr>
          <a:xfrm>
            <a:off x="6324905" y="4744822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[31]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99" name="Text 96"/>
          <p:cNvSpPr txBox="1"/>
          <p:nvPr/>
        </p:nvSpPr>
        <p:spPr>
          <a:xfrm>
            <a:off x="6743700" y="4754880"/>
            <a:ext cx="3829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https://huggingface.co/meta-llama/Meta-Llama-3-70B-Instruct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6248095" y="5048402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98"/>
          <p:cNvSpPr/>
          <p:nvPr/>
        </p:nvSpPr>
        <p:spPr>
          <a:xfrm>
            <a:off x="6248095" y="532546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99"/>
          <p:cNvSpPr txBox="1"/>
          <p:nvPr/>
        </p:nvSpPr>
        <p:spPr>
          <a:xfrm>
            <a:off x="6324905" y="510509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[32]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03" name="Text 100"/>
          <p:cNvSpPr txBox="1"/>
          <p:nvPr/>
        </p:nvSpPr>
        <p:spPr>
          <a:xfrm>
            <a:off x="6743700" y="5114239"/>
            <a:ext cx="3076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https://huggingface.co/Qwen/Qwen2.5-7B-Instruct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6248095" y="5407762"/>
            <a:ext cx="5486400" cy="276149"/>
          </a:xfrm>
          <a:prstGeom prst="roundRect">
            <a:avLst>
              <a:gd name="adj" fmla="val 456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Text 102"/>
          <p:cNvSpPr txBox="1"/>
          <p:nvPr/>
        </p:nvSpPr>
        <p:spPr>
          <a:xfrm>
            <a:off x="6324905" y="5465369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AF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[33]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06" name="Text 103"/>
          <p:cNvSpPr txBox="1"/>
          <p:nvPr/>
        </p:nvSpPr>
        <p:spPr>
          <a:xfrm>
            <a:off x="6743700" y="5474513"/>
            <a:ext cx="248716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D1D1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https://qwenlm.github.io/blog/qwen2.5/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120" name="Shape 6">
            <a:extLst>
              <a:ext uri="{FF2B5EF4-FFF2-40B4-BE49-F238E27FC236}">
                <a16:creationId xmlns:a16="http://schemas.microsoft.com/office/drawing/2014/main" id="{B017F4E7-53F0-6BC6-5B6A-3C05964A8121}"/>
              </a:ext>
            </a:extLst>
          </p:cNvPr>
          <p:cNvSpPr/>
          <p:nvPr/>
        </p:nvSpPr>
        <p:spPr>
          <a:xfrm>
            <a:off x="457200" y="1447494"/>
            <a:ext cx="5486400" cy="4739337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1" name="Shape 6">
            <a:extLst>
              <a:ext uri="{FF2B5EF4-FFF2-40B4-BE49-F238E27FC236}">
                <a16:creationId xmlns:a16="http://schemas.microsoft.com/office/drawing/2014/main" id="{D0367EB3-F9E5-1377-A770-BE60A1BB0B1E}"/>
              </a:ext>
            </a:extLst>
          </p:cNvPr>
          <p:cNvSpPr/>
          <p:nvPr/>
        </p:nvSpPr>
        <p:spPr>
          <a:xfrm>
            <a:off x="6248095" y="1446581"/>
            <a:ext cx="5486400" cy="4305911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64061A-D490-67BE-E66F-187135B2AD80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31">
            <a:extLst>
              <a:ext uri="{FF2B5EF4-FFF2-40B4-BE49-F238E27FC236}">
                <a16:creationId xmlns:a16="http://schemas.microsoft.com/office/drawing/2014/main" id="{AE4655F6-D500-E157-1F89-9A5E512F2135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2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3B786AD-F160-FEBC-6E59-90496AD01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-1" y="0"/>
            <a:ext cx="12191695" cy="1050646"/>
          </a:xfrm>
          <a:prstGeom prst="rect">
            <a:avLst/>
          </a:prstGeom>
        </p:spPr>
      </p:pic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376867"/>
              </p:ext>
            </p:extLst>
          </p:nvPr>
        </p:nvGraphicFramePr>
        <p:xfrm>
          <a:off x="372161" y="1319138"/>
          <a:ext cx="5486400" cy="4839000"/>
        </p:xfrm>
        <a:graphic>
          <a:graphicData uri="http://schemas.openxmlformats.org/drawingml/2006/table">
            <a:tbl>
              <a:tblPr/>
              <a:tblGrid>
                <a:gridCol w="70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[35]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Gemma 2 Model Card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https://ai.google.dev/gemma/docs/core/model_card_2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[37]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Mixtral 8x7B Instruct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https://huggingface.co/mistralai/Mixtral-8x7B-Instruct-v0.1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[40]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Phi-4 Technical Report (Arxiv)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https://arxiv.org/abs/2412.08905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[41]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OpenAI Cookbook (Run locally LM Studio)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https://developers.openai.com/cookbook/articles/gpt-oss/run-locally-lmstudio/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[42]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Qwen2-VL 72B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https://huggingface.co/Qwen/Qwen2-VL-72B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[43]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Phi-3-vision 128k Instruct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https://huggingface.co/microsoft/Phi-3-vision-128k-instruct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[45]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InternVL2 4B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https://huggingface.co/OpenGVLab/InternVL2-4B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[47]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LLaVA Repository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https://github.com/haotian-liu/LLaVA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[48]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OpenAI Whisper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https://openai.com/index/whisper/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[49]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AP News (Whisper Hallucination Risk)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https://apnews.com/article/90020cdf5fa16c79ca2e5b6c4c9bbb14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[50]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faster-whisper (SYSTRAN)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https://github.com/SYSTRAN/faster-whisper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[51]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whisper.cpp (ggml)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https://github.com/ggml-org/whisper.cpp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66055"/>
              </p:ext>
            </p:extLst>
          </p:nvPr>
        </p:nvGraphicFramePr>
        <p:xfrm>
          <a:off x="6257696" y="1306619"/>
          <a:ext cx="5486400" cy="4839000"/>
        </p:xfrm>
        <a:graphic>
          <a:graphicData uri="http://schemas.openxmlformats.org/drawingml/2006/table">
            <a:tbl>
              <a:tblPr/>
              <a:tblGrid>
                <a:gridCol w="70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[52]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Piper TTS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https://github.com/rhasspy/piper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[53]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Kokoro TTS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https://github.com/hexgrad/kokoro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[54]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Coqui XTTS-v2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https://huggingface.co/coqui/XTTS-v2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[55]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StyleTTS2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https://github.com/yl4579/StyleTTS2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[58]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BGE-M3 Embedding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https://huggingface.co/BAAI/bge-m3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[59]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Multilingual-E5 Large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https://huggingface.co/intfloat/multilingual-e5-large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[60]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Multilingual-E5 Large Instruct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https://huggingface.co/intfloat/multilingual-e5-large-instruct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[61]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BGE Reranker Large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https://huggingface.co/BAAI/bge-reranker-large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[62]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BGE Reranker v2 M3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https://huggingface.co/BAAI/bge-reranker-v2-m3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[64]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Tesseract OCR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https://github.com/tesseract-ocr/tesseract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[66]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PaddleOCR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https://github.com/PaddlePaddle/PaddleOCR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7AFF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[68]</a:t>
                      </a:r>
                      <a:endParaRPr lang="en-US" sz="900" dirty="0">
                        <a:latin typeface="Cambria" panose="02040503050406030204" pitchFamily="18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Donut (Document Understanding Transformer)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333333"/>
                          </a:solidFill>
                          <a:latin typeface="Cambria" panose="02040503050406030204" pitchFamily="18" charset="0"/>
                          <a:ea typeface="Roboto Mono" pitchFamily="34" charset="-122"/>
                          <a:cs typeface="Roboto Mono" pitchFamily="34" charset="-120"/>
                        </a:rPr>
                        <a:t>https://github.com/clovaai/donut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457200" y="391821"/>
            <a:ext cx="237744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9244" y="334671"/>
            <a:ext cx="46122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References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（参考文献リスト</a:t>
            </a: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2/4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931152" y="411023"/>
            <a:ext cx="5496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[35]</a:t>
            </a:r>
            <a:r>
              <a:rPr lang="en-US" sz="1200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～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[68] Llama / Qwen / Gemma / Phi / VLM / Whisper / TTS / OCR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2560" y="1306619"/>
            <a:ext cx="5505602" cy="4977249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248095" y="1312331"/>
            <a:ext cx="5505602" cy="4816551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810</Words>
  <Application>Microsoft Macintosh PowerPoint</Application>
  <PresentationFormat>ワイド画面</PresentationFormat>
  <Paragraphs>130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4</cp:revision>
  <dcterms:created xsi:type="dcterms:W3CDTF">2026-02-15T07:19:24Z</dcterms:created>
  <dcterms:modified xsi:type="dcterms:W3CDTF">2026-02-25T12:06:50Z</dcterms:modified>
</cp:coreProperties>
</file>