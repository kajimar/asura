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2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1887" y="1312153"/>
            <a:ext cx="11221662" cy="790509"/>
          </a:xfrm>
          <a:prstGeom prst="roundRect">
            <a:avLst/>
          </a:prstGeom>
          <a:solidFill>
            <a:srgbClr val="F0F9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32" y="571500"/>
            <a:ext cx="304495" cy="304494"/>
          </a:xfrm>
          <a:prstGeom prst="rect">
            <a:avLst/>
          </a:prstGeom>
          <a:ln w="0"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914400" y="495605"/>
            <a:ext cx="4620463" cy="4572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Noto Sans JP"/>
              </a:rPr>
              <a:t>モデル差より、一次情報の収集と入力設計が価値になる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532" y="208939"/>
            <a:ext cx="2397557" cy="2578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>
                <a:solidFill>
                  <a:srgbClr val="86868B"/>
                </a:solidFill>
                <a:latin typeface="Noto Sans JP"/>
              </a:rPr>
              <a:t>MY PERSPECTIVE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26920"/>
            <a:ext cx="10849356" cy="64830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Cambria"/>
              </a:rPr>
              <a:t>モデル性能は今後も上がる。現場で差が出るのは、何をどう渡せるかである。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8167" y="2381097"/>
            <a:ext cx="5486400" cy="398129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5911" y="3019348"/>
            <a:ext cx="5009997" cy="19201"/>
          </a:xfrm>
          <a:prstGeom prst="rect">
            <a:avLst/>
          </a:prstGeom>
          <a:solidFill>
            <a:srgbClr val="F5F5F7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11" y="2667304"/>
            <a:ext cx="219456" cy="190194"/>
          </a:xfrm>
          <a:prstGeom prst="rect">
            <a:avLst/>
          </a:prstGeom>
          <a:ln w="0"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1109667" y="2619755"/>
            <a:ext cx="2171700" cy="4197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>
            <a:noAutofit/>
          </a:bodyPr>
          <a:lstStyle/>
          <a:p>
            <a:pPr algn="l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11" y="3191255"/>
            <a:ext cx="105156" cy="114300"/>
          </a:xfrm>
          <a:prstGeom prst="rect">
            <a:avLst/>
          </a:prstGeom>
          <a:ln w="0">
            <a:noFill/>
          </a:ln>
        </p:spPr>
      </p:pic>
      <p:sp>
        <p:nvSpPr>
          <p:cNvPr id="15" name="TextBox 14"/>
          <p:cNvSpPr txBox="1"/>
          <p:nvPr/>
        </p:nvSpPr>
        <p:spPr>
          <a:xfrm>
            <a:off x="976164" y="3434486"/>
            <a:ext cx="4886554" cy="4956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>
                <a:solidFill>
                  <a:srgbClr val="424245"/>
                </a:solidFill>
                <a:latin typeface="Noto Sans JP"/>
              </a:rPr>
              <a:t>前提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11" y="4037075"/>
            <a:ext cx="105156" cy="114300"/>
          </a:xfrm>
          <a:prstGeom prst="rect">
            <a:avLst/>
          </a:prstGeom>
          <a:ln w="0"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976164" y="4280306"/>
            <a:ext cx="4886554" cy="4956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>
            <a:noAutofit/>
          </a:bodyPr>
          <a:lstStyle/>
          <a:p>
            <a:pPr algn="l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11" y="4881981"/>
            <a:ext cx="105156" cy="114300"/>
          </a:xfrm>
          <a:prstGeom prst="rect">
            <a:avLst/>
          </a:prstGeom>
          <a:ln w="0">
            <a:noFill/>
          </a:ln>
        </p:spPr>
      </p:pic>
      <p:sp>
        <p:nvSpPr>
          <p:cNvPr id="19" name="TextBox 18"/>
          <p:cNvSpPr txBox="1"/>
          <p:nvPr/>
        </p:nvSpPr>
        <p:spPr>
          <a:xfrm>
            <a:off x="976164" y="5126126"/>
            <a:ext cx="4886554" cy="4956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>
            <a:noAutofit/>
          </a:bodyPr>
          <a:lstStyle/>
          <a:p>
            <a:pPr algn="l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974" y="5408675"/>
            <a:ext cx="400506" cy="200253"/>
          </a:xfrm>
          <a:prstGeom prst="rect">
            <a:avLst/>
          </a:prstGeom>
          <a:ln w="0">
            <a:noFill/>
          </a:ln>
        </p:spPr>
      </p:pic>
      <p:sp>
        <p:nvSpPr>
          <p:cNvPr id="21" name="Rectangle 20"/>
          <p:cNvSpPr/>
          <p:nvPr/>
        </p:nvSpPr>
        <p:spPr>
          <a:xfrm>
            <a:off x="1052974" y="5408675"/>
            <a:ext cx="400506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ambria"/>
              </a:rPr>
              <a:t>[1][2]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911" y="5766206"/>
            <a:ext cx="857707" cy="276148"/>
          </a:xfrm>
          <a:prstGeom prst="rect">
            <a:avLst/>
          </a:prstGeom>
          <a:ln w="0">
            <a:noFill/>
          </a:ln>
        </p:spPr>
      </p:pic>
      <p:sp>
        <p:nvSpPr>
          <p:cNvPr id="23" name="Rectangle 22"/>
          <p:cNvSpPr/>
          <p:nvPr/>
        </p:nvSpPr>
        <p:spPr>
          <a:xfrm>
            <a:off x="775911" y="5766206"/>
            <a:ext cx="857707" cy="27706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4027" y="5766206"/>
            <a:ext cx="1285646" cy="276148"/>
          </a:xfrm>
          <a:prstGeom prst="rect">
            <a:avLst/>
          </a:prstGeom>
          <a:ln w="0">
            <a:noFill/>
          </a:ln>
        </p:spPr>
      </p:pic>
      <p:sp>
        <p:nvSpPr>
          <p:cNvPr id="25" name="Rectangle 24"/>
          <p:cNvSpPr/>
          <p:nvPr/>
        </p:nvSpPr>
        <p:spPr>
          <a:xfrm>
            <a:off x="1704027" y="5766206"/>
            <a:ext cx="1286561" cy="27706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58253" y="5766206"/>
            <a:ext cx="1028700" cy="276148"/>
          </a:xfrm>
          <a:prstGeom prst="rect">
            <a:avLst/>
          </a:prstGeom>
          <a:ln w="0">
            <a:noFill/>
          </a:ln>
        </p:spPr>
      </p:pic>
      <p:sp>
        <p:nvSpPr>
          <p:cNvPr id="27" name="Rectangle 26"/>
          <p:cNvSpPr/>
          <p:nvPr/>
        </p:nvSpPr>
        <p:spPr>
          <a:xfrm>
            <a:off x="3058253" y="5766206"/>
            <a:ext cx="1028700" cy="27706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29062" y="2381097"/>
            <a:ext cx="5486400" cy="398129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67721" y="3019348"/>
            <a:ext cx="5009998" cy="19201"/>
          </a:xfrm>
          <a:prstGeom prst="rect">
            <a:avLst/>
          </a:prstGeom>
          <a:solidFill>
            <a:srgbClr val="F5F5F7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7721" y="2667304"/>
            <a:ext cx="190194" cy="190194"/>
          </a:xfrm>
          <a:prstGeom prst="rect">
            <a:avLst/>
          </a:prstGeom>
          <a:ln w="0">
            <a:noFill/>
          </a:ln>
        </p:spPr>
      </p:pic>
      <p:sp>
        <p:nvSpPr>
          <p:cNvPr id="31" name="TextBox 30"/>
          <p:cNvSpPr txBox="1"/>
          <p:nvPr/>
        </p:nvSpPr>
        <p:spPr>
          <a:xfrm>
            <a:off x="6872216" y="2619755"/>
            <a:ext cx="3324758" cy="4197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Noto Sans JP"/>
              </a:rPr>
              <a:t>人間は一次情報を集め、目的に沿ってAIへ渡す側に回るべきである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7721" y="3191255"/>
            <a:ext cx="114300" cy="114300"/>
          </a:xfrm>
          <a:prstGeom prst="rect">
            <a:avLst/>
          </a:prstGeom>
          <a:ln w="0">
            <a:noFill/>
          </a:ln>
        </p:spPr>
      </p:pic>
      <p:sp>
        <p:nvSpPr>
          <p:cNvPr id="33" name="TextBox 32"/>
          <p:cNvSpPr txBox="1"/>
          <p:nvPr/>
        </p:nvSpPr>
        <p:spPr>
          <a:xfrm>
            <a:off x="6777118" y="3434486"/>
            <a:ext cx="4877410" cy="4956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>
                <a:solidFill>
                  <a:srgbClr val="424245"/>
                </a:solidFill>
                <a:latin typeface="Cambria"/>
              </a:rPr>
              <a:t>人間の役割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0613" y="3717035"/>
            <a:ext cx="256945" cy="200253"/>
          </a:xfrm>
          <a:prstGeom prst="rect">
            <a:avLst/>
          </a:prstGeom>
          <a:ln w="0">
            <a:noFill/>
          </a:ln>
        </p:spPr>
      </p:pic>
      <p:sp>
        <p:nvSpPr>
          <p:cNvPr id="35" name="Rectangle 34"/>
          <p:cNvSpPr/>
          <p:nvPr/>
        </p:nvSpPr>
        <p:spPr>
          <a:xfrm>
            <a:off x="10510613" y="3717035"/>
            <a:ext cx="257860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ambria"/>
              </a:rPr>
              <a:t>[4]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7721" y="4037075"/>
            <a:ext cx="133502" cy="114300"/>
          </a:xfrm>
          <a:prstGeom prst="rect">
            <a:avLst/>
          </a:prstGeom>
          <a:ln w="0">
            <a:noFill/>
          </a:ln>
        </p:spPr>
      </p:pic>
      <p:sp>
        <p:nvSpPr>
          <p:cNvPr id="37" name="TextBox 36"/>
          <p:cNvSpPr txBox="1"/>
          <p:nvPr/>
        </p:nvSpPr>
        <p:spPr>
          <a:xfrm>
            <a:off x="6796321" y="4280306"/>
            <a:ext cx="3781958" cy="24780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>
            <a:noAutofit/>
          </a:bodyPr>
          <a:lstStyle/>
          <a:p>
            <a:pPr algn="l"/>
          </a:p>
        </p:txBody>
      </p:sp>
      <p:sp>
        <p:nvSpPr>
          <p:cNvPr id="38" name="TextBox 37"/>
          <p:cNvSpPr txBox="1"/>
          <p:nvPr/>
        </p:nvSpPr>
        <p:spPr>
          <a:xfrm>
            <a:off x="7024921" y="4561941"/>
            <a:ext cx="3477463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>
            <a:noAutofit/>
          </a:bodyPr>
          <a:lstStyle/>
          <a:p>
            <a:pPr algn="l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29309" y="4573828"/>
            <a:ext cx="256945" cy="200253"/>
          </a:xfrm>
          <a:prstGeom prst="rect">
            <a:avLst/>
          </a:prstGeom>
          <a:ln w="0">
            <a:noFill/>
          </a:ln>
        </p:spPr>
      </p:pic>
      <p:sp>
        <p:nvSpPr>
          <p:cNvPr id="40" name="Rectangle 39"/>
          <p:cNvSpPr/>
          <p:nvPr/>
        </p:nvSpPr>
        <p:spPr>
          <a:xfrm>
            <a:off x="10129309" y="4573828"/>
            <a:ext cx="257860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ambria"/>
              </a:rPr>
              <a:t>[5]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4921" y="4774082"/>
            <a:ext cx="3477463" cy="21945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>
            <a:noAutofit/>
          </a:bodyPr>
          <a:lstStyle/>
          <a:p>
            <a:pPr algn="l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50417" y="4785055"/>
            <a:ext cx="256945" cy="200253"/>
          </a:xfrm>
          <a:prstGeom prst="rect">
            <a:avLst/>
          </a:prstGeom>
          <a:ln w="0">
            <a:noFill/>
          </a:ln>
        </p:spPr>
      </p:pic>
      <p:sp>
        <p:nvSpPr>
          <p:cNvPr id="43" name="Rectangle 42"/>
          <p:cNvSpPr/>
          <p:nvPr/>
        </p:nvSpPr>
        <p:spPr>
          <a:xfrm>
            <a:off x="9850417" y="4785055"/>
            <a:ext cx="257860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ambria"/>
              </a:rPr>
              <a:t>[6]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24921" y="4985308"/>
            <a:ext cx="3477463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>
            <a:noAutofit/>
          </a:bodyPr>
          <a:lstStyle/>
          <a:p>
            <a:pPr algn="l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06779" y="4996281"/>
            <a:ext cx="256945" cy="200253"/>
          </a:xfrm>
          <a:prstGeom prst="rect">
            <a:avLst/>
          </a:prstGeom>
          <a:ln w="0">
            <a:noFill/>
          </a:ln>
        </p:spPr>
      </p:pic>
      <p:sp>
        <p:nvSpPr>
          <p:cNvPr id="46" name="Rectangle 45"/>
          <p:cNvSpPr/>
          <p:nvPr/>
        </p:nvSpPr>
        <p:spPr>
          <a:xfrm>
            <a:off x="10006779" y="4996281"/>
            <a:ext cx="257860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ambria"/>
              </a:rPr>
              <a:t>[7]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8450" y="1311250"/>
            <a:ext cx="49716" cy="791160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0"/>
            <a:ext cx="12192001" cy="54865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05" y="1032380"/>
            <a:ext cx="12191695" cy="35999"/>
          </a:xfrm>
          <a:prstGeom prst="rect">
            <a:avLst/>
          </a:prstGeom>
          <a:solidFill>
            <a:srgbClr val="E5E5E5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