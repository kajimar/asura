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9.png"/><Relationship Id="rId21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024"/>
            <a:ext cx="11354105" cy="5148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エグゼクティブサマリ（実務要点）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1" y="195681"/>
            <a:ext cx="11239805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導入における意思決定の重要ポイント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21206"/>
            <a:ext cx="10611612" cy="5715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b="1">
                <a:solidFill>
                  <a:srgbClr val="1D1D1F"/>
                </a:solidFill>
                <a:latin typeface="Cambria"/>
              </a:rPr>
              <a:t>AI</a:t>
            </a:r>
            <a:r>
              <a:rPr b="1">
                <a:solidFill>
                  <a:srgbClr val="1D1D1F"/>
                </a:solidFill>
                <a:latin typeface="Noto Sans JP"/>
              </a:rPr>
              <a:t>は「</a:t>
            </a:r>
            <a:r>
              <a:rPr b="1">
                <a:solidFill>
                  <a:srgbClr val="1D1D1F"/>
                </a:solidFill>
                <a:latin typeface="Cambria"/>
              </a:rPr>
              <a:t>4bit</a:t>
            </a:r>
            <a:r>
              <a:rPr b="1">
                <a:solidFill>
                  <a:srgbClr val="1D1D1F"/>
                </a:solidFill>
                <a:latin typeface="Noto Sans JP"/>
              </a:rPr>
              <a:t>量子化＋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管理」を前提に、</a:t>
            </a:r>
          </a:p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GGUF/</a:t>
            </a:r>
            <a:r>
              <a:rPr b="1">
                <a:solidFill>
                  <a:srgbClr val="1D1D1F"/>
                </a:solidFill>
                <a:latin typeface="Cambria"/>
              </a:rPr>
              <a:t>llama.cpp</a:t>
            </a:r>
            <a:r>
              <a:rPr b="1">
                <a:solidFill>
                  <a:srgbClr val="1D1D1F"/>
                </a:solidFill>
                <a:latin typeface="Noto Sans JP"/>
              </a:rPr>
              <a:t>系と</a:t>
            </a:r>
            <a:r>
              <a:rPr b="1">
                <a:solidFill>
                  <a:srgbClr val="1D1D1F"/>
                </a:solidFill>
                <a:latin typeface="Cambria"/>
              </a:rPr>
              <a:t>Ollama</a:t>
            </a:r>
            <a:r>
              <a:rPr b="1">
                <a:solidFill>
                  <a:srgbClr val="1D1D1F"/>
                </a:solidFill>
                <a:latin typeface="Cambria"/>
              </a:rPr>
              <a:t>/LM Studio/</a:t>
            </a:r>
            <a:r>
              <a:rPr b="1">
                <a:solidFill>
                  <a:srgbClr val="1D1D1F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で実務化可能です</a:t>
            </a:r>
            <a:r>
              <a:rPr b="1">
                <a:solidFill>
                  <a:srgbClr val="1D1D1F"/>
                </a:solidFill>
                <a:latin typeface="Noto Sans JP"/>
              </a:rPr>
              <a:t>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167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1" y="2596440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157216" y="2582724"/>
            <a:ext cx="1286561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定義とスコープ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421" y="2953970"/>
            <a:ext cx="33247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推論が端末</a:t>
            </a:r>
            <a:r>
              <a:rPr sz="1100">
                <a:solidFill>
                  <a:srgbClr val="424245"/>
                </a:solidFill>
                <a:latin typeface="Cambria"/>
              </a:rPr>
              <a:t>or</a:t>
            </a:r>
            <a:r>
              <a:rPr sz="1100">
                <a:solidFill>
                  <a:srgbClr val="424245"/>
                </a:solidFill>
                <a:latin typeface="Noto Sans JP"/>
              </a:rPr>
              <a:t>ローカル</a:t>
            </a:r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内で完結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421" y="3239263"/>
            <a:ext cx="3324758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入力データは外部へ送信されない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421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サーブ含む（</a:t>
            </a:r>
            <a:r>
              <a:rPr sz="1100">
                <a:solidFill>
                  <a:srgbClr val="424245"/>
                </a:solidFill>
                <a:latin typeface="Cambria"/>
              </a:rPr>
              <a:t>LM Studio, Ollama</a:t>
            </a:r>
            <a:r>
              <a:rPr sz="1100">
                <a:solidFill>
                  <a:srgbClr val="424245"/>
                </a:solidFill>
                <a:latin typeface="Noto Sans JP"/>
              </a:rPr>
              <a:t>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265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19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4916314" y="2582724"/>
            <a:ext cx="762610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中核技術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377" y="2953970"/>
            <a:ext cx="2553005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Weight-only 4bit (AWQ</a:t>
            </a:r>
            <a:r>
              <a:rPr sz="1100">
                <a:solidFill>
                  <a:srgbClr val="424245"/>
                </a:solidFill>
                <a:latin typeface="Noto Sans JP"/>
              </a:rPr>
              <a:t>等</a:t>
            </a:r>
            <a:r>
              <a:rPr sz="1100">
                <a:solidFill>
                  <a:srgbClr val="424245"/>
                </a:solidFill>
                <a:latin typeface="Cambria"/>
              </a:rPr>
              <a:t>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2963114"/>
            <a:ext cx="533094" cy="237744"/>
          </a:xfrm>
          <a:prstGeom prst="rect">
            <a:avLst/>
          </a:prstGeom>
          <a:ln w="0">
            <a:noFill/>
          </a:ln>
        </p:spPr>
      </p:pic>
      <p:sp>
        <p:nvSpPr>
          <p:cNvPr id="19" name="Rectangle 18"/>
          <p:cNvSpPr/>
          <p:nvPr/>
        </p:nvSpPr>
        <p:spPr>
          <a:xfrm>
            <a:off x="4631021" y="2963114"/>
            <a:ext cx="534010" cy="23865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量子化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377" y="3256636"/>
            <a:ext cx="2628900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KV</a:t>
            </a:r>
            <a:r>
              <a:rPr sz="1100">
                <a:solidFill>
                  <a:srgbClr val="424245"/>
                </a:solidFill>
                <a:latin typeface="Noto Sans JP"/>
              </a:rPr>
              <a:t>キャッシュ管理最適化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3266695"/>
            <a:ext cx="533094" cy="237743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/>
          <p:cNvSpPr/>
          <p:nvPr/>
        </p:nvSpPr>
        <p:spPr>
          <a:xfrm>
            <a:off x="4631021" y="3266695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メモリ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7519" y="3559303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Paged Attention / Quantized KV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6364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617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8675413" y="2582724"/>
            <a:ext cx="1296619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主要ランタイム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6617" y="29539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llama.cpp (GGUF)</a:t>
            </a:r>
            <a:r>
              <a:rPr sz="1100">
                <a:solidFill>
                  <a:srgbClr val="424245"/>
                </a:solidFill>
                <a:latin typeface="Cambria"/>
              </a:rPr>
              <a:t>: </a:t>
            </a:r>
            <a:r>
              <a:rPr sz="1100">
                <a:solidFill>
                  <a:srgbClr val="424245"/>
                </a:solidFill>
                <a:latin typeface="Noto Sans JP"/>
              </a:rPr>
              <a:t>汎用・軽量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6617" y="3239263"/>
            <a:ext cx="3248863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Ollama / LM Studio</a:t>
            </a:r>
            <a:r>
              <a:rPr sz="1100">
                <a:solidFill>
                  <a:srgbClr val="424245"/>
                </a:solidFill>
                <a:latin typeface="Cambria"/>
              </a:rPr>
              <a:t>: UI +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6617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MLX</a:t>
            </a:r>
            <a:r>
              <a:rPr sz="1100">
                <a:solidFill>
                  <a:srgbClr val="424245"/>
                </a:solidFill>
                <a:latin typeface="Cambria"/>
              </a:rPr>
              <a:t>: Apple Silicon</a:t>
            </a:r>
            <a:r>
              <a:rPr sz="1100">
                <a:solidFill>
                  <a:srgbClr val="424245"/>
                </a:solidFill>
                <a:latin typeface="Noto Sans JP"/>
              </a:rPr>
              <a:t>特化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8167" y="4274364"/>
            <a:ext cx="7295997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1" y="4488333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1157216" y="4473703"/>
            <a:ext cx="365668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</a:t>
            </a:r>
            <a:r>
              <a:rPr sz="1300" b="1">
                <a:solidFill>
                  <a:srgbClr val="1D1D1F"/>
                </a:solidFill>
                <a:latin typeface="Cambria"/>
              </a:rPr>
              <a:t> (4bit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量子化前提</a:t>
            </a:r>
            <a:r>
              <a:rPr sz="1300" b="1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421" y="4855008"/>
            <a:ext cx="259598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Apple Silicon (Unified Memory)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421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16GB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7/8B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421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24-32GB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業務最小ライン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8393" y="4845864"/>
            <a:ext cx="9144" cy="875994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31098" y="4855008"/>
            <a:ext cx="229697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Windows (NVIDIA GPU VRAM)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1098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8GB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/ </a:t>
            </a:r>
            <a:r>
              <a:rPr sz="1100" b="1">
                <a:solidFill>
                  <a:srgbClr val="424245"/>
                </a:solidFill>
                <a:latin typeface="Cambria"/>
              </a:rPr>
              <a:t>12GB</a:t>
            </a:r>
            <a:r>
              <a:rPr sz="1100">
                <a:solidFill>
                  <a:srgbClr val="424245"/>
                </a:solidFill>
                <a:latin typeface="Cambria"/>
              </a:rPr>
              <a:t>: 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1098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24GB</a:t>
            </a:r>
            <a:r>
              <a:rPr sz="1100">
                <a:solidFill>
                  <a:srgbClr val="424245"/>
                </a:solidFill>
                <a:latin typeface="Cambria"/>
              </a:rPr>
              <a:t>: 27B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34B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実務域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6364" y="4274364"/>
            <a:ext cx="3534155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6617" y="4488333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8675413" y="4473703"/>
            <a:ext cx="111099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推奨スタック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6617" y="48458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低コスト</a:t>
            </a:r>
            <a:r>
              <a:rPr sz="1100">
                <a:solidFill>
                  <a:srgbClr val="424245"/>
                </a:solidFill>
                <a:latin typeface="Cambria"/>
              </a:rPr>
              <a:t>: GGUF + llama.cpp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6617" y="5131157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高品質</a:t>
            </a:r>
            <a:r>
              <a:rPr sz="1100">
                <a:solidFill>
                  <a:srgbClr val="424245"/>
                </a:solidFill>
                <a:latin typeface="Cambria"/>
              </a:rPr>
              <a:t>: GPU + TensorRT-LLM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6617" y="54173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ハード制約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+ RAG</a:t>
            </a:r>
            <a:r>
              <a:rPr sz="1100">
                <a:solidFill>
                  <a:srgbClr val="424245"/>
                </a:solidFill>
                <a:latin typeface="Noto Sans JP"/>
              </a:rPr>
              <a:t>工夫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5871" y="6242541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4656123" y="6202719"/>
            <a:ext cx="7535571" cy="21314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r>
              <a:rPr sz="1000">
                <a:solidFill>
                  <a:srgbClr val="86868B"/>
                </a:solidFill>
                <a:latin typeface="Noto Sans JP"/>
              </a:rPr>
              <a:t>補足：長文コンテキストは</a:t>
            </a:r>
            <a:r>
              <a:rPr sz="1000">
                <a:solidFill>
                  <a:srgbClr val="86868B"/>
                </a:solidFill>
                <a:latin typeface="Cambria"/>
              </a:rPr>
              <a:t>KV</a:t>
            </a:r>
            <a:r>
              <a:rPr sz="1000">
                <a:solidFill>
                  <a:srgbClr val="86868B"/>
                </a:solidFill>
                <a:latin typeface="Noto Sans JP"/>
              </a:rPr>
              <a:t>キャッシュがメモリを支配します。最終判断は再現ベンチマーク（後述の手順）で確定してください。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9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52" name="Rectangle 51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1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532" y="208939"/>
            <a:ext cx="2397557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の定義と中核技術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26920"/>
            <a:ext cx="10849356" cy="6483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sz="1800" b="1">
                <a:solidFill>
                  <a:srgbClr val="1D1D1F"/>
                </a:solidFill>
                <a:latin typeface="Cambria"/>
              </a:rPr>
              <a:t>AI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は「推論がユーザー管理下で完結する構成」と定義され、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  <a:p>
            <a:pPr algn="l"/>
            <a:r>
              <a:rPr sz="1800" b="1">
                <a:solidFill>
                  <a:srgbClr val="2563EB"/>
                </a:solidFill>
                <a:latin typeface="Noto Sans JP"/>
              </a:rPr>
              <a:t>重み量子化（</a:t>
            </a:r>
            <a:r>
              <a:rPr sz="1800" b="1">
                <a:solidFill>
                  <a:srgbClr val="2563EB"/>
                </a:solidFill>
                <a:latin typeface="Cambria"/>
              </a:rPr>
              <a:t>4bit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）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と</a:t>
            </a:r>
            <a:r>
              <a:rPr sz="1800" b="1">
                <a:solidFill>
                  <a:srgbClr val="2563EB"/>
                </a:solidFill>
                <a:latin typeface="Cambria"/>
              </a:rPr>
              <a:t>KV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キャッシュ最適化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が実運用の技術的基盤です。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167" y="2381097"/>
            <a:ext cx="5486400" cy="3981297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5911" y="3019348"/>
            <a:ext cx="500999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11" y="2667304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1500" b="1">
                <a:solidFill>
                  <a:srgbClr val="1D1D1F"/>
                </a:solidFill>
                <a:latin typeface="Cambria"/>
              </a:rPr>
              <a:t>AI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の定義と射程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319125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976164" y="343448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ユーザー端末（オンデバイス）、</a:t>
            </a:r>
            <a:r>
              <a:rPr sz="1200">
                <a:solidFill>
                  <a:srgbClr val="424245"/>
                </a:solidFill>
                <a:latin typeface="Cambria"/>
              </a:rPr>
              <a:t>PC</a:t>
            </a:r>
            <a:r>
              <a:rPr sz="1200">
                <a:solidFill>
                  <a:srgbClr val="424245"/>
                </a:solidFill>
                <a:latin typeface="Noto Sans JP"/>
              </a:rPr>
              <a:t>、またはローカル</a:t>
            </a:r>
            <a:r>
              <a:rPr sz="1200">
                <a:solidFill>
                  <a:srgbClr val="424245"/>
                </a:solidFill>
                <a:latin typeface="Cambria"/>
              </a:rPr>
              <a:t>LAN</a:t>
            </a:r>
            <a:r>
              <a:rPr sz="1200">
                <a:solidFill>
                  <a:srgbClr val="424245"/>
                </a:solidFill>
                <a:latin typeface="Noto Sans JP"/>
              </a:rPr>
              <a:t>内サーバで完結。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03707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976164" y="428030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入力データ（文書・音声・画像）がデフォルトでクラウドへ送出されない構成。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881981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976164" y="512612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LM Studio</a:t>
            </a:r>
            <a:r>
              <a:rPr sz="1200">
                <a:solidFill>
                  <a:srgbClr val="424245"/>
                </a:solidFill>
                <a:latin typeface="Noto Sans JP"/>
              </a:rPr>
              <a:t>や</a:t>
            </a:r>
            <a:r>
              <a:rPr sz="1200">
                <a:solidFill>
                  <a:srgbClr val="424245"/>
                </a:solidFill>
                <a:latin typeface="Cambria"/>
              </a:rPr>
              <a:t>Ollama</a:t>
            </a:r>
            <a:r>
              <a:rPr sz="1200">
                <a:solidFill>
                  <a:srgbClr val="424245"/>
                </a:solidFill>
                <a:latin typeface="Noto Sans JP"/>
              </a:rPr>
              <a:t>の「</a:t>
            </a:r>
            <a:r>
              <a:rPr sz="1200">
                <a:solidFill>
                  <a:srgbClr val="424245"/>
                </a:solidFill>
                <a:latin typeface="Cambria"/>
              </a:rPr>
              <a:t>localhost/network</a:t>
            </a:r>
            <a:r>
              <a:rPr sz="1200">
                <a:solidFill>
                  <a:srgbClr val="424245"/>
                </a:solidFill>
                <a:latin typeface="Noto Sans JP"/>
              </a:rPr>
              <a:t>公開」機能を含みます。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74" y="5408675"/>
            <a:ext cx="400506" cy="200253"/>
          </a:xfrm>
          <a:prstGeom prst="rect">
            <a:avLst/>
          </a:prstGeom>
          <a:ln w="0">
            <a:noFill/>
          </a:ln>
        </p:spPr>
      </p:pic>
      <p:sp>
        <p:nvSpPr>
          <p:cNvPr id="19" name="Rectangle 18"/>
          <p:cNvSpPr/>
          <p:nvPr/>
        </p:nvSpPr>
        <p:spPr>
          <a:xfrm>
            <a:off x="1052974" y="5408675"/>
            <a:ext cx="400506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[1][2]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11" y="5766206"/>
            <a:ext cx="857707" cy="276148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Localhost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027" y="5766206"/>
            <a:ext cx="1285646" cy="276148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On-Premise LAN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8253" y="5766206"/>
            <a:ext cx="1028700" cy="276148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Privacy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9062" y="2381097"/>
            <a:ext cx="5486400" cy="3981297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67721" y="3019348"/>
            <a:ext cx="5009998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721" y="2667304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中核技術（</a:t>
            </a:r>
            <a:r>
              <a:rPr sz="1500" b="1">
                <a:solidFill>
                  <a:srgbClr val="1D1D1F"/>
                </a:solidFill>
                <a:latin typeface="Cambria"/>
              </a:rPr>
              <a:t>Enabling Technologies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721" y="3191255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4bit</a:t>
            </a:r>
            <a:r>
              <a:rPr sz="1200">
                <a:solidFill>
                  <a:srgbClr val="424245"/>
                </a:solidFill>
                <a:latin typeface="Noto Sans JP"/>
              </a:rPr>
              <a:t>前後の</a:t>
            </a:r>
            <a:r>
              <a:rPr sz="1200">
                <a:solidFill>
                  <a:srgbClr val="424245"/>
                </a:solidFill>
                <a:latin typeface="Cambria"/>
              </a:rPr>
              <a:t>weight-only</a:t>
            </a:r>
            <a:r>
              <a:rPr sz="1200">
                <a:solidFill>
                  <a:srgbClr val="424245"/>
                </a:solidFill>
                <a:latin typeface="Noto Sans JP"/>
              </a:rPr>
              <a:t>量子化（</a:t>
            </a:r>
            <a:r>
              <a:rPr sz="1200">
                <a:solidFill>
                  <a:srgbClr val="424245"/>
                </a:solidFill>
                <a:latin typeface="Cambria"/>
              </a:rPr>
              <a:t>AWQ/GGUF</a:t>
            </a:r>
            <a:r>
              <a:rPr sz="1200">
                <a:solidFill>
                  <a:srgbClr val="424245"/>
                </a:solidFill>
                <a:latin typeface="Noto Sans JP"/>
              </a:rPr>
              <a:t>等）が主流。メモリ消費を劇的に削減し、コンシューマ機での実行を可能に。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0613" y="371703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3" name="Rectangle 32"/>
          <p:cNvSpPr/>
          <p:nvPr/>
        </p:nvSpPr>
        <p:spPr>
          <a:xfrm>
            <a:off x="10510613" y="371703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[4]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721" y="4037075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6796321" y="4280306"/>
            <a:ext cx="3781958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長文・多同時接続のメモリ管理が鍵。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Paged KV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メモリ断片化を防ぐ（</a:t>
            </a:r>
            <a:r>
              <a:rPr sz="1000">
                <a:solidFill>
                  <a:srgbClr val="4B5563"/>
                </a:solidFill>
                <a:latin typeface="Cambria"/>
              </a:rPr>
              <a:t>vLLM</a:t>
            </a:r>
            <a:r>
              <a:rPr sz="1000">
                <a:solidFill>
                  <a:srgbClr val="4B5563"/>
                </a:solidFill>
                <a:latin typeface="Noto Sans JP"/>
              </a:rPr>
              <a:t>等）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9309" y="4573828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8" name="Rectangle 37"/>
          <p:cNvSpPr/>
          <p:nvPr/>
        </p:nvSpPr>
        <p:spPr>
          <a:xfrm>
            <a:off x="10129309" y="4573828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4921" y="4774082"/>
            <a:ext cx="3477463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Quantized KV:</a:t>
            </a:r>
            <a:r>
              <a:rPr sz="1000">
                <a:solidFill>
                  <a:srgbClr val="4B5563"/>
                </a:solidFill>
                <a:latin typeface="Cambria"/>
              </a:rPr>
              <a:t> KV</a:t>
            </a:r>
            <a:r>
              <a:rPr sz="1000">
                <a:solidFill>
                  <a:srgbClr val="4B5563"/>
                </a:solidFill>
                <a:latin typeface="Noto Sans JP"/>
              </a:rPr>
              <a:t>を</a:t>
            </a:r>
            <a:r>
              <a:rPr sz="1000">
                <a:solidFill>
                  <a:srgbClr val="4B5563"/>
                </a:solidFill>
                <a:latin typeface="Cambria"/>
              </a:rPr>
              <a:t>FP8/INT4</a:t>
            </a:r>
            <a:r>
              <a:rPr sz="1000">
                <a:solidFill>
                  <a:srgbClr val="4B5563"/>
                </a:solidFill>
                <a:latin typeface="Noto Sans JP"/>
              </a:rPr>
              <a:t>化して容量削減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417" y="478505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1" name="Rectangle 40"/>
          <p:cNvSpPr/>
          <p:nvPr/>
        </p:nvSpPr>
        <p:spPr>
          <a:xfrm>
            <a:off x="9850417" y="478505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[6]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KV Reuse / Prompt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計算再利用で高速化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779" y="4996281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4" name="Rectangle 43"/>
          <p:cNvSpPr/>
          <p:nvPr/>
        </p:nvSpPr>
        <p:spPr>
          <a:xfrm>
            <a:off x="10006779" y="4996281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[7]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8" name="Rectangle 47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532" y="224028"/>
            <a:ext cx="32388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実運用ランタイムとハードウェア実用ライン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8234"/>
            <a:ext cx="10918850" cy="59070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結論：ランタイムは</a:t>
            </a:r>
            <a:r>
              <a:rPr b="1">
                <a:solidFill>
                  <a:srgbClr val="2563EB"/>
                </a:solidFill>
                <a:latin typeface="Cambria"/>
              </a:rPr>
              <a:t>llama.cpp/</a:t>
            </a:r>
            <a:r>
              <a:rPr b="1">
                <a:solidFill>
                  <a:srgbClr val="2563EB"/>
                </a:solidFill>
                <a:latin typeface="Cambria"/>
              </a:rPr>
              <a:t>GGUF</a:t>
            </a:r>
            <a:r>
              <a:rPr b="1">
                <a:solidFill>
                  <a:srgbClr val="2563EB"/>
                </a:solidFill>
                <a:latin typeface="Noto Sans JP"/>
              </a:rPr>
              <a:t>系・</a:t>
            </a:r>
            <a:r>
              <a:rPr b="1">
                <a:solidFill>
                  <a:srgbClr val="2563EB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が第一選択となり</a:t>
            </a:r>
            <a:r>
              <a:rPr b="1">
                <a:solidFill>
                  <a:srgbClr val="1D1D1F"/>
                </a:solidFill>
                <a:latin typeface="Noto Sans JP"/>
              </a:rPr>
              <a:t>、</a:t>
            </a:r>
          </a:p>
          <a:p>
            <a:pPr algn="l"/>
            <a:r>
              <a:rPr b="1">
                <a:solidFill>
                  <a:srgbClr val="1D1D1F"/>
                </a:solidFill>
                <a:latin typeface="Noto Sans JP"/>
              </a:rPr>
              <a:t>ハードウェアはメモリ容量で</a:t>
            </a:r>
            <a:r>
              <a:rPr b="1">
                <a:solidFill>
                  <a:srgbClr val="1D1D1F"/>
                </a:solidFill>
                <a:latin typeface="Cambria"/>
              </a:rPr>
              <a:t>Tier</a:t>
            </a:r>
            <a:r>
              <a:rPr b="1">
                <a:solidFill>
                  <a:srgbClr val="1D1D1F"/>
                </a:solidFill>
                <a:latin typeface="Noto Sans JP"/>
              </a:rPr>
              <a:t>化されます（長文は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支配</a:t>
            </a:r>
            <a:r>
              <a:rPr b="1">
                <a:solidFill>
                  <a:srgbClr val="1D1D1F"/>
                </a:solidFill>
                <a:latin typeface="Noto Sans JP"/>
              </a:rPr>
              <a:t>）。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1811" y="2382470"/>
            <a:ext cx="5486400" cy="3372306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2065" y="2915565"/>
            <a:ext cx="508680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5" y="2625700"/>
            <a:ext cx="190194" cy="171906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17356" y="2582723"/>
            <a:ext cx="2477110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実運用ランタイム（第一選択）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5" y="3049982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1644636" y="3049982"/>
            <a:ext cx="3326586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クロスプラットフォーム標準：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2" y="3059126"/>
            <a:ext cx="666597" cy="200253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/>
          <p:cNvSpPr/>
          <p:nvPr/>
        </p:nvSpPr>
        <p:spPr>
          <a:xfrm>
            <a:off x="941462" y="3059126"/>
            <a:ext cx="667512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llama.cpp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062" y="3302355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GGUF</a:t>
            </a:r>
            <a:r>
              <a:rPr sz="1000">
                <a:solidFill>
                  <a:srgbClr val="6E6E73"/>
                </a:solidFill>
                <a:latin typeface="Noto Sans JP"/>
              </a:rPr>
              <a:t>形式必須。最小セットアップで</a:t>
            </a:r>
            <a:r>
              <a:rPr sz="1000">
                <a:solidFill>
                  <a:srgbClr val="6E6E73"/>
                </a:solidFill>
                <a:latin typeface="Cambria"/>
              </a:rPr>
              <a:t>CPU/GPU</a:t>
            </a:r>
            <a:r>
              <a:rPr sz="1000">
                <a:solidFill>
                  <a:srgbClr val="6E6E73"/>
                </a:solidFill>
                <a:latin typeface="Noto Sans JP"/>
              </a:rPr>
              <a:t>推論が可能。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062" y="3540100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Noto Sans JP"/>
              </a:rPr>
              <a:t>軽量・汎用で多くのフロントエンドの基盤。</a:t>
            </a:r>
            <a:r>
              <a:rPr sz="900">
                <a:solidFill>
                  <a:srgbClr val="6B7280"/>
                </a:solidFill>
                <a:latin typeface="Cambria"/>
              </a:rPr>
              <a:t>[8]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65" y="3835451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2120124" y="3835451"/>
            <a:ext cx="2126894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UI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＋ローカル</a:t>
            </a:r>
            <a:r>
              <a:rPr sz="1100" b="1">
                <a:solidFill>
                  <a:srgbClr val="424245"/>
                </a:solidFill>
                <a:latin typeface="Cambria"/>
              </a:rPr>
              <a:t>API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：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260" y="3844595"/>
            <a:ext cx="1162201" cy="200253"/>
          </a:xfrm>
          <a:prstGeom prst="rect">
            <a:avLst/>
          </a:prstGeom>
          <a:ln w="0">
            <a:noFill/>
          </a:ln>
        </p:spPr>
      </p:pic>
      <p:sp>
        <p:nvSpPr>
          <p:cNvPr id="20" name="Rectangle 19"/>
          <p:cNvSpPr/>
          <p:nvPr/>
        </p:nvSpPr>
        <p:spPr>
          <a:xfrm>
            <a:off x="922260" y="3844595"/>
            <a:ext cx="1162201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Ollama / LM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860" y="4087826"/>
            <a:ext cx="30961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OpenAI</a:t>
            </a:r>
            <a:r>
              <a:rPr sz="1000">
                <a:solidFill>
                  <a:srgbClr val="6E6E73"/>
                </a:solidFill>
                <a:latin typeface="Noto Sans JP"/>
              </a:rPr>
              <a:t>互換</a:t>
            </a:r>
            <a:r>
              <a:rPr sz="1000">
                <a:solidFill>
                  <a:srgbClr val="6E6E73"/>
                </a:solidFill>
                <a:latin typeface="Cambria"/>
              </a:rPr>
              <a:t>API</a:t>
            </a:r>
            <a:r>
              <a:rPr sz="1000">
                <a:solidFill>
                  <a:srgbClr val="6E6E73"/>
                </a:solidFill>
                <a:latin typeface="Noto Sans JP"/>
              </a:rPr>
              <a:t>サーバとして動作（</a:t>
            </a:r>
            <a:r>
              <a:rPr sz="1000">
                <a:solidFill>
                  <a:srgbClr val="6E6E73"/>
                </a:solidFill>
                <a:latin typeface="Cambria"/>
              </a:rPr>
              <a:t>LAN</a:t>
            </a:r>
            <a:r>
              <a:rPr sz="1000">
                <a:solidFill>
                  <a:srgbClr val="6E6E73"/>
                </a:solidFill>
                <a:latin typeface="Noto Sans JP"/>
              </a:rPr>
              <a:t>公開可）。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860" y="4325570"/>
            <a:ext cx="313913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Windows/macOS/Linux</a:t>
            </a:r>
            <a:r>
              <a:rPr sz="1000">
                <a:solidFill>
                  <a:srgbClr val="6E6E73"/>
                </a:solidFill>
                <a:latin typeface="Noto Sans JP"/>
              </a:rPr>
              <a:t>対応で導入が容易。</a:t>
            </a:r>
            <a:r>
              <a:rPr sz="900">
                <a:solidFill>
                  <a:srgbClr val="6B7280"/>
                </a:solidFill>
                <a:latin typeface="Cambria"/>
              </a:rPr>
              <a:t>[23]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65" y="4620921"/>
            <a:ext cx="85953" cy="114300"/>
          </a:xfrm>
          <a:prstGeom prst="rect">
            <a:avLst/>
          </a:prstGeom>
          <a:ln w="0"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1277047" y="4620921"/>
            <a:ext cx="3341217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特化：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913" y="4630979"/>
            <a:ext cx="352044" cy="200253"/>
          </a:xfrm>
          <a:prstGeom prst="rect">
            <a:avLst/>
          </a:prstGeom>
          <a:ln w="0">
            <a:noFill/>
          </a:ln>
        </p:spPr>
      </p:pic>
      <p:sp>
        <p:nvSpPr>
          <p:cNvPr id="26" name="Rectangle 25"/>
          <p:cNvSpPr/>
          <p:nvPr/>
        </p:nvSpPr>
        <p:spPr>
          <a:xfrm>
            <a:off x="893913" y="4630979"/>
            <a:ext cx="3529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MLX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513" y="4873295"/>
            <a:ext cx="35725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Unified Memory</a:t>
            </a:r>
            <a:r>
              <a:rPr sz="1000">
                <a:solidFill>
                  <a:srgbClr val="6E6E73"/>
                </a:solidFill>
                <a:latin typeface="Noto Sans JP"/>
              </a:rPr>
              <a:t>前提で設計された配列フレームワーク。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513" y="5111954"/>
            <a:ext cx="352318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MLX-LM/MLX-VLM</a:t>
            </a:r>
            <a:r>
              <a:rPr sz="1000">
                <a:solidFill>
                  <a:srgbClr val="6E6E73"/>
                </a:solidFill>
                <a:latin typeface="Noto Sans JP"/>
              </a:rPr>
              <a:t>により</a:t>
            </a:r>
            <a:r>
              <a:rPr sz="1000">
                <a:solidFill>
                  <a:srgbClr val="6E6E73"/>
                </a:solidFill>
                <a:latin typeface="Cambria"/>
              </a:rPr>
              <a:t>Metal</a:t>
            </a:r>
            <a:r>
              <a:rPr sz="1000">
                <a:solidFill>
                  <a:srgbClr val="6E6E73"/>
                </a:solidFill>
                <a:latin typeface="Noto Sans JP"/>
              </a:rPr>
              <a:t>最適化推論を実現。</a:t>
            </a:r>
            <a:r>
              <a:rPr sz="900">
                <a:solidFill>
                  <a:srgbClr val="6B7280"/>
                </a:solidFill>
                <a:latin typeface="Cambria"/>
              </a:rPr>
              <a:t>[22]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2706" y="2382470"/>
            <a:ext cx="5486399" cy="3372306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2960" y="2915565"/>
            <a:ext cx="508680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960" y="2625700"/>
            <a:ext cx="171907" cy="171906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6789965" y="2582723"/>
            <a:ext cx="3333902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ハードウェア実用ライン（</a:t>
            </a:r>
            <a:r>
              <a:rPr sz="1300" b="1">
                <a:solidFill>
                  <a:srgbClr val="1D1D1F"/>
                </a:solidFill>
                <a:latin typeface="Cambria"/>
              </a:rPr>
              <a:t>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中心概算）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960" y="3049982"/>
            <a:ext cx="85954" cy="114300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6684809" y="3049982"/>
            <a:ext cx="351495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 (Unified Memory):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6153" y="3302355"/>
            <a:ext cx="2813609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7/8B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級（インタラクティブ）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3409" y="3302355"/>
            <a:ext cx="409650" cy="200253"/>
          </a:xfrm>
          <a:prstGeom prst="rect">
            <a:avLst/>
          </a:prstGeom>
          <a:ln w="0">
            <a:noFill/>
          </a:ln>
        </p:spPr>
      </p:pic>
      <p:sp>
        <p:nvSpPr>
          <p:cNvPr id="37" name="Rectangle 36"/>
          <p:cNvSpPr/>
          <p:nvPr/>
        </p:nvSpPr>
        <p:spPr>
          <a:xfrm>
            <a:off x="6913409" y="3302355"/>
            <a:ext cx="40965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16GB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0804" y="3540100"/>
            <a:ext cx="26389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級（業務実用・</a:t>
            </a:r>
            <a:r>
              <a:rPr sz="1000">
                <a:solidFill>
                  <a:srgbClr val="6E6E73"/>
                </a:solidFill>
                <a:latin typeface="Cambria"/>
              </a:rPr>
              <a:t>RAG</a:t>
            </a:r>
            <a:r>
              <a:rPr sz="1000">
                <a:solidFill>
                  <a:srgbClr val="6E6E73"/>
                </a:solidFill>
                <a:latin typeface="Noto Sans JP"/>
              </a:rPr>
              <a:t>最小ライン）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409" y="3540100"/>
            <a:ext cx="580644" cy="200253"/>
          </a:xfrm>
          <a:prstGeom prst="rect">
            <a:avLst/>
          </a:prstGeom>
          <a:ln w="0">
            <a:noFill/>
          </a:ln>
        </p:spPr>
      </p:pic>
      <p:sp>
        <p:nvSpPr>
          <p:cNvPr id="40" name="Rectangle 39"/>
          <p:cNvSpPr/>
          <p:nvPr/>
        </p:nvSpPr>
        <p:spPr>
          <a:xfrm>
            <a:off x="6913409" y="3540100"/>
            <a:ext cx="5815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24-32GB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905" y="3777844"/>
            <a:ext cx="2823667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32B</a:t>
            </a:r>
            <a:r>
              <a:rPr sz="1000">
                <a:solidFill>
                  <a:srgbClr val="6E6E73"/>
                </a:solidFill>
                <a:latin typeface="Noto Sans JP"/>
              </a:rPr>
              <a:t>級以上（高品質・長文要約可）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409" y="3777844"/>
            <a:ext cx="476402" cy="200253"/>
          </a:xfrm>
          <a:prstGeom prst="rect">
            <a:avLst/>
          </a:prstGeom>
          <a:ln w="0">
            <a:noFill/>
          </a:ln>
        </p:spPr>
      </p:pic>
      <p:sp>
        <p:nvSpPr>
          <p:cNvPr id="43" name="Rectangle 42"/>
          <p:cNvSpPr/>
          <p:nvPr/>
        </p:nvSpPr>
        <p:spPr>
          <a:xfrm>
            <a:off x="6913409" y="3777844"/>
            <a:ext cx="476402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64GB+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2960" y="4073195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45" name="TextBox 44"/>
          <p:cNvSpPr txBox="1"/>
          <p:nvPr/>
        </p:nvSpPr>
        <p:spPr>
          <a:xfrm>
            <a:off x="6704010" y="4073195"/>
            <a:ext cx="3191255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(Discrete GPU):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77847" y="4325570"/>
            <a:ext cx="229331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級（最小ライン）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2610" y="4325570"/>
            <a:ext cx="685800" cy="200253"/>
          </a:xfrm>
          <a:prstGeom prst="rect">
            <a:avLst/>
          </a:prstGeom>
          <a:ln w="0">
            <a:noFill/>
          </a:ln>
        </p:spPr>
      </p:pic>
      <p:sp>
        <p:nvSpPr>
          <p:cNvPr id="48" name="Rectangle 47"/>
          <p:cNvSpPr/>
          <p:nvPr/>
        </p:nvSpPr>
        <p:spPr>
          <a:xfrm>
            <a:off x="6932610" y="4325570"/>
            <a:ext cx="68580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8GB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8334" y="4564228"/>
            <a:ext cx="197693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級〜</a:t>
            </a:r>
            <a:r>
              <a:rPr sz="1000">
                <a:solidFill>
                  <a:srgbClr val="6E6E73"/>
                </a:solidFill>
                <a:latin typeface="Cambria"/>
              </a:rPr>
              <a:t>27B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級（品質寄り）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2610" y="4564228"/>
            <a:ext cx="923544" cy="200253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0"/>
          <p:cNvSpPr/>
          <p:nvPr/>
        </p:nvSpPr>
        <p:spPr>
          <a:xfrm>
            <a:off x="6932610" y="4564228"/>
            <a:ext cx="9244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12-16GB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44598" y="4801972"/>
            <a:ext cx="222656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32-34B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級・重い画像生成が実務域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610" y="4801972"/>
            <a:ext cx="752550" cy="200253"/>
          </a:xfrm>
          <a:prstGeom prst="rect">
            <a:avLst/>
          </a:prstGeom>
          <a:ln w="0">
            <a:noFill/>
          </a:ln>
        </p:spPr>
      </p:pic>
      <p:sp>
        <p:nvSpPr>
          <p:cNvPr id="54" name="Rectangle 53"/>
          <p:cNvSpPr/>
          <p:nvPr/>
        </p:nvSpPr>
        <p:spPr>
          <a:xfrm>
            <a:off x="6932610" y="4801972"/>
            <a:ext cx="75255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24GB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2960" y="5097323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56" name="TextBox 55"/>
          <p:cNvSpPr txBox="1"/>
          <p:nvPr/>
        </p:nvSpPr>
        <p:spPr>
          <a:xfrm>
            <a:off x="6732357" y="5097323"/>
            <a:ext cx="334396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CPU-only: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69286" y="5349698"/>
            <a:ext cx="230703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級が「使える」境界（</a:t>
            </a:r>
            <a:r>
              <a:rPr sz="1000">
                <a:solidFill>
                  <a:srgbClr val="6E6E73"/>
                </a:solidFill>
                <a:latin typeface="Cambria"/>
              </a:rPr>
              <a:t>AVX</a:t>
            </a:r>
            <a:r>
              <a:rPr sz="1000">
                <a:solidFill>
                  <a:srgbClr val="6E6E73"/>
                </a:solidFill>
                <a:latin typeface="Noto Sans JP"/>
              </a:rPr>
              <a:t>活用）。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60957" y="5349698"/>
            <a:ext cx="743407" cy="200253"/>
          </a:xfrm>
          <a:prstGeom prst="rect">
            <a:avLst/>
          </a:prstGeom>
          <a:ln w="0">
            <a:noFill/>
          </a:ln>
        </p:spPr>
      </p:pic>
      <p:sp>
        <p:nvSpPr>
          <p:cNvPr id="59" name="Rectangle 58"/>
          <p:cNvSpPr/>
          <p:nvPr/>
        </p:nvSpPr>
        <p:spPr>
          <a:xfrm>
            <a:off x="6960957" y="5349698"/>
            <a:ext cx="743407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32GB RAM+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1150" y="6200546"/>
            <a:ext cx="152705" cy="152705"/>
          </a:xfrm>
          <a:prstGeom prst="rect">
            <a:avLst/>
          </a:prstGeom>
          <a:ln w="0">
            <a:noFill/>
          </a:ln>
        </p:spPr>
      </p:pic>
      <p:sp>
        <p:nvSpPr>
          <p:cNvPr id="61" name="TextBox 60"/>
          <p:cNvSpPr txBox="1"/>
          <p:nvPr/>
        </p:nvSpPr>
        <p:spPr>
          <a:xfrm>
            <a:off x="1228954" y="6200546"/>
            <a:ext cx="10972800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78350F"/>
                </a:solidFill>
                <a:latin typeface="Noto Sans JP"/>
              </a:rPr>
              <a:t>上記は重み（</a:t>
            </a:r>
            <a:r>
              <a:rPr sz="1000">
                <a:solidFill>
                  <a:srgbClr val="78350F"/>
                </a:solidFill>
                <a:latin typeface="Cambria"/>
              </a:rPr>
              <a:t>weight-only</a:t>
            </a:r>
            <a:r>
              <a:rPr sz="1000">
                <a:solidFill>
                  <a:srgbClr val="78350F"/>
                </a:solidFill>
                <a:latin typeface="Noto Sans JP"/>
              </a:rPr>
              <a:t>）の概算です。長文（</a:t>
            </a:r>
            <a:r>
              <a:rPr sz="1000">
                <a:solidFill>
                  <a:srgbClr val="78350F"/>
                </a:solidFill>
                <a:latin typeface="Cambria"/>
              </a:rPr>
              <a:t>Long Context</a:t>
            </a:r>
            <a:r>
              <a:rPr sz="1000">
                <a:solidFill>
                  <a:srgbClr val="78350F"/>
                </a:solidFill>
                <a:latin typeface="Noto Sans JP"/>
              </a:rPr>
              <a:t>）を扱う場合、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キャッシュがメモリを線形に圧迫するため、別途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量子化やコンテキスト長制限（</a:t>
            </a:r>
            <a:r>
              <a:rPr sz="1000">
                <a:solidFill>
                  <a:srgbClr val="78350F"/>
                </a:solidFill>
                <a:latin typeface="Cambria"/>
              </a:rPr>
              <a:t>4k/8k</a:t>
            </a:r>
            <a:r>
              <a:rPr sz="1000">
                <a:solidFill>
                  <a:srgbClr val="78350F"/>
                </a:solidFill>
                <a:latin typeface="Noto Sans JP"/>
              </a:rPr>
              <a:t>等）の設計が必要です。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2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66" name="Rectangle 65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3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84878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0703" y="2667523"/>
            <a:ext cx="3638397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5459587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8302752" y="5482698"/>
            <a:ext cx="3238805" cy="49299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LLM</a:t>
            </a:r>
            <a:r>
              <a:rPr sz="1100">
                <a:solidFill>
                  <a:srgbClr val="1D1D1F"/>
                </a:solidFill>
                <a:latin typeface="Noto Sans JP"/>
              </a:rPr>
              <a:t>自体を軽くし、検索精度で補う生成タスクを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限定する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10" y="4658530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8" name="Rectangle 7"/>
          <p:cNvSpPr/>
          <p:nvPr/>
        </p:nvSpPr>
        <p:spPr>
          <a:xfrm>
            <a:off x="8312810" y="4656671"/>
            <a:ext cx="3238805" cy="51972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短いコンテキストで完結させる</a:t>
            </a:r>
            <a:r>
              <a:rPr sz="1100">
                <a:solidFill>
                  <a:srgbClr val="1D1D1F"/>
                </a:solidFill>
                <a:latin typeface="Cambria"/>
              </a:rPr>
              <a:t>RAG</a:t>
            </a:r>
            <a:r>
              <a:rPr sz="1100">
                <a:solidFill>
                  <a:srgbClr val="1D1D1F"/>
                </a:solidFill>
                <a:latin typeface="Noto Sans JP"/>
              </a:rPr>
              <a:t>は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Embedding</a:t>
            </a:r>
            <a:r>
              <a:rPr sz="1100">
                <a:solidFill>
                  <a:srgbClr val="1D1D1F"/>
                </a:solidFill>
                <a:latin typeface="Noto Sans JP"/>
              </a:rPr>
              <a:t>検索を重視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740" y="3416831"/>
            <a:ext cx="3238805" cy="352043"/>
          </a:xfrm>
          <a:prstGeom prst="rect">
            <a:avLst/>
          </a:prstGeom>
          <a:ln w="0">
            <a:noFill/>
          </a:ln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5" y="3417201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477817" y="3198158"/>
            <a:ext cx="3353104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532" y="204825"/>
            <a:ext cx="3353105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推奨スタック</a:t>
            </a:r>
            <a:r>
              <a:rPr sz="1000">
                <a:solidFill>
                  <a:srgbClr val="86868B"/>
                </a:solidFill>
                <a:latin typeface="Cambria"/>
              </a:rPr>
              <a:t>3</a:t>
            </a:r>
            <a:r>
              <a:rPr sz="1000">
                <a:solidFill>
                  <a:srgbClr val="86868B"/>
                </a:solidFill>
                <a:latin typeface="Noto Sans JP"/>
              </a:rPr>
              <a:t>パターン（</a:t>
            </a:r>
            <a:r>
              <a:rPr sz="1000">
                <a:solidFill>
                  <a:srgbClr val="86868B"/>
                </a:solidFill>
                <a:latin typeface="Cambria"/>
              </a:rPr>
              <a:t>Tier</a:t>
            </a:r>
            <a:r>
              <a:rPr sz="1000">
                <a:solidFill>
                  <a:srgbClr val="86868B"/>
                </a:solidFill>
                <a:latin typeface="Noto Sans JP"/>
              </a:rPr>
              <a:t>別構成案）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428522"/>
            <a:ext cx="10840212" cy="5714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結論：用途とリソースに応じて「低コスト／高品質／ハード制約」の</a:t>
            </a:r>
            <a:r>
              <a:rPr b="1">
                <a:solidFill>
                  <a:srgbClr val="1D1D1F"/>
                </a:solidFill>
                <a:latin typeface="Cambria"/>
              </a:rPr>
              <a:t>3</a:t>
            </a:r>
            <a:r>
              <a:rPr b="1">
                <a:solidFill>
                  <a:srgbClr val="1D1D1F"/>
                </a:solidFill>
                <a:latin typeface="Noto Sans JP"/>
              </a:rPr>
              <a:t>構成を選択します。</a:t>
            </a:r>
          </a:p>
          <a:p>
            <a:pPr algn="l"/>
            <a:r>
              <a:rPr sz="1400" b="1">
                <a:solidFill>
                  <a:srgbClr val="424245"/>
                </a:solidFill>
                <a:latin typeface="Noto Sans JP"/>
              </a:rPr>
              <a:t>※各構成の具体的な失敗モードと回避策は、後述の「ユースケース別推奨スタック」章で詳細に展開します。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34C759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1445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22" y="2602472"/>
            <a:ext cx="219455" cy="190194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1901952" y="2554923"/>
            <a:ext cx="123443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低コスト構成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3417201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657454" y="3415499"/>
            <a:ext cx="3238805" cy="33534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CPU</a:t>
            </a:r>
            <a:r>
              <a:rPr sz="1100">
                <a:solidFill>
                  <a:srgbClr val="1D1D1F"/>
                </a:solidFill>
                <a:latin typeface="Noto Sans JP"/>
              </a:rPr>
              <a:t>のみ</a:t>
            </a:r>
            <a:r>
              <a:rPr sz="1100">
                <a:solidFill>
                  <a:srgbClr val="1D1D1F"/>
                </a:solidFill>
                <a:latin typeface="Cambria"/>
              </a:rPr>
              <a:t> / </a:t>
            </a:r>
            <a:r>
              <a:rPr sz="1100">
                <a:solidFill>
                  <a:srgbClr val="1D1D1F"/>
                </a:solidFill>
                <a:latin typeface="Noto Sans JP"/>
              </a:rPr>
              <a:t>エントリー</a:t>
            </a:r>
            <a:r>
              <a:rPr sz="1100">
                <a:solidFill>
                  <a:srgbClr val="1D1D1F"/>
                </a:solidFill>
                <a:latin typeface="Cambria"/>
              </a:rPr>
              <a:t>GPU / Apple 16GB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1" y="3890380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1" y="4520268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4" y="5114579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 Embedding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527" y="5933772"/>
            <a:ext cx="1333195" cy="247801"/>
          </a:xfrm>
          <a:prstGeom prst="rect">
            <a:avLst/>
          </a:prstGeom>
          <a:ln w="0">
            <a:noFill/>
          </a:ln>
        </p:spPr>
      </p:pic>
      <p:sp>
        <p:nvSpPr>
          <p:cNvPr id="28" name="Rectangle 27"/>
          <p:cNvSpPr/>
          <p:nvPr/>
        </p:nvSpPr>
        <p:spPr>
          <a:xfrm>
            <a:off x="2713983" y="5933772"/>
            <a:ext cx="11146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最低限の業務自動化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422" y="6000523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30" name="Rounded Rectangle 29"/>
          <p:cNvSpPr/>
          <p:nvPr/>
        </p:nvSpPr>
        <p:spPr>
          <a:xfrm>
            <a:off x="4289450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007AFF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19649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626" y="2602472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5820156" y="2554923"/>
            <a:ext cx="1028700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高品質構成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79646" y="3417201"/>
            <a:ext cx="3238804" cy="35167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搭載機</a:t>
            </a:r>
            <a:r>
              <a:rPr sz="1100">
                <a:solidFill>
                  <a:srgbClr val="1D1D1F"/>
                </a:solidFill>
                <a:latin typeface="Cambria"/>
              </a:rPr>
              <a:t> (VRAM 16-24GB+) Apple 64GB+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040" y="5933772"/>
            <a:ext cx="1447495" cy="247801"/>
          </a:xfrm>
          <a:prstGeom prst="rect">
            <a:avLst/>
          </a:prstGeom>
          <a:ln w="0">
            <a:noFill/>
          </a:ln>
        </p:spPr>
      </p:pic>
      <p:sp>
        <p:nvSpPr>
          <p:cNvPr id="36" name="Rectangle 35"/>
          <p:cNvSpPr/>
          <p:nvPr/>
        </p:nvSpPr>
        <p:spPr>
          <a:xfrm>
            <a:off x="6489496" y="5933772"/>
            <a:ext cx="12289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リッチな体験・高精度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849" y="6000523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8112557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FF9500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51646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9253" y="2602472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9452153" y="2554923"/>
            <a:ext cx="144017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ハード制約構成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3417201"/>
            <a:ext cx="3238805" cy="35007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低スペック</a:t>
            </a:r>
            <a:r>
              <a:rPr sz="1100">
                <a:solidFill>
                  <a:srgbClr val="1D1D1F"/>
                </a:solidFill>
                <a:latin typeface="Cambria"/>
              </a:rPr>
              <a:t>PC / </a:t>
            </a:r>
            <a:r>
              <a:rPr sz="1100">
                <a:solidFill>
                  <a:srgbClr val="1D1D1F"/>
                </a:solidFill>
                <a:latin typeface="Noto Sans JP"/>
              </a:rPr>
              <a:t>古い</a:t>
            </a:r>
            <a:r>
              <a:rPr sz="1100">
                <a:solidFill>
                  <a:srgbClr val="1D1D1F"/>
                </a:solidFill>
                <a:latin typeface="Cambria"/>
              </a:rPr>
              <a:t>Mac </a:t>
            </a:r>
            <a:r>
              <a:rPr sz="1100">
                <a:solidFill>
                  <a:srgbClr val="1D1D1F"/>
                </a:solidFill>
                <a:latin typeface="Noto Sans JP"/>
              </a:rPr>
              <a:t>メモリ</a:t>
            </a:r>
            <a:r>
              <a:rPr sz="1100">
                <a:solidFill>
                  <a:srgbClr val="1D1D1F"/>
                </a:solidFill>
                <a:latin typeface="Cambria"/>
              </a:rPr>
              <a:t>8GB</a:t>
            </a:r>
            <a:r>
              <a:rPr sz="1100">
                <a:solidFill>
                  <a:srgbClr val="1D1D1F"/>
                </a:solidFill>
                <a:latin typeface="Noto Sans JP"/>
              </a:rPr>
              <a:t>以下等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461185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9" y="5264102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Compromise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1805" y="6077577"/>
            <a:ext cx="1218895" cy="247801"/>
          </a:xfrm>
          <a:prstGeom prst="rect">
            <a:avLst/>
          </a:prstGeom>
          <a:ln w="0">
            <a:noFill/>
          </a:ln>
        </p:spPr>
      </p:pic>
      <p:sp>
        <p:nvSpPr>
          <p:cNvPr id="46" name="Rectangle 45"/>
          <p:cNvSpPr/>
          <p:nvPr/>
        </p:nvSpPr>
        <p:spPr>
          <a:xfrm>
            <a:off x="10551261" y="6077577"/>
            <a:ext cx="10003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極限環境での動作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700" y="6148900"/>
            <a:ext cx="105155" cy="11430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3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" y="1032380"/>
            <a:ext cx="12191695" cy="9143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9086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053077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/>
          <p:cNvSpPr/>
          <p:nvPr/>
        </p:nvSpPr>
        <p:spPr>
          <a:xfrm>
            <a:off x="657454" y="4058321"/>
            <a:ext cx="3238805" cy="3372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llama.cpp (GGUF Q4/K) Ollama / LM Studio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688952"/>
            <a:ext cx="3238805" cy="352044"/>
          </a:xfrm>
          <a:prstGeom prst="rect">
            <a:avLst/>
          </a:prstGeom>
          <a:ln w="0">
            <a:noFill/>
          </a:ln>
        </p:spPr>
      </p:pic>
      <p:sp>
        <p:nvSpPr>
          <p:cNvPr id="55" name="Rectangle 54"/>
          <p:cNvSpPr/>
          <p:nvPr/>
        </p:nvSpPr>
        <p:spPr>
          <a:xfrm>
            <a:off x="662941" y="4688952"/>
            <a:ext cx="3238805" cy="35887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(INT8) Piper / Kokoro (</a:t>
            </a:r>
            <a:r>
              <a:rPr sz="1100">
                <a:solidFill>
                  <a:srgbClr val="1D1D1F"/>
                </a:solidFill>
                <a:latin typeface="Noto Sans JP"/>
              </a:rPr>
              <a:t>軽量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532748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7" name="Rectangle 56"/>
          <p:cNvSpPr/>
          <p:nvPr/>
        </p:nvSpPr>
        <p:spPr>
          <a:xfrm>
            <a:off x="656538" y="5324827"/>
            <a:ext cx="3238805" cy="34425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BGE-M3 (</a:t>
            </a:r>
            <a:r>
              <a:rPr sz="1100">
                <a:solidFill>
                  <a:srgbClr val="1D1D1F"/>
                </a:solidFill>
                <a:latin typeface="Noto Sans JP"/>
              </a:rPr>
              <a:t>多言語・多用途</a:t>
            </a:r>
            <a:r>
              <a:rPr sz="1100">
                <a:solidFill>
                  <a:srgbClr val="1D1D1F"/>
                </a:solidFill>
                <a:latin typeface="Cambria"/>
              </a:rPr>
              <a:t>) bge-reranker-base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3363" y="3887665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3363" y="4517553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7876" y="511186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/VLM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050361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686237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5324774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8318297" y="3870642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5" y="403333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66" name="Rectangle 65"/>
          <p:cNvSpPr/>
          <p:nvPr/>
        </p:nvSpPr>
        <p:spPr>
          <a:xfrm>
            <a:off x="4476597" y="4049599"/>
            <a:ext cx="3238804" cy="35204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優先</a:t>
            </a:r>
            <a:r>
              <a:rPr sz="1100">
                <a:solidFill>
                  <a:srgbClr val="1D1D1F"/>
                </a:solidFill>
                <a:latin typeface="Cambria"/>
              </a:rPr>
              <a:t> (TensorRT-LLM / vLLM) 32B</a:t>
            </a:r>
            <a:r>
              <a:rPr sz="1100">
                <a:solidFill>
                  <a:srgbClr val="1D1D1F"/>
                </a:solidFill>
                <a:latin typeface="Noto Sans JP"/>
              </a:rPr>
              <a:t>〜</a:t>
            </a:r>
            <a:r>
              <a:rPr sz="1100">
                <a:solidFill>
                  <a:srgbClr val="1D1D1F"/>
                </a:solidFill>
                <a:latin typeface="Cambria"/>
              </a:rPr>
              <a:t>70B</a:t>
            </a:r>
            <a:r>
              <a:rPr sz="1100">
                <a:solidFill>
                  <a:srgbClr val="1D1D1F"/>
                </a:solidFill>
                <a:latin typeface="Noto Sans JP"/>
              </a:rPr>
              <a:t>級モデル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73316" y="4688952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(GPU) XTTS / StyleTTS2 (</a:t>
            </a:r>
            <a:r>
              <a:rPr sz="1100">
                <a:solidFill>
                  <a:srgbClr val="1D1D1F"/>
                </a:solidFill>
                <a:latin typeface="Noto Sans JP"/>
              </a:rPr>
              <a:t>高品質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73316" y="5334974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bge-reranker-large Qwen2-VL 7B / InternVL2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2752" y="4047632"/>
            <a:ext cx="3238805" cy="333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Phi-3 mini (3.8B) </a:t>
            </a:r>
            <a:r>
              <a:rPr sz="1100">
                <a:solidFill>
                  <a:srgbClr val="1D1D1F"/>
                </a:solidFill>
                <a:latin typeface="Noto Sans JP"/>
              </a:rPr>
              <a:t>等</a:t>
            </a:r>
            <a:r>
              <a:rPr sz="1100">
                <a:solidFill>
                  <a:srgbClr val="1D1D1F"/>
                </a:solidFill>
                <a:latin typeface="Cambria"/>
              </a:rPr>
              <a:t> GGUF Q4 (</a:t>
            </a:r>
            <a:r>
              <a:rPr sz="1100">
                <a:solidFill>
                  <a:srgbClr val="1D1D1F"/>
                </a:solidFill>
                <a:latin typeface="Noto Sans JP"/>
              </a:rPr>
              <a:t>極小モデル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71" name="Rectangle 70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4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