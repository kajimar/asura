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3383279" y="3844138"/>
            <a:ext cx="534010"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4" name="Rectangle 3"/>
          <p:cNvSpPr/>
          <p:nvPr/>
        </p:nvSpPr>
        <p:spPr>
          <a:xfrm>
            <a:off x="5239510" y="3844138"/>
            <a:ext cx="50474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5" name="Rectangle 4"/>
          <p:cNvSpPr/>
          <p:nvPr/>
        </p:nvSpPr>
        <p:spPr>
          <a:xfrm>
            <a:off x="7651697" y="3844138"/>
            <a:ext cx="1162202"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6" name="Rectangle 5"/>
          <p:cNvSpPr/>
          <p:nvPr/>
        </p:nvSpPr>
        <p:spPr>
          <a:xfrm>
            <a:off x="4637837" y="3844138"/>
            <a:ext cx="512977"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7" name="Rectangle 6"/>
          <p:cNvSpPr/>
          <p:nvPr/>
        </p:nvSpPr>
        <p:spPr>
          <a:xfrm>
            <a:off x="4631436" y="3844138"/>
            <a:ext cx="5239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テンプレート選択</a:t>
            </a:r>
          </a:p>
        </p:txBody>
      </p:sp>
      <p:sp>
        <p:nvSpPr>
          <p:cNvPr id="8" name="Rectangle 7"/>
          <p:cNvSpPr/>
          <p:nvPr/>
        </p:nvSpPr>
        <p:spPr>
          <a:xfrm>
            <a:off x="3384194"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コンテキスト設計</a:t>
            </a:r>
          </a:p>
        </p:txBody>
      </p:sp>
      <p:sp>
        <p:nvSpPr>
          <p:cNvPr id="9" name="Rectangle 8"/>
          <p:cNvSpPr/>
          <p:nvPr/>
        </p:nvSpPr>
        <p:spPr>
          <a:xfrm>
            <a:off x="5244998" y="3844138"/>
            <a:ext cx="50566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0" name="Rectangle 9"/>
          <p:cNvSpPr/>
          <p:nvPr/>
        </p:nvSpPr>
        <p:spPr>
          <a:xfrm>
            <a:off x="7653528" y="3844138"/>
            <a:ext cx="1162202"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1" name="Rectangle 10"/>
          <p:cNvSpPr/>
          <p:nvPr/>
        </p:nvSpPr>
        <p:spPr>
          <a:xfrm>
            <a:off x="4010558" y="3844138"/>
            <a:ext cx="526693"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2" name="Rectangle 11"/>
          <p:cNvSpPr/>
          <p:nvPr/>
        </p:nvSpPr>
        <p:spPr>
          <a:xfrm>
            <a:off x="5844846" y="3844138"/>
            <a:ext cx="532179"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3" name="Rectangle 12"/>
          <p:cNvSpPr/>
          <p:nvPr/>
        </p:nvSpPr>
        <p:spPr>
          <a:xfrm>
            <a:off x="6472124" y="3847636"/>
            <a:ext cx="1090878" cy="309524"/>
          </a:xfrm>
          <a:prstGeom prst="rect">
            <a:avLst/>
          </a:prstGeom>
          <a:noFill/>
          <a:ln w="38100"/>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4" name="Rectangle 13"/>
          <p:cNvSpPr/>
          <p:nvPr/>
        </p:nvSpPr>
        <p:spPr>
          <a:xfrm>
            <a:off x="4005072"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000">
                <a:solidFill>
                  <a:srgbClr val="1D1D1F"/>
                </a:solidFill>
                <a:latin typeface="Cambria"/>
              </a:rPr>
              <a:t>ローカル前処理</a:t>
            </a:r>
          </a:p>
        </p:txBody>
      </p:sp>
      <p:sp>
        <p:nvSpPr>
          <p:cNvPr id="15" name="Rectangle 14"/>
          <p:cNvSpPr/>
          <p:nvPr/>
        </p:nvSpPr>
        <p:spPr>
          <a:xfrm>
            <a:off x="5844845" y="3844138"/>
            <a:ext cx="534010"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6" name="Rectangle 15"/>
          <p:cNvSpPr/>
          <p:nvPr/>
        </p:nvSpPr>
        <p:spPr>
          <a:xfrm>
            <a:off x="6467551" y="3844138"/>
            <a:ext cx="1095451" cy="314553"/>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TextBox 16"/>
          <p:cNvSpPr txBox="1"/>
          <p:nvPr/>
        </p:nvSpPr>
        <p:spPr>
          <a:xfrm>
            <a:off x="0" y="6277356"/>
            <a:ext cx="12306910" cy="200253"/>
          </a:xfrm>
          <a:prstGeom prst="rect">
            <a:avLst/>
          </a:prstGeom>
          <a:ln w="0">
            <a:noFill/>
          </a:ln>
          <a:noFill/>
        </p:spPr>
        <p:txBody>
          <a:bodyPr wrap="square" lIns="0" rIns="0" tIns="0" bIns="0">
            <a:noAutofit/>
          </a:bodyPr>
          <a:lstStyle/>
          <a:p>
            <a:pPr algn="ctr"/>
            <a:r>
              <a:rPr sz="1000">
                <a:solidFill>
                  <a:srgbClr val="86868B"/>
                </a:solidFill>
                <a:latin typeface="Cambria"/>
              </a:rPr>
              <a:t>一次情報の収集・安全化・構造化による生成AI活用の試作</a:t>
            </a:r>
          </a:p>
        </p:txBody>
      </p:sp>
      <p:pic>
        <p:nvPicPr>
          <p:cNvPr id="18" name="Picture 17" descr="image.png"/>
          <p:cNvPicPr>
            <a:picLocks noChangeAspect="1"/>
          </p:cNvPicPr>
          <p:nvPr/>
        </p:nvPicPr>
        <p:blipFill>
          <a:blip r:embed="rId2"/>
          <a:stretch>
            <a:fillRect/>
          </a:stretch>
        </p:blipFill>
        <p:spPr>
          <a:xfrm>
            <a:off x="2190902" y="809244"/>
            <a:ext cx="609905" cy="609905"/>
          </a:xfrm>
          <a:prstGeom prst="rect">
            <a:avLst/>
          </a:prstGeom>
          <a:ln w="0">
            <a:noFill/>
          </a:ln>
        </p:spPr>
      </p:pic>
      <p:sp>
        <p:nvSpPr>
          <p:cNvPr id="19" name="TextBox 18"/>
          <p:cNvSpPr txBox="1"/>
          <p:nvPr/>
        </p:nvSpPr>
        <p:spPr>
          <a:xfrm>
            <a:off x="2133295" y="1705356"/>
            <a:ext cx="7925105" cy="257861"/>
          </a:xfrm>
          <a:prstGeom prst="rect">
            <a:avLst/>
          </a:prstGeom>
          <a:ln w="0">
            <a:noFill/>
          </a:ln>
          <a:noFill/>
        </p:spPr>
        <p:txBody>
          <a:bodyPr wrap="square" lIns="0" rIns="0" tIns="0" bIns="0">
            <a:noAutofit/>
          </a:bodyPr>
          <a:lstStyle/>
          <a:p>
            <a:pPr algn="ctr"/>
            <a:r>
              <a:rPr sz="1300">
                <a:solidFill>
                  <a:srgbClr val="86868B"/>
                </a:solidFill>
                <a:latin typeface="Cambria"/>
              </a:rPr>
              <a:t>AI WORKFLOW DESIGN</a:t>
            </a:r>
          </a:p>
        </p:txBody>
      </p:sp>
      <p:sp>
        <p:nvSpPr>
          <p:cNvPr id="20" name="TextBox 19"/>
          <p:cNvSpPr txBox="1"/>
          <p:nvPr/>
        </p:nvSpPr>
        <p:spPr>
          <a:xfrm>
            <a:off x="1677924" y="2190902"/>
            <a:ext cx="8837676" cy="590701"/>
          </a:xfrm>
          <a:prstGeom prst="rect">
            <a:avLst/>
          </a:prstGeom>
          <a:ln w="0">
            <a:noFill/>
          </a:ln>
          <a:noFill/>
        </p:spPr>
        <p:txBody>
          <a:bodyPr wrap="square" lIns="0" rIns="0" tIns="0" bIns="0">
            <a:noAutofit/>
          </a:bodyPr>
          <a:lstStyle/>
          <a:p>
            <a:pPr algn="ctr"/>
            <a:r>
              <a:rPr sz="4200" b="1">
                <a:solidFill>
                  <a:srgbClr val="1D1D1F"/>
                </a:solidFill>
                <a:latin typeface="Noto Sans JP"/>
              </a:rPr>
              <a:t>一次情報の収集・安全化・構造化による生成AI活用の試作</a:t>
            </a:r>
          </a:p>
        </p:txBody>
      </p:sp>
      <p:sp>
        <p:nvSpPr>
          <p:cNvPr id="21" name="TextBox 20"/>
          <p:cNvSpPr txBox="1"/>
          <p:nvPr/>
        </p:nvSpPr>
        <p:spPr>
          <a:xfrm>
            <a:off x="2095805" y="2929738"/>
            <a:ext cx="8001000" cy="457200"/>
          </a:xfrm>
          <a:prstGeom prst="rect">
            <a:avLst/>
          </a:prstGeom>
          <a:ln w="0">
            <a:noFill/>
          </a:ln>
          <a:noFill/>
        </p:spPr>
        <p:txBody>
          <a:bodyPr wrap="square" lIns="0" rIns="0" tIns="0" bIns="0">
            <a:noAutofit/>
          </a:bodyPr>
          <a:lstStyle/>
          <a:p>
            <a:pPr algn="ctr"/>
            <a:r>
              <a:rPr sz="2400">
                <a:solidFill>
                  <a:srgbClr val="424245"/>
                </a:solidFill>
                <a:latin typeface="Noto Sans JP"/>
              </a:rPr>
              <a:t>3つのユースケースを通じた実務適用の整理</a:t>
            </a:r>
          </a:p>
        </p:txBody>
      </p:sp>
      <p:sp>
        <p:nvSpPr>
          <p:cNvPr id="22" name="Rounded Rectangle 21"/>
          <p:cNvSpPr/>
          <p:nvPr/>
        </p:nvSpPr>
        <p:spPr>
          <a:xfrm>
            <a:off x="2190902" y="4463186"/>
            <a:ext cx="7810805" cy="1591055"/>
          </a:xfrm>
          <a:prstGeom prst="roundRect">
            <a:avLst/>
          </a:prstGeom>
          <a:solidFill>
            <a:srgbClr val="F5F5F7"/>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2190902" y="4463186"/>
            <a:ext cx="38405" cy="159105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2533802" y="4691786"/>
            <a:ext cx="7277710" cy="228600"/>
          </a:xfrm>
          <a:prstGeom prst="rect">
            <a:avLst/>
          </a:prstGeom>
          <a:ln w="0">
            <a:noFill/>
          </a:ln>
          <a:noFill/>
        </p:spPr>
        <p:txBody>
          <a:bodyPr wrap="square" lIns="0" rIns="0" tIns="0" bIns="0">
            <a:noAutofit/>
          </a:bodyPr>
          <a:lstStyle/>
          <a:p>
            <a:pPr algn="l"/>
            <a:r>
              <a:rPr sz="1200" b="1">
                <a:solidFill>
                  <a:srgbClr val="007AFF"/>
                </a:solidFill>
                <a:latin typeface="Cambria"/>
              </a:rPr>
              <a:t>Takeaway</a:t>
            </a:r>
          </a:p>
        </p:txBody>
      </p:sp>
      <p:sp>
        <p:nvSpPr>
          <p:cNvPr id="25" name="TextBox 24"/>
          <p:cNvSpPr txBox="1"/>
          <p:nvPr/>
        </p:nvSpPr>
        <p:spPr>
          <a:xfrm>
            <a:off x="2533802" y="4997196"/>
            <a:ext cx="7239305" cy="829360"/>
          </a:xfrm>
          <a:prstGeom prst="rect">
            <a:avLst/>
          </a:prstGeom>
          <a:ln w="0">
            <a:noFill/>
          </a:ln>
          <a:noFill/>
        </p:spPr>
        <p:txBody>
          <a:bodyPr wrap="square" lIns="0" rIns="0" tIns="0" bIns="0">
            <a:noAutofit/>
          </a:bodyPr>
          <a:lstStyle/>
          <a:p>
            <a:pPr algn="l"/>
            <a:r>
              <a:rPr sz="1300">
                <a:solidFill>
                  <a:srgbClr val="1D1D1F"/>
                </a:solidFill>
                <a:latin typeface="Cambria"/>
              </a:rPr>
              <a:t>生成AIの品質差は、モデル差よりも、一次情報をどれだけ集めて・安全に前処理して・目的に沿って構造化して渡せるかで決まる。</a:t>
            </a:r>
          </a:p>
        </p:txBody>
      </p:sp>
      <p:sp>
        <p:nvSpPr>
          <p:cNvPr id="26" name="Rectangle 25"/>
          <p:cNvSpPr/>
          <p:nvPr/>
        </p:nvSpPr>
        <p:spPr>
          <a:xfrm>
            <a:off x="0" y="0"/>
            <a:ext cx="12192001" cy="75896"/>
          </a:xfrm>
          <a:prstGeom prst="rect">
            <a:avLst/>
          </a:prstGeom>
          <a:solidFill>
            <a:srgbClr val="02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モデル差より、一次情報の収集と入力設計が価値になる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MY PERSPECTIVE</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モデル性能は今後も上がる。現場で差が出るのは、何をどう渡せるかである。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前提</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基盤モデル自体は今後も継続的に高性能化すると考えている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モデルそのものを作る競争では大手基盤モデル企業に勝ちにくい</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人間の役割</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人間は一次情報を集め、目的に沿ってAIへ渡す側に回るべきである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実務では会議・意思決定・背景事情の取得設計が重要になる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設計の中心</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重要なのは収集・安全化・構造化の3点である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AI活用の品質課題は、モデル不足よりコンテキスト不足として捉える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2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今回紹介する3つのユースケース</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OVERVIEW</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3つとも、一次情報を集めて目的別の出力へ変換するという共通思想で動いている。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ユースケース1</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会議コンテキストを収集する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マスキング後に外部生成AIで壁打ち品質を上げる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ユースケース2</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会議・議事録をローカルLLMで構造化する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ローカル完結で報告資料や提案資料を生成する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ユースケース3</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自作ノート・公開資料・許諾済み資料を再加工する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学習しやすい形式のコンテンツへ変換する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3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会議コンテキストを収集し、マスキング後に外部生成AIで壁打ち品質を上げる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1</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外部生成AIを使うなら、文脈収集とマスキングはセットで設計する必要がある。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会議音声、アジェンダ、補足メモを一次情報として収集する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PLAUD NotePin や議事録ツールを活用する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前処理</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Whisperで文字起こしする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企業名、顧客名、数値、日付などをローカルでマスキングする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出力</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安全化済み文脈だけを外部生成AIへ渡す</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会議理解、壁打ち、論点整理の品質を上げる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4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5 | 一次情報の収集・安全化・構造化による生成AI活用の試作</a:t>
            </a:r>
          </a:p>
        </p:txBody>
      </p:sp>
      <p:sp>
        <p:nvSpPr>
          <p:cNvPr id="6" name="Rectangle 5"/>
          <p:cNvSpPr/>
          <p:nvPr/>
        </p:nvSpPr>
        <p:spPr>
          <a:xfrm>
            <a:off x="0" y="0"/>
            <a:ext cx="12192001" cy="54865"/>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10032957" y="4967704"/>
            <a:ext cx="724205" cy="205632"/>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765806" y="4941590"/>
            <a:ext cx="4877410" cy="257860"/>
          </a:xfrm>
          <a:prstGeom prst="rect">
            <a:avLst/>
          </a:prstGeom>
          <a:ln w="0">
            <a:noFill/>
          </a:ln>
          <a:noFill/>
        </p:spPr>
        <p:txBody>
          <a:bodyPr wrap="square" lIns="0" rIns="0" tIns="0" bIns="0">
            <a:noAutofit/>
          </a:bodyPr>
          <a:lstStyle/>
          <a:p>
            <a:pPr algn="l"/>
            <a:r>
              <a:rPr sz="1300" b="1">
                <a:solidFill>
                  <a:srgbClr val="1F2937"/>
                </a:solidFill>
                <a:latin typeface="Noto Sans JP"/>
              </a:rPr>
              <a:t>最終確認のみ人が担う形に寄せられる</a:t>
            </a:r>
          </a:p>
        </p:txBody>
      </p:sp>
      <p:sp>
        <p:nvSpPr>
          <p:cNvPr id="9" name="Rectangle 8"/>
          <p:cNvSpPr/>
          <p:nvPr/>
        </p:nvSpPr>
        <p:spPr>
          <a:xfrm>
            <a:off x="10032957" y="4965364"/>
            <a:ext cx="724205"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865269" y="4089825"/>
            <a:ext cx="504749" cy="209398"/>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8866183" y="4089368"/>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742032" y="3188685"/>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マスキング済み文脈だけを外部AIへ渡せる</a:t>
            </a:r>
          </a:p>
        </p:txBody>
      </p:sp>
      <p:sp>
        <p:nvSpPr>
          <p:cNvPr id="13" name="Rounded Rectangle 12"/>
          <p:cNvSpPr/>
          <p:nvPr/>
        </p:nvSpPr>
        <p:spPr>
          <a:xfrm>
            <a:off x="9729376" y="3246292"/>
            <a:ext cx="391363" cy="187344"/>
          </a:xfrm>
          <a:prstGeom prst="roundRect">
            <a:avLst/>
          </a:prstGeom>
          <a:solidFill>
            <a:srgbClr val="DCEAFE"/>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3190694" y="4100852"/>
            <a:ext cx="484246" cy="187344"/>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70339" y="4065594"/>
            <a:ext cx="4924958" cy="257860"/>
          </a:xfrm>
          <a:prstGeom prst="rect">
            <a:avLst/>
          </a:prstGeom>
          <a:ln w="0">
            <a:noFill/>
          </a:ln>
          <a:noFill/>
        </p:spPr>
        <p:txBody>
          <a:bodyPr wrap="square" lIns="0" rIns="0" tIns="0" bIns="0">
            <a:noAutofit/>
          </a:bodyPr>
          <a:lstStyle/>
          <a:p>
            <a:pPr algn="l"/>
            <a:r>
              <a:rPr sz="1300" b="1">
                <a:solidFill>
                  <a:srgbClr val="1F2937"/>
                </a:solidFill>
                <a:latin typeface="Cambria"/>
              </a:rPr>
              <a:t>利用者ごとの属人的な判断に依存する</a:t>
            </a:r>
          </a:p>
        </p:txBody>
      </p:sp>
      <p:sp>
        <p:nvSpPr>
          <p:cNvPr id="16" name="Rectangle 15"/>
          <p:cNvSpPr/>
          <p:nvPr/>
        </p:nvSpPr>
        <p:spPr>
          <a:xfrm>
            <a:off x="3182272" y="4089368"/>
            <a:ext cx="505662"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643515" y="3223943"/>
            <a:ext cx="484247" cy="187345"/>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992284" y="3188685"/>
            <a:ext cx="4905756" cy="257860"/>
          </a:xfrm>
          <a:prstGeom prst="rect">
            <a:avLst/>
          </a:prstGeom>
          <a:ln w="0">
            <a:noFill/>
          </a:ln>
          <a:noFill/>
        </p:spPr>
        <p:txBody>
          <a:bodyPr wrap="square" lIns="0" rIns="0" tIns="0" bIns="0">
            <a:noAutofit/>
          </a:bodyPr>
          <a:lstStyle/>
          <a:p>
            <a:pPr algn="l"/>
            <a:r>
              <a:rPr sz="1300" b="1">
                <a:solidFill>
                  <a:srgbClr val="1F2937"/>
                </a:solidFill>
                <a:latin typeface="Noto Sans JP"/>
              </a:rPr>
              <a:t>顧客名、企業名、数値、日付が入力に含まれる</a:t>
            </a:r>
          </a:p>
        </p:txBody>
      </p:sp>
      <p:sp>
        <p:nvSpPr>
          <p:cNvPr id="19" name="Rectangle 18"/>
          <p:cNvSpPr/>
          <p:nvPr/>
        </p:nvSpPr>
        <p:spPr>
          <a:xfrm>
            <a:off x="3639473" y="3212459"/>
            <a:ext cx="505663" cy="210312"/>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92284" y="3484035"/>
            <a:ext cx="4867351" cy="428853"/>
          </a:xfrm>
          <a:prstGeom prst="rect">
            <a:avLst/>
          </a:prstGeom>
          <a:ln w="0">
            <a:noFill/>
          </a:ln>
          <a:noFill/>
        </p:spPr>
        <p:txBody>
          <a:bodyPr wrap="square" lIns="0" rIns="0" tIns="0" bIns="0">
            <a:noAutofit/>
          </a:bodyPr>
          <a:lstStyle/>
          <a:p>
            <a:pPr algn="l"/>
          </a:p>
        </p:txBody>
      </p:sp>
      <p:sp>
        <p:nvSpPr>
          <p:cNvPr id="21" name="Rounded Rectangle 20"/>
          <p:cNvSpPr/>
          <p:nvPr/>
        </p:nvSpPr>
        <p:spPr>
          <a:xfrm>
            <a:off x="481887" y="1312153"/>
            <a:ext cx="11221662" cy="790509"/>
          </a:xfrm>
          <a:prstGeom prst="roundRect">
            <a:avLst/>
          </a:prstGeom>
          <a:solidFill>
            <a:srgbClr val="FFF2F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2"/>
          <a:stretch>
            <a:fillRect/>
          </a:stretch>
        </p:blipFill>
        <p:spPr>
          <a:xfrm>
            <a:off x="480857" y="587045"/>
            <a:ext cx="299169" cy="258797"/>
          </a:xfrm>
          <a:prstGeom prst="rect">
            <a:avLst/>
          </a:prstGeom>
          <a:ln w="0">
            <a:noFill/>
          </a:ln>
        </p:spPr>
      </p:pic>
      <p:sp>
        <p:nvSpPr>
          <p:cNvPr id="23" name="TextBox 22"/>
          <p:cNvSpPr txBox="1"/>
          <p:nvPr/>
        </p:nvSpPr>
        <p:spPr>
          <a:xfrm>
            <a:off x="939088" y="491490"/>
            <a:ext cx="4772254" cy="457200"/>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ユースケース1では、会議文脈の価値と安全性を両立させる</a:t>
            </a:r>
          </a:p>
        </p:txBody>
      </p:sp>
      <p:sp>
        <p:nvSpPr>
          <p:cNvPr id="24" name="TextBox 23"/>
          <p:cNvSpPr txBox="1"/>
          <p:nvPr/>
        </p:nvSpPr>
        <p:spPr>
          <a:xfrm>
            <a:off x="482397" y="205740"/>
            <a:ext cx="1841602" cy="257860"/>
          </a:xfrm>
          <a:prstGeom prst="rect">
            <a:avLst/>
          </a:prstGeom>
          <a:ln w="0">
            <a:noFill/>
          </a:ln>
          <a:noFill/>
        </p:spPr>
        <p:txBody>
          <a:bodyPr wrap="square" lIns="0" rIns="0" tIns="0" bIns="0">
            <a:noAutofit/>
          </a:bodyPr>
          <a:lstStyle/>
          <a:p>
            <a:pPr algn="l"/>
            <a:r>
              <a:rPr sz="1000">
                <a:solidFill>
                  <a:srgbClr val="86868B"/>
                </a:solidFill>
                <a:latin typeface="Noto Sans JP"/>
              </a:rPr>
              <a:t>RISK AND MITIGATION</a:t>
            </a:r>
          </a:p>
        </p:txBody>
      </p:sp>
      <p:sp>
        <p:nvSpPr>
          <p:cNvPr id="25" name="TextBox 24"/>
          <p:cNvSpPr txBox="1"/>
          <p:nvPr/>
        </p:nvSpPr>
        <p:spPr>
          <a:xfrm>
            <a:off x="939088" y="1318555"/>
            <a:ext cx="10849356" cy="782288"/>
          </a:xfrm>
          <a:prstGeom prst="rect">
            <a:avLst/>
          </a:prstGeom>
          <a:ln w="0">
            <a:noFill/>
          </a:ln>
          <a:noFill/>
        </p:spPr>
        <p:txBody>
          <a:bodyPr wrap="square" lIns="0" rIns="0" tIns="0" bIns="0">
            <a:noAutofit/>
          </a:bodyPr>
          <a:lstStyle/>
          <a:p>
            <a:pPr algn="just"/>
            <a:r>
              <a:rPr sz="1800" b="1">
                <a:solidFill>
                  <a:srgbClr val="DC2626"/>
                </a:solidFill>
                <a:latin typeface="Cambria"/>
              </a:rPr>
              <a:t>会議文脈は応答品質に効くが、そのまま外部AIへ渡すと企業利用には乗らない。ローカル前処理が前提になる。</a:t>
            </a:r>
          </a:p>
        </p:txBody>
      </p:sp>
      <p:sp>
        <p:nvSpPr>
          <p:cNvPr id="26" name="Rounded Rectangle 25"/>
          <p:cNvSpPr/>
          <p:nvPr/>
        </p:nvSpPr>
        <p:spPr>
          <a:xfrm>
            <a:off x="488451" y="2398643"/>
            <a:ext cx="5482742"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27" name="Rectangle 26"/>
          <p:cNvSpPr/>
          <p:nvPr/>
        </p:nvSpPr>
        <p:spPr>
          <a:xfrm>
            <a:off x="726194"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3"/>
          <a:stretch>
            <a:fillRect/>
          </a:stretch>
        </p:blipFill>
        <p:spPr>
          <a:xfrm>
            <a:off x="726194" y="2620431"/>
            <a:ext cx="190195" cy="190194"/>
          </a:xfrm>
          <a:prstGeom prst="rect">
            <a:avLst/>
          </a:prstGeom>
          <a:ln w="0">
            <a:noFill/>
          </a:ln>
        </p:spPr>
      </p:pic>
      <p:sp>
        <p:nvSpPr>
          <p:cNvPr id="29" name="TextBox 28"/>
          <p:cNvSpPr txBox="1"/>
          <p:nvPr/>
        </p:nvSpPr>
        <p:spPr>
          <a:xfrm>
            <a:off x="1031604" y="2397730"/>
            <a:ext cx="3096158" cy="619048"/>
          </a:xfrm>
          <a:prstGeom prst="rect">
            <a:avLst/>
          </a:prstGeom>
          <a:ln w="0">
            <a:noFill/>
          </a:ln>
          <a:noFill/>
        </p:spPr>
        <p:txBody>
          <a:bodyPr wrap="square" lIns="0" rIns="0" tIns="0" bIns="0">
            <a:noAutofit/>
          </a:bodyPr>
          <a:lstStyle/>
          <a:p>
            <a:pPr algn="l"/>
            <a:r>
              <a:rPr sz="1500" b="1">
                <a:solidFill>
                  <a:srgbClr val="1D1D1F"/>
                </a:solidFill>
                <a:latin typeface="Noto Sans JP"/>
              </a:rPr>
              <a:t>そのまま外部AIへ渡す場合</a:t>
            </a:r>
          </a:p>
        </p:txBody>
      </p:sp>
      <p:pic>
        <p:nvPicPr>
          <p:cNvPr id="30" name="Picture 29" descr="image.png"/>
          <p:cNvPicPr>
            <a:picLocks noChangeAspect="1"/>
          </p:cNvPicPr>
          <p:nvPr/>
        </p:nvPicPr>
        <p:blipFill>
          <a:blip r:embed="rId4"/>
          <a:stretch>
            <a:fillRect/>
          </a:stretch>
        </p:blipFill>
        <p:spPr>
          <a:xfrm>
            <a:off x="744482" y="3241263"/>
            <a:ext cx="114300" cy="152705"/>
          </a:xfrm>
          <a:prstGeom prst="rect">
            <a:avLst/>
          </a:prstGeom>
          <a:ln w="0">
            <a:noFill/>
          </a:ln>
        </p:spPr>
      </p:pic>
      <p:pic>
        <p:nvPicPr>
          <p:cNvPr id="31" name="Picture 30" descr="image.png"/>
          <p:cNvPicPr>
            <a:picLocks noChangeAspect="1"/>
          </p:cNvPicPr>
          <p:nvPr/>
        </p:nvPicPr>
        <p:blipFill>
          <a:blip r:embed="rId5"/>
          <a:stretch>
            <a:fillRect/>
          </a:stretch>
        </p:blipFill>
        <p:spPr>
          <a:xfrm>
            <a:off x="734424" y="4118171"/>
            <a:ext cx="114300" cy="152705"/>
          </a:xfrm>
          <a:prstGeom prst="rect">
            <a:avLst/>
          </a:prstGeom>
          <a:ln w="0">
            <a:noFill/>
          </a:ln>
        </p:spPr>
      </p:pic>
      <p:sp>
        <p:nvSpPr>
          <p:cNvPr id="32" name="TextBox 31"/>
          <p:cNvSpPr txBox="1"/>
          <p:nvPr/>
        </p:nvSpPr>
        <p:spPr>
          <a:xfrm>
            <a:off x="970339" y="4360946"/>
            <a:ext cx="4886554" cy="428853"/>
          </a:xfrm>
          <a:prstGeom prst="rect">
            <a:avLst/>
          </a:prstGeom>
          <a:ln w="0">
            <a:noFill/>
          </a:ln>
          <a:noFill/>
        </p:spPr>
        <p:txBody>
          <a:bodyPr wrap="square" lIns="0" rIns="0" tIns="0" bIns="0">
            <a:noAutofit/>
          </a:bodyPr>
          <a:lstStyle/>
          <a:p>
            <a:pPr algn="l"/>
          </a:p>
        </p:txBody>
      </p:sp>
      <p:pic>
        <p:nvPicPr>
          <p:cNvPr id="33" name="Picture 32" descr="image.png"/>
          <p:cNvPicPr>
            <a:picLocks noChangeAspect="1"/>
          </p:cNvPicPr>
          <p:nvPr/>
        </p:nvPicPr>
        <p:blipFill>
          <a:blip r:embed="rId6"/>
          <a:stretch>
            <a:fillRect/>
          </a:stretch>
        </p:blipFill>
        <p:spPr>
          <a:xfrm>
            <a:off x="743568" y="4994168"/>
            <a:ext cx="114300" cy="152705"/>
          </a:xfrm>
          <a:prstGeom prst="rect">
            <a:avLst/>
          </a:prstGeom>
          <a:ln w="0">
            <a:noFill/>
          </a:ln>
        </p:spPr>
      </p:pic>
      <p:sp>
        <p:nvSpPr>
          <p:cNvPr id="34" name="TextBox 33"/>
          <p:cNvSpPr txBox="1"/>
          <p:nvPr/>
        </p:nvSpPr>
        <p:spPr>
          <a:xfrm>
            <a:off x="989541" y="4941590"/>
            <a:ext cx="4981651" cy="257860"/>
          </a:xfrm>
          <a:prstGeom prst="rect">
            <a:avLst/>
          </a:prstGeom>
          <a:ln w="0">
            <a:noFill/>
          </a:ln>
          <a:noFill/>
        </p:spPr>
        <p:txBody>
          <a:bodyPr wrap="square" lIns="0" rIns="0" tIns="0" bIns="0">
            <a:noAutofit/>
          </a:bodyPr>
          <a:lstStyle/>
          <a:p>
            <a:pPr algn="l"/>
            <a:r>
              <a:rPr sz="1300" b="1">
                <a:solidFill>
                  <a:srgbClr val="1F2937"/>
                </a:solidFill>
                <a:latin typeface="Noto Sans JP"/>
              </a:rPr>
              <a:t>情報統制や説明責任の面で運用しにくい</a:t>
            </a:r>
          </a:p>
        </p:txBody>
      </p:sp>
      <p:sp>
        <p:nvSpPr>
          <p:cNvPr id="35" name="TextBox 34"/>
          <p:cNvSpPr txBox="1"/>
          <p:nvPr/>
        </p:nvSpPr>
        <p:spPr>
          <a:xfrm>
            <a:off x="989541" y="5236941"/>
            <a:ext cx="4867351" cy="428853"/>
          </a:xfrm>
          <a:prstGeom prst="rect">
            <a:avLst/>
          </a:prstGeom>
          <a:ln w="0">
            <a:noFill/>
          </a:ln>
          <a:noFill/>
        </p:spPr>
        <p:txBody>
          <a:bodyPr wrap="square" lIns="0" rIns="0" tIns="0" bIns="0">
            <a:noAutofit/>
          </a:bodyPr>
          <a:lstStyle/>
          <a:p>
            <a:pPr algn="l"/>
          </a:p>
        </p:txBody>
      </p:sp>
      <p:sp>
        <p:nvSpPr>
          <p:cNvPr id="36" name="Rounded Rectangle 35"/>
          <p:cNvSpPr/>
          <p:nvPr/>
        </p:nvSpPr>
        <p:spPr>
          <a:xfrm>
            <a:off x="6275686" y="2398643"/>
            <a:ext cx="5490974" cy="3504896"/>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37" name="Rectangle 36"/>
          <p:cNvSpPr/>
          <p:nvPr/>
        </p:nvSpPr>
        <p:spPr>
          <a:xfrm>
            <a:off x="6479599" y="3016778"/>
            <a:ext cx="5048402" cy="19201"/>
          </a:xfrm>
          <a:prstGeom prst="rect">
            <a:avLst/>
          </a:prstGeom>
          <a:solidFill>
            <a:srgbClr val="F5F5F7">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8" name="Picture 37" descr="image.png"/>
          <p:cNvPicPr>
            <a:picLocks noChangeAspect="1"/>
          </p:cNvPicPr>
          <p:nvPr/>
        </p:nvPicPr>
        <p:blipFill>
          <a:blip r:embed="rId7"/>
          <a:stretch>
            <a:fillRect/>
          </a:stretch>
        </p:blipFill>
        <p:spPr>
          <a:xfrm>
            <a:off x="6479599" y="2620431"/>
            <a:ext cx="190195" cy="190194"/>
          </a:xfrm>
          <a:prstGeom prst="rect">
            <a:avLst/>
          </a:prstGeom>
          <a:ln w="0">
            <a:noFill/>
          </a:ln>
        </p:spPr>
      </p:pic>
      <p:sp>
        <p:nvSpPr>
          <p:cNvPr id="39" name="TextBox 38"/>
          <p:cNvSpPr txBox="1"/>
          <p:nvPr/>
        </p:nvSpPr>
        <p:spPr>
          <a:xfrm>
            <a:off x="6784094" y="2396826"/>
            <a:ext cx="2563063" cy="619496"/>
          </a:xfrm>
          <a:prstGeom prst="rect">
            <a:avLst/>
          </a:prstGeom>
          <a:ln w="0">
            <a:noFill/>
          </a:ln>
          <a:noFill/>
        </p:spPr>
        <p:txBody>
          <a:bodyPr wrap="square" lIns="0" rIns="0" tIns="0" bIns="0">
            <a:noAutofit/>
          </a:bodyPr>
          <a:lstStyle/>
          <a:p>
            <a:pPr algn="l"/>
            <a:r>
              <a:rPr sz="1500" b="1">
                <a:solidFill>
                  <a:srgbClr val="1D1D1F"/>
                </a:solidFill>
                <a:latin typeface="Noto Sans JP"/>
              </a:rPr>
              <a:t>ローカル前処理を挟む場合</a:t>
            </a:r>
          </a:p>
        </p:txBody>
      </p:sp>
      <p:pic>
        <p:nvPicPr>
          <p:cNvPr id="40" name="Picture 39" descr="image.png"/>
          <p:cNvPicPr>
            <a:picLocks noChangeAspect="1"/>
          </p:cNvPicPr>
          <p:nvPr/>
        </p:nvPicPr>
        <p:blipFill>
          <a:blip r:embed="rId8"/>
          <a:stretch>
            <a:fillRect/>
          </a:stretch>
        </p:blipFill>
        <p:spPr>
          <a:xfrm>
            <a:off x="6486914" y="3241263"/>
            <a:ext cx="133501" cy="152705"/>
          </a:xfrm>
          <a:prstGeom prst="rect">
            <a:avLst/>
          </a:prstGeom>
          <a:ln w="0">
            <a:noFill/>
          </a:ln>
        </p:spPr>
      </p:pic>
      <p:sp>
        <p:nvSpPr>
          <p:cNvPr id="41" name="Rectangle 40"/>
          <p:cNvSpPr/>
          <p:nvPr/>
        </p:nvSpPr>
        <p:spPr>
          <a:xfrm>
            <a:off x="9729375" y="3249950"/>
            <a:ext cx="391363" cy="183686"/>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742032" y="3484035"/>
            <a:ext cx="4867351" cy="428853"/>
          </a:xfrm>
          <a:prstGeom prst="rect">
            <a:avLst/>
          </a:prstGeom>
          <a:ln w="0">
            <a:noFill/>
          </a:ln>
          <a:noFill/>
        </p:spPr>
        <p:txBody>
          <a:bodyPr wrap="square" lIns="0" rIns="0" tIns="0" bIns="0">
            <a:noAutofit/>
          </a:bodyPr>
          <a:lstStyle/>
          <a:p>
            <a:pPr algn="l"/>
          </a:p>
        </p:txBody>
      </p:sp>
      <p:pic>
        <p:nvPicPr>
          <p:cNvPr id="43" name="Picture 42" descr="image.png"/>
          <p:cNvPicPr>
            <a:picLocks noChangeAspect="1"/>
          </p:cNvPicPr>
          <p:nvPr/>
        </p:nvPicPr>
        <p:blipFill>
          <a:blip r:embed="rId9"/>
          <a:stretch>
            <a:fillRect/>
          </a:stretch>
        </p:blipFill>
        <p:spPr>
          <a:xfrm>
            <a:off x="6479599" y="4118171"/>
            <a:ext cx="152704" cy="152705"/>
          </a:xfrm>
          <a:prstGeom prst="rect">
            <a:avLst/>
          </a:prstGeom>
          <a:ln w="0">
            <a:noFill/>
          </a:ln>
        </p:spPr>
      </p:pic>
      <p:sp>
        <p:nvSpPr>
          <p:cNvPr id="44" name="TextBox 43"/>
          <p:cNvSpPr txBox="1"/>
          <p:nvPr/>
        </p:nvSpPr>
        <p:spPr>
          <a:xfrm>
            <a:off x="6746604" y="4065594"/>
            <a:ext cx="4972507" cy="257860"/>
          </a:xfrm>
          <a:prstGeom prst="rect">
            <a:avLst/>
          </a:prstGeom>
          <a:ln w="0">
            <a:noFill/>
          </a:ln>
          <a:noFill/>
        </p:spPr>
        <p:txBody>
          <a:bodyPr wrap="square" lIns="0" rIns="0" tIns="0" bIns="0">
            <a:noAutofit/>
          </a:bodyPr>
          <a:lstStyle/>
          <a:p>
            <a:pPr algn="l"/>
            <a:r>
              <a:rPr sz="1300" b="1">
                <a:solidFill>
                  <a:srgbClr val="1F2937"/>
                </a:solidFill>
                <a:latin typeface="Cambria"/>
              </a:rPr>
              <a:t>前処理手順を標準化し、再現可能な運用にできる</a:t>
            </a:r>
          </a:p>
        </p:txBody>
      </p:sp>
      <p:sp>
        <p:nvSpPr>
          <p:cNvPr id="45" name="TextBox 44"/>
          <p:cNvSpPr txBox="1"/>
          <p:nvPr/>
        </p:nvSpPr>
        <p:spPr>
          <a:xfrm>
            <a:off x="6746604" y="4360946"/>
            <a:ext cx="4858207" cy="428853"/>
          </a:xfrm>
          <a:prstGeom prst="rect">
            <a:avLst/>
          </a:prstGeom>
          <a:ln w="0">
            <a:noFill/>
          </a:ln>
          <a:noFill/>
        </p:spPr>
        <p:txBody>
          <a:bodyPr wrap="square" lIns="0" rIns="0" tIns="0" bIns="0">
            <a:noAutofit/>
          </a:bodyPr>
          <a:lstStyle/>
          <a:p>
            <a:pPr algn="l"/>
          </a:p>
        </p:txBody>
      </p:sp>
      <p:pic>
        <p:nvPicPr>
          <p:cNvPr id="46" name="Picture 45" descr="image.png"/>
          <p:cNvPicPr>
            <a:picLocks noChangeAspect="1"/>
          </p:cNvPicPr>
          <p:nvPr/>
        </p:nvPicPr>
        <p:blipFill>
          <a:blip r:embed="rId10"/>
          <a:stretch>
            <a:fillRect/>
          </a:stretch>
        </p:blipFill>
        <p:spPr>
          <a:xfrm>
            <a:off x="6479599" y="4994168"/>
            <a:ext cx="171906" cy="152705"/>
          </a:xfrm>
          <a:prstGeom prst="rect">
            <a:avLst/>
          </a:prstGeom>
          <a:ln w="0">
            <a:noFill/>
          </a:ln>
        </p:spPr>
      </p:pic>
      <p:sp>
        <p:nvSpPr>
          <p:cNvPr id="47" name="TextBox 46"/>
          <p:cNvSpPr txBox="1"/>
          <p:nvPr/>
        </p:nvSpPr>
        <p:spPr>
          <a:xfrm>
            <a:off x="6765806" y="5236941"/>
            <a:ext cx="4839005" cy="428853"/>
          </a:xfrm>
          <a:prstGeom prst="rect">
            <a:avLst/>
          </a:prstGeom>
          <a:ln w="0">
            <a:noFill/>
          </a:ln>
          <a:noFill/>
        </p:spPr>
        <p:txBody>
          <a:bodyPr wrap="square" lIns="0" rIns="0" tIns="0" bIns="0">
            <a:noAutofit/>
          </a:bodyPr>
          <a:lstStyle/>
          <a:p>
            <a:pPr algn="l"/>
          </a:p>
        </p:txBody>
      </p:sp>
      <p:sp>
        <p:nvSpPr>
          <p:cNvPr id="48" name="Rectangle 47"/>
          <p:cNvSpPr/>
          <p:nvPr/>
        </p:nvSpPr>
        <p:spPr>
          <a:xfrm>
            <a:off x="488450" y="1311250"/>
            <a:ext cx="49716" cy="791160"/>
          </a:xfrm>
          <a:prstGeom prst="rect">
            <a:avLst/>
          </a:prstGeom>
          <a:solidFill>
            <a:srgbClr val="E21C48"/>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6279345" y="2385617"/>
            <a:ext cx="5486400" cy="38405"/>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488450" y="2385617"/>
            <a:ext cx="5486400" cy="38405"/>
          </a:xfrm>
          <a:prstGeom prst="roundRect">
            <a:avLst/>
          </a:prstGeom>
          <a:solidFill>
            <a:srgbClr val="EF4444">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会議・議事録から、ローカル完結で報告資料や提案資料を生成する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2</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会議ログを記録で終わらせず、ローカル完結で成果物へ変換する。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入力</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会議音声や議事録を収集する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Whisperで文字起こしし、ローカル環境に保持する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構造化</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ローカルLLMでタイトル、本文、比較、表、フロー要素へ整理する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このユースケースでは外部へ出さないためマスキングは不要である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出力</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JSON中間表現に落とす</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テンプレートを選択し、PowerPointへ変換する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6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7 | 一次情報の収集・安全化・構造化による生成AI活用の試作</a:t>
            </a: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1</a:t>
            </a: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2</a:t>
            </a: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3</a:t>
            </a: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4</a:t>
            </a: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5</a:t>
            </a: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分類</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抽出</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選択</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ユースケース2では、中間表現とテンプレート選択で品質を固定する</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STANDARD FLOW</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PowerPointを直接生成せず、JSONとテンプレート選択を挟むことで品質を安定化できる。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Insight / Flow / Table / Failure などの型を選ぶ</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タイトル、本文、表要素、比較軸を取り出す</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適切なテンプレートへ割り当て、レイアウトを固定する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会議データを文字起こしする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ローカルLLMで構造化する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JSON中間表現へ落とす</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分類・抽出・選択でテンプレートを決める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PowerPointへ変換し、人が最終確認する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自作ノート・公開資料・許諾済み資料を学習コンテンツ化する</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USE CASE 3</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扱ってよい情報を、要約・音声・動画など学習しやすい形式へ変換する。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対象</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自作ノート、公開資料、社内許諾済み資料を入力対象とする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著作物そのものを無断で直接投入する前提にはしない</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変換</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要約、音声、動画、学習用整理資料へ再加工する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同じ内容を複数形式で再利用する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価値</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学習速度を上げやすい</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業務外でもAI活用をインプット改善へ広げられる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8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3ユースケースに共通する考え方</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COMMON PRINCIPLES</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重要なのは、モデルの使い分けそのものより、一次情報をどう集め、どう安全化し、どう構造化するかである。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収集</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まず一次情報を集める</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会議、背景事情、既存資料、メモを入力基盤にする</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安全化</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外部AIを使う場合だけ、ローカルで安全化する</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ユースケースごとに前処理の要否を分ける</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構造化</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目的別の出力へ変換しやすい形へ整理する</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JSON中間表現とテンプレート選択で品質を固定する</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9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6476695"/>
            <a:ext cx="12191695" cy="381305"/>
          </a:xfrm>
          <a:prstGeom prst="rect">
            <a:avLst/>
          </a:prstGeom>
          <a:ln w="0">
            <a:noFill/>
          </a:ln>
        </p:spPr>
      </p:pic>
      <p:sp>
        <p:nvSpPr>
          <p:cNvPr id="4" name="Rectangle 3"/>
          <p:cNvSpPr/>
          <p:nvPr/>
        </p:nvSpPr>
        <p:spPr>
          <a:xfrm>
            <a:off x="0" y="752551"/>
            <a:ext cx="12191695" cy="9143"/>
          </a:xfrm>
          <a:prstGeom prst="rect">
            <a:avLst/>
          </a:prstGeom>
          <a:solidFill>
            <a:srgbClr val="E5E5E5"/>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0" y="6476695"/>
            <a:ext cx="12192610" cy="381305"/>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10 | 一次情報の収集・安全化・構造化による生成AI活用の試作</a:t>
            </a:r>
          </a:p>
        </p:txBody>
      </p:sp>
      <p:sp>
        <p:nvSpPr>
          <p:cNvPr id="6" name="Oval 5"/>
          <p:cNvSpPr/>
          <p:nvPr/>
        </p:nvSpPr>
        <p:spPr>
          <a:xfrm>
            <a:off x="1398118"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3632910"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5867705" y="2029054"/>
            <a:ext cx="456286" cy="457200"/>
          </a:xfrm>
          <a:prstGeom prst="ellipse">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8101583" y="2029054"/>
            <a:ext cx="456286" cy="457200"/>
          </a:xfrm>
          <a:prstGeom prst="ellipse">
            <a:avLst/>
          </a:prstGeom>
          <a:solidFill>
            <a:srgbClr val="33C759"/>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10336378" y="2029054"/>
            <a:ext cx="456286" cy="457200"/>
          </a:xfrm>
          <a:prstGeom prst="ellipse">
            <a:avLst/>
          </a:prstGeom>
          <a:solidFill>
            <a:srgbClr val="FF9502"/>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39811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1</a:t>
            </a:r>
          </a:p>
        </p:txBody>
      </p:sp>
      <p:sp>
        <p:nvSpPr>
          <p:cNvPr id="12" name="Rectangle 11"/>
          <p:cNvSpPr/>
          <p:nvPr/>
        </p:nvSpPr>
        <p:spPr>
          <a:xfrm>
            <a:off x="3632910"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2</a:t>
            </a:r>
          </a:p>
        </p:txBody>
      </p:sp>
      <p:sp>
        <p:nvSpPr>
          <p:cNvPr id="13" name="Rectangle 12"/>
          <p:cNvSpPr/>
          <p:nvPr/>
        </p:nvSpPr>
        <p:spPr>
          <a:xfrm>
            <a:off x="5867705"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3</a:t>
            </a:r>
          </a:p>
        </p:txBody>
      </p:sp>
      <p:sp>
        <p:nvSpPr>
          <p:cNvPr id="14" name="Rectangle 13"/>
          <p:cNvSpPr/>
          <p:nvPr/>
        </p:nvSpPr>
        <p:spPr>
          <a:xfrm>
            <a:off x="8101583"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4</a:t>
            </a:r>
          </a:p>
        </p:txBody>
      </p:sp>
      <p:sp>
        <p:nvSpPr>
          <p:cNvPr id="15" name="Rectangle 14"/>
          <p:cNvSpPr/>
          <p:nvPr/>
        </p:nvSpPr>
        <p:spPr>
          <a:xfrm>
            <a:off x="10336378" y="2029054"/>
            <a:ext cx="457200" cy="457200"/>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1500" b="1">
                <a:solidFill>
                  <a:srgbClr val="FFFFFF"/>
                </a:solidFill>
                <a:latin typeface="Noto Sans JP"/>
              </a:rPr>
              <a:t>5</a:t>
            </a:r>
          </a:p>
        </p:txBody>
      </p:sp>
      <p:sp>
        <p:nvSpPr>
          <p:cNvPr id="16" name="Rounded Rectangle 15"/>
          <p:cNvSpPr/>
          <p:nvPr/>
        </p:nvSpPr>
        <p:spPr>
          <a:xfrm>
            <a:off x="457200" y="1828800"/>
            <a:ext cx="11277295" cy="1752905"/>
          </a:xfrm>
          <a:prstGeom prst="roundRect">
            <a:avLst/>
          </a:prstGeom>
          <a:no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p>
        </p:txBody>
      </p:sp>
      <p:sp>
        <p:nvSpPr>
          <p:cNvPr id="17" name="Rounded Rectangle 16"/>
          <p:cNvSpPr/>
          <p:nvPr/>
        </p:nvSpPr>
        <p:spPr>
          <a:xfrm>
            <a:off x="457200"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unded Rectangle 17"/>
          <p:cNvSpPr/>
          <p:nvPr/>
        </p:nvSpPr>
        <p:spPr>
          <a:xfrm>
            <a:off x="4280306"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ounded Rectangle 18"/>
          <p:cNvSpPr/>
          <p:nvPr/>
        </p:nvSpPr>
        <p:spPr>
          <a:xfrm>
            <a:off x="8102497" y="3882541"/>
            <a:ext cx="3638398" cy="1864385"/>
          </a:xfrm>
          <a:prstGeom prst="roundRect">
            <a:avLst/>
          </a:prstGeom>
          <a:solidFill>
            <a:srgbClr val="FFFFFF"/>
          </a:solidFill>
          <a:ln w="12700">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657454" y="4095191"/>
            <a:ext cx="304495" cy="304494"/>
          </a:xfrm>
          <a:prstGeom prst="roundRect">
            <a:avLst/>
          </a:prstGeom>
          <a:solidFill>
            <a:srgbClr val="007A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3"/>
          <a:stretch>
            <a:fillRect/>
          </a:stretch>
        </p:blipFill>
        <p:spPr>
          <a:xfrm>
            <a:off x="743407" y="4181145"/>
            <a:ext cx="133501" cy="133501"/>
          </a:xfrm>
          <a:prstGeom prst="rect">
            <a:avLst/>
          </a:prstGeom>
          <a:ln w="0">
            <a:noFill/>
          </a:ln>
        </p:spPr>
      </p:pic>
      <p:sp>
        <p:nvSpPr>
          <p:cNvPr id="22" name="TextBox 21"/>
          <p:cNvSpPr txBox="1"/>
          <p:nvPr/>
        </p:nvSpPr>
        <p:spPr>
          <a:xfrm>
            <a:off x="1057046" y="4133596"/>
            <a:ext cx="1163117" cy="228600"/>
          </a:xfrm>
          <a:prstGeom prst="rect">
            <a:avLst/>
          </a:prstGeom>
          <a:ln w="0">
            <a:noFill/>
          </a:ln>
          <a:noFill/>
        </p:spPr>
        <p:txBody>
          <a:bodyPr wrap="square" lIns="0" rIns="0" tIns="0" bIns="0">
            <a:noAutofit/>
          </a:bodyPr>
          <a:lstStyle/>
          <a:p>
            <a:pPr algn="l"/>
            <a:r>
              <a:rPr sz="1200" b="1">
                <a:solidFill>
                  <a:srgbClr val="1D1D1F"/>
                </a:solidFill>
                <a:latin typeface="Noto Sans JP"/>
              </a:rPr>
              <a:t>入力設計</a:t>
            </a:r>
          </a:p>
        </p:txBody>
      </p:sp>
      <p:sp>
        <p:nvSpPr>
          <p:cNvPr id="23" name="Rounded Rectangle 22"/>
          <p:cNvSpPr/>
          <p:nvPr/>
        </p:nvSpPr>
        <p:spPr>
          <a:xfrm>
            <a:off x="4479646" y="4095191"/>
            <a:ext cx="304494" cy="304494"/>
          </a:xfrm>
          <a:prstGeom prst="roundRect">
            <a:avLst/>
          </a:prstGeom>
          <a:solidFill>
            <a:srgbClr val="34C759">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4556455" y="4181145"/>
            <a:ext cx="152705" cy="133501"/>
          </a:xfrm>
          <a:prstGeom prst="rect">
            <a:avLst/>
          </a:prstGeom>
          <a:ln w="0">
            <a:noFill/>
          </a:ln>
        </p:spPr>
      </p:pic>
      <p:sp>
        <p:nvSpPr>
          <p:cNvPr id="25" name="TextBox 24"/>
          <p:cNvSpPr txBox="1"/>
          <p:nvPr/>
        </p:nvSpPr>
        <p:spPr>
          <a:xfrm>
            <a:off x="4880153" y="4133596"/>
            <a:ext cx="1975103" cy="228600"/>
          </a:xfrm>
          <a:prstGeom prst="rect">
            <a:avLst/>
          </a:prstGeom>
          <a:ln w="0">
            <a:noFill/>
          </a:ln>
          <a:noFill/>
        </p:spPr>
        <p:txBody>
          <a:bodyPr wrap="square" lIns="0" rIns="0" tIns="0" bIns="0">
            <a:noAutofit/>
          </a:bodyPr>
          <a:lstStyle/>
          <a:p>
            <a:pPr algn="l"/>
            <a:r>
              <a:rPr sz="1200" b="1">
                <a:solidFill>
                  <a:srgbClr val="1D1D1F"/>
                </a:solidFill>
                <a:latin typeface="Noto Sans JP"/>
              </a:rPr>
              <a:t>生成設計</a:t>
            </a:r>
          </a:p>
        </p:txBody>
      </p:sp>
      <p:sp>
        <p:nvSpPr>
          <p:cNvPr id="26" name="Rounded Rectangle 25"/>
          <p:cNvSpPr/>
          <p:nvPr/>
        </p:nvSpPr>
        <p:spPr>
          <a:xfrm>
            <a:off x="8302752" y="4095191"/>
            <a:ext cx="304494" cy="304494"/>
          </a:xfrm>
          <a:prstGeom prst="roundRect">
            <a:avLst/>
          </a:prstGeom>
          <a:solidFill>
            <a:srgbClr val="FF950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5"/>
          <a:stretch>
            <a:fillRect/>
          </a:stretch>
        </p:blipFill>
        <p:spPr>
          <a:xfrm>
            <a:off x="8369502" y="4181145"/>
            <a:ext cx="171907" cy="133501"/>
          </a:xfrm>
          <a:prstGeom prst="rect">
            <a:avLst/>
          </a:prstGeom>
          <a:ln w="0">
            <a:noFill/>
          </a:ln>
        </p:spPr>
      </p:pic>
      <p:sp>
        <p:nvSpPr>
          <p:cNvPr id="28" name="TextBox 27"/>
          <p:cNvSpPr txBox="1"/>
          <p:nvPr/>
        </p:nvSpPr>
        <p:spPr>
          <a:xfrm>
            <a:off x="8702345" y="4133596"/>
            <a:ext cx="1049731" cy="228600"/>
          </a:xfrm>
          <a:prstGeom prst="rect">
            <a:avLst/>
          </a:prstGeom>
          <a:ln w="0">
            <a:noFill/>
          </a:ln>
          <a:noFill/>
        </p:spPr>
        <p:txBody>
          <a:bodyPr wrap="square" lIns="0" rIns="0" tIns="0" bIns="0">
            <a:noAutofit/>
          </a:bodyPr>
          <a:lstStyle/>
          <a:p>
            <a:pPr algn="l"/>
            <a:r>
              <a:rPr sz="1200" b="1">
                <a:solidFill>
                  <a:srgbClr val="1D1D1F"/>
                </a:solidFill>
                <a:latin typeface="Noto Sans JP"/>
              </a:rPr>
              <a:t>確認設計</a:t>
            </a:r>
          </a:p>
        </p:txBody>
      </p:sp>
      <p:sp>
        <p:nvSpPr>
          <p:cNvPr id="29" name="Rectangle 28"/>
          <p:cNvSpPr/>
          <p:nvPr/>
        </p:nvSpPr>
        <p:spPr>
          <a:xfrm>
            <a:off x="657454"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4479646" y="4475074"/>
            <a:ext cx="3238804"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8302752" y="4475074"/>
            <a:ext cx="3238805" cy="9144"/>
          </a:xfrm>
          <a:prstGeom prst="rect">
            <a:avLst/>
          </a:prstGeom>
          <a:solidFill>
            <a:srgbClr val="F0F0F0">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457200" y="243230"/>
            <a:ext cx="200253" cy="267004"/>
          </a:xfrm>
          <a:prstGeom prst="rect">
            <a:avLst/>
          </a:prstGeom>
          <a:ln w="0">
            <a:noFill/>
          </a:ln>
        </p:spPr>
      </p:pic>
      <p:sp>
        <p:nvSpPr>
          <p:cNvPr id="33" name="TextBox 32"/>
          <p:cNvSpPr txBox="1"/>
          <p:nvPr/>
        </p:nvSpPr>
        <p:spPr>
          <a:xfrm>
            <a:off x="809244" y="176479"/>
            <a:ext cx="4182466" cy="400507"/>
          </a:xfrm>
          <a:prstGeom prst="rect">
            <a:avLst/>
          </a:prstGeom>
          <a:ln w="0">
            <a:noFill/>
          </a:ln>
          <a:noFill/>
        </p:spPr>
        <p:txBody>
          <a:bodyPr wrap="square" lIns="0" rIns="0" tIns="0" bIns="0">
            <a:noAutofit/>
          </a:bodyPr>
          <a:lstStyle/>
          <a:p>
            <a:pPr algn="l"/>
            <a:r>
              <a:rPr sz="2400" b="1">
                <a:solidFill>
                  <a:srgbClr val="1D1D1F"/>
                </a:solidFill>
                <a:latin typeface="Noto Sans JP"/>
              </a:rPr>
              <a:t>一次情報の収集から成果物化までの全体フロー</a:t>
            </a:r>
          </a:p>
        </p:txBody>
      </p:sp>
      <p:sp>
        <p:nvSpPr>
          <p:cNvPr id="34" name="TextBox 33"/>
          <p:cNvSpPr txBox="1"/>
          <p:nvPr/>
        </p:nvSpPr>
        <p:spPr>
          <a:xfrm>
            <a:off x="8489290" y="261518"/>
            <a:ext cx="3439058" cy="228600"/>
          </a:xfrm>
          <a:prstGeom prst="rect">
            <a:avLst/>
          </a:prstGeom>
          <a:ln w="0">
            <a:noFill/>
          </a:ln>
          <a:noFill/>
        </p:spPr>
        <p:txBody>
          <a:bodyPr wrap="square" lIns="0" rIns="0" tIns="0" bIns="0">
            <a:noAutofit/>
          </a:bodyPr>
          <a:lstStyle/>
          <a:p>
            <a:pPr algn="l"/>
            <a:r>
              <a:rPr sz="1000">
                <a:solidFill>
                  <a:srgbClr val="86868B"/>
                </a:solidFill>
                <a:latin typeface="Noto Sans JP"/>
              </a:rPr>
              <a:t>END-TO-END FLOW</a:t>
            </a:r>
          </a:p>
        </p:txBody>
      </p:sp>
      <p:pic>
        <p:nvPicPr>
          <p:cNvPr id="35" name="Picture 34" descr="image.png"/>
          <p:cNvPicPr>
            <a:picLocks noChangeAspect="1"/>
          </p:cNvPicPr>
          <p:nvPr/>
        </p:nvPicPr>
        <p:blipFill>
          <a:blip r:embed="rId7"/>
          <a:stretch>
            <a:fillRect/>
          </a:stretch>
        </p:blipFill>
        <p:spPr>
          <a:xfrm>
            <a:off x="457200" y="990294"/>
            <a:ext cx="11277295" cy="571500"/>
          </a:xfrm>
          <a:prstGeom prst="rect">
            <a:avLst/>
          </a:prstGeom>
          <a:ln w="0">
            <a:noFill/>
          </a:ln>
        </p:spPr>
      </p:pic>
      <p:sp>
        <p:nvSpPr>
          <p:cNvPr id="36" name="TextBox 35"/>
          <p:cNvSpPr txBox="1"/>
          <p:nvPr/>
        </p:nvSpPr>
        <p:spPr>
          <a:xfrm>
            <a:off x="743407" y="1143000"/>
            <a:ext cx="10954512" cy="267005"/>
          </a:xfrm>
          <a:prstGeom prst="rect">
            <a:avLst/>
          </a:prstGeom>
          <a:ln w="0">
            <a:noFill/>
          </a:ln>
          <a:noFill/>
        </p:spPr>
        <p:txBody>
          <a:bodyPr wrap="square" lIns="0" rIns="0" tIns="0" bIns="0">
            <a:noAutofit/>
          </a:bodyPr>
          <a:lstStyle/>
          <a:p>
            <a:pPr algn="l"/>
            <a:r>
              <a:rPr sz="1500" b="1">
                <a:solidFill>
                  <a:srgbClr val="1D1D1F"/>
                </a:solidFill>
                <a:latin typeface="Noto Sans JP"/>
              </a:rPr>
              <a:t>出力品質を左右するのは、生成そのものより前後の設計である。</a:t>
            </a:r>
          </a:p>
        </p:txBody>
      </p:sp>
      <p:pic>
        <p:nvPicPr>
          <p:cNvPr id="37" name="Picture 36" descr="image.png"/>
          <p:cNvPicPr>
            <a:picLocks noChangeAspect="1"/>
          </p:cNvPicPr>
          <p:nvPr/>
        </p:nvPicPr>
        <p:blipFill>
          <a:blip r:embed="rId8"/>
          <a:stretch>
            <a:fillRect/>
          </a:stretch>
        </p:blipFill>
        <p:spPr>
          <a:xfrm>
            <a:off x="2691994" y="2348179"/>
            <a:ext cx="105156" cy="171906"/>
          </a:xfrm>
          <a:prstGeom prst="rect">
            <a:avLst/>
          </a:prstGeom>
          <a:ln w="0">
            <a:noFill/>
          </a:ln>
        </p:spPr>
      </p:pic>
      <p:pic>
        <p:nvPicPr>
          <p:cNvPr id="38" name="Picture 37" descr="image.png"/>
          <p:cNvPicPr>
            <a:picLocks noChangeAspect="1"/>
          </p:cNvPicPr>
          <p:nvPr/>
        </p:nvPicPr>
        <p:blipFill>
          <a:blip r:embed="rId8"/>
          <a:stretch>
            <a:fillRect/>
          </a:stretch>
        </p:blipFill>
        <p:spPr>
          <a:xfrm>
            <a:off x="4926787" y="2348179"/>
            <a:ext cx="105155" cy="171906"/>
          </a:xfrm>
          <a:prstGeom prst="rect">
            <a:avLst/>
          </a:prstGeom>
          <a:ln w="0">
            <a:noFill/>
          </a:ln>
        </p:spPr>
      </p:pic>
      <p:pic>
        <p:nvPicPr>
          <p:cNvPr id="39" name="Picture 38" descr="image.png"/>
          <p:cNvPicPr>
            <a:picLocks noChangeAspect="1"/>
          </p:cNvPicPr>
          <p:nvPr/>
        </p:nvPicPr>
        <p:blipFill>
          <a:blip r:embed="rId8"/>
          <a:stretch>
            <a:fillRect/>
          </a:stretch>
        </p:blipFill>
        <p:spPr>
          <a:xfrm>
            <a:off x="7160666" y="2348179"/>
            <a:ext cx="105155" cy="171906"/>
          </a:xfrm>
          <a:prstGeom prst="rect">
            <a:avLst/>
          </a:prstGeom>
          <a:ln w="0">
            <a:noFill/>
          </a:ln>
        </p:spPr>
      </p:pic>
      <p:pic>
        <p:nvPicPr>
          <p:cNvPr id="40" name="Picture 39" descr="image.png"/>
          <p:cNvPicPr>
            <a:picLocks noChangeAspect="1"/>
          </p:cNvPicPr>
          <p:nvPr/>
        </p:nvPicPr>
        <p:blipFill>
          <a:blip r:embed="rId8"/>
          <a:stretch>
            <a:fillRect/>
          </a:stretch>
        </p:blipFill>
        <p:spPr>
          <a:xfrm>
            <a:off x="9395460" y="2348179"/>
            <a:ext cx="105155" cy="171906"/>
          </a:xfrm>
          <a:prstGeom prst="rect">
            <a:avLst/>
          </a:prstGeom>
          <a:ln w="0">
            <a:noFill/>
          </a:ln>
        </p:spPr>
      </p:pic>
      <p:sp>
        <p:nvSpPr>
          <p:cNvPr id="41" name="TextBox 40"/>
          <p:cNvSpPr txBox="1"/>
          <p:nvPr/>
        </p:nvSpPr>
        <p:spPr>
          <a:xfrm>
            <a:off x="752551"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会議、資料、メモを再利用可能な形で集める</a:t>
            </a:r>
          </a:p>
        </p:txBody>
      </p:sp>
      <p:sp>
        <p:nvSpPr>
          <p:cNvPr id="42" name="TextBox 41"/>
          <p:cNvSpPr txBox="1"/>
          <p:nvPr/>
        </p:nvSpPr>
        <p:spPr>
          <a:xfrm>
            <a:off x="752551" y="5184571"/>
            <a:ext cx="3219602" cy="412293"/>
          </a:xfrm>
          <a:prstGeom prst="rect">
            <a:avLst/>
          </a:prstGeom>
          <a:ln w="0">
            <a:noFill/>
          </a:ln>
          <a:noFill/>
        </p:spPr>
        <p:txBody>
          <a:bodyPr wrap="square" lIns="0" rIns="0" tIns="0" bIns="0">
            <a:noAutofit/>
          </a:bodyPr>
          <a:lstStyle/>
          <a:p>
            <a:pPr algn="l"/>
          </a:p>
        </p:txBody>
      </p:sp>
      <p:sp>
        <p:nvSpPr>
          <p:cNvPr id="43" name="TextBox 42"/>
          <p:cNvSpPr txBox="1"/>
          <p:nvPr/>
        </p:nvSpPr>
        <p:spPr>
          <a:xfrm>
            <a:off x="4574743" y="4646981"/>
            <a:ext cx="3219602" cy="545031"/>
          </a:xfrm>
          <a:prstGeom prst="rect">
            <a:avLst/>
          </a:prstGeom>
          <a:ln w="0">
            <a:noFill/>
          </a:ln>
          <a:noFill/>
        </p:spPr>
        <p:txBody>
          <a:bodyPr wrap="square" lIns="0" rIns="0" tIns="0" bIns="0">
            <a:noAutofit/>
          </a:bodyPr>
          <a:lstStyle/>
          <a:p>
            <a:pPr algn="l"/>
            <a:r>
              <a:rPr sz="900" b="1">
                <a:solidFill>
                  <a:srgbClr val="1D1D1F"/>
                </a:solidFill>
                <a:latin typeface="Noto Sans JP"/>
              </a:rPr>
              <a:t>自由生成ではなく、型に沿った生成へ寄せる</a:t>
            </a:r>
          </a:p>
        </p:txBody>
      </p:sp>
      <p:sp>
        <p:nvSpPr>
          <p:cNvPr id="44" name="TextBox 43"/>
          <p:cNvSpPr txBox="1"/>
          <p:nvPr/>
        </p:nvSpPr>
        <p:spPr>
          <a:xfrm>
            <a:off x="4574743" y="5184571"/>
            <a:ext cx="3219602" cy="412293"/>
          </a:xfrm>
          <a:prstGeom prst="rect">
            <a:avLst/>
          </a:prstGeom>
          <a:ln w="0">
            <a:noFill/>
          </a:ln>
          <a:noFill/>
        </p:spPr>
        <p:txBody>
          <a:bodyPr wrap="square" lIns="0" rIns="0" tIns="0" bIns="0">
            <a:noAutofit/>
          </a:bodyPr>
          <a:lstStyle/>
          <a:p>
            <a:pPr algn="l"/>
          </a:p>
        </p:txBody>
      </p:sp>
      <p:sp>
        <p:nvSpPr>
          <p:cNvPr id="45" name="TextBox 44"/>
          <p:cNvSpPr txBox="1"/>
          <p:nvPr/>
        </p:nvSpPr>
        <p:spPr>
          <a:xfrm>
            <a:off x="8397850" y="4646981"/>
            <a:ext cx="3219602" cy="412293"/>
          </a:xfrm>
          <a:prstGeom prst="rect">
            <a:avLst/>
          </a:prstGeom>
          <a:ln w="0">
            <a:noFill/>
          </a:ln>
          <a:noFill/>
        </p:spPr>
        <p:txBody>
          <a:bodyPr wrap="square" lIns="0" rIns="0" tIns="0" bIns="0">
            <a:noAutofit/>
          </a:bodyPr>
          <a:lstStyle/>
          <a:p>
            <a:pPr algn="l"/>
            <a:r>
              <a:rPr sz="900" b="1">
                <a:solidFill>
                  <a:srgbClr val="1D1D1F"/>
                </a:solidFill>
                <a:latin typeface="Noto Sans JP"/>
              </a:rPr>
              <a:t>安全性、意味、テンプレート準拠を人が確認する</a:t>
            </a:r>
          </a:p>
        </p:txBody>
      </p:sp>
      <p:sp>
        <p:nvSpPr>
          <p:cNvPr id="46" name="TextBox 45"/>
          <p:cNvSpPr txBox="1"/>
          <p:nvPr/>
        </p:nvSpPr>
        <p:spPr>
          <a:xfrm>
            <a:off x="8397850" y="5184571"/>
            <a:ext cx="3219602" cy="412293"/>
          </a:xfrm>
          <a:prstGeom prst="rect">
            <a:avLst/>
          </a:prstGeom>
          <a:ln w="0">
            <a:noFill/>
          </a:ln>
          <a:noFill/>
        </p:spPr>
        <p:txBody>
          <a:bodyPr wrap="square" lIns="0" rIns="0" tIns="0" bIns="0">
            <a:noAutofit/>
          </a:bodyPr>
          <a:lstStyle/>
          <a:p>
            <a:pPr algn="l"/>
          </a:p>
        </p:txBody>
      </p:sp>
      <p:sp>
        <p:nvSpPr>
          <p:cNvPr id="47" name="TextBox 46"/>
          <p:cNvSpPr txBox="1"/>
          <p:nvPr/>
        </p:nvSpPr>
        <p:spPr>
          <a:xfrm>
            <a:off x="1322222" y="2562149"/>
            <a:ext cx="609904"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1</a:t>
            </a:r>
          </a:p>
        </p:txBody>
      </p:sp>
      <p:sp>
        <p:nvSpPr>
          <p:cNvPr id="48" name="TextBox 47"/>
          <p:cNvSpPr txBox="1"/>
          <p:nvPr/>
        </p:nvSpPr>
        <p:spPr>
          <a:xfrm>
            <a:off x="1022299" y="2838298"/>
            <a:ext cx="1209751" cy="277062"/>
          </a:xfrm>
          <a:prstGeom prst="rect">
            <a:avLst/>
          </a:prstGeom>
          <a:ln w="0">
            <a:noFill/>
          </a:ln>
          <a:noFill/>
        </p:spPr>
        <p:txBody>
          <a:bodyPr wrap="square" lIns="0" rIns="0" tIns="0" bIns="0">
            <a:noAutofit/>
          </a:bodyPr>
          <a:lstStyle/>
          <a:p>
            <a:pPr algn="ctr"/>
            <a:r>
              <a:rPr sz="800">
                <a:solidFill>
                  <a:srgbClr val="6E6E73"/>
                </a:solidFill>
                <a:latin typeface="Noto Sans JP"/>
              </a:rPr>
              <a:t>一次情報を収集する</a:t>
            </a:r>
          </a:p>
        </p:txBody>
      </p:sp>
      <p:sp>
        <p:nvSpPr>
          <p:cNvPr id="49" name="TextBox 48"/>
          <p:cNvSpPr txBox="1"/>
          <p:nvPr/>
        </p:nvSpPr>
        <p:spPr>
          <a:xfrm>
            <a:off x="3622853" y="2562149"/>
            <a:ext cx="476401"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2</a:t>
            </a:r>
          </a:p>
        </p:txBody>
      </p:sp>
      <p:sp>
        <p:nvSpPr>
          <p:cNvPr id="50" name="TextBox 49"/>
          <p:cNvSpPr txBox="1"/>
          <p:nvPr/>
        </p:nvSpPr>
        <p:spPr>
          <a:xfrm>
            <a:off x="3361334" y="2838298"/>
            <a:ext cx="1000353" cy="277062"/>
          </a:xfrm>
          <a:prstGeom prst="rect">
            <a:avLst/>
          </a:prstGeom>
          <a:ln w="0">
            <a:noFill/>
          </a:ln>
          <a:noFill/>
        </p:spPr>
        <p:txBody>
          <a:bodyPr wrap="square" lIns="0" rIns="0" tIns="0" bIns="0">
            <a:noAutofit/>
          </a:bodyPr>
          <a:lstStyle/>
          <a:p>
            <a:pPr algn="ctr"/>
            <a:r>
              <a:rPr sz="800">
                <a:solidFill>
                  <a:srgbClr val="6E6E73"/>
                </a:solidFill>
                <a:latin typeface="Noto Sans JP"/>
              </a:rPr>
              <a:t>必要に応じてローカルで安全化する</a:t>
            </a:r>
          </a:p>
        </p:txBody>
      </p:sp>
      <p:sp>
        <p:nvSpPr>
          <p:cNvPr id="51" name="TextBox 50"/>
          <p:cNvSpPr txBox="1"/>
          <p:nvPr/>
        </p:nvSpPr>
        <p:spPr>
          <a:xfrm>
            <a:off x="5724144" y="2562149"/>
            <a:ext cx="743407"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3</a:t>
            </a:r>
          </a:p>
        </p:txBody>
      </p:sp>
      <p:sp>
        <p:nvSpPr>
          <p:cNvPr id="52" name="TextBox 51"/>
          <p:cNvSpPr txBox="1"/>
          <p:nvPr/>
        </p:nvSpPr>
        <p:spPr>
          <a:xfrm>
            <a:off x="5589727" y="2838298"/>
            <a:ext cx="1019556" cy="277062"/>
          </a:xfrm>
          <a:prstGeom prst="rect">
            <a:avLst/>
          </a:prstGeom>
          <a:ln w="0">
            <a:noFill/>
          </a:ln>
          <a:noFill/>
        </p:spPr>
        <p:txBody>
          <a:bodyPr wrap="square" lIns="0" rIns="0" tIns="0" bIns="0">
            <a:noAutofit/>
          </a:bodyPr>
          <a:lstStyle/>
          <a:p>
            <a:pPr algn="ctr"/>
            <a:r>
              <a:rPr sz="800">
                <a:solidFill>
                  <a:srgbClr val="6E6E73"/>
                </a:solidFill>
                <a:latin typeface="Noto Sans JP"/>
              </a:rPr>
              <a:t>外部AIまたはローカルLLMへ接続する</a:t>
            </a:r>
          </a:p>
        </p:txBody>
      </p:sp>
      <p:sp>
        <p:nvSpPr>
          <p:cNvPr id="53" name="TextBox 52"/>
          <p:cNvSpPr txBox="1"/>
          <p:nvPr/>
        </p:nvSpPr>
        <p:spPr>
          <a:xfrm>
            <a:off x="8001914" y="2562149"/>
            <a:ext cx="667512"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4</a:t>
            </a:r>
          </a:p>
        </p:txBody>
      </p:sp>
      <p:sp>
        <p:nvSpPr>
          <p:cNvPr id="54" name="TextBox 53"/>
          <p:cNvSpPr txBox="1"/>
          <p:nvPr/>
        </p:nvSpPr>
        <p:spPr>
          <a:xfrm>
            <a:off x="7777886" y="2838298"/>
            <a:ext cx="1105510" cy="277062"/>
          </a:xfrm>
          <a:prstGeom prst="rect">
            <a:avLst/>
          </a:prstGeom>
          <a:ln w="0">
            <a:noFill/>
          </a:ln>
          <a:noFill/>
        </p:spPr>
        <p:txBody>
          <a:bodyPr wrap="square" lIns="0" rIns="0" tIns="0" bIns="0">
            <a:noAutofit/>
          </a:bodyPr>
          <a:lstStyle/>
          <a:p>
            <a:pPr algn="ctr"/>
            <a:r>
              <a:rPr sz="800">
                <a:solidFill>
                  <a:srgbClr val="6E6E73"/>
                </a:solidFill>
                <a:latin typeface="Noto Sans JP"/>
              </a:rPr>
              <a:t>JSON中間表現へ構造化する</a:t>
            </a:r>
          </a:p>
        </p:txBody>
      </p:sp>
      <p:sp>
        <p:nvSpPr>
          <p:cNvPr id="55" name="TextBox 54"/>
          <p:cNvSpPr txBox="1"/>
          <p:nvPr/>
        </p:nvSpPr>
        <p:spPr>
          <a:xfrm>
            <a:off x="10260482" y="2562149"/>
            <a:ext cx="609905" cy="200254"/>
          </a:xfrm>
          <a:prstGeom prst="rect">
            <a:avLst/>
          </a:prstGeom>
          <a:ln w="0">
            <a:noFill/>
          </a:ln>
          <a:noFill/>
        </p:spPr>
        <p:txBody>
          <a:bodyPr wrap="square" lIns="0" rIns="0" tIns="0" bIns="0">
            <a:noAutofit/>
          </a:bodyPr>
          <a:lstStyle/>
          <a:p>
            <a:pPr algn="ctr"/>
            <a:r>
              <a:rPr sz="1000" b="1">
                <a:solidFill>
                  <a:srgbClr val="1D1D1F"/>
                </a:solidFill>
                <a:latin typeface="Noto Sans JP"/>
              </a:rPr>
              <a:t>STEP 5</a:t>
            </a:r>
          </a:p>
        </p:txBody>
      </p:sp>
      <p:sp>
        <p:nvSpPr>
          <p:cNvPr id="56" name="TextBox 55"/>
          <p:cNvSpPr txBox="1"/>
          <p:nvPr/>
        </p:nvSpPr>
        <p:spPr>
          <a:xfrm>
            <a:off x="10076688" y="2838298"/>
            <a:ext cx="981150" cy="277062"/>
          </a:xfrm>
          <a:prstGeom prst="rect">
            <a:avLst/>
          </a:prstGeom>
          <a:ln w="0">
            <a:noFill/>
          </a:ln>
          <a:noFill/>
        </p:spPr>
        <p:txBody>
          <a:bodyPr wrap="square" lIns="0" rIns="0" tIns="0" bIns="0">
            <a:noAutofit/>
          </a:bodyPr>
          <a:lstStyle/>
          <a:p>
            <a:pPr algn="ctr"/>
            <a:r>
              <a:rPr sz="800">
                <a:solidFill>
                  <a:srgbClr val="6E6E73"/>
                </a:solidFill>
                <a:latin typeface="Noto Sans JP"/>
              </a:rPr>
              <a:t>テンプレート選択を通じて成果物化する</a:t>
            </a:r>
          </a:p>
        </p:txBody>
      </p:sp>
      <p:pic>
        <p:nvPicPr>
          <p:cNvPr id="57" name="Picture 56" descr="image.png"/>
          <p:cNvPicPr>
            <a:picLocks noChangeAspect="1"/>
          </p:cNvPicPr>
          <p:nvPr/>
        </p:nvPicPr>
        <p:blipFill>
          <a:blip r:embed="rId9"/>
          <a:stretch>
            <a:fillRect/>
          </a:stretch>
        </p:blipFill>
        <p:spPr>
          <a:xfrm>
            <a:off x="591468" y="4646981"/>
            <a:ext cx="95098" cy="95098"/>
          </a:xfrm>
          <a:prstGeom prst="rect">
            <a:avLst/>
          </a:prstGeom>
          <a:ln w="0">
            <a:noFill/>
          </a:ln>
        </p:spPr>
      </p:pic>
      <p:pic>
        <p:nvPicPr>
          <p:cNvPr id="58" name="Picture 57" descr="image.png"/>
          <p:cNvPicPr>
            <a:picLocks noChangeAspect="1"/>
          </p:cNvPicPr>
          <p:nvPr/>
        </p:nvPicPr>
        <p:blipFill>
          <a:blip r:embed="rId9"/>
          <a:stretch>
            <a:fillRect/>
          </a:stretch>
        </p:blipFill>
        <p:spPr>
          <a:xfrm>
            <a:off x="591468" y="5184571"/>
            <a:ext cx="95098" cy="95098"/>
          </a:xfrm>
          <a:prstGeom prst="rect">
            <a:avLst/>
          </a:prstGeom>
          <a:ln w="0">
            <a:noFill/>
          </a:ln>
        </p:spPr>
      </p:pic>
      <p:pic>
        <p:nvPicPr>
          <p:cNvPr id="59" name="Picture 58" descr="image.png"/>
          <p:cNvPicPr>
            <a:picLocks noChangeAspect="1"/>
          </p:cNvPicPr>
          <p:nvPr/>
        </p:nvPicPr>
        <p:blipFill>
          <a:blip r:embed="rId9"/>
          <a:stretch>
            <a:fillRect/>
          </a:stretch>
        </p:blipFill>
        <p:spPr>
          <a:xfrm>
            <a:off x="4413660" y="4646981"/>
            <a:ext cx="95098" cy="95098"/>
          </a:xfrm>
          <a:prstGeom prst="rect">
            <a:avLst/>
          </a:prstGeom>
          <a:ln w="0">
            <a:noFill/>
          </a:ln>
        </p:spPr>
      </p:pic>
      <p:pic>
        <p:nvPicPr>
          <p:cNvPr id="60" name="Picture 59" descr="image.png"/>
          <p:cNvPicPr>
            <a:picLocks noChangeAspect="1"/>
          </p:cNvPicPr>
          <p:nvPr/>
        </p:nvPicPr>
        <p:blipFill>
          <a:blip r:embed="rId9"/>
          <a:stretch>
            <a:fillRect/>
          </a:stretch>
        </p:blipFill>
        <p:spPr>
          <a:xfrm>
            <a:off x="4413660" y="5184571"/>
            <a:ext cx="95098" cy="95098"/>
          </a:xfrm>
          <a:prstGeom prst="rect">
            <a:avLst/>
          </a:prstGeom>
          <a:ln w="0">
            <a:noFill/>
          </a:ln>
        </p:spPr>
      </p:pic>
      <p:pic>
        <p:nvPicPr>
          <p:cNvPr id="61" name="Picture 60" descr="image.png"/>
          <p:cNvPicPr>
            <a:picLocks noChangeAspect="1"/>
          </p:cNvPicPr>
          <p:nvPr/>
        </p:nvPicPr>
        <p:blipFill>
          <a:blip r:embed="rId9"/>
          <a:stretch>
            <a:fillRect/>
          </a:stretch>
        </p:blipFill>
        <p:spPr>
          <a:xfrm>
            <a:off x="8236766" y="4646981"/>
            <a:ext cx="95097" cy="95098"/>
          </a:xfrm>
          <a:prstGeom prst="rect">
            <a:avLst/>
          </a:prstGeom>
          <a:ln w="0">
            <a:noFill/>
          </a:ln>
        </p:spPr>
      </p:pic>
      <p:pic>
        <p:nvPicPr>
          <p:cNvPr id="62" name="Picture 61" descr="image.png"/>
          <p:cNvPicPr>
            <a:picLocks noChangeAspect="1"/>
          </p:cNvPicPr>
          <p:nvPr/>
        </p:nvPicPr>
        <p:blipFill>
          <a:blip r:embed="rId9"/>
          <a:stretch>
            <a:fillRect/>
          </a:stretch>
        </p:blipFill>
        <p:spPr>
          <a:xfrm>
            <a:off x="8236766" y="5184571"/>
            <a:ext cx="95097" cy="95098"/>
          </a:xfrm>
          <a:prstGeom prst="rect">
            <a:avLst/>
          </a:prstGeom>
          <a:ln w="0">
            <a:noFill/>
          </a:ln>
        </p:spPr>
      </p:pic>
      <p:sp>
        <p:nvSpPr>
          <p:cNvPr id="63" name="Rectangle 62"/>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no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0" y="6476695"/>
            <a:ext cx="12192609" cy="381305"/>
          </a:xfrm>
          <a:prstGeom prst="rect">
            <a:avLst/>
          </a:prstGeom>
          <a:solidFill>
            <a:srgbClr val="F6F5F8"/>
          </a:solidFill>
          <a:ln w="15875">
            <a:solidFill>
              <a:srgbClr val="E5E5E5"/>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4" name="Rounded Rectangle 3"/>
          <p:cNvSpPr/>
          <p:nvPr/>
        </p:nvSpPr>
        <p:spPr>
          <a:xfrm>
            <a:off x="481887" y="1312153"/>
            <a:ext cx="11221662" cy="790509"/>
          </a:xfrm>
          <a:prstGeom prst="roundRect">
            <a:avLst/>
          </a:prstGeom>
          <a:solidFill>
            <a:srgbClr val="F0F9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488450" y="1311250"/>
            <a:ext cx="49716" cy="791160"/>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914400" y="470024"/>
            <a:ext cx="11354105" cy="514806"/>
          </a:xfrm>
          <a:prstGeom prst="rect">
            <a:avLst/>
          </a:prstGeom>
          <a:ln w="0">
            <a:noFill/>
          </a:ln>
          <a:noFill/>
        </p:spPr>
        <p:txBody>
          <a:bodyPr wrap="square" lIns="0" rIns="0" tIns="0" bIns="0">
            <a:noAutofit/>
          </a:bodyPr>
          <a:lstStyle/>
          <a:p>
            <a:pPr algn="l"/>
            <a:r>
              <a:rPr sz="2400" b="1">
                <a:solidFill>
                  <a:srgbClr val="1D1D1F"/>
                </a:solidFill>
                <a:latin typeface="Noto Sans JP"/>
              </a:rPr>
              <a:t>実装状況と今後の課題</a:t>
            </a:r>
          </a:p>
        </p:txBody>
      </p:sp>
      <p:sp>
        <p:nvSpPr>
          <p:cNvPr id="7" name="TextBox 6"/>
          <p:cNvSpPr txBox="1"/>
          <p:nvPr/>
        </p:nvSpPr>
        <p:spPr>
          <a:xfrm>
            <a:off x="476401" y="195681"/>
            <a:ext cx="11239805" cy="286206"/>
          </a:xfrm>
          <a:prstGeom prst="rect">
            <a:avLst/>
          </a:prstGeom>
          <a:ln w="0">
            <a:noFill/>
          </a:ln>
          <a:noFill/>
        </p:spPr>
        <p:txBody>
          <a:bodyPr wrap="square" lIns="0" rIns="0" tIns="0" bIns="0">
            <a:noAutofit/>
          </a:bodyPr>
          <a:lstStyle/>
          <a:p>
            <a:pPr algn="l"/>
            <a:r>
              <a:rPr sz="1000">
                <a:solidFill>
                  <a:srgbClr val="86868B"/>
                </a:solidFill>
                <a:latin typeface="Noto Sans JP"/>
              </a:rPr>
              <a:t>CURRENT STATUS</a:t>
            </a:r>
          </a:p>
        </p:txBody>
      </p:sp>
      <p:sp>
        <p:nvSpPr>
          <p:cNvPr id="8" name="TextBox 7"/>
          <p:cNvSpPr txBox="1"/>
          <p:nvPr/>
        </p:nvSpPr>
        <p:spPr>
          <a:xfrm>
            <a:off x="914400" y="1421206"/>
            <a:ext cx="10611612" cy="571500"/>
          </a:xfrm>
          <a:prstGeom prst="rect">
            <a:avLst/>
          </a:prstGeom>
          <a:ln w="0">
            <a:noFill/>
          </a:ln>
          <a:noFill/>
        </p:spPr>
        <p:txBody>
          <a:bodyPr wrap="square" lIns="0" rIns="0" tIns="0" bIns="0">
            <a:noAutofit/>
          </a:bodyPr>
          <a:lstStyle/>
          <a:p>
            <a:pPr algn="l"/>
            <a:r>
              <a:rPr b="1">
                <a:solidFill>
                  <a:srgbClr val="1D1D1F"/>
                </a:solidFill>
                <a:latin typeface="Cambria"/>
              </a:rPr>
              <a:t>基本動作は作れているが、精度・厳密運用・評価設計には追加検証が必要である。</a:t>
            </a:r>
          </a:p>
        </p:txBody>
      </p:sp>
      <p:sp>
        <p:nvSpPr>
          <p:cNvPr id="9" name="Rounded Rectangle 8"/>
          <p:cNvSpPr/>
          <p:nvPr/>
        </p:nvSpPr>
        <p:spPr>
          <a:xfrm>
            <a:off x="538167"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738421" y="2596440"/>
            <a:ext cx="304495" cy="228600"/>
          </a:xfrm>
          <a:prstGeom prst="rect">
            <a:avLst/>
          </a:prstGeom>
          <a:ln w="0">
            <a:noFill/>
          </a:ln>
        </p:spPr>
      </p:pic>
      <p:sp>
        <p:nvSpPr>
          <p:cNvPr id="11" name="TextBox 10"/>
          <p:cNvSpPr txBox="1"/>
          <p:nvPr/>
        </p:nvSpPr>
        <p:spPr>
          <a:xfrm>
            <a:off x="1157216" y="2582724"/>
            <a:ext cx="1286561" cy="257861"/>
          </a:xfrm>
          <a:prstGeom prst="rect">
            <a:avLst/>
          </a:prstGeom>
          <a:ln w="0">
            <a:noFill/>
          </a:ln>
          <a:noFill/>
        </p:spPr>
        <p:txBody>
          <a:bodyPr wrap="square" lIns="0" rIns="0" tIns="0" bIns="0">
            <a:noAutofit/>
          </a:bodyPr>
          <a:lstStyle/>
          <a:p>
            <a:pPr algn="l"/>
            <a:r>
              <a:rPr sz="1300" b="1">
                <a:solidFill>
                  <a:srgbClr val="1D1D1F"/>
                </a:solidFill>
                <a:latin typeface="Noto Sans JP"/>
              </a:rPr>
              <a:t>実装済み</a:t>
            </a:r>
          </a:p>
        </p:txBody>
      </p:sp>
      <p:sp>
        <p:nvSpPr>
          <p:cNvPr id="12" name="TextBox 11"/>
          <p:cNvSpPr txBox="1"/>
          <p:nvPr/>
        </p:nvSpPr>
        <p:spPr>
          <a:xfrm>
            <a:off x="738421" y="2953970"/>
            <a:ext cx="3324758" cy="228600"/>
          </a:xfrm>
          <a:prstGeom prst="rect">
            <a:avLst/>
          </a:prstGeom>
          <a:ln w="0">
            <a:noFill/>
          </a:ln>
          <a:noFill/>
        </p:spPr>
        <p:txBody>
          <a:bodyPr wrap="square" lIns="0" rIns="0" tIns="0" bIns="0">
            <a:noAutofit/>
          </a:bodyPr>
          <a:lstStyle/>
          <a:p>
            <a:pPr algn="l"/>
            <a:r>
              <a:rPr sz="1100">
                <a:solidFill>
                  <a:srgbClr val="424245"/>
                </a:solidFill>
                <a:latin typeface="Noto Sans JP"/>
              </a:rPr>
              <a:t>一次情報収集の流れ</a:t>
            </a:r>
          </a:p>
        </p:txBody>
      </p:sp>
      <p:sp>
        <p:nvSpPr>
          <p:cNvPr id="13" name="TextBox 12"/>
          <p:cNvSpPr txBox="1"/>
          <p:nvPr/>
        </p:nvSpPr>
        <p:spPr>
          <a:xfrm>
            <a:off x="738421" y="3239263"/>
            <a:ext cx="3324758" cy="228599"/>
          </a:xfrm>
          <a:prstGeom prst="rect">
            <a:avLst/>
          </a:prstGeom>
          <a:ln w="0">
            <a:noFill/>
          </a:ln>
          <a:noFill/>
        </p:spPr>
        <p:txBody>
          <a:bodyPr wrap="square" lIns="0" rIns="0" tIns="0" bIns="0">
            <a:noAutofit/>
          </a:bodyPr>
          <a:lstStyle/>
          <a:p>
            <a:pPr algn="l"/>
            <a:r>
              <a:rPr sz="1100">
                <a:solidFill>
                  <a:srgbClr val="424245"/>
                </a:solidFill>
                <a:latin typeface="Noto Sans JP"/>
              </a:rPr>
              <a:t>文字起こし</a:t>
            </a:r>
          </a:p>
        </p:txBody>
      </p:sp>
      <p:sp>
        <p:nvSpPr>
          <p:cNvPr id="14" name="TextBox 13"/>
          <p:cNvSpPr txBox="1"/>
          <p:nvPr/>
        </p:nvSpPr>
        <p:spPr>
          <a:xfrm>
            <a:off x="738421" y="3525470"/>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JSON中間表現</a:t>
            </a:r>
          </a:p>
        </p:txBody>
      </p:sp>
      <p:sp>
        <p:nvSpPr>
          <p:cNvPr id="15" name="Rounded Rectangle 14"/>
          <p:cNvSpPr/>
          <p:nvPr/>
        </p:nvSpPr>
        <p:spPr>
          <a:xfrm>
            <a:off x="4297265"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3"/>
          <a:stretch>
            <a:fillRect/>
          </a:stretch>
        </p:blipFill>
        <p:spPr>
          <a:xfrm>
            <a:off x="4497519" y="2596440"/>
            <a:ext cx="304494" cy="228600"/>
          </a:xfrm>
          <a:prstGeom prst="rect">
            <a:avLst/>
          </a:prstGeom>
          <a:ln w="0">
            <a:noFill/>
          </a:ln>
        </p:spPr>
      </p:pic>
      <p:sp>
        <p:nvSpPr>
          <p:cNvPr id="17" name="TextBox 16"/>
          <p:cNvSpPr txBox="1"/>
          <p:nvPr/>
        </p:nvSpPr>
        <p:spPr>
          <a:xfrm>
            <a:off x="4916314" y="2582724"/>
            <a:ext cx="762610" cy="257861"/>
          </a:xfrm>
          <a:prstGeom prst="rect">
            <a:avLst/>
          </a:prstGeom>
          <a:ln w="0">
            <a:noFill/>
          </a:ln>
          <a:noFill/>
        </p:spPr>
        <p:txBody>
          <a:bodyPr wrap="square" lIns="0" rIns="0" tIns="0" bIns="0">
            <a:noAutofit/>
          </a:bodyPr>
          <a:lstStyle/>
          <a:p>
            <a:pPr algn="l"/>
            <a:r>
              <a:rPr sz="1300" b="1">
                <a:solidFill>
                  <a:srgbClr val="1D1D1F"/>
                </a:solidFill>
                <a:latin typeface="Noto Sans JP"/>
              </a:rPr>
              <a:t>一部実装 / 検証中</a:t>
            </a:r>
          </a:p>
        </p:txBody>
      </p:sp>
      <p:sp>
        <p:nvSpPr>
          <p:cNvPr id="18" name="TextBox 17"/>
          <p:cNvSpPr txBox="1"/>
          <p:nvPr/>
        </p:nvSpPr>
        <p:spPr>
          <a:xfrm>
            <a:off x="5193377" y="2953970"/>
            <a:ext cx="2553005" cy="247801"/>
          </a:xfrm>
          <a:prstGeom prst="rect">
            <a:avLst/>
          </a:prstGeom>
          <a:ln w="0">
            <a:noFill/>
          </a:ln>
          <a:noFill/>
        </p:spPr>
        <p:txBody>
          <a:bodyPr wrap="square" lIns="0" rIns="0" tIns="0" bIns="0">
            <a:noAutofit/>
          </a:bodyPr>
          <a:lstStyle/>
          <a:p>
            <a:pPr algn="l"/>
            <a:r>
              <a:rPr sz="1100">
                <a:solidFill>
                  <a:srgbClr val="424245"/>
                </a:solidFill>
                <a:latin typeface="Cambria"/>
              </a:rPr>
              <a:t>マスキング精度</a:t>
            </a:r>
          </a:p>
        </p:txBody>
      </p:sp>
      <p:pic>
        <p:nvPicPr>
          <p:cNvPr id="19" name="Picture 18" descr="image.png"/>
          <p:cNvPicPr>
            <a:picLocks noChangeAspect="1"/>
          </p:cNvPicPr>
          <p:nvPr/>
        </p:nvPicPr>
        <p:blipFill>
          <a:blip r:embed="rId4"/>
          <a:stretch>
            <a:fillRect/>
          </a:stretch>
        </p:blipFill>
        <p:spPr>
          <a:xfrm>
            <a:off x="4631021" y="2963114"/>
            <a:ext cx="533094" cy="237744"/>
          </a:xfrm>
          <a:prstGeom prst="rect">
            <a:avLst/>
          </a:prstGeom>
          <a:ln w="0">
            <a:noFill/>
          </a:ln>
        </p:spPr>
      </p:pic>
      <p:sp>
        <p:nvSpPr>
          <p:cNvPr id="20" name="Rectangle 19"/>
          <p:cNvSpPr/>
          <p:nvPr/>
        </p:nvSpPr>
        <p:spPr>
          <a:xfrm>
            <a:off x="4631021" y="2963114"/>
            <a:ext cx="534010" cy="238657"/>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193377" y="3256636"/>
            <a:ext cx="2628900" cy="247801"/>
          </a:xfrm>
          <a:prstGeom prst="rect">
            <a:avLst/>
          </a:prstGeom>
          <a:ln w="0">
            <a:noFill/>
          </a:ln>
          <a:noFill/>
        </p:spPr>
        <p:txBody>
          <a:bodyPr wrap="square" lIns="0" rIns="0" tIns="0" bIns="0">
            <a:noAutofit/>
          </a:bodyPr>
          <a:lstStyle/>
          <a:p>
            <a:pPr algn="l"/>
            <a:r>
              <a:rPr sz="1100">
                <a:solidFill>
                  <a:srgbClr val="424245"/>
                </a:solidFill>
                <a:latin typeface="Cambria"/>
              </a:rPr>
              <a:t>意味分類精度</a:t>
            </a:r>
          </a:p>
        </p:txBody>
      </p:sp>
      <p:pic>
        <p:nvPicPr>
          <p:cNvPr id="22" name="Picture 21" descr="image.png"/>
          <p:cNvPicPr>
            <a:picLocks noChangeAspect="1"/>
          </p:cNvPicPr>
          <p:nvPr/>
        </p:nvPicPr>
        <p:blipFill>
          <a:blip r:embed="rId4"/>
          <a:stretch>
            <a:fillRect/>
          </a:stretch>
        </p:blipFill>
        <p:spPr>
          <a:xfrm>
            <a:off x="4631021" y="3266695"/>
            <a:ext cx="533094" cy="237743"/>
          </a:xfrm>
          <a:prstGeom prst="rect">
            <a:avLst/>
          </a:prstGeom>
          <a:ln w="0">
            <a:noFill/>
          </a:ln>
        </p:spPr>
      </p:pic>
      <p:sp>
        <p:nvSpPr>
          <p:cNvPr id="23" name="Rectangle 22"/>
          <p:cNvSpPr/>
          <p:nvPr/>
        </p:nvSpPr>
        <p:spPr>
          <a:xfrm>
            <a:off x="4631021" y="3266695"/>
            <a:ext cx="534010" cy="238658"/>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497519" y="3559303"/>
            <a:ext cx="3248863" cy="228600"/>
          </a:xfrm>
          <a:prstGeom prst="rect">
            <a:avLst/>
          </a:prstGeom>
          <a:ln w="0">
            <a:noFill/>
          </a:ln>
          <a:noFill/>
        </p:spPr>
        <p:txBody>
          <a:bodyPr wrap="square" lIns="0" rIns="0" tIns="0" bIns="0">
            <a:noAutofit/>
          </a:bodyPr>
          <a:lstStyle/>
          <a:p>
            <a:pPr algn="l"/>
            <a:r>
              <a:rPr sz="1100">
                <a:solidFill>
                  <a:srgbClr val="424245"/>
                </a:solidFill>
                <a:latin typeface="Cambria"/>
              </a:rPr>
              <a:t>一部テンプレートでの厳密運用</a:t>
            </a:r>
          </a:p>
        </p:txBody>
      </p:sp>
      <p:sp>
        <p:nvSpPr>
          <p:cNvPr id="25" name="Rounded Rectangle 24"/>
          <p:cNvSpPr/>
          <p:nvPr/>
        </p:nvSpPr>
        <p:spPr>
          <a:xfrm>
            <a:off x="8056364" y="2382470"/>
            <a:ext cx="3534155" cy="1666951"/>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8256617" y="2596440"/>
            <a:ext cx="304494" cy="228600"/>
          </a:xfrm>
          <a:prstGeom prst="rect">
            <a:avLst/>
          </a:prstGeom>
          <a:ln w="0">
            <a:noFill/>
          </a:ln>
        </p:spPr>
      </p:pic>
      <p:sp>
        <p:nvSpPr>
          <p:cNvPr id="27" name="TextBox 26"/>
          <p:cNvSpPr txBox="1"/>
          <p:nvPr/>
        </p:nvSpPr>
        <p:spPr>
          <a:xfrm>
            <a:off x="8675413" y="2582724"/>
            <a:ext cx="1296619" cy="257861"/>
          </a:xfrm>
          <a:prstGeom prst="rect">
            <a:avLst/>
          </a:prstGeom>
          <a:ln w="0">
            <a:noFill/>
          </a:ln>
          <a:noFill/>
        </p:spPr>
        <p:txBody>
          <a:bodyPr wrap="square" lIns="0" rIns="0" tIns="0" bIns="0">
            <a:noAutofit/>
          </a:bodyPr>
          <a:lstStyle/>
          <a:p>
            <a:pPr algn="l"/>
            <a:r>
              <a:rPr sz="1300" b="1">
                <a:solidFill>
                  <a:srgbClr val="1D1D1F"/>
                </a:solidFill>
                <a:latin typeface="Noto Sans JP"/>
              </a:rPr>
              <a:t>今後の課題</a:t>
            </a:r>
          </a:p>
        </p:txBody>
      </p:sp>
      <p:sp>
        <p:nvSpPr>
          <p:cNvPr id="28" name="TextBox 27"/>
          <p:cNvSpPr txBox="1"/>
          <p:nvPr/>
        </p:nvSpPr>
        <p:spPr>
          <a:xfrm>
            <a:off x="8256617" y="29539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テンプレート準拠率の定義</a:t>
            </a:r>
          </a:p>
        </p:txBody>
      </p:sp>
      <p:sp>
        <p:nvSpPr>
          <p:cNvPr id="29" name="TextBox 28"/>
          <p:cNvSpPr txBox="1"/>
          <p:nvPr/>
        </p:nvSpPr>
        <p:spPr>
          <a:xfrm>
            <a:off x="8256617" y="3239263"/>
            <a:ext cx="3248863" cy="228599"/>
          </a:xfrm>
          <a:prstGeom prst="rect">
            <a:avLst/>
          </a:prstGeom>
          <a:ln w="0">
            <a:noFill/>
          </a:ln>
          <a:noFill/>
        </p:spPr>
        <p:txBody>
          <a:bodyPr wrap="square" lIns="0" rIns="0" tIns="0" bIns="0">
            <a:noAutofit/>
          </a:bodyPr>
          <a:lstStyle/>
          <a:p>
            <a:pPr algn="l"/>
            <a:r>
              <a:rPr sz="1100" b="1">
                <a:solidFill>
                  <a:srgbClr val="424245"/>
                </a:solidFill>
                <a:latin typeface="Cambria"/>
              </a:rPr>
              <a:t>精度の定量評価</a:t>
            </a:r>
          </a:p>
        </p:txBody>
      </p:sp>
      <p:sp>
        <p:nvSpPr>
          <p:cNvPr id="30" name="TextBox 29"/>
          <p:cNvSpPr txBox="1"/>
          <p:nvPr/>
        </p:nvSpPr>
        <p:spPr>
          <a:xfrm>
            <a:off x="8256617" y="3525470"/>
            <a:ext cx="3248863" cy="228600"/>
          </a:xfrm>
          <a:prstGeom prst="rect">
            <a:avLst/>
          </a:prstGeom>
          <a:ln w="0">
            <a:noFill/>
          </a:ln>
          <a:noFill/>
        </p:spPr>
        <p:txBody>
          <a:bodyPr wrap="square" lIns="0" rIns="0" tIns="0" bIns="0">
            <a:noAutofit/>
          </a:bodyPr>
          <a:lstStyle/>
          <a:p>
            <a:pPr algn="l"/>
            <a:r>
              <a:rPr sz="1100" b="1">
                <a:solidFill>
                  <a:srgbClr val="424245"/>
                </a:solidFill>
                <a:latin typeface="Cambria"/>
              </a:rPr>
              <a:t>利用シーンごとの運用整理</a:t>
            </a:r>
          </a:p>
        </p:txBody>
      </p:sp>
      <p:sp>
        <p:nvSpPr>
          <p:cNvPr id="31" name="Rounded Rectangle 30"/>
          <p:cNvSpPr/>
          <p:nvPr/>
        </p:nvSpPr>
        <p:spPr>
          <a:xfrm>
            <a:off x="538167" y="4274364"/>
            <a:ext cx="7295997"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738421" y="4488333"/>
            <a:ext cx="304495" cy="228600"/>
          </a:xfrm>
          <a:prstGeom prst="rect">
            <a:avLst/>
          </a:prstGeom>
          <a:ln w="0">
            <a:noFill/>
          </a:ln>
        </p:spPr>
      </p:pic>
      <p:sp>
        <p:nvSpPr>
          <p:cNvPr id="33" name="TextBox 32"/>
          <p:cNvSpPr txBox="1"/>
          <p:nvPr/>
        </p:nvSpPr>
        <p:spPr>
          <a:xfrm>
            <a:off x="1157216" y="4473703"/>
            <a:ext cx="3656686" cy="257860"/>
          </a:xfrm>
          <a:prstGeom prst="rect">
            <a:avLst/>
          </a:prstGeom>
          <a:ln w="0">
            <a:noFill/>
          </a:ln>
          <a:noFill/>
        </p:spPr>
        <p:txBody>
          <a:bodyPr wrap="square" lIns="0" rIns="0" tIns="0" bIns="0">
            <a:noAutofit/>
          </a:bodyPr>
          <a:lstStyle/>
          <a:p>
            <a:pPr algn="l"/>
          </a:p>
        </p:txBody>
      </p:sp>
      <p:sp>
        <p:nvSpPr>
          <p:cNvPr id="34" name="TextBox 33"/>
          <p:cNvSpPr txBox="1"/>
          <p:nvPr/>
        </p:nvSpPr>
        <p:spPr>
          <a:xfrm>
            <a:off x="738421" y="4855008"/>
            <a:ext cx="2595982" cy="200253"/>
          </a:xfrm>
          <a:prstGeom prst="rect">
            <a:avLst/>
          </a:prstGeom>
          <a:ln w="0">
            <a:noFill/>
          </a:ln>
          <a:noFill/>
        </p:spPr>
        <p:txBody>
          <a:bodyPr wrap="square" lIns="0" rIns="0" tIns="0" bIns="0">
            <a:noAutofit/>
          </a:bodyPr>
          <a:lstStyle/>
          <a:p>
            <a:pPr algn="l"/>
          </a:p>
        </p:txBody>
      </p:sp>
      <p:sp>
        <p:nvSpPr>
          <p:cNvPr id="35" name="TextBox 34"/>
          <p:cNvSpPr txBox="1"/>
          <p:nvPr/>
        </p:nvSpPr>
        <p:spPr>
          <a:xfrm>
            <a:off x="738421" y="5150359"/>
            <a:ext cx="3419855" cy="228600"/>
          </a:xfrm>
          <a:prstGeom prst="rect">
            <a:avLst/>
          </a:prstGeom>
          <a:ln w="0">
            <a:noFill/>
          </a:ln>
          <a:noFill/>
        </p:spPr>
        <p:txBody>
          <a:bodyPr wrap="square" lIns="0" rIns="0" tIns="0" bIns="0">
            <a:noAutofit/>
          </a:bodyPr>
          <a:lstStyle/>
          <a:p>
            <a:pPr algn="l"/>
          </a:p>
        </p:txBody>
      </p:sp>
      <p:sp>
        <p:nvSpPr>
          <p:cNvPr id="36" name="TextBox 35"/>
          <p:cNvSpPr txBox="1"/>
          <p:nvPr/>
        </p:nvSpPr>
        <p:spPr>
          <a:xfrm>
            <a:off x="738421" y="5435652"/>
            <a:ext cx="3419855" cy="228600"/>
          </a:xfrm>
          <a:prstGeom prst="rect">
            <a:avLst/>
          </a:prstGeom>
          <a:ln w="0">
            <a:noFill/>
          </a:ln>
          <a:noFill/>
        </p:spPr>
        <p:txBody>
          <a:bodyPr wrap="square" lIns="0" rIns="0" tIns="0" bIns="0">
            <a:noAutofit/>
          </a:bodyPr>
          <a:lstStyle/>
          <a:p>
            <a:pPr algn="l"/>
          </a:p>
        </p:txBody>
      </p:sp>
      <p:sp>
        <p:nvSpPr>
          <p:cNvPr id="37" name="Rectangle 36"/>
          <p:cNvSpPr/>
          <p:nvPr/>
        </p:nvSpPr>
        <p:spPr>
          <a:xfrm>
            <a:off x="4178393" y="4845864"/>
            <a:ext cx="9144" cy="875994"/>
          </a:xfrm>
          <a:prstGeom prst="rect">
            <a:avLst/>
          </a:prstGeom>
          <a:solidFill>
            <a:srgbClr val="E5E5E5">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331098" y="4855008"/>
            <a:ext cx="2296972" cy="200253"/>
          </a:xfrm>
          <a:prstGeom prst="rect">
            <a:avLst/>
          </a:prstGeom>
          <a:ln w="0">
            <a:noFill/>
          </a:ln>
          <a:noFill/>
        </p:spPr>
        <p:txBody>
          <a:bodyPr wrap="square" lIns="0" rIns="0" tIns="0" bIns="0">
            <a:noAutofit/>
          </a:bodyPr>
          <a:lstStyle/>
          <a:p>
            <a:pPr algn="l"/>
          </a:p>
        </p:txBody>
      </p:sp>
      <p:sp>
        <p:nvSpPr>
          <p:cNvPr id="39" name="TextBox 38"/>
          <p:cNvSpPr txBox="1"/>
          <p:nvPr/>
        </p:nvSpPr>
        <p:spPr>
          <a:xfrm>
            <a:off x="4331098" y="5150359"/>
            <a:ext cx="3419855" cy="228600"/>
          </a:xfrm>
          <a:prstGeom prst="rect">
            <a:avLst/>
          </a:prstGeom>
          <a:ln w="0">
            <a:noFill/>
          </a:ln>
          <a:noFill/>
        </p:spPr>
        <p:txBody>
          <a:bodyPr wrap="square" lIns="0" rIns="0" tIns="0" bIns="0">
            <a:noAutofit/>
          </a:bodyPr>
          <a:lstStyle/>
          <a:p>
            <a:pPr algn="l"/>
          </a:p>
        </p:txBody>
      </p:sp>
      <p:sp>
        <p:nvSpPr>
          <p:cNvPr id="40" name="TextBox 39"/>
          <p:cNvSpPr txBox="1"/>
          <p:nvPr/>
        </p:nvSpPr>
        <p:spPr>
          <a:xfrm>
            <a:off x="4331098" y="5435652"/>
            <a:ext cx="3419855" cy="228600"/>
          </a:xfrm>
          <a:prstGeom prst="rect">
            <a:avLst/>
          </a:prstGeom>
          <a:ln w="0">
            <a:noFill/>
          </a:ln>
          <a:noFill/>
        </p:spPr>
        <p:txBody>
          <a:bodyPr wrap="square" lIns="0" rIns="0" tIns="0" bIns="0">
            <a:noAutofit/>
          </a:bodyPr>
          <a:lstStyle/>
          <a:p>
            <a:pPr algn="l"/>
          </a:p>
        </p:txBody>
      </p:sp>
      <p:sp>
        <p:nvSpPr>
          <p:cNvPr id="41" name="Rounded Rectangle 40"/>
          <p:cNvSpPr/>
          <p:nvPr/>
        </p:nvSpPr>
        <p:spPr>
          <a:xfrm>
            <a:off x="8056364" y="4274364"/>
            <a:ext cx="3534155" cy="1647749"/>
          </a:xfrm>
          <a:prstGeom prst="roundRect">
            <a:avLst/>
          </a:prstGeom>
          <a:solidFill>
            <a:srgbClr val="FFFFFF"/>
          </a:solidFill>
          <a:ln w="12700">
            <a:solidFill>
              <a:srgbClr val="D2D2D7"/>
            </a:solid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7"/>
          <a:stretch>
            <a:fillRect/>
          </a:stretch>
        </p:blipFill>
        <p:spPr>
          <a:xfrm>
            <a:off x="8256617" y="4488333"/>
            <a:ext cx="304494" cy="228600"/>
          </a:xfrm>
          <a:prstGeom prst="rect">
            <a:avLst/>
          </a:prstGeom>
          <a:ln w="0">
            <a:noFill/>
          </a:ln>
        </p:spPr>
      </p:pic>
      <p:sp>
        <p:nvSpPr>
          <p:cNvPr id="43" name="TextBox 42"/>
          <p:cNvSpPr txBox="1"/>
          <p:nvPr/>
        </p:nvSpPr>
        <p:spPr>
          <a:xfrm>
            <a:off x="8675413" y="4473703"/>
            <a:ext cx="1110996" cy="257860"/>
          </a:xfrm>
          <a:prstGeom prst="rect">
            <a:avLst/>
          </a:prstGeom>
          <a:ln w="0">
            <a:noFill/>
          </a:ln>
          <a:noFill/>
        </p:spPr>
        <p:txBody>
          <a:bodyPr wrap="square" lIns="0" rIns="0" tIns="0" bIns="0">
            <a:noAutofit/>
          </a:bodyPr>
          <a:lstStyle/>
          <a:p>
            <a:pPr algn="l"/>
          </a:p>
        </p:txBody>
      </p:sp>
      <p:sp>
        <p:nvSpPr>
          <p:cNvPr id="44" name="TextBox 43"/>
          <p:cNvSpPr txBox="1"/>
          <p:nvPr/>
        </p:nvSpPr>
        <p:spPr>
          <a:xfrm>
            <a:off x="8256617" y="4845864"/>
            <a:ext cx="3248863" cy="228600"/>
          </a:xfrm>
          <a:prstGeom prst="rect">
            <a:avLst/>
          </a:prstGeom>
          <a:ln w="0">
            <a:noFill/>
          </a:ln>
          <a:noFill/>
        </p:spPr>
        <p:txBody>
          <a:bodyPr wrap="square" lIns="0" rIns="0" tIns="0" bIns="0">
            <a:noAutofit/>
          </a:bodyPr>
          <a:lstStyle/>
          <a:p>
            <a:pPr algn="l"/>
          </a:p>
        </p:txBody>
      </p:sp>
      <p:sp>
        <p:nvSpPr>
          <p:cNvPr id="45" name="TextBox 44"/>
          <p:cNvSpPr txBox="1"/>
          <p:nvPr/>
        </p:nvSpPr>
        <p:spPr>
          <a:xfrm>
            <a:off x="8256617" y="5131157"/>
            <a:ext cx="3248863" cy="228600"/>
          </a:xfrm>
          <a:prstGeom prst="rect">
            <a:avLst/>
          </a:prstGeom>
          <a:ln w="0">
            <a:noFill/>
          </a:ln>
          <a:noFill/>
        </p:spPr>
        <p:txBody>
          <a:bodyPr wrap="square" lIns="0" rIns="0" tIns="0" bIns="0">
            <a:noAutofit/>
          </a:bodyPr>
          <a:lstStyle/>
          <a:p>
            <a:pPr algn="l"/>
          </a:p>
        </p:txBody>
      </p:sp>
      <p:sp>
        <p:nvSpPr>
          <p:cNvPr id="46" name="TextBox 45"/>
          <p:cNvSpPr txBox="1"/>
          <p:nvPr/>
        </p:nvSpPr>
        <p:spPr>
          <a:xfrm>
            <a:off x="8256617" y="5417364"/>
            <a:ext cx="3248863" cy="228600"/>
          </a:xfrm>
          <a:prstGeom prst="rect">
            <a:avLst/>
          </a:prstGeom>
          <a:ln w="0">
            <a:noFill/>
          </a:ln>
          <a:noFill/>
        </p:spPr>
        <p:txBody>
          <a:bodyPr wrap="square" lIns="0" rIns="0" tIns="0" bIns="0">
            <a:noAutofit/>
          </a:bodyPr>
          <a:lstStyle/>
          <a:p>
            <a:pPr algn="l"/>
          </a:p>
        </p:txBody>
      </p:sp>
      <p:pic>
        <p:nvPicPr>
          <p:cNvPr id="47" name="Picture 46" descr="image.png"/>
          <p:cNvPicPr>
            <a:picLocks noChangeAspect="1"/>
          </p:cNvPicPr>
          <p:nvPr/>
        </p:nvPicPr>
        <p:blipFill>
          <a:blip r:embed="rId8"/>
          <a:stretch>
            <a:fillRect/>
          </a:stretch>
        </p:blipFill>
        <p:spPr>
          <a:xfrm>
            <a:off x="4455871" y="6242541"/>
            <a:ext cx="133501" cy="133501"/>
          </a:xfrm>
          <a:prstGeom prst="rect">
            <a:avLst/>
          </a:prstGeom>
          <a:ln w="0">
            <a:noFill/>
          </a:ln>
        </p:spPr>
      </p:pic>
      <p:sp>
        <p:nvSpPr>
          <p:cNvPr id="48" name="TextBox 47"/>
          <p:cNvSpPr txBox="1"/>
          <p:nvPr/>
        </p:nvSpPr>
        <p:spPr>
          <a:xfrm>
            <a:off x="4656123" y="6202719"/>
            <a:ext cx="7535571" cy="213146"/>
          </a:xfrm>
          <a:prstGeom prst="rect">
            <a:avLst/>
          </a:prstGeom>
          <a:ln w="0">
            <a:noFill/>
          </a:ln>
          <a:noFill/>
        </p:spPr>
        <p:txBody>
          <a:bodyPr wrap="square" lIns="0" rIns="0" tIns="0" bIns="0">
            <a:noAutofit/>
          </a:bodyPr>
          <a:lstStyle/>
          <a:p/>
        </p:txBody>
      </p:sp>
      <p:sp>
        <p:nvSpPr>
          <p:cNvPr id="49" name="Rectangle 48"/>
          <p:cNvSpPr/>
          <p:nvPr/>
        </p:nvSpPr>
        <p:spPr>
          <a:xfrm>
            <a:off x="0" y="6471666"/>
            <a:ext cx="12192610" cy="381304"/>
          </a:xfrm>
          <a:prstGeom prst="rect">
            <a:avLst/>
          </a:prstGeom>
          <a:solidFill>
            <a:srgbClr val="FFFFFF">
              <a:alpha val="0"/>
            </a:srgbClr>
          </a:solidFill>
          <a:ln w="0">
            <a:noFill/>
          </a:ln>
        </p:spPr>
        <p:style>
          <a:lnRef idx="0">
            <a:schemeClr val="accent1"/>
          </a:lnRef>
          <a:fillRef idx="3">
            <a:schemeClr val="accent1"/>
          </a:fillRef>
          <a:effectRef idx="0">
            <a:schemeClr val="accent1"/>
          </a:effectRef>
          <a:fontRef idx="minor">
            <a:schemeClr val="lt1"/>
          </a:fontRef>
        </p:style>
        <p:txBody>
          <a:bodyPr rtlCol="0" anchor="ctr" wrap="square" lIns="0" rIns="0" tIns="0" bIns="0">
            <a:noAutofit/>
          </a:bodyPr>
          <a:lstStyle/>
          <a:p>
            <a:pPr algn="ctr"/>
            <a:r>
              <a:rPr sz="900">
                <a:solidFill>
                  <a:srgbClr val="86868B"/>
                </a:solidFill>
                <a:latin typeface="Cambria"/>
              </a:rPr>
              <a:t>Page 11 | 一次情報の収集・安全化・構造化による生成AI活用の試作</a:t>
            </a:r>
          </a:p>
        </p:txBody>
      </p:sp>
      <p:pic>
        <p:nvPicPr>
          <p:cNvPr id="50" name="Picture 49" descr="image.png"/>
          <p:cNvPicPr>
            <a:picLocks noChangeAspect="1"/>
          </p:cNvPicPr>
          <p:nvPr/>
        </p:nvPicPr>
        <p:blipFill>
          <a:blip r:embed="rId9"/>
          <a:stretch>
            <a:fillRect/>
          </a:stretch>
        </p:blipFill>
        <p:spPr>
          <a:xfrm>
            <a:off x="475532" y="571500"/>
            <a:ext cx="304495" cy="304494"/>
          </a:xfrm>
          <a:prstGeom prst="rect">
            <a:avLst/>
          </a:prstGeom>
          <a:ln w="0">
            <a:noFill/>
          </a:ln>
        </p:spPr>
      </p:pic>
      <p:sp>
        <p:nvSpPr>
          <p:cNvPr id="51" name="Rectangle 50"/>
          <p:cNvSpPr/>
          <p:nvPr/>
        </p:nvSpPr>
        <p:spPr>
          <a:xfrm>
            <a:off x="0" y="0"/>
            <a:ext cx="12192001" cy="54865"/>
          </a:xfrm>
          <a:prstGeom prst="rect">
            <a:avLst/>
          </a:prstGeom>
          <a:solidFill>
            <a:srgbClr val="007AFF"/>
          </a:solidFill>
          <a:ln w="0">
            <a:noFill/>
          </a:ln>
        </p:spPr>
        <p:style>
          <a:lnRef idx="0">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305" y="1032380"/>
            <a:ext cx="12191695" cy="35999"/>
          </a:xfrm>
          <a:prstGeom prst="rect">
            <a:avLst/>
          </a:prstGeom>
          <a:solidFill>
            <a:srgbClr val="E5E5E5"/>
          </a:solidFill>
          <a:ln w="12700"/>
        </p:spPr>
        <p:style>
          <a:lnRef idx="0">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