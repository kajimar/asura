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1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0646"/>
          </a:xfrm>
          <a:prstGeom prst="rect">
            <a:avLst/>
          </a:prstGeom>
          <a:ln w="0">
            <a:noFill/>
          </a:ln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6792"/>
            <a:ext cx="237744" cy="267005"/>
          </a:xfrm>
          <a:prstGeom prst="rect">
            <a:avLst/>
          </a:prstGeom>
          <a:ln w="0"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809244" y="329642"/>
            <a:ext cx="4884974" cy="381305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mbria"/>
              </a:rPr>
              <a:t>References</a:t>
            </a:r>
            <a:r>
              <a:rPr sz="2100" b="1">
                <a:solidFill>
                  <a:srgbClr val="FFFFFF"/>
                </a:solidFill>
                <a:latin typeface="Noto Sans JP"/>
              </a:rPr>
              <a:t>（参考文献リスト</a:t>
            </a:r>
            <a:r>
              <a:rPr sz="2100" b="1">
                <a:solidFill>
                  <a:srgbClr val="FFFFFF"/>
                </a:solidFill>
                <a:latin typeface="Cambria"/>
              </a:rPr>
              <a:t>1/4</a:t>
            </a:r>
            <a:r>
              <a:rPr sz="2100" b="1">
                <a:solidFill>
                  <a:srgbClr val="FFFFFF"/>
                </a:solidFill>
                <a:latin typeface="Noto Sans JP"/>
              </a:rPr>
              <a:t>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3551" y="395935"/>
            <a:ext cx="3554272" cy="228599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>
                <a:latin typeface="Cambria"/>
              </a:rPr>
              <a:t>Technical Research Report Sources [1-34]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47495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724558"/>
            <a:ext cx="5486400" cy="9143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095" y="1505102"/>
            <a:ext cx="381305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[1]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805" y="1514246"/>
            <a:ext cx="3762755" cy="1435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https://www.apple.com/newsroom/2020/11/apple-unleashes-m1/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807769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084832"/>
            <a:ext cx="5486400" cy="9143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" y="1865376"/>
            <a:ext cx="381305" cy="16276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[2]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805" y="1874520"/>
            <a:ext cx="3762755" cy="1435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https://docs.openhands.dev/openhands/usage/llms/local-llms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168042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200" y="2445106"/>
            <a:ext cx="5486400" cy="9143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095" y="2224735"/>
            <a:ext cx="381305" cy="16276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05" y="2234794"/>
            <a:ext cx="3010205" cy="1435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https://lmstudio.ai/docs/developer/core/server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527402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2804465"/>
            <a:ext cx="5486400" cy="9143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3095" y="2585009"/>
            <a:ext cx="381305" cy="16276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[4]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2805" y="2594153"/>
            <a:ext cx="2100377" cy="1435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https://arxiv.org/abs/2306.00978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2887675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57200" y="3164738"/>
            <a:ext cx="5486400" cy="9143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3095" y="2945282"/>
            <a:ext cx="381305" cy="16276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[5]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805" y="2954426"/>
            <a:ext cx="3514954" cy="1435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https://docs.vllm.ai/en/latest/design/paged_attention/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247949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525012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3095" y="3304641"/>
            <a:ext cx="381305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[6]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2805" y="3314700"/>
            <a:ext cx="4582058" cy="1435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https://docs.vllm.ai/en/latest/features/quantization/quantized_kvcache/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608222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57200" y="3885286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3095" y="3664915"/>
            <a:ext cx="381305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[7]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2805" y="3674974"/>
            <a:ext cx="2487168" cy="1435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https://github.com/NVIDIA/TensorRT-LLM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3967582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57200" y="4244645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3095" y="4025189"/>
            <a:ext cx="381305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[8]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805" y="4034333"/>
            <a:ext cx="2427731" cy="1435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https://github.com/ggml-org/llama.cpp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4327855"/>
            <a:ext cx="5486400" cy="428853"/>
          </a:xfrm>
          <a:prstGeom prst="roundRect">
            <a:avLst>
              <a:gd name="adj" fmla="val 18953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57200" y="4747565"/>
            <a:ext cx="5486400" cy="9144"/>
          </a:xfrm>
          <a:prstGeom prst="roundRect">
            <a:avLst>
              <a:gd name="adj" fmla="val 888889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3095" y="4385462"/>
            <a:ext cx="381305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[10]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2805" y="4394606"/>
            <a:ext cx="4981651" cy="29535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https://developer.apple.com/documentation/metal/choosing-a-resource-storage-mode-for-apple-gpus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4830775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457200" y="5107838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3095" y="4888382"/>
            <a:ext cx="381305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[12]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2805" y="4897526"/>
            <a:ext cx="2754173" cy="1435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https://huggingface.co/wangkanai/sdxl-fp16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5191049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5468112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33095" y="5247742"/>
            <a:ext cx="381305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[13]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52805" y="5257800"/>
            <a:ext cx="3391510" cy="1435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https://github.com/intel/intel-extension-for-pytorch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5551322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457200" y="5828386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33095" y="5608015"/>
            <a:ext cx="381305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[14]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2805" y="5618074"/>
            <a:ext cx="2030882" cy="1435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https://github.com/xiph/rnnoise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5910682"/>
            <a:ext cx="5486400" cy="276148"/>
          </a:xfrm>
          <a:prstGeom prst="roundRect">
            <a:avLst>
              <a:gd name="adj" fmla="val 45672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3095" y="5968289"/>
            <a:ext cx="381305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[16]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52805" y="5977433"/>
            <a:ext cx="3076955" cy="1435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https://huggingface.co/meta-llama/Llama-3.1-70B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48095" y="1447495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248095" y="1724558"/>
            <a:ext cx="5486400" cy="9143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24905" y="1505102"/>
            <a:ext cx="381305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[17]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743700" y="1514246"/>
            <a:ext cx="3706063" cy="1435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https://huggingface.co/microsoft/Phi-3-mini-128k-instruct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248095" y="1807769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248095" y="2084832"/>
            <a:ext cx="5486400" cy="9143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24905" y="1865376"/>
            <a:ext cx="381305" cy="16276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[19]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743700" y="1874520"/>
            <a:ext cx="1838858" cy="1435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https://lmstudio.ai/docs/app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6248095" y="2168042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6248095" y="2445106"/>
            <a:ext cx="5486400" cy="9143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24905" y="2224735"/>
            <a:ext cx="381305" cy="16276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[20]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743700" y="2234794"/>
            <a:ext cx="3076955" cy="1435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https://docs.nvidia.com/tensorrt-llm/index.html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6248095" y="2527402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6248095" y="2804465"/>
            <a:ext cx="5486400" cy="9143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24905" y="2585009"/>
            <a:ext cx="381305" cy="16276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[22]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743700" y="2594153"/>
            <a:ext cx="2159812" cy="1435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https://github.com/ml-explore/mlx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6248095" y="2887675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248095" y="3164738"/>
            <a:ext cx="5486400" cy="9143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324905" y="2945282"/>
            <a:ext cx="381305" cy="162762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[23]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743700" y="2954426"/>
            <a:ext cx="2100377" cy="143561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https://github.com/ollama/ollama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6248095" y="3247949"/>
            <a:ext cx="5486400" cy="286207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6248095" y="3525012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324905" y="3304641"/>
            <a:ext cx="381305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[24]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743700" y="3314700"/>
            <a:ext cx="3134563" cy="1435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https://docs.ollama.com/api/openai-compatibility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248095" y="3608222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6248095" y="3885286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24905" y="3664915"/>
            <a:ext cx="381305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[25]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43700" y="3674974"/>
            <a:ext cx="4144060" cy="1435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https://llama-cpp-python.readthedocs.io/en/latest/api-reference/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48095" y="3967582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6248095" y="4244645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24905" y="4025189"/>
            <a:ext cx="381305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[27]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743700" y="4034333"/>
            <a:ext cx="4839005" cy="1435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https://developers.openai.com/cookbook/articles/gpt-oss/run-locally-ollama/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248095" y="4327855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6248095" y="4604918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6324905" y="4385462"/>
            <a:ext cx="381305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[28]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743700" y="4394606"/>
            <a:ext cx="2229307" cy="1435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https://github.com/Blaizzy/mlx-vlm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48095" y="4688129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6248095" y="4965192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324905" y="4744822"/>
            <a:ext cx="381305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[31]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743700" y="4754880"/>
            <a:ext cx="3829507" cy="1435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https://huggingface.co/meta-llama/Meta-Llama-3-70B-Instruct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8095" y="5048402"/>
            <a:ext cx="5486400" cy="286206"/>
          </a:xfrm>
          <a:prstGeom prst="roundRect">
            <a:avLst>
              <a:gd name="adj" fmla="val 42599"/>
            </a:avLst>
          </a:prstGeom>
          <a:solidFill>
            <a:srgbClr val="FFFFFF"/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248095" y="5325466"/>
            <a:ext cx="5486400" cy="9144"/>
          </a:xfrm>
          <a:prstGeom prst="roundRect">
            <a:avLst>
              <a:gd name="adj" fmla="val 1333333"/>
            </a:avLst>
          </a:prstGeom>
          <a:solidFill>
            <a:srgbClr val="E5E5E5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324905" y="5105095"/>
            <a:ext cx="381305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[32]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743700" y="5114239"/>
            <a:ext cx="3076955" cy="1435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https://huggingface.co/Qwen/Qwen2.5-7B-Instruct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248095" y="5407762"/>
            <a:ext cx="5486400" cy="276148"/>
          </a:xfrm>
          <a:prstGeom prst="roundRect">
            <a:avLst>
              <a:gd name="adj" fmla="val 45672"/>
            </a:avLst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24905" y="5465369"/>
            <a:ext cx="381305" cy="162763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900" b="1">
                <a:solidFill>
                  <a:srgbClr val="007AFF"/>
                </a:solidFill>
                <a:latin typeface="Cambria"/>
              </a:rPr>
              <a:t>[33]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743700" y="5474513"/>
            <a:ext cx="2487168" cy="14356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800">
                <a:solidFill>
                  <a:srgbClr val="1D1D1F"/>
                </a:solidFill>
                <a:latin typeface="Cambria"/>
              </a:rPr>
              <a:t>https://qwenlm.github.io/blog/qwen2.5/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457200" y="1447494"/>
            <a:ext cx="5486400" cy="4739337"/>
          </a:xfrm>
          <a:prstGeom prst="roundRect">
            <a:avLst>
              <a:gd name="adj" fmla="val 294"/>
            </a:avLst>
          </a:prstGeom>
          <a:noFill/>
          <a:ln w="12700">
            <a:solidFill>
              <a:srgbClr val="D2D2D7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6248095" y="1446581"/>
            <a:ext cx="5486400" cy="4305911"/>
          </a:xfrm>
          <a:prstGeom prst="roundRect">
            <a:avLst>
              <a:gd name="adj" fmla="val 294"/>
            </a:avLst>
          </a:prstGeom>
          <a:noFill/>
          <a:ln w="12700">
            <a:solidFill>
              <a:srgbClr val="D2D2D7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76695"/>
            <a:ext cx="12192609" cy="381305"/>
          </a:xfrm>
          <a:prstGeom prst="rect">
            <a:avLst/>
          </a:prstGeom>
          <a:solidFill>
            <a:srgbClr val="F6F5F8"/>
          </a:solidFill>
          <a:ln w="15875">
            <a:solidFill>
              <a:srgbClr val="E5E5E5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76695"/>
            <a:ext cx="121926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0"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  <a:r>
              <a:rPr sz="900">
                <a:solidFill>
                  <a:srgbClr val="86868B"/>
                </a:solidFill>
                <a:latin typeface="Cambria"/>
              </a:rPr>
              <a:t>Page 2 | </a:t>
            </a:r>
            <a:r>
              <a:rPr sz="900">
                <a:solidFill>
                  <a:srgbClr val="86868B"/>
                </a:solidFill>
                <a:latin typeface="Noto Sans JP"/>
              </a:rPr>
              <a:t>ローカル</a:t>
            </a:r>
            <a:r>
              <a:rPr sz="900">
                <a:solidFill>
                  <a:srgbClr val="86868B"/>
                </a:solidFill>
                <a:latin typeface="Cambria"/>
              </a:rPr>
              <a:t>AI </a:t>
            </a:r>
            <a:r>
              <a:rPr sz="900">
                <a:solidFill>
                  <a:srgbClr val="86868B"/>
                </a:solidFill>
                <a:latin typeface="Noto Sans JP"/>
              </a:rPr>
              <a:t>技術調査レポート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050646"/>
          </a:xfrm>
          <a:prstGeom prst="rect">
            <a:avLst/>
          </a:prstGeom>
          <a:ln w="0">
            <a:noFill/>
          </a:ln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72161" y="1319138"/>
          <a:ext cx="5486400" cy="483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03250">
                <a:tc>
                  <a:txBody>
                    <a:bodyPr/>
                    <a:lstStyle/>
                    <a:p>
                      <a:r>
                        <a:t>[35]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Gemma 2 Model Card</a:t>
                      </a:r>
                    </a:p>
                    <a:p>
                      <a:r>
                        <a:t>https://ai.google.dev/gemma/docs/core/model_card_2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[37]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Mixtral 8x7B Instruct</a:t>
                      </a:r>
                    </a:p>
                    <a:p>
                      <a:r>
                        <a:t>https://huggingface.co/mistralai/Mixtral-8x7B-Instruct-v0.1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[40]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Phi-4 Technical Report (Arxiv)</a:t>
                      </a:r>
                    </a:p>
                    <a:p>
                      <a:r>
                        <a:t>https://arxiv.org/abs/2412.08905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[41]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OpenAI Cookbook (Run locally LM Studio)</a:t>
                      </a:r>
                    </a:p>
                    <a:p>
                      <a:r>
                        <a:t>https://developers.openai.com/cookbook/articles/gpt-oss/run-locally-lmstudio/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[42]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Qwen2-VL 72B</a:t>
                      </a:r>
                    </a:p>
                    <a:p>
                      <a:r>
                        <a:t>https://huggingface.co/Qwen/Qwen2-VL-72B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[43]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Phi-3-vision 128k Instruct</a:t>
                      </a:r>
                    </a:p>
                    <a:p>
                      <a:r>
                        <a:t>https://huggingface.co/microsoft/Phi-3-vision-128k-instruct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[45]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InternVL2 4B</a:t>
                      </a:r>
                    </a:p>
                    <a:p>
                      <a:r>
                        <a:t>https://huggingface.co/OpenGVLab/InternVL2-4B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[47]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LLaVA Repository</a:t>
                      </a:r>
                    </a:p>
                    <a:p>
                      <a:r>
                        <a:t>https://github.com/haotian-liu/LLaVA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[48]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OpenAI Whisper</a:t>
                      </a:r>
                    </a:p>
                    <a:p>
                      <a:r>
                        <a:t>https://openai.com/index/whisper/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[49]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AP News (Whisper Hallucination Risk)</a:t>
                      </a:r>
                    </a:p>
                    <a:p>
                      <a:r>
                        <a:t>https://apnews.com/article/90020cdf5fa16c79ca2e5b6c4c9bbb14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[50]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faster-whisper (SYSTRAN)</a:t>
                      </a:r>
                    </a:p>
                    <a:p>
                      <a:r>
                        <a:t>https://github.com/SYSTRAN/faster-whisper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[51]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whisper.cpp (ggml)</a:t>
                      </a:r>
                    </a:p>
                    <a:p>
                      <a:r>
                        <a:t>https://github.com/ggml-org/whisper.cpp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257696" y="1306619"/>
          <a:ext cx="5486399" cy="483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199"/>
                <a:gridCol w="2743200"/>
              </a:tblGrid>
              <a:tr h="403250">
                <a:tc>
                  <a:txBody>
                    <a:bodyPr/>
                    <a:lstStyle/>
                    <a:p>
                      <a:r>
                        <a:t>[52]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Piper TTS</a:t>
                      </a:r>
                    </a:p>
                    <a:p>
                      <a:r>
                        <a:t>https://github.com/rhasspy/piper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[53]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Kokoro TTS</a:t>
                      </a:r>
                    </a:p>
                    <a:p>
                      <a:r>
                        <a:t>https://github.com/hexgrad/kokoro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[54]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Coqui XTTS-v2</a:t>
                      </a:r>
                    </a:p>
                    <a:p>
                      <a:r>
                        <a:t>https://huggingface.co/coqui/XTTS-v2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[55]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StyleTTS2</a:t>
                      </a:r>
                    </a:p>
                    <a:p>
                      <a:r>
                        <a:t>https://github.com/yl4579/StyleTTS2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[58]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BGE-M3 Embedding</a:t>
                      </a:r>
                    </a:p>
                    <a:p>
                      <a:r>
                        <a:t>https://huggingface.co/BAAI/bge-m3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[59]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Multilingual-E5 Large</a:t>
                      </a:r>
                    </a:p>
                    <a:p>
                      <a:r>
                        <a:t>https://huggingface.co/intfloat/multilingual-e5-large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[60]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Multilingual-E5 Large Instruct</a:t>
                      </a:r>
                    </a:p>
                    <a:p>
                      <a:r>
                        <a:t>https://huggingface.co/intfloat/multilingual-e5-large-instruct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[61]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BGE Reranker Large</a:t>
                      </a:r>
                    </a:p>
                    <a:p>
                      <a:r>
                        <a:t>https://huggingface.co/BAAI/bge-reranker-large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[62]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BGE Reranker v2 M3</a:t>
                      </a:r>
                    </a:p>
                    <a:p>
                      <a:r>
                        <a:t>https://huggingface.co/BAAI/bge-reranker-v2-m3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[64]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Tesseract OCR</a:t>
                      </a:r>
                    </a:p>
                    <a:p>
                      <a:r>
                        <a:t>https://github.com/tesseract-ocr/tesseract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[66]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PaddleOCR</a:t>
                      </a:r>
                    </a:p>
                    <a:p>
                      <a:r>
                        <a:t>https://github.com/PaddlePaddle/PaddleOCR</a:t>
                      </a:r>
                    </a:p>
                  </a:txBody>
                  <a:tcPr/>
                </a:tc>
              </a:tr>
              <a:tr h="403250">
                <a:tc>
                  <a:txBody>
                    <a:bodyPr/>
                    <a:lstStyle/>
                    <a:p>
                      <a:r>
                        <a:t>[68]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Donut (Document Understanding Transformer)</a:t>
                      </a:r>
                    </a:p>
                    <a:p>
                      <a:r>
                        <a:t>https://github.com/clovaai/donut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91821"/>
            <a:ext cx="237744" cy="267004"/>
          </a:xfrm>
          <a:prstGeom prst="rect">
            <a:avLst/>
          </a:prstGeom>
          <a:ln w="0"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809244" y="334671"/>
            <a:ext cx="4612234" cy="381304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Cambria"/>
              </a:rPr>
              <a:t>References</a:t>
            </a:r>
            <a:r>
              <a:rPr sz="2100" b="1">
                <a:solidFill>
                  <a:srgbClr val="FFFFFF"/>
                </a:solidFill>
                <a:latin typeface="Noto Sans JP"/>
              </a:rPr>
              <a:t>（参考文献リスト</a:t>
            </a:r>
            <a:r>
              <a:rPr sz="2100" b="1">
                <a:solidFill>
                  <a:srgbClr val="FFFFFF"/>
                </a:solidFill>
                <a:latin typeface="Cambria"/>
              </a:rPr>
              <a:t> 2/4</a:t>
            </a:r>
            <a:r>
              <a:rPr sz="2100" b="1">
                <a:solidFill>
                  <a:srgbClr val="FFFFFF"/>
                </a:solidFill>
                <a:latin typeface="Noto Sans JP"/>
              </a:rPr>
              <a:t>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31152" y="411023"/>
            <a:ext cx="5496458" cy="228600"/>
          </a:xfrm>
          <a:prstGeom prst="rect">
            <a:avLst/>
          </a:prstGeom>
          <a:ln w="0">
            <a:noFill/>
          </a:ln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200">
                <a:latin typeface="Cambria"/>
              </a:rPr>
              <a:t>[35]</a:t>
            </a:r>
            <a:r>
              <a:rPr sz="1200">
                <a:latin typeface="Noto Sans JP"/>
              </a:rPr>
              <a:t>～</a:t>
            </a:r>
            <a:r>
              <a:rPr sz="1200">
                <a:latin typeface="Cambria"/>
              </a:rPr>
              <a:t>[68] Llama / Qwen / Gemma / Phi / VLM / Whisper / TTS / OCR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2560" y="1306619"/>
            <a:ext cx="5505602" cy="4977249"/>
          </a:xfrm>
          <a:prstGeom prst="roundRect">
            <a:avLst>
              <a:gd name="adj" fmla="val 294"/>
            </a:avLst>
          </a:prstGeom>
          <a:noFill/>
          <a:ln w="12700">
            <a:solidFill>
              <a:srgbClr val="D2D2D7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48095" y="1312331"/>
            <a:ext cx="5505602" cy="4816551"/>
          </a:xfrm>
          <a:prstGeom prst="roundRect">
            <a:avLst>
              <a:gd name="adj" fmla="val 294"/>
            </a:avLst>
          </a:prstGeom>
          <a:noFill/>
          <a:ln w="12700">
            <a:solidFill>
              <a:srgbClr val="D2D2D7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>
            <a:noAutofit/>
          </a:bodyPr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