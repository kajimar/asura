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5.png"/><Relationship Id="rId13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0000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705" y="0"/>
            <a:ext cx="6705295" cy="6858000"/>
          </a:xfrm>
          <a:prstGeom prst="rect">
            <a:avLst/>
          </a:prstGeom>
          <a:solidFill>
            <a:srgbClr val="1D1D1F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695" y="1495285"/>
            <a:ext cx="4153205" cy="11430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0" b="1">
                <a:solidFill>
                  <a:srgbClr val="333336"/>
                </a:solidFill>
                <a:latin typeface="Cambria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3270217"/>
            <a:ext cx="4396714" cy="136783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Noto Sans JP"/>
              </a:rPr>
              <a:t>特徴軸（評価軸）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Noto Sans JP"/>
              </a:rPr>
              <a:t>の定義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4672584"/>
            <a:ext cx="4048963" cy="32313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86868B"/>
                </a:solidFill>
                <a:latin typeface="Noto Sans JP"/>
              </a:rPr>
              <a:t>評価の共通物差しと測定基準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095" y="1009497"/>
            <a:ext cx="529620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007AFF"/>
                </a:solidFill>
                <a:latin typeface="Cambria"/>
              </a:rPr>
              <a:t>KEY TAKEAWAYS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429207"/>
            <a:ext cx="5181905" cy="3705148"/>
          </a:xfrm>
          <a:prstGeom prst="rect">
            <a:avLst/>
          </a:prstGeom>
          <a:ln w="0"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810451" y="1714500"/>
            <a:ext cx="4525366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mbria"/>
              </a:rPr>
              <a:t> </a:t>
            </a:r>
            <a:r>
              <a:rPr sz="1500" b="1">
                <a:solidFill>
                  <a:srgbClr val="FFFFFF"/>
                </a:solidFill>
                <a:latin typeface="Noto Sans JP"/>
              </a:rPr>
              <a:t>本章の要点</a:t>
            </a:r>
            <a:r>
              <a:rPr sz="1500" b="1">
                <a:solidFill>
                  <a:srgbClr val="FFFFFF"/>
                </a:solidFill>
                <a:latin typeface="Cambria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707" y="1762049"/>
            <a:ext cx="142645" cy="190194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6801307" y="2356201"/>
            <a:ext cx="4420210" cy="615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5E5E5"/>
                </a:solidFill>
                <a:latin typeface="Cambria"/>
              </a:rPr>
              <a:t>13</a:t>
            </a:r>
            <a:r>
              <a:rPr sz="1300" b="1">
                <a:solidFill>
                  <a:srgbClr val="E5E5E5"/>
                </a:solidFill>
                <a:latin typeface="Noto Sans JP"/>
              </a:rPr>
              <a:t>の評価軸：</a:t>
            </a:r>
          </a:p>
          <a:p>
            <a:pPr algn="l"/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  <a:r>
              <a:rPr sz="1300">
                <a:solidFill>
                  <a:srgbClr val="E5E5E5"/>
                </a:solidFill>
                <a:latin typeface="Noto Sans JP"/>
              </a:rPr>
              <a:t>指示追従、</a:t>
            </a:r>
            <a:r>
              <a:rPr sz="1300">
                <a:solidFill>
                  <a:srgbClr val="E5E5E5"/>
                </a:solidFill>
                <a:latin typeface="Cambria"/>
              </a:rPr>
              <a:t>JSON</a:t>
            </a:r>
            <a:r>
              <a:rPr sz="1300">
                <a:solidFill>
                  <a:srgbClr val="E5E5E5"/>
                </a:solidFill>
                <a:latin typeface="Noto Sans JP"/>
              </a:rPr>
              <a:t>堅牢性、長文耐性、速度、メモリなど、多角的な視点でモデルを比較評価します。</a:t>
            </a:r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07" y="2356201"/>
            <a:ext cx="114300" cy="133501"/>
          </a:xfrm>
          <a:prstGeom prst="rect">
            <a:avLst/>
          </a:prstGeom>
          <a:ln w="0"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6801307" y="3270217"/>
            <a:ext cx="4420210" cy="615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5E5E5"/>
                </a:solidFill>
                <a:latin typeface="Cambria"/>
              </a:rPr>
              <a:t>KV</a:t>
            </a:r>
            <a:r>
              <a:rPr sz="1300" b="1">
                <a:solidFill>
                  <a:srgbClr val="E5E5E5"/>
                </a:solidFill>
                <a:latin typeface="Noto Sans JP"/>
              </a:rPr>
              <a:t>キャッシュ最適化：</a:t>
            </a:r>
          </a:p>
          <a:p>
            <a:pPr algn="l"/>
            <a:r>
              <a:rPr sz="1300">
                <a:solidFill>
                  <a:srgbClr val="E5E5E5"/>
                </a:solidFill>
                <a:latin typeface="Cambria"/>
              </a:rPr>
              <a:t> paged/quantized KV</a:t>
            </a:r>
            <a:r>
              <a:rPr sz="1300">
                <a:solidFill>
                  <a:srgbClr val="E5E5E5"/>
                </a:solidFill>
                <a:latin typeface="Noto Sans JP"/>
              </a:rPr>
              <a:t>や</a:t>
            </a:r>
            <a:r>
              <a:rPr sz="1300">
                <a:solidFill>
                  <a:srgbClr val="E5E5E5"/>
                </a:solidFill>
                <a:latin typeface="Cambria"/>
              </a:rPr>
              <a:t>reuse</a:t>
            </a:r>
            <a:r>
              <a:rPr sz="1300">
                <a:solidFill>
                  <a:srgbClr val="E5E5E5"/>
                </a:solidFill>
                <a:latin typeface="Noto Sans JP"/>
              </a:rPr>
              <a:t>機能が、長文コンテキストや多同時リクエスト処理の鍵となります。</a:t>
            </a:r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07" y="3270217"/>
            <a:ext cx="114300" cy="133501"/>
          </a:xfrm>
          <a:prstGeom prst="rect">
            <a:avLst/>
          </a:prstGeom>
          <a:ln w="0"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6810451" y="4184232"/>
            <a:ext cx="4420210" cy="615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5E5E5"/>
                </a:solidFill>
                <a:latin typeface="Cambria"/>
              </a:rPr>
              <a:t>JSON</a:t>
            </a:r>
            <a:r>
              <a:rPr sz="1300" b="1">
                <a:solidFill>
                  <a:srgbClr val="E5E5E5"/>
                </a:solidFill>
                <a:latin typeface="Noto Sans JP"/>
              </a:rPr>
              <a:t>制約の重要性：</a:t>
            </a:r>
          </a:p>
          <a:p>
            <a:pPr algn="l"/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  <a:r>
              <a:rPr sz="1300">
                <a:solidFill>
                  <a:srgbClr val="E5E5E5"/>
                </a:solidFill>
                <a:latin typeface="Noto Sans JP"/>
              </a:rPr>
              <a:t>ツール利用において</a:t>
            </a:r>
            <a:r>
              <a:rPr sz="1300">
                <a:solidFill>
                  <a:srgbClr val="E5E5E5"/>
                </a:solidFill>
                <a:latin typeface="Cambria"/>
              </a:rPr>
              <a:t>JSON</a:t>
            </a:r>
            <a:r>
              <a:rPr sz="1300">
                <a:solidFill>
                  <a:srgbClr val="E5E5E5"/>
                </a:solidFill>
                <a:latin typeface="Noto Sans JP"/>
              </a:rPr>
              <a:t>出力の安定性は必須ですが、機能はランタイムに強く依存します。</a:t>
            </a:r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07" y="4184232"/>
            <a:ext cx="114300" cy="133501"/>
          </a:xfrm>
          <a:prstGeom prst="rect">
            <a:avLst/>
          </a:prstGeom>
          <a:ln w="0">
            <a:noFill/>
          </a:ln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095" y="5514746"/>
            <a:ext cx="1276502" cy="333756"/>
          </a:xfrm>
          <a:prstGeom prst="rect">
            <a:avLst/>
          </a:prstGeom>
          <a:ln w="0">
            <a:noFill/>
          </a:ln>
        </p:spPr>
      </p:pic>
      <p:sp>
        <p:nvSpPr>
          <p:cNvPr id="19" name="Rectangle 18"/>
          <p:cNvSpPr/>
          <p:nvPr/>
        </p:nvSpPr>
        <p:spPr>
          <a:xfrm>
            <a:off x="6248095" y="5514746"/>
            <a:ext cx="1276502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Cambria"/>
              </a:rPr>
              <a:t>13</a:t>
            </a:r>
            <a:r>
              <a:rPr sz="1000">
                <a:solidFill>
                  <a:srgbClr val="A1A1A6"/>
                </a:solidFill>
                <a:latin typeface="Noto Sans JP"/>
              </a:rPr>
              <a:t>の評価軸定義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8897" y="5514746"/>
            <a:ext cx="857706" cy="333756"/>
          </a:xfrm>
          <a:prstGeom prst="rect">
            <a:avLst/>
          </a:prstGeom>
          <a:ln w="0">
            <a:noFill/>
          </a:ln>
        </p:spPr>
      </p:pic>
      <p:sp>
        <p:nvSpPr>
          <p:cNvPr id="21" name="Rectangle 20"/>
          <p:cNvSpPr/>
          <p:nvPr/>
        </p:nvSpPr>
        <p:spPr>
          <a:xfrm>
            <a:off x="7638897" y="5514746"/>
            <a:ext cx="857706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Noto Sans JP"/>
              </a:rPr>
              <a:t>測定手順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9990" y="5514746"/>
            <a:ext cx="857707" cy="333756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/>
          <p:cNvSpPr/>
          <p:nvPr/>
        </p:nvSpPr>
        <p:spPr>
          <a:xfrm>
            <a:off x="8609990" y="5514746"/>
            <a:ext cx="857707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Noto Sans JP"/>
              </a:rPr>
              <a:t>設計含意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1998" y="5514746"/>
            <a:ext cx="895197" cy="333756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/>
          <p:cNvSpPr/>
          <p:nvPr/>
        </p:nvSpPr>
        <p:spPr>
          <a:xfrm>
            <a:off x="9581998" y="5514746"/>
            <a:ext cx="896112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Cambria"/>
              </a:rPr>
              <a:t>KV</a:t>
            </a:r>
            <a:r>
              <a:rPr sz="1000">
                <a:solidFill>
                  <a:srgbClr val="A1A1A6"/>
                </a:solidFill>
                <a:latin typeface="Noto Sans JP"/>
              </a:rPr>
              <a:t>最適化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" y="2832811"/>
            <a:ext cx="761695" cy="57606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0000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1D1D1F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695" y="1499616"/>
            <a:ext cx="4153205" cy="11429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0" b="1">
                <a:solidFill>
                  <a:srgbClr val="333336"/>
                </a:solidFill>
                <a:latin typeface="Cambria"/>
              </a:rPr>
              <a:t>06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2832811"/>
            <a:ext cx="761695" cy="57606"/>
          </a:xfrm>
          <a:prstGeom prst="rect">
            <a:avLst/>
          </a:prstGeom>
          <a:ln w="0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61695" y="3270809"/>
            <a:ext cx="4121201" cy="11814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Noto Sans JP"/>
              </a:rPr>
              <a:t>カテゴリ別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Noto Sans JP"/>
              </a:rPr>
              <a:t>モデルカタログ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4672584"/>
            <a:ext cx="4048963" cy="6858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86868B"/>
                </a:solidFill>
                <a:latin typeface="Noto Sans JP"/>
              </a:rPr>
              <a:t>主要</a:t>
            </a:r>
            <a:r>
              <a:rPr sz="1800">
                <a:solidFill>
                  <a:srgbClr val="86868B"/>
                </a:solidFill>
                <a:latin typeface="Cambria"/>
              </a:rPr>
              <a:t>9</a:t>
            </a:r>
            <a:r>
              <a:rPr sz="1800">
                <a:solidFill>
                  <a:srgbClr val="86868B"/>
                </a:solidFill>
                <a:latin typeface="Noto Sans JP"/>
              </a:rPr>
              <a:t>カテゴリの</a:t>
            </a:r>
          </a:p>
          <a:p>
            <a:pPr algn="l"/>
            <a:r>
              <a:rPr sz="1800">
                <a:solidFill>
                  <a:srgbClr val="86868B"/>
                </a:solidFill>
                <a:latin typeface="Noto Sans JP"/>
              </a:rPr>
              <a:t>詳細データと採用判断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095" y="1008965"/>
            <a:ext cx="529620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007AFF"/>
                </a:solidFill>
                <a:latin typeface="Cambria"/>
              </a:rPr>
              <a:t>SECTION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4" y="1428293"/>
            <a:ext cx="5181904" cy="3372307"/>
          </a:xfrm>
          <a:prstGeom prst="rect">
            <a:avLst/>
          </a:prstGeom>
          <a:ln w="0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848856" y="1714424"/>
            <a:ext cx="4448556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mbria"/>
              </a:rPr>
              <a:t> </a:t>
            </a:r>
            <a:r>
              <a:rPr sz="1500" b="1">
                <a:solidFill>
                  <a:srgbClr val="FFFFFF"/>
                </a:solidFill>
                <a:latin typeface="Noto Sans JP"/>
              </a:rPr>
              <a:t>提示方針：三層構造</a:t>
            </a:r>
            <a:r>
              <a:rPr sz="1500" b="1">
                <a:solidFill>
                  <a:srgbClr val="FFFFFF"/>
                </a:solidFill>
                <a:latin typeface="Cambria"/>
              </a:rPr>
              <a:t>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1762431"/>
            <a:ext cx="219455" cy="190194"/>
          </a:xfrm>
          <a:prstGeom prst="rect">
            <a:avLst/>
          </a:prstGeom>
          <a:ln w="0"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6801307" y="2356201"/>
            <a:ext cx="4420210" cy="440138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5E5E5"/>
                </a:solidFill>
                <a:latin typeface="Noto Sans JP"/>
              </a:rPr>
              <a:t>概要（</a:t>
            </a:r>
            <a:r>
              <a:rPr sz="1300" b="1">
                <a:solidFill>
                  <a:srgbClr val="E5E5E5"/>
                </a:solidFill>
                <a:latin typeface="Cambria"/>
              </a:rPr>
              <a:t>Overview</a:t>
            </a:r>
            <a:r>
              <a:rPr sz="1300" b="1">
                <a:solidFill>
                  <a:srgbClr val="E5E5E5"/>
                </a:solidFill>
                <a:latin typeface="Noto Sans JP"/>
              </a:rPr>
              <a:t>）：</a:t>
            </a:r>
          </a:p>
          <a:p>
            <a:pPr algn="l"/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  <a:r>
              <a:rPr sz="1300">
                <a:solidFill>
                  <a:srgbClr val="E5E5E5"/>
                </a:solidFill>
                <a:latin typeface="Noto Sans JP"/>
              </a:rPr>
              <a:t>カテゴリごとの主要トレンドと代表モデルの要点を概説。</a:t>
            </a:r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1307" y="3043604"/>
            <a:ext cx="4420210" cy="65294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5E5E5"/>
                </a:solidFill>
                <a:latin typeface="Noto Sans JP"/>
              </a:rPr>
              <a:t>完全版表（</a:t>
            </a:r>
            <a:r>
              <a:rPr sz="1300" b="1">
                <a:solidFill>
                  <a:srgbClr val="E5E5E5"/>
                </a:solidFill>
                <a:latin typeface="Cambria"/>
              </a:rPr>
              <a:t>Full Data</a:t>
            </a:r>
            <a:r>
              <a:rPr sz="1300" b="1">
                <a:solidFill>
                  <a:srgbClr val="E5E5E5"/>
                </a:solidFill>
                <a:latin typeface="Noto Sans JP"/>
              </a:rPr>
              <a:t>）：</a:t>
            </a:r>
          </a:p>
          <a:p>
            <a:pPr algn="l"/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  <a:r>
              <a:rPr sz="1300">
                <a:solidFill>
                  <a:srgbClr val="E5E5E5"/>
                </a:solidFill>
                <a:latin typeface="Noto Sans JP"/>
              </a:rPr>
              <a:t>規模・量子化・得意不得意・ランタイム相性・リスク・参考文献を列落ちなく全掲載。</a:t>
            </a:r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707" y="3043604"/>
            <a:ext cx="114300" cy="133501"/>
          </a:xfrm>
          <a:prstGeom prst="rect">
            <a:avLst/>
          </a:prstGeom>
          <a:ln w="0"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6801307" y="3943808"/>
            <a:ext cx="4420210" cy="43723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5E5E5"/>
                </a:solidFill>
                <a:latin typeface="Noto Sans JP"/>
              </a:rPr>
              <a:t>採用判断（</a:t>
            </a:r>
            <a:r>
              <a:rPr sz="1300" b="1">
                <a:solidFill>
                  <a:srgbClr val="E5E5E5"/>
                </a:solidFill>
                <a:latin typeface="Cambria"/>
              </a:rPr>
              <a:t>Decision</a:t>
            </a:r>
            <a:r>
              <a:rPr sz="1300" b="1">
                <a:solidFill>
                  <a:srgbClr val="E5E5E5"/>
                </a:solidFill>
                <a:latin typeface="Noto Sans JP"/>
              </a:rPr>
              <a:t>）：</a:t>
            </a:r>
          </a:p>
          <a:p>
            <a:pPr algn="l"/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  <a:r>
              <a:rPr sz="1300">
                <a:solidFill>
                  <a:srgbClr val="E5E5E5"/>
                </a:solidFill>
                <a:latin typeface="Noto Sans JP"/>
              </a:rPr>
              <a:t>「どう選ぶか」の意思決定基準と失敗回避策を提示。</a:t>
            </a:r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707" y="3943808"/>
            <a:ext cx="114300" cy="133501"/>
          </a:xfrm>
          <a:prstGeom prst="rect">
            <a:avLst/>
          </a:prstGeom>
          <a:ln w="0">
            <a:noFill/>
          </a:ln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095" y="5124298"/>
            <a:ext cx="1114654" cy="333756"/>
          </a:xfrm>
          <a:prstGeom prst="rect">
            <a:avLst/>
          </a:prstGeom>
          <a:ln w="0">
            <a:noFill/>
          </a:ln>
        </p:spPr>
      </p:pic>
      <p:sp>
        <p:nvSpPr>
          <p:cNvPr id="19" name="Rectangle 18"/>
          <p:cNvSpPr/>
          <p:nvPr/>
        </p:nvSpPr>
        <p:spPr>
          <a:xfrm>
            <a:off x="6248095" y="5124298"/>
            <a:ext cx="1114654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Noto Sans JP"/>
              </a:rPr>
              <a:t>テキスト</a:t>
            </a:r>
            <a:r>
              <a:rPr sz="1000">
                <a:solidFill>
                  <a:srgbClr val="A1A1A6"/>
                </a:solidFill>
                <a:latin typeface="Cambria"/>
              </a:rPr>
              <a:t>LLM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220" y="5124298"/>
            <a:ext cx="942745" cy="333756"/>
          </a:xfrm>
          <a:prstGeom prst="rect">
            <a:avLst/>
          </a:prstGeom>
          <a:ln w="0">
            <a:noFill/>
          </a:ln>
        </p:spPr>
      </p:pic>
      <p:sp>
        <p:nvSpPr>
          <p:cNvPr id="21" name="Rectangle 20"/>
          <p:cNvSpPr/>
          <p:nvPr/>
        </p:nvSpPr>
        <p:spPr>
          <a:xfrm>
            <a:off x="7475220" y="5124298"/>
            <a:ext cx="943660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Cambria"/>
              </a:rPr>
              <a:t>VLM/LMM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5866" y="5124298"/>
            <a:ext cx="580644" cy="333756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/>
          <p:cNvSpPr/>
          <p:nvPr/>
        </p:nvSpPr>
        <p:spPr>
          <a:xfrm>
            <a:off x="8525866" y="5124298"/>
            <a:ext cx="581558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Cambria"/>
              </a:rPr>
              <a:t>ASR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5323" y="5124298"/>
            <a:ext cx="562355" cy="333756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/>
          <p:cNvSpPr/>
          <p:nvPr/>
        </p:nvSpPr>
        <p:spPr>
          <a:xfrm>
            <a:off x="9215323" y="5124298"/>
            <a:ext cx="562355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Cambria"/>
              </a:rPr>
              <a:t>TTS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1979" y="5124298"/>
            <a:ext cx="1057045" cy="333756"/>
          </a:xfrm>
          <a:prstGeom prst="rect">
            <a:avLst/>
          </a:prstGeom>
          <a:ln w="0">
            <a:noFill/>
          </a:ln>
        </p:spPr>
      </p:pic>
      <p:sp>
        <p:nvSpPr>
          <p:cNvPr id="27" name="Rectangle 26"/>
          <p:cNvSpPr/>
          <p:nvPr/>
        </p:nvSpPr>
        <p:spPr>
          <a:xfrm>
            <a:off x="9891979" y="5124298"/>
            <a:ext cx="1057960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Cambria"/>
              </a:rPr>
              <a:t>Embedding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095" y="5572354"/>
            <a:ext cx="599845" cy="333756"/>
          </a:xfrm>
          <a:prstGeom prst="rect">
            <a:avLst/>
          </a:prstGeom>
          <a:ln w="0">
            <a:noFill/>
          </a:ln>
        </p:spPr>
      </p:pic>
      <p:sp>
        <p:nvSpPr>
          <p:cNvPr id="29" name="Rectangle 28"/>
          <p:cNvSpPr/>
          <p:nvPr/>
        </p:nvSpPr>
        <p:spPr>
          <a:xfrm>
            <a:off x="6248095" y="5572354"/>
            <a:ext cx="600760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Cambria"/>
              </a:rPr>
              <a:t>OCR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60413" y="5572354"/>
            <a:ext cx="857706" cy="333756"/>
          </a:xfrm>
          <a:prstGeom prst="rect">
            <a:avLst/>
          </a:prstGeom>
          <a:ln w="0">
            <a:noFill/>
          </a:ln>
        </p:spPr>
      </p:pic>
      <p:sp>
        <p:nvSpPr>
          <p:cNvPr id="31" name="Rectangle 30"/>
          <p:cNvSpPr/>
          <p:nvPr/>
        </p:nvSpPr>
        <p:spPr>
          <a:xfrm>
            <a:off x="6960413" y="5572354"/>
            <a:ext cx="857706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Noto Sans JP"/>
              </a:rPr>
              <a:t>画像生成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2420" y="5572354"/>
            <a:ext cx="694944" cy="333756"/>
          </a:xfrm>
          <a:prstGeom prst="rect">
            <a:avLst/>
          </a:prstGeom>
          <a:ln w="0">
            <a:noFill/>
          </a:ln>
        </p:spPr>
      </p:pic>
      <p:sp>
        <p:nvSpPr>
          <p:cNvPr id="33" name="Rectangle 32"/>
          <p:cNvSpPr/>
          <p:nvPr/>
        </p:nvSpPr>
        <p:spPr>
          <a:xfrm>
            <a:off x="7932420" y="5572354"/>
            <a:ext cx="695858" cy="333756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Cambria"/>
              </a:rPr>
              <a:t>Agent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339" y="2356201"/>
            <a:ext cx="114300" cy="133501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1D1D1F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0000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695" y="1499616"/>
            <a:ext cx="4153205" cy="11429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0" b="1">
                <a:solidFill>
                  <a:srgbClr val="333336"/>
                </a:solidFill>
                <a:latin typeface="Cambria"/>
              </a:rPr>
              <a:t>07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2832811"/>
            <a:ext cx="761695" cy="57606"/>
          </a:xfrm>
          <a:prstGeom prst="rect">
            <a:avLst/>
          </a:prstGeom>
          <a:ln w="0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61695" y="3270809"/>
            <a:ext cx="4121201" cy="11814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Noto Sans JP"/>
              </a:rPr>
              <a:t>メモリ設計の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Noto Sans JP"/>
              </a:rPr>
              <a:t>コア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4672584"/>
            <a:ext cx="4048963" cy="6858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86868B"/>
                </a:solidFill>
                <a:latin typeface="Noto Sans JP"/>
              </a:rPr>
              <a:t>重み量子化・</a:t>
            </a:r>
            <a:r>
              <a:rPr sz="1800">
                <a:solidFill>
                  <a:srgbClr val="86868B"/>
                </a:solidFill>
                <a:latin typeface="Cambria"/>
              </a:rPr>
              <a:t>KV</a:t>
            </a:r>
            <a:r>
              <a:rPr sz="1800">
                <a:solidFill>
                  <a:srgbClr val="86868B"/>
                </a:solidFill>
                <a:latin typeface="Noto Sans JP"/>
              </a:rPr>
              <a:t>キャッシュ管理と</a:t>
            </a:r>
          </a:p>
          <a:p>
            <a:pPr algn="l"/>
            <a:r>
              <a:rPr sz="1800">
                <a:solidFill>
                  <a:srgbClr val="86868B"/>
                </a:solidFill>
                <a:latin typeface="Noto Sans JP"/>
              </a:rPr>
              <a:t>最適化技術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423721"/>
            <a:ext cx="5181905" cy="3886200"/>
          </a:xfrm>
          <a:prstGeom prst="rect">
            <a:avLst/>
          </a:prstGeom>
          <a:ln w="0"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801307" y="2356201"/>
            <a:ext cx="4420210" cy="62565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5E5E5"/>
                </a:solidFill>
                <a:latin typeface="Noto Sans JP"/>
              </a:rPr>
              <a:t>重みメモリの現実解：</a:t>
            </a:r>
          </a:p>
          <a:p>
            <a:pPr algn="l"/>
            <a:r>
              <a:rPr sz="1300">
                <a:solidFill>
                  <a:srgbClr val="E5E5E5"/>
                </a:solidFill>
                <a:latin typeface="Cambria"/>
              </a:rPr>
              <a:t> 4bit</a:t>
            </a:r>
            <a:r>
              <a:rPr sz="1300">
                <a:solidFill>
                  <a:srgbClr val="E5E5E5"/>
                </a:solidFill>
                <a:latin typeface="Noto Sans JP"/>
              </a:rPr>
              <a:t>量子化（</a:t>
            </a:r>
            <a:r>
              <a:rPr sz="1300">
                <a:solidFill>
                  <a:srgbClr val="E5E5E5"/>
                </a:solidFill>
                <a:latin typeface="Cambria"/>
              </a:rPr>
              <a:t>weight-only</a:t>
            </a:r>
            <a:r>
              <a:rPr sz="1300">
                <a:solidFill>
                  <a:srgbClr val="E5E5E5"/>
                </a:solidFill>
                <a:latin typeface="Noto Sans JP"/>
              </a:rPr>
              <a:t>）が基本。理論値＋</a:t>
            </a:r>
            <a:r>
              <a:rPr sz="1300">
                <a:solidFill>
                  <a:srgbClr val="E5E5E5"/>
                </a:solidFill>
                <a:latin typeface="Cambria"/>
              </a:rPr>
              <a:t>10%</a:t>
            </a:r>
            <a:r>
              <a:rPr sz="1300">
                <a:solidFill>
                  <a:srgbClr val="E5E5E5"/>
                </a:solidFill>
                <a:latin typeface="Noto Sans JP"/>
              </a:rPr>
              <a:t>オーバーヘッドで設計します。</a:t>
            </a:r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880" y="2356201"/>
            <a:ext cx="114300" cy="133501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6801307" y="3226917"/>
            <a:ext cx="4420210" cy="7717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5E5E5"/>
                </a:solidFill>
                <a:latin typeface="Cambria"/>
              </a:rPr>
              <a:t>KV</a:t>
            </a:r>
            <a:r>
              <a:rPr sz="1300" b="1">
                <a:solidFill>
                  <a:srgbClr val="E5E5E5"/>
                </a:solidFill>
                <a:latin typeface="Noto Sans JP"/>
              </a:rPr>
              <a:t>キャッシュの支配性：</a:t>
            </a:r>
          </a:p>
          <a:p>
            <a:pPr algn="l"/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  <a:r>
              <a:rPr sz="1300">
                <a:solidFill>
                  <a:srgbClr val="E5E5E5"/>
                </a:solidFill>
                <a:latin typeface="Noto Sans JP"/>
              </a:rPr>
              <a:t>長文コンテキストでは</a:t>
            </a:r>
            <a:r>
              <a:rPr sz="1300">
                <a:solidFill>
                  <a:srgbClr val="E5E5E5"/>
                </a:solidFill>
                <a:latin typeface="Cambria"/>
              </a:rPr>
              <a:t>KV</a:t>
            </a:r>
            <a:r>
              <a:rPr sz="1300">
                <a:solidFill>
                  <a:srgbClr val="E5E5E5"/>
                </a:solidFill>
                <a:latin typeface="Noto Sans JP"/>
              </a:rPr>
              <a:t>がメモリを圧迫。</a:t>
            </a:r>
            <a:r>
              <a:rPr sz="1300">
                <a:solidFill>
                  <a:srgbClr val="E5E5E5"/>
                </a:solidFill>
                <a:latin typeface="Cambria"/>
              </a:rPr>
              <a:t>vLLM</a:t>
            </a:r>
            <a:r>
              <a:rPr sz="1300">
                <a:solidFill>
                  <a:srgbClr val="E5E5E5"/>
                </a:solidFill>
                <a:latin typeface="Noto Sans JP"/>
              </a:rPr>
              <a:t>の</a:t>
            </a:r>
            <a:r>
              <a:rPr sz="1300">
                <a:solidFill>
                  <a:srgbClr val="E5E5E5"/>
                </a:solidFill>
                <a:latin typeface="Cambria"/>
              </a:rPr>
              <a:t>paged/quantized KV</a:t>
            </a:r>
            <a:r>
              <a:rPr sz="1000">
                <a:solidFill>
                  <a:srgbClr val="6B7280"/>
                </a:solidFill>
                <a:latin typeface="Cambria"/>
              </a:rPr>
              <a:t>[5,6]</a:t>
            </a:r>
            <a:r>
              <a:rPr sz="1300">
                <a:solidFill>
                  <a:srgbClr val="E5E5E5"/>
                </a:solidFill>
                <a:latin typeface="Noto Sans JP"/>
              </a:rPr>
              <a:t>や</a:t>
            </a:r>
            <a:r>
              <a:rPr sz="1300">
                <a:solidFill>
                  <a:srgbClr val="E5E5E5"/>
                </a:solidFill>
                <a:latin typeface="Cambria"/>
              </a:rPr>
              <a:t>TensorRT-LLM</a:t>
            </a:r>
            <a:r>
              <a:rPr sz="1300">
                <a:solidFill>
                  <a:srgbClr val="E5E5E5"/>
                </a:solidFill>
                <a:latin typeface="Noto Sans JP"/>
              </a:rPr>
              <a:t>の</a:t>
            </a:r>
            <a:r>
              <a:rPr sz="1300">
                <a:solidFill>
                  <a:srgbClr val="E5E5E5"/>
                </a:solidFill>
                <a:latin typeface="Cambria"/>
              </a:rPr>
              <a:t>KV reuse</a:t>
            </a:r>
            <a:r>
              <a:rPr sz="1000">
                <a:solidFill>
                  <a:srgbClr val="6B7280"/>
                </a:solidFill>
                <a:latin typeface="Cambria"/>
              </a:rPr>
              <a:t>[7]</a:t>
            </a:r>
            <a:r>
              <a:rPr sz="1300">
                <a:solidFill>
                  <a:srgbClr val="E5E5E5"/>
                </a:solidFill>
                <a:latin typeface="Noto Sans JP"/>
              </a:rPr>
              <a:t>が必須です。</a:t>
            </a:r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07" y="3226917"/>
            <a:ext cx="114300" cy="133501"/>
          </a:xfrm>
          <a:prstGeom prst="rect">
            <a:avLst/>
          </a:prstGeom>
          <a:ln w="0"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6801307" y="4243730"/>
            <a:ext cx="4420210" cy="617028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5E5E5"/>
                </a:solidFill>
                <a:latin typeface="Noto Sans JP"/>
              </a:rPr>
              <a:t>最適化技術の活用：</a:t>
            </a:r>
          </a:p>
          <a:p>
            <a:pPr algn="l"/>
            <a:r>
              <a:rPr sz="1300">
                <a:solidFill>
                  <a:srgbClr val="E5E5E5"/>
                </a:solidFill>
                <a:latin typeface="Cambria"/>
              </a:rPr>
              <a:t> llama.cpp</a:t>
            </a:r>
            <a:r>
              <a:rPr sz="1300">
                <a:solidFill>
                  <a:srgbClr val="E5E5E5"/>
                </a:solidFill>
                <a:latin typeface="Noto Sans JP"/>
              </a:rPr>
              <a:t>の</a:t>
            </a:r>
            <a:r>
              <a:rPr sz="1300">
                <a:solidFill>
                  <a:srgbClr val="E5E5E5"/>
                </a:solidFill>
                <a:latin typeface="Cambria"/>
              </a:rPr>
              <a:t>prompt cache</a:t>
            </a:r>
            <a:r>
              <a:rPr sz="1000">
                <a:solidFill>
                  <a:srgbClr val="6B7280"/>
                </a:solidFill>
                <a:latin typeface="Cambria"/>
              </a:rPr>
              <a:t>[88,90]</a:t>
            </a:r>
            <a:r>
              <a:rPr sz="1300">
                <a:solidFill>
                  <a:srgbClr val="E5E5E5"/>
                </a:solidFill>
                <a:latin typeface="Noto Sans JP"/>
              </a:rPr>
              <a:t>等で</a:t>
            </a:r>
            <a:r>
              <a:rPr sz="1300">
                <a:solidFill>
                  <a:srgbClr val="E5E5E5"/>
                </a:solidFill>
                <a:latin typeface="Cambria"/>
              </a:rPr>
              <a:t>TTFT</a:t>
            </a:r>
            <a:r>
              <a:rPr sz="1300">
                <a:solidFill>
                  <a:srgbClr val="E5E5E5"/>
                </a:solidFill>
                <a:latin typeface="Noto Sans JP"/>
              </a:rPr>
              <a:t>を短縮し、実用性を高めます。</a:t>
            </a:r>
            <a:r>
              <a:rPr sz="1300">
                <a:solidFill>
                  <a:srgbClr val="E5E5E5"/>
                </a:solidFill>
                <a:latin typeface="Cambria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07" y="4243730"/>
            <a:ext cx="114300" cy="133501"/>
          </a:xfrm>
          <a:prstGeom prst="rect">
            <a:avLst/>
          </a:prstGeom>
          <a:ln w="0">
            <a:noFill/>
          </a:ln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095" y="5605272"/>
            <a:ext cx="1257300" cy="333755"/>
          </a:xfrm>
          <a:prstGeom prst="rect">
            <a:avLst/>
          </a:prstGeom>
          <a:ln w="0">
            <a:noFill/>
          </a:ln>
        </p:spPr>
      </p:pic>
      <p:sp>
        <p:nvSpPr>
          <p:cNvPr id="17" name="Rectangle 16"/>
          <p:cNvSpPr/>
          <p:nvPr/>
        </p:nvSpPr>
        <p:spPr>
          <a:xfrm>
            <a:off x="6247180" y="5600700"/>
            <a:ext cx="1257300" cy="333755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Noto Sans JP"/>
              </a:rPr>
              <a:t>重み理論値計算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695" y="5605272"/>
            <a:ext cx="1429206" cy="333755"/>
          </a:xfrm>
          <a:prstGeom prst="rect">
            <a:avLst/>
          </a:prstGeom>
          <a:ln w="0">
            <a:noFill/>
          </a:ln>
        </p:spPr>
      </p:pic>
      <p:sp>
        <p:nvSpPr>
          <p:cNvPr id="19" name="Rectangle 18"/>
          <p:cNvSpPr/>
          <p:nvPr/>
        </p:nvSpPr>
        <p:spPr>
          <a:xfrm>
            <a:off x="7619695" y="5605272"/>
            <a:ext cx="1429206" cy="333755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Cambria"/>
              </a:rPr>
              <a:t>KV</a:t>
            </a:r>
            <a:r>
              <a:rPr sz="1000">
                <a:solidFill>
                  <a:srgbClr val="A1A1A6"/>
                </a:solidFill>
                <a:latin typeface="Noto Sans JP"/>
              </a:rPr>
              <a:t>キャッシュ詳細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6802" y="5605272"/>
            <a:ext cx="1123797" cy="333755"/>
          </a:xfrm>
          <a:prstGeom prst="rect">
            <a:avLst/>
          </a:prstGeom>
          <a:ln w="0">
            <a:noFill/>
          </a:ln>
        </p:spPr>
      </p:pic>
      <p:sp>
        <p:nvSpPr>
          <p:cNvPr id="21" name="Rectangle 20"/>
          <p:cNvSpPr/>
          <p:nvPr/>
        </p:nvSpPr>
        <p:spPr>
          <a:xfrm>
            <a:off x="9156802" y="5605272"/>
            <a:ext cx="1124711" cy="333755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Noto Sans JP"/>
              </a:rPr>
              <a:t>数式・数値例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4899" y="5605272"/>
            <a:ext cx="990294" cy="333755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/>
          <p:cNvSpPr/>
          <p:nvPr/>
        </p:nvSpPr>
        <p:spPr>
          <a:xfrm>
            <a:off x="10394899" y="5605272"/>
            <a:ext cx="991210" cy="333755"/>
          </a:xfrm>
          <a:prstGeom prst="rect">
            <a:avLst/>
          </a:prstGeom>
          <a:solidFill>
            <a:srgbClr val="FFFFFF">
              <a:alpha val="0"/>
            </a:srgbClr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>
                <a:solidFill>
                  <a:srgbClr val="A1A1A6"/>
                </a:solidFill>
                <a:latin typeface="Noto Sans JP"/>
              </a:rPr>
              <a:t>最適化技術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0451" y="1714500"/>
            <a:ext cx="4525366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mbria"/>
              </a:rPr>
              <a:t> </a:t>
            </a:r>
            <a:r>
              <a:rPr sz="1500" b="1">
                <a:solidFill>
                  <a:srgbClr val="FFFFFF"/>
                </a:solidFill>
                <a:latin typeface="Noto Sans JP"/>
              </a:rPr>
              <a:t>本章の要点</a:t>
            </a:r>
            <a:r>
              <a:rPr sz="1500" b="1">
                <a:solidFill>
                  <a:srgbClr val="FFFFFF"/>
                </a:solidFill>
                <a:latin typeface="Cambria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707" y="1762049"/>
            <a:ext cx="142645" cy="190194"/>
          </a:xfrm>
          <a:prstGeom prst="rect">
            <a:avLst/>
          </a:prstGeom>
          <a:ln w="0"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6248095" y="1009497"/>
            <a:ext cx="529620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007AFF"/>
                </a:solidFill>
                <a:latin typeface="Cambria"/>
              </a:rPr>
              <a:t>KEY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