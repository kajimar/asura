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Relationship Id="rId16" Type="http://schemas.openxmlformats.org/officeDocument/2006/relationships/image" Target="../media/image34.png"/><Relationship Id="rId17" Type="http://schemas.openxmlformats.org/officeDocument/2006/relationships/image" Target="../media/image35.png"/><Relationship Id="rId18" Type="http://schemas.openxmlformats.org/officeDocument/2006/relationships/image" Target="../media/image36.png"/><Relationship Id="rId19" Type="http://schemas.openxmlformats.org/officeDocument/2006/relationships/image" Target="../media/image37.png"/><Relationship Id="rId20" Type="http://schemas.openxmlformats.org/officeDocument/2006/relationships/image" Target="../media/image9.png"/><Relationship Id="rId21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9.png"/><Relationship Id="rId1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1887" y="1312153"/>
            <a:ext cx="11221662" cy="790509"/>
          </a:xfrm>
          <a:prstGeom prst="rect">
            <a:avLst/>
          </a:prstGeom>
          <a:solidFill>
            <a:srgbClr val="F0F9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8450" y="1311250"/>
            <a:ext cx="49716" cy="791160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70024"/>
            <a:ext cx="11354105" cy="5148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エグゼクティブサマリ（実務要点）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401" y="195681"/>
            <a:ext cx="11239805" cy="2862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1000">
                <a:solidFill>
                  <a:srgbClr val="86868B"/>
                </a:solidFill>
                <a:latin typeface="Cambria"/>
              </a:rPr>
              <a:t>AI</a:t>
            </a:r>
            <a:r>
              <a:rPr sz="1000">
                <a:solidFill>
                  <a:srgbClr val="86868B"/>
                </a:solidFill>
                <a:latin typeface="Noto Sans JP"/>
              </a:rPr>
              <a:t>導入における意思決定の重要ポイント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21206"/>
            <a:ext cx="10611612" cy="5715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b="1">
                <a:solidFill>
                  <a:srgbClr val="1D1D1F"/>
                </a:solidFill>
                <a:latin typeface="Cambria"/>
              </a:rPr>
              <a:t> </a:t>
            </a:r>
            <a:r>
              <a:rPr b="1">
                <a:solidFill>
                  <a:srgbClr val="1D1D1F"/>
                </a:solidFill>
                <a:latin typeface="Noto Sans JP"/>
              </a:rPr>
              <a:t>結論：ローカル</a:t>
            </a:r>
            <a:r>
              <a:rPr b="1">
                <a:solidFill>
                  <a:srgbClr val="1D1D1F"/>
                </a:solidFill>
                <a:latin typeface="Cambria"/>
              </a:rPr>
              <a:t>AI</a:t>
            </a:r>
            <a:r>
              <a:rPr b="1">
                <a:solidFill>
                  <a:srgbClr val="1D1D1F"/>
                </a:solidFill>
                <a:latin typeface="Noto Sans JP"/>
              </a:rPr>
              <a:t>は「</a:t>
            </a:r>
            <a:r>
              <a:rPr b="1">
                <a:solidFill>
                  <a:srgbClr val="1D1D1F"/>
                </a:solidFill>
                <a:latin typeface="Cambria"/>
              </a:rPr>
              <a:t>4bit</a:t>
            </a:r>
            <a:r>
              <a:rPr b="1">
                <a:solidFill>
                  <a:srgbClr val="1D1D1F"/>
                </a:solidFill>
                <a:latin typeface="Noto Sans JP"/>
              </a:rPr>
              <a:t>量子化＋</a:t>
            </a:r>
            <a:r>
              <a:rPr b="1">
                <a:solidFill>
                  <a:srgbClr val="1D1D1F"/>
                </a:solidFill>
                <a:latin typeface="Cambria"/>
              </a:rPr>
              <a:t>KV</a:t>
            </a:r>
            <a:r>
              <a:rPr b="1">
                <a:solidFill>
                  <a:srgbClr val="1D1D1F"/>
                </a:solidFill>
                <a:latin typeface="Noto Sans JP"/>
              </a:rPr>
              <a:t>管理」を前提に、</a:t>
            </a:r>
          </a:p>
          <a:p>
            <a:pPr algn="l"/>
            <a:r>
              <a:rPr b="1">
                <a:solidFill>
                  <a:srgbClr val="1D1D1F"/>
                </a:solidFill>
                <a:latin typeface="Cambria"/>
              </a:rPr>
              <a:t> GGUF/</a:t>
            </a:r>
            <a:r>
              <a:rPr b="1">
                <a:solidFill>
                  <a:srgbClr val="1D1D1F"/>
                </a:solidFill>
                <a:latin typeface="Cambria"/>
              </a:rPr>
              <a:t>llama.cpp</a:t>
            </a:r>
            <a:r>
              <a:rPr b="1">
                <a:solidFill>
                  <a:srgbClr val="1D1D1F"/>
                </a:solidFill>
                <a:latin typeface="Noto Sans JP"/>
              </a:rPr>
              <a:t>系と</a:t>
            </a:r>
            <a:r>
              <a:rPr b="1">
                <a:solidFill>
                  <a:srgbClr val="1D1D1F"/>
                </a:solidFill>
                <a:latin typeface="Cambria"/>
              </a:rPr>
              <a:t>Ollama</a:t>
            </a:r>
            <a:r>
              <a:rPr b="1">
                <a:solidFill>
                  <a:srgbClr val="1D1D1F"/>
                </a:solidFill>
                <a:latin typeface="Cambria"/>
              </a:rPr>
              <a:t>/LM Studio/</a:t>
            </a:r>
            <a:r>
              <a:rPr b="1">
                <a:solidFill>
                  <a:srgbClr val="1D1D1F"/>
                </a:solidFill>
                <a:latin typeface="Cambria"/>
              </a:rPr>
              <a:t>MLX</a:t>
            </a:r>
            <a:r>
              <a:rPr b="1">
                <a:solidFill>
                  <a:srgbClr val="1D1D1F"/>
                </a:solidFill>
                <a:latin typeface="Noto Sans JP"/>
              </a:rPr>
              <a:t>で実務化可能です</a:t>
            </a:r>
            <a:r>
              <a:rPr b="1">
                <a:solidFill>
                  <a:srgbClr val="1D1D1F"/>
                </a:solidFill>
                <a:latin typeface="Noto Sans JP"/>
              </a:rPr>
              <a:t>。</a:t>
            </a:r>
            <a:r>
              <a:rPr b="1">
                <a:solidFill>
                  <a:srgbClr val="1D1D1F"/>
                </a:solidFill>
                <a:latin typeface="Cambria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538167" y="2382470"/>
            <a:ext cx="3534155" cy="1666951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21" y="2596440"/>
            <a:ext cx="304495" cy="228600"/>
          </a:xfrm>
          <a:prstGeom prst="rect">
            <a:avLst/>
          </a:prstGeom>
          <a:ln w="0"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157216" y="2582724"/>
            <a:ext cx="1286561" cy="2578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Noto Sans JP"/>
              </a:rPr>
              <a:t>定義とスコープ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421" y="2953970"/>
            <a:ext cx="3324758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>
                <a:solidFill>
                  <a:srgbClr val="424245"/>
                </a:solidFill>
                <a:latin typeface="Noto Sans JP"/>
              </a:rPr>
              <a:t>推論が端末</a:t>
            </a:r>
            <a:r>
              <a:rPr sz="1100">
                <a:solidFill>
                  <a:srgbClr val="424245"/>
                </a:solidFill>
                <a:latin typeface="Cambria"/>
              </a:rPr>
              <a:t>or</a:t>
            </a:r>
            <a:r>
              <a:rPr sz="1100">
                <a:solidFill>
                  <a:srgbClr val="424245"/>
                </a:solidFill>
                <a:latin typeface="Noto Sans JP"/>
              </a:rPr>
              <a:t>ローカル</a:t>
            </a:r>
            <a:r>
              <a:rPr sz="1100">
                <a:solidFill>
                  <a:srgbClr val="424245"/>
                </a:solidFill>
                <a:latin typeface="Cambria"/>
              </a:rPr>
              <a:t>LAN</a:t>
            </a:r>
            <a:r>
              <a:rPr sz="1100">
                <a:solidFill>
                  <a:srgbClr val="424245"/>
                </a:solidFill>
                <a:latin typeface="Noto Sans JP"/>
              </a:rPr>
              <a:t>内で完結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421" y="3239263"/>
            <a:ext cx="3324758" cy="22859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>
                <a:solidFill>
                  <a:srgbClr val="424245"/>
                </a:solidFill>
                <a:latin typeface="Noto Sans JP"/>
              </a:rPr>
              <a:t>入力データは外部へ送信されない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421" y="3525470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>
                <a:solidFill>
                  <a:srgbClr val="424245"/>
                </a:solidFill>
                <a:latin typeface="Cambria"/>
              </a:rPr>
              <a:t>LAN</a:t>
            </a:r>
            <a:r>
              <a:rPr sz="1100">
                <a:solidFill>
                  <a:srgbClr val="424245"/>
                </a:solidFill>
                <a:latin typeface="Noto Sans JP"/>
              </a:rPr>
              <a:t>サーブ含む（</a:t>
            </a:r>
            <a:r>
              <a:rPr sz="1100">
                <a:solidFill>
                  <a:srgbClr val="424245"/>
                </a:solidFill>
                <a:latin typeface="Cambria"/>
              </a:rPr>
              <a:t>LM Studio, Ollama</a:t>
            </a:r>
            <a:r>
              <a:rPr sz="1100">
                <a:solidFill>
                  <a:srgbClr val="424245"/>
                </a:solidFill>
                <a:latin typeface="Noto Sans JP"/>
              </a:rPr>
              <a:t>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265" y="2382470"/>
            <a:ext cx="3534155" cy="1666951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519" y="2596440"/>
            <a:ext cx="304494" cy="228600"/>
          </a:xfrm>
          <a:prstGeom prst="rect">
            <a:avLst/>
          </a:prstGeom>
          <a:ln w="0">
            <a:noFill/>
          </a:ln>
        </p:spPr>
      </p:pic>
      <p:sp>
        <p:nvSpPr>
          <p:cNvPr id="16" name="TextBox 15"/>
          <p:cNvSpPr txBox="1"/>
          <p:nvPr/>
        </p:nvSpPr>
        <p:spPr>
          <a:xfrm>
            <a:off x="4916314" y="2582724"/>
            <a:ext cx="762610" cy="2578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Noto Sans JP"/>
              </a:rPr>
              <a:t>中核技術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377" y="2953970"/>
            <a:ext cx="2553005" cy="24780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>
                <a:solidFill>
                  <a:srgbClr val="424245"/>
                </a:solidFill>
                <a:latin typeface="Cambria"/>
              </a:rPr>
              <a:t>Weight-only 4bit (AWQ</a:t>
            </a:r>
            <a:r>
              <a:rPr sz="1100">
                <a:solidFill>
                  <a:srgbClr val="424245"/>
                </a:solidFill>
                <a:latin typeface="Noto Sans JP"/>
              </a:rPr>
              <a:t>等</a:t>
            </a:r>
            <a:r>
              <a:rPr sz="1100">
                <a:solidFill>
                  <a:srgbClr val="424245"/>
                </a:solidFill>
                <a:latin typeface="Cambria"/>
              </a:rPr>
              <a:t>)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021" y="2963114"/>
            <a:ext cx="533094" cy="237744"/>
          </a:xfrm>
          <a:prstGeom prst="rect">
            <a:avLst/>
          </a:prstGeom>
          <a:ln w="0">
            <a:noFill/>
          </a:ln>
        </p:spPr>
      </p:pic>
      <p:sp>
        <p:nvSpPr>
          <p:cNvPr id="19" name="TextBox 18"/>
          <p:cNvSpPr txBox="1"/>
          <p:nvPr/>
        </p:nvSpPr>
        <p:spPr>
          <a:xfrm>
            <a:off x="4631021" y="2963114"/>
            <a:ext cx="534010" cy="238657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1D1D1F"/>
                </a:solidFill>
                <a:latin typeface="Noto Sans JP"/>
              </a:rPr>
              <a:t>量子化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377" y="3256636"/>
            <a:ext cx="2628900" cy="24780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>
                <a:solidFill>
                  <a:srgbClr val="424245"/>
                </a:solidFill>
                <a:latin typeface="Cambria"/>
              </a:rPr>
              <a:t>KV</a:t>
            </a:r>
            <a:r>
              <a:rPr sz="1100">
                <a:solidFill>
                  <a:srgbClr val="424245"/>
                </a:solidFill>
                <a:latin typeface="Noto Sans JP"/>
              </a:rPr>
              <a:t>キャッシュ管理最適化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021" y="3266695"/>
            <a:ext cx="533094" cy="237743"/>
          </a:xfrm>
          <a:prstGeom prst="rect">
            <a:avLst/>
          </a:prstGeom>
          <a:ln w="0">
            <a:noFill/>
          </a:ln>
        </p:spPr>
      </p:pic>
      <p:sp>
        <p:nvSpPr>
          <p:cNvPr id="22" name="TextBox 21"/>
          <p:cNvSpPr txBox="1"/>
          <p:nvPr/>
        </p:nvSpPr>
        <p:spPr>
          <a:xfrm>
            <a:off x="4631021" y="3266695"/>
            <a:ext cx="534010" cy="238658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1D1D1F"/>
                </a:solidFill>
                <a:latin typeface="Noto Sans JP"/>
              </a:rPr>
              <a:t>メモリ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7519" y="3559303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>
                <a:solidFill>
                  <a:srgbClr val="424245"/>
                </a:solidFill>
                <a:latin typeface="Cambria"/>
              </a:rPr>
              <a:t>Paged Attention / Quantized KV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56364" y="2382470"/>
            <a:ext cx="3534155" cy="1666951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6617" y="2596440"/>
            <a:ext cx="304494" cy="228600"/>
          </a:xfrm>
          <a:prstGeom prst="rect">
            <a:avLst/>
          </a:prstGeom>
          <a:ln w="0">
            <a:noFill/>
          </a:ln>
        </p:spPr>
      </p:pic>
      <p:sp>
        <p:nvSpPr>
          <p:cNvPr id="26" name="TextBox 25"/>
          <p:cNvSpPr txBox="1"/>
          <p:nvPr/>
        </p:nvSpPr>
        <p:spPr>
          <a:xfrm>
            <a:off x="8675413" y="2582724"/>
            <a:ext cx="1296619" cy="2578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Noto Sans JP"/>
              </a:rPr>
              <a:t>主要ランタイム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6617" y="2953970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llama.cpp (GGUF)</a:t>
            </a:r>
            <a:r>
              <a:rPr sz="1100">
                <a:solidFill>
                  <a:srgbClr val="424245"/>
                </a:solidFill>
                <a:latin typeface="Cambria"/>
              </a:rPr>
              <a:t>: </a:t>
            </a:r>
            <a:r>
              <a:rPr sz="1100">
                <a:solidFill>
                  <a:srgbClr val="424245"/>
                </a:solidFill>
                <a:latin typeface="Noto Sans JP"/>
              </a:rPr>
              <a:t>汎用・軽量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6617" y="3239263"/>
            <a:ext cx="3248863" cy="22859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Ollama / LM Studio</a:t>
            </a:r>
            <a:r>
              <a:rPr sz="1100">
                <a:solidFill>
                  <a:srgbClr val="424245"/>
                </a:solidFill>
                <a:latin typeface="Cambria"/>
              </a:rPr>
              <a:t>: UI +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6617" y="3525470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MLX</a:t>
            </a:r>
            <a:r>
              <a:rPr sz="1100">
                <a:solidFill>
                  <a:srgbClr val="424245"/>
                </a:solidFill>
                <a:latin typeface="Cambria"/>
              </a:rPr>
              <a:t>: Apple Silicon</a:t>
            </a:r>
            <a:r>
              <a:rPr sz="1100">
                <a:solidFill>
                  <a:srgbClr val="424245"/>
                </a:solidFill>
                <a:latin typeface="Noto Sans JP"/>
              </a:rPr>
              <a:t>特化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8167" y="4274364"/>
            <a:ext cx="7295997" cy="1647749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421" y="4488333"/>
            <a:ext cx="304495" cy="228600"/>
          </a:xfrm>
          <a:prstGeom prst="rect">
            <a:avLst/>
          </a:prstGeom>
          <a:ln w="0">
            <a:noFill/>
          </a:ln>
        </p:spPr>
      </p:pic>
      <p:sp>
        <p:nvSpPr>
          <p:cNvPr id="32" name="TextBox 31"/>
          <p:cNvSpPr txBox="1"/>
          <p:nvPr/>
        </p:nvSpPr>
        <p:spPr>
          <a:xfrm>
            <a:off x="1157216" y="4473703"/>
            <a:ext cx="3656686" cy="2578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Noto Sans JP"/>
              </a:rPr>
              <a:t>ハードウェア実用ライン</a:t>
            </a:r>
            <a:r>
              <a:rPr sz="1300" b="1">
                <a:solidFill>
                  <a:srgbClr val="1D1D1F"/>
                </a:solidFill>
                <a:latin typeface="Cambria"/>
              </a:rPr>
              <a:t> (4bit</a:t>
            </a:r>
            <a:r>
              <a:rPr sz="1300" b="1">
                <a:solidFill>
                  <a:srgbClr val="1D1D1F"/>
                </a:solidFill>
                <a:latin typeface="Noto Sans JP"/>
              </a:rPr>
              <a:t>量子化前提</a:t>
            </a:r>
            <a:r>
              <a:rPr sz="1300" b="1">
                <a:solidFill>
                  <a:srgbClr val="1D1D1F"/>
                </a:solidFill>
                <a:latin typeface="Cambria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421" y="4855008"/>
            <a:ext cx="2595982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1D1D1F"/>
                </a:solidFill>
                <a:latin typeface="Cambria"/>
              </a:rPr>
              <a:t>Apple Silicon (Unified Memory)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421" y="5150359"/>
            <a:ext cx="3419855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16GB</a:t>
            </a:r>
            <a:r>
              <a:rPr sz="1100">
                <a:solidFill>
                  <a:srgbClr val="424245"/>
                </a:solidFill>
                <a:latin typeface="Cambria"/>
              </a:rPr>
              <a:t>: 3B</a:t>
            </a:r>
            <a:r>
              <a:rPr sz="1100">
                <a:solidFill>
                  <a:srgbClr val="424245"/>
                </a:solidFill>
                <a:latin typeface="Noto Sans JP"/>
              </a:rPr>
              <a:t>〜</a:t>
            </a:r>
            <a:r>
              <a:rPr sz="1100">
                <a:solidFill>
                  <a:srgbClr val="424245"/>
                </a:solidFill>
                <a:latin typeface="Cambria"/>
              </a:rPr>
              <a:t>7/8B</a:t>
            </a:r>
            <a:r>
              <a:rPr sz="1100">
                <a:solidFill>
                  <a:srgbClr val="424245"/>
                </a:solidFill>
                <a:latin typeface="Noto Sans JP"/>
              </a:rPr>
              <a:t>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421" y="5435652"/>
            <a:ext cx="3419855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24-32GB</a:t>
            </a:r>
            <a:r>
              <a:rPr sz="1100">
                <a:solidFill>
                  <a:srgbClr val="424245"/>
                </a:solidFill>
                <a:latin typeface="Cambria"/>
              </a:rPr>
              <a:t>: 7B</a:t>
            </a:r>
            <a:r>
              <a:rPr sz="1100">
                <a:solidFill>
                  <a:srgbClr val="424245"/>
                </a:solidFill>
                <a:latin typeface="Noto Sans JP"/>
              </a:rPr>
              <a:t>〜</a:t>
            </a:r>
            <a:r>
              <a:rPr sz="1100">
                <a:solidFill>
                  <a:srgbClr val="424245"/>
                </a:solidFill>
                <a:latin typeface="Cambria"/>
              </a:rPr>
              <a:t>14B</a:t>
            </a:r>
            <a:r>
              <a:rPr sz="1100">
                <a:solidFill>
                  <a:srgbClr val="424245"/>
                </a:solidFill>
                <a:latin typeface="Noto Sans JP"/>
              </a:rPr>
              <a:t>級</a:t>
            </a:r>
            <a:r>
              <a:rPr sz="1100">
                <a:solidFill>
                  <a:srgbClr val="424245"/>
                </a:solidFill>
                <a:latin typeface="Cambria"/>
              </a:rPr>
              <a:t> </a:t>
            </a:r>
            <a:r>
              <a:rPr sz="900">
                <a:solidFill>
                  <a:srgbClr val="86868B"/>
                </a:solidFill>
                <a:latin typeface="Cambria"/>
              </a:rPr>
              <a:t>(</a:t>
            </a:r>
            <a:r>
              <a:rPr sz="900">
                <a:solidFill>
                  <a:srgbClr val="86868B"/>
                </a:solidFill>
                <a:latin typeface="Noto Sans JP"/>
              </a:rPr>
              <a:t>業務最小ライン</a:t>
            </a:r>
            <a:r>
              <a:rPr sz="900">
                <a:solidFill>
                  <a:srgbClr val="86868B"/>
                </a:solidFill>
                <a:latin typeface="Cambria"/>
              </a:rPr>
              <a:t>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8393" y="4845864"/>
            <a:ext cx="9144" cy="87599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31098" y="4855008"/>
            <a:ext cx="2296972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1D1D1F"/>
                </a:solidFill>
                <a:latin typeface="Cambria"/>
              </a:rPr>
              <a:t>Windows (NVIDIA GPU VRAM)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1098" y="5150359"/>
            <a:ext cx="3419855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8GB</a:t>
            </a:r>
            <a:r>
              <a:rPr sz="1100">
                <a:solidFill>
                  <a:srgbClr val="424245"/>
                </a:solidFill>
                <a:latin typeface="Cambria"/>
              </a:rPr>
              <a:t>: 7B</a:t>
            </a:r>
            <a:r>
              <a:rPr sz="1100">
                <a:solidFill>
                  <a:srgbClr val="424245"/>
                </a:solidFill>
                <a:latin typeface="Noto Sans JP"/>
              </a:rPr>
              <a:t>級</a:t>
            </a:r>
            <a:r>
              <a:rPr sz="1100">
                <a:solidFill>
                  <a:srgbClr val="424245"/>
                </a:solidFill>
                <a:latin typeface="Cambria"/>
              </a:rPr>
              <a:t> / </a:t>
            </a:r>
            <a:r>
              <a:rPr sz="1100" b="1">
                <a:solidFill>
                  <a:srgbClr val="424245"/>
                </a:solidFill>
                <a:latin typeface="Cambria"/>
              </a:rPr>
              <a:t>12GB</a:t>
            </a:r>
            <a:r>
              <a:rPr sz="1100">
                <a:solidFill>
                  <a:srgbClr val="424245"/>
                </a:solidFill>
                <a:latin typeface="Cambria"/>
              </a:rPr>
              <a:t>: 14B</a:t>
            </a:r>
            <a:r>
              <a:rPr sz="1100">
                <a:solidFill>
                  <a:srgbClr val="424245"/>
                </a:solidFill>
                <a:latin typeface="Noto Sans JP"/>
              </a:rPr>
              <a:t>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1098" y="5435652"/>
            <a:ext cx="3419855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24GB</a:t>
            </a:r>
            <a:r>
              <a:rPr sz="1100">
                <a:solidFill>
                  <a:srgbClr val="424245"/>
                </a:solidFill>
                <a:latin typeface="Cambria"/>
              </a:rPr>
              <a:t>: 27B</a:t>
            </a:r>
            <a:r>
              <a:rPr sz="1100">
                <a:solidFill>
                  <a:srgbClr val="424245"/>
                </a:solidFill>
                <a:latin typeface="Noto Sans JP"/>
              </a:rPr>
              <a:t>〜</a:t>
            </a:r>
            <a:r>
              <a:rPr sz="1100">
                <a:solidFill>
                  <a:srgbClr val="424245"/>
                </a:solidFill>
                <a:latin typeface="Cambria"/>
              </a:rPr>
              <a:t>34B</a:t>
            </a:r>
            <a:r>
              <a:rPr sz="1100">
                <a:solidFill>
                  <a:srgbClr val="424245"/>
                </a:solidFill>
                <a:latin typeface="Noto Sans JP"/>
              </a:rPr>
              <a:t>級</a:t>
            </a:r>
            <a:r>
              <a:rPr sz="1100">
                <a:solidFill>
                  <a:srgbClr val="424245"/>
                </a:solidFill>
                <a:latin typeface="Cambria"/>
              </a:rPr>
              <a:t> </a:t>
            </a:r>
            <a:r>
              <a:rPr sz="900">
                <a:solidFill>
                  <a:srgbClr val="86868B"/>
                </a:solidFill>
                <a:latin typeface="Cambria"/>
              </a:rPr>
              <a:t>(</a:t>
            </a:r>
            <a:r>
              <a:rPr sz="900">
                <a:solidFill>
                  <a:srgbClr val="86868B"/>
                </a:solidFill>
                <a:latin typeface="Noto Sans JP"/>
              </a:rPr>
              <a:t>実務域</a:t>
            </a:r>
            <a:r>
              <a:rPr sz="900">
                <a:solidFill>
                  <a:srgbClr val="86868B"/>
                </a:solidFill>
                <a:latin typeface="Cambria"/>
              </a:rPr>
              <a:t>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6364" y="4274364"/>
            <a:ext cx="3534155" cy="1647749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6617" y="4488333"/>
            <a:ext cx="304494" cy="228600"/>
          </a:xfrm>
          <a:prstGeom prst="rect">
            <a:avLst/>
          </a:prstGeom>
          <a:ln w="0">
            <a:noFill/>
          </a:ln>
        </p:spPr>
      </p:pic>
      <p:sp>
        <p:nvSpPr>
          <p:cNvPr id="42" name="TextBox 41"/>
          <p:cNvSpPr txBox="1"/>
          <p:nvPr/>
        </p:nvSpPr>
        <p:spPr>
          <a:xfrm>
            <a:off x="8675413" y="4473703"/>
            <a:ext cx="1110996" cy="2578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Noto Sans JP"/>
              </a:rPr>
              <a:t>推奨スタック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56617" y="4845864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Noto Sans JP"/>
              </a:rPr>
              <a:t>低コスト</a:t>
            </a:r>
            <a:r>
              <a:rPr sz="1100">
                <a:solidFill>
                  <a:srgbClr val="424245"/>
                </a:solidFill>
                <a:latin typeface="Cambria"/>
              </a:rPr>
              <a:t>: GGUF + llama.cpp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56617" y="5131157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Noto Sans JP"/>
              </a:rPr>
              <a:t>高品質</a:t>
            </a:r>
            <a:r>
              <a:rPr sz="1100">
                <a:solidFill>
                  <a:srgbClr val="424245"/>
                </a:solidFill>
                <a:latin typeface="Cambria"/>
              </a:rPr>
              <a:t>: GPU + TensorRT-LLM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6617" y="5417364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Noto Sans JP"/>
              </a:rPr>
              <a:t>ハード制約</a:t>
            </a:r>
            <a:r>
              <a:rPr sz="1100">
                <a:solidFill>
                  <a:srgbClr val="424245"/>
                </a:solidFill>
                <a:latin typeface="Cambria"/>
              </a:rPr>
              <a:t>: 3B</a:t>
            </a:r>
            <a:r>
              <a:rPr sz="1100">
                <a:solidFill>
                  <a:srgbClr val="424245"/>
                </a:solidFill>
                <a:latin typeface="Noto Sans JP"/>
              </a:rPr>
              <a:t>級</a:t>
            </a:r>
            <a:r>
              <a:rPr sz="1100">
                <a:solidFill>
                  <a:srgbClr val="424245"/>
                </a:solidFill>
                <a:latin typeface="Cambria"/>
              </a:rPr>
              <a:t> + RAG</a:t>
            </a:r>
            <a:r>
              <a:rPr sz="1100">
                <a:solidFill>
                  <a:srgbClr val="424245"/>
                </a:solidFill>
                <a:latin typeface="Noto Sans JP"/>
              </a:rPr>
              <a:t>工夫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5871" y="6242541"/>
            <a:ext cx="133501" cy="133501"/>
          </a:xfrm>
          <a:prstGeom prst="rect">
            <a:avLst/>
          </a:prstGeom>
          <a:ln w="0">
            <a:noFill/>
          </a:ln>
        </p:spPr>
      </p:pic>
      <p:sp>
        <p:nvSpPr>
          <p:cNvPr id="47" name="TextBox 46"/>
          <p:cNvSpPr txBox="1"/>
          <p:nvPr/>
        </p:nvSpPr>
        <p:spPr>
          <a:xfrm>
            <a:off x="4656123" y="6202719"/>
            <a:ext cx="7535571" cy="21314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r>
              <a:rPr sz="1000">
                <a:solidFill>
                  <a:srgbClr val="86868B"/>
                </a:solidFill>
                <a:latin typeface="Noto Sans JP"/>
              </a:rPr>
              <a:t>補足：長文コンテキストは</a:t>
            </a:r>
            <a:r>
              <a:rPr sz="1000">
                <a:solidFill>
                  <a:srgbClr val="86868B"/>
                </a:solidFill>
                <a:latin typeface="Cambria"/>
              </a:rPr>
              <a:t>KV</a:t>
            </a:r>
            <a:r>
              <a:rPr sz="1000">
                <a:solidFill>
                  <a:srgbClr val="86868B"/>
                </a:solidFill>
                <a:latin typeface="Noto Sans JP"/>
              </a:rPr>
              <a:t>キャッシュがメモリを支配します。最終判断は再現ベンチマーク（後述の手順）で確定してください。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5" y="1032380"/>
            <a:ext cx="12191695" cy="914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  <a:ln w="0">
            <a:noFill/>
          </a:ln>
        </p:spPr>
      </p:pic>
      <p:sp>
        <p:nvSpPr>
          <p:cNvPr id="50" name="TextBox 49"/>
          <p:cNvSpPr txBox="1"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1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67551"/>
            <a:ext cx="1219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532" y="571500"/>
            <a:ext cx="304495" cy="304494"/>
          </a:xfrm>
          <a:prstGeom prst="rect">
            <a:avLst/>
          </a:prstGeom>
          <a:ln w="0">
            <a:noFill/>
          </a:ln>
        </p:spPr>
      </p:pic>
      <p:sp>
        <p:nvSpPr>
          <p:cNvPr id="53" name="Rectangle 52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1887" y="1312153"/>
            <a:ext cx="11221662" cy="790509"/>
          </a:xfrm>
          <a:prstGeom prst="rect">
            <a:avLst/>
          </a:prstGeom>
          <a:solidFill>
            <a:srgbClr val="F0F9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32" y="571500"/>
            <a:ext cx="304495" cy="304494"/>
          </a:xfrm>
          <a:prstGeom prst="rect">
            <a:avLst/>
          </a:prstGeom>
          <a:ln w="0"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914400" y="495605"/>
            <a:ext cx="4620463" cy="4572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エグゼクティブサマリ（詳細</a:t>
            </a:r>
            <a:r>
              <a:rPr sz="2400" b="1">
                <a:solidFill>
                  <a:srgbClr val="1D1D1F"/>
                </a:solidFill>
                <a:latin typeface="Cambria"/>
              </a:rPr>
              <a:t>1</a:t>
            </a:r>
            <a:r>
              <a:rPr sz="2400" b="1">
                <a:solidFill>
                  <a:srgbClr val="1D1D1F"/>
                </a:solidFill>
                <a:latin typeface="Noto Sans JP"/>
              </a:rPr>
              <a:t>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532" y="208939"/>
            <a:ext cx="2397557" cy="2578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1000">
                <a:solidFill>
                  <a:srgbClr val="86868B"/>
                </a:solidFill>
                <a:latin typeface="Cambria"/>
              </a:rPr>
              <a:t>AI</a:t>
            </a:r>
            <a:r>
              <a:rPr sz="1000">
                <a:solidFill>
                  <a:srgbClr val="86868B"/>
                </a:solidFill>
                <a:latin typeface="Noto Sans JP"/>
              </a:rPr>
              <a:t>の定義と中核技術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26920"/>
            <a:ext cx="10849356" cy="64830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Cambria"/>
              </a:rPr>
              <a:t> </a:t>
            </a:r>
            <a:r>
              <a:rPr sz="1800" b="1">
                <a:solidFill>
                  <a:srgbClr val="1D1D1F"/>
                </a:solidFill>
                <a:latin typeface="Noto Sans JP"/>
              </a:rPr>
              <a:t>結論：ローカル</a:t>
            </a:r>
            <a:r>
              <a:rPr sz="1800" b="1">
                <a:solidFill>
                  <a:srgbClr val="1D1D1F"/>
                </a:solidFill>
                <a:latin typeface="Cambria"/>
              </a:rPr>
              <a:t>AI</a:t>
            </a:r>
            <a:r>
              <a:rPr sz="1800" b="1">
                <a:solidFill>
                  <a:srgbClr val="1D1D1F"/>
                </a:solidFill>
                <a:latin typeface="Noto Sans JP"/>
              </a:rPr>
              <a:t>は「推論がユーザー管理下で完結する構成」と定義され、</a:t>
            </a:r>
            <a:r>
              <a:rPr sz="1800" b="1">
                <a:solidFill>
                  <a:srgbClr val="1D1D1F"/>
                </a:solidFill>
                <a:latin typeface="Cambria"/>
              </a:rPr>
              <a:t> </a:t>
            </a:r>
          </a:p>
          <a:p>
            <a:pPr algn="l"/>
            <a:r>
              <a:rPr sz="1800" b="1">
                <a:solidFill>
                  <a:srgbClr val="2563EB"/>
                </a:solidFill>
                <a:latin typeface="Noto Sans JP"/>
              </a:rPr>
              <a:t>重み量子化（</a:t>
            </a:r>
            <a:r>
              <a:rPr sz="1800" b="1">
                <a:solidFill>
                  <a:srgbClr val="2563EB"/>
                </a:solidFill>
                <a:latin typeface="Cambria"/>
              </a:rPr>
              <a:t>4bit</a:t>
            </a:r>
            <a:r>
              <a:rPr sz="1800" b="1">
                <a:solidFill>
                  <a:srgbClr val="2563EB"/>
                </a:solidFill>
                <a:latin typeface="Noto Sans JP"/>
              </a:rPr>
              <a:t>）</a:t>
            </a:r>
            <a:r>
              <a:rPr sz="1800" b="1">
                <a:solidFill>
                  <a:srgbClr val="1D1D1F"/>
                </a:solidFill>
                <a:latin typeface="Noto Sans JP"/>
              </a:rPr>
              <a:t>と</a:t>
            </a:r>
            <a:r>
              <a:rPr sz="1800" b="1">
                <a:solidFill>
                  <a:srgbClr val="2563EB"/>
                </a:solidFill>
                <a:latin typeface="Cambria"/>
              </a:rPr>
              <a:t>KV</a:t>
            </a:r>
            <a:r>
              <a:rPr sz="1800" b="1">
                <a:solidFill>
                  <a:srgbClr val="2563EB"/>
                </a:solidFill>
                <a:latin typeface="Noto Sans JP"/>
              </a:rPr>
              <a:t>キャッシュ最適化</a:t>
            </a:r>
            <a:r>
              <a:rPr sz="1800" b="1">
                <a:solidFill>
                  <a:srgbClr val="1D1D1F"/>
                </a:solidFill>
                <a:latin typeface="Noto Sans JP"/>
              </a:rPr>
              <a:t>が実運用の技術的基盤です。</a:t>
            </a:r>
            <a:r>
              <a:rPr sz="1800" b="1">
                <a:solidFill>
                  <a:srgbClr val="1D1D1F"/>
                </a:solidFill>
                <a:latin typeface="Cambria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538167" y="2381097"/>
            <a:ext cx="5486400" cy="398129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5911" y="3019348"/>
            <a:ext cx="5009997" cy="19201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11" y="2667304"/>
            <a:ext cx="219456" cy="190194"/>
          </a:xfrm>
          <a:prstGeom prst="rect">
            <a:avLst/>
          </a:prstGeom>
          <a:ln w="0"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1109667" y="2619755"/>
            <a:ext cx="2171700" cy="4197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Noto Sans JP"/>
              </a:rPr>
              <a:t>ローカル</a:t>
            </a:r>
            <a:r>
              <a:rPr sz="1500" b="1">
                <a:solidFill>
                  <a:srgbClr val="1D1D1F"/>
                </a:solidFill>
                <a:latin typeface="Cambria"/>
              </a:rPr>
              <a:t>AI</a:t>
            </a:r>
            <a:r>
              <a:rPr sz="1500" b="1">
                <a:solidFill>
                  <a:srgbClr val="1D1D1F"/>
                </a:solidFill>
                <a:latin typeface="Noto Sans JP"/>
              </a:rPr>
              <a:t>の定義と射程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11" y="3191255"/>
            <a:ext cx="105156" cy="114300"/>
          </a:xfrm>
          <a:prstGeom prst="rect">
            <a:avLst/>
          </a:prstGeom>
          <a:ln w="0"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976164" y="3434486"/>
            <a:ext cx="4886554" cy="4956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>
                <a:solidFill>
                  <a:srgbClr val="424245"/>
                </a:solidFill>
                <a:latin typeface="Noto Sans JP"/>
              </a:rPr>
              <a:t>ユーザー端末（オンデバイス）、</a:t>
            </a:r>
            <a:r>
              <a:rPr sz="1200">
                <a:solidFill>
                  <a:srgbClr val="424245"/>
                </a:solidFill>
                <a:latin typeface="Cambria"/>
              </a:rPr>
              <a:t>PC</a:t>
            </a:r>
            <a:r>
              <a:rPr sz="1200">
                <a:solidFill>
                  <a:srgbClr val="424245"/>
                </a:solidFill>
                <a:latin typeface="Noto Sans JP"/>
              </a:rPr>
              <a:t>、またはローカル</a:t>
            </a:r>
            <a:r>
              <a:rPr sz="1200">
                <a:solidFill>
                  <a:srgbClr val="424245"/>
                </a:solidFill>
                <a:latin typeface="Cambria"/>
              </a:rPr>
              <a:t>LAN</a:t>
            </a:r>
            <a:r>
              <a:rPr sz="1200">
                <a:solidFill>
                  <a:srgbClr val="424245"/>
                </a:solidFill>
                <a:latin typeface="Noto Sans JP"/>
              </a:rPr>
              <a:t>内サーバで完結。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11" y="4037075"/>
            <a:ext cx="105156" cy="114300"/>
          </a:xfrm>
          <a:prstGeom prst="rect">
            <a:avLst/>
          </a:prstGeom>
          <a:ln w="0"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976164" y="4280306"/>
            <a:ext cx="4886554" cy="4956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>
                <a:solidFill>
                  <a:srgbClr val="424245"/>
                </a:solidFill>
                <a:latin typeface="Noto Sans JP"/>
              </a:rPr>
              <a:t>入力データ（文書・音声・画像）がデフォルトでクラウドへ送出されない構成。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11" y="4881981"/>
            <a:ext cx="105156" cy="114300"/>
          </a:xfrm>
          <a:prstGeom prst="rect">
            <a:avLst/>
          </a:prstGeom>
          <a:ln w="0"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976164" y="5126126"/>
            <a:ext cx="4886554" cy="4956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>
                <a:solidFill>
                  <a:srgbClr val="424245"/>
                </a:solidFill>
                <a:latin typeface="Cambria"/>
              </a:rPr>
              <a:t>LM Studio</a:t>
            </a:r>
            <a:r>
              <a:rPr sz="1200">
                <a:solidFill>
                  <a:srgbClr val="424245"/>
                </a:solidFill>
                <a:latin typeface="Noto Sans JP"/>
              </a:rPr>
              <a:t>や</a:t>
            </a:r>
            <a:r>
              <a:rPr sz="1200">
                <a:solidFill>
                  <a:srgbClr val="424245"/>
                </a:solidFill>
                <a:latin typeface="Cambria"/>
              </a:rPr>
              <a:t>Ollama</a:t>
            </a:r>
            <a:r>
              <a:rPr sz="1200">
                <a:solidFill>
                  <a:srgbClr val="424245"/>
                </a:solidFill>
                <a:latin typeface="Noto Sans JP"/>
              </a:rPr>
              <a:t>の「</a:t>
            </a:r>
            <a:r>
              <a:rPr sz="1200">
                <a:solidFill>
                  <a:srgbClr val="424245"/>
                </a:solidFill>
                <a:latin typeface="Cambria"/>
              </a:rPr>
              <a:t>localhost/network</a:t>
            </a:r>
            <a:r>
              <a:rPr sz="1200">
                <a:solidFill>
                  <a:srgbClr val="424245"/>
                </a:solidFill>
                <a:latin typeface="Noto Sans JP"/>
              </a:rPr>
              <a:t>公開」機能を含みます。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974" y="5408675"/>
            <a:ext cx="400506" cy="200253"/>
          </a:xfrm>
          <a:prstGeom prst="rect">
            <a:avLst/>
          </a:prstGeom>
          <a:ln w="0">
            <a:noFill/>
          </a:ln>
        </p:spPr>
      </p:pic>
      <p:sp>
        <p:nvSpPr>
          <p:cNvPr id="19" name="TextBox 18"/>
          <p:cNvSpPr txBox="1"/>
          <p:nvPr/>
        </p:nvSpPr>
        <p:spPr>
          <a:xfrm>
            <a:off x="1052974" y="5408675"/>
            <a:ext cx="400506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ambria"/>
              </a:rPr>
              <a:t>[1][2]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911" y="5766206"/>
            <a:ext cx="857707" cy="276148"/>
          </a:xfrm>
          <a:prstGeom prst="rect">
            <a:avLst/>
          </a:prstGeom>
          <a:ln w="0">
            <a:noFill/>
          </a:ln>
        </p:spPr>
      </p:pic>
      <p:sp>
        <p:nvSpPr>
          <p:cNvPr id="21" name="TextBox 20"/>
          <p:cNvSpPr txBox="1"/>
          <p:nvPr/>
        </p:nvSpPr>
        <p:spPr>
          <a:xfrm>
            <a:off x="775911" y="5766206"/>
            <a:ext cx="857707" cy="2770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>
                <a:solidFill>
                  <a:srgbClr val="0369A1"/>
                </a:solidFill>
                <a:latin typeface="Cambria"/>
              </a:rPr>
              <a:t>Localhost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4027" y="5766206"/>
            <a:ext cx="1285646" cy="276148"/>
          </a:xfrm>
          <a:prstGeom prst="rect">
            <a:avLst/>
          </a:prstGeom>
          <a:ln w="0">
            <a:noFill/>
          </a:ln>
        </p:spPr>
      </p:pic>
      <p:sp>
        <p:nvSpPr>
          <p:cNvPr id="23" name="TextBox 22"/>
          <p:cNvSpPr txBox="1"/>
          <p:nvPr/>
        </p:nvSpPr>
        <p:spPr>
          <a:xfrm>
            <a:off x="1704027" y="5766206"/>
            <a:ext cx="1286561" cy="2770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>
                <a:solidFill>
                  <a:srgbClr val="0369A1"/>
                </a:solidFill>
                <a:latin typeface="Cambria"/>
              </a:rPr>
              <a:t>On-Premise LAN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58253" y="5766206"/>
            <a:ext cx="1028700" cy="276148"/>
          </a:xfrm>
          <a:prstGeom prst="rect">
            <a:avLst/>
          </a:prstGeom>
          <a:ln w="0">
            <a:noFill/>
          </a:ln>
        </p:spPr>
      </p:pic>
      <p:sp>
        <p:nvSpPr>
          <p:cNvPr id="25" name="TextBox 24"/>
          <p:cNvSpPr txBox="1"/>
          <p:nvPr/>
        </p:nvSpPr>
        <p:spPr>
          <a:xfrm>
            <a:off x="3058253" y="5766206"/>
            <a:ext cx="1028700" cy="2770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>
                <a:solidFill>
                  <a:srgbClr val="0369A1"/>
                </a:solidFill>
                <a:latin typeface="Cambria"/>
              </a:rPr>
              <a:t>Privacy First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9062" y="2381097"/>
            <a:ext cx="5486400" cy="398129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67721" y="3019348"/>
            <a:ext cx="5009998" cy="19201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7721" y="2667304"/>
            <a:ext cx="190194" cy="190194"/>
          </a:xfrm>
          <a:prstGeom prst="rect">
            <a:avLst/>
          </a:prstGeom>
          <a:ln w="0">
            <a:noFill/>
          </a:ln>
        </p:spPr>
      </p:pic>
      <p:sp>
        <p:nvSpPr>
          <p:cNvPr id="29" name="TextBox 28"/>
          <p:cNvSpPr txBox="1"/>
          <p:nvPr/>
        </p:nvSpPr>
        <p:spPr>
          <a:xfrm>
            <a:off x="6872216" y="2619755"/>
            <a:ext cx="3324758" cy="4197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Noto Sans JP"/>
              </a:rPr>
              <a:t>中核技術（</a:t>
            </a:r>
            <a:r>
              <a:rPr sz="1500" b="1">
                <a:solidFill>
                  <a:srgbClr val="1D1D1F"/>
                </a:solidFill>
                <a:latin typeface="Cambria"/>
              </a:rPr>
              <a:t>Enabling Technologies</a:t>
            </a:r>
            <a:r>
              <a:rPr sz="1500" b="1">
                <a:solidFill>
                  <a:srgbClr val="1D1D1F"/>
                </a:solidFill>
                <a:latin typeface="Noto Sans JP"/>
              </a:rPr>
              <a:t>）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7721" y="3191255"/>
            <a:ext cx="114300" cy="114300"/>
          </a:xfrm>
          <a:prstGeom prst="rect">
            <a:avLst/>
          </a:prstGeom>
          <a:ln w="0">
            <a:noFill/>
          </a:ln>
        </p:spPr>
      </p:pic>
      <p:sp>
        <p:nvSpPr>
          <p:cNvPr id="31" name="TextBox 30"/>
          <p:cNvSpPr txBox="1"/>
          <p:nvPr/>
        </p:nvSpPr>
        <p:spPr>
          <a:xfrm>
            <a:off x="6777118" y="3434486"/>
            <a:ext cx="4877410" cy="4956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>
                <a:solidFill>
                  <a:srgbClr val="424245"/>
                </a:solidFill>
                <a:latin typeface="Cambria"/>
              </a:rPr>
              <a:t>4bit</a:t>
            </a:r>
            <a:r>
              <a:rPr sz="1200">
                <a:solidFill>
                  <a:srgbClr val="424245"/>
                </a:solidFill>
                <a:latin typeface="Noto Sans JP"/>
              </a:rPr>
              <a:t>前後の</a:t>
            </a:r>
            <a:r>
              <a:rPr sz="1200">
                <a:solidFill>
                  <a:srgbClr val="424245"/>
                </a:solidFill>
                <a:latin typeface="Cambria"/>
              </a:rPr>
              <a:t>weight-only</a:t>
            </a:r>
            <a:r>
              <a:rPr sz="1200">
                <a:solidFill>
                  <a:srgbClr val="424245"/>
                </a:solidFill>
                <a:latin typeface="Noto Sans JP"/>
              </a:rPr>
              <a:t>量子化（</a:t>
            </a:r>
            <a:r>
              <a:rPr sz="1200">
                <a:solidFill>
                  <a:srgbClr val="424245"/>
                </a:solidFill>
                <a:latin typeface="Cambria"/>
              </a:rPr>
              <a:t>AWQ/GGUF</a:t>
            </a:r>
            <a:r>
              <a:rPr sz="1200">
                <a:solidFill>
                  <a:srgbClr val="424245"/>
                </a:solidFill>
                <a:latin typeface="Noto Sans JP"/>
              </a:rPr>
              <a:t>等）が主流。メモリ消費を劇的に削減し、コンシューマ機での実行を可能に。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0613" y="3717035"/>
            <a:ext cx="256945" cy="200253"/>
          </a:xfrm>
          <a:prstGeom prst="rect">
            <a:avLst/>
          </a:prstGeom>
          <a:ln w="0">
            <a:noFill/>
          </a:ln>
        </p:spPr>
      </p:pic>
      <p:sp>
        <p:nvSpPr>
          <p:cNvPr id="33" name="TextBox 32"/>
          <p:cNvSpPr txBox="1"/>
          <p:nvPr/>
        </p:nvSpPr>
        <p:spPr>
          <a:xfrm>
            <a:off x="10510613" y="3717035"/>
            <a:ext cx="257860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ambria"/>
              </a:rPr>
              <a:t>[4]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7721" y="4037075"/>
            <a:ext cx="133502" cy="114300"/>
          </a:xfrm>
          <a:prstGeom prst="rect">
            <a:avLst/>
          </a:prstGeom>
          <a:ln w="0">
            <a:noFill/>
          </a:ln>
        </p:spPr>
      </p:pic>
      <p:sp>
        <p:nvSpPr>
          <p:cNvPr id="35" name="TextBox 34"/>
          <p:cNvSpPr txBox="1"/>
          <p:nvPr/>
        </p:nvSpPr>
        <p:spPr>
          <a:xfrm>
            <a:off x="6796321" y="4280306"/>
            <a:ext cx="3781958" cy="24780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>
                <a:solidFill>
                  <a:srgbClr val="424245"/>
                </a:solidFill>
                <a:latin typeface="Noto Sans JP"/>
              </a:rPr>
              <a:t>長文・多同時接続のメモリ管理が鍵。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4921" y="4561941"/>
            <a:ext cx="3477463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Cambria"/>
              </a:rPr>
              <a:t>Paged KV Cache:</a:t>
            </a:r>
            <a:r>
              <a:rPr sz="1000">
                <a:solidFill>
                  <a:srgbClr val="4B5563"/>
                </a:solidFill>
                <a:latin typeface="Cambria"/>
              </a:rPr>
              <a:t> </a:t>
            </a:r>
            <a:r>
              <a:rPr sz="1000">
                <a:solidFill>
                  <a:srgbClr val="4B5563"/>
                </a:solidFill>
                <a:latin typeface="Noto Sans JP"/>
              </a:rPr>
              <a:t>メモリ断片化を防ぐ（</a:t>
            </a:r>
            <a:r>
              <a:rPr sz="1000">
                <a:solidFill>
                  <a:srgbClr val="4B5563"/>
                </a:solidFill>
                <a:latin typeface="Cambria"/>
              </a:rPr>
              <a:t>vLLM</a:t>
            </a:r>
            <a:r>
              <a:rPr sz="1000">
                <a:solidFill>
                  <a:srgbClr val="4B5563"/>
                </a:solidFill>
                <a:latin typeface="Noto Sans JP"/>
              </a:rPr>
              <a:t>等）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29309" y="4573828"/>
            <a:ext cx="256945" cy="200253"/>
          </a:xfrm>
          <a:prstGeom prst="rect">
            <a:avLst/>
          </a:prstGeom>
          <a:ln w="0">
            <a:noFill/>
          </a:ln>
        </p:spPr>
      </p:pic>
      <p:sp>
        <p:nvSpPr>
          <p:cNvPr id="38" name="TextBox 37"/>
          <p:cNvSpPr txBox="1"/>
          <p:nvPr/>
        </p:nvSpPr>
        <p:spPr>
          <a:xfrm>
            <a:off x="10129309" y="4573828"/>
            <a:ext cx="257860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ambria"/>
              </a:rPr>
              <a:t>[5]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4921" y="4774082"/>
            <a:ext cx="3477463" cy="21945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Cambria"/>
              </a:rPr>
              <a:t>Quantized KV:</a:t>
            </a:r>
            <a:r>
              <a:rPr sz="1000">
                <a:solidFill>
                  <a:srgbClr val="4B5563"/>
                </a:solidFill>
                <a:latin typeface="Cambria"/>
              </a:rPr>
              <a:t> KV</a:t>
            </a:r>
            <a:r>
              <a:rPr sz="1000">
                <a:solidFill>
                  <a:srgbClr val="4B5563"/>
                </a:solidFill>
                <a:latin typeface="Noto Sans JP"/>
              </a:rPr>
              <a:t>を</a:t>
            </a:r>
            <a:r>
              <a:rPr sz="1000">
                <a:solidFill>
                  <a:srgbClr val="4B5563"/>
                </a:solidFill>
                <a:latin typeface="Cambria"/>
              </a:rPr>
              <a:t>FP8/INT4</a:t>
            </a:r>
            <a:r>
              <a:rPr sz="1000">
                <a:solidFill>
                  <a:srgbClr val="4B5563"/>
                </a:solidFill>
                <a:latin typeface="Noto Sans JP"/>
              </a:rPr>
              <a:t>化して容量削減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50417" y="4785055"/>
            <a:ext cx="256945" cy="200253"/>
          </a:xfrm>
          <a:prstGeom prst="rect">
            <a:avLst/>
          </a:prstGeom>
          <a:ln w="0">
            <a:noFill/>
          </a:ln>
        </p:spPr>
      </p:pic>
      <p:sp>
        <p:nvSpPr>
          <p:cNvPr id="41" name="TextBox 40"/>
          <p:cNvSpPr txBox="1"/>
          <p:nvPr/>
        </p:nvSpPr>
        <p:spPr>
          <a:xfrm>
            <a:off x="9850417" y="4785055"/>
            <a:ext cx="257860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ambria"/>
              </a:rPr>
              <a:t>[6]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4921" y="4985308"/>
            <a:ext cx="3477463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Cambria"/>
              </a:rPr>
              <a:t>KV Reuse / Prompt Cache:</a:t>
            </a:r>
            <a:r>
              <a:rPr sz="1000">
                <a:solidFill>
                  <a:srgbClr val="4B5563"/>
                </a:solidFill>
                <a:latin typeface="Cambria"/>
              </a:rPr>
              <a:t> </a:t>
            </a:r>
            <a:r>
              <a:rPr sz="1000">
                <a:solidFill>
                  <a:srgbClr val="4B5563"/>
                </a:solidFill>
                <a:latin typeface="Noto Sans JP"/>
              </a:rPr>
              <a:t>計算再利用で高速化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06779" y="4996281"/>
            <a:ext cx="256945" cy="200253"/>
          </a:xfrm>
          <a:prstGeom prst="rect">
            <a:avLst/>
          </a:prstGeom>
          <a:ln w="0">
            <a:noFill/>
          </a:ln>
        </p:spPr>
      </p:pic>
      <p:sp>
        <p:nvSpPr>
          <p:cNvPr id="44" name="TextBox 43"/>
          <p:cNvSpPr txBox="1"/>
          <p:nvPr/>
        </p:nvSpPr>
        <p:spPr>
          <a:xfrm>
            <a:off x="10006779" y="4996281"/>
            <a:ext cx="257860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ambria"/>
              </a:rPr>
              <a:t>[7]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5" y="1032380"/>
            <a:ext cx="12191695" cy="914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8450" y="1311250"/>
            <a:ext cx="49716" cy="791160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  <a:ln w="0">
            <a:noFill/>
          </a:ln>
        </p:spPr>
      </p:pic>
      <p:sp>
        <p:nvSpPr>
          <p:cNvPr id="48" name="TextBox 47"/>
          <p:cNvSpPr txBox="1"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2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67551"/>
            <a:ext cx="1219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1887" y="1312153"/>
            <a:ext cx="11221662" cy="790509"/>
          </a:xfrm>
          <a:prstGeom prst="rect">
            <a:avLst/>
          </a:prstGeom>
          <a:solidFill>
            <a:srgbClr val="F0F9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8450" y="1311250"/>
            <a:ext cx="49716" cy="791160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532" y="224028"/>
            <a:ext cx="3238805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実運用ランタイムとハードウェア実用ライン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8234"/>
            <a:ext cx="10918850" cy="59070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b="1">
                <a:solidFill>
                  <a:srgbClr val="1D1D1F"/>
                </a:solidFill>
                <a:latin typeface="Cambria"/>
              </a:rPr>
              <a:t> </a:t>
            </a:r>
            <a:r>
              <a:rPr b="1">
                <a:solidFill>
                  <a:srgbClr val="1D1D1F"/>
                </a:solidFill>
                <a:latin typeface="Noto Sans JP"/>
              </a:rPr>
              <a:t>結論：ランタイムは</a:t>
            </a:r>
            <a:r>
              <a:rPr b="1">
                <a:solidFill>
                  <a:srgbClr val="2563EB"/>
                </a:solidFill>
                <a:latin typeface="Cambria"/>
              </a:rPr>
              <a:t>llama.cpp/</a:t>
            </a:r>
            <a:r>
              <a:rPr b="1">
                <a:solidFill>
                  <a:srgbClr val="2563EB"/>
                </a:solidFill>
                <a:latin typeface="Cambria"/>
              </a:rPr>
              <a:t>GGUF</a:t>
            </a:r>
            <a:r>
              <a:rPr b="1">
                <a:solidFill>
                  <a:srgbClr val="2563EB"/>
                </a:solidFill>
                <a:latin typeface="Noto Sans JP"/>
              </a:rPr>
              <a:t>系・</a:t>
            </a:r>
            <a:r>
              <a:rPr b="1">
                <a:solidFill>
                  <a:srgbClr val="2563EB"/>
                </a:solidFill>
                <a:latin typeface="Cambria"/>
              </a:rPr>
              <a:t>MLX</a:t>
            </a:r>
            <a:r>
              <a:rPr b="1">
                <a:solidFill>
                  <a:srgbClr val="1D1D1F"/>
                </a:solidFill>
                <a:latin typeface="Noto Sans JP"/>
              </a:rPr>
              <a:t>が第一選択となり</a:t>
            </a:r>
            <a:r>
              <a:rPr b="1">
                <a:solidFill>
                  <a:srgbClr val="1D1D1F"/>
                </a:solidFill>
                <a:latin typeface="Noto Sans JP"/>
              </a:rPr>
              <a:t>、</a:t>
            </a:r>
          </a:p>
          <a:p>
            <a:pPr algn="l"/>
            <a:r>
              <a:rPr b="1">
                <a:solidFill>
                  <a:srgbClr val="1D1D1F"/>
                </a:solidFill>
                <a:latin typeface="Noto Sans JP"/>
              </a:rPr>
              <a:t>ハードウェアはメモリ容量で</a:t>
            </a:r>
            <a:r>
              <a:rPr b="1">
                <a:solidFill>
                  <a:srgbClr val="1D1D1F"/>
                </a:solidFill>
                <a:latin typeface="Cambria"/>
              </a:rPr>
              <a:t>Tier</a:t>
            </a:r>
            <a:r>
              <a:rPr b="1">
                <a:solidFill>
                  <a:srgbClr val="1D1D1F"/>
                </a:solidFill>
                <a:latin typeface="Noto Sans JP"/>
              </a:rPr>
              <a:t>化されます（長文は</a:t>
            </a:r>
            <a:r>
              <a:rPr b="1">
                <a:solidFill>
                  <a:srgbClr val="1D1D1F"/>
                </a:solidFill>
                <a:latin typeface="Cambria"/>
              </a:rPr>
              <a:t>KV</a:t>
            </a:r>
            <a:r>
              <a:rPr b="1">
                <a:solidFill>
                  <a:srgbClr val="1D1D1F"/>
                </a:solidFill>
                <a:latin typeface="Noto Sans JP"/>
              </a:rPr>
              <a:t>支配</a:t>
            </a:r>
            <a:r>
              <a:rPr b="1">
                <a:solidFill>
                  <a:srgbClr val="1D1D1F"/>
                </a:solidFill>
                <a:latin typeface="Noto Sans JP"/>
              </a:rPr>
              <a:t>）。</a:t>
            </a:r>
            <a:r>
              <a:rPr b="1">
                <a:solidFill>
                  <a:srgbClr val="1D1D1F"/>
                </a:solidFill>
                <a:latin typeface="Cambria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531811" y="2382470"/>
            <a:ext cx="5486400" cy="337230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2065" y="2915565"/>
            <a:ext cx="5086807" cy="19201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65" y="2625700"/>
            <a:ext cx="190194" cy="171906"/>
          </a:xfrm>
          <a:prstGeom prst="rect">
            <a:avLst/>
          </a:prstGeom>
          <a:ln w="0"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17356" y="2582723"/>
            <a:ext cx="2477110" cy="352957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Noto Sans JP"/>
              </a:rPr>
              <a:t>実運用ランタイム（第一選択）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65" y="3049982"/>
            <a:ext cx="133502" cy="114300"/>
          </a:xfrm>
          <a:prstGeom prst="rect">
            <a:avLst/>
          </a:prstGeom>
          <a:ln w="0"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1644636" y="3049982"/>
            <a:ext cx="3326586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Noto Sans JP"/>
              </a:rPr>
              <a:t>クロスプラットフォーム標準：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462" y="3059126"/>
            <a:ext cx="666597" cy="200253"/>
          </a:xfrm>
          <a:prstGeom prst="rect">
            <a:avLst/>
          </a:prstGeom>
          <a:ln w="0"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941462" y="3059126"/>
            <a:ext cx="667512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7B1FA2"/>
                </a:solidFill>
                <a:latin typeface="Cambria"/>
              </a:rPr>
              <a:t>llama.cpp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062" y="3302355"/>
            <a:ext cx="3801160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GGUF</a:t>
            </a:r>
            <a:r>
              <a:rPr sz="1000">
                <a:solidFill>
                  <a:srgbClr val="6E6E73"/>
                </a:solidFill>
                <a:latin typeface="Noto Sans JP"/>
              </a:rPr>
              <a:t>形式必須。最小セットアップで</a:t>
            </a:r>
            <a:r>
              <a:rPr sz="1000">
                <a:solidFill>
                  <a:srgbClr val="6E6E73"/>
                </a:solidFill>
                <a:latin typeface="Cambria"/>
              </a:rPr>
              <a:t>CPU/GPU</a:t>
            </a:r>
            <a:r>
              <a:rPr sz="1000">
                <a:solidFill>
                  <a:srgbClr val="6E6E73"/>
                </a:solidFill>
                <a:latin typeface="Noto Sans JP"/>
              </a:rPr>
              <a:t>推論が可能。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062" y="3540100"/>
            <a:ext cx="3801160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Noto Sans JP"/>
              </a:rPr>
              <a:t>軽量・汎用で多くのフロントエンドの基盤。</a:t>
            </a:r>
            <a:r>
              <a:rPr sz="900">
                <a:solidFill>
                  <a:srgbClr val="6B7280"/>
                </a:solidFill>
                <a:latin typeface="Cambria"/>
              </a:rPr>
              <a:t>[8]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065" y="3835451"/>
            <a:ext cx="114300" cy="114300"/>
          </a:xfrm>
          <a:prstGeom prst="rect">
            <a:avLst/>
          </a:prstGeom>
          <a:ln w="0">
            <a:noFill/>
          </a:ln>
        </p:spPr>
      </p:pic>
      <p:sp>
        <p:nvSpPr>
          <p:cNvPr id="18" name="TextBox 17"/>
          <p:cNvSpPr txBox="1"/>
          <p:nvPr/>
        </p:nvSpPr>
        <p:spPr>
          <a:xfrm>
            <a:off x="2120124" y="3835451"/>
            <a:ext cx="2126894" cy="21945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UI</a:t>
            </a:r>
            <a:r>
              <a:rPr sz="1100" b="1">
                <a:solidFill>
                  <a:srgbClr val="424245"/>
                </a:solidFill>
                <a:latin typeface="Noto Sans JP"/>
              </a:rPr>
              <a:t>＋ローカル</a:t>
            </a:r>
            <a:r>
              <a:rPr sz="1100" b="1">
                <a:solidFill>
                  <a:srgbClr val="424245"/>
                </a:solidFill>
                <a:latin typeface="Cambria"/>
              </a:rPr>
              <a:t>API</a:t>
            </a:r>
            <a:r>
              <a:rPr sz="1100" b="1">
                <a:solidFill>
                  <a:srgbClr val="424245"/>
                </a:solidFill>
                <a:latin typeface="Noto Sans JP"/>
              </a:rPr>
              <a:t>：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260" y="3844595"/>
            <a:ext cx="1162201" cy="200253"/>
          </a:xfrm>
          <a:prstGeom prst="rect">
            <a:avLst/>
          </a:prstGeom>
          <a:ln w="0"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922260" y="3844595"/>
            <a:ext cx="1162201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7B1FA2"/>
                </a:solidFill>
                <a:latin typeface="Cambria"/>
              </a:rPr>
              <a:t>Ollama / LM Studio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0860" y="4087826"/>
            <a:ext cx="3096158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OpenAI</a:t>
            </a:r>
            <a:r>
              <a:rPr sz="1000">
                <a:solidFill>
                  <a:srgbClr val="6E6E73"/>
                </a:solidFill>
                <a:latin typeface="Noto Sans JP"/>
              </a:rPr>
              <a:t>互換</a:t>
            </a:r>
            <a:r>
              <a:rPr sz="1000">
                <a:solidFill>
                  <a:srgbClr val="6E6E73"/>
                </a:solidFill>
                <a:latin typeface="Cambria"/>
              </a:rPr>
              <a:t>API</a:t>
            </a:r>
            <a:r>
              <a:rPr sz="1000">
                <a:solidFill>
                  <a:srgbClr val="6E6E73"/>
                </a:solidFill>
                <a:latin typeface="Noto Sans JP"/>
              </a:rPr>
              <a:t>サーバとして動作（</a:t>
            </a:r>
            <a:r>
              <a:rPr sz="1000">
                <a:solidFill>
                  <a:srgbClr val="6E6E73"/>
                </a:solidFill>
                <a:latin typeface="Cambria"/>
              </a:rPr>
              <a:t>LAN</a:t>
            </a:r>
            <a:r>
              <a:rPr sz="1000">
                <a:solidFill>
                  <a:srgbClr val="6E6E73"/>
                </a:solidFill>
                <a:latin typeface="Noto Sans JP"/>
              </a:rPr>
              <a:t>公開可）。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860" y="4325570"/>
            <a:ext cx="3139135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Windows/macOS/Linux</a:t>
            </a:r>
            <a:r>
              <a:rPr sz="1000">
                <a:solidFill>
                  <a:srgbClr val="6E6E73"/>
                </a:solidFill>
                <a:latin typeface="Noto Sans JP"/>
              </a:rPr>
              <a:t>対応で導入が容易。</a:t>
            </a:r>
            <a:r>
              <a:rPr sz="900">
                <a:solidFill>
                  <a:srgbClr val="6B7280"/>
                </a:solidFill>
                <a:latin typeface="Cambria"/>
              </a:rPr>
              <a:t>[23]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065" y="4620921"/>
            <a:ext cx="85953" cy="114300"/>
          </a:xfrm>
          <a:prstGeom prst="rect">
            <a:avLst/>
          </a:prstGeom>
          <a:ln w="0">
            <a:noFill/>
          </a:ln>
        </p:spPr>
      </p:pic>
      <p:sp>
        <p:nvSpPr>
          <p:cNvPr id="24" name="TextBox 23"/>
          <p:cNvSpPr txBox="1"/>
          <p:nvPr/>
        </p:nvSpPr>
        <p:spPr>
          <a:xfrm>
            <a:off x="1277047" y="4620921"/>
            <a:ext cx="3341217" cy="21945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Apple Silicon</a:t>
            </a:r>
            <a:r>
              <a:rPr sz="1100" b="1">
                <a:solidFill>
                  <a:srgbClr val="424245"/>
                </a:solidFill>
                <a:latin typeface="Noto Sans JP"/>
              </a:rPr>
              <a:t>特化：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913" y="4630979"/>
            <a:ext cx="352044" cy="200253"/>
          </a:xfrm>
          <a:prstGeom prst="rect">
            <a:avLst/>
          </a:prstGeom>
          <a:ln w="0">
            <a:noFill/>
          </a:ln>
        </p:spPr>
      </p:pic>
      <p:sp>
        <p:nvSpPr>
          <p:cNvPr id="26" name="TextBox 25"/>
          <p:cNvSpPr txBox="1"/>
          <p:nvPr/>
        </p:nvSpPr>
        <p:spPr>
          <a:xfrm>
            <a:off x="893913" y="4630979"/>
            <a:ext cx="352958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7B1FA2"/>
                </a:solidFill>
                <a:latin typeface="Cambria"/>
              </a:rPr>
              <a:t>MLX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2513" y="4873295"/>
            <a:ext cx="3572560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Unified Memory</a:t>
            </a:r>
            <a:r>
              <a:rPr sz="1000">
                <a:solidFill>
                  <a:srgbClr val="6E6E73"/>
                </a:solidFill>
                <a:latin typeface="Noto Sans JP"/>
              </a:rPr>
              <a:t>前提で設計された配列フレームワーク。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2513" y="5111954"/>
            <a:ext cx="3523183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MLX-LM/MLX-VLM</a:t>
            </a:r>
            <a:r>
              <a:rPr sz="1000">
                <a:solidFill>
                  <a:srgbClr val="6E6E73"/>
                </a:solidFill>
                <a:latin typeface="Noto Sans JP"/>
              </a:rPr>
              <a:t>により</a:t>
            </a:r>
            <a:r>
              <a:rPr sz="1000">
                <a:solidFill>
                  <a:srgbClr val="6E6E73"/>
                </a:solidFill>
                <a:latin typeface="Cambria"/>
              </a:rPr>
              <a:t>Metal</a:t>
            </a:r>
            <a:r>
              <a:rPr sz="1000">
                <a:solidFill>
                  <a:srgbClr val="6E6E73"/>
                </a:solidFill>
                <a:latin typeface="Noto Sans JP"/>
              </a:rPr>
              <a:t>最適化推論を実現。</a:t>
            </a:r>
            <a:r>
              <a:rPr sz="900">
                <a:solidFill>
                  <a:srgbClr val="6B7280"/>
                </a:solidFill>
                <a:latin typeface="Cambria"/>
              </a:rPr>
              <a:t>[22]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2706" y="2382470"/>
            <a:ext cx="5486399" cy="337230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22960" y="2915565"/>
            <a:ext cx="5086807" cy="19201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2960" y="2625700"/>
            <a:ext cx="171907" cy="171906"/>
          </a:xfrm>
          <a:prstGeom prst="rect">
            <a:avLst/>
          </a:prstGeom>
          <a:ln w="0">
            <a:noFill/>
          </a:ln>
        </p:spPr>
      </p:pic>
      <p:sp>
        <p:nvSpPr>
          <p:cNvPr id="32" name="TextBox 31"/>
          <p:cNvSpPr txBox="1"/>
          <p:nvPr/>
        </p:nvSpPr>
        <p:spPr>
          <a:xfrm>
            <a:off x="6789965" y="2582723"/>
            <a:ext cx="3333902" cy="352957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Noto Sans JP"/>
              </a:rPr>
              <a:t>ハードウェア実用ライン（</a:t>
            </a:r>
            <a:r>
              <a:rPr sz="1300" b="1">
                <a:solidFill>
                  <a:srgbClr val="1D1D1F"/>
                </a:solidFill>
                <a:latin typeface="Cambria"/>
              </a:rPr>
              <a:t>4bit</a:t>
            </a:r>
            <a:r>
              <a:rPr sz="1300" b="1">
                <a:solidFill>
                  <a:srgbClr val="1D1D1F"/>
                </a:solidFill>
                <a:latin typeface="Noto Sans JP"/>
              </a:rPr>
              <a:t>中心概算）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2960" y="3049982"/>
            <a:ext cx="85954" cy="114300"/>
          </a:xfrm>
          <a:prstGeom prst="rect">
            <a:avLst/>
          </a:prstGeom>
          <a:ln w="0">
            <a:noFill/>
          </a:ln>
        </p:spPr>
      </p:pic>
      <p:sp>
        <p:nvSpPr>
          <p:cNvPr id="34" name="TextBox 33"/>
          <p:cNvSpPr txBox="1"/>
          <p:nvPr/>
        </p:nvSpPr>
        <p:spPr>
          <a:xfrm>
            <a:off x="6684809" y="3049982"/>
            <a:ext cx="3514953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Apple Silicon (Unified Memory):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6153" y="3302355"/>
            <a:ext cx="2813609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3B</a:t>
            </a:r>
            <a:r>
              <a:rPr sz="1000">
                <a:solidFill>
                  <a:srgbClr val="6E6E73"/>
                </a:solidFill>
                <a:latin typeface="Noto Sans JP"/>
              </a:rPr>
              <a:t>〜</a:t>
            </a:r>
            <a:r>
              <a:rPr sz="1000">
                <a:solidFill>
                  <a:srgbClr val="6E6E73"/>
                </a:solidFill>
                <a:latin typeface="Cambria"/>
              </a:rPr>
              <a:t>7/8B</a:t>
            </a:r>
            <a:r>
              <a:rPr sz="1000">
                <a:solidFill>
                  <a:srgbClr val="6E6E73"/>
                </a:solidFill>
                <a:latin typeface="Noto Sans JP"/>
              </a:rPr>
              <a:t>級（インタラクティブ）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13409" y="3302355"/>
            <a:ext cx="409650" cy="200253"/>
          </a:xfrm>
          <a:prstGeom prst="rect">
            <a:avLst/>
          </a:prstGeom>
          <a:ln w="0">
            <a:noFill/>
          </a:ln>
        </p:spPr>
      </p:pic>
      <p:sp>
        <p:nvSpPr>
          <p:cNvPr id="37" name="TextBox 36"/>
          <p:cNvSpPr txBox="1"/>
          <p:nvPr/>
        </p:nvSpPr>
        <p:spPr>
          <a:xfrm>
            <a:off x="6913409" y="3302355"/>
            <a:ext cx="409650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1B5E20"/>
                </a:solidFill>
                <a:latin typeface="Cambria"/>
              </a:rPr>
              <a:t>16GB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60804" y="3540100"/>
            <a:ext cx="2638958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7B</a:t>
            </a:r>
            <a:r>
              <a:rPr sz="1000">
                <a:solidFill>
                  <a:srgbClr val="6E6E73"/>
                </a:solidFill>
                <a:latin typeface="Noto Sans JP"/>
              </a:rPr>
              <a:t>〜</a:t>
            </a:r>
            <a:r>
              <a:rPr sz="1000">
                <a:solidFill>
                  <a:srgbClr val="6E6E73"/>
                </a:solidFill>
                <a:latin typeface="Cambria"/>
              </a:rPr>
              <a:t>14B</a:t>
            </a:r>
            <a:r>
              <a:rPr sz="1000">
                <a:solidFill>
                  <a:srgbClr val="6E6E73"/>
                </a:solidFill>
                <a:latin typeface="Noto Sans JP"/>
              </a:rPr>
              <a:t>級（業務実用・</a:t>
            </a:r>
            <a:r>
              <a:rPr sz="1000">
                <a:solidFill>
                  <a:srgbClr val="6E6E73"/>
                </a:solidFill>
                <a:latin typeface="Cambria"/>
              </a:rPr>
              <a:t>RAG</a:t>
            </a:r>
            <a:r>
              <a:rPr sz="1000">
                <a:solidFill>
                  <a:srgbClr val="6E6E73"/>
                </a:solidFill>
                <a:latin typeface="Noto Sans JP"/>
              </a:rPr>
              <a:t>最小ライン）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3409" y="3540100"/>
            <a:ext cx="580644" cy="200253"/>
          </a:xfrm>
          <a:prstGeom prst="rect">
            <a:avLst/>
          </a:prstGeom>
          <a:ln w="0">
            <a:noFill/>
          </a:ln>
        </p:spPr>
      </p:pic>
      <p:sp>
        <p:nvSpPr>
          <p:cNvPr id="40" name="TextBox 39"/>
          <p:cNvSpPr txBox="1"/>
          <p:nvPr/>
        </p:nvSpPr>
        <p:spPr>
          <a:xfrm>
            <a:off x="6913409" y="3540100"/>
            <a:ext cx="581558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1B5E20"/>
                </a:solidFill>
                <a:latin typeface="Cambria"/>
              </a:rPr>
              <a:t>24-32GB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905" y="3777844"/>
            <a:ext cx="2823667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14B</a:t>
            </a:r>
            <a:r>
              <a:rPr sz="1000">
                <a:solidFill>
                  <a:srgbClr val="6E6E73"/>
                </a:solidFill>
                <a:latin typeface="Noto Sans JP"/>
              </a:rPr>
              <a:t>〜</a:t>
            </a:r>
            <a:r>
              <a:rPr sz="1000">
                <a:solidFill>
                  <a:srgbClr val="6E6E73"/>
                </a:solidFill>
                <a:latin typeface="Cambria"/>
              </a:rPr>
              <a:t>32B</a:t>
            </a:r>
            <a:r>
              <a:rPr sz="1000">
                <a:solidFill>
                  <a:srgbClr val="6E6E73"/>
                </a:solidFill>
                <a:latin typeface="Noto Sans JP"/>
              </a:rPr>
              <a:t>級以上（高品質・長文要約可）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3409" y="3777844"/>
            <a:ext cx="476402" cy="200253"/>
          </a:xfrm>
          <a:prstGeom prst="rect">
            <a:avLst/>
          </a:prstGeom>
          <a:ln w="0">
            <a:noFill/>
          </a:ln>
        </p:spPr>
      </p:pic>
      <p:sp>
        <p:nvSpPr>
          <p:cNvPr id="43" name="TextBox 42"/>
          <p:cNvSpPr txBox="1"/>
          <p:nvPr/>
        </p:nvSpPr>
        <p:spPr>
          <a:xfrm>
            <a:off x="6913409" y="3777844"/>
            <a:ext cx="476402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1B5E20"/>
                </a:solidFill>
                <a:latin typeface="Cambria"/>
              </a:rPr>
              <a:t>64GB+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2960" y="4073195"/>
            <a:ext cx="105155" cy="114300"/>
          </a:xfrm>
          <a:prstGeom prst="rect">
            <a:avLst/>
          </a:prstGeom>
          <a:ln w="0">
            <a:noFill/>
          </a:ln>
        </p:spPr>
      </p:pic>
      <p:sp>
        <p:nvSpPr>
          <p:cNvPr id="45" name="TextBox 44"/>
          <p:cNvSpPr txBox="1"/>
          <p:nvPr/>
        </p:nvSpPr>
        <p:spPr>
          <a:xfrm>
            <a:off x="6704010" y="4073195"/>
            <a:ext cx="3191255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Windows (Discrete GPU):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77847" y="4325570"/>
            <a:ext cx="2293315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7B</a:t>
            </a:r>
            <a:r>
              <a:rPr sz="1000">
                <a:solidFill>
                  <a:srgbClr val="6E6E73"/>
                </a:solidFill>
                <a:latin typeface="Noto Sans JP"/>
              </a:rPr>
              <a:t>級（最小ライン）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32610" y="4325570"/>
            <a:ext cx="685800" cy="200253"/>
          </a:xfrm>
          <a:prstGeom prst="rect">
            <a:avLst/>
          </a:prstGeom>
          <a:ln w="0">
            <a:noFill/>
          </a:ln>
        </p:spPr>
      </p:pic>
      <p:sp>
        <p:nvSpPr>
          <p:cNvPr id="48" name="TextBox 47"/>
          <p:cNvSpPr txBox="1"/>
          <p:nvPr/>
        </p:nvSpPr>
        <p:spPr>
          <a:xfrm>
            <a:off x="6932610" y="4325570"/>
            <a:ext cx="685800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1B5E20"/>
                </a:solidFill>
                <a:latin typeface="Cambria"/>
              </a:rPr>
              <a:t>VRAM 8GB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18334" y="4564228"/>
            <a:ext cx="1976933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14B</a:t>
            </a:r>
            <a:r>
              <a:rPr sz="1000">
                <a:solidFill>
                  <a:srgbClr val="6E6E73"/>
                </a:solidFill>
                <a:latin typeface="Noto Sans JP"/>
              </a:rPr>
              <a:t>級〜</a:t>
            </a:r>
            <a:r>
              <a:rPr sz="1000">
                <a:solidFill>
                  <a:srgbClr val="6E6E73"/>
                </a:solidFill>
                <a:latin typeface="Cambria"/>
              </a:rPr>
              <a:t>27B</a:t>
            </a:r>
            <a:r>
              <a:rPr sz="1000">
                <a:solidFill>
                  <a:srgbClr val="6E6E73"/>
                </a:solidFill>
                <a:latin typeface="Noto Sans JP"/>
              </a:rPr>
              <a:t>級（品質寄り）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32610" y="4564228"/>
            <a:ext cx="923544" cy="200253"/>
          </a:xfrm>
          <a:prstGeom prst="rect">
            <a:avLst/>
          </a:prstGeom>
          <a:ln w="0">
            <a:noFill/>
          </a:ln>
        </p:spPr>
      </p:pic>
      <p:sp>
        <p:nvSpPr>
          <p:cNvPr id="51" name="TextBox 50"/>
          <p:cNvSpPr txBox="1"/>
          <p:nvPr/>
        </p:nvSpPr>
        <p:spPr>
          <a:xfrm>
            <a:off x="6932610" y="4564228"/>
            <a:ext cx="924458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1B5E20"/>
                </a:solidFill>
                <a:latin typeface="Cambria"/>
              </a:rPr>
              <a:t>VRAM 12-16GB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44598" y="4801972"/>
            <a:ext cx="2226563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32-34B</a:t>
            </a:r>
            <a:r>
              <a:rPr sz="1000">
                <a:solidFill>
                  <a:srgbClr val="6E6E73"/>
                </a:solidFill>
                <a:latin typeface="Noto Sans JP"/>
              </a:rPr>
              <a:t>級・重い画像生成が実務域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2610" y="4801972"/>
            <a:ext cx="752550" cy="200253"/>
          </a:xfrm>
          <a:prstGeom prst="rect">
            <a:avLst/>
          </a:prstGeom>
          <a:ln w="0">
            <a:noFill/>
          </a:ln>
        </p:spPr>
      </p:pic>
      <p:sp>
        <p:nvSpPr>
          <p:cNvPr id="54" name="TextBox 53"/>
          <p:cNvSpPr txBox="1"/>
          <p:nvPr/>
        </p:nvSpPr>
        <p:spPr>
          <a:xfrm>
            <a:off x="6932610" y="4801972"/>
            <a:ext cx="752550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1B5E20"/>
                </a:solidFill>
                <a:latin typeface="Cambria"/>
              </a:rPr>
              <a:t>VRAM 24GB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22960" y="5097323"/>
            <a:ext cx="133502" cy="114300"/>
          </a:xfrm>
          <a:prstGeom prst="rect">
            <a:avLst/>
          </a:prstGeom>
          <a:ln w="0">
            <a:noFill/>
          </a:ln>
        </p:spPr>
      </p:pic>
      <p:sp>
        <p:nvSpPr>
          <p:cNvPr id="56" name="TextBox 55"/>
          <p:cNvSpPr txBox="1"/>
          <p:nvPr/>
        </p:nvSpPr>
        <p:spPr>
          <a:xfrm>
            <a:off x="6732357" y="5097323"/>
            <a:ext cx="3343960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Windows CPU-only: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69286" y="5349698"/>
            <a:ext cx="2307030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7B</a:t>
            </a:r>
            <a:r>
              <a:rPr sz="1000">
                <a:solidFill>
                  <a:srgbClr val="6E6E73"/>
                </a:solidFill>
                <a:latin typeface="Noto Sans JP"/>
              </a:rPr>
              <a:t>級が「使える」境界（</a:t>
            </a:r>
            <a:r>
              <a:rPr sz="1000">
                <a:solidFill>
                  <a:srgbClr val="6E6E73"/>
                </a:solidFill>
                <a:latin typeface="Cambria"/>
              </a:rPr>
              <a:t>AVX</a:t>
            </a:r>
            <a:r>
              <a:rPr sz="1000">
                <a:solidFill>
                  <a:srgbClr val="6E6E73"/>
                </a:solidFill>
                <a:latin typeface="Noto Sans JP"/>
              </a:rPr>
              <a:t>活用）。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60957" y="5349698"/>
            <a:ext cx="743407" cy="200253"/>
          </a:xfrm>
          <a:prstGeom prst="rect">
            <a:avLst/>
          </a:prstGeom>
          <a:ln w="0">
            <a:noFill/>
          </a:ln>
        </p:spPr>
      </p:pic>
      <p:sp>
        <p:nvSpPr>
          <p:cNvPr id="59" name="TextBox 58"/>
          <p:cNvSpPr txBox="1"/>
          <p:nvPr/>
        </p:nvSpPr>
        <p:spPr>
          <a:xfrm>
            <a:off x="6960957" y="5349698"/>
            <a:ext cx="743407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1B5E20"/>
                </a:solidFill>
                <a:latin typeface="Cambria"/>
              </a:rPr>
              <a:t>32GB RAM+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1150" y="6200546"/>
            <a:ext cx="152705" cy="152705"/>
          </a:xfrm>
          <a:prstGeom prst="rect">
            <a:avLst/>
          </a:prstGeom>
          <a:ln w="0">
            <a:noFill/>
          </a:ln>
        </p:spPr>
      </p:pic>
      <p:sp>
        <p:nvSpPr>
          <p:cNvPr id="61" name="TextBox 60"/>
          <p:cNvSpPr txBox="1"/>
          <p:nvPr/>
        </p:nvSpPr>
        <p:spPr>
          <a:xfrm>
            <a:off x="1228954" y="6200546"/>
            <a:ext cx="10972800" cy="1527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>
                <a:solidFill>
                  <a:srgbClr val="78350F"/>
                </a:solidFill>
                <a:latin typeface="Noto Sans JP"/>
              </a:rPr>
              <a:t>上記は重み（</a:t>
            </a:r>
            <a:r>
              <a:rPr sz="1000">
                <a:solidFill>
                  <a:srgbClr val="78350F"/>
                </a:solidFill>
                <a:latin typeface="Cambria"/>
              </a:rPr>
              <a:t>weight-only</a:t>
            </a:r>
            <a:r>
              <a:rPr sz="1000">
                <a:solidFill>
                  <a:srgbClr val="78350F"/>
                </a:solidFill>
                <a:latin typeface="Noto Sans JP"/>
              </a:rPr>
              <a:t>）の概算です。長文（</a:t>
            </a:r>
            <a:r>
              <a:rPr sz="1000">
                <a:solidFill>
                  <a:srgbClr val="78350F"/>
                </a:solidFill>
                <a:latin typeface="Cambria"/>
              </a:rPr>
              <a:t>Long Context</a:t>
            </a:r>
            <a:r>
              <a:rPr sz="1000">
                <a:solidFill>
                  <a:srgbClr val="78350F"/>
                </a:solidFill>
                <a:latin typeface="Noto Sans JP"/>
              </a:rPr>
              <a:t>）を扱う場合、</a:t>
            </a:r>
            <a:r>
              <a:rPr sz="1000">
                <a:solidFill>
                  <a:srgbClr val="78350F"/>
                </a:solidFill>
                <a:latin typeface="Cambria"/>
              </a:rPr>
              <a:t>KV</a:t>
            </a:r>
            <a:r>
              <a:rPr sz="1000">
                <a:solidFill>
                  <a:srgbClr val="78350F"/>
                </a:solidFill>
                <a:latin typeface="Noto Sans JP"/>
              </a:rPr>
              <a:t>キャッシュがメモリを線形に圧迫するため、別途</a:t>
            </a:r>
            <a:r>
              <a:rPr sz="1000">
                <a:solidFill>
                  <a:srgbClr val="78350F"/>
                </a:solidFill>
                <a:latin typeface="Cambria"/>
              </a:rPr>
              <a:t>KV</a:t>
            </a:r>
            <a:r>
              <a:rPr sz="1000">
                <a:solidFill>
                  <a:srgbClr val="78350F"/>
                </a:solidFill>
                <a:latin typeface="Noto Sans JP"/>
              </a:rPr>
              <a:t>量子化やコンテキスト長制限（</a:t>
            </a:r>
            <a:r>
              <a:rPr sz="1000">
                <a:solidFill>
                  <a:srgbClr val="78350F"/>
                </a:solidFill>
                <a:latin typeface="Cambria"/>
              </a:rPr>
              <a:t>4k/8k</a:t>
            </a:r>
            <a:r>
              <a:rPr sz="1000">
                <a:solidFill>
                  <a:srgbClr val="78350F"/>
                </a:solidFill>
                <a:latin typeface="Noto Sans JP"/>
              </a:rPr>
              <a:t>等）の設計が必要です。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5532" y="571500"/>
            <a:ext cx="304495" cy="304494"/>
          </a:xfrm>
          <a:prstGeom prst="rect">
            <a:avLst/>
          </a:prstGeom>
          <a:ln w="0">
            <a:noFill/>
          </a:ln>
        </p:spPr>
      </p:pic>
      <p:sp>
        <p:nvSpPr>
          <p:cNvPr id="63" name="TextBox 62"/>
          <p:cNvSpPr txBox="1"/>
          <p:nvPr/>
        </p:nvSpPr>
        <p:spPr>
          <a:xfrm>
            <a:off x="914400" y="495605"/>
            <a:ext cx="4620463" cy="4572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エグゼクティブサマリ（詳細</a:t>
            </a:r>
            <a:r>
              <a:rPr sz="2400" b="1">
                <a:solidFill>
                  <a:srgbClr val="1D1D1F"/>
                </a:solidFill>
                <a:latin typeface="Cambria"/>
              </a:rPr>
              <a:t>2</a:t>
            </a:r>
            <a:r>
              <a:rPr sz="2400" b="1">
                <a:solidFill>
                  <a:srgbClr val="1D1D1F"/>
                </a:solidFill>
                <a:latin typeface="Noto Sans JP"/>
              </a:rPr>
              <a:t>）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5" y="1032380"/>
            <a:ext cx="12191695" cy="914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  <a:ln w="0">
            <a:noFill/>
          </a:ln>
        </p:spPr>
      </p:pic>
      <p:sp>
        <p:nvSpPr>
          <p:cNvPr id="66" name="TextBox 65"/>
          <p:cNvSpPr txBox="1"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3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467551"/>
            <a:ext cx="1219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84878" y="2670105"/>
            <a:ext cx="3638398" cy="3710145"/>
          </a:xfrm>
          <a:prstGeom prst="rect">
            <a:avLst/>
          </a:prstGeom>
          <a:ln w="12700">
            <a:solidFill>
              <a:srgbClr val="E5E5E5"/>
            </a:solidFill>
          </a:ln>
          <a:noFill/>
        </p:spPr>
        <p:txBody>
          <a:bodyPr wrap="square" lIns="0" rIns="0" tIns="0" bIns="0">
            <a:no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110703" y="2667523"/>
            <a:ext cx="3638397" cy="3710145"/>
          </a:xfrm>
          <a:prstGeom prst="rect">
            <a:avLst/>
          </a:prstGeom>
          <a:ln w="12700">
            <a:solidFill>
              <a:srgbClr val="E5E5E5"/>
            </a:solidFill>
          </a:ln>
          <a:noFill/>
        </p:spPr>
        <p:txBody>
          <a:bodyPr wrap="square" lIns="0" rIns="0" tIns="0" bIns="0">
            <a:noAutofit/>
          </a:bodyPr>
          <a:lstStyle/>
          <a:p/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5459587"/>
            <a:ext cx="3238805" cy="517869"/>
          </a:xfrm>
          <a:prstGeom prst="rect">
            <a:avLst/>
          </a:prstGeom>
          <a:ln w="0"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8302752" y="5482698"/>
            <a:ext cx="3238805" cy="49299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LLM</a:t>
            </a:r>
            <a:r>
              <a:rPr sz="1100">
                <a:solidFill>
                  <a:srgbClr val="1D1D1F"/>
                </a:solidFill>
                <a:latin typeface="Noto Sans JP"/>
              </a:rPr>
              <a:t>自体を軽くし、検索精度で補う生成タスクを</a:t>
            </a:r>
          </a:p>
          <a:p>
            <a:pPr algn="ctr"/>
            <a:r>
              <a:rPr sz="1100">
                <a:solidFill>
                  <a:srgbClr val="1D1D1F"/>
                </a:solidFill>
                <a:latin typeface="Noto Sans JP"/>
              </a:rPr>
              <a:t>限定する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810" y="4658530"/>
            <a:ext cx="3238805" cy="517869"/>
          </a:xfrm>
          <a:prstGeom prst="rect">
            <a:avLst/>
          </a:prstGeom>
          <a:ln w="0"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8312810" y="4656671"/>
            <a:ext cx="3238805" cy="519727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Noto Sans JP"/>
              </a:rPr>
              <a:t>短いコンテキストで完結させる</a:t>
            </a:r>
            <a:r>
              <a:rPr sz="1100">
                <a:solidFill>
                  <a:srgbClr val="1D1D1F"/>
                </a:solidFill>
                <a:latin typeface="Cambria"/>
              </a:rPr>
              <a:t>RAG</a:t>
            </a:r>
            <a:r>
              <a:rPr sz="1100">
                <a:solidFill>
                  <a:srgbClr val="1D1D1F"/>
                </a:solidFill>
                <a:latin typeface="Noto Sans JP"/>
              </a:rPr>
              <a:t>は</a:t>
            </a:r>
          </a:p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Embedding</a:t>
            </a:r>
            <a:r>
              <a:rPr sz="1100">
                <a:solidFill>
                  <a:srgbClr val="1D1D1F"/>
                </a:solidFill>
                <a:latin typeface="Noto Sans JP"/>
              </a:rPr>
              <a:t>検索を重視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740" y="3416831"/>
            <a:ext cx="3238805" cy="352043"/>
          </a:xfrm>
          <a:prstGeom prst="rect">
            <a:avLst/>
          </a:prstGeom>
          <a:ln w="0">
            <a:noFill/>
          </a:ln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645" y="3417201"/>
            <a:ext cx="3238804" cy="352043"/>
          </a:xfrm>
          <a:prstGeom prst="rect">
            <a:avLst/>
          </a:prstGeom>
          <a:ln w="0"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4477817" y="3198158"/>
            <a:ext cx="3353104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Target HW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1887" y="1312153"/>
            <a:ext cx="11221662" cy="790509"/>
          </a:xfrm>
          <a:prstGeom prst="rect">
            <a:avLst/>
          </a:prstGeom>
          <a:solidFill>
            <a:srgbClr val="F0F9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8450" y="1311250"/>
            <a:ext cx="49716" cy="791160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532" y="204825"/>
            <a:ext cx="3353105" cy="2578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推奨スタック</a:t>
            </a:r>
            <a:r>
              <a:rPr sz="1000">
                <a:solidFill>
                  <a:srgbClr val="86868B"/>
                </a:solidFill>
                <a:latin typeface="Cambria"/>
              </a:rPr>
              <a:t>3</a:t>
            </a:r>
            <a:r>
              <a:rPr sz="1000">
                <a:solidFill>
                  <a:srgbClr val="86868B"/>
                </a:solidFill>
                <a:latin typeface="Noto Sans JP"/>
              </a:rPr>
              <a:t>パターン（</a:t>
            </a:r>
            <a:r>
              <a:rPr sz="1000">
                <a:solidFill>
                  <a:srgbClr val="86868B"/>
                </a:solidFill>
                <a:latin typeface="Cambria"/>
              </a:rPr>
              <a:t>Tier</a:t>
            </a:r>
            <a:r>
              <a:rPr sz="1000">
                <a:solidFill>
                  <a:srgbClr val="86868B"/>
                </a:solidFill>
                <a:latin typeface="Noto Sans JP"/>
              </a:rPr>
              <a:t>別構成案）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428522"/>
            <a:ext cx="10840212" cy="57149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b="1">
                <a:solidFill>
                  <a:srgbClr val="1D1D1F"/>
                </a:solidFill>
                <a:latin typeface="Cambria"/>
              </a:rPr>
              <a:t> </a:t>
            </a:r>
            <a:r>
              <a:rPr b="1">
                <a:solidFill>
                  <a:srgbClr val="1D1D1F"/>
                </a:solidFill>
                <a:latin typeface="Noto Sans JP"/>
              </a:rPr>
              <a:t>結論：用途とリソースに応じて「低コスト／高品質／ハード制約」の</a:t>
            </a:r>
            <a:r>
              <a:rPr b="1">
                <a:solidFill>
                  <a:srgbClr val="1D1D1F"/>
                </a:solidFill>
                <a:latin typeface="Cambria"/>
              </a:rPr>
              <a:t>3</a:t>
            </a:r>
            <a:r>
              <a:rPr b="1">
                <a:solidFill>
                  <a:srgbClr val="1D1D1F"/>
                </a:solidFill>
                <a:latin typeface="Noto Sans JP"/>
              </a:rPr>
              <a:t>構成を選択します。</a:t>
            </a:r>
          </a:p>
          <a:p>
            <a:pPr algn="l"/>
            <a:r>
              <a:rPr sz="1400" b="1">
                <a:solidFill>
                  <a:srgbClr val="424245"/>
                </a:solidFill>
                <a:latin typeface="Noto Sans JP"/>
              </a:rPr>
              <a:t>※各構成の具体的な失敗モードと回避策は、後述の「ユースケース別推奨スタック」章で詳細に展開します。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70105"/>
            <a:ext cx="3638398" cy="3710145"/>
          </a:xfrm>
          <a:prstGeom prst="rect">
            <a:avLst/>
          </a:prstGeom>
          <a:ln w="12700">
            <a:solidFill>
              <a:srgbClr val="E5E5E5"/>
            </a:solidFill>
          </a:ln>
          <a:noFill/>
        </p:spPr>
        <p:txBody>
          <a:bodyPr wrap="square" lIns="0" rIns="0" tIns="0" bIns="0">
            <a:noAutofit/>
          </a:bodyPr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66344" y="2393074"/>
            <a:ext cx="3619195" cy="609905"/>
          </a:xfrm>
          <a:prstGeom prst="rect">
            <a:avLst/>
          </a:prstGeom>
          <a:solidFill>
            <a:srgbClr val="34C75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01445" y="2545779"/>
            <a:ext cx="304494" cy="30449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422" y="2602472"/>
            <a:ext cx="219455" cy="190194"/>
          </a:xfrm>
          <a:prstGeom prst="rect">
            <a:avLst/>
          </a:prstGeom>
          <a:ln w="0"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1901952" y="2554923"/>
            <a:ext cx="1234439" cy="2862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低コスト構成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4" y="3193174"/>
            <a:ext cx="3353105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Target HW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4" y="3417201"/>
            <a:ext cx="3238805" cy="352043"/>
          </a:xfrm>
          <a:prstGeom prst="rect">
            <a:avLst/>
          </a:prstGeom>
          <a:ln w="0">
            <a:noFill/>
          </a:ln>
        </p:spPr>
      </p:pic>
      <p:sp>
        <p:nvSpPr>
          <p:cNvPr id="23" name="TextBox 22"/>
          <p:cNvSpPr txBox="1"/>
          <p:nvPr/>
        </p:nvSpPr>
        <p:spPr>
          <a:xfrm>
            <a:off x="657454" y="3415499"/>
            <a:ext cx="3238805" cy="33534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CPU</a:t>
            </a:r>
            <a:r>
              <a:rPr sz="1100">
                <a:solidFill>
                  <a:srgbClr val="1D1D1F"/>
                </a:solidFill>
                <a:latin typeface="Noto Sans JP"/>
              </a:rPr>
              <a:t>のみ</a:t>
            </a:r>
            <a:r>
              <a:rPr sz="1100">
                <a:solidFill>
                  <a:srgbClr val="1D1D1F"/>
                </a:solidFill>
                <a:latin typeface="Cambria"/>
              </a:rPr>
              <a:t> / </a:t>
            </a:r>
            <a:r>
              <a:rPr sz="1100">
                <a:solidFill>
                  <a:srgbClr val="1D1D1F"/>
                </a:solidFill>
                <a:latin typeface="Noto Sans JP"/>
              </a:rPr>
              <a:t>エントリー</a:t>
            </a:r>
            <a:r>
              <a:rPr sz="1100">
                <a:solidFill>
                  <a:srgbClr val="1D1D1F"/>
                </a:solidFill>
                <a:latin typeface="Cambria"/>
              </a:rPr>
              <a:t>GPU / Apple 16GB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1" y="3890380"/>
            <a:ext cx="3353105" cy="11064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LLM 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1" y="4520268"/>
            <a:ext cx="3353105" cy="127417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ASR / TTS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4" y="5114579"/>
            <a:ext cx="3353105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RAG / Embedding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4527" y="5933772"/>
            <a:ext cx="1333195" cy="247801"/>
          </a:xfrm>
          <a:prstGeom prst="rect">
            <a:avLst/>
          </a:prstGeom>
          <a:ln w="0">
            <a:noFill/>
          </a:ln>
        </p:spPr>
      </p:pic>
      <p:sp>
        <p:nvSpPr>
          <p:cNvPr id="28" name="TextBox 27"/>
          <p:cNvSpPr txBox="1"/>
          <p:nvPr/>
        </p:nvSpPr>
        <p:spPr>
          <a:xfrm>
            <a:off x="2713983" y="5933772"/>
            <a:ext cx="1114654" cy="24780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Noto Sans JP"/>
              </a:rPr>
              <a:t>最低限の業務自動化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0422" y="6000523"/>
            <a:ext cx="105156" cy="114300"/>
          </a:xfrm>
          <a:prstGeom prst="rect">
            <a:avLst/>
          </a:prstGeom>
          <a:ln w="0">
            <a:noFill/>
          </a:ln>
        </p:spPr>
      </p:pic>
      <p:sp>
        <p:nvSpPr>
          <p:cNvPr id="30" name="Rectangle 29"/>
          <p:cNvSpPr/>
          <p:nvPr/>
        </p:nvSpPr>
        <p:spPr>
          <a:xfrm>
            <a:off x="4289450" y="2393074"/>
            <a:ext cx="3619195" cy="609905"/>
          </a:xfrm>
          <a:prstGeom prst="rect">
            <a:avLst/>
          </a:prstGeom>
          <a:solidFill>
            <a:srgbClr val="007A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419649" y="2545779"/>
            <a:ext cx="304494" cy="30449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2626" y="2602472"/>
            <a:ext cx="219456" cy="190194"/>
          </a:xfrm>
          <a:prstGeom prst="rect">
            <a:avLst/>
          </a:prstGeom>
          <a:ln w="0">
            <a:noFill/>
          </a:ln>
        </p:spPr>
      </p:pic>
      <p:sp>
        <p:nvSpPr>
          <p:cNvPr id="33" name="TextBox 32"/>
          <p:cNvSpPr txBox="1"/>
          <p:nvPr/>
        </p:nvSpPr>
        <p:spPr>
          <a:xfrm>
            <a:off x="5820156" y="2554923"/>
            <a:ext cx="1028700" cy="2862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高品質構成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9646" y="3417201"/>
            <a:ext cx="3238804" cy="35167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GPU</a:t>
            </a:r>
            <a:r>
              <a:rPr sz="1100">
                <a:solidFill>
                  <a:srgbClr val="1D1D1F"/>
                </a:solidFill>
                <a:latin typeface="Noto Sans JP"/>
              </a:rPr>
              <a:t>搭載機</a:t>
            </a:r>
            <a:r>
              <a:rPr sz="1100">
                <a:solidFill>
                  <a:srgbClr val="1D1D1F"/>
                </a:solidFill>
                <a:latin typeface="Cambria"/>
              </a:rPr>
              <a:t> (VRAM 16-24GB+) Apple 64GB+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0040" y="5933772"/>
            <a:ext cx="1447495" cy="247801"/>
          </a:xfrm>
          <a:prstGeom prst="rect">
            <a:avLst/>
          </a:prstGeom>
          <a:ln w="0">
            <a:noFill/>
          </a:ln>
        </p:spPr>
      </p:pic>
      <p:sp>
        <p:nvSpPr>
          <p:cNvPr id="36" name="TextBox 35"/>
          <p:cNvSpPr txBox="1"/>
          <p:nvPr/>
        </p:nvSpPr>
        <p:spPr>
          <a:xfrm>
            <a:off x="6489496" y="5933772"/>
            <a:ext cx="1228954" cy="24780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Noto Sans JP"/>
              </a:rPr>
              <a:t>リッチな体験・高精度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6849" y="6000523"/>
            <a:ext cx="105155" cy="114300"/>
          </a:xfrm>
          <a:prstGeom prst="rect">
            <a:avLst/>
          </a:prstGeom>
          <a:ln w="0">
            <a:noFill/>
          </a:ln>
        </p:spPr>
      </p:pic>
      <p:sp>
        <p:nvSpPr>
          <p:cNvPr id="38" name="Rectangle 37"/>
          <p:cNvSpPr/>
          <p:nvPr/>
        </p:nvSpPr>
        <p:spPr>
          <a:xfrm>
            <a:off x="8112557" y="2393074"/>
            <a:ext cx="3619195" cy="609905"/>
          </a:xfrm>
          <a:prstGeom prst="rect">
            <a:avLst/>
          </a:prstGeom>
          <a:solidFill>
            <a:srgbClr val="FF9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051646" y="2545779"/>
            <a:ext cx="304494" cy="30449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9253" y="2602472"/>
            <a:ext cx="190194" cy="190194"/>
          </a:xfrm>
          <a:prstGeom prst="rect">
            <a:avLst/>
          </a:prstGeom>
          <a:ln w="0">
            <a:noFill/>
          </a:ln>
        </p:spPr>
      </p:pic>
      <p:sp>
        <p:nvSpPr>
          <p:cNvPr id="41" name="TextBox 40"/>
          <p:cNvSpPr txBox="1"/>
          <p:nvPr/>
        </p:nvSpPr>
        <p:spPr>
          <a:xfrm>
            <a:off x="9452153" y="2554923"/>
            <a:ext cx="1440179" cy="2862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ハード制約構成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2752" y="3417201"/>
            <a:ext cx="3238805" cy="35007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Noto Sans JP"/>
              </a:rPr>
              <a:t>低スペック</a:t>
            </a:r>
            <a:r>
              <a:rPr sz="1100">
                <a:solidFill>
                  <a:srgbClr val="1D1D1F"/>
                </a:solidFill>
                <a:latin typeface="Cambria"/>
              </a:rPr>
              <a:t>PC / </a:t>
            </a:r>
            <a:r>
              <a:rPr sz="1100">
                <a:solidFill>
                  <a:srgbClr val="1D1D1F"/>
                </a:solidFill>
                <a:latin typeface="Noto Sans JP"/>
              </a:rPr>
              <a:t>古い</a:t>
            </a:r>
            <a:r>
              <a:rPr sz="1100">
                <a:solidFill>
                  <a:srgbClr val="1D1D1F"/>
                </a:solidFill>
                <a:latin typeface="Cambria"/>
              </a:rPr>
              <a:t>Mac </a:t>
            </a:r>
            <a:r>
              <a:rPr sz="1100">
                <a:solidFill>
                  <a:srgbClr val="1D1D1F"/>
                </a:solidFill>
                <a:latin typeface="Noto Sans JP"/>
              </a:rPr>
              <a:t>メモリ</a:t>
            </a:r>
            <a:r>
              <a:rPr sz="1100">
                <a:solidFill>
                  <a:srgbClr val="1D1D1F"/>
                </a:solidFill>
                <a:latin typeface="Cambria"/>
              </a:rPr>
              <a:t>8GB</a:t>
            </a:r>
            <a:r>
              <a:rPr sz="1100">
                <a:solidFill>
                  <a:srgbClr val="1D1D1F"/>
                </a:solidFill>
                <a:latin typeface="Noto Sans JP"/>
              </a:rPr>
              <a:t>以下等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4461185"/>
            <a:ext cx="3353105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Strategy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3609" y="5264102"/>
            <a:ext cx="3353105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Compromise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1805" y="6077577"/>
            <a:ext cx="1218895" cy="247801"/>
          </a:xfrm>
          <a:prstGeom prst="rect">
            <a:avLst/>
          </a:prstGeom>
          <a:ln w="0">
            <a:noFill/>
          </a:ln>
        </p:spPr>
      </p:pic>
      <p:sp>
        <p:nvSpPr>
          <p:cNvPr id="46" name="TextBox 45"/>
          <p:cNvSpPr txBox="1"/>
          <p:nvPr/>
        </p:nvSpPr>
        <p:spPr>
          <a:xfrm>
            <a:off x="10551261" y="6077577"/>
            <a:ext cx="1000354" cy="24780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Noto Sans JP"/>
              </a:rPr>
              <a:t>極限環境での動作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7700" y="6148900"/>
            <a:ext cx="105155" cy="114300"/>
          </a:xfrm>
          <a:prstGeom prst="rect">
            <a:avLst/>
          </a:prstGeom>
          <a:ln w="0">
            <a:noFill/>
          </a:ln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532" y="571500"/>
            <a:ext cx="304495" cy="304494"/>
          </a:xfrm>
          <a:prstGeom prst="rect">
            <a:avLst/>
          </a:prstGeom>
          <a:ln w="0">
            <a:noFill/>
          </a:ln>
        </p:spPr>
      </p:pic>
      <p:sp>
        <p:nvSpPr>
          <p:cNvPr id="49" name="TextBox 48"/>
          <p:cNvSpPr txBox="1"/>
          <p:nvPr/>
        </p:nvSpPr>
        <p:spPr>
          <a:xfrm>
            <a:off x="914400" y="495605"/>
            <a:ext cx="4620463" cy="4572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エグゼクティブサマリ（詳細</a:t>
            </a:r>
            <a:r>
              <a:rPr sz="2400" b="1">
                <a:solidFill>
                  <a:srgbClr val="1D1D1F"/>
                </a:solidFill>
                <a:latin typeface="Cambria"/>
              </a:rPr>
              <a:t>3</a:t>
            </a:r>
            <a:r>
              <a:rPr sz="2400" b="1">
                <a:solidFill>
                  <a:srgbClr val="1D1D1F"/>
                </a:solidFill>
                <a:latin typeface="Noto Sans JP"/>
              </a:rPr>
              <a:t>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5" y="1032380"/>
            <a:ext cx="12191695" cy="914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90864" y="3193174"/>
            <a:ext cx="3353105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Target HW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8" y="4053077"/>
            <a:ext cx="3238805" cy="352043"/>
          </a:xfrm>
          <a:prstGeom prst="rect">
            <a:avLst/>
          </a:prstGeom>
          <a:ln w="0">
            <a:noFill/>
          </a:ln>
        </p:spPr>
      </p:pic>
      <p:sp>
        <p:nvSpPr>
          <p:cNvPr id="53" name="TextBox 52"/>
          <p:cNvSpPr txBox="1"/>
          <p:nvPr/>
        </p:nvSpPr>
        <p:spPr>
          <a:xfrm>
            <a:off x="657454" y="4058321"/>
            <a:ext cx="3238805" cy="33724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llama.cpp (GGUF Q4/K) Ollama / LM Studio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8" y="4688952"/>
            <a:ext cx="3238805" cy="352044"/>
          </a:xfrm>
          <a:prstGeom prst="rect">
            <a:avLst/>
          </a:prstGeom>
          <a:ln w="0">
            <a:noFill/>
          </a:ln>
        </p:spPr>
      </p:pic>
      <p:sp>
        <p:nvSpPr>
          <p:cNvPr id="55" name="TextBox 54"/>
          <p:cNvSpPr txBox="1"/>
          <p:nvPr/>
        </p:nvSpPr>
        <p:spPr>
          <a:xfrm>
            <a:off x="662941" y="4688952"/>
            <a:ext cx="3238805" cy="35887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faster-whisper (INT8) Piper / Kokoro (</a:t>
            </a:r>
            <a:r>
              <a:rPr sz="1100">
                <a:solidFill>
                  <a:srgbClr val="1D1D1F"/>
                </a:solidFill>
                <a:latin typeface="Noto Sans JP"/>
              </a:rPr>
              <a:t>軽量</a:t>
            </a:r>
            <a:r>
              <a:rPr sz="1100">
                <a:solidFill>
                  <a:srgbClr val="1D1D1F"/>
                </a:solidFill>
                <a:latin typeface="Cambria"/>
              </a:rPr>
              <a:t>)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" y="5327489"/>
            <a:ext cx="3238805" cy="352043"/>
          </a:xfrm>
          <a:prstGeom prst="rect">
            <a:avLst/>
          </a:prstGeom>
          <a:ln w="0">
            <a:noFill/>
          </a:ln>
        </p:spPr>
      </p:pic>
      <p:sp>
        <p:nvSpPr>
          <p:cNvPr id="57" name="TextBox 56"/>
          <p:cNvSpPr txBox="1"/>
          <p:nvPr/>
        </p:nvSpPr>
        <p:spPr>
          <a:xfrm>
            <a:off x="656538" y="5324827"/>
            <a:ext cx="3238805" cy="34425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BGE-M3 (</a:t>
            </a:r>
            <a:r>
              <a:rPr sz="1100">
                <a:solidFill>
                  <a:srgbClr val="1D1D1F"/>
                </a:solidFill>
                <a:latin typeface="Noto Sans JP"/>
              </a:rPr>
              <a:t>多言語・多用途</a:t>
            </a:r>
            <a:r>
              <a:rPr sz="1100">
                <a:solidFill>
                  <a:srgbClr val="1D1D1F"/>
                </a:solidFill>
                <a:latin typeface="Cambria"/>
              </a:rPr>
              <a:t>) bge-reranker-base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93363" y="3887665"/>
            <a:ext cx="3353105" cy="11064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LLM Runtime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93363" y="4517553"/>
            <a:ext cx="3353105" cy="127417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ASR / TTS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7876" y="5111864"/>
            <a:ext cx="3353105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RAG /VLM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960" y="4050361"/>
            <a:ext cx="3238804" cy="352044"/>
          </a:xfrm>
          <a:prstGeom prst="rect">
            <a:avLst/>
          </a:prstGeom>
          <a:ln w="0">
            <a:noFill/>
          </a:ln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960" y="4686237"/>
            <a:ext cx="3238804" cy="352044"/>
          </a:xfrm>
          <a:prstGeom prst="rect">
            <a:avLst/>
          </a:prstGeom>
          <a:ln w="0">
            <a:noFill/>
          </a:ln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817" y="5324774"/>
            <a:ext cx="3238804" cy="352043"/>
          </a:xfrm>
          <a:prstGeom prst="rect">
            <a:avLst/>
          </a:prstGeom>
          <a:ln w="0">
            <a:noFill/>
          </a:ln>
        </p:spPr>
      </p:pic>
      <p:sp>
        <p:nvSpPr>
          <p:cNvPr id="64" name="TextBox 63"/>
          <p:cNvSpPr txBox="1"/>
          <p:nvPr/>
        </p:nvSpPr>
        <p:spPr>
          <a:xfrm>
            <a:off x="8318297" y="3870642"/>
            <a:ext cx="3353105" cy="11064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LLM Runtime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895" y="4033339"/>
            <a:ext cx="3238805" cy="352043"/>
          </a:xfrm>
          <a:prstGeom prst="rect">
            <a:avLst/>
          </a:prstGeom>
          <a:ln w="0">
            <a:noFill/>
          </a:ln>
        </p:spPr>
      </p:pic>
      <p:sp>
        <p:nvSpPr>
          <p:cNvPr id="66" name="TextBox 65"/>
          <p:cNvSpPr txBox="1"/>
          <p:nvPr/>
        </p:nvSpPr>
        <p:spPr>
          <a:xfrm>
            <a:off x="4476597" y="4049599"/>
            <a:ext cx="3238804" cy="35204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GPU</a:t>
            </a:r>
            <a:r>
              <a:rPr sz="1100">
                <a:solidFill>
                  <a:srgbClr val="1D1D1F"/>
                </a:solidFill>
                <a:latin typeface="Noto Sans JP"/>
              </a:rPr>
              <a:t>優先</a:t>
            </a:r>
            <a:r>
              <a:rPr sz="1100">
                <a:solidFill>
                  <a:srgbClr val="1D1D1F"/>
                </a:solidFill>
                <a:latin typeface="Cambria"/>
              </a:rPr>
              <a:t> (TensorRT-LLM / vLLM) 32B</a:t>
            </a:r>
            <a:r>
              <a:rPr sz="1100">
                <a:solidFill>
                  <a:srgbClr val="1D1D1F"/>
                </a:solidFill>
                <a:latin typeface="Noto Sans JP"/>
              </a:rPr>
              <a:t>〜</a:t>
            </a:r>
            <a:r>
              <a:rPr sz="1100">
                <a:solidFill>
                  <a:srgbClr val="1D1D1F"/>
                </a:solidFill>
                <a:latin typeface="Cambria"/>
              </a:rPr>
              <a:t>70B</a:t>
            </a:r>
            <a:r>
              <a:rPr sz="1100">
                <a:solidFill>
                  <a:srgbClr val="1D1D1F"/>
                </a:solidFill>
                <a:latin typeface="Noto Sans JP"/>
              </a:rPr>
              <a:t>級モデル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73316" y="4688952"/>
            <a:ext cx="3238805" cy="352044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faster-whisper (GPU) XTTS / StyleTTS2 (</a:t>
            </a:r>
            <a:r>
              <a:rPr sz="1100">
                <a:solidFill>
                  <a:srgbClr val="1D1D1F"/>
                </a:solidFill>
                <a:latin typeface="Noto Sans JP"/>
              </a:rPr>
              <a:t>高品質</a:t>
            </a:r>
            <a:r>
              <a:rPr sz="1100">
                <a:solidFill>
                  <a:srgbClr val="1D1D1F"/>
                </a:solidFill>
                <a:latin typeface="Cambria"/>
              </a:rPr>
              <a:t>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73316" y="5334974"/>
            <a:ext cx="3238805" cy="352044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bge-reranker-large Qwen2-VL 7B / InternVL2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02752" y="4047632"/>
            <a:ext cx="3238805" cy="33305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Phi-3 mini (3.8B) </a:t>
            </a:r>
            <a:r>
              <a:rPr sz="1100">
                <a:solidFill>
                  <a:srgbClr val="1D1D1F"/>
                </a:solidFill>
                <a:latin typeface="Noto Sans JP"/>
              </a:rPr>
              <a:t>等</a:t>
            </a:r>
            <a:r>
              <a:rPr sz="1100">
                <a:solidFill>
                  <a:srgbClr val="1D1D1F"/>
                </a:solidFill>
                <a:latin typeface="Cambria"/>
              </a:rPr>
              <a:t> GGUF Q4 (</a:t>
            </a:r>
            <a:r>
              <a:rPr sz="1100">
                <a:solidFill>
                  <a:srgbClr val="1D1D1F"/>
                </a:solidFill>
                <a:latin typeface="Noto Sans JP"/>
              </a:rPr>
              <a:t>極小モデル</a:t>
            </a:r>
            <a:r>
              <a:rPr sz="1100">
                <a:solidFill>
                  <a:srgbClr val="1D1D1F"/>
                </a:solidFill>
                <a:latin typeface="Cambria"/>
              </a:rPr>
              <a:t>)</a:t>
            </a:r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  <a:ln w="0">
            <a:noFill/>
          </a:ln>
        </p:spPr>
      </p:pic>
      <p:sp>
        <p:nvSpPr>
          <p:cNvPr id="71" name="TextBox 70"/>
          <p:cNvSpPr txBox="1"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4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467551"/>
            <a:ext cx="1219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