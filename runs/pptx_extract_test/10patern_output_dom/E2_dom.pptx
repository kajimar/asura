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1" y="235458"/>
            <a:ext cx="2436876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Cambria"/>
              </a:rPr>
              <a:t>Local AI Technical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306" y="488746"/>
            <a:ext cx="2436876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目次</a:t>
            </a:r>
            <a:r>
              <a:rPr sz="2400" b="1">
                <a:solidFill>
                  <a:srgbClr val="1D1D1F"/>
                </a:solidFill>
                <a:latin typeface="Cambria"/>
              </a:rPr>
              <a:t>（Agenda）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3844" y="740110"/>
            <a:ext cx="1281074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>
                <a:solidFill>
                  <a:srgbClr val="86868B"/>
                </a:solidFill>
                <a:latin typeface="Cambria"/>
              </a:rPr>
              <a:t>Total 13 Chapters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542" y="1250165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441" y="1250165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タイトル／目的／読み方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441" y="1475107"/>
            <a:ext cx="5048402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レポートの目的と、概要→詳細の二層構造の活用方法。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542" y="2006373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441" y="2006373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エグゼクティブサマリ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441" y="2231316"/>
            <a:ext cx="5048402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実務要点、中核技術、推奨スタックの概要を提示。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542" y="276349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441" y="2763497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1600" b="1">
                <a:solidFill>
                  <a:srgbClr val="1D1D1F"/>
                </a:solidFill>
                <a:latin typeface="Cambria"/>
              </a:rPr>
              <a:t>AI</a:t>
            </a:r>
            <a:r>
              <a:rPr sz="1600" b="1">
                <a:solidFill>
                  <a:srgbClr val="1D1D1F"/>
                </a:solidFill>
                <a:latin typeface="Noto Sans JP"/>
              </a:rPr>
              <a:t>の定義・前提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441" y="2988439"/>
            <a:ext cx="5048402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オンデバイス／ローカル</a:t>
            </a:r>
            <a:r>
              <a:rPr sz="1050">
                <a:solidFill>
                  <a:srgbClr val="6E6E73"/>
                </a:solidFill>
                <a:latin typeface="Cambria"/>
              </a:rPr>
              <a:t>LAN</a:t>
            </a:r>
            <a:r>
              <a:rPr sz="1050">
                <a:solidFill>
                  <a:srgbClr val="6E6E73"/>
                </a:solidFill>
                <a:latin typeface="Noto Sans JP"/>
              </a:rPr>
              <a:t>推論の定義と範囲。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542" y="351970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441" y="3519704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1600" b="1">
                <a:solidFill>
                  <a:srgbClr val="1D1D1F"/>
                </a:solidFill>
                <a:latin typeface="Cambria"/>
              </a:rPr>
              <a:t>AI</a:t>
            </a:r>
            <a:r>
              <a:rPr sz="1600" b="1">
                <a:solidFill>
                  <a:srgbClr val="1D1D1F"/>
                </a:solidFill>
                <a:latin typeface="Noto Sans JP"/>
              </a:rPr>
              <a:t>ランドスケープ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441" y="3744648"/>
            <a:ext cx="5048402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LLM</a:t>
            </a:r>
            <a:r>
              <a:rPr sz="1050">
                <a:solidFill>
                  <a:srgbClr val="6E6E73"/>
                </a:solidFill>
                <a:latin typeface="Noto Sans JP"/>
              </a:rPr>
              <a:t>から</a:t>
            </a:r>
            <a:r>
              <a:rPr sz="1050">
                <a:solidFill>
                  <a:srgbClr val="6E6E73"/>
                </a:solidFill>
                <a:latin typeface="Cambria"/>
              </a:rPr>
              <a:t>Agent</a:t>
            </a:r>
            <a:r>
              <a:rPr sz="1050">
                <a:solidFill>
                  <a:srgbClr val="6E6E73"/>
                </a:solidFill>
                <a:latin typeface="Noto Sans JP"/>
              </a:rPr>
              <a:t>まで、技術スタックの全体像を図解。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542" y="427591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441" y="4275914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特徴軸（評価軸）の定義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441" y="4500857"/>
            <a:ext cx="5048402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指示追従、</a:t>
            </a:r>
            <a:r>
              <a:rPr sz="1050">
                <a:solidFill>
                  <a:srgbClr val="6E6E73"/>
                </a:solidFill>
                <a:latin typeface="Cambria"/>
              </a:rPr>
              <a:t>JSON</a:t>
            </a:r>
            <a:r>
              <a:rPr sz="1050">
                <a:solidFill>
                  <a:srgbClr val="6E6E73"/>
                </a:solidFill>
                <a:latin typeface="Noto Sans JP"/>
              </a:rPr>
              <a:t>堅牢性、メモリ効率などの評価基準。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542" y="503303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41" y="5033037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カテゴリ別モデルカタログ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441" y="5257980"/>
            <a:ext cx="4972507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LLM/VLM/ASR/TTS</a:t>
            </a:r>
            <a:r>
              <a:rPr sz="1050">
                <a:solidFill>
                  <a:srgbClr val="6E6E73"/>
                </a:solidFill>
                <a:latin typeface="Noto Sans JP"/>
              </a:rPr>
              <a:t>等の代表モデルと採用判断。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542" y="5789246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441" y="5789246"/>
            <a:ext cx="5048402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メモリ設計のコア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441" y="6014189"/>
            <a:ext cx="5048402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重み理論値、</a:t>
            </a:r>
            <a:r>
              <a:rPr sz="1050">
                <a:solidFill>
                  <a:srgbClr val="6E6E73"/>
                </a:solidFill>
                <a:latin typeface="Cambria"/>
              </a:rPr>
              <a:t>KV</a:t>
            </a:r>
            <a:r>
              <a:rPr sz="1050">
                <a:solidFill>
                  <a:srgbClr val="6E6E73"/>
                </a:solidFill>
                <a:latin typeface="Noto Sans JP"/>
              </a:rPr>
              <a:t>キャッシュ、最適化技術の詳解。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0640" y="1250165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3540" y="1250165"/>
            <a:ext cx="5048401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Cambria"/>
              </a:rPr>
              <a:t>Tier</a:t>
            </a:r>
            <a:r>
              <a:rPr sz="1600" b="1">
                <a:solidFill>
                  <a:srgbClr val="1D1D1F"/>
                </a:solidFill>
                <a:latin typeface="Noto Sans JP"/>
              </a:rPr>
              <a:t>定義と現実ライン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3540" y="1475107"/>
            <a:ext cx="4972507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Apple Silicon / Windows GPU / CPU</a:t>
            </a:r>
            <a:r>
              <a:rPr sz="1050">
                <a:solidFill>
                  <a:srgbClr val="6E6E73"/>
                </a:solidFill>
                <a:latin typeface="Noto Sans JP"/>
              </a:rPr>
              <a:t>ごとの実用ライン。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0640" y="2006373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3540" y="2006373"/>
            <a:ext cx="5048401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ユースケース別推奨スタック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3540" y="2231316"/>
            <a:ext cx="5048401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低コスト</a:t>
            </a:r>
            <a:r>
              <a:rPr sz="1050">
                <a:solidFill>
                  <a:srgbClr val="6E6E73"/>
                </a:solidFill>
                <a:latin typeface="Cambria"/>
              </a:rPr>
              <a:t>／</a:t>
            </a:r>
            <a:r>
              <a:rPr sz="1050">
                <a:solidFill>
                  <a:srgbClr val="6E6E73"/>
                </a:solidFill>
                <a:latin typeface="Noto Sans JP"/>
              </a:rPr>
              <a:t>高品質／ハード制約別の構成案（</a:t>
            </a:r>
            <a:r>
              <a:rPr sz="1050">
                <a:solidFill>
                  <a:srgbClr val="6E6E73"/>
                </a:solidFill>
                <a:latin typeface="Cambria"/>
              </a:rPr>
              <a:t>6</a:t>
            </a:r>
            <a:r>
              <a:rPr sz="1050">
                <a:solidFill>
                  <a:srgbClr val="6E6E73"/>
                </a:solidFill>
                <a:latin typeface="Noto Sans JP"/>
              </a:rPr>
              <a:t>ケース）。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0640" y="276349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3540" y="2763497"/>
            <a:ext cx="5048401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測定と比較の方法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3540" y="2988439"/>
            <a:ext cx="5048401" cy="18105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再現可能なベンチマーク手順と指標（</a:t>
            </a:r>
            <a:r>
              <a:rPr sz="1050">
                <a:solidFill>
                  <a:srgbClr val="6E6E73"/>
                </a:solidFill>
                <a:latin typeface="Cambria"/>
              </a:rPr>
              <a:t>tok/s, TTFT</a:t>
            </a:r>
            <a:r>
              <a:rPr sz="1050">
                <a:solidFill>
                  <a:srgbClr val="6E6E73"/>
                </a:solidFill>
                <a:latin typeface="Noto Sans JP"/>
              </a:rPr>
              <a:t>等）。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0640" y="351970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3540" y="3519704"/>
            <a:ext cx="5048401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リスク／コンプライアンス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3540" y="3744648"/>
            <a:ext cx="5048401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ライセンス条件、商用利用、セキュリティリスク。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0640" y="427591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3540" y="4275914"/>
            <a:ext cx="5048401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まとめ（意思決定フロー）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3540" y="4500857"/>
            <a:ext cx="5048401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モデル選定と環境構築のための意思決定チャート。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0640" y="503303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3540" y="5033037"/>
            <a:ext cx="4972507" cy="21031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Cambria"/>
              </a:rPr>
              <a:t>References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3540" y="5257980"/>
            <a:ext cx="5048401" cy="1810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一次情報源および参照</a:t>
            </a:r>
            <a:r>
              <a:rPr sz="1050">
                <a:solidFill>
                  <a:srgbClr val="6E6E73"/>
                </a:solidFill>
                <a:latin typeface="Cambria"/>
              </a:rPr>
              <a:t>URL</a:t>
            </a:r>
            <a:r>
              <a:rPr sz="1050">
                <a:solidFill>
                  <a:srgbClr val="6E6E73"/>
                </a:solidFill>
                <a:latin typeface="Noto Sans JP"/>
              </a:rPr>
              <a:t>一覧。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40" y="5833138"/>
            <a:ext cx="4045305" cy="362101"/>
          </a:xfrm>
          <a:prstGeom prst="rect">
            <a:avLst/>
          </a:prstGeom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6751828" y="5928235"/>
            <a:ext cx="373441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>
                <a:solidFill>
                  <a:srgbClr val="0056B3"/>
                </a:solidFill>
                <a:latin typeface="Noto Sans JP"/>
              </a:rPr>
              <a:t>各章は「概要（要点）」→「詳細（完全版）」の順で構成されています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633" y="5961154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0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40" y="5833138"/>
            <a:ext cx="4219956" cy="362101"/>
          </a:xfrm>
          <a:prstGeom prst="rect">
            <a:avLst/>
          </a:prstGeom>
          <a:ln w="0">
            <a:noFill/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633" y="5961154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6751828" y="5928235"/>
            <a:ext cx="3858768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>
                <a:solidFill>
                  <a:srgbClr val="0056B3"/>
                </a:solidFill>
                <a:latin typeface="Noto Sans JP"/>
              </a:rPr>
              <a:t>各評価軸の測定手法と設計含意は、次スライド以降で詳細に解説します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3540" y="5042638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ライセンス</a:t>
            </a:r>
            <a:r>
              <a:rPr sz="1600" b="1">
                <a:solidFill>
                  <a:srgbClr val="1D1D1F"/>
                </a:solidFill>
                <a:latin typeface="Cambria"/>
              </a:rPr>
              <a:t> (License &amp; Compliance)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3540" y="4285515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量子化耐性</a:t>
            </a:r>
            <a:r>
              <a:rPr sz="1600" b="1">
                <a:solidFill>
                  <a:srgbClr val="1D1D1F"/>
                </a:solidFill>
                <a:latin typeface="Cambria"/>
              </a:rPr>
              <a:t> (Quantization Robustness)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3540" y="3755279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重み＋</a:t>
            </a:r>
            <a:r>
              <a:rPr sz="1050">
                <a:solidFill>
                  <a:srgbClr val="6E6E73"/>
                </a:solidFill>
                <a:latin typeface="Cambria"/>
              </a:rPr>
              <a:t>KV</a:t>
            </a:r>
            <a:r>
              <a:rPr sz="1050">
                <a:solidFill>
                  <a:srgbClr val="6E6E73"/>
                </a:solidFill>
                <a:latin typeface="Noto Sans JP"/>
              </a:rPr>
              <a:t>キャッシュ＋ランタイムオーバーヘッドの総消費量。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3540" y="3529306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メモリ</a:t>
            </a:r>
            <a:r>
              <a:rPr sz="1600" b="1">
                <a:solidFill>
                  <a:srgbClr val="1D1D1F"/>
                </a:solidFill>
                <a:latin typeface="Cambria"/>
              </a:rPr>
              <a:t>/VRAM (Memory Footprint)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3540" y="2996549"/>
            <a:ext cx="5058461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LLM</a:t>
            </a:r>
            <a:r>
              <a:rPr sz="1050">
                <a:solidFill>
                  <a:srgbClr val="6E6E73"/>
                </a:solidFill>
                <a:latin typeface="Noto Sans JP"/>
              </a:rPr>
              <a:t>の生成速度</a:t>
            </a:r>
            <a:r>
              <a:rPr sz="1050">
                <a:solidFill>
                  <a:srgbClr val="6E6E73"/>
                </a:solidFill>
                <a:latin typeface="Cambria"/>
              </a:rPr>
              <a:t>(tok/s)</a:t>
            </a:r>
            <a:r>
              <a:rPr sz="1050">
                <a:solidFill>
                  <a:srgbClr val="6E6E73"/>
                </a:solidFill>
                <a:latin typeface="Noto Sans JP"/>
              </a:rPr>
              <a:t>および</a:t>
            </a:r>
            <a:r>
              <a:rPr sz="1050">
                <a:solidFill>
                  <a:srgbClr val="6E6E73"/>
                </a:solidFill>
                <a:latin typeface="Cambria"/>
              </a:rPr>
              <a:t>ASR/TTS</a:t>
            </a:r>
            <a:r>
              <a:rPr sz="1050">
                <a:solidFill>
                  <a:srgbClr val="6E6E73"/>
                </a:solidFill>
                <a:latin typeface="Noto Sans JP"/>
              </a:rPr>
              <a:t>の実時間比</a:t>
            </a:r>
            <a:r>
              <a:rPr sz="1050">
                <a:solidFill>
                  <a:srgbClr val="6E6E73"/>
                </a:solidFill>
                <a:latin typeface="Cambria"/>
              </a:rPr>
              <a:t>(RTF)</a:t>
            </a:r>
            <a:r>
              <a:rPr sz="1050">
                <a:solidFill>
                  <a:srgbClr val="6E6E73"/>
                </a:solidFill>
                <a:latin typeface="Noto Sans JP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3540" y="2763497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速度</a:t>
            </a:r>
            <a:r>
              <a:rPr sz="1600" b="1">
                <a:solidFill>
                  <a:srgbClr val="1D1D1F"/>
                </a:solidFill>
                <a:latin typeface="Cambria"/>
              </a:rPr>
              <a:t> (Speed / Throughput)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441" y="6028361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文法・敬語・語彙の自然さと、業務文書スタイルの再現性。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383" y="5798847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日本語品質</a:t>
            </a:r>
            <a:r>
              <a:rPr sz="1600" b="1">
                <a:solidFill>
                  <a:srgbClr val="1D1D1F"/>
                </a:solidFill>
                <a:latin typeface="Cambria"/>
              </a:rPr>
              <a:t> (Japanese Quality)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383" y="5277649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関数呼び出しの意思決定、必要引数の抽出、曖昧性の解消能力。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383" y="5042638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ツール呼び出し適性</a:t>
            </a:r>
            <a:r>
              <a:rPr sz="1600" b="1">
                <a:solidFill>
                  <a:srgbClr val="1D1D1F"/>
                </a:solidFill>
                <a:latin typeface="Cambria"/>
              </a:rPr>
              <a:t> (Tool-use)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441" y="4516743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タスク分解、複数ステップの自己検証、外部ツール呼び出し順序の妥当性。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383" y="4285515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推論計画</a:t>
            </a:r>
            <a:r>
              <a:rPr sz="1600" b="1">
                <a:solidFill>
                  <a:srgbClr val="1D1D1F"/>
                </a:solidFill>
                <a:latin typeface="Cambria"/>
              </a:rPr>
              <a:t> (Planning)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441" y="3519993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長文耐性</a:t>
            </a:r>
            <a:r>
              <a:rPr sz="1600" b="1">
                <a:solidFill>
                  <a:srgbClr val="1D1D1F"/>
                </a:solidFill>
                <a:latin typeface="Cambria"/>
              </a:rPr>
              <a:t> (Long-context Stability)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383" y="3782595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長い入力に対する要約崩れや重要情報の欠落、自己矛盾の抑制。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" y="2766014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Cambria"/>
              </a:rPr>
              <a:t>JSON</a:t>
            </a:r>
            <a:r>
              <a:rPr sz="1600" b="1">
                <a:solidFill>
                  <a:srgbClr val="1D1D1F"/>
                </a:solidFill>
                <a:latin typeface="Noto Sans JP"/>
              </a:rPr>
              <a:t>堅牢性</a:t>
            </a:r>
            <a:r>
              <a:rPr sz="1600" b="1">
                <a:solidFill>
                  <a:srgbClr val="1D1D1F"/>
                </a:solidFill>
                <a:latin typeface="Cambria"/>
              </a:rPr>
              <a:t> (Structured Output)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41" y="3011181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スキーマ遵守・構文破壊率の低さ。ツール呼び出しやシステム連携の要。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" y="2025000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幻覚耐性</a:t>
            </a:r>
            <a:r>
              <a:rPr sz="1600" b="1">
                <a:solidFill>
                  <a:srgbClr val="1D1D1F"/>
                </a:solidFill>
                <a:latin typeface="Cambria"/>
              </a:rPr>
              <a:t> (Hallucination Resistance)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441" y="2246401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根拠のない固有名詞や数値を捏造せず、不確実性を提示できる性質。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383" y="1249538"/>
            <a:ext cx="5058461" cy="1911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指示追従</a:t>
            </a:r>
            <a:r>
              <a:rPr sz="1600" b="1">
                <a:solidFill>
                  <a:srgbClr val="1D1D1F"/>
                </a:solidFill>
                <a:latin typeface="Cambria"/>
              </a:rPr>
              <a:t> (Instruction Following)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869" y="1488366"/>
            <a:ext cx="5134356" cy="15270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プロンプトの制約・禁止事項・形式指定（箇条書き禁止等）を遵守する能力。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6442" y="740110"/>
            <a:ext cx="1156716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>
                <a:solidFill>
                  <a:srgbClr val="86868B"/>
                </a:solidFill>
                <a:latin typeface="Cambria"/>
              </a:rPr>
              <a:t>Total 13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1" y="237744"/>
            <a:ext cx="347746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Cambria"/>
              </a:rPr>
              <a:t>Evaluation Metrics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1" y="495605"/>
            <a:ext cx="3553358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特徴軸（評価軸）の定義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3540" y="1249138"/>
            <a:ext cx="5058461" cy="1911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音声品質</a:t>
            </a:r>
            <a:r>
              <a:rPr sz="1600" b="1">
                <a:solidFill>
                  <a:srgbClr val="1D1D1F"/>
                </a:solidFill>
                <a:latin typeface="Cambria"/>
              </a:rPr>
              <a:t> (TTS Quality)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3540" y="1451220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自然さ（抑揚・間）、アクセント、ノイズの少なさ、声質再現性。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3540" y="2034606"/>
            <a:ext cx="505846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JP"/>
              </a:rPr>
              <a:t>画像理解精度</a:t>
            </a:r>
            <a:r>
              <a:rPr sz="1600" b="1">
                <a:solidFill>
                  <a:srgbClr val="1D1D1F"/>
                </a:solidFill>
                <a:latin typeface="Cambria"/>
              </a:rPr>
              <a:t> (VLM Accuracy)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3540" y="2236690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OCR</a:t>
            </a:r>
            <a:r>
              <a:rPr sz="1050">
                <a:solidFill>
                  <a:srgbClr val="6E6E73"/>
                </a:solidFill>
                <a:latin typeface="Noto Sans JP"/>
              </a:rPr>
              <a:t>的読み取り、図表理解、空間関係、</a:t>
            </a:r>
            <a:r>
              <a:rPr sz="1050">
                <a:solidFill>
                  <a:srgbClr val="6E6E73"/>
                </a:solidFill>
                <a:latin typeface="Cambria"/>
              </a:rPr>
              <a:t>UI</a:t>
            </a:r>
            <a:r>
              <a:rPr sz="1050">
                <a:solidFill>
                  <a:srgbClr val="6E6E73"/>
                </a:solidFill>
                <a:latin typeface="Noto Sans JP"/>
              </a:rPr>
              <a:t>スクリーンショットの解釈。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3540" y="4515030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Cambria"/>
              </a:rPr>
              <a:t>4bit</a:t>
            </a:r>
            <a:r>
              <a:rPr sz="1050">
                <a:solidFill>
                  <a:srgbClr val="6E6E73"/>
                </a:solidFill>
                <a:latin typeface="Noto Sans JP"/>
              </a:rPr>
              <a:t>等に圧縮した際の品質劣化の小ささ（モデルと手法の相性）。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3540" y="5272153"/>
            <a:ext cx="5134356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6E6E73"/>
                </a:solidFill>
                <a:latin typeface="Noto Sans JP"/>
              </a:rPr>
              <a:t>コードの</a:t>
            </a:r>
            <a:r>
              <a:rPr sz="1050">
                <a:solidFill>
                  <a:srgbClr val="6E6E73"/>
                </a:solidFill>
                <a:latin typeface="Cambria"/>
              </a:rPr>
              <a:t>OSS</a:t>
            </a:r>
            <a:r>
              <a:rPr sz="1050">
                <a:solidFill>
                  <a:srgbClr val="6E6E73"/>
                </a:solidFill>
                <a:latin typeface="Noto Sans JP"/>
              </a:rPr>
              <a:t>ライセンスと、モデル重みの利用条件（商用制限等）の区別。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542" y="1250165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542" y="2006373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542" y="276349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542" y="351970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542" y="427591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542" y="503303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542" y="5789246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0640" y="1250165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0640" y="2006373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0640" y="276349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0640" y="351970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0640" y="4275914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0640" y="5033037"/>
            <a:ext cx="419709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mbria"/>
              </a:rPr>
              <a:t>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