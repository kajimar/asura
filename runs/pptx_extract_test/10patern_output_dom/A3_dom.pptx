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E21C48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32957" y="4967704"/>
            <a:ext cx="724205" cy="205632"/>
          </a:xfrm>
          <a:prstGeom prst="roundRect">
            <a:avLst>
              <a:gd name="adj" fmla="val 9077"/>
            </a:avLst>
          </a:prstGeom>
          <a:solidFill>
            <a:srgbClr val="DCEAFE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5806" y="4941590"/>
            <a:ext cx="4877410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Noto Sans JP"/>
              </a:rPr>
              <a:t>逐次要約（</a:t>
            </a:r>
            <a:r>
              <a:rPr sz="1300" b="1">
                <a:solidFill>
                  <a:srgbClr val="1F2937"/>
                </a:solidFill>
                <a:latin typeface="Cambria"/>
              </a:rPr>
              <a:t>Rolling Summary</a:t>
            </a:r>
            <a:r>
              <a:rPr sz="1300" b="1">
                <a:solidFill>
                  <a:srgbClr val="1F2937"/>
                </a:solidFill>
                <a:latin typeface="Noto Sans JP"/>
              </a:rPr>
              <a:t>）＋</a:t>
            </a:r>
            <a:r>
              <a:rPr sz="1300" b="1">
                <a:solidFill>
                  <a:srgbClr val="1F2937"/>
                </a:solidFill>
                <a:latin typeface="Cambria"/>
              </a:rPr>
              <a:t>KV</a:t>
            </a:r>
            <a:r>
              <a:rPr sz="1300" b="1">
                <a:solidFill>
                  <a:srgbClr val="1F2937"/>
                </a:solidFill>
                <a:latin typeface="Noto Sans JP"/>
              </a:rPr>
              <a:t>節約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32957" y="4965364"/>
            <a:ext cx="724205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Cambria"/>
              </a:rPr>
              <a:t>LLM</a:t>
            </a:r>
            <a:r>
              <a:rPr sz="900" b="1">
                <a:solidFill>
                  <a:srgbClr val="1E40AF"/>
                </a:solidFill>
                <a:latin typeface="Noto Sans JP"/>
              </a:rP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5269" y="4089825"/>
            <a:ext cx="504749" cy="209398"/>
          </a:xfrm>
          <a:prstGeom prst="roundRect">
            <a:avLst>
              <a:gd name="adj" fmla="val 9077"/>
            </a:avLst>
          </a:prstGeom>
          <a:solidFill>
            <a:srgbClr val="DCEAFE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6183" y="4089368"/>
            <a:ext cx="505663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Noto Sans JP"/>
              </a:rPr>
              <a:t>前処理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2032" y="3188685"/>
            <a:ext cx="4981651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Noto Sans JP"/>
              </a:rPr>
              <a:t>短い切れ目のマージ＋手動マッピング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376" y="3246292"/>
            <a:ext cx="391363" cy="187344"/>
          </a:xfrm>
          <a:prstGeom prst="roundRect">
            <a:avLst>
              <a:gd name="adj" fmla="val 9077"/>
            </a:avLst>
          </a:prstGeom>
          <a:solidFill>
            <a:srgbClr val="DCEAFE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90694" y="4100852"/>
            <a:ext cx="484246" cy="187344"/>
          </a:xfrm>
          <a:prstGeom prst="roundRect">
            <a:avLst>
              <a:gd name="adj" fmla="val 9077"/>
            </a:avLst>
          </a:prstGeom>
          <a:solidFill>
            <a:srgbClr val="FFF2F2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339" y="4065594"/>
            <a:ext cx="4924958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ASR</a:t>
            </a:r>
            <a:r>
              <a:rPr sz="1300" b="1">
                <a:solidFill>
                  <a:srgbClr val="1F2937"/>
                </a:solidFill>
                <a:latin typeface="Noto Sans JP"/>
              </a:rPr>
              <a:t>幻覚（</a:t>
            </a:r>
            <a:r>
              <a:rPr sz="1300" b="1">
                <a:solidFill>
                  <a:srgbClr val="1F2937"/>
                </a:solidFill>
                <a:latin typeface="Cambria"/>
              </a:rPr>
              <a:t>Hallucination</a:t>
            </a:r>
            <a:r>
              <a:rPr sz="1300" b="1">
                <a:solidFill>
                  <a:srgbClr val="1F2937"/>
                </a:solidFill>
                <a:latin typeface="Noto Sans JP"/>
              </a:rPr>
              <a:t>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272" y="4089368"/>
            <a:ext cx="505662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991B1B"/>
                </a:solidFill>
                <a:latin typeface="Noto Sans JP"/>
              </a:rPr>
              <a:t>致命的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43515" y="3223943"/>
            <a:ext cx="484247" cy="187345"/>
          </a:xfrm>
          <a:prstGeom prst="roundRect">
            <a:avLst>
              <a:gd name="adj" fmla="val 9077"/>
            </a:avLst>
          </a:prstGeom>
          <a:solidFill>
            <a:srgbClr val="FFF2F2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284" y="3188685"/>
            <a:ext cx="490575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Noto Sans JP"/>
              </a:rPr>
              <a:t>話者誤割当（</a:t>
            </a:r>
            <a:r>
              <a:rPr sz="1300" b="1">
                <a:solidFill>
                  <a:srgbClr val="1F2937"/>
                </a:solidFill>
                <a:latin typeface="Cambria"/>
              </a:rPr>
              <a:t>Diarization Error</a:t>
            </a:r>
            <a:r>
              <a:rPr sz="1300" b="1">
                <a:solidFill>
                  <a:srgbClr val="1F2937"/>
                </a:solidFill>
                <a:latin typeface="Noto Sans JP"/>
              </a:rPr>
              <a:t>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9473" y="3212459"/>
            <a:ext cx="505663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991B1B"/>
                </a:solidFill>
                <a:latin typeface="Noto Sans JP"/>
              </a:rPr>
              <a:t>高頻度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284" y="3484035"/>
            <a:ext cx="4867351" cy="4288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>
                <a:solidFill>
                  <a:srgbClr val="4B5563"/>
                </a:solidFill>
                <a:latin typeface="Noto Sans JP"/>
              </a:rPr>
              <a:t>発話の切れ目が不明確で、</a:t>
            </a:r>
            <a:r>
              <a:rPr sz="1100">
                <a:solidFill>
                  <a:srgbClr val="4B5563"/>
                </a:solidFill>
                <a:latin typeface="Cambria"/>
              </a:rPr>
              <a:t>A</a:t>
            </a:r>
            <a:r>
              <a:rPr sz="1100">
                <a:solidFill>
                  <a:srgbClr val="4B5563"/>
                </a:solidFill>
                <a:latin typeface="Noto Sans JP"/>
              </a:rPr>
              <a:t>さんの発言が</a:t>
            </a:r>
            <a:r>
              <a:rPr sz="1100">
                <a:solidFill>
                  <a:srgbClr val="4B5563"/>
                </a:solidFill>
                <a:latin typeface="Cambria"/>
              </a:rPr>
              <a:t>B</a:t>
            </a:r>
            <a:r>
              <a:rPr sz="1100">
                <a:solidFill>
                  <a:srgbClr val="4B5563"/>
                </a:solidFill>
                <a:latin typeface="Noto Sans JP"/>
              </a:rPr>
              <a:t>さんとして記録される。特に割り込み発話で多発。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FF2F2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57" y="587045"/>
            <a:ext cx="299169" cy="258797"/>
          </a:xfrm>
          <a:prstGeom prst="rect">
            <a:avLst/>
          </a:prstGeom>
          <a:ln w="0"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939088" y="491490"/>
            <a:ext cx="4772254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会議議事録：失敗モードと回避策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397" y="205740"/>
            <a:ext cx="1841602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ユースケース詳細分析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" y="1318555"/>
            <a:ext cx="10849356" cy="78228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just"/>
            <a:r>
              <a:rPr sz="1800" b="1">
                <a:solidFill>
                  <a:srgbClr val="DC2626"/>
                </a:solidFill>
                <a:latin typeface="Cambria"/>
              </a:rPr>
              <a:t> </a:t>
            </a:r>
            <a:r>
              <a:rPr sz="1600" b="1">
                <a:solidFill>
                  <a:srgbClr val="DC2626"/>
                </a:solidFill>
                <a:latin typeface="Noto Sans JP"/>
              </a:rPr>
              <a:t>結論：話者誤割当・</a:t>
            </a:r>
            <a:r>
              <a:rPr sz="1600" b="1">
                <a:solidFill>
                  <a:srgbClr val="DC2626"/>
                </a:solidFill>
                <a:latin typeface="Cambria"/>
              </a:rPr>
              <a:t>ASR</a:t>
            </a:r>
            <a:r>
              <a:rPr sz="1600" b="1">
                <a:solidFill>
                  <a:srgbClr val="DC2626"/>
                </a:solidFill>
                <a:latin typeface="Noto Sans JP"/>
              </a:rPr>
              <a:t>幻覚・長時間処理の負荷を設計で抑止</a:t>
            </a:r>
            <a:r>
              <a:rPr sz="1600" b="1">
                <a:solidFill>
                  <a:srgbClr val="DC2626"/>
                </a:solidFill>
                <a:latin typeface="Noto Sans JP"/>
              </a:rPr>
              <a:t>。</a:t>
            </a:r>
          </a:p>
          <a:p>
            <a:pPr algn="just"/>
            <a:r>
              <a:rPr sz="1200" b="1">
                <a:solidFill>
                  <a:srgbClr val="374151"/>
                </a:solidFill>
                <a:latin typeface="Cambria"/>
              </a:rPr>
              <a:t>VAD</a:t>
            </a:r>
            <a:r>
              <a:rPr sz="1200" b="1">
                <a:solidFill>
                  <a:srgbClr val="374151"/>
                </a:solidFill>
                <a:latin typeface="Noto Sans JP"/>
              </a:rPr>
              <a:t>（無音除去）の厳格化とタイムスタンプベースの検証が品質の防波堤となります</a:t>
            </a:r>
            <a:r>
              <a:rPr sz="1200" b="1">
                <a:solidFill>
                  <a:srgbClr val="374151"/>
                </a:solidFill>
                <a:latin typeface="Noto Sans JP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8451" y="2398643"/>
            <a:ext cx="5482742" cy="3504896"/>
          </a:xfrm>
          <a:prstGeom prst="roundRect">
            <a:avLst>
              <a:gd name="adj" fmla="val 8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194" y="3016778"/>
            <a:ext cx="5048402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4" y="2620431"/>
            <a:ext cx="190195" cy="190194"/>
          </a:xfrm>
          <a:prstGeom prst="rect">
            <a:avLst/>
          </a:prstGeom>
          <a:ln w="0"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1031604" y="2397730"/>
            <a:ext cx="3096158" cy="61904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主な失敗モード（</a:t>
            </a:r>
            <a:r>
              <a:rPr sz="1500" b="1">
                <a:solidFill>
                  <a:srgbClr val="1D1D1F"/>
                </a:solidFill>
                <a:latin typeface="Cambria"/>
              </a:rPr>
              <a:t>Failure Modes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82" y="3241263"/>
            <a:ext cx="114300" cy="152705"/>
          </a:xfrm>
          <a:prstGeom prst="rect">
            <a:avLst/>
          </a:prstGeom>
          <a:ln w="0">
            <a:noFill/>
          </a:ln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24" y="4118171"/>
            <a:ext cx="114300" cy="152705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970339" y="4360946"/>
            <a:ext cx="4886554" cy="4288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>
                <a:solidFill>
                  <a:srgbClr val="4B5563"/>
                </a:solidFill>
                <a:latin typeface="Noto Sans JP"/>
              </a:rPr>
              <a:t>無音区間やノイズに対して、存在しない文章（「ご視聴ありがとうございました」等）を生成してしまう現象。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68" y="4994168"/>
            <a:ext cx="114300" cy="152705"/>
          </a:xfrm>
          <a:prstGeom prst="rect">
            <a:avLst/>
          </a:prstGeom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989541" y="4941590"/>
            <a:ext cx="4981651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Noto Sans JP"/>
              </a:rPr>
              <a:t>長文による要点漏れ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541" y="5236941"/>
            <a:ext cx="4867351" cy="4288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>
                <a:solidFill>
                  <a:srgbClr val="4B5563"/>
                </a:solidFill>
                <a:latin typeface="Noto Sans JP"/>
              </a:rPr>
              <a:t>コンテキスト長超過により、議論の後半や中間部分の重要決定事項が</a:t>
            </a:r>
            <a:r>
              <a:rPr sz="1100">
                <a:solidFill>
                  <a:srgbClr val="4B5563"/>
                </a:solidFill>
                <a:latin typeface="Cambria"/>
              </a:rPr>
              <a:t>LLM</a:t>
            </a:r>
            <a:r>
              <a:rPr sz="1100">
                <a:solidFill>
                  <a:srgbClr val="4B5563"/>
                </a:solidFill>
                <a:latin typeface="Noto Sans JP"/>
              </a:rPr>
              <a:t>の要約から欠落する。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5686" y="2398643"/>
            <a:ext cx="5490974" cy="3504896"/>
          </a:xfrm>
          <a:prstGeom prst="roundRect">
            <a:avLst>
              <a:gd name="adj" fmla="val 8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79599" y="3016778"/>
            <a:ext cx="5048402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599" y="2620431"/>
            <a:ext cx="190195" cy="190194"/>
          </a:xfrm>
          <a:prstGeom prst="rect">
            <a:avLst/>
          </a:prstGeom>
          <a:ln w="0">
            <a:noFill/>
          </a:ln>
        </p:spPr>
      </p:pic>
      <p:sp>
        <p:nvSpPr>
          <p:cNvPr id="39" name="TextBox 38"/>
          <p:cNvSpPr txBox="1"/>
          <p:nvPr/>
        </p:nvSpPr>
        <p:spPr>
          <a:xfrm>
            <a:off x="6784094" y="2396826"/>
            <a:ext cx="2563063" cy="61949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回避策と設計（</a:t>
            </a:r>
            <a:r>
              <a:rPr sz="1500" b="1">
                <a:solidFill>
                  <a:srgbClr val="1D1D1F"/>
                </a:solidFill>
                <a:latin typeface="Cambria"/>
              </a:rPr>
              <a:t>Mitigation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914" y="3241263"/>
            <a:ext cx="133501" cy="152705"/>
          </a:xfrm>
          <a:prstGeom prst="rect">
            <a:avLst/>
          </a:prstGeom>
          <a:ln w="0">
            <a:noFill/>
          </a:ln>
        </p:spPr>
      </p:pic>
      <p:sp>
        <p:nvSpPr>
          <p:cNvPr id="41" name="Rectangle 40"/>
          <p:cNvSpPr/>
          <p:nvPr/>
        </p:nvSpPr>
        <p:spPr>
          <a:xfrm>
            <a:off x="9729375" y="3249950"/>
            <a:ext cx="391363" cy="18368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Noto Sans JP"/>
              </a:rPr>
              <a:t>設計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2032" y="3484035"/>
            <a:ext cx="4867351" cy="4288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>
                <a:solidFill>
                  <a:srgbClr val="4B5563"/>
                </a:solidFill>
                <a:latin typeface="Noto Sans JP"/>
              </a:rPr>
              <a:t>極端に短い発話区間を前後の発話者に統合するルールを適用。参加者名と</a:t>
            </a:r>
            <a:r>
              <a:rPr sz="1100">
                <a:solidFill>
                  <a:srgbClr val="4B5563"/>
                </a:solidFill>
                <a:latin typeface="Cambria"/>
              </a:rPr>
              <a:t>ID</a:t>
            </a:r>
            <a:r>
              <a:rPr sz="1100">
                <a:solidFill>
                  <a:srgbClr val="4B5563"/>
                </a:solidFill>
                <a:latin typeface="Noto Sans JP"/>
              </a:rPr>
              <a:t>の紐付け</a:t>
            </a:r>
            <a:r>
              <a:rPr sz="1100">
                <a:solidFill>
                  <a:srgbClr val="4B5563"/>
                </a:solidFill>
                <a:latin typeface="Cambria"/>
              </a:rPr>
              <a:t>UI</a:t>
            </a:r>
            <a:r>
              <a:rPr sz="1100">
                <a:solidFill>
                  <a:srgbClr val="4B5563"/>
                </a:solidFill>
                <a:latin typeface="Noto Sans JP"/>
              </a:rPr>
              <a:t>を用意。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599" y="4118171"/>
            <a:ext cx="152704" cy="152705"/>
          </a:xfrm>
          <a:prstGeom prst="rect">
            <a:avLst/>
          </a:prstGeom>
          <a:ln w="0"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46604" y="4065594"/>
            <a:ext cx="4972507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VAD</a:t>
            </a:r>
            <a:r>
              <a:rPr sz="1300" b="1">
                <a:solidFill>
                  <a:srgbClr val="1F2937"/>
                </a:solidFill>
                <a:latin typeface="Noto Sans JP"/>
              </a:rPr>
              <a:t>厳格化＋無音区間破棄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6604" y="4360946"/>
            <a:ext cx="4858207" cy="4288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>
                <a:solidFill>
                  <a:srgbClr val="4B5563"/>
                </a:solidFill>
                <a:latin typeface="Cambria"/>
              </a:rPr>
              <a:t>Silero VAD</a:t>
            </a:r>
            <a:r>
              <a:rPr sz="1100">
                <a:solidFill>
                  <a:srgbClr val="4B5563"/>
                </a:solidFill>
                <a:latin typeface="Noto Sans JP"/>
              </a:rPr>
              <a:t>等の閾値を調整し、確実に音声がある区間のみ</a:t>
            </a:r>
            <a:r>
              <a:rPr sz="1100">
                <a:solidFill>
                  <a:srgbClr val="4B5563"/>
                </a:solidFill>
                <a:latin typeface="Cambria"/>
              </a:rPr>
              <a:t>ASR</a:t>
            </a:r>
            <a:r>
              <a:rPr sz="1100">
                <a:solidFill>
                  <a:srgbClr val="4B5563"/>
                </a:solidFill>
                <a:latin typeface="Noto Sans JP"/>
              </a:rPr>
              <a:t>へ渡す。「要審査フラグ」で怪しい出力をマーク。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9599" y="4994168"/>
            <a:ext cx="171906" cy="152705"/>
          </a:xfrm>
          <a:prstGeom prst="rect">
            <a:avLst/>
          </a:prstGeom>
          <a:ln w="0"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6765806" y="5236941"/>
            <a:ext cx="4839005" cy="4288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>
                <a:solidFill>
                  <a:srgbClr val="4B5563"/>
                </a:solidFill>
                <a:latin typeface="Noto Sans JP"/>
              </a:rPr>
              <a:t>議論を短めのチャンクに分割して逐次要約し、最終的に統合。</a:t>
            </a:r>
            <a:r>
              <a:rPr sz="1100">
                <a:solidFill>
                  <a:srgbClr val="4B5563"/>
                </a:solidFill>
                <a:latin typeface="Cambria"/>
              </a:rPr>
              <a:t>KV</a:t>
            </a:r>
            <a:r>
              <a:rPr sz="1100">
                <a:solidFill>
                  <a:srgbClr val="4B5563"/>
                </a:solidFill>
                <a:latin typeface="Noto Sans JP"/>
              </a:rPr>
              <a:t>量子化やコンテキスト分割でメモリ節約。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E21C48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79345" y="2385617"/>
            <a:ext cx="5486400" cy="38405"/>
          </a:xfrm>
          <a:prstGeom prst="roundRect">
            <a:avLst>
              <a:gd name="adj" fmla="val 75987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88450" y="2385617"/>
            <a:ext cx="5486400" cy="38405"/>
          </a:xfrm>
          <a:prstGeom prst="roundRect">
            <a:avLst>
              <a:gd name="adj" fmla="val 75987"/>
            </a:avLst>
          </a:prstGeom>
          <a:solidFill>
            <a:srgbClr val="EF4444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