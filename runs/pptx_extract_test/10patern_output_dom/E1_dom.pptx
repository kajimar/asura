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3279" y="3844138"/>
            <a:ext cx="534010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9510" y="3844138"/>
            <a:ext cx="504748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51697" y="3844138"/>
            <a:ext cx="1162202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37837" y="3844138"/>
            <a:ext cx="512977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31436" y="3844138"/>
            <a:ext cx="523951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ASR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4194" y="3844138"/>
            <a:ext cx="534010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4998" y="3844138"/>
            <a:ext cx="505662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TTS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3528" y="3844138"/>
            <a:ext cx="1162202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Windows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0558" y="3844138"/>
            <a:ext cx="526693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4846" y="3844138"/>
            <a:ext cx="532179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2124" y="3847636"/>
            <a:ext cx="1090878" cy="309524"/>
          </a:xfrm>
          <a:prstGeom prst="rect">
            <a:avLst/>
          </a:prstGeom>
          <a:noFill/>
          <a:ln w="381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05072" y="3844138"/>
            <a:ext cx="534010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VLM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44845" y="3844138"/>
            <a:ext cx="534010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7551" y="3844138"/>
            <a:ext cx="1095451" cy="314553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1D1D1F"/>
                </a:solidFill>
                <a:latin typeface="Cambria"/>
              </a:rPr>
              <a:t>Apple Silicon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77356"/>
            <a:ext cx="1230691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>
                <a:solidFill>
                  <a:srgbClr val="86868B"/>
                </a:solidFill>
                <a:latin typeface="Cambria"/>
              </a:rPr>
              <a:t>2026年2月15日 | ChatGPT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902" y="809244"/>
            <a:ext cx="609905" cy="609905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2133295" y="1705356"/>
            <a:ext cx="7925105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>
                <a:solidFill>
                  <a:srgbClr val="86868B"/>
                </a:solidFill>
                <a:latin typeface="Cambria"/>
              </a:rPr>
              <a:t>Technical Research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7924" y="2190902"/>
            <a:ext cx="8837676" cy="5907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2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4200" b="1">
                <a:solidFill>
                  <a:srgbClr val="1D1D1F"/>
                </a:solidFill>
                <a:latin typeface="Cambria"/>
              </a:rPr>
              <a:t>AI </a:t>
            </a:r>
            <a:r>
              <a:rPr sz="4200" b="1">
                <a:solidFill>
                  <a:srgbClr val="1D1D1F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805" y="2929738"/>
            <a:ext cx="8001000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>
                <a:solidFill>
                  <a:srgbClr val="424245"/>
                </a:solidFill>
                <a:latin typeface="Noto Sans JP"/>
              </a:rPr>
              <a:t>オンデバイス／ローカル推論の現実解と推奨スタック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0902" y="4463186"/>
            <a:ext cx="7810805" cy="1591055"/>
          </a:xfrm>
          <a:prstGeom prst="roundRect">
            <a:avLst>
              <a:gd name="adj" fmla="val 4130"/>
            </a:avLst>
          </a:prstGeom>
          <a:solidFill>
            <a:srgbClr val="F5F5F7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90902" y="4463186"/>
            <a:ext cx="38405" cy="1591055"/>
          </a:xfrm>
          <a:prstGeom prst="roundRect">
            <a:avLst>
              <a:gd name="adj" fmla="val 171086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3802" y="4691786"/>
            <a:ext cx="7277710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07AFF"/>
                </a:solidFill>
                <a:latin typeface="Cambria"/>
              </a:rPr>
              <a:t>Report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3802" y="4997196"/>
            <a:ext cx="7239305" cy="8293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>
                <a:solidFill>
                  <a:srgbClr val="1D1D1F"/>
                </a:solidFill>
                <a:latin typeface="Cambria"/>
              </a:rPr>
              <a:t> Apple SiliconおよびWindows環境におけるローカルAIの実運用ラインと推奨スタックを提示。</a:t>
            </a:r>
          </a:p>
          <a:p>
            <a:pPr algn="l"/>
            <a:r>
              <a:rPr sz="1300">
                <a:solidFill>
                  <a:srgbClr val="1D1D1F"/>
                </a:solidFill>
                <a:latin typeface="Cambria"/>
              </a:rPr>
              <a:t> 「意思決定のための要点」と「根拠となる完全な技術詳細」を二層構造で網羅。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2001" cy="75896"/>
          </a:xfrm>
          <a:prstGeom prst="rect">
            <a:avLst/>
          </a:prstGeom>
          <a:solidFill>
            <a:srgbClr val="02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