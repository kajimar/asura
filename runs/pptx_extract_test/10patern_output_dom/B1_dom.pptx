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1" cy="1050646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1821"/>
            <a:ext cx="237744" cy="267004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09244" y="334669"/>
            <a:ext cx="3653028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mbria"/>
              </a:rPr>
              <a:t>Windows Tier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（完全版表</a:t>
            </a:r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1138" y="457200"/>
            <a:ext cx="3643884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E3F2FD"/>
                </a:solidFill>
                <a:latin typeface="Cambria"/>
              </a:rPr>
              <a:t>W-CPU1 / W-CPU2 / G-8 / G-12 </a:t>
            </a:r>
            <a:r>
              <a:rPr sz="1200">
                <a:solidFill>
                  <a:srgbClr val="E3F2FD"/>
                </a:solidFill>
                <a:latin typeface="Noto Sans JP"/>
              </a:rPr>
              <a:t>の現実ライン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6344" y="1380744"/>
          <a:ext cx="11277296" cy="4144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1"/>
              </a:tblGrid>
              <a:tr h="82885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想定ハード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現実的なLLM規模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常駐可否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同時実行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設計指針</a:t>
                      </a:r>
                    </a:p>
                  </a:txBody>
                  <a:tcPr/>
                </a:tc>
              </a:tr>
              <a:tr h="828850">
                <a:tc>
                  <a:txBody>
                    <a:bodyPr/>
                    <a:lstStyle/>
                    <a:p>
                      <a:r>
                        <a:t>W-CPU1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CPU-only</a:t>
                      </a:r>
                    </a:p>
                    <a:p>
                      <a:r>
                        <a:t>8C/16T級 + 32GB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3B〜7B (4bit)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条件付き</a:t>
                      </a:r>
                    </a:p>
                    <a:p>
                      <a:r>
                        <a:t>負荷高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厳しい</a:t>
                      </a:r>
                    </a:p>
                    <a:p>
                      <a:r>
                        <a:t>オンデマンド推奨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CPU最適化命令（AVX-512/VNNI/AMX等）を活用[13]。常駐は“小型＋短文”に限定し、重い処理は避ける。</a:t>
                      </a:r>
                    </a:p>
                  </a:txBody>
                  <a:tcPr/>
                </a:tc>
              </a:tr>
              <a:tr h="828850">
                <a:tc>
                  <a:txBody>
                    <a:bodyPr/>
                    <a:lstStyle/>
                    <a:p>
                      <a:r>
                        <a:t>W-CPU2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CPU-only</a:t>
                      </a:r>
                    </a:p>
                    <a:p>
                      <a:r>
                        <a:t>16C/32T級 + 64GB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7B〜14B (4bit)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</a:t>
                      </a:r>
                    </a:p>
                    <a:p>
                      <a:r>
                        <a:t>ただし速度要検証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設計次第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夜間バッチ（Embedding/OCR）で負荷平準化。メモリ余裕はあるが計算速度が律速。</a:t>
                      </a:r>
                    </a:p>
                  </a:txBody>
                  <a:tcPr/>
                </a:tc>
              </a:tr>
              <a:tr h="828850">
                <a:tc>
                  <a:txBody>
                    <a:bodyPr/>
                    <a:lstStyle/>
                    <a:p>
                      <a:r>
                        <a:t>G-8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NVIDIA GPU</a:t>
                      </a:r>
                    </a:p>
                    <a:p>
                      <a:r>
                        <a:t>VRAM 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7B中心 (4bit)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</a:t>
                      </a:r>
                    </a:p>
                    <a:p>
                      <a:r>
                        <a:t>短文に限る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軽量なら可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画像生成SDXL等は設定依存で厳しいため要ベンチ。7B級LLM単体なら快適に動作。</a:t>
                      </a:r>
                    </a:p>
                  </a:txBody>
                  <a:tcPr/>
                </a:tc>
              </a:tr>
              <a:tr h="828853">
                <a:tc>
                  <a:txBody>
                    <a:bodyPr/>
                    <a:lstStyle/>
                    <a:p>
                      <a:r>
                        <a:t>G-12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NVIDIA GPU</a:t>
                      </a:r>
                    </a:p>
                    <a:p>
                      <a:r>
                        <a:t>VRAM 12GB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7B〜14B (4bit)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現実化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14B級が視野に入る。VLM 2B〜7B級やASR GPU版を同時に載せやすく、実用性が高い。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1371600"/>
            <a:ext cx="11296498" cy="4143146"/>
          </a:xfrm>
          <a:prstGeom prst="roundRect">
            <a:avLst>
              <a:gd name="adj" fmla="val 406"/>
            </a:avLst>
          </a:prstGeom>
          <a:noFill/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