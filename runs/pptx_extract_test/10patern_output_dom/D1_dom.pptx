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0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png"/><Relationship Id="rId16" Type="http://schemas.openxmlformats.org/officeDocument/2006/relationships/image" Target="../media/image26.png"/><Relationship Id="rId17" Type="http://schemas.openxmlformats.org/officeDocument/2006/relationships/image" Target="../media/image27.png"/><Relationship Id="rId18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10.png"/><Relationship Id="rId10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33.png"/><Relationship Id="rId7" Type="http://schemas.openxmlformats.org/officeDocument/2006/relationships/image" Target="../media/image8.png"/><Relationship Id="rId8" Type="http://schemas.openxmlformats.org/officeDocument/2006/relationships/image" Target="../media/image10.png"/><Relationship Id="rId9" Type="http://schemas.openxmlformats.org/officeDocument/2006/relationships/image" Target="../media/image34.png"/><Relationship Id="rId10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5.png"/><Relationship Id="rId6" Type="http://schemas.openxmlformats.org/officeDocument/2006/relationships/image" Target="../media/image37.png"/><Relationship Id="rId7" Type="http://schemas.openxmlformats.org/officeDocument/2006/relationships/image" Target="../media/image31.png"/><Relationship Id="rId8" Type="http://schemas.openxmlformats.org/officeDocument/2006/relationships/image" Target="../media/image38.png"/><Relationship Id="rId9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Relationship Id="rId4" Type="http://schemas.openxmlformats.org/officeDocument/2006/relationships/image" Target="../media/image33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36.png"/><Relationship Id="rId8" Type="http://schemas.openxmlformats.org/officeDocument/2006/relationships/image" Target="../media/image4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6695"/>
            <a:ext cx="12191695" cy="381305"/>
          </a:xfrm>
          <a:prstGeom prst="rect">
            <a:avLst/>
          </a:prstGeom>
          <a:ln w="0">
            <a:noFill/>
          </a:ln>
        </p:spPr>
      </p:pic>
      <p:sp>
        <p:nvSpPr>
          <p:cNvPr id="4" name="Rectangle 3"/>
          <p:cNvSpPr/>
          <p:nvPr/>
        </p:nvSpPr>
        <p:spPr>
          <a:xfrm>
            <a:off x="0" y="752551"/>
            <a:ext cx="12191695" cy="914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1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3230"/>
            <a:ext cx="267005" cy="267004"/>
          </a:xfrm>
          <a:prstGeom prst="rect">
            <a:avLst/>
          </a:prstGeom>
          <a:ln w="0"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875994" y="0"/>
            <a:ext cx="4004158" cy="75255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Noto Sans JP"/>
              </a:rPr>
              <a:t>採用判断基準（VLM/LMM）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6648" y="261518"/>
            <a:ext cx="2139696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86868B"/>
                </a:solidFill>
                <a:latin typeface="Noto Sans JP"/>
              </a:rPr>
              <a:t>ランタイム適合性と運用設計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90294"/>
            <a:ext cx="11277295" cy="838505"/>
          </a:xfrm>
          <a:prstGeom prst="rect">
            <a:avLst/>
          </a:prstGeom>
          <a:ln w="0"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743407" y="1143000"/>
            <a:ext cx="10840212" cy="5340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Noto Sans JP"/>
              </a:rPr>
              <a:t>結論：画像理解は前処理・プロセッサ依存が強いため、「ランタイムの明示サポート確認」が最優先です。2B/7B級を基本とし、不足分をRAG/OCRで補うのが安全策です。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95805"/>
            <a:ext cx="11277295" cy="17145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4466" y="2681021"/>
            <a:ext cx="105155" cy="171906"/>
          </a:xfrm>
          <a:prstGeom prst="rect">
            <a:avLst/>
          </a:prstGeom>
          <a:ln w="0">
            <a:noFill/>
          </a:ln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3270" y="2681021"/>
            <a:ext cx="105155" cy="171906"/>
          </a:xfrm>
          <a:prstGeom prst="rect">
            <a:avLst/>
          </a:prstGeom>
          <a:ln w="0">
            <a:noFill/>
          </a:ln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2987" y="2681021"/>
            <a:ext cx="105155" cy="171906"/>
          </a:xfrm>
          <a:prstGeom prst="rect">
            <a:avLst/>
          </a:prstGeom>
          <a:ln w="0">
            <a:noFill/>
          </a:ln>
        </p:spPr>
      </p:pic>
      <p:sp>
        <p:nvSpPr>
          <p:cNvPr id="15" name="Rounded Rectangle 14"/>
          <p:cNvSpPr/>
          <p:nvPr/>
        </p:nvSpPr>
        <p:spPr>
          <a:xfrm>
            <a:off x="457200" y="4109314"/>
            <a:ext cx="3638398" cy="1977846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7454" y="4689958"/>
            <a:ext cx="3238805" cy="9144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7454" y="4308653"/>
            <a:ext cx="304495" cy="304494"/>
          </a:xfrm>
          <a:prstGeom prst="roundRect">
            <a:avLst>
              <a:gd name="adj" fmla="val 75075"/>
            </a:avLst>
          </a:prstGeom>
          <a:solidFill>
            <a:srgbClr val="007A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551" y="4394606"/>
            <a:ext cx="114299" cy="133501"/>
          </a:xfrm>
          <a:prstGeom prst="rect">
            <a:avLst/>
          </a:prstGeom>
          <a:ln w="0">
            <a:noFill/>
          </a:ln>
        </p:spPr>
      </p:pic>
      <p:sp>
        <p:nvSpPr>
          <p:cNvPr id="19" name="TextBox 18"/>
          <p:cNvSpPr txBox="1"/>
          <p:nvPr/>
        </p:nvSpPr>
        <p:spPr>
          <a:xfrm>
            <a:off x="1057046" y="4347058"/>
            <a:ext cx="1317650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Noto Sans JP"/>
              </a:rPr>
              <a:t>ランタイム適合性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468" y="4892604"/>
            <a:ext cx="95098" cy="95098"/>
          </a:xfrm>
          <a:prstGeom prst="rect">
            <a:avLst/>
          </a:prstGeom>
          <a:ln w="0">
            <a:noFill/>
          </a:ln>
        </p:spPr>
      </p:pic>
      <p:sp>
        <p:nvSpPr>
          <p:cNvPr id="21" name="TextBox 20"/>
          <p:cNvSpPr txBox="1"/>
          <p:nvPr/>
        </p:nvSpPr>
        <p:spPr>
          <a:xfrm>
            <a:off x="752551" y="4873752"/>
            <a:ext cx="3219602" cy="56235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一次情報の確認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ランタイムがモデルを明示サポートしているか確認が安全（例: MLX-VLMのQwen2-VL対応コマンド提示）。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468" y="5463971"/>
            <a:ext cx="95098" cy="95098"/>
          </a:xfrm>
          <a:prstGeom prst="rect">
            <a:avLst/>
          </a:prstGeom>
          <a:ln w="0">
            <a:noFill/>
          </a:ln>
        </p:spPr>
      </p:pic>
      <p:sp>
        <p:nvSpPr>
          <p:cNvPr id="23" name="TextBox 22"/>
          <p:cNvSpPr txBox="1"/>
          <p:nvPr/>
        </p:nvSpPr>
        <p:spPr>
          <a:xfrm>
            <a:off x="752551" y="5445119"/>
            <a:ext cx="3219602" cy="5623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プロセッサ依存性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テキストLLMより前処理（画像トークン化）の依存が強く、変換ミスが起きやすい。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0306" y="4109314"/>
            <a:ext cx="3638398" cy="1977846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79646" y="4689958"/>
            <a:ext cx="3238804" cy="9144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79646" y="4308653"/>
            <a:ext cx="304494" cy="304494"/>
          </a:xfrm>
          <a:prstGeom prst="roundRect">
            <a:avLst>
              <a:gd name="adj" fmla="val 75075"/>
            </a:avLst>
          </a:prstGeom>
          <a:solidFill>
            <a:srgbClr val="5856D6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6397" y="4394606"/>
            <a:ext cx="171906" cy="133501"/>
          </a:xfrm>
          <a:prstGeom prst="rect">
            <a:avLst/>
          </a:prstGeom>
          <a:ln w="0">
            <a:noFill/>
          </a:ln>
        </p:spPr>
      </p:pic>
      <p:sp>
        <p:nvSpPr>
          <p:cNvPr id="28" name="TextBox 27"/>
          <p:cNvSpPr txBox="1"/>
          <p:nvPr/>
        </p:nvSpPr>
        <p:spPr>
          <a:xfrm>
            <a:off x="4880153" y="4347058"/>
            <a:ext cx="1591055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Noto Sans JP"/>
              </a:rPr>
              <a:t>運用設計（2B/7B級）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3660" y="4892604"/>
            <a:ext cx="95098" cy="95098"/>
          </a:xfrm>
          <a:prstGeom prst="rect">
            <a:avLst/>
          </a:prstGeom>
          <a:ln w="0">
            <a:noFill/>
          </a:ln>
        </p:spPr>
      </p:pic>
      <p:sp>
        <p:nvSpPr>
          <p:cNvPr id="30" name="TextBox 29"/>
          <p:cNvSpPr txBox="1"/>
          <p:nvPr/>
        </p:nvSpPr>
        <p:spPr>
          <a:xfrm>
            <a:off x="4574743" y="4873752"/>
            <a:ext cx="3219602" cy="56235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現実的なライン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72B級は96GB+メモリや複数GPUが必要なため、実務では2B/7B級での運用設計に寄せる。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3660" y="5463971"/>
            <a:ext cx="95098" cy="95098"/>
          </a:xfrm>
          <a:prstGeom prst="rect">
            <a:avLst/>
          </a:prstGeom>
          <a:ln w="0">
            <a:noFill/>
          </a:ln>
        </p:spPr>
      </p:pic>
      <p:sp>
        <p:nvSpPr>
          <p:cNvPr id="32" name="TextBox 31"/>
          <p:cNvSpPr txBox="1"/>
          <p:nvPr/>
        </p:nvSpPr>
        <p:spPr>
          <a:xfrm>
            <a:off x="4574743" y="5445119"/>
            <a:ext cx="3219602" cy="5623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視覚トークン制御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長文・多画像時はKV支配とトークン肥大に注意。max-pixels/マルチ画像数を制御する。 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02497" y="4109314"/>
            <a:ext cx="3638398" cy="1977846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02752" y="4689958"/>
            <a:ext cx="3238805" cy="9144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02752" y="4308653"/>
            <a:ext cx="304494" cy="304494"/>
          </a:xfrm>
          <a:prstGeom prst="roundRect">
            <a:avLst>
              <a:gd name="adj" fmla="val 75075"/>
            </a:avLst>
          </a:prstGeom>
          <a:solidFill>
            <a:srgbClr val="FF950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8706" y="4394606"/>
            <a:ext cx="133502" cy="133501"/>
          </a:xfrm>
          <a:prstGeom prst="rect">
            <a:avLst/>
          </a:prstGeom>
          <a:ln w="0">
            <a:noFill/>
          </a:ln>
        </p:spPr>
      </p:pic>
      <p:sp>
        <p:nvSpPr>
          <p:cNvPr id="37" name="TextBox 36"/>
          <p:cNvSpPr txBox="1"/>
          <p:nvPr/>
        </p:nvSpPr>
        <p:spPr>
          <a:xfrm>
            <a:off x="8702345" y="4347058"/>
            <a:ext cx="1686154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Noto Sans JP"/>
              </a:rPr>
              <a:t>補完戦略（OCR/RAG）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6766" y="4892604"/>
            <a:ext cx="95097" cy="95098"/>
          </a:xfrm>
          <a:prstGeom prst="rect">
            <a:avLst/>
          </a:prstGeom>
          <a:ln w="0">
            <a:noFill/>
          </a:ln>
        </p:spPr>
      </p:pic>
      <p:sp>
        <p:nvSpPr>
          <p:cNvPr id="39" name="TextBox 38"/>
          <p:cNvSpPr txBox="1"/>
          <p:nvPr/>
        </p:nvSpPr>
        <p:spPr>
          <a:xfrm>
            <a:off x="8397850" y="4873752"/>
            <a:ext cx="3219602" cy="56235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不得意のカバー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微細な文字認識や構造化はOCR（PaddleOCR等）に任せ、VLMは「意味理解」に集中させる。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6766" y="5463971"/>
            <a:ext cx="95097" cy="95098"/>
          </a:xfrm>
          <a:prstGeom prst="rect">
            <a:avLst/>
          </a:prstGeom>
          <a:ln w="0">
            <a:noFill/>
          </a:ln>
        </p:spPr>
      </p:pic>
      <p:sp>
        <p:nvSpPr>
          <p:cNvPr id="41" name="TextBox 40"/>
          <p:cNvSpPr txBox="1"/>
          <p:nvPr/>
        </p:nvSpPr>
        <p:spPr>
          <a:xfrm>
            <a:off x="8397850" y="5445119"/>
            <a:ext cx="3219602" cy="5623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ハイブリッド構成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画像から情報をテキスト抽出し、Embedding化してRAGで検索可能にする設計が堅牢。 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675181" y="2295144"/>
            <a:ext cx="533094" cy="533094"/>
          </a:xfrm>
          <a:prstGeom prst="roundRect">
            <a:avLst>
              <a:gd name="adj" fmla="val 36756"/>
            </a:avLst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7886" y="2447849"/>
            <a:ext cx="228600" cy="228600"/>
          </a:xfrm>
          <a:prstGeom prst="rect">
            <a:avLst/>
          </a:prstGeom>
          <a:ln w="0">
            <a:noFill/>
          </a:ln>
        </p:spPr>
      </p:pic>
      <p:sp>
        <p:nvSpPr>
          <p:cNvPr id="44" name="TextBox 43"/>
          <p:cNvSpPr txBox="1"/>
          <p:nvPr/>
        </p:nvSpPr>
        <p:spPr>
          <a:xfrm>
            <a:off x="1474927" y="2905049"/>
            <a:ext cx="943660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>
                <a:solidFill>
                  <a:srgbClr val="1D1D1F"/>
                </a:solidFill>
                <a:latin typeface="Noto Sans JP"/>
              </a:rPr>
              <a:t>サポート確認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0686" y="3195828"/>
            <a:ext cx="1230781" cy="40965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>
                <a:solidFill>
                  <a:srgbClr val="6E6E73"/>
                </a:solidFill>
                <a:latin typeface="Noto Sans JP"/>
              </a:rPr>
              <a:t>README等でランタイム</a:t>
            </a:r>
          </a:p>
          <a:p>
            <a:pPr algn="l"/>
            <a:r>
              <a:rPr sz="800">
                <a:solidFill>
                  <a:srgbClr val="6E6E73"/>
                </a:solidFill>
                <a:latin typeface="Noto Sans JP"/>
              </a:rPr>
              <a:t>(MLX/vLLM)の対応を確認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37944" y="3458260"/>
            <a:ext cx="247801" cy="161848"/>
          </a:xfrm>
          <a:prstGeom prst="rect">
            <a:avLst/>
          </a:prstGeom>
          <a:ln w="0">
            <a:noFill/>
          </a:ln>
        </p:spPr>
      </p:pic>
      <p:sp>
        <p:nvSpPr>
          <p:cNvPr id="47" name="Rectangle 46"/>
          <p:cNvSpPr/>
          <p:nvPr/>
        </p:nvSpPr>
        <p:spPr>
          <a:xfrm>
            <a:off x="1837944" y="3458260"/>
            <a:ext cx="247801" cy="16276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800">
                <a:solidFill>
                  <a:srgbClr val="636366"/>
                </a:solidFill>
                <a:latin typeface="Noto Sans JP"/>
              </a:rPr>
              <a:t>[28]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44898" y="2363724"/>
            <a:ext cx="533094" cy="533094"/>
          </a:xfrm>
          <a:prstGeom prst="roundRect">
            <a:avLst>
              <a:gd name="adj" fmla="val 36756"/>
            </a:avLst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2973" y="2515514"/>
            <a:ext cx="256946" cy="228600"/>
          </a:xfrm>
          <a:prstGeom prst="rect">
            <a:avLst/>
          </a:prstGeom>
          <a:ln w="0">
            <a:noFill/>
          </a:ln>
        </p:spPr>
      </p:pic>
      <p:sp>
        <p:nvSpPr>
          <p:cNvPr id="50" name="TextBox 49"/>
          <p:cNvSpPr txBox="1"/>
          <p:nvPr/>
        </p:nvSpPr>
        <p:spPr>
          <a:xfrm>
            <a:off x="4387291" y="2972714"/>
            <a:ext cx="657453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>
                <a:solidFill>
                  <a:srgbClr val="1D1D1F"/>
                </a:solidFill>
                <a:latin typeface="Noto Sans JP"/>
              </a:rPr>
              <a:t>規模選定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55948" y="3263494"/>
            <a:ext cx="1114653" cy="2770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2B/7B級で設計開始</a:t>
            </a:r>
          </a:p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(72B級は上位HW要件)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13702" y="2363724"/>
            <a:ext cx="533094" cy="533094"/>
          </a:xfrm>
          <a:prstGeom prst="roundRect">
            <a:avLst>
              <a:gd name="adj" fmla="val 36756"/>
            </a:avLst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66406" y="2515514"/>
            <a:ext cx="228600" cy="228600"/>
          </a:xfrm>
          <a:prstGeom prst="rect">
            <a:avLst/>
          </a:prstGeom>
          <a:ln w="0">
            <a:noFill/>
          </a:ln>
        </p:spPr>
      </p:pic>
      <p:sp>
        <p:nvSpPr>
          <p:cNvPr id="54" name="TextBox 53"/>
          <p:cNvSpPr txBox="1"/>
          <p:nvPr/>
        </p:nvSpPr>
        <p:spPr>
          <a:xfrm>
            <a:off x="7013448" y="2972714"/>
            <a:ext cx="943660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>
                <a:solidFill>
                  <a:srgbClr val="1D1D1F"/>
                </a:solidFill>
                <a:latin typeface="Noto Sans JP"/>
              </a:rPr>
              <a:t>トークン制御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76288" y="3263494"/>
            <a:ext cx="1209750" cy="2770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解像度・max-pixels制御</a:t>
            </a:r>
          </a:p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でメモリ爆発を防ぐ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83419" y="2363724"/>
            <a:ext cx="533094" cy="533094"/>
          </a:xfrm>
          <a:prstGeom prst="roundRect">
            <a:avLst>
              <a:gd name="adj" fmla="val 36756"/>
            </a:avLst>
          </a:prstGeom>
          <a:solidFill>
            <a:srgbClr val="E8F5E9"/>
          </a:solidFill>
          <a:ln w="12700">
            <a:solidFill>
              <a:srgbClr val="C8E6C9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36124" y="2515514"/>
            <a:ext cx="228600" cy="228600"/>
          </a:xfrm>
          <a:prstGeom prst="rect">
            <a:avLst/>
          </a:prstGeom>
          <a:ln w="0">
            <a:noFill/>
          </a:ln>
        </p:spPr>
      </p:pic>
      <p:sp>
        <p:nvSpPr>
          <p:cNvPr id="58" name="TextBox 57"/>
          <p:cNvSpPr txBox="1"/>
          <p:nvPr/>
        </p:nvSpPr>
        <p:spPr>
          <a:xfrm>
            <a:off x="9784994" y="2972714"/>
            <a:ext cx="933602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>
                <a:solidFill>
                  <a:srgbClr val="1D1D1F"/>
                </a:solidFill>
                <a:latin typeface="Noto Sans JP"/>
              </a:rPr>
              <a:t>ハイブリッド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02698" y="3263494"/>
            <a:ext cx="1095450" cy="2770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OCRやRAGを併用して</a:t>
            </a:r>
          </a:p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精度と速度を補完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0"/>
            <a:ext cx="12192001" cy="54865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2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" y="734551"/>
            <a:ext cx="12191695" cy="36000"/>
          </a:xfrm>
          <a:prstGeom prst="rect">
            <a:avLst/>
          </a:prstGeom>
          <a:solidFill>
            <a:srgbClr val="E5E5E5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4109314"/>
            <a:ext cx="3638398" cy="1977846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80306" y="4109314"/>
            <a:ext cx="3638398" cy="1977846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02497" y="4109314"/>
            <a:ext cx="3638398" cy="1977846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095805"/>
            <a:ext cx="11277295" cy="17145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3230"/>
            <a:ext cx="333756" cy="267004"/>
          </a:xfrm>
          <a:prstGeom prst="rect">
            <a:avLst/>
          </a:prstGeom>
          <a:ln w="0"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942746" y="176479"/>
            <a:ext cx="4678985" cy="400507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Noto Sans JP"/>
              </a:rPr>
              <a:t>採用判断基準</a:t>
            </a:r>
            <a:r>
              <a:rPr sz="2100" b="1">
                <a:solidFill>
                  <a:srgbClr val="1D1D1F"/>
                </a:solidFill>
                <a:latin typeface="Noto Sans JP"/>
              </a:rPr>
              <a:t>（Agent / Tool-use）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9970" y="261518"/>
            <a:ext cx="347746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86868B"/>
                </a:solidFill>
                <a:latin typeface="Noto Sans JP"/>
              </a:rPr>
              <a:t>JSON</a:t>
            </a:r>
            <a:r>
              <a:rPr sz="1200">
                <a:solidFill>
                  <a:srgbClr val="86868B"/>
                </a:solidFill>
                <a:latin typeface="Noto Sans JP"/>
              </a:rPr>
              <a:t>スキーマ固定と検証ループによる安全運用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90294"/>
            <a:ext cx="11277295" cy="838505"/>
          </a:xfrm>
          <a:prstGeom prst="rect">
            <a:avLst/>
          </a:prstGeom>
          <a:ln w="0"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743407" y="1143000"/>
            <a:ext cx="10840212" cy="5340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Noto Sans JP"/>
              </a:rPr>
              <a:t>結論：JSONスキーマ固定＋検証ループ（自動チェック）による安全運用を基本とし、Ollama/LM StudioのOpenAI互換APIで実装を統一します。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7385" y="2632558"/>
            <a:ext cx="123444" cy="190194"/>
          </a:xfrm>
          <a:prstGeom prst="rect">
            <a:avLst/>
          </a:prstGeom>
          <a:ln w="0">
            <a:noFill/>
          </a:ln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4126" y="2632558"/>
            <a:ext cx="123444" cy="190194"/>
          </a:xfrm>
          <a:prstGeom prst="rect">
            <a:avLst/>
          </a:prstGeom>
          <a:ln w="0">
            <a:noFill/>
          </a:ln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0866" y="2632558"/>
            <a:ext cx="123444" cy="190194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/>
          <p:cNvSpPr/>
          <p:nvPr/>
        </p:nvSpPr>
        <p:spPr>
          <a:xfrm>
            <a:off x="657454" y="4655210"/>
            <a:ext cx="3238805" cy="9144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7454" y="4235501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007A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51" y="4330598"/>
            <a:ext cx="152704" cy="152705"/>
          </a:xfrm>
          <a:prstGeom prst="rect">
            <a:avLst/>
          </a:prstGeom>
          <a:ln w="0">
            <a:noFill/>
          </a:ln>
        </p:spPr>
      </p:pic>
      <p:sp>
        <p:nvSpPr>
          <p:cNvPr id="21" name="TextBox 20"/>
          <p:cNvSpPr txBox="1"/>
          <p:nvPr/>
        </p:nvSpPr>
        <p:spPr>
          <a:xfrm>
            <a:off x="1095451" y="4285793"/>
            <a:ext cx="1224382" cy="24780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Noto Sans JP"/>
              </a:rPr>
              <a:t>スキーマと検証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551" y="4892604"/>
            <a:ext cx="3219602" cy="37947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JSONスキーマの厳格化</a:t>
            </a:r>
            <a:r>
              <a:rPr sz="900">
                <a:solidFill>
                  <a:srgbClr val="424245"/>
                </a:solidFill>
                <a:latin typeface="Noto Sans JP"/>
              </a:rPr>
              <a:t> 必須引数、型定義、Enum制約を厳密に記述し、モデルの構造化出力能力を最大限に活用。破壊時は即時再生成へ。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551" y="5463971"/>
            <a:ext cx="3219602" cy="497614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検証ループの実装</a:t>
            </a:r>
            <a:r>
              <a:rPr sz="900">
                <a:solidFill>
                  <a:srgbClr val="424245"/>
                </a:solidFill>
                <a:latin typeface="Noto Sans JP"/>
              </a:rPr>
              <a:t> 「コード生成→コンパイル/テスト実行」自体をツールとして組み込み、LLM自身に結果をフィードバックするループを構築。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79646" y="4655210"/>
            <a:ext cx="3238804" cy="9144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79646" y="4235501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AF52DE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5599" y="4330598"/>
            <a:ext cx="171906" cy="152705"/>
          </a:xfrm>
          <a:prstGeom prst="rect">
            <a:avLst/>
          </a:prstGeom>
          <a:ln w="0">
            <a:noFill/>
          </a:ln>
        </p:spPr>
      </p:pic>
      <p:sp>
        <p:nvSpPr>
          <p:cNvPr id="27" name="TextBox 26"/>
          <p:cNvSpPr txBox="1"/>
          <p:nvPr/>
        </p:nvSpPr>
        <p:spPr>
          <a:xfrm>
            <a:off x="4917643" y="4285793"/>
            <a:ext cx="1224382" cy="24780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Noto Sans JP"/>
              </a:rPr>
              <a:t>実装基盤の統一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4743" y="4892604"/>
            <a:ext cx="3219602" cy="37947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OpenAI互換APIで統一</a:t>
            </a:r>
            <a:r>
              <a:rPr sz="900">
                <a:solidFill>
                  <a:srgbClr val="424245"/>
                </a:solidFill>
                <a:latin typeface="Noto Sans JP"/>
              </a:rPr>
              <a:t> Ollama/LM Studio等の互換APIを採用し、クライアントコードを標準化。移行性・保守性を確保。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3838" y="5148286"/>
            <a:ext cx="400507" cy="161848"/>
          </a:xfrm>
          <a:prstGeom prst="rect">
            <a:avLst/>
          </a:prstGeom>
          <a:ln w="0">
            <a:noFill/>
          </a:ln>
        </p:spPr>
      </p:pic>
      <p:sp>
        <p:nvSpPr>
          <p:cNvPr id="30" name="Rectangle 29"/>
          <p:cNvSpPr/>
          <p:nvPr/>
        </p:nvSpPr>
        <p:spPr>
          <a:xfrm>
            <a:off x="7393838" y="5148286"/>
            <a:ext cx="400507" cy="16276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800" b="1">
                <a:solidFill>
                  <a:srgbClr val="636366"/>
                </a:solidFill>
                <a:latin typeface="Noto Sans JP"/>
              </a:rPr>
              <a:t>[24,41]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4743" y="5463971"/>
            <a:ext cx="3219602" cy="37947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ランタイム機能の活用</a:t>
            </a:r>
            <a:r>
              <a:rPr sz="900">
                <a:solidFill>
                  <a:srgbClr val="424245"/>
                </a:solidFill>
                <a:latin typeface="Noto Sans JP"/>
              </a:rPr>
              <a:t> 必要に応じて、llama-cpp-python等のランタイム固有機能（文法制約機能など）を補助的に活用。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4604" y="5715000"/>
            <a:ext cx="247802" cy="161848"/>
          </a:xfrm>
          <a:prstGeom prst="rect">
            <a:avLst/>
          </a:prstGeom>
          <a:ln w="0">
            <a:noFill/>
          </a:ln>
        </p:spPr>
      </p:pic>
      <p:sp>
        <p:nvSpPr>
          <p:cNvPr id="33" name="Rectangle 32"/>
          <p:cNvSpPr/>
          <p:nvPr/>
        </p:nvSpPr>
        <p:spPr>
          <a:xfrm>
            <a:off x="7534604" y="5715000"/>
            <a:ext cx="247802" cy="16276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800">
                <a:solidFill>
                  <a:srgbClr val="636366"/>
                </a:solidFill>
                <a:latin typeface="Noto Sans JP"/>
              </a:rPr>
              <a:t>[25]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02752" y="4655210"/>
            <a:ext cx="3238805" cy="9144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02752" y="4235501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F3B3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7850" y="4330598"/>
            <a:ext cx="152705" cy="152705"/>
          </a:xfrm>
          <a:prstGeom prst="rect">
            <a:avLst/>
          </a:prstGeom>
          <a:ln w="0">
            <a:noFill/>
          </a:ln>
        </p:spPr>
      </p:pic>
      <p:sp>
        <p:nvSpPr>
          <p:cNvPr id="37" name="TextBox 36"/>
          <p:cNvSpPr txBox="1"/>
          <p:nvPr/>
        </p:nvSpPr>
        <p:spPr>
          <a:xfrm>
            <a:off x="8740750" y="4285793"/>
            <a:ext cx="1017726" cy="24780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Noto Sans JP"/>
              </a:rPr>
              <a:t>幻覚API対策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7850" y="4892604"/>
            <a:ext cx="3219602" cy="37947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ホワイトリスト化</a:t>
            </a:r>
            <a:r>
              <a:rPr sz="900">
                <a:solidFill>
                  <a:srgbClr val="424245"/>
                </a:solidFill>
                <a:latin typeface="Noto Sans JP"/>
              </a:rPr>
              <a:t> 実行可能な関数セットを厳密にホワイトリスト化し、存在しないAPIの呼び出し（幻覚）をシステム側で遮断。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7850" y="5463971"/>
            <a:ext cx="3219602" cy="37947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タイムアウトとリトライ</a:t>
            </a:r>
            <a:r>
              <a:rPr sz="900">
                <a:solidFill>
                  <a:srgbClr val="424245"/>
                </a:solidFill>
                <a:latin typeface="Noto Sans JP"/>
              </a:rPr>
              <a:t> 無限ループや応答遅延を防ぐため、標準でタイムアウト設定とリトライ上限を設ける設計を義務化。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39189" y="2295144"/>
            <a:ext cx="533094" cy="533094"/>
          </a:xfrm>
          <a:prstGeom prst="rect">
            <a:avLst/>
          </a:prstGeom>
          <a:ln w="0">
            <a:noFill/>
          </a:ln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63547" y="2447849"/>
            <a:ext cx="286206" cy="228600"/>
          </a:xfrm>
          <a:prstGeom prst="rect">
            <a:avLst/>
          </a:prstGeom>
          <a:ln w="0">
            <a:noFill/>
          </a:ln>
        </p:spPr>
      </p:pic>
      <p:sp>
        <p:nvSpPr>
          <p:cNvPr id="42" name="TextBox 41"/>
          <p:cNvSpPr txBox="1"/>
          <p:nvPr/>
        </p:nvSpPr>
        <p:spPr>
          <a:xfrm>
            <a:off x="1538935" y="2943454"/>
            <a:ext cx="943661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>
                <a:solidFill>
                  <a:srgbClr val="1D1D1F"/>
                </a:solidFill>
                <a:latin typeface="Noto Sans JP"/>
              </a:rPr>
              <a:t>スキーマ定義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06347" y="3233318"/>
            <a:ext cx="1209751" cy="305409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>
                <a:solidFill>
                  <a:srgbClr val="6E6E73"/>
                </a:solidFill>
                <a:latin typeface="Noto Sans JP"/>
              </a:rPr>
              <a:t>必須引数・型・制約を</a:t>
            </a:r>
          </a:p>
          <a:p>
            <a:pPr algn="ctr"/>
            <a:r>
              <a:rPr sz="900">
                <a:solidFill>
                  <a:srgbClr val="6E6E73"/>
                </a:solidFill>
                <a:latin typeface="Noto Sans JP"/>
              </a:rPr>
              <a:t>厳格化して固定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65930" y="2295144"/>
            <a:ext cx="533094" cy="533094"/>
          </a:xfrm>
          <a:prstGeom prst="rect">
            <a:avLst/>
          </a:prstGeom>
          <a:ln w="0">
            <a:noFill/>
          </a:ln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04004" y="2447849"/>
            <a:ext cx="256946" cy="228600"/>
          </a:xfrm>
          <a:prstGeom prst="rect">
            <a:avLst/>
          </a:prstGeom>
          <a:ln w="0">
            <a:noFill/>
          </a:ln>
        </p:spPr>
      </p:pic>
      <p:sp>
        <p:nvSpPr>
          <p:cNvPr id="46" name="TextBox 45"/>
          <p:cNvSpPr txBox="1"/>
          <p:nvPr/>
        </p:nvSpPr>
        <p:spPr>
          <a:xfrm>
            <a:off x="4336999" y="2943454"/>
            <a:ext cx="800100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>
                <a:solidFill>
                  <a:srgbClr val="1D1D1F"/>
                </a:solidFill>
                <a:latin typeface="Noto Sans JP"/>
              </a:rPr>
              <a:t>ツール実行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0228" y="3233318"/>
            <a:ext cx="1248155" cy="305409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>
                <a:solidFill>
                  <a:srgbClr val="6E6E73"/>
                </a:solidFill>
                <a:latin typeface="Noto Sans JP"/>
              </a:rPr>
              <a:t>Ollama/LM Studio経由</a:t>
            </a:r>
          </a:p>
          <a:p>
            <a:pPr algn="ctr"/>
            <a:r>
              <a:rPr sz="900">
                <a:solidFill>
                  <a:srgbClr val="6E6E73"/>
                </a:solidFill>
                <a:latin typeface="Noto Sans JP"/>
              </a:rPr>
              <a:t>OpenAI互換API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92670" y="2295144"/>
            <a:ext cx="533094" cy="533094"/>
          </a:xfrm>
          <a:prstGeom prst="rect">
            <a:avLst/>
          </a:prstGeom>
          <a:ln w="0">
            <a:noFill/>
          </a:ln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45375" y="2447849"/>
            <a:ext cx="228600" cy="228600"/>
          </a:xfrm>
          <a:prstGeom prst="rect">
            <a:avLst/>
          </a:prstGeom>
          <a:ln w="0">
            <a:noFill/>
          </a:ln>
        </p:spPr>
      </p:pic>
      <p:sp>
        <p:nvSpPr>
          <p:cNvPr id="50" name="TextBox 49"/>
          <p:cNvSpPr txBox="1"/>
          <p:nvPr/>
        </p:nvSpPr>
        <p:spPr>
          <a:xfrm>
            <a:off x="7068311" y="2943454"/>
            <a:ext cx="790955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>
                <a:solidFill>
                  <a:srgbClr val="1D1D1F"/>
                </a:solidFill>
                <a:latin typeface="Noto Sans JP"/>
              </a:rPr>
              <a:t>検証ループ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36969" y="3233318"/>
            <a:ext cx="1248155" cy="305409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>
                <a:solidFill>
                  <a:srgbClr val="6E6E73"/>
                </a:solidFill>
                <a:latin typeface="Noto Sans JP"/>
              </a:rPr>
              <a:t>コンパイル/テスト実行</a:t>
            </a:r>
          </a:p>
          <a:p>
            <a:pPr algn="ctr"/>
            <a:r>
              <a:rPr sz="900">
                <a:solidFill>
                  <a:srgbClr val="6E6E73"/>
                </a:solidFill>
                <a:latin typeface="Noto Sans JP"/>
              </a:rPr>
              <a:t>失敗時は再生成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19411" y="2295144"/>
            <a:ext cx="533094" cy="533094"/>
          </a:xfrm>
          <a:prstGeom prst="rect">
            <a:avLst/>
          </a:prstGeom>
          <a:ln w="0">
            <a:noFill/>
          </a:ln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71202" y="2447849"/>
            <a:ext cx="228600" cy="228600"/>
          </a:xfrm>
          <a:prstGeom prst="rect">
            <a:avLst/>
          </a:prstGeom>
          <a:ln w="0">
            <a:noFill/>
          </a:ln>
        </p:spPr>
      </p:pic>
      <p:sp>
        <p:nvSpPr>
          <p:cNvPr id="54" name="TextBox 53"/>
          <p:cNvSpPr txBox="1"/>
          <p:nvPr/>
        </p:nvSpPr>
        <p:spPr>
          <a:xfrm>
            <a:off x="9680753" y="2943454"/>
            <a:ext cx="1012240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1">
                <a:solidFill>
                  <a:srgbClr val="1D1D1F"/>
                </a:solidFill>
                <a:latin typeface="Noto Sans JP"/>
              </a:rPr>
              <a:t>完了/リトライ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56648" y="3233318"/>
            <a:ext cx="866850" cy="305409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>
                <a:solidFill>
                  <a:srgbClr val="6E6E73"/>
                </a:solidFill>
                <a:latin typeface="Noto Sans JP"/>
              </a:rPr>
              <a:t>結果確認または</a:t>
            </a:r>
          </a:p>
          <a:p>
            <a:pPr algn="ctr"/>
            <a:r>
              <a:rPr sz="900">
                <a:solidFill>
                  <a:srgbClr val="6E6E73"/>
                </a:solidFill>
                <a:latin typeface="Noto Sans JP"/>
              </a:rPr>
              <a:t>フォールバック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1468" y="4892604"/>
            <a:ext cx="95098" cy="95098"/>
          </a:xfrm>
          <a:prstGeom prst="rect">
            <a:avLst/>
          </a:prstGeom>
          <a:ln w="0">
            <a:noFill/>
          </a:ln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1468" y="5463971"/>
            <a:ext cx="95098" cy="95098"/>
          </a:xfrm>
          <a:prstGeom prst="rect">
            <a:avLst/>
          </a:prstGeom>
          <a:ln w="0">
            <a:noFill/>
          </a:ln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13660" y="4892604"/>
            <a:ext cx="95098" cy="95098"/>
          </a:xfrm>
          <a:prstGeom prst="rect">
            <a:avLst/>
          </a:prstGeom>
          <a:ln w="0">
            <a:noFill/>
          </a:ln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13660" y="5463971"/>
            <a:ext cx="95098" cy="95098"/>
          </a:xfrm>
          <a:prstGeom prst="rect">
            <a:avLst/>
          </a:prstGeom>
          <a:ln w="0">
            <a:noFill/>
          </a:ln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36766" y="4892604"/>
            <a:ext cx="95097" cy="95098"/>
          </a:xfrm>
          <a:prstGeom prst="rect">
            <a:avLst/>
          </a:prstGeom>
          <a:ln w="0">
            <a:noFill/>
          </a:ln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36766" y="5463971"/>
            <a:ext cx="95097" cy="95098"/>
          </a:xfrm>
          <a:prstGeom prst="rect">
            <a:avLst/>
          </a:prstGeom>
          <a:ln w="0">
            <a:noFill/>
          </a:ln>
        </p:spPr>
      </p:pic>
      <p:sp>
        <p:nvSpPr>
          <p:cNvPr id="62" name="Rectangle 61"/>
          <p:cNvSpPr/>
          <p:nvPr/>
        </p:nvSpPr>
        <p:spPr>
          <a:xfrm>
            <a:off x="0" y="0"/>
            <a:ext cx="12192001" cy="54865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6695"/>
            <a:ext cx="12191695" cy="381305"/>
          </a:xfrm>
          <a:prstGeom prst="rect">
            <a:avLst/>
          </a:prstGeom>
          <a:ln w="0">
            <a:noFill/>
          </a:ln>
        </p:spPr>
      </p:pic>
      <p:sp>
        <p:nvSpPr>
          <p:cNvPr id="4" name="Rectangle 3"/>
          <p:cNvSpPr/>
          <p:nvPr/>
        </p:nvSpPr>
        <p:spPr>
          <a:xfrm>
            <a:off x="0" y="752551"/>
            <a:ext cx="12191695" cy="914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3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sp>
        <p:nvSpPr>
          <p:cNvPr id="6" name="Oval 5"/>
          <p:cNvSpPr/>
          <p:nvPr/>
        </p:nvSpPr>
        <p:spPr>
          <a:xfrm>
            <a:off x="1749247" y="2295144"/>
            <a:ext cx="456286" cy="457200"/>
          </a:xfrm>
          <a:prstGeom prst="ellipse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49247" y="229514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4495190" y="2295144"/>
            <a:ext cx="456286" cy="457200"/>
          </a:xfrm>
          <a:prstGeom prst="ellipse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4276" y="229514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9986162" y="2295144"/>
            <a:ext cx="456286" cy="457200"/>
          </a:xfrm>
          <a:prstGeom prst="ellipse">
            <a:avLst/>
          </a:prstGeom>
          <a:solidFill>
            <a:srgbClr val="33C759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86162" y="229514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7240219" y="2295144"/>
            <a:ext cx="456286" cy="457200"/>
          </a:xfrm>
          <a:prstGeom prst="ellipse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40219" y="229514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3230"/>
            <a:ext cx="200253" cy="267004"/>
          </a:xfrm>
          <a:prstGeom prst="rect">
            <a:avLst/>
          </a:prstGeom>
          <a:ln w="0">
            <a:noFill/>
          </a:ln>
        </p:spPr>
      </p:pic>
      <p:sp>
        <p:nvSpPr>
          <p:cNvPr id="15" name="TextBox 14"/>
          <p:cNvSpPr txBox="1"/>
          <p:nvPr/>
        </p:nvSpPr>
        <p:spPr>
          <a:xfrm>
            <a:off x="809244" y="176479"/>
            <a:ext cx="2848356" cy="400507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Noto Sans JP"/>
              </a:rPr>
              <a:t>採用判断基準</a:t>
            </a:r>
            <a:r>
              <a:rPr sz="2100" b="1">
                <a:solidFill>
                  <a:srgbClr val="1D1D1F"/>
                </a:solidFill>
                <a:latin typeface="Noto Sans JP"/>
              </a:rPr>
              <a:t>（ASR）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5146" y="261518"/>
            <a:ext cx="3210458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86868B"/>
                </a:solidFill>
                <a:latin typeface="Noto Sans JP"/>
              </a:rPr>
              <a:t>RTF要件と誤転記リスクに基づく選定フロー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90294"/>
            <a:ext cx="11277295" cy="838505"/>
          </a:xfrm>
          <a:prstGeom prst="rect">
            <a:avLst/>
          </a:prstGeom>
          <a:ln w="0">
            <a:noFill/>
          </a:ln>
        </p:spPr>
      </p:pic>
      <p:sp>
        <p:nvSpPr>
          <p:cNvPr id="18" name="TextBox 17"/>
          <p:cNvSpPr txBox="1"/>
          <p:nvPr/>
        </p:nvSpPr>
        <p:spPr>
          <a:xfrm>
            <a:off x="743407" y="1143000"/>
            <a:ext cx="10840212" cy="5340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Noto Sans JP"/>
              </a:rPr>
              <a:t>結論：faster-whisperを基準実装とし、RTF要件・誤転記リスクに応じてGPU化やモデル拡大を検討する段階的最適化が合理的です。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095805"/>
            <a:ext cx="11277295" cy="1485900"/>
          </a:xfrm>
          <a:prstGeom prst="roundRect">
            <a:avLst>
              <a:gd name="adj" fmla="val 4734"/>
            </a:avLst>
          </a:prstGeom>
          <a:noFill/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8241" y="2615184"/>
            <a:ext cx="105155" cy="171906"/>
          </a:xfrm>
          <a:prstGeom prst="rect">
            <a:avLst/>
          </a:prstGeom>
          <a:ln w="0">
            <a:noFill/>
          </a:ln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3270" y="2615184"/>
            <a:ext cx="105155" cy="171906"/>
          </a:xfrm>
          <a:prstGeom prst="rect">
            <a:avLst/>
          </a:prstGeom>
          <a:ln w="0">
            <a:noFill/>
          </a:ln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9213" y="2615184"/>
            <a:ext cx="105155" cy="171906"/>
          </a:xfrm>
          <a:prstGeom prst="rect">
            <a:avLst/>
          </a:prstGeom>
          <a:ln w="0">
            <a:noFill/>
          </a:ln>
        </p:spPr>
      </p:pic>
      <p:sp>
        <p:nvSpPr>
          <p:cNvPr id="23" name="Rounded Rectangle 22"/>
          <p:cNvSpPr/>
          <p:nvPr/>
        </p:nvSpPr>
        <p:spPr>
          <a:xfrm>
            <a:off x="457200" y="3882541"/>
            <a:ext cx="3638398" cy="1864385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7454" y="4464101"/>
            <a:ext cx="3238805" cy="9144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7454" y="4082796"/>
            <a:ext cx="304495" cy="304494"/>
          </a:xfrm>
          <a:prstGeom prst="roundRect">
            <a:avLst>
              <a:gd name="adj" fmla="val 75075"/>
            </a:avLst>
          </a:prstGeom>
          <a:solidFill>
            <a:srgbClr val="007A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" y="4167835"/>
            <a:ext cx="133501" cy="133501"/>
          </a:xfrm>
          <a:prstGeom prst="rect">
            <a:avLst/>
          </a:prstGeom>
          <a:ln w="0">
            <a:noFill/>
          </a:ln>
        </p:spPr>
      </p:pic>
      <p:sp>
        <p:nvSpPr>
          <p:cNvPr id="27" name="TextBox 26"/>
          <p:cNvSpPr txBox="1"/>
          <p:nvPr/>
        </p:nvSpPr>
        <p:spPr>
          <a:xfrm>
            <a:off x="1057046" y="4120286"/>
            <a:ext cx="1000354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Noto Sans JP"/>
              </a:rPr>
              <a:t>前処理の固定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551" y="4646981"/>
            <a:ext cx="3219602" cy="56235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VAD設定の統一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無音区間の除去は認識精度と速度に直結するため、Silero VAD等の設定を固定し再現性を担保する。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2551" y="5184571"/>
            <a:ext cx="3219602" cy="56235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ベンチマーク条件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同一音声・同一前処理での比較が必須（後章のベンチ設計参照）。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0306" y="3882541"/>
            <a:ext cx="3638398" cy="1864385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79646" y="4464101"/>
            <a:ext cx="3238804" cy="9144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479646" y="4082796"/>
            <a:ext cx="304494" cy="304494"/>
          </a:xfrm>
          <a:prstGeom prst="roundRect">
            <a:avLst>
              <a:gd name="adj" fmla="val 75075"/>
            </a:avLst>
          </a:prstGeom>
          <a:solidFill>
            <a:srgbClr val="34C759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6397" y="4167835"/>
            <a:ext cx="171906" cy="133501"/>
          </a:xfrm>
          <a:prstGeom prst="rect">
            <a:avLst/>
          </a:prstGeom>
          <a:ln w="0">
            <a:noFill/>
          </a:ln>
        </p:spPr>
      </p:pic>
      <p:sp>
        <p:nvSpPr>
          <p:cNvPr id="34" name="TextBox 33"/>
          <p:cNvSpPr txBox="1"/>
          <p:nvPr/>
        </p:nvSpPr>
        <p:spPr>
          <a:xfrm>
            <a:off x="4880153" y="4120286"/>
            <a:ext cx="1163117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Noto Sans JP"/>
              </a:rPr>
              <a:t>会議用途の要点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4743" y="4646981"/>
            <a:ext cx="3219602" cy="56235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話者分離が品質の土台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pyannote.audio等の話者分離（Diarization）精度が議事録の質を左右する。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4743" y="5184571"/>
            <a:ext cx="3219602" cy="56235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無音除去の設計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幻覚（無音区間にテキストが入る現象）を防ぐため、VADによる無音区間の破棄を徹底する。 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02497" y="3882541"/>
            <a:ext cx="3638398" cy="1864385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02752" y="4464101"/>
            <a:ext cx="3238805" cy="9144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02752" y="4082796"/>
            <a:ext cx="304494" cy="304494"/>
          </a:xfrm>
          <a:prstGeom prst="roundRect">
            <a:avLst>
              <a:gd name="adj" fmla="val 75075"/>
            </a:avLst>
          </a:prstGeom>
          <a:solidFill>
            <a:srgbClr val="FF950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8706" y="4167835"/>
            <a:ext cx="133502" cy="133501"/>
          </a:xfrm>
          <a:prstGeom prst="rect">
            <a:avLst/>
          </a:prstGeom>
          <a:ln w="0">
            <a:noFill/>
          </a:ln>
        </p:spPr>
      </p:pic>
      <p:sp>
        <p:nvSpPr>
          <p:cNvPr id="41" name="TextBox 40"/>
          <p:cNvSpPr txBox="1"/>
          <p:nvPr/>
        </p:nvSpPr>
        <p:spPr>
          <a:xfrm>
            <a:off x="8702345" y="4120286"/>
            <a:ext cx="84856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Noto Sans JP"/>
              </a:rPr>
              <a:t>リスク管理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7850" y="4646981"/>
            <a:ext cx="3219602" cy="56235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誤転記（幻覚）への対処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医療や重要業務では誤転記が実害となる可能性があるため、検証プロセスを必須化。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7057" y="4935017"/>
            <a:ext cx="247802" cy="161848"/>
          </a:xfrm>
          <a:prstGeom prst="rect">
            <a:avLst/>
          </a:prstGeom>
          <a:ln w="0">
            <a:noFill/>
          </a:ln>
        </p:spPr>
      </p:pic>
      <p:sp>
        <p:nvSpPr>
          <p:cNvPr id="44" name="Rectangle 43"/>
          <p:cNvSpPr/>
          <p:nvPr/>
        </p:nvSpPr>
        <p:spPr>
          <a:xfrm>
            <a:off x="9827057" y="4935017"/>
            <a:ext cx="247802" cy="16276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800">
                <a:solidFill>
                  <a:srgbClr val="636366"/>
                </a:solidFill>
                <a:latin typeface="Noto Sans JP"/>
              </a:rPr>
              <a:t>[49]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7850" y="5184571"/>
            <a:ext cx="3219602" cy="56235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リソース監視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ストリーミング用途ではRTFだけでなく、長時間稼働時のメモリリーク等も監視対象とする。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72438" y="2829154"/>
            <a:ext cx="609905" cy="200254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>
                <a:solidFill>
                  <a:srgbClr val="1D1D1F"/>
                </a:solidFill>
                <a:latin typeface="Noto Sans JP"/>
              </a:rPr>
              <a:t>基準実装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19733" y="3105302"/>
            <a:ext cx="924458" cy="2770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faster-whisper</a:t>
            </a:r>
          </a:p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(CPU/INT8)で検証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27525" y="2829154"/>
            <a:ext cx="600760" cy="200254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>
                <a:solidFill>
                  <a:srgbClr val="1D1D1F"/>
                </a:solidFill>
                <a:latin typeface="Noto Sans JP"/>
              </a:rPr>
              <a:t>RTF評価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98594" y="3105302"/>
            <a:ext cx="857707" cy="2770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実時間比(RTF)&lt;1</a:t>
            </a:r>
          </a:p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を満たすか確認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64324" y="2829154"/>
            <a:ext cx="609905" cy="200254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>
                <a:solidFill>
                  <a:srgbClr val="1D1D1F"/>
                </a:solidFill>
                <a:latin typeface="Noto Sans JP"/>
              </a:rPr>
              <a:t>品質評価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90258" y="3105302"/>
            <a:ext cx="762610" cy="2770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誤転記(幻覚)の</a:t>
            </a:r>
          </a:p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許容範囲内か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76104" y="2829154"/>
            <a:ext cx="476402" cy="200254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>
                <a:solidFill>
                  <a:srgbClr val="1D1D1F"/>
                </a:solidFill>
                <a:latin typeface="Noto Sans JP"/>
              </a:rPr>
              <a:t>最適化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66706" y="3105302"/>
            <a:ext cx="896112" cy="2770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不足ならGPU化</a:t>
            </a:r>
          </a:p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またはモデル拡大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468" y="4646981"/>
            <a:ext cx="95098" cy="95098"/>
          </a:xfrm>
          <a:prstGeom prst="rect">
            <a:avLst/>
          </a:prstGeom>
          <a:ln w="0">
            <a:noFill/>
          </a:ln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468" y="5184571"/>
            <a:ext cx="95098" cy="95098"/>
          </a:xfrm>
          <a:prstGeom prst="rect">
            <a:avLst/>
          </a:prstGeom>
          <a:ln w="0">
            <a:noFill/>
          </a:ln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13660" y="4646981"/>
            <a:ext cx="95098" cy="95098"/>
          </a:xfrm>
          <a:prstGeom prst="rect">
            <a:avLst/>
          </a:prstGeom>
          <a:ln w="0">
            <a:noFill/>
          </a:ln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13660" y="5184571"/>
            <a:ext cx="95098" cy="95098"/>
          </a:xfrm>
          <a:prstGeom prst="rect">
            <a:avLst/>
          </a:prstGeom>
          <a:ln w="0">
            <a:noFill/>
          </a:ln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36766" y="4646981"/>
            <a:ext cx="95097" cy="95098"/>
          </a:xfrm>
          <a:prstGeom prst="rect">
            <a:avLst/>
          </a:prstGeom>
          <a:ln w="0">
            <a:noFill/>
          </a:ln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36766" y="5184571"/>
            <a:ext cx="95097" cy="95098"/>
          </a:xfrm>
          <a:prstGeom prst="rect">
            <a:avLst/>
          </a:prstGeom>
          <a:ln w="0">
            <a:noFill/>
          </a:ln>
        </p:spPr>
      </p:pic>
      <p:sp>
        <p:nvSpPr>
          <p:cNvPr id="60" name="Rectangle 59"/>
          <p:cNvSpPr/>
          <p:nvPr/>
        </p:nvSpPr>
        <p:spPr>
          <a:xfrm>
            <a:off x="0" y="0"/>
            <a:ext cx="12192001" cy="54865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6695"/>
            <a:ext cx="12191695" cy="381305"/>
          </a:xfrm>
          <a:prstGeom prst="rect">
            <a:avLst/>
          </a:prstGeom>
          <a:ln w="0">
            <a:noFill/>
          </a:ln>
        </p:spPr>
      </p:pic>
      <p:sp>
        <p:nvSpPr>
          <p:cNvPr id="4" name="Rectangle 3"/>
          <p:cNvSpPr/>
          <p:nvPr/>
        </p:nvSpPr>
        <p:spPr>
          <a:xfrm>
            <a:off x="0" y="752551"/>
            <a:ext cx="12191695" cy="914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4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sp>
        <p:nvSpPr>
          <p:cNvPr id="6" name="Oval 5"/>
          <p:cNvSpPr/>
          <p:nvPr/>
        </p:nvSpPr>
        <p:spPr>
          <a:xfrm>
            <a:off x="10057486" y="2295144"/>
            <a:ext cx="456286" cy="457200"/>
          </a:xfrm>
          <a:prstGeom prst="ellipse">
            <a:avLst/>
          </a:prstGeom>
          <a:solidFill>
            <a:srgbClr val="33C759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63994" y="2295144"/>
            <a:ext cx="456286" cy="457200"/>
          </a:xfrm>
          <a:prstGeom prst="ellipse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70502" y="2295144"/>
            <a:ext cx="456286" cy="457200"/>
          </a:xfrm>
          <a:prstGeom prst="ellipse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7924" y="2295144"/>
            <a:ext cx="456286" cy="457200"/>
          </a:xfrm>
          <a:prstGeom prst="ellipse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77924" y="229514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70502" y="229514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3994" y="229514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7486" y="229514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82541"/>
            <a:ext cx="3638398" cy="1864385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80306" y="3882541"/>
            <a:ext cx="3638398" cy="1864385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02497" y="3882541"/>
            <a:ext cx="3638398" cy="1864385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3230"/>
            <a:ext cx="333756" cy="267004"/>
          </a:xfrm>
          <a:prstGeom prst="rect">
            <a:avLst/>
          </a:prstGeom>
          <a:ln w="0">
            <a:noFill/>
          </a:ln>
        </p:spPr>
      </p:pic>
      <p:sp>
        <p:nvSpPr>
          <p:cNvPr id="18" name="TextBox 17"/>
          <p:cNvSpPr txBox="1"/>
          <p:nvPr/>
        </p:nvSpPr>
        <p:spPr>
          <a:xfrm>
            <a:off x="942746" y="176479"/>
            <a:ext cx="2820010" cy="400507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Noto Sans JP"/>
              </a:rPr>
              <a:t>採用判断基準</a:t>
            </a:r>
            <a:r>
              <a:rPr sz="2100" b="1">
                <a:solidFill>
                  <a:srgbClr val="1D1D1F"/>
                </a:solidFill>
                <a:latin typeface="Noto Sans JP"/>
              </a:rPr>
              <a:t>（TTS）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8495" y="261518"/>
            <a:ext cx="247985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86868B"/>
                </a:solidFill>
                <a:latin typeface="Noto Sans JP"/>
              </a:rPr>
              <a:t>品質・コスト・リスクの分離管理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90294"/>
            <a:ext cx="11277295" cy="838505"/>
          </a:xfrm>
          <a:prstGeom prst="rect">
            <a:avLst/>
          </a:prstGeom>
          <a:ln w="0">
            <a:noFill/>
          </a:ln>
        </p:spPr>
      </p:pic>
      <p:sp>
        <p:nvSpPr>
          <p:cNvPr id="21" name="TextBox 20"/>
          <p:cNvSpPr txBox="1"/>
          <p:nvPr/>
        </p:nvSpPr>
        <p:spPr>
          <a:xfrm>
            <a:off x="743407" y="1143000"/>
            <a:ext cx="10840212" cy="5340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Noto Sans JP"/>
              </a:rPr>
              <a:t>結論：「読み上げ（通知・要約）」と「クローン（本人声）」は別レイヤで運用すべきです。前者は軽量化し、後者は法務・倫理リスクを管理します。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095805"/>
            <a:ext cx="11277295" cy="1485900"/>
          </a:xfrm>
          <a:prstGeom prst="roundRect">
            <a:avLst>
              <a:gd name="adj" fmla="val 4734"/>
            </a:avLst>
          </a:prstGeom>
          <a:noFill/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0692" y="2615184"/>
            <a:ext cx="105156" cy="171906"/>
          </a:xfrm>
          <a:prstGeom prst="rect">
            <a:avLst/>
          </a:prstGeom>
          <a:ln w="0">
            <a:noFill/>
          </a:ln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3270" y="2615184"/>
            <a:ext cx="105155" cy="171906"/>
          </a:xfrm>
          <a:prstGeom prst="rect">
            <a:avLst/>
          </a:prstGeom>
          <a:ln w="0">
            <a:noFill/>
          </a:ln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6762" y="2615184"/>
            <a:ext cx="105155" cy="171906"/>
          </a:xfrm>
          <a:prstGeom prst="rect">
            <a:avLst/>
          </a:prstGeom>
          <a:ln w="0">
            <a:noFill/>
          </a:ln>
        </p:spPr>
      </p:pic>
      <p:sp>
        <p:nvSpPr>
          <p:cNvPr id="26" name="Rectangle 25"/>
          <p:cNvSpPr/>
          <p:nvPr/>
        </p:nvSpPr>
        <p:spPr>
          <a:xfrm>
            <a:off x="657454" y="4464101"/>
            <a:ext cx="3238805" cy="9144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7454" y="4082796"/>
            <a:ext cx="304495" cy="304494"/>
          </a:xfrm>
          <a:prstGeom prst="roundRect">
            <a:avLst>
              <a:gd name="adj" fmla="val 75075"/>
            </a:avLst>
          </a:prstGeom>
          <a:solidFill>
            <a:srgbClr val="007A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349" y="4167835"/>
            <a:ext cx="152704" cy="133501"/>
          </a:xfrm>
          <a:prstGeom prst="rect">
            <a:avLst/>
          </a:prstGeom>
          <a:ln w="0">
            <a:noFill/>
          </a:ln>
        </p:spPr>
      </p:pic>
      <p:sp>
        <p:nvSpPr>
          <p:cNvPr id="29" name="TextBox 28"/>
          <p:cNvSpPr txBox="1"/>
          <p:nvPr/>
        </p:nvSpPr>
        <p:spPr>
          <a:xfrm>
            <a:off x="1057046" y="4120286"/>
            <a:ext cx="1600200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Noto Sans JP"/>
              </a:rPr>
              <a:t>分離運用（Layered）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551" y="4646981"/>
            <a:ext cx="3219602" cy="396848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軽量TTSの常駐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通知・要約読み上げはPiper/Kokoro等で省リソース化し、システムに常駐させる。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551" y="5184571"/>
            <a:ext cx="3219602" cy="4096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クローンは別系統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XTTS等はGPUリソースを消費するため、必要な時のみ呼び出す別サービスとして切り出す。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79646" y="4464101"/>
            <a:ext cx="3238804" cy="9144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479646" y="4082796"/>
            <a:ext cx="304494" cy="304494"/>
          </a:xfrm>
          <a:prstGeom prst="roundRect">
            <a:avLst>
              <a:gd name="adj" fmla="val 75075"/>
            </a:avLst>
          </a:prstGeom>
          <a:solidFill>
            <a:srgbClr val="FF950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5599" y="4167835"/>
            <a:ext cx="133501" cy="133501"/>
          </a:xfrm>
          <a:prstGeom prst="rect">
            <a:avLst/>
          </a:prstGeom>
          <a:ln w="0">
            <a:noFill/>
          </a:ln>
        </p:spPr>
      </p:pic>
      <p:sp>
        <p:nvSpPr>
          <p:cNvPr id="35" name="TextBox 34"/>
          <p:cNvSpPr txBox="1"/>
          <p:nvPr/>
        </p:nvSpPr>
        <p:spPr>
          <a:xfrm>
            <a:off x="4880153" y="4120286"/>
            <a:ext cx="1965045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Noto Sans JP"/>
              </a:rPr>
              <a:t>リスク・コンプライアンス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4743" y="4646981"/>
            <a:ext cx="3219602" cy="396848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権利同意の必須化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音声クローンは法務・倫理リスクが高い。業務利用時は対象者の書面同意をプロセス化する。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4743" y="5184571"/>
            <a:ext cx="3219602" cy="4096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ログ監査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「誰が・いつ・何を」生成したかのログを保存し、不正利用を追跡可能にする。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6543" y="5507812"/>
            <a:ext cx="247802" cy="161848"/>
          </a:xfrm>
          <a:prstGeom prst="rect">
            <a:avLst/>
          </a:prstGeom>
          <a:ln w="0">
            <a:noFill/>
          </a:ln>
        </p:spPr>
      </p:pic>
      <p:sp>
        <p:nvSpPr>
          <p:cNvPr id="39" name="Rectangle 38"/>
          <p:cNvSpPr/>
          <p:nvPr/>
        </p:nvSpPr>
        <p:spPr>
          <a:xfrm>
            <a:off x="7546543" y="5507812"/>
            <a:ext cx="247802" cy="16276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800">
                <a:solidFill>
                  <a:srgbClr val="636366"/>
                </a:solidFill>
                <a:latin typeface="Noto Sans JP"/>
              </a:rPr>
              <a:t>[56]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02752" y="4464101"/>
            <a:ext cx="3238805" cy="9144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302752" y="4082796"/>
            <a:ext cx="304494" cy="304494"/>
          </a:xfrm>
          <a:prstGeom prst="roundRect">
            <a:avLst>
              <a:gd name="adj" fmla="val 75075"/>
            </a:avLst>
          </a:prstGeom>
          <a:solidFill>
            <a:srgbClr val="34C759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2422" y="4167835"/>
            <a:ext cx="105155" cy="133501"/>
          </a:xfrm>
          <a:prstGeom prst="rect">
            <a:avLst/>
          </a:prstGeom>
          <a:ln w="0">
            <a:noFill/>
          </a:ln>
        </p:spPr>
      </p:pic>
      <p:sp>
        <p:nvSpPr>
          <p:cNvPr id="43" name="TextBox 42"/>
          <p:cNvSpPr txBox="1"/>
          <p:nvPr/>
        </p:nvSpPr>
        <p:spPr>
          <a:xfrm>
            <a:off x="8702345" y="4120286"/>
            <a:ext cx="1209750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Noto Sans JP"/>
              </a:rPr>
              <a:t>品質保証（QA）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97850" y="4646981"/>
            <a:ext cx="3219602" cy="396848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日本語品質の事前試験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モデルによりアクセントや読み間違い（数値・固有名詞）の差が大きい。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7850" y="5184571"/>
            <a:ext cx="3219602" cy="4096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辞書・前処理の標準化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業務特有の用語はユーザー辞書や前処理ルール（正規化）でカバーする義務を課す。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1114" y="2829154"/>
            <a:ext cx="609904" cy="200254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>
                <a:solidFill>
                  <a:srgbClr val="1D1D1F"/>
                </a:solidFill>
                <a:latin typeface="Noto Sans JP"/>
              </a:rPr>
              <a:t>用途定義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58468" y="3105302"/>
            <a:ext cx="896112" cy="2770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単なる読み上げか</a:t>
            </a:r>
          </a:p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本人性の再現か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27855" y="2829154"/>
            <a:ext cx="743407" cy="200254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>
                <a:solidFill>
                  <a:srgbClr val="1D1D1F"/>
                </a:solidFill>
                <a:latin typeface="Noto Sans JP"/>
              </a:rPr>
              <a:t>モデル選定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37914" y="3105302"/>
            <a:ext cx="724205" cy="2770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軽量(Piper) vs</a:t>
            </a:r>
          </a:p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高品質(XTTS)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21347" y="2829154"/>
            <a:ext cx="743407" cy="200254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>
                <a:solidFill>
                  <a:srgbClr val="1D1D1F"/>
                </a:solidFill>
                <a:latin typeface="Noto Sans JP"/>
              </a:rPr>
              <a:t>リスク判定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97573" y="3105302"/>
            <a:ext cx="790955" cy="2770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声の権利許諾と</a:t>
            </a:r>
          </a:p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ログ監査設計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13925" y="2829154"/>
            <a:ext cx="743407" cy="200254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>
                <a:solidFill>
                  <a:srgbClr val="1D1D1F"/>
                </a:solidFill>
                <a:latin typeface="Noto Sans JP"/>
              </a:rPr>
              <a:t>実装・運用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00539" y="3105302"/>
            <a:ext cx="972006" cy="2770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常駐(CPU) or</a:t>
            </a:r>
          </a:p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オンデマンド(GPU)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468" y="4646981"/>
            <a:ext cx="95098" cy="95098"/>
          </a:xfrm>
          <a:prstGeom prst="rect">
            <a:avLst/>
          </a:prstGeom>
          <a:ln w="0">
            <a:noFill/>
          </a:ln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468" y="5184571"/>
            <a:ext cx="95098" cy="95098"/>
          </a:xfrm>
          <a:prstGeom prst="rect">
            <a:avLst/>
          </a:prstGeom>
          <a:ln w="0">
            <a:noFill/>
          </a:ln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13660" y="4646981"/>
            <a:ext cx="95098" cy="95098"/>
          </a:xfrm>
          <a:prstGeom prst="rect">
            <a:avLst/>
          </a:prstGeom>
          <a:ln w="0">
            <a:noFill/>
          </a:ln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13660" y="5184571"/>
            <a:ext cx="95098" cy="95098"/>
          </a:xfrm>
          <a:prstGeom prst="rect">
            <a:avLst/>
          </a:prstGeom>
          <a:ln w="0">
            <a:noFill/>
          </a:ln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36766" y="4646981"/>
            <a:ext cx="95097" cy="95098"/>
          </a:xfrm>
          <a:prstGeom prst="rect">
            <a:avLst/>
          </a:prstGeom>
          <a:ln w="0">
            <a:noFill/>
          </a:ln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36766" y="5184571"/>
            <a:ext cx="95097" cy="95098"/>
          </a:xfrm>
          <a:prstGeom prst="rect">
            <a:avLst/>
          </a:prstGeom>
          <a:ln w="0">
            <a:noFill/>
          </a:ln>
        </p:spPr>
      </p:pic>
      <p:sp>
        <p:nvSpPr>
          <p:cNvPr id="60" name="Rectangle 59"/>
          <p:cNvSpPr/>
          <p:nvPr/>
        </p:nvSpPr>
        <p:spPr>
          <a:xfrm>
            <a:off x="0" y="0"/>
            <a:ext cx="12192001" cy="54865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6695"/>
            <a:ext cx="12191695" cy="381305"/>
          </a:xfrm>
          <a:prstGeom prst="rect">
            <a:avLst/>
          </a:prstGeom>
          <a:ln w="0">
            <a:noFill/>
          </a:ln>
        </p:spPr>
      </p:pic>
      <p:sp>
        <p:nvSpPr>
          <p:cNvPr id="4" name="Rectangle 3"/>
          <p:cNvSpPr/>
          <p:nvPr/>
        </p:nvSpPr>
        <p:spPr>
          <a:xfrm>
            <a:off x="0" y="752551"/>
            <a:ext cx="12191695" cy="914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5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sp>
        <p:nvSpPr>
          <p:cNvPr id="6" name="Oval 5"/>
          <p:cNvSpPr/>
          <p:nvPr/>
        </p:nvSpPr>
        <p:spPr>
          <a:xfrm>
            <a:off x="9534906" y="2141525"/>
            <a:ext cx="456286" cy="457200"/>
          </a:xfrm>
          <a:prstGeom prst="ellipse">
            <a:avLst/>
          </a:prstGeom>
          <a:solidFill>
            <a:srgbClr val="5755D6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68162" y="2067458"/>
            <a:ext cx="456286" cy="457200"/>
          </a:xfrm>
          <a:prstGeom prst="ellipse">
            <a:avLst/>
          </a:prstGeom>
          <a:solidFill>
            <a:srgbClr val="33C759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67246" y="2066239"/>
            <a:ext cx="456286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2201418" y="2067458"/>
            <a:ext cx="456286" cy="457200"/>
          </a:xfrm>
          <a:prstGeom prst="ellipse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01418" y="2066239"/>
            <a:ext cx="456286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96044" y="2103120"/>
            <a:ext cx="534010" cy="534009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28800"/>
            <a:ext cx="11277295" cy="1752905"/>
          </a:xfrm>
          <a:prstGeom prst="roundRect">
            <a:avLst>
              <a:gd name="adj" fmla="val 4734"/>
            </a:avLst>
          </a:prstGeom>
          <a:noFill/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882541"/>
            <a:ext cx="3638398" cy="1864385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80306" y="3882541"/>
            <a:ext cx="3638398" cy="1864385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02497" y="3882541"/>
            <a:ext cx="3638398" cy="1864385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3230"/>
            <a:ext cx="267005" cy="267004"/>
          </a:xfrm>
          <a:prstGeom prst="rect">
            <a:avLst/>
          </a:prstGeom>
          <a:ln w="0"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875994" y="176479"/>
            <a:ext cx="5340096" cy="400507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Noto Sans JP"/>
              </a:rPr>
              <a:t>採用判断基準</a:t>
            </a:r>
            <a:r>
              <a:rPr sz="2100" b="1">
                <a:solidFill>
                  <a:srgbClr val="1D1D1F"/>
                </a:solidFill>
                <a:latin typeface="Noto Sans JP"/>
              </a:rPr>
              <a:t>（Embedding / Reranker）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61518"/>
            <a:ext cx="324886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86868B"/>
                </a:solidFill>
                <a:latin typeface="Noto Sans JP"/>
              </a:rPr>
              <a:t>検索精度と運用安定化のための二段構え設計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90294"/>
            <a:ext cx="11277295" cy="571500"/>
          </a:xfrm>
          <a:prstGeom prst="rect">
            <a:avLst/>
          </a:prstGeom>
          <a:ln w="0">
            <a:noFill/>
          </a:ln>
        </p:spPr>
      </p:pic>
      <p:sp>
        <p:nvSpPr>
          <p:cNvPr id="20" name="TextBox 19"/>
          <p:cNvSpPr txBox="1"/>
          <p:nvPr/>
        </p:nvSpPr>
        <p:spPr>
          <a:xfrm>
            <a:off x="743407" y="1143000"/>
            <a:ext cx="10877702" cy="2670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Noto Sans JP"/>
              </a:rPr>
              <a:t>結論：Embeddingで網羅性(Recall)を確保し、Rerankerで精度(Precision)を上げる「二段構え」が実務的な最適解です。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0754" y="2446934"/>
            <a:ext cx="123444" cy="190194"/>
          </a:xfrm>
          <a:prstGeom prst="rect">
            <a:avLst/>
          </a:prstGeom>
          <a:ln w="0">
            <a:noFill/>
          </a:ln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7497" y="2446934"/>
            <a:ext cx="123444" cy="190194"/>
          </a:xfrm>
          <a:prstGeom prst="rect">
            <a:avLst/>
          </a:prstGeom>
          <a:ln w="0">
            <a:noFill/>
          </a:ln>
        </p:spPr>
      </p:pic>
      <p:sp>
        <p:nvSpPr>
          <p:cNvPr id="23" name="Rectangle 22"/>
          <p:cNvSpPr/>
          <p:nvPr/>
        </p:nvSpPr>
        <p:spPr>
          <a:xfrm>
            <a:off x="657454" y="4475074"/>
            <a:ext cx="3238805" cy="9144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7454" y="4093769"/>
            <a:ext cx="304495" cy="304494"/>
          </a:xfrm>
          <a:prstGeom prst="roundRect">
            <a:avLst>
              <a:gd name="adj" fmla="val 75075"/>
            </a:avLst>
          </a:prstGeom>
          <a:solidFill>
            <a:srgbClr val="007A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" y="4179722"/>
            <a:ext cx="133501" cy="133501"/>
          </a:xfrm>
          <a:prstGeom prst="rect">
            <a:avLst/>
          </a:prstGeom>
          <a:ln w="0">
            <a:noFill/>
          </a:ln>
        </p:spPr>
      </p:pic>
      <p:sp>
        <p:nvSpPr>
          <p:cNvPr id="26" name="TextBox 25"/>
          <p:cNvSpPr txBox="1"/>
          <p:nvPr/>
        </p:nvSpPr>
        <p:spPr>
          <a:xfrm>
            <a:off x="1057046" y="4132174"/>
            <a:ext cx="1000354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Noto Sans JP"/>
              </a:rPr>
              <a:t>運用の安定化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551" y="4646981"/>
            <a:ext cx="3219602" cy="40591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前計算（夜間バッチ）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検索対象文書のEmbedding化やOCR処理は夜間にバッチ実行し、日中の計算資源をLLMの応答生成に集中させる。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551" y="5184571"/>
            <a:ext cx="3219602" cy="40591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インデックス更新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頻繁な更新が必要ない場合は、静的インデックスとして管理し、運用負荷を下げる。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79646" y="4475074"/>
            <a:ext cx="3238804" cy="9144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79646" y="4093769"/>
            <a:ext cx="304494" cy="304494"/>
          </a:xfrm>
          <a:prstGeom prst="roundRect">
            <a:avLst>
              <a:gd name="adj" fmla="val 75075"/>
            </a:avLst>
          </a:prstGeom>
          <a:solidFill>
            <a:srgbClr val="FF3B3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5599" y="4179722"/>
            <a:ext cx="133501" cy="133501"/>
          </a:xfrm>
          <a:prstGeom prst="rect">
            <a:avLst/>
          </a:prstGeom>
          <a:ln w="0">
            <a:noFill/>
          </a:ln>
        </p:spPr>
      </p:pic>
      <p:sp>
        <p:nvSpPr>
          <p:cNvPr id="32" name="TextBox 31"/>
          <p:cNvSpPr txBox="1"/>
          <p:nvPr/>
        </p:nvSpPr>
        <p:spPr>
          <a:xfrm>
            <a:off x="4880153" y="4132174"/>
            <a:ext cx="1645920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Noto Sans JP"/>
              </a:rPr>
              <a:t>失敗パターンと回避策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4743" y="4646981"/>
            <a:ext cx="3219602" cy="40591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検索が外れる（Recall不足）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回避策：文書の前処理（チャンク分割）を見直す、またはHybrid検索（キーワード検索併用）を導入する。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4743" y="5184571"/>
            <a:ext cx="3219602" cy="40591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上位文書の関連度が弱い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回避策：Rerankerを導入して上位の並び順を補正し、LLMに渡すノイズを減らす。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02752" y="4475074"/>
            <a:ext cx="3238805" cy="9144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02752" y="4093769"/>
            <a:ext cx="304494" cy="304494"/>
          </a:xfrm>
          <a:prstGeom prst="roundRect">
            <a:avLst>
              <a:gd name="adj" fmla="val 75075"/>
            </a:avLst>
          </a:prstGeom>
          <a:solidFill>
            <a:srgbClr val="34C759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8706" y="4179722"/>
            <a:ext cx="133502" cy="133501"/>
          </a:xfrm>
          <a:prstGeom prst="rect">
            <a:avLst/>
          </a:prstGeom>
          <a:ln w="0">
            <a:noFill/>
          </a:ln>
        </p:spPr>
      </p:pic>
      <p:sp>
        <p:nvSpPr>
          <p:cNvPr id="38" name="TextBox 37"/>
          <p:cNvSpPr txBox="1"/>
          <p:nvPr/>
        </p:nvSpPr>
        <p:spPr>
          <a:xfrm>
            <a:off x="8702345" y="4132174"/>
            <a:ext cx="84856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Noto Sans JP"/>
              </a:rPr>
              <a:t>文脈長対策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7850" y="4646981"/>
            <a:ext cx="3219602" cy="40591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文脈が長すぎる失敗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検索結果を詰め込みすぎるとLLMの「Lost in the Middle」現象やメモリ枯渇を招く。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7850" y="5184571"/>
            <a:ext cx="3219602" cy="40591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Rerankerでの絞り込み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Rerankerでスコアの低い文書を大胆にカットし、LLMには「確度の高い少数精鋭」のコンテキストを渡す。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1388" y="2638044"/>
            <a:ext cx="943661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>
                <a:solidFill>
                  <a:srgbClr val="1D1D1F"/>
                </a:solidFill>
                <a:latin typeface="Noto Sans JP"/>
              </a:rPr>
              <a:t>Embedding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33701" y="2943454"/>
            <a:ext cx="1441298" cy="4480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>
                <a:solidFill>
                  <a:srgbClr val="6E6E73"/>
                </a:solidFill>
                <a:latin typeface="Noto Sans JP"/>
              </a:rPr>
              <a:t>広く候補を取得 (Recall重視)</a:t>
            </a:r>
          </a:p>
          <a:p>
            <a:pPr algn="ctr"/>
            <a:r>
              <a:rPr sz="900">
                <a:solidFill>
                  <a:srgbClr val="6E6E73"/>
                </a:solidFill>
                <a:latin typeface="Noto Sans JP"/>
              </a:rPr>
              <a:t>BGE-M3 / E5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06770" y="2638044"/>
            <a:ext cx="783641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>
                <a:solidFill>
                  <a:srgbClr val="1D1D1F"/>
                </a:solidFill>
                <a:latin typeface="Noto Sans JP"/>
              </a:rPr>
              <a:t>Reranker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00446" y="2943454"/>
            <a:ext cx="1390801" cy="4480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>
                <a:solidFill>
                  <a:srgbClr val="6E6E73"/>
                </a:solidFill>
                <a:latin typeface="Noto Sans JP"/>
              </a:rPr>
              <a:t>上位を厳選 (Precision重視)</a:t>
            </a:r>
          </a:p>
          <a:p>
            <a:pPr algn="ctr"/>
            <a:r>
              <a:rPr sz="900">
                <a:solidFill>
                  <a:srgbClr val="6E6E73"/>
                </a:solidFill>
                <a:latin typeface="Noto Sans JP"/>
              </a:rPr>
              <a:t>bge-reranker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9234" y="2713025"/>
            <a:ext cx="695858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00" b="1">
                <a:solidFill>
                  <a:srgbClr val="1D1D1F"/>
                </a:solidFill>
                <a:latin typeface="Noto Sans JP"/>
              </a:rPr>
              <a:t>LLM生成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63202" y="3017520"/>
            <a:ext cx="1209750" cy="305409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900">
                <a:solidFill>
                  <a:srgbClr val="6E6E73"/>
                </a:solidFill>
                <a:latin typeface="Noto Sans JP"/>
              </a:rPr>
              <a:t>精度の高い文脈で回答</a:t>
            </a:r>
          </a:p>
          <a:p>
            <a:pPr algn="ctr"/>
            <a:r>
              <a:rPr sz="900">
                <a:solidFill>
                  <a:srgbClr val="6E6E73"/>
                </a:solidFill>
                <a:latin typeface="Noto Sans JP"/>
              </a:rPr>
              <a:t>(幻覚抑制)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468" y="4646981"/>
            <a:ext cx="95098" cy="95098"/>
          </a:xfrm>
          <a:prstGeom prst="rect">
            <a:avLst/>
          </a:prstGeom>
          <a:ln w="0">
            <a:noFill/>
          </a:ln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468" y="5184571"/>
            <a:ext cx="95098" cy="95098"/>
          </a:xfrm>
          <a:prstGeom prst="rect">
            <a:avLst/>
          </a:prstGeom>
          <a:ln w="0">
            <a:noFill/>
          </a:ln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3660" y="4646981"/>
            <a:ext cx="95098" cy="95098"/>
          </a:xfrm>
          <a:prstGeom prst="rect">
            <a:avLst/>
          </a:prstGeom>
          <a:ln w="0">
            <a:noFill/>
          </a:ln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3660" y="5184571"/>
            <a:ext cx="95098" cy="95098"/>
          </a:xfrm>
          <a:prstGeom prst="rect">
            <a:avLst/>
          </a:prstGeom>
          <a:ln w="0">
            <a:noFill/>
          </a:ln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6766" y="4646981"/>
            <a:ext cx="95097" cy="95098"/>
          </a:xfrm>
          <a:prstGeom prst="rect">
            <a:avLst/>
          </a:prstGeom>
          <a:ln w="0">
            <a:noFill/>
          </a:ln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6766" y="5184571"/>
            <a:ext cx="95097" cy="95098"/>
          </a:xfrm>
          <a:prstGeom prst="rect">
            <a:avLst/>
          </a:prstGeom>
          <a:ln w="0">
            <a:noFill/>
          </a:ln>
        </p:spPr>
      </p:pic>
      <p:sp>
        <p:nvSpPr>
          <p:cNvPr id="53" name="Rectangle 52"/>
          <p:cNvSpPr/>
          <p:nvPr/>
        </p:nvSpPr>
        <p:spPr>
          <a:xfrm>
            <a:off x="0" y="0"/>
            <a:ext cx="12192001" cy="54865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6695"/>
            <a:ext cx="12191695" cy="381305"/>
          </a:xfrm>
          <a:prstGeom prst="rect">
            <a:avLst/>
          </a:prstGeom>
          <a:ln w="0">
            <a:noFill/>
          </a:ln>
        </p:spPr>
      </p:pic>
      <p:sp>
        <p:nvSpPr>
          <p:cNvPr id="4" name="Rectangle 3"/>
          <p:cNvSpPr/>
          <p:nvPr/>
        </p:nvSpPr>
        <p:spPr>
          <a:xfrm>
            <a:off x="0" y="752551"/>
            <a:ext cx="12191695" cy="914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6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sp>
        <p:nvSpPr>
          <p:cNvPr id="6" name="Oval 5"/>
          <p:cNvSpPr/>
          <p:nvPr/>
        </p:nvSpPr>
        <p:spPr>
          <a:xfrm>
            <a:off x="1398118" y="2029054"/>
            <a:ext cx="456286" cy="457200"/>
          </a:xfrm>
          <a:prstGeom prst="ellipse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632910" y="2029054"/>
            <a:ext cx="456286" cy="457200"/>
          </a:xfrm>
          <a:prstGeom prst="ellipse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867705" y="2029054"/>
            <a:ext cx="456286" cy="457200"/>
          </a:xfrm>
          <a:prstGeom prst="ellipse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01583" y="2029054"/>
            <a:ext cx="456286" cy="457200"/>
          </a:xfrm>
          <a:prstGeom prst="ellipse">
            <a:avLst/>
          </a:prstGeom>
          <a:solidFill>
            <a:srgbClr val="33C759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36378" y="2029054"/>
            <a:ext cx="456286" cy="457200"/>
          </a:xfrm>
          <a:prstGeom prst="ellipse">
            <a:avLst/>
          </a:prstGeom>
          <a:solidFill>
            <a:srgbClr val="FF9502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8118" y="202905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2910" y="202905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67705" y="202905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3" y="202905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36378" y="2029054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JP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828800"/>
            <a:ext cx="11277295" cy="1752905"/>
          </a:xfrm>
          <a:prstGeom prst="roundRect">
            <a:avLst>
              <a:gd name="adj" fmla="val 4734"/>
            </a:avLst>
          </a:prstGeom>
          <a:noFill/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3882541"/>
            <a:ext cx="3638398" cy="1864385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80306" y="3882541"/>
            <a:ext cx="3638398" cy="1864385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02497" y="3882541"/>
            <a:ext cx="3638398" cy="1864385"/>
          </a:xfrm>
          <a:prstGeom prst="roundRect">
            <a:avLst>
              <a:gd name="adj" fmla="val 1665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7454" y="4095191"/>
            <a:ext cx="304495" cy="304494"/>
          </a:xfrm>
          <a:prstGeom prst="roundRect">
            <a:avLst>
              <a:gd name="adj" fmla="val 75075"/>
            </a:avLst>
          </a:prstGeom>
          <a:solidFill>
            <a:srgbClr val="007A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" y="4181145"/>
            <a:ext cx="133501" cy="133501"/>
          </a:xfrm>
          <a:prstGeom prst="rect">
            <a:avLst/>
          </a:prstGeom>
          <a:ln w="0">
            <a:noFill/>
          </a:ln>
        </p:spPr>
      </p:pic>
      <p:sp>
        <p:nvSpPr>
          <p:cNvPr id="22" name="TextBox 21"/>
          <p:cNvSpPr txBox="1"/>
          <p:nvPr/>
        </p:nvSpPr>
        <p:spPr>
          <a:xfrm>
            <a:off x="1057046" y="4133596"/>
            <a:ext cx="1163117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Noto Sans JP"/>
              </a:rPr>
              <a:t>前処理の標準化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79646" y="4095191"/>
            <a:ext cx="304494" cy="304494"/>
          </a:xfrm>
          <a:prstGeom prst="roundRect">
            <a:avLst>
              <a:gd name="adj" fmla="val 75075"/>
            </a:avLst>
          </a:prstGeom>
          <a:solidFill>
            <a:srgbClr val="34C759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455" y="4181145"/>
            <a:ext cx="152705" cy="133501"/>
          </a:xfrm>
          <a:prstGeom prst="rect">
            <a:avLst/>
          </a:prstGeom>
          <a:ln w="0">
            <a:noFill/>
          </a:ln>
        </p:spPr>
      </p:pic>
      <p:sp>
        <p:nvSpPr>
          <p:cNvPr id="25" name="TextBox 24"/>
          <p:cNvSpPr txBox="1"/>
          <p:nvPr/>
        </p:nvSpPr>
        <p:spPr>
          <a:xfrm>
            <a:off x="4880153" y="4133596"/>
            <a:ext cx="197510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Noto Sans JP"/>
              </a:rPr>
              <a:t>高品質方針：ハイブリッド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02752" y="4095191"/>
            <a:ext cx="304494" cy="304494"/>
          </a:xfrm>
          <a:prstGeom prst="roundRect">
            <a:avLst>
              <a:gd name="adj" fmla="val 75075"/>
            </a:avLst>
          </a:prstGeom>
          <a:solidFill>
            <a:srgbClr val="FF950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9502" y="4181145"/>
            <a:ext cx="171907" cy="133501"/>
          </a:xfrm>
          <a:prstGeom prst="rect">
            <a:avLst/>
          </a:prstGeom>
          <a:ln w="0">
            <a:noFill/>
          </a:ln>
        </p:spPr>
      </p:pic>
      <p:sp>
        <p:nvSpPr>
          <p:cNvPr id="28" name="TextBox 27"/>
          <p:cNvSpPr txBox="1"/>
          <p:nvPr/>
        </p:nvSpPr>
        <p:spPr>
          <a:xfrm>
            <a:off x="8702345" y="4133596"/>
            <a:ext cx="1049731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 b="1">
                <a:solidFill>
                  <a:srgbClr val="1D1D1F"/>
                </a:solidFill>
                <a:latin typeface="Noto Sans JP"/>
              </a:rPr>
              <a:t>UX要件と運用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7454" y="4475074"/>
            <a:ext cx="3238805" cy="9144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79646" y="4475074"/>
            <a:ext cx="3238804" cy="9144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02752" y="4475074"/>
            <a:ext cx="3238805" cy="9144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43230"/>
            <a:ext cx="200253" cy="267004"/>
          </a:xfrm>
          <a:prstGeom prst="rect">
            <a:avLst/>
          </a:prstGeom>
          <a:ln w="0">
            <a:noFill/>
          </a:ln>
        </p:spPr>
      </p:pic>
      <p:sp>
        <p:nvSpPr>
          <p:cNvPr id="33" name="TextBox 32"/>
          <p:cNvSpPr txBox="1"/>
          <p:nvPr/>
        </p:nvSpPr>
        <p:spPr>
          <a:xfrm>
            <a:off x="809244" y="176479"/>
            <a:ext cx="4182466" cy="400507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Noto Sans JP"/>
              </a:rPr>
              <a:t>OCR</a:t>
            </a:r>
            <a:r>
              <a:rPr sz="2100" b="1">
                <a:solidFill>
                  <a:srgbClr val="1D1D1F"/>
                </a:solidFill>
                <a:latin typeface="Noto Sans JP"/>
              </a:rPr>
              <a:t>/Document AI採用判断基準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9290" y="261518"/>
            <a:ext cx="3439058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86868B"/>
                </a:solidFill>
                <a:latin typeface="Noto Sans JP"/>
              </a:rPr>
              <a:t>リスク緩和のためのUX要件とハイブリッド構成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990294"/>
            <a:ext cx="11277295" cy="571500"/>
          </a:xfrm>
          <a:prstGeom prst="rect">
            <a:avLst/>
          </a:prstGeom>
          <a:ln w="0">
            <a:noFill/>
          </a:ln>
        </p:spPr>
      </p:pic>
      <p:sp>
        <p:nvSpPr>
          <p:cNvPr id="36" name="TextBox 35"/>
          <p:cNvSpPr txBox="1"/>
          <p:nvPr/>
        </p:nvSpPr>
        <p:spPr>
          <a:xfrm>
            <a:off x="743407" y="1143000"/>
            <a:ext cx="10954512" cy="2670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Noto Sans JP"/>
              </a:rPr>
              <a:t>結論：誤読リスクをゼロにはできない前提で、前処理の標準化と「原文引用」による人間系確認のUXを要件化します。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1994" y="2348179"/>
            <a:ext cx="105156" cy="171906"/>
          </a:xfrm>
          <a:prstGeom prst="rect">
            <a:avLst/>
          </a:prstGeom>
          <a:ln w="0">
            <a:noFill/>
          </a:ln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6787" y="2348179"/>
            <a:ext cx="105155" cy="171906"/>
          </a:xfrm>
          <a:prstGeom prst="rect">
            <a:avLst/>
          </a:prstGeom>
          <a:ln w="0">
            <a:noFill/>
          </a:ln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0666" y="2348179"/>
            <a:ext cx="105155" cy="171906"/>
          </a:xfrm>
          <a:prstGeom prst="rect">
            <a:avLst/>
          </a:prstGeom>
          <a:ln w="0">
            <a:noFill/>
          </a:ln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5460" y="2348179"/>
            <a:ext cx="105155" cy="171906"/>
          </a:xfrm>
          <a:prstGeom prst="rect">
            <a:avLst/>
          </a:prstGeom>
          <a:ln w="0">
            <a:noFill/>
          </a:ln>
        </p:spPr>
      </p:pic>
      <p:sp>
        <p:nvSpPr>
          <p:cNvPr id="41" name="TextBox 40"/>
          <p:cNvSpPr txBox="1"/>
          <p:nvPr/>
        </p:nvSpPr>
        <p:spPr>
          <a:xfrm>
            <a:off x="752551" y="4646981"/>
            <a:ext cx="3219602" cy="41229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品質の下限を担保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傾き補正、ノイズ除去、二値化をOCR前段に固定的に組み込むことで、認識精度のベースラインを確保。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2551" y="5184571"/>
            <a:ext cx="3219602" cy="41229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画像の正規化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解像度やコントラストのバラつきを抑え、モデルの得意な入力形式に合わせる。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4743" y="4646981"/>
            <a:ext cx="3219602" cy="54503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構造化とレイアウト保持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PaddleOCRでテキスト構造化を行い、Donut/LayoutLMv3でレイアウト情報を保持してRAG連携精度を高める。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4743" y="5184571"/>
            <a:ext cx="3219602" cy="41229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図表・UIへの対応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複雑な図表やUIスクショはVLMとOCRを併用し、視覚情報と文字情報を相互補完させて堅牢化する。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7850" y="4646981"/>
            <a:ext cx="3219602" cy="41229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原文スニペット引用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AI回答の根拠となった原文箇所（画像切り出し等）を提示し、ユーザーが誤読を検証できるUXを必須化。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97850" y="5184571"/>
            <a:ext cx="3219602" cy="41229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1D1D1F"/>
                </a:solidFill>
                <a:latin typeface="Noto Sans JP"/>
              </a:rPr>
              <a:t>夜間バッチへのオフロード</a:t>
            </a:r>
          </a:p>
          <a:p>
            <a:pPr algn="l"/>
            <a:r>
              <a:rPr sz="900">
                <a:solidFill>
                  <a:srgbClr val="424245"/>
                </a:solidFill>
                <a:latin typeface="Noto Sans JP"/>
              </a:rPr>
              <a:t> 重いOCR/Embedding処理は夜間に回し、日中のリソースは検索と短い回答生成に集中させる。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22222" y="2562149"/>
            <a:ext cx="609904" cy="200254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>
                <a:solidFill>
                  <a:srgbClr val="1D1D1F"/>
                </a:solidFill>
                <a:latin typeface="Noto Sans JP"/>
              </a:rPr>
              <a:t>品質評価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2299" y="2838298"/>
            <a:ext cx="1209751" cy="27706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スキャン品質と</a:t>
            </a:r>
          </a:p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レイアウト複雑度を確認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22853" y="2562149"/>
            <a:ext cx="476401" cy="200254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>
                <a:solidFill>
                  <a:srgbClr val="1D1D1F"/>
                </a:solidFill>
                <a:latin typeface="Noto Sans JP"/>
              </a:rPr>
              <a:t>前処理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61334" y="2838298"/>
            <a:ext cx="1000353" cy="27706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傾き補正・二値化の</a:t>
            </a:r>
          </a:p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標準パイプライン化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24144" y="2562149"/>
            <a:ext cx="743407" cy="200254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>
                <a:solidFill>
                  <a:srgbClr val="1D1D1F"/>
                </a:solidFill>
                <a:latin typeface="Noto Sans JP"/>
              </a:rPr>
              <a:t>モデル選択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89727" y="2838298"/>
            <a:ext cx="1019556" cy="27706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PaddleOCR(構造化)</a:t>
            </a:r>
          </a:p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+Donut(レイアウト)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01914" y="2562149"/>
            <a:ext cx="667512" cy="200254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>
                <a:solidFill>
                  <a:srgbClr val="1D1D1F"/>
                </a:solidFill>
                <a:latin typeface="Noto Sans JP"/>
              </a:rPr>
              <a:t>UX要件化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7886" y="2838298"/>
            <a:ext cx="1105510" cy="27706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原文スニペット表示で</a:t>
            </a:r>
          </a:p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誤読リスクを緩和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60482" y="2562149"/>
            <a:ext cx="609905" cy="200254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000" b="1">
                <a:solidFill>
                  <a:srgbClr val="1D1D1F"/>
                </a:solidFill>
                <a:latin typeface="Noto Sans JP"/>
              </a:rPr>
              <a:t>運用設計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76688" y="2838298"/>
            <a:ext cx="981150" cy="27706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OCR/Embeddingは</a:t>
            </a:r>
          </a:p>
          <a:p>
            <a:pPr algn="ctr"/>
            <a:r>
              <a:rPr sz="800">
                <a:solidFill>
                  <a:srgbClr val="6E6E73"/>
                </a:solidFill>
                <a:latin typeface="Noto Sans JP"/>
              </a:rPr>
              <a:t>夜間バッチ処理へ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468" y="4646981"/>
            <a:ext cx="95098" cy="95098"/>
          </a:xfrm>
          <a:prstGeom prst="rect">
            <a:avLst/>
          </a:prstGeom>
          <a:ln w="0">
            <a:noFill/>
          </a:ln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468" y="5184571"/>
            <a:ext cx="95098" cy="95098"/>
          </a:xfrm>
          <a:prstGeom prst="rect">
            <a:avLst/>
          </a:prstGeom>
          <a:ln w="0">
            <a:noFill/>
          </a:ln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3660" y="4646981"/>
            <a:ext cx="95098" cy="95098"/>
          </a:xfrm>
          <a:prstGeom prst="rect">
            <a:avLst/>
          </a:prstGeom>
          <a:ln w="0">
            <a:noFill/>
          </a:ln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3660" y="5184571"/>
            <a:ext cx="95098" cy="95098"/>
          </a:xfrm>
          <a:prstGeom prst="rect">
            <a:avLst/>
          </a:prstGeom>
          <a:ln w="0">
            <a:noFill/>
          </a:ln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6766" y="4646981"/>
            <a:ext cx="95097" cy="95098"/>
          </a:xfrm>
          <a:prstGeom prst="rect">
            <a:avLst/>
          </a:prstGeom>
          <a:ln w="0">
            <a:noFill/>
          </a:ln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6766" y="5184571"/>
            <a:ext cx="95097" cy="95098"/>
          </a:xfrm>
          <a:prstGeom prst="rect">
            <a:avLst/>
          </a:prstGeom>
          <a:ln w="0">
            <a:noFill/>
          </a:ln>
        </p:spPr>
      </p:pic>
      <p:sp>
        <p:nvSpPr>
          <p:cNvPr id="63" name="Rectangle 62"/>
          <p:cNvSpPr/>
          <p:nvPr/>
        </p:nvSpPr>
        <p:spPr>
          <a:xfrm>
            <a:off x="0" y="0"/>
            <a:ext cx="12192001" cy="54865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