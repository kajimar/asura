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5" y="1032380"/>
            <a:ext cx="12191695" cy="35999"/>
          </a:xfrm>
          <a:prstGeom prst="rect">
            <a:avLst/>
          </a:prstGeom>
          <a:solidFill>
            <a:srgbClr val="E5E5E5"/>
          </a:solidFill>
          <a:ln w="12700"/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Page1 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676" y="1903763"/>
            <a:ext cx="1953768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Noto Sans JP"/>
              </a:rPr>
              <a:t>要件定義</a:t>
            </a:r>
          </a:p>
          <a:p>
            <a:pPr algn="ctr"/>
            <a:r>
              <a:rPr sz="1000" b="1">
                <a:solidFill>
                  <a:srgbClr val="6B7280"/>
                </a:solidFill>
                <a:latin typeface="Cambria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903763"/>
            <a:ext cx="1952244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Cambria"/>
              </a:rPr>
              <a:t>Tier</a:t>
            </a:r>
            <a:r>
              <a:rPr sz="1400" b="1">
                <a:solidFill>
                  <a:srgbClr val="1D1D1F"/>
                </a:solidFill>
                <a:latin typeface="Noto Sans JP"/>
              </a:rPr>
              <a:t>選定</a:t>
            </a:r>
          </a:p>
          <a:p>
            <a:pPr algn="ctr"/>
            <a:r>
              <a:rPr sz="1000" b="1">
                <a:solidFill>
                  <a:srgbClr val="6B7280"/>
                </a:solidFill>
                <a:latin typeface="Cambria"/>
              </a:rPr>
              <a:t>Hardware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903763"/>
            <a:ext cx="1952243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Noto Sans JP"/>
              </a:rPr>
              <a:t>モデル選定</a:t>
            </a:r>
          </a:p>
          <a:p>
            <a:pPr algn="ctr"/>
            <a:r>
              <a:rPr sz="1000" b="1">
                <a:solidFill>
                  <a:srgbClr val="6B7280"/>
                </a:solidFill>
                <a:latin typeface="Cambria"/>
              </a:rPr>
              <a:t>Model 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59" y="1903763"/>
            <a:ext cx="1950720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Noto Sans JP"/>
              </a:rPr>
              <a:t>ランタイム</a:t>
            </a:r>
          </a:p>
          <a:p>
            <a:pPr algn="ctr"/>
            <a:r>
              <a:rPr sz="1000" b="1">
                <a:solidFill>
                  <a:srgbClr val="6B7280"/>
                </a:solidFill>
                <a:latin typeface="Cambria"/>
              </a:rPr>
              <a:t>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1719" y="1903763"/>
            <a:ext cx="1952244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>
                <a:solidFill>
                  <a:srgbClr val="1D1D1F"/>
                </a:solidFill>
                <a:latin typeface="Noto Sans JP"/>
              </a:rPr>
              <a:t>検証・最適化</a:t>
            </a:r>
          </a:p>
          <a:p>
            <a:pPr algn="ctr"/>
            <a:r>
              <a:rPr sz="1000" b="1">
                <a:solidFill>
                  <a:srgbClr val="6B7280"/>
                </a:solidFill>
                <a:latin typeface="Cambria"/>
              </a:rPr>
              <a:t>Verify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66" y="594538"/>
            <a:ext cx="304495" cy="267005"/>
          </a:xfrm>
          <a:prstGeom prst="rect">
            <a:avLst/>
          </a:prstGeom>
          <a:ln w="0"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939088" y="514347"/>
            <a:ext cx="4077310" cy="400507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>
                <a:solidFill>
                  <a:srgbClr val="1D1D1F"/>
                </a:solidFill>
                <a:latin typeface="Noto Sans JP"/>
              </a:rPr>
              <a:t>まとめ（意思決定フロー）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466" y="220547"/>
            <a:ext cx="2867558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1000">
                <a:solidFill>
                  <a:srgbClr val="86868B"/>
                </a:solidFill>
                <a:latin typeface="Cambria"/>
              </a:rPr>
              <a:t>AI</a:t>
            </a:r>
            <a:r>
              <a:rPr sz="1000">
                <a:solidFill>
                  <a:srgbClr val="86868B"/>
                </a:solidFill>
                <a:latin typeface="Noto Sans JP"/>
              </a:rPr>
              <a:t>導入の</a:t>
            </a:r>
            <a:r>
              <a:rPr sz="1000">
                <a:solidFill>
                  <a:srgbClr val="86868B"/>
                </a:solidFill>
                <a:latin typeface="Cambria"/>
              </a:rPr>
              <a:t>5</a:t>
            </a:r>
            <a:r>
              <a:rPr sz="1000">
                <a:solidFill>
                  <a:srgbClr val="86868B"/>
                </a:solidFill>
                <a:latin typeface="Noto Sans JP"/>
              </a:rPr>
              <a:t>ステップと判断基準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9" y="2371022"/>
            <a:ext cx="1628545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9" y="2608833"/>
            <a:ext cx="1694383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業務課題から技術要件へ変換する始点。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9" y="3194387"/>
            <a:ext cx="1628545" cy="1387569"/>
          </a:xfrm>
          <a:prstGeom prst="roundRect">
            <a:avLst>
              <a:gd name="adj" fmla="val 2041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" y="3280340"/>
            <a:ext cx="1534363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判断基準</a:t>
            </a:r>
            <a:r>
              <a:rPr sz="900" b="1">
                <a:solidFill>
                  <a:srgbClr val="007AFF"/>
                </a:solidFill>
                <a:latin typeface="Cambria"/>
              </a:rPr>
              <a:t> (Criteria)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" y="3475108"/>
            <a:ext cx="1516075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品質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</a:t>
            </a:r>
            <a:r>
              <a:rPr sz="1000">
                <a:solidFill>
                  <a:srgbClr val="424245"/>
                </a:solidFill>
                <a:latin typeface="Noto Sans JP"/>
              </a:rPr>
              <a:t>日本語、</a:t>
            </a:r>
            <a:r>
              <a:rPr sz="1000">
                <a:solidFill>
                  <a:srgbClr val="424245"/>
                </a:solidFill>
                <a:latin typeface="Cambria"/>
              </a:rPr>
              <a:t>JSON</a:t>
            </a:r>
            <a:r>
              <a:rPr sz="1000">
                <a:solidFill>
                  <a:srgbClr val="424245"/>
                </a:solidFill>
                <a:latin typeface="Noto Sans JP"/>
              </a:rPr>
              <a:t>、専門性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" y="3884759"/>
            <a:ext cx="1516075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速度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p95</a:t>
            </a:r>
            <a:r>
              <a:rPr sz="1000">
                <a:solidFill>
                  <a:srgbClr val="424245"/>
                </a:solidFill>
                <a:latin typeface="Noto Sans JP"/>
              </a:rPr>
              <a:t>レイテンシ、</a:t>
            </a:r>
            <a:r>
              <a:rPr sz="1000">
                <a:solidFill>
                  <a:srgbClr val="424245"/>
                </a:solidFill>
                <a:latin typeface="Cambria"/>
              </a:rPr>
              <a:t>tok/s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" y="4294410"/>
            <a:ext cx="1516075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機能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Tool-use</a:t>
            </a:r>
            <a:r>
              <a:rPr sz="1000">
                <a:solidFill>
                  <a:srgbClr val="424245"/>
                </a:solidFill>
                <a:latin typeface="Noto Sans JP"/>
              </a:rPr>
              <a:t>、</a:t>
            </a:r>
            <a:r>
              <a:rPr sz="1000">
                <a:solidFill>
                  <a:srgbClr val="424245"/>
                </a:solidFill>
                <a:latin typeface="Cambria"/>
              </a:rPr>
              <a:t>RAG</a:t>
            </a:r>
            <a:r>
              <a:rPr sz="1000">
                <a:solidFill>
                  <a:srgbClr val="424245"/>
                </a:solidFill>
                <a:latin typeface="Noto Sans JP"/>
              </a:rPr>
              <a:t>有無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9" y="4737107"/>
            <a:ext cx="1628545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" y="4823061"/>
            <a:ext cx="1574597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アクション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" y="5017828"/>
            <a:ext cx="1516075" cy="6099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許容レイテンシ目標（例: 10 tok/s）とJSONスキーマの厳格さを決定。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46" y="3867385"/>
            <a:ext cx="123443" cy="267005"/>
          </a:xfrm>
          <a:prstGeom prst="rect">
            <a:avLst/>
          </a:prstGeom>
          <a:ln w="0">
            <a:noFill/>
          </a:ln>
        </p:spPr>
      </p:pic>
      <p:sp>
        <p:nvSpPr>
          <p:cNvPr id="26" name="Rounded Rectangle 25"/>
          <p:cNvSpPr/>
          <p:nvPr/>
        </p:nvSpPr>
        <p:spPr>
          <a:xfrm>
            <a:off x="278892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50769" y="2371022"/>
            <a:ext cx="1628546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50769" y="2608833"/>
            <a:ext cx="1694383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メモリ制約に基づく現実ラインの把握。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50769" y="3194387"/>
            <a:ext cx="1628546" cy="1410005"/>
          </a:xfrm>
          <a:prstGeom prst="roundRect">
            <a:avLst>
              <a:gd name="adj" fmla="val 2629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36722" y="3280340"/>
            <a:ext cx="1534362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判断基準</a:t>
            </a:r>
            <a:r>
              <a:rPr sz="900" b="1">
                <a:solidFill>
                  <a:srgbClr val="007AFF"/>
                </a:solidFill>
                <a:latin typeface="Cambria"/>
              </a:rPr>
              <a:t> (Criteria)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6722" y="3475108"/>
            <a:ext cx="1516075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Apple:</a:t>
            </a:r>
            <a:r>
              <a:rPr sz="1000">
                <a:solidFill>
                  <a:srgbClr val="424245"/>
                </a:solidFill>
                <a:latin typeface="Cambria"/>
              </a:rPr>
              <a:t> 16</a:t>
            </a:r>
            <a:r>
              <a:rPr sz="1000">
                <a:solidFill>
                  <a:srgbClr val="424245"/>
                </a:solidFill>
                <a:latin typeface="Noto Sans JP"/>
              </a:rPr>
              <a:t>〜</a:t>
            </a:r>
            <a:r>
              <a:rPr sz="1000">
                <a:solidFill>
                  <a:srgbClr val="424245"/>
                </a:solidFill>
                <a:latin typeface="Cambria"/>
              </a:rPr>
              <a:t>128GB (UMA)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6722" y="3884759"/>
            <a:ext cx="1516075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Windows:</a:t>
            </a:r>
            <a:r>
              <a:rPr sz="1000">
                <a:solidFill>
                  <a:srgbClr val="424245"/>
                </a:solidFill>
                <a:latin typeface="Cambria"/>
              </a:rPr>
              <a:t> VRAM 8</a:t>
            </a:r>
            <a:r>
              <a:rPr sz="1000">
                <a:solidFill>
                  <a:srgbClr val="424245"/>
                </a:solidFill>
                <a:latin typeface="Noto Sans JP"/>
              </a:rPr>
              <a:t>〜</a:t>
            </a:r>
            <a:r>
              <a:rPr sz="1000">
                <a:solidFill>
                  <a:srgbClr val="424245"/>
                </a:solidFill>
                <a:latin typeface="Cambria"/>
              </a:rPr>
              <a:t>24GB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36722" y="4294410"/>
            <a:ext cx="1534362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CPU:</a:t>
            </a:r>
            <a:r>
              <a:rPr sz="1000">
                <a:solidFill>
                  <a:srgbClr val="424245"/>
                </a:solidFill>
                <a:latin typeface="Cambria"/>
              </a:rPr>
              <a:t> AVX/RAM</a:t>
            </a:r>
            <a:r>
              <a:rPr sz="1000">
                <a:solidFill>
                  <a:srgbClr val="424245"/>
                </a:solidFill>
                <a:latin typeface="Noto Sans JP"/>
              </a:rPr>
              <a:t>容量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5076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36722" y="4823060"/>
            <a:ext cx="1574596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アクション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36722" y="5017828"/>
            <a:ext cx="1516075" cy="6099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「重み4bit + KVキャッシュ」の理論値でTier (A-16〜G-24) を特定。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8266" y="3867385"/>
            <a:ext cx="123444" cy="267005"/>
          </a:xfrm>
          <a:prstGeom prst="rect">
            <a:avLst/>
          </a:prstGeom>
          <a:ln w="0">
            <a:noFill/>
          </a:ln>
        </p:spPr>
      </p:pic>
      <p:sp>
        <p:nvSpPr>
          <p:cNvPr id="38" name="Rounded Rectangle 37"/>
          <p:cNvSpPr/>
          <p:nvPr/>
        </p:nvSpPr>
        <p:spPr>
          <a:xfrm>
            <a:off x="5120640" y="1741913"/>
            <a:ext cx="1952243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282489" y="2371022"/>
            <a:ext cx="1628546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82489" y="2608833"/>
            <a:ext cx="1694383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Cambria"/>
              </a:rPr>
              <a:t>Tier</a:t>
            </a:r>
            <a:r>
              <a:rPr sz="1000">
                <a:solidFill>
                  <a:srgbClr val="424245"/>
                </a:solidFill>
                <a:latin typeface="Noto Sans JP"/>
              </a:rPr>
              <a:t>内で動く最適モデルの選定。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82489" y="3194387"/>
            <a:ext cx="1628546" cy="1228953"/>
          </a:xfrm>
          <a:prstGeom prst="roundRect">
            <a:avLst>
              <a:gd name="adj" fmla="val 3461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8442" y="3280340"/>
            <a:ext cx="1534363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判断基準</a:t>
            </a:r>
            <a:r>
              <a:rPr sz="900" b="1">
                <a:solidFill>
                  <a:srgbClr val="007AFF"/>
                </a:solidFill>
                <a:latin typeface="Cambria"/>
              </a:rPr>
              <a:t> (Criteria)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8442" y="3475108"/>
            <a:ext cx="1516074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規模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7B-14B (</a:t>
            </a:r>
            <a:r>
              <a:rPr sz="1000">
                <a:solidFill>
                  <a:srgbClr val="424245"/>
                </a:solidFill>
                <a:latin typeface="Noto Sans JP"/>
              </a:rPr>
              <a:t>汎用</a:t>
            </a:r>
            <a:r>
              <a:rPr sz="1000">
                <a:solidFill>
                  <a:srgbClr val="424245"/>
                </a:solidFill>
                <a:latin typeface="Cambria"/>
              </a:rPr>
              <a:t>), 32B+ (</a:t>
            </a:r>
            <a:r>
              <a:rPr sz="1000">
                <a:solidFill>
                  <a:srgbClr val="424245"/>
                </a:solidFill>
                <a:latin typeface="Noto Sans JP"/>
              </a:rPr>
              <a:t>高品質</a:t>
            </a:r>
            <a:r>
              <a:rPr sz="1000">
                <a:solidFill>
                  <a:srgbClr val="424245"/>
                </a:solidFill>
                <a:latin typeface="Cambria"/>
              </a:rPr>
              <a:t>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68442" y="3884759"/>
            <a:ext cx="1559052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形式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GGUF, EXL2, AWQ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68442" y="4108787"/>
            <a:ext cx="1574597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権利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</a:t>
            </a:r>
            <a:r>
              <a:rPr sz="1000">
                <a:solidFill>
                  <a:srgbClr val="424245"/>
                </a:solidFill>
                <a:latin typeface="Noto Sans JP"/>
              </a:rPr>
              <a:t>ライセンス条件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248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68442" y="4823060"/>
            <a:ext cx="1574597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アクション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68442" y="5017827"/>
            <a:ext cx="1516074" cy="6099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Llama/Qwen/Phi等からサイズ適合候補を選び、ライセンスを確認。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986" y="3867385"/>
            <a:ext cx="123444" cy="267005"/>
          </a:xfrm>
          <a:prstGeom prst="rect">
            <a:avLst/>
          </a:prstGeom>
          <a:ln w="0">
            <a:noFill/>
          </a:ln>
        </p:spPr>
      </p:pic>
      <p:sp>
        <p:nvSpPr>
          <p:cNvPr id="50" name="Rounded Rectangle 49"/>
          <p:cNvSpPr/>
          <p:nvPr/>
        </p:nvSpPr>
        <p:spPr>
          <a:xfrm>
            <a:off x="7452359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14209" y="2371022"/>
            <a:ext cx="1628545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14209" y="2608833"/>
            <a:ext cx="1694383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ハードウェア性能を引き出す実行環境。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14209" y="3194387"/>
            <a:ext cx="1628545" cy="1228953"/>
          </a:xfrm>
          <a:prstGeom prst="roundRect">
            <a:avLst>
              <a:gd name="adj" fmla="val 3461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00162" y="3280340"/>
            <a:ext cx="1534363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判断基準</a:t>
            </a:r>
            <a:r>
              <a:rPr sz="900" b="1">
                <a:solidFill>
                  <a:srgbClr val="007AFF"/>
                </a:solidFill>
                <a:latin typeface="Cambria"/>
              </a:rPr>
              <a:t> (Criteria)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00162" y="3475108"/>
            <a:ext cx="1544421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Mac:</a:t>
            </a:r>
            <a:r>
              <a:rPr sz="1000">
                <a:solidFill>
                  <a:srgbClr val="424245"/>
                </a:solidFill>
                <a:latin typeface="Cambria"/>
              </a:rPr>
              <a:t> MLX / llama.cpp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00162" y="3699136"/>
            <a:ext cx="1516074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Win:</a:t>
            </a:r>
            <a:r>
              <a:rPr sz="1000">
                <a:solidFill>
                  <a:srgbClr val="424245"/>
                </a:solidFill>
                <a:latin typeface="Cambria"/>
              </a:rPr>
              <a:t> Ollama / LM Studio / vLLM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00162" y="4108787"/>
            <a:ext cx="1534363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Cambria"/>
              </a:rPr>
              <a:t>API:</a:t>
            </a:r>
            <a:r>
              <a:rPr sz="1000">
                <a:solidFill>
                  <a:srgbClr val="424245"/>
                </a:solidFill>
                <a:latin typeface="Cambria"/>
              </a:rPr>
              <a:t> OpenAI</a:t>
            </a:r>
            <a:r>
              <a:rPr sz="1000">
                <a:solidFill>
                  <a:srgbClr val="424245"/>
                </a:solidFill>
                <a:latin typeface="Noto Sans JP"/>
              </a:rPr>
              <a:t>互換性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614209" y="4737107"/>
            <a:ext cx="1628545" cy="972007"/>
          </a:xfrm>
          <a:prstGeom prst="roundRect">
            <a:avLst>
              <a:gd name="adj" fmla="val 3808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00162" y="4823060"/>
            <a:ext cx="1574597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アクション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00162" y="5017827"/>
            <a:ext cx="1516074" cy="810158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OSとモデル形式に合ったランタイムを選択。Server機能の有無を確認。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706" y="3867385"/>
            <a:ext cx="123444" cy="267005"/>
          </a:xfrm>
          <a:prstGeom prst="rect">
            <a:avLst/>
          </a:prstGeom>
          <a:ln w="0">
            <a:noFill/>
          </a:ln>
        </p:spPr>
      </p:pic>
      <p:sp>
        <p:nvSpPr>
          <p:cNvPr id="62" name="Rounded Rectangle 61"/>
          <p:cNvSpPr/>
          <p:nvPr/>
        </p:nvSpPr>
        <p:spPr>
          <a:xfrm>
            <a:off x="978408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45929" y="2371022"/>
            <a:ext cx="1628545" cy="9143"/>
          </a:xfrm>
          <a:prstGeom prst="rect">
            <a:avLst/>
          </a:prstGeom>
          <a:solidFill>
            <a:srgbClr val="F0F0F0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45929" y="2608833"/>
            <a:ext cx="1694382" cy="3721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実機ベンチによる実用性の確定。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45929" y="3194387"/>
            <a:ext cx="1628545" cy="1410005"/>
          </a:xfrm>
          <a:prstGeom prst="roundRect">
            <a:avLst>
              <a:gd name="adj" fmla="val 2629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31882" y="3280340"/>
            <a:ext cx="1534363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判断基準</a:t>
            </a:r>
            <a:r>
              <a:rPr sz="900" b="1">
                <a:solidFill>
                  <a:srgbClr val="007AFF"/>
                </a:solidFill>
                <a:latin typeface="Cambria"/>
              </a:rPr>
              <a:t> (Criteria)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31882" y="3475108"/>
            <a:ext cx="1516074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指標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TTFT, p95, JSON</a:t>
            </a:r>
            <a:r>
              <a:rPr sz="1000">
                <a:solidFill>
                  <a:srgbClr val="424245"/>
                </a:solidFill>
                <a:latin typeface="Noto Sans JP"/>
              </a:rPr>
              <a:t>破壊率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31882" y="3884759"/>
            <a:ext cx="1516074" cy="3721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負荷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</a:t>
            </a:r>
            <a:r>
              <a:rPr sz="1000">
                <a:solidFill>
                  <a:srgbClr val="424245"/>
                </a:solidFill>
                <a:latin typeface="Noto Sans JP"/>
              </a:rPr>
              <a:t>メモリピーク</a:t>
            </a:r>
            <a:r>
              <a:rPr sz="1000">
                <a:solidFill>
                  <a:srgbClr val="424245"/>
                </a:solidFill>
                <a:latin typeface="Cambria"/>
              </a:rPr>
              <a:t>, KV</a:t>
            </a:r>
            <a:r>
              <a:rPr sz="1000">
                <a:solidFill>
                  <a:srgbClr val="424245"/>
                </a:solidFill>
                <a:latin typeface="Noto Sans JP"/>
              </a:rPr>
              <a:t>推移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31882" y="4294410"/>
            <a:ext cx="1574597" cy="19111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00" b="1">
                <a:solidFill>
                  <a:srgbClr val="424245"/>
                </a:solidFill>
                <a:latin typeface="Noto Sans JP"/>
              </a:rPr>
              <a:t>品質</a:t>
            </a:r>
            <a:r>
              <a:rPr sz="1000" b="1">
                <a:solidFill>
                  <a:srgbClr val="424245"/>
                </a:solidFill>
                <a:latin typeface="Cambria"/>
              </a:rPr>
              <a:t>:</a:t>
            </a:r>
            <a:r>
              <a:rPr sz="1000">
                <a:solidFill>
                  <a:srgbClr val="424245"/>
                </a:solidFill>
                <a:latin typeface="Cambria"/>
              </a:rPr>
              <a:t> </a:t>
            </a:r>
            <a:r>
              <a:rPr sz="1000">
                <a:solidFill>
                  <a:srgbClr val="424245"/>
                </a:solidFill>
                <a:latin typeface="Noto Sans JP"/>
              </a:rPr>
              <a:t>幻覚</a:t>
            </a:r>
            <a:r>
              <a:rPr sz="1000">
                <a:solidFill>
                  <a:srgbClr val="424245"/>
                </a:solidFill>
                <a:latin typeface="Cambria"/>
              </a:rPr>
              <a:t>, </a:t>
            </a:r>
            <a:r>
              <a:rPr sz="1000">
                <a:solidFill>
                  <a:srgbClr val="424245"/>
                </a:solidFill>
                <a:latin typeface="Noto Sans JP"/>
              </a:rPr>
              <a:t>誤転記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45929" y="4737107"/>
            <a:ext cx="1628545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31882" y="4823060"/>
            <a:ext cx="1574597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Noto Sans JP"/>
              </a:rPr>
              <a:t>アクション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31882" y="5017828"/>
            <a:ext cx="1516074" cy="6099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>
                <a:solidFill>
                  <a:srgbClr val="424245"/>
                </a:solidFill>
                <a:latin typeface="Noto Sans JP"/>
              </a:rPr>
              <a:t>条件固定ベンチで測定。KV量子化やプロンプトキャッシュで調整。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0"/>
            <a:ext cx="12192001" cy="54865"/>
          </a:xfrm>
          <a:prstGeom prst="rect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205179" y="1257730"/>
            <a:ext cx="456285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36898" y="1257730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868619" y="1257730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200339" y="1257730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532059" y="1257730"/>
            <a:ext cx="456286" cy="457200"/>
          </a:xfrm>
          <a:prstGeom prst="ellipse">
            <a:avLst/>
          </a:prstGeom>
          <a:solidFill>
            <a:srgbClr val="007A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04722" y="125773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36441" y="125773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868162" y="125773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99882" y="125773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531602" y="1257730"/>
            <a:ext cx="4572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