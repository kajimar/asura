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" y="1032380"/>
            <a:ext cx="12191695" cy="35999"/>
          </a:xfrm>
          <a:prstGeom prst="rect">
            <a:avLst/>
          </a:prstGeom>
          <a:solidFill>
            <a:srgbClr val="E5E5E5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1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792" y="221683"/>
            <a:ext cx="3238805" cy="22859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カテゴリ別代表モデル・ランタイム・主用途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0701"/>
            <a:ext cx="304495" cy="267005"/>
          </a:xfrm>
          <a:prstGeom prst="rect">
            <a:avLst/>
          </a:prstGeom>
          <a:ln w="0"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900225" y="519598"/>
            <a:ext cx="4439412" cy="4005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1">
                <a:solidFill>
                  <a:srgbClr val="1D1D1F"/>
                </a:solidFill>
                <a:latin typeface="Noto Sans JP"/>
              </a:rPr>
              <a:t>ローカル</a:t>
            </a:r>
            <a:r>
              <a:rPr sz="2100" b="1">
                <a:solidFill>
                  <a:srgbClr val="1D1D1F"/>
                </a:solidFill>
                <a:latin typeface="Cambria"/>
              </a:rPr>
              <a:t>AI</a:t>
            </a:r>
            <a:r>
              <a:rPr sz="2100" b="1">
                <a:solidFill>
                  <a:srgbClr val="1D1D1F"/>
                </a:solidFill>
                <a:latin typeface="Noto Sans JP"/>
              </a:rPr>
              <a:t>ランドスケープ（詳細）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89863"/>
            <a:ext cx="3657600" cy="1505102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846" y="1927861"/>
            <a:ext cx="3372307" cy="9143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1639413"/>
            <a:ext cx="190195" cy="152705"/>
          </a:xfrm>
          <a:prstGeom prst="rect">
            <a:avLst/>
          </a:prstGeom>
          <a:ln w="0"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866850" y="1563060"/>
            <a:ext cx="1505103" cy="3054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1D1D1F"/>
                </a:solidFill>
                <a:latin typeface="Noto Sans JP"/>
              </a:rPr>
              <a:t>テキスト</a:t>
            </a:r>
            <a:r>
              <a:rPr sz="1400" b="1">
                <a:solidFill>
                  <a:srgbClr val="1D1D1F"/>
                </a:solidFill>
                <a:latin typeface="Cambria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846" y="2046733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形式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405" y="2046733"/>
            <a:ext cx="2867558" cy="3429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GGUF (llama.cpp</a:t>
            </a:r>
            <a:r>
              <a:rPr sz="1050">
                <a:solidFill>
                  <a:srgbClr val="1D1D1F"/>
                </a:solidFill>
                <a:latin typeface="Noto Sans JP"/>
              </a:rPr>
              <a:t>必須</a:t>
            </a:r>
            <a:r>
              <a:rPr sz="1050">
                <a:solidFill>
                  <a:srgbClr val="1D1D1F"/>
                </a:solidFill>
                <a:latin typeface="Cambria"/>
              </a:rPr>
              <a:t>), GPTQ/AWQ/EXL2 (GPU</a:t>
            </a:r>
            <a:r>
              <a:rPr sz="1050">
                <a:solidFill>
                  <a:srgbClr val="1D1D1F"/>
                </a:solidFill>
                <a:latin typeface="Noto Sans JP"/>
              </a:rPr>
              <a:t>向け</a:t>
            </a:r>
            <a:r>
              <a:rPr sz="1050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381" y="2252744"/>
            <a:ext cx="247801" cy="161849"/>
          </a:xfrm>
          <a:prstGeom prst="rect">
            <a:avLst/>
          </a:prstGeom>
          <a:ln w="0">
            <a:noFill/>
          </a:ln>
        </p:spPr>
      </p:pic>
      <p:sp>
        <p:nvSpPr>
          <p:cNvPr id="16" name="Rectangle 15"/>
          <p:cNvSpPr/>
          <p:nvPr/>
        </p:nvSpPr>
        <p:spPr>
          <a:xfrm>
            <a:off x="3729381" y="2252744"/>
            <a:ext cx="247801" cy="16276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ambria"/>
              </a:rPr>
              <a:t>[21]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846" y="2447240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代表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1405" y="2447240"/>
            <a:ext cx="243779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Llama 3.1, Qwen2.5, Gemma 2, Phi-3/4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" y="2675840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用途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405" y="2675840"/>
            <a:ext cx="1548079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Noto Sans JP"/>
              </a:rPr>
              <a:t>汎用対話</a:t>
            </a:r>
            <a:r>
              <a:rPr sz="1050">
                <a:solidFill>
                  <a:srgbClr val="1D1D1F"/>
                </a:solidFill>
                <a:latin typeface="Cambria"/>
              </a:rPr>
              <a:t>, </a:t>
            </a:r>
            <a:r>
              <a:rPr sz="1050">
                <a:solidFill>
                  <a:srgbClr val="1D1D1F"/>
                </a:solidFill>
                <a:latin typeface="Noto Sans JP"/>
              </a:rPr>
              <a:t>要約</a:t>
            </a:r>
            <a:r>
              <a:rPr sz="1050">
                <a:solidFill>
                  <a:srgbClr val="1D1D1F"/>
                </a:solidFill>
                <a:latin typeface="Cambria"/>
              </a:rPr>
              <a:t>, RAG, </a:t>
            </a:r>
            <a:r>
              <a:rPr sz="1050">
                <a:solidFill>
                  <a:srgbClr val="1D1D1F"/>
                </a:solidFill>
                <a:latin typeface="Noto Sans JP"/>
              </a:rPr>
              <a:t>翻訳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7505" y="1489863"/>
            <a:ext cx="3657600" cy="1505102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10151" y="1927861"/>
            <a:ext cx="3372307" cy="9143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0151" y="1639413"/>
            <a:ext cx="190194" cy="152705"/>
          </a:xfrm>
          <a:prstGeom prst="rect">
            <a:avLst/>
          </a:prstGeom>
          <a:ln w="0">
            <a:noFill/>
          </a:ln>
        </p:spPr>
      </p:pic>
      <p:sp>
        <p:nvSpPr>
          <p:cNvPr id="24" name="TextBox 23"/>
          <p:cNvSpPr txBox="1"/>
          <p:nvPr/>
        </p:nvSpPr>
        <p:spPr>
          <a:xfrm>
            <a:off x="4677156" y="1563060"/>
            <a:ext cx="1468526" cy="3054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1D1D1F"/>
                </a:solidFill>
                <a:latin typeface="Cambria"/>
              </a:rPr>
              <a:t>VLM / LMM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0151" y="2046733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代表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0795" y="2046733"/>
            <a:ext cx="1915668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Qwen2-VL, Phi-3-Vision, LLaVA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0151" y="2275333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実行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0795" y="2275333"/>
            <a:ext cx="2761487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MLX-VLM (Mac</a:t>
            </a:r>
            <a:r>
              <a:rPr sz="1050">
                <a:solidFill>
                  <a:srgbClr val="1D1D1F"/>
                </a:solidFill>
                <a:latin typeface="Noto Sans JP"/>
              </a:rPr>
              <a:t>最適化</a:t>
            </a:r>
            <a:r>
              <a:rPr sz="1050">
                <a:solidFill>
                  <a:srgbClr val="1D1D1F"/>
                </a:solidFill>
                <a:latin typeface="Cambria"/>
              </a:rPr>
              <a:t>), Transformers, vLLM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6" y="2284477"/>
            <a:ext cx="247802" cy="161849"/>
          </a:xfrm>
          <a:prstGeom prst="rect">
            <a:avLst/>
          </a:prstGeom>
          <a:ln w="0">
            <a:noFill/>
          </a:ln>
        </p:spPr>
      </p:pic>
      <p:sp>
        <p:nvSpPr>
          <p:cNvPr id="30" name="Rectangle 29"/>
          <p:cNvSpPr/>
          <p:nvPr/>
        </p:nvSpPr>
        <p:spPr>
          <a:xfrm>
            <a:off x="7580376" y="2284477"/>
            <a:ext cx="247802" cy="16276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ambria"/>
              </a:rPr>
              <a:t>[28]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0151" y="2503933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用途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0795" y="2503933"/>
            <a:ext cx="1550821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Noto Sans JP"/>
              </a:rPr>
              <a:t>画像理解</a:t>
            </a:r>
            <a:r>
              <a:rPr sz="1050">
                <a:solidFill>
                  <a:srgbClr val="1D1D1F"/>
                </a:solidFill>
                <a:latin typeface="Cambria"/>
              </a:rPr>
              <a:t>, OCR</a:t>
            </a:r>
            <a:r>
              <a:rPr sz="1050">
                <a:solidFill>
                  <a:srgbClr val="1D1D1F"/>
                </a:solidFill>
                <a:latin typeface="Noto Sans JP"/>
              </a:rPr>
              <a:t>代替</a:t>
            </a:r>
            <a:r>
              <a:rPr sz="1050">
                <a:solidFill>
                  <a:srgbClr val="1D1D1F"/>
                </a:solidFill>
                <a:latin typeface="Cambria"/>
              </a:rPr>
              <a:t>, UI</a:t>
            </a:r>
            <a:r>
              <a:rPr sz="1050">
                <a:solidFill>
                  <a:srgbClr val="1D1D1F"/>
                </a:solidFill>
                <a:latin typeface="Noto Sans JP"/>
              </a:rPr>
              <a:t>解析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76895" y="1489863"/>
            <a:ext cx="3657600" cy="1505102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0456" y="1927861"/>
            <a:ext cx="3372307" cy="9143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456" y="1639413"/>
            <a:ext cx="190194" cy="152705"/>
          </a:xfrm>
          <a:prstGeom prst="rect">
            <a:avLst/>
          </a:prstGeom>
          <a:ln w="0">
            <a:noFill/>
          </a:ln>
        </p:spPr>
      </p:pic>
      <p:sp>
        <p:nvSpPr>
          <p:cNvPr id="36" name="TextBox 35"/>
          <p:cNvSpPr txBox="1"/>
          <p:nvPr/>
        </p:nvSpPr>
        <p:spPr>
          <a:xfrm>
            <a:off x="8486546" y="1563060"/>
            <a:ext cx="1597732" cy="3054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1D1D1F"/>
                </a:solidFill>
                <a:latin typeface="Cambria"/>
              </a:rPr>
              <a:t>ASR</a:t>
            </a:r>
            <a:r>
              <a:rPr sz="1400" b="1">
                <a:solidFill>
                  <a:srgbClr val="1D1D1F"/>
                </a:solidFill>
                <a:latin typeface="Noto Sans JP"/>
              </a:rPr>
              <a:t>（音声認識）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0456" y="2046733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方式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1100" y="2046733"/>
            <a:ext cx="2890417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Whisper</a:t>
            </a:r>
            <a:r>
              <a:rPr sz="1050">
                <a:solidFill>
                  <a:srgbClr val="1D1D1F"/>
                </a:solidFill>
                <a:latin typeface="Noto Sans JP"/>
              </a:rPr>
              <a:t>系</a:t>
            </a:r>
            <a:r>
              <a:rPr sz="1050">
                <a:solidFill>
                  <a:srgbClr val="1D1D1F"/>
                </a:solidFill>
                <a:latin typeface="Cambria"/>
              </a:rPr>
              <a:t> (faster-whisper, whisper.cpp)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0444" y="2058923"/>
            <a:ext cx="247802" cy="161849"/>
          </a:xfrm>
          <a:prstGeom prst="rect">
            <a:avLst/>
          </a:prstGeom>
          <a:ln w="0">
            <a:noFill/>
          </a:ln>
        </p:spPr>
      </p:pic>
      <p:sp>
        <p:nvSpPr>
          <p:cNvPr id="40" name="Rectangle 39"/>
          <p:cNvSpPr/>
          <p:nvPr/>
        </p:nvSpPr>
        <p:spPr>
          <a:xfrm>
            <a:off x="11170444" y="2058923"/>
            <a:ext cx="247802" cy="16276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ambria"/>
              </a:rPr>
              <a:t>[50]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6857" y="2260930"/>
            <a:ext cx="247802" cy="161849"/>
          </a:xfrm>
          <a:prstGeom prst="rect">
            <a:avLst/>
          </a:prstGeom>
          <a:ln w="0">
            <a:noFill/>
          </a:ln>
        </p:spPr>
      </p:pic>
      <p:sp>
        <p:nvSpPr>
          <p:cNvPr id="42" name="Rectangle 41"/>
          <p:cNvSpPr/>
          <p:nvPr/>
        </p:nvSpPr>
        <p:spPr>
          <a:xfrm>
            <a:off x="11436857" y="2260930"/>
            <a:ext cx="247802" cy="162762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ambria"/>
              </a:rPr>
              <a:t>[51]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0456" y="2275333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特徴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01100" y="2256131"/>
            <a:ext cx="2607868" cy="191108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CTranslate2</a:t>
            </a:r>
            <a:r>
              <a:rPr sz="1050">
                <a:solidFill>
                  <a:srgbClr val="1D1D1F"/>
                </a:solidFill>
                <a:latin typeface="Noto Sans JP"/>
              </a:rPr>
              <a:t>で高速・省メモリ</a:t>
            </a:r>
            <a:r>
              <a:rPr sz="1050">
                <a:solidFill>
                  <a:srgbClr val="1D1D1F"/>
                </a:solidFill>
                <a:latin typeface="Cambria"/>
              </a:rPr>
              <a:t>, C++</a:t>
            </a:r>
            <a:r>
              <a:rPr sz="1050">
                <a:solidFill>
                  <a:srgbClr val="1D1D1F"/>
                </a:solidFill>
                <a:latin typeface="Noto Sans JP"/>
              </a:rPr>
              <a:t>軽量実装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0456" y="2503933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用途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01100" y="2503933"/>
            <a:ext cx="2418133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Noto Sans JP"/>
              </a:rPr>
              <a:t>議事録</a:t>
            </a:r>
            <a:r>
              <a:rPr sz="1050">
                <a:solidFill>
                  <a:srgbClr val="1D1D1F"/>
                </a:solidFill>
                <a:latin typeface="Cambria"/>
              </a:rPr>
              <a:t>, </a:t>
            </a:r>
            <a:r>
              <a:rPr sz="1050">
                <a:solidFill>
                  <a:srgbClr val="1D1D1F"/>
                </a:solidFill>
                <a:latin typeface="Noto Sans JP"/>
              </a:rPr>
              <a:t>音声コマンド</a:t>
            </a:r>
            <a:r>
              <a:rPr sz="1050">
                <a:solidFill>
                  <a:srgbClr val="1D1D1F"/>
                </a:solidFill>
                <a:latin typeface="Cambria"/>
              </a:rPr>
              <a:t>, </a:t>
            </a:r>
            <a:r>
              <a:rPr sz="1050">
                <a:solidFill>
                  <a:srgbClr val="1D1D1F"/>
                </a:solidFill>
                <a:latin typeface="Noto Sans JP"/>
              </a:rPr>
              <a:t>文字起こし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142184"/>
            <a:ext cx="3657600" cy="1333194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9846" y="3580182"/>
            <a:ext cx="3372307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846" y="3291734"/>
            <a:ext cx="190195" cy="152705"/>
          </a:xfrm>
          <a:prstGeom prst="rect">
            <a:avLst/>
          </a:prstGeom>
          <a:ln w="0">
            <a:noFill/>
          </a:ln>
        </p:spPr>
      </p:pic>
      <p:sp>
        <p:nvSpPr>
          <p:cNvPr id="50" name="TextBox 49"/>
          <p:cNvSpPr txBox="1"/>
          <p:nvPr/>
        </p:nvSpPr>
        <p:spPr>
          <a:xfrm>
            <a:off x="866850" y="3215381"/>
            <a:ext cx="1505102" cy="3054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1D1D1F"/>
                </a:solidFill>
                <a:latin typeface="Cambria"/>
              </a:rPr>
              <a:t>TTS</a:t>
            </a:r>
            <a:r>
              <a:rPr sz="1400" b="1">
                <a:solidFill>
                  <a:srgbClr val="1D1D1F"/>
                </a:solidFill>
                <a:latin typeface="Noto Sans JP"/>
              </a:rPr>
              <a:t>（音声合成）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9846" y="3699967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軽量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1405" y="3699967"/>
            <a:ext cx="2189988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Piper / Kokoro (</a:t>
            </a:r>
            <a:r>
              <a:rPr sz="1050">
                <a:solidFill>
                  <a:srgbClr val="1D1D1F"/>
                </a:solidFill>
                <a:latin typeface="Noto Sans JP"/>
              </a:rPr>
              <a:t>高速・</a:t>
            </a:r>
            <a:r>
              <a:rPr sz="1050">
                <a:solidFill>
                  <a:srgbClr val="1D1D1F"/>
                </a:solidFill>
                <a:latin typeface="Cambria"/>
              </a:rPr>
              <a:t>CPU</a:t>
            </a:r>
            <a:r>
              <a:rPr sz="1050">
                <a:solidFill>
                  <a:srgbClr val="1D1D1F"/>
                </a:solidFill>
                <a:latin typeface="Noto Sans JP"/>
              </a:rPr>
              <a:t>向け</a:t>
            </a:r>
            <a:r>
              <a:rPr sz="1050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9303" y="3726029"/>
            <a:ext cx="490117" cy="161848"/>
          </a:xfrm>
          <a:prstGeom prst="rect">
            <a:avLst/>
          </a:prstGeom>
          <a:ln w="0">
            <a:noFill/>
          </a:ln>
        </p:spPr>
      </p:pic>
      <p:sp>
        <p:nvSpPr>
          <p:cNvPr id="54" name="Rectangle 53"/>
          <p:cNvSpPr/>
          <p:nvPr/>
        </p:nvSpPr>
        <p:spPr>
          <a:xfrm>
            <a:off x="3514954" y="3708198"/>
            <a:ext cx="600760" cy="1627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ambria"/>
              </a:rPr>
              <a:t>[52][53]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9846" y="3928567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高品質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81405" y="3928567"/>
            <a:ext cx="2546604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XTTS / StyleTTS2 (</a:t>
            </a:r>
            <a:r>
              <a:rPr sz="1050">
                <a:solidFill>
                  <a:srgbClr val="1D1D1F"/>
                </a:solidFill>
                <a:latin typeface="Noto Sans JP"/>
              </a:rPr>
              <a:t>クローン・</a:t>
            </a:r>
            <a:r>
              <a:rPr sz="1050">
                <a:solidFill>
                  <a:srgbClr val="1D1D1F"/>
                </a:solidFill>
                <a:latin typeface="Cambria"/>
              </a:rPr>
              <a:t>GPU</a:t>
            </a:r>
            <a:r>
              <a:rPr sz="1050">
                <a:solidFill>
                  <a:srgbClr val="1D1D1F"/>
                </a:solidFill>
                <a:latin typeface="Noto Sans JP"/>
              </a:rPr>
              <a:t>推奨</a:t>
            </a:r>
            <a:r>
              <a:rPr sz="1050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1542" y="3938398"/>
            <a:ext cx="482849" cy="161848"/>
          </a:xfrm>
          <a:prstGeom prst="rect">
            <a:avLst/>
          </a:prstGeom>
          <a:ln w="0">
            <a:noFill/>
          </a:ln>
        </p:spPr>
      </p:pic>
      <p:sp>
        <p:nvSpPr>
          <p:cNvPr id="58" name="Rectangle 57"/>
          <p:cNvSpPr/>
          <p:nvPr/>
        </p:nvSpPr>
        <p:spPr>
          <a:xfrm>
            <a:off x="3535071" y="3927654"/>
            <a:ext cx="528522" cy="1627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ambria"/>
              </a:rPr>
              <a:t>[54][55]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9846" y="4157167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用途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81405" y="4157167"/>
            <a:ext cx="2096267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Noto Sans JP"/>
              </a:rPr>
              <a:t>読み上げ</a:t>
            </a:r>
            <a:r>
              <a:rPr sz="1050">
                <a:solidFill>
                  <a:srgbClr val="1D1D1F"/>
                </a:solidFill>
                <a:latin typeface="Cambria"/>
              </a:rPr>
              <a:t>, </a:t>
            </a:r>
            <a:r>
              <a:rPr sz="1050">
                <a:solidFill>
                  <a:srgbClr val="1D1D1F"/>
                </a:solidFill>
                <a:latin typeface="Noto Sans JP"/>
              </a:rPr>
              <a:t>通知</a:t>
            </a:r>
            <a:r>
              <a:rPr sz="1050">
                <a:solidFill>
                  <a:srgbClr val="1D1D1F"/>
                </a:solidFill>
                <a:latin typeface="Cambria"/>
              </a:rPr>
              <a:t>, </a:t>
            </a:r>
            <a:r>
              <a:rPr sz="1050">
                <a:solidFill>
                  <a:srgbClr val="1D1D1F"/>
                </a:solidFill>
                <a:latin typeface="Noto Sans JP"/>
              </a:rPr>
              <a:t>ボイスボット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67505" y="3142184"/>
            <a:ext cx="3657600" cy="1333194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10151" y="3580182"/>
            <a:ext cx="3372307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0151" y="3291734"/>
            <a:ext cx="190194" cy="152705"/>
          </a:xfrm>
          <a:prstGeom prst="rect">
            <a:avLst/>
          </a:prstGeom>
          <a:ln w="0">
            <a:noFill/>
          </a:ln>
        </p:spPr>
      </p:pic>
      <p:sp>
        <p:nvSpPr>
          <p:cNvPr id="64" name="TextBox 63"/>
          <p:cNvSpPr txBox="1"/>
          <p:nvPr/>
        </p:nvSpPr>
        <p:spPr>
          <a:xfrm>
            <a:off x="4677156" y="3215381"/>
            <a:ext cx="1943098" cy="3054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1D1D1F"/>
                </a:solidFill>
                <a:latin typeface="Cambria"/>
              </a:rPr>
              <a:t>Embedding/Reranker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10151" y="3699967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代表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90795" y="3699967"/>
            <a:ext cx="2635301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bge-m3, multilingual-e5, bge-reranker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5551" y="3708198"/>
            <a:ext cx="452626" cy="161848"/>
          </a:xfrm>
          <a:prstGeom prst="rect">
            <a:avLst/>
          </a:prstGeom>
          <a:ln w="0">
            <a:noFill/>
          </a:ln>
        </p:spPr>
      </p:pic>
      <p:sp>
        <p:nvSpPr>
          <p:cNvPr id="68" name="Rectangle 67"/>
          <p:cNvSpPr/>
          <p:nvPr/>
        </p:nvSpPr>
        <p:spPr>
          <a:xfrm>
            <a:off x="7327087" y="3703219"/>
            <a:ext cx="549554" cy="1627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ambria"/>
              </a:rPr>
              <a:t>[58-62]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10151" y="3928567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重要性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90795" y="3928567"/>
            <a:ext cx="2635301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RAG</a:t>
            </a:r>
            <a:r>
              <a:rPr sz="1050">
                <a:solidFill>
                  <a:srgbClr val="1D1D1F"/>
                </a:solidFill>
                <a:latin typeface="Noto Sans JP"/>
              </a:rPr>
              <a:t>の検索精度（</a:t>
            </a:r>
            <a:r>
              <a:rPr sz="1050">
                <a:solidFill>
                  <a:srgbClr val="1D1D1F"/>
                </a:solidFill>
                <a:latin typeface="Cambria"/>
              </a:rPr>
              <a:t>Recall/Precision</a:t>
            </a:r>
            <a:r>
              <a:rPr sz="1050">
                <a:solidFill>
                  <a:srgbClr val="1D1D1F"/>
                </a:solidFill>
                <a:latin typeface="Noto Sans JP"/>
              </a:rPr>
              <a:t>）を決定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10151" y="4157167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用途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90795" y="4157167"/>
            <a:ext cx="1850991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Noto Sans JP"/>
              </a:rPr>
              <a:t>ベクトル検索</a:t>
            </a:r>
            <a:r>
              <a:rPr sz="1050">
                <a:solidFill>
                  <a:srgbClr val="1D1D1F"/>
                </a:solidFill>
                <a:latin typeface="Cambria"/>
              </a:rPr>
              <a:t>, </a:t>
            </a:r>
            <a:r>
              <a:rPr sz="1050">
                <a:solidFill>
                  <a:srgbClr val="1D1D1F"/>
                </a:solidFill>
                <a:latin typeface="Noto Sans JP"/>
              </a:rPr>
              <a:t>再ランキング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76895" y="3142184"/>
            <a:ext cx="3657600" cy="1333194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20456" y="3580182"/>
            <a:ext cx="3372307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0456" y="3291734"/>
            <a:ext cx="190194" cy="152705"/>
          </a:xfrm>
          <a:prstGeom prst="rect">
            <a:avLst/>
          </a:prstGeom>
          <a:ln w="0">
            <a:noFill/>
          </a:ln>
        </p:spPr>
      </p:pic>
      <p:sp>
        <p:nvSpPr>
          <p:cNvPr id="76" name="TextBox 75"/>
          <p:cNvSpPr txBox="1"/>
          <p:nvPr/>
        </p:nvSpPr>
        <p:spPr>
          <a:xfrm>
            <a:off x="8486546" y="3215381"/>
            <a:ext cx="1704441" cy="3054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1D1D1F"/>
                </a:solidFill>
                <a:latin typeface="Cambria"/>
              </a:rPr>
              <a:t>OCR / Document AI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0456" y="3699967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古典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01100" y="3699967"/>
            <a:ext cx="2159812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Tesseract / PaddleOCR (</a:t>
            </a:r>
            <a:r>
              <a:rPr sz="1050">
                <a:solidFill>
                  <a:srgbClr val="1D1D1F"/>
                </a:solidFill>
                <a:latin typeface="Noto Sans JP"/>
              </a:rPr>
              <a:t>構造化</a:t>
            </a:r>
            <a:r>
              <a:rPr sz="1050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9445" y="3673908"/>
            <a:ext cx="498173" cy="161848"/>
          </a:xfrm>
          <a:prstGeom prst="rect">
            <a:avLst/>
          </a:prstGeom>
          <a:ln w="0">
            <a:noFill/>
          </a:ln>
        </p:spPr>
      </p:pic>
      <p:sp>
        <p:nvSpPr>
          <p:cNvPr id="80" name="Rectangle 79"/>
          <p:cNvSpPr/>
          <p:nvPr/>
        </p:nvSpPr>
        <p:spPr>
          <a:xfrm>
            <a:off x="11099445" y="3673908"/>
            <a:ext cx="499262" cy="1627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ambria"/>
              </a:rPr>
              <a:t>[64][66]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0456" y="3928567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Cambria"/>
              </a:rPr>
              <a:t>AI</a:t>
            </a:r>
            <a:r>
              <a:rPr sz="1050" b="1">
                <a:solidFill>
                  <a:srgbClr val="6E6E73"/>
                </a:solidFill>
                <a:latin typeface="Noto Sans JP"/>
              </a:rPr>
              <a:t>型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01100" y="3928567"/>
            <a:ext cx="2149754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Donut / LayoutLMv3 (</a:t>
            </a:r>
            <a:r>
              <a:rPr sz="1050">
                <a:solidFill>
                  <a:srgbClr val="1D1D1F"/>
                </a:solidFill>
                <a:latin typeface="Noto Sans JP"/>
              </a:rPr>
              <a:t>文書理解</a:t>
            </a:r>
            <a:r>
              <a:rPr sz="1050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2130" y="3902508"/>
            <a:ext cx="498173" cy="161848"/>
          </a:xfrm>
          <a:prstGeom prst="rect">
            <a:avLst/>
          </a:prstGeom>
          <a:ln w="0">
            <a:noFill/>
          </a:ln>
        </p:spPr>
      </p:pic>
      <p:sp>
        <p:nvSpPr>
          <p:cNvPr id="84" name="Rectangle 83"/>
          <p:cNvSpPr/>
          <p:nvPr/>
        </p:nvSpPr>
        <p:spPr>
          <a:xfrm>
            <a:off x="11092130" y="3902508"/>
            <a:ext cx="499262" cy="1627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ambria"/>
              </a:rPr>
              <a:t>[68][69]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0456" y="4157167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用途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01099" y="4157167"/>
            <a:ext cx="2159812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PDF</a:t>
            </a:r>
            <a:r>
              <a:rPr sz="1050">
                <a:solidFill>
                  <a:srgbClr val="1D1D1F"/>
                </a:solidFill>
                <a:latin typeface="Noto Sans JP"/>
              </a:rPr>
              <a:t>解析</a:t>
            </a:r>
            <a:r>
              <a:rPr sz="1050">
                <a:solidFill>
                  <a:srgbClr val="1D1D1F"/>
                </a:solidFill>
                <a:latin typeface="Cambria"/>
              </a:rPr>
              <a:t>, </a:t>
            </a:r>
            <a:r>
              <a:rPr sz="1050">
                <a:solidFill>
                  <a:srgbClr val="1D1D1F"/>
                </a:solidFill>
                <a:latin typeface="Noto Sans JP"/>
              </a:rPr>
              <a:t>請求書読取</a:t>
            </a:r>
            <a:r>
              <a:rPr sz="1050">
                <a:solidFill>
                  <a:srgbClr val="1D1D1F"/>
                </a:solidFill>
                <a:latin typeface="Cambria"/>
              </a:rPr>
              <a:t>, </a:t>
            </a:r>
            <a:r>
              <a:rPr sz="1050">
                <a:solidFill>
                  <a:srgbClr val="1D1D1F"/>
                </a:solidFill>
                <a:latin typeface="Noto Sans JP"/>
              </a:rPr>
              <a:t>スキャン処理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7200" y="4623512"/>
            <a:ext cx="3657600" cy="1333195"/>
          </a:xfrm>
          <a:prstGeom prst="roundRect">
            <a:avLst>
              <a:gd name="adj" fmla="val 3919"/>
            </a:avLst>
          </a:prstGeom>
          <a:noFill/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99846" y="5061510"/>
            <a:ext cx="3372307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9846" y="4773062"/>
            <a:ext cx="190195" cy="152705"/>
          </a:xfrm>
          <a:prstGeom prst="rect">
            <a:avLst/>
          </a:prstGeom>
          <a:ln w="0"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866850" y="4696709"/>
            <a:ext cx="1410523" cy="3054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1D1D1F"/>
                </a:solidFill>
                <a:latin typeface="Noto Sans JP"/>
              </a:rPr>
              <a:t>画像生成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9846" y="5180382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代表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81405" y="5180382"/>
            <a:ext cx="1953158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SDXL, FLUX.1 (</a:t>
            </a:r>
            <a:r>
              <a:rPr sz="1050">
                <a:solidFill>
                  <a:srgbClr val="1D1D1F"/>
                </a:solidFill>
                <a:latin typeface="Noto Sans JP"/>
              </a:rPr>
              <a:t>要</a:t>
            </a:r>
            <a:r>
              <a:rPr sz="1050">
                <a:solidFill>
                  <a:srgbClr val="1D1D1F"/>
                </a:solidFill>
                <a:latin typeface="Cambria"/>
              </a:rPr>
              <a:t>VRAM</a:t>
            </a:r>
            <a:r>
              <a:rPr sz="1050">
                <a:solidFill>
                  <a:srgbClr val="1D1D1F"/>
                </a:solidFill>
                <a:latin typeface="Noto Sans JP"/>
              </a:rPr>
              <a:t>確認</a:t>
            </a:r>
            <a:r>
              <a:rPr sz="1050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3358" y="5206288"/>
            <a:ext cx="491032" cy="161848"/>
          </a:xfrm>
          <a:prstGeom prst="rect">
            <a:avLst/>
          </a:prstGeom>
          <a:ln w="0">
            <a:noFill/>
          </a:ln>
        </p:spPr>
      </p:pic>
      <p:sp>
        <p:nvSpPr>
          <p:cNvPr id="94" name="Rectangle 93"/>
          <p:cNvSpPr/>
          <p:nvPr/>
        </p:nvSpPr>
        <p:spPr>
          <a:xfrm>
            <a:off x="3477005" y="5188612"/>
            <a:ext cx="644651" cy="15866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ambria"/>
              </a:rPr>
              <a:t>[71][75]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9846" y="5408982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実行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81405" y="5408982"/>
            <a:ext cx="1657807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ComfyUI, SD WebUI</a:t>
            </a:r>
          </a:p>
        </p:txBody>
      </p: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303" y="5407240"/>
            <a:ext cx="485087" cy="161848"/>
          </a:xfrm>
          <a:prstGeom prst="rect">
            <a:avLst/>
          </a:prstGeom>
          <a:ln w="0">
            <a:noFill/>
          </a:ln>
        </p:spPr>
      </p:pic>
      <p:sp>
        <p:nvSpPr>
          <p:cNvPr id="98" name="Rectangle 97"/>
          <p:cNvSpPr/>
          <p:nvPr/>
        </p:nvSpPr>
        <p:spPr>
          <a:xfrm>
            <a:off x="3556788" y="5396537"/>
            <a:ext cx="485087" cy="1627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ambria"/>
              </a:rPr>
              <a:t>[72]</a:t>
            </a:r>
            <a:r>
              <a:rPr sz="1000">
                <a:solidFill>
                  <a:srgbClr val="6B7280"/>
                </a:solidFill>
                <a:latin typeface="Cambria"/>
              </a:rPr>
              <a:t>[73]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9846" y="5637582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用途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81405" y="5637582"/>
            <a:ext cx="2094889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Noto Sans JP"/>
              </a:rPr>
              <a:t>素材生成</a:t>
            </a:r>
            <a:r>
              <a:rPr sz="1050">
                <a:solidFill>
                  <a:srgbClr val="1D1D1F"/>
                </a:solidFill>
                <a:latin typeface="Cambria"/>
              </a:rPr>
              <a:t>, UI</a:t>
            </a:r>
            <a:r>
              <a:rPr sz="1050">
                <a:solidFill>
                  <a:srgbClr val="1D1D1F"/>
                </a:solidFill>
                <a:latin typeface="Noto Sans JP"/>
              </a:rPr>
              <a:t>モック</a:t>
            </a:r>
            <a:r>
              <a:rPr sz="1050">
                <a:solidFill>
                  <a:srgbClr val="1D1D1F"/>
                </a:solidFill>
                <a:latin typeface="Cambria"/>
              </a:rPr>
              <a:t>, </a:t>
            </a:r>
            <a:r>
              <a:rPr sz="1050">
                <a:solidFill>
                  <a:srgbClr val="1D1D1F"/>
                </a:solidFill>
                <a:latin typeface="Noto Sans JP"/>
              </a:rPr>
              <a:t>コンテンツ制作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267505" y="4623512"/>
            <a:ext cx="3657600" cy="1333195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410151" y="5061510"/>
            <a:ext cx="3372307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0151" y="4773062"/>
            <a:ext cx="190194" cy="152705"/>
          </a:xfrm>
          <a:prstGeom prst="rect">
            <a:avLst/>
          </a:prstGeom>
          <a:ln w="0">
            <a:noFill/>
          </a:ln>
        </p:spPr>
      </p:pic>
      <p:sp>
        <p:nvSpPr>
          <p:cNvPr id="104" name="TextBox 103"/>
          <p:cNvSpPr txBox="1"/>
          <p:nvPr/>
        </p:nvSpPr>
        <p:spPr>
          <a:xfrm>
            <a:off x="4677156" y="4696709"/>
            <a:ext cx="1468526" cy="3054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1D1D1F"/>
                </a:solidFill>
                <a:latin typeface="Cambria"/>
              </a:rPr>
              <a:t>Agent / Tool-use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410151" y="5180382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方式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990795" y="5180382"/>
            <a:ext cx="2249424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OpenAI</a:t>
            </a:r>
            <a:r>
              <a:rPr sz="1050">
                <a:solidFill>
                  <a:srgbClr val="1D1D1F"/>
                </a:solidFill>
                <a:latin typeface="Noto Sans JP"/>
              </a:rPr>
              <a:t>互換</a:t>
            </a:r>
            <a:r>
              <a:rPr sz="1050">
                <a:solidFill>
                  <a:srgbClr val="1D1D1F"/>
                </a:solidFill>
                <a:latin typeface="Cambria"/>
              </a:rPr>
              <a:t>API</a:t>
            </a:r>
            <a:r>
              <a:rPr sz="1050">
                <a:solidFill>
                  <a:srgbClr val="1D1D1F"/>
                </a:solidFill>
                <a:latin typeface="Noto Sans JP"/>
              </a:rPr>
              <a:t>での</a:t>
            </a:r>
            <a:r>
              <a:rPr sz="1050">
                <a:solidFill>
                  <a:srgbClr val="1D1D1F"/>
                </a:solidFill>
                <a:latin typeface="Cambria"/>
              </a:rPr>
              <a:t>Function Calling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6" y="5205374"/>
            <a:ext cx="247802" cy="161848"/>
          </a:xfrm>
          <a:prstGeom prst="rect">
            <a:avLst/>
          </a:prstGeom>
          <a:ln w="0">
            <a:noFill/>
          </a:ln>
        </p:spPr>
      </p:pic>
      <p:sp>
        <p:nvSpPr>
          <p:cNvPr id="108" name="Rectangle 107"/>
          <p:cNvSpPr/>
          <p:nvPr/>
        </p:nvSpPr>
        <p:spPr>
          <a:xfrm>
            <a:off x="7580376" y="5205374"/>
            <a:ext cx="247802" cy="1627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ambria"/>
              </a:rPr>
              <a:t>[24]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410151" y="5408982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実行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990795" y="5408982"/>
            <a:ext cx="1981505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Ollama / LM Studio</a:t>
            </a:r>
            <a:r>
              <a:rPr sz="1050">
                <a:solidFill>
                  <a:srgbClr val="1D1D1F"/>
                </a:solidFill>
                <a:latin typeface="Noto Sans JP"/>
              </a:rPr>
              <a:t>が実務的</a:t>
            </a:r>
          </a:p>
        </p:txBody>
      </p:sp>
      <p:pic>
        <p:nvPicPr>
          <p:cNvPr id="111" name="Picture 1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6886" y="5433974"/>
            <a:ext cx="499997" cy="161848"/>
          </a:xfrm>
          <a:prstGeom prst="rect">
            <a:avLst/>
          </a:prstGeom>
          <a:ln w="0">
            <a:noFill/>
          </a:ln>
        </p:spPr>
      </p:pic>
      <p:sp>
        <p:nvSpPr>
          <p:cNvPr id="112" name="Rectangle 111"/>
          <p:cNvSpPr/>
          <p:nvPr/>
        </p:nvSpPr>
        <p:spPr>
          <a:xfrm>
            <a:off x="7327086" y="5433974"/>
            <a:ext cx="501091" cy="1627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ambria"/>
              </a:rPr>
              <a:t>[23][41]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410151" y="5637582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用途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990795" y="5637582"/>
            <a:ext cx="1850991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Noto Sans JP"/>
              </a:rPr>
              <a:t>タスク自動化</a:t>
            </a:r>
            <a:r>
              <a:rPr sz="1050">
                <a:solidFill>
                  <a:srgbClr val="1D1D1F"/>
                </a:solidFill>
                <a:latin typeface="Cambria"/>
              </a:rPr>
              <a:t>, </a:t>
            </a:r>
            <a:r>
              <a:rPr sz="1050">
                <a:solidFill>
                  <a:srgbClr val="1D1D1F"/>
                </a:solidFill>
                <a:latin typeface="Noto Sans JP"/>
              </a:rPr>
              <a:t>外部ツール連携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076895" y="4623512"/>
            <a:ext cx="3657600" cy="1333195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220456" y="5061510"/>
            <a:ext cx="3372307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7" name="Picture 1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20456" y="4773062"/>
            <a:ext cx="190194" cy="152705"/>
          </a:xfrm>
          <a:prstGeom prst="rect">
            <a:avLst/>
          </a:prstGeom>
          <a:ln w="0">
            <a:noFill/>
          </a:ln>
        </p:spPr>
      </p:pic>
      <p:sp>
        <p:nvSpPr>
          <p:cNvPr id="118" name="TextBox 117"/>
          <p:cNvSpPr txBox="1"/>
          <p:nvPr/>
        </p:nvSpPr>
        <p:spPr>
          <a:xfrm>
            <a:off x="8486546" y="4696709"/>
            <a:ext cx="1200917" cy="3054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1D1D1F"/>
                </a:solidFill>
                <a:latin typeface="Noto Sans JP"/>
              </a:rPr>
              <a:t>音声前処理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20456" y="5180382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代表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801100" y="5180382"/>
            <a:ext cx="2139696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Cambria"/>
              </a:rPr>
              <a:t>Silero VAD, pyannote, RNNoise</a:t>
            </a:r>
          </a:p>
        </p:txBody>
      </p:sp>
      <p:pic>
        <p:nvPicPr>
          <p:cNvPr id="121" name="Picture 1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78871" y="5205374"/>
            <a:ext cx="512772" cy="161848"/>
          </a:xfrm>
          <a:prstGeom prst="rect">
            <a:avLst/>
          </a:prstGeom>
          <a:ln w="0">
            <a:noFill/>
          </a:ln>
        </p:spPr>
      </p:pic>
      <p:sp>
        <p:nvSpPr>
          <p:cNvPr id="122" name="Rectangle 121"/>
          <p:cNvSpPr/>
          <p:nvPr/>
        </p:nvSpPr>
        <p:spPr>
          <a:xfrm>
            <a:off x="11078871" y="5205374"/>
            <a:ext cx="513892" cy="1627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ambria"/>
              </a:rPr>
              <a:t>[82][84]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220456" y="5408982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役割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801100" y="5408982"/>
            <a:ext cx="2431104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Noto Sans JP"/>
              </a:rPr>
              <a:t>品質の下限担保（無音除去・話者分離）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220456" y="5637582"/>
            <a:ext cx="600760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6E6E73"/>
                </a:solidFill>
                <a:latin typeface="Noto Sans JP"/>
              </a:rPr>
              <a:t>用途</a:t>
            </a:r>
            <a:r>
              <a:rPr sz="1050" b="1">
                <a:solidFill>
                  <a:srgbClr val="6E6E73"/>
                </a:solidFill>
                <a:latin typeface="Cambria"/>
              </a:rPr>
              <a:t>: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801100" y="5637582"/>
            <a:ext cx="1948586" cy="1719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>
                <a:solidFill>
                  <a:srgbClr val="1D1D1F"/>
                </a:solidFill>
                <a:latin typeface="Noto Sans JP"/>
              </a:rPr>
              <a:t>会議録音の前処理</a:t>
            </a:r>
            <a:r>
              <a:rPr sz="1050">
                <a:solidFill>
                  <a:srgbClr val="1D1D1F"/>
                </a:solidFill>
                <a:latin typeface="Cambria"/>
              </a:rPr>
              <a:t>, </a:t>
            </a:r>
            <a:r>
              <a:rPr sz="1050">
                <a:solidFill>
                  <a:srgbClr val="1D1D1F"/>
                </a:solidFill>
                <a:latin typeface="Noto Sans JP"/>
              </a:rPr>
              <a:t>ノイズ除去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