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30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A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18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8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4375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E2BE46C-79AC-9FA3-F3BF-93BC98C0A457}"/>
              </a:ext>
            </a:extLst>
          </p:cNvPr>
          <p:cNvSpPr/>
          <p:nvPr/>
        </p:nvSpPr>
        <p:spPr>
          <a:xfrm>
            <a:off x="-1830" y="6476695"/>
            <a:ext cx="12192609" cy="381305"/>
          </a:xfrm>
          <a:prstGeom prst="rect">
            <a:avLst/>
          </a:prstGeom>
          <a:solidFill>
            <a:srgbClr val="F6F5F8"/>
          </a:solidFill>
          <a:ln w="15875">
            <a:solidFill>
              <a:srgbClr val="E5E5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89356A06-AD71-37BB-EFB1-85A6B3811371}"/>
              </a:ext>
            </a:extLst>
          </p:cNvPr>
          <p:cNvSpPr/>
          <p:nvPr/>
        </p:nvSpPr>
        <p:spPr>
          <a:xfrm>
            <a:off x="305" y="1032380"/>
            <a:ext cx="12191695" cy="36000"/>
          </a:xfrm>
          <a:prstGeom prst="rect">
            <a:avLst/>
          </a:prstGeom>
          <a:solidFill>
            <a:srgbClr val="E5E5E5"/>
          </a:solidFill>
          <a:ln w="12700">
            <a:noFill/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2" name="Text 31">
            <a:extLst>
              <a:ext uri="{FF2B5EF4-FFF2-40B4-BE49-F238E27FC236}">
                <a16:creationId xmlns:a16="http://schemas.microsoft.com/office/drawing/2014/main" id="{C3E9B5E9-3BA2-BC13-C78C-C28DFE4A24AB}"/>
              </a:ext>
            </a:extLst>
          </p:cNvPr>
          <p:cNvSpPr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Page1  | 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ローカル</a:t>
            </a:r>
            <a:r>
              <a:rPr lang="en-US" sz="9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AI </a:t>
            </a:r>
            <a:r>
              <a:rPr lang="en-US" sz="9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技術調査レポート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455676" y="1903763"/>
            <a:ext cx="195376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要件定義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Requirements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29" name="Text 23"/>
          <p:cNvSpPr txBox="1"/>
          <p:nvPr/>
        </p:nvSpPr>
        <p:spPr>
          <a:xfrm>
            <a:off x="2788920" y="1903763"/>
            <a:ext cx="195224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Tier</a:t>
            </a:r>
            <a:r>
              <a:rPr lang="en-US" sz="14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選定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Hardware Tier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45" name="Text 37"/>
          <p:cNvSpPr txBox="1"/>
          <p:nvPr/>
        </p:nvSpPr>
        <p:spPr>
          <a:xfrm>
            <a:off x="5120640" y="1903763"/>
            <a:ext cx="195224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モデル選定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Model Select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61" name="Text 51"/>
          <p:cNvSpPr txBox="1"/>
          <p:nvPr/>
        </p:nvSpPr>
        <p:spPr>
          <a:xfrm>
            <a:off x="7452360" y="1903763"/>
            <a:ext cx="195072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ランタイム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Runtime</a:t>
            </a:r>
            <a:endParaRPr lang="en-US" sz="1400" dirty="0">
              <a:latin typeface="Cambria" panose="02040503050406030204" pitchFamily="18" charset="0"/>
            </a:endParaRPr>
          </a:p>
        </p:txBody>
      </p:sp>
      <p:sp>
        <p:nvSpPr>
          <p:cNvPr id="77" name="Text 65"/>
          <p:cNvSpPr txBox="1"/>
          <p:nvPr/>
        </p:nvSpPr>
        <p:spPr>
          <a:xfrm>
            <a:off x="9791719" y="1903763"/>
            <a:ext cx="195224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検証・最適化</a:t>
            </a:r>
            <a:endParaRPr lang="en-US" sz="14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6B7280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Verify</a:t>
            </a:r>
            <a:endParaRPr lang="en-US" sz="1400" dirty="0">
              <a:latin typeface="Cambria" panose="02040503050406030204" pitchFamily="18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l="-685" r="-685"/>
          <a:stretch/>
        </p:blipFill>
        <p:spPr>
          <a:xfrm>
            <a:off x="481466" y="594538"/>
            <a:ext cx="304495" cy="2670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39089" y="514347"/>
            <a:ext cx="407731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D1D1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まとめ（意思決定フロー）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481466" y="220547"/>
            <a:ext cx="2867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ローカル</a:t>
            </a:r>
            <a:r>
              <a:rPr lang="en-US" sz="10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AI</a:t>
            </a:r>
            <a:r>
              <a:rPr lang="en-US" sz="10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導入の</a:t>
            </a:r>
            <a:r>
              <a:rPr lang="en-US" sz="1000" dirty="0">
                <a:solidFill>
                  <a:srgbClr val="86868B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5</a:t>
            </a:r>
            <a:r>
              <a:rPr lang="en-US" sz="1000" dirty="0">
                <a:solidFill>
                  <a:srgbClr val="86868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ステップと判断基準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741913"/>
            <a:ext cx="1952244" cy="4214471"/>
          </a:xfrm>
          <a:prstGeom prst="roundRect">
            <a:avLst>
              <a:gd name="adj" fmla="val 2742"/>
            </a:avLst>
          </a:prstGeom>
          <a:noFill/>
          <a:ln w="12700">
            <a:solidFill>
              <a:srgbClr val="E5E5E5"/>
            </a:solidFill>
            <a:prstDash val="solid"/>
          </a:ln>
          <a:effectLst>
            <a:outerShdw blurRad="76200" dist="254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619049" y="2371022"/>
            <a:ext cx="1628546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2000"/>
          </a:p>
        </p:txBody>
      </p:sp>
      <p:sp>
        <p:nvSpPr>
          <p:cNvPr id="15" name="Text 11"/>
          <p:cNvSpPr txBox="1"/>
          <p:nvPr/>
        </p:nvSpPr>
        <p:spPr>
          <a:xfrm>
            <a:off x="619049" y="2608833"/>
            <a:ext cx="169438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業務課題から技術要件へ変換する始点。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19049" y="3194387"/>
            <a:ext cx="1628546" cy="1387570"/>
          </a:xfrm>
          <a:prstGeom prst="roundRect">
            <a:avLst>
              <a:gd name="adj" fmla="val 2041"/>
            </a:avLst>
          </a:prstGeom>
          <a:solidFill>
            <a:srgbClr val="FBFBFD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ja-JP" altLang="en-US" sz="2000"/>
          </a:p>
        </p:txBody>
      </p:sp>
      <p:sp>
        <p:nvSpPr>
          <p:cNvPr id="17" name="Text 13"/>
          <p:cNvSpPr txBox="1"/>
          <p:nvPr/>
        </p:nvSpPr>
        <p:spPr>
          <a:xfrm>
            <a:off x="705002" y="3280340"/>
            <a:ext cx="15343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007A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判断基準</a:t>
            </a:r>
            <a:r>
              <a:rPr lang="en-US" sz="900" b="1" kern="0" spc="38" dirty="0">
                <a:solidFill>
                  <a:srgbClr val="007AF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(Criteria)</a:t>
            </a:r>
            <a:endParaRPr lang="en-US" sz="900" dirty="0">
              <a:solidFill>
                <a:srgbClr val="007AFF"/>
              </a:solidFill>
              <a:latin typeface="Cambria" panose="02040503050406030204" pitchFamily="18" charset="0"/>
            </a:endParaRPr>
          </a:p>
        </p:txBody>
      </p:sp>
      <p:sp>
        <p:nvSpPr>
          <p:cNvPr id="18" name="Text 14"/>
          <p:cNvSpPr txBox="1"/>
          <p:nvPr/>
        </p:nvSpPr>
        <p:spPr>
          <a:xfrm>
            <a:off x="705002" y="3475108"/>
            <a:ext cx="151607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品質</a:t>
            </a:r>
            <a:r>
              <a:rPr lang="en-US" sz="1000" b="1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</a:t>
            </a:r>
            <a:r>
              <a:rPr lang="en-US" sz="10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sz="10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日本語、</a:t>
            </a:r>
            <a:r>
              <a:rPr lang="en-US" sz="10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JSON</a:t>
            </a:r>
            <a:r>
              <a:rPr lang="en-US" sz="10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、専門性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705002" y="3884759"/>
            <a:ext cx="151607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速度</a:t>
            </a:r>
            <a:r>
              <a:rPr lang="en-US" sz="1000" b="1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</a:t>
            </a:r>
            <a:r>
              <a:rPr lang="en-US" sz="10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p95</a:t>
            </a:r>
            <a:r>
              <a:rPr lang="en-US" sz="10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レイテンシ、</a:t>
            </a:r>
            <a:r>
              <a:rPr lang="en-US" sz="10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tok/s</a:t>
            </a:r>
            <a:endParaRPr lang="en-US" sz="1000" dirty="0">
              <a:latin typeface="Cambria" panose="02040503050406030204" pitchFamily="18" charset="0"/>
            </a:endParaRPr>
          </a:p>
        </p:txBody>
      </p:sp>
      <p:sp>
        <p:nvSpPr>
          <p:cNvPr id="20" name="Text 16"/>
          <p:cNvSpPr txBox="1"/>
          <p:nvPr/>
        </p:nvSpPr>
        <p:spPr>
          <a:xfrm>
            <a:off x="705002" y="4294410"/>
            <a:ext cx="151607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機能</a:t>
            </a:r>
            <a:r>
              <a:rPr lang="en-US" sz="1000" b="1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</a:t>
            </a:r>
            <a:r>
              <a:rPr lang="en-US" sz="10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Tool-use</a:t>
            </a:r>
            <a:r>
              <a:rPr lang="en-US" sz="10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、</a:t>
            </a:r>
            <a:r>
              <a:rPr lang="en-US" sz="10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RAG</a:t>
            </a:r>
            <a:r>
              <a:rPr lang="en-US" sz="10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有無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19049" y="4737107"/>
            <a:ext cx="1628546" cy="972007"/>
          </a:xfrm>
          <a:prstGeom prst="roundRect">
            <a:avLst>
              <a:gd name="adj" fmla="val 5534"/>
            </a:avLst>
          </a:prstGeom>
          <a:solidFill>
            <a:srgbClr val="FBFBFD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ja-JP" altLang="en-US" sz="2000"/>
          </a:p>
        </p:txBody>
      </p:sp>
      <p:sp>
        <p:nvSpPr>
          <p:cNvPr id="22" name="Text 18"/>
          <p:cNvSpPr txBox="1"/>
          <p:nvPr/>
        </p:nvSpPr>
        <p:spPr>
          <a:xfrm>
            <a:off x="705002" y="4823061"/>
            <a:ext cx="157459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007A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アクション</a:t>
            </a:r>
            <a:endParaRPr lang="en-US" sz="900" dirty="0">
              <a:solidFill>
                <a:srgbClr val="007AFF"/>
              </a:solidFill>
            </a:endParaRPr>
          </a:p>
        </p:txBody>
      </p:sp>
      <p:sp>
        <p:nvSpPr>
          <p:cNvPr id="23" name="Text 19"/>
          <p:cNvSpPr txBox="1"/>
          <p:nvPr/>
        </p:nvSpPr>
        <p:spPr>
          <a:xfrm>
            <a:off x="705002" y="5017828"/>
            <a:ext cx="151607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許容レイテンシ目標（例: 10 tok/s）とJSONスキーマの厳格さを決定。</a:t>
            </a:r>
            <a:endParaRPr lang="en-US" sz="10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4"/>
          <a:srcRect t="-17593" b="-17593"/>
          <a:stretch/>
        </p:blipFill>
        <p:spPr>
          <a:xfrm>
            <a:off x="2536546" y="3867385"/>
            <a:ext cx="123444" cy="267005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2788920" y="1741913"/>
            <a:ext cx="1952244" cy="4214471"/>
          </a:xfrm>
          <a:prstGeom prst="roundRect">
            <a:avLst>
              <a:gd name="adj" fmla="val 2742"/>
            </a:avLst>
          </a:prstGeom>
          <a:noFill/>
          <a:ln w="12700">
            <a:solidFill>
              <a:srgbClr val="E5E5E5"/>
            </a:solidFill>
            <a:prstDash val="solid"/>
          </a:ln>
          <a:effectLst>
            <a:outerShdw blurRad="76200" dist="254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1"/>
          <p:cNvSpPr/>
          <p:nvPr/>
        </p:nvSpPr>
        <p:spPr>
          <a:xfrm>
            <a:off x="2950769" y="2371022"/>
            <a:ext cx="1628546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2000"/>
          </a:p>
        </p:txBody>
      </p:sp>
      <p:sp>
        <p:nvSpPr>
          <p:cNvPr id="31" name="Text 25"/>
          <p:cNvSpPr txBox="1"/>
          <p:nvPr/>
        </p:nvSpPr>
        <p:spPr>
          <a:xfrm>
            <a:off x="2950769" y="2608833"/>
            <a:ext cx="169438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メモリ制約に基づく現実ラインの把握。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2950769" y="3194387"/>
            <a:ext cx="1628546" cy="1410005"/>
          </a:xfrm>
          <a:prstGeom prst="roundRect">
            <a:avLst>
              <a:gd name="adj" fmla="val 2629"/>
            </a:avLst>
          </a:prstGeom>
          <a:solidFill>
            <a:srgbClr val="FBFBFD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ja-JP" altLang="en-US" sz="2000"/>
          </a:p>
        </p:txBody>
      </p:sp>
      <p:sp>
        <p:nvSpPr>
          <p:cNvPr id="33" name="Text 27"/>
          <p:cNvSpPr txBox="1"/>
          <p:nvPr/>
        </p:nvSpPr>
        <p:spPr>
          <a:xfrm>
            <a:off x="3036722" y="3280340"/>
            <a:ext cx="15343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007A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判断基準</a:t>
            </a:r>
            <a:r>
              <a:rPr lang="en-US" sz="900" b="1" kern="0" spc="38" dirty="0">
                <a:solidFill>
                  <a:srgbClr val="007AF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(Criteria)</a:t>
            </a:r>
            <a:endParaRPr lang="en-US" sz="900" dirty="0">
              <a:solidFill>
                <a:srgbClr val="007AFF"/>
              </a:solidFill>
              <a:latin typeface="Cambria" panose="02040503050406030204" pitchFamily="18" charset="0"/>
            </a:endParaRPr>
          </a:p>
        </p:txBody>
      </p:sp>
      <p:sp>
        <p:nvSpPr>
          <p:cNvPr id="34" name="Text 28"/>
          <p:cNvSpPr txBox="1"/>
          <p:nvPr/>
        </p:nvSpPr>
        <p:spPr>
          <a:xfrm>
            <a:off x="3036722" y="3475108"/>
            <a:ext cx="151607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Apple:</a:t>
            </a:r>
            <a:r>
              <a:rPr lang="en-US" sz="10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16</a:t>
            </a:r>
            <a:r>
              <a:rPr lang="en-US" sz="10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〜</a:t>
            </a:r>
            <a:r>
              <a:rPr lang="en-US" sz="10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128GB (UMA)</a:t>
            </a:r>
            <a:endParaRPr lang="en-US" sz="1000" dirty="0">
              <a:latin typeface="Cambria" panose="02040503050406030204" pitchFamily="18" charset="0"/>
            </a:endParaRPr>
          </a:p>
        </p:txBody>
      </p:sp>
      <p:sp>
        <p:nvSpPr>
          <p:cNvPr id="35" name="Text 29"/>
          <p:cNvSpPr txBox="1"/>
          <p:nvPr/>
        </p:nvSpPr>
        <p:spPr>
          <a:xfrm>
            <a:off x="3036722" y="3884759"/>
            <a:ext cx="151607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Windows:</a:t>
            </a:r>
            <a:r>
              <a:rPr lang="en-US" sz="10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VRAM 8</a:t>
            </a:r>
            <a:r>
              <a:rPr lang="en-US" sz="10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〜</a:t>
            </a:r>
            <a:r>
              <a:rPr lang="en-US" sz="10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24GB</a:t>
            </a:r>
            <a:endParaRPr lang="en-US" sz="1000" dirty="0">
              <a:latin typeface="Cambria" panose="02040503050406030204" pitchFamily="18" charset="0"/>
            </a:endParaRPr>
          </a:p>
        </p:txBody>
      </p:sp>
      <p:sp>
        <p:nvSpPr>
          <p:cNvPr id="36" name="Text 30"/>
          <p:cNvSpPr txBox="1"/>
          <p:nvPr/>
        </p:nvSpPr>
        <p:spPr>
          <a:xfrm>
            <a:off x="3036722" y="4294410"/>
            <a:ext cx="15343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CPU:</a:t>
            </a:r>
            <a:r>
              <a:rPr lang="en-US" sz="10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AVX/RAM</a:t>
            </a:r>
            <a:r>
              <a:rPr lang="en-US" sz="10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容量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2950769" y="4737107"/>
            <a:ext cx="1628546" cy="972007"/>
          </a:xfrm>
          <a:prstGeom prst="roundRect">
            <a:avLst>
              <a:gd name="adj" fmla="val 5534"/>
            </a:avLst>
          </a:prstGeom>
          <a:solidFill>
            <a:srgbClr val="FBFBFD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ja-JP" altLang="en-US" sz="2000"/>
          </a:p>
        </p:txBody>
      </p:sp>
      <p:sp>
        <p:nvSpPr>
          <p:cNvPr id="38" name="Text 32"/>
          <p:cNvSpPr txBox="1"/>
          <p:nvPr/>
        </p:nvSpPr>
        <p:spPr>
          <a:xfrm>
            <a:off x="3036722" y="4823060"/>
            <a:ext cx="157459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007A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アクション</a:t>
            </a:r>
            <a:endParaRPr lang="en-US" sz="900" dirty="0">
              <a:solidFill>
                <a:srgbClr val="007AFF"/>
              </a:solidFill>
            </a:endParaRPr>
          </a:p>
        </p:txBody>
      </p:sp>
      <p:sp>
        <p:nvSpPr>
          <p:cNvPr id="39" name="Text 33"/>
          <p:cNvSpPr txBox="1"/>
          <p:nvPr/>
        </p:nvSpPr>
        <p:spPr>
          <a:xfrm>
            <a:off x="3036722" y="5017828"/>
            <a:ext cx="151607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「重み4bit + KVキャッシュ」の理論値でTier (A-16〜G-24) を特定。</a:t>
            </a:r>
            <a:endParaRPr lang="en-US" sz="1000" dirty="0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4"/>
          <a:srcRect t="-17593" b="-17593"/>
          <a:stretch/>
        </p:blipFill>
        <p:spPr>
          <a:xfrm>
            <a:off x="4868266" y="3867385"/>
            <a:ext cx="123444" cy="267005"/>
          </a:xfrm>
          <a:prstGeom prst="rect">
            <a:avLst/>
          </a:prstGeom>
        </p:spPr>
      </p:pic>
      <p:sp>
        <p:nvSpPr>
          <p:cNvPr id="41" name="Shape 34"/>
          <p:cNvSpPr/>
          <p:nvPr/>
        </p:nvSpPr>
        <p:spPr>
          <a:xfrm>
            <a:off x="5120640" y="1741913"/>
            <a:ext cx="1952244" cy="4214471"/>
          </a:xfrm>
          <a:prstGeom prst="roundRect">
            <a:avLst>
              <a:gd name="adj" fmla="val 2742"/>
            </a:avLst>
          </a:prstGeom>
          <a:noFill/>
          <a:ln w="12700">
            <a:solidFill>
              <a:srgbClr val="E5E5E5"/>
            </a:solidFill>
            <a:prstDash val="solid"/>
          </a:ln>
          <a:effectLst>
            <a:outerShdw blurRad="76200" dist="254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42" name="Shape 35"/>
          <p:cNvSpPr/>
          <p:nvPr/>
        </p:nvSpPr>
        <p:spPr>
          <a:xfrm>
            <a:off x="5282489" y="2371022"/>
            <a:ext cx="1628546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2000"/>
          </a:p>
        </p:txBody>
      </p:sp>
      <p:sp>
        <p:nvSpPr>
          <p:cNvPr id="47" name="Text 39"/>
          <p:cNvSpPr txBox="1"/>
          <p:nvPr/>
        </p:nvSpPr>
        <p:spPr>
          <a:xfrm>
            <a:off x="5282489" y="2608833"/>
            <a:ext cx="169438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Tier</a:t>
            </a:r>
            <a:r>
              <a:rPr lang="en-US" sz="10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内で動く最適モデルの選定。</a:t>
            </a:r>
            <a:endParaRPr lang="en-US" sz="1000" dirty="0"/>
          </a:p>
        </p:txBody>
      </p:sp>
      <p:sp>
        <p:nvSpPr>
          <p:cNvPr id="48" name="Shape 40"/>
          <p:cNvSpPr/>
          <p:nvPr/>
        </p:nvSpPr>
        <p:spPr>
          <a:xfrm>
            <a:off x="5282489" y="3194387"/>
            <a:ext cx="1628546" cy="1228954"/>
          </a:xfrm>
          <a:prstGeom prst="roundRect">
            <a:avLst>
              <a:gd name="adj" fmla="val 3461"/>
            </a:avLst>
          </a:prstGeom>
          <a:solidFill>
            <a:srgbClr val="FBFBFD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ja-JP" altLang="en-US" sz="2000"/>
          </a:p>
        </p:txBody>
      </p:sp>
      <p:sp>
        <p:nvSpPr>
          <p:cNvPr id="49" name="Text 41"/>
          <p:cNvSpPr txBox="1"/>
          <p:nvPr/>
        </p:nvSpPr>
        <p:spPr>
          <a:xfrm>
            <a:off x="5368442" y="3280340"/>
            <a:ext cx="15343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007A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判断基準</a:t>
            </a:r>
            <a:r>
              <a:rPr lang="en-US" sz="900" b="1" kern="0" spc="38" dirty="0">
                <a:solidFill>
                  <a:srgbClr val="007AF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(Criteria)</a:t>
            </a:r>
            <a:endParaRPr lang="en-US" sz="900" dirty="0">
              <a:solidFill>
                <a:srgbClr val="007AFF"/>
              </a:solidFill>
              <a:latin typeface="Cambria" panose="02040503050406030204" pitchFamily="18" charset="0"/>
            </a:endParaRPr>
          </a:p>
        </p:txBody>
      </p:sp>
      <p:sp>
        <p:nvSpPr>
          <p:cNvPr id="50" name="Text 42"/>
          <p:cNvSpPr txBox="1"/>
          <p:nvPr/>
        </p:nvSpPr>
        <p:spPr>
          <a:xfrm>
            <a:off x="5368442" y="3475108"/>
            <a:ext cx="151607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規模</a:t>
            </a:r>
            <a:r>
              <a:rPr lang="en-US" sz="1000" b="1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</a:t>
            </a:r>
            <a:r>
              <a:rPr lang="en-US" sz="10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7B-14B (</a:t>
            </a:r>
            <a:r>
              <a:rPr lang="en-US" sz="10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汎用</a:t>
            </a:r>
            <a:r>
              <a:rPr lang="en-US" sz="10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), 32B+ (</a:t>
            </a:r>
            <a:r>
              <a:rPr lang="en-US" sz="10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高品質</a:t>
            </a:r>
            <a:r>
              <a:rPr lang="en-US" sz="10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)</a:t>
            </a:r>
            <a:endParaRPr lang="en-US" sz="1000" dirty="0">
              <a:latin typeface="Cambria" panose="02040503050406030204" pitchFamily="18" charset="0"/>
            </a:endParaRPr>
          </a:p>
        </p:txBody>
      </p:sp>
      <p:sp>
        <p:nvSpPr>
          <p:cNvPr id="51" name="Text 43"/>
          <p:cNvSpPr txBox="1"/>
          <p:nvPr/>
        </p:nvSpPr>
        <p:spPr>
          <a:xfrm>
            <a:off x="5368442" y="3884759"/>
            <a:ext cx="15590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形式</a:t>
            </a:r>
            <a:r>
              <a:rPr lang="en-US" sz="1000" b="1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</a:t>
            </a:r>
            <a:r>
              <a:rPr lang="en-US" sz="10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GGUF, EXL2, AWQ</a:t>
            </a:r>
            <a:endParaRPr lang="en-US" sz="1000" dirty="0">
              <a:latin typeface="Cambria" panose="02040503050406030204" pitchFamily="18" charset="0"/>
            </a:endParaRPr>
          </a:p>
        </p:txBody>
      </p:sp>
      <p:sp>
        <p:nvSpPr>
          <p:cNvPr id="52" name="Text 44"/>
          <p:cNvSpPr txBox="1"/>
          <p:nvPr/>
        </p:nvSpPr>
        <p:spPr>
          <a:xfrm>
            <a:off x="5368442" y="4108787"/>
            <a:ext cx="157459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権利</a:t>
            </a:r>
            <a:r>
              <a:rPr lang="en-US" sz="1000" b="1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</a:t>
            </a:r>
            <a:r>
              <a:rPr lang="en-US" sz="10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sz="10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ライセンス条件</a:t>
            </a:r>
            <a:endParaRPr lang="en-US" sz="1000" dirty="0"/>
          </a:p>
        </p:txBody>
      </p:sp>
      <p:sp>
        <p:nvSpPr>
          <p:cNvPr id="53" name="Shape 45"/>
          <p:cNvSpPr/>
          <p:nvPr/>
        </p:nvSpPr>
        <p:spPr>
          <a:xfrm>
            <a:off x="5282489" y="4737107"/>
            <a:ext cx="1628546" cy="972007"/>
          </a:xfrm>
          <a:prstGeom prst="roundRect">
            <a:avLst>
              <a:gd name="adj" fmla="val 5534"/>
            </a:avLst>
          </a:prstGeom>
          <a:solidFill>
            <a:srgbClr val="FBFBFD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ja-JP" altLang="en-US" sz="2000"/>
          </a:p>
        </p:txBody>
      </p:sp>
      <p:sp>
        <p:nvSpPr>
          <p:cNvPr id="54" name="Text 46"/>
          <p:cNvSpPr txBox="1"/>
          <p:nvPr/>
        </p:nvSpPr>
        <p:spPr>
          <a:xfrm>
            <a:off x="5368442" y="4823060"/>
            <a:ext cx="157459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007A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アクション</a:t>
            </a:r>
            <a:endParaRPr lang="en-US" sz="900" dirty="0">
              <a:solidFill>
                <a:srgbClr val="007AFF"/>
              </a:solidFill>
            </a:endParaRPr>
          </a:p>
        </p:txBody>
      </p:sp>
      <p:sp>
        <p:nvSpPr>
          <p:cNvPr id="55" name="Text 47"/>
          <p:cNvSpPr txBox="1"/>
          <p:nvPr/>
        </p:nvSpPr>
        <p:spPr>
          <a:xfrm>
            <a:off x="5368442" y="5017827"/>
            <a:ext cx="151607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Llama/Qwen/Phi等からサイズ適合候補を選び、ライセンスを確認。</a:t>
            </a:r>
            <a:endParaRPr lang="en-US" sz="1000" dirty="0"/>
          </a:p>
        </p:txBody>
      </p:sp>
      <p:pic>
        <p:nvPicPr>
          <p:cNvPr id="56" name="Image 6" descr="preencoded.png"/>
          <p:cNvPicPr>
            <a:picLocks noChangeAspect="1"/>
          </p:cNvPicPr>
          <p:nvPr/>
        </p:nvPicPr>
        <p:blipFill>
          <a:blip r:embed="rId4"/>
          <a:srcRect t="-17593" b="-17593"/>
          <a:stretch/>
        </p:blipFill>
        <p:spPr>
          <a:xfrm>
            <a:off x="7199986" y="3867385"/>
            <a:ext cx="123444" cy="267005"/>
          </a:xfrm>
          <a:prstGeom prst="rect">
            <a:avLst/>
          </a:prstGeom>
        </p:spPr>
      </p:pic>
      <p:sp>
        <p:nvSpPr>
          <p:cNvPr id="57" name="Shape 48"/>
          <p:cNvSpPr/>
          <p:nvPr/>
        </p:nvSpPr>
        <p:spPr>
          <a:xfrm>
            <a:off x="7452360" y="1741913"/>
            <a:ext cx="1952244" cy="4214471"/>
          </a:xfrm>
          <a:prstGeom prst="roundRect">
            <a:avLst>
              <a:gd name="adj" fmla="val 2742"/>
            </a:avLst>
          </a:prstGeom>
          <a:noFill/>
          <a:ln w="12700">
            <a:solidFill>
              <a:srgbClr val="E5E5E5"/>
            </a:solidFill>
            <a:prstDash val="solid"/>
          </a:ln>
          <a:effectLst>
            <a:outerShdw blurRad="76200" dist="254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8" name="Shape 49"/>
          <p:cNvSpPr/>
          <p:nvPr/>
        </p:nvSpPr>
        <p:spPr>
          <a:xfrm>
            <a:off x="7614209" y="2371022"/>
            <a:ext cx="1628546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2000"/>
          </a:p>
        </p:txBody>
      </p:sp>
      <p:sp>
        <p:nvSpPr>
          <p:cNvPr id="63" name="Text 53"/>
          <p:cNvSpPr txBox="1"/>
          <p:nvPr/>
        </p:nvSpPr>
        <p:spPr>
          <a:xfrm>
            <a:off x="7614209" y="2608833"/>
            <a:ext cx="169438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ハードウェア性能を引き出す実行環境。</a:t>
            </a:r>
            <a:endParaRPr lang="en-US" sz="1000" dirty="0"/>
          </a:p>
        </p:txBody>
      </p:sp>
      <p:sp>
        <p:nvSpPr>
          <p:cNvPr id="64" name="Shape 54"/>
          <p:cNvSpPr/>
          <p:nvPr/>
        </p:nvSpPr>
        <p:spPr>
          <a:xfrm>
            <a:off x="7614209" y="3194387"/>
            <a:ext cx="1628546" cy="1228954"/>
          </a:xfrm>
          <a:prstGeom prst="roundRect">
            <a:avLst>
              <a:gd name="adj" fmla="val 3461"/>
            </a:avLst>
          </a:prstGeom>
          <a:solidFill>
            <a:srgbClr val="FBFBFD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ja-JP" altLang="en-US" sz="2000"/>
          </a:p>
        </p:txBody>
      </p:sp>
      <p:sp>
        <p:nvSpPr>
          <p:cNvPr id="65" name="Text 55"/>
          <p:cNvSpPr txBox="1"/>
          <p:nvPr/>
        </p:nvSpPr>
        <p:spPr>
          <a:xfrm>
            <a:off x="7700162" y="3280340"/>
            <a:ext cx="15343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007A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判断基準</a:t>
            </a:r>
            <a:r>
              <a:rPr lang="en-US" sz="900" b="1" kern="0" spc="38" dirty="0">
                <a:solidFill>
                  <a:srgbClr val="007AF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(Criteria)</a:t>
            </a:r>
            <a:endParaRPr lang="en-US" sz="900" dirty="0">
              <a:solidFill>
                <a:srgbClr val="007AFF"/>
              </a:solidFill>
              <a:latin typeface="Cambria" panose="02040503050406030204" pitchFamily="18" charset="0"/>
            </a:endParaRPr>
          </a:p>
        </p:txBody>
      </p:sp>
      <p:sp>
        <p:nvSpPr>
          <p:cNvPr id="66" name="Text 56"/>
          <p:cNvSpPr txBox="1"/>
          <p:nvPr/>
        </p:nvSpPr>
        <p:spPr>
          <a:xfrm>
            <a:off x="7700162" y="3475108"/>
            <a:ext cx="154442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Mac:</a:t>
            </a:r>
            <a:r>
              <a:rPr lang="en-US" sz="10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MLX / llama.cpp</a:t>
            </a:r>
            <a:endParaRPr lang="en-US" sz="1000" dirty="0">
              <a:latin typeface="Cambria" panose="02040503050406030204" pitchFamily="18" charset="0"/>
            </a:endParaRPr>
          </a:p>
        </p:txBody>
      </p:sp>
      <p:sp>
        <p:nvSpPr>
          <p:cNvPr id="67" name="Text 57"/>
          <p:cNvSpPr txBox="1"/>
          <p:nvPr/>
        </p:nvSpPr>
        <p:spPr>
          <a:xfrm>
            <a:off x="7700162" y="3699136"/>
            <a:ext cx="151607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Win:</a:t>
            </a:r>
            <a:r>
              <a:rPr lang="en-US" sz="10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Ollama / LM Studio / vLLM</a:t>
            </a:r>
            <a:endParaRPr lang="en-US" sz="1000" dirty="0">
              <a:latin typeface="Cambria" panose="02040503050406030204" pitchFamily="18" charset="0"/>
            </a:endParaRPr>
          </a:p>
        </p:txBody>
      </p:sp>
      <p:sp>
        <p:nvSpPr>
          <p:cNvPr id="68" name="Text 58"/>
          <p:cNvSpPr txBox="1"/>
          <p:nvPr/>
        </p:nvSpPr>
        <p:spPr>
          <a:xfrm>
            <a:off x="7700162" y="4108787"/>
            <a:ext cx="15343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API:</a:t>
            </a:r>
            <a:r>
              <a:rPr lang="en-US" sz="10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OpenAI</a:t>
            </a:r>
            <a:r>
              <a:rPr lang="en-US" sz="10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互換性</a:t>
            </a:r>
            <a:endParaRPr lang="en-US" sz="1000" dirty="0"/>
          </a:p>
        </p:txBody>
      </p:sp>
      <p:sp>
        <p:nvSpPr>
          <p:cNvPr id="69" name="Shape 59"/>
          <p:cNvSpPr/>
          <p:nvPr/>
        </p:nvSpPr>
        <p:spPr>
          <a:xfrm>
            <a:off x="7614209" y="4737107"/>
            <a:ext cx="1628546" cy="972007"/>
          </a:xfrm>
          <a:prstGeom prst="roundRect">
            <a:avLst>
              <a:gd name="adj" fmla="val 3808"/>
            </a:avLst>
          </a:prstGeom>
          <a:solidFill>
            <a:srgbClr val="FBFBFD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ja-JP" altLang="en-US" sz="2000"/>
          </a:p>
        </p:txBody>
      </p:sp>
      <p:sp>
        <p:nvSpPr>
          <p:cNvPr id="70" name="Text 60"/>
          <p:cNvSpPr txBox="1"/>
          <p:nvPr/>
        </p:nvSpPr>
        <p:spPr>
          <a:xfrm>
            <a:off x="7700162" y="4823060"/>
            <a:ext cx="157459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007A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アクション</a:t>
            </a:r>
            <a:endParaRPr lang="en-US" sz="900" dirty="0">
              <a:solidFill>
                <a:srgbClr val="007AFF"/>
              </a:solidFill>
            </a:endParaRPr>
          </a:p>
        </p:txBody>
      </p:sp>
      <p:sp>
        <p:nvSpPr>
          <p:cNvPr id="71" name="Text 61"/>
          <p:cNvSpPr txBox="1"/>
          <p:nvPr/>
        </p:nvSpPr>
        <p:spPr>
          <a:xfrm>
            <a:off x="7700162" y="5017827"/>
            <a:ext cx="1516075" cy="810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OSとモデル形式に合ったランタイムを選択。Server機能の有無を確認。</a:t>
            </a:r>
            <a:endParaRPr lang="en-US" sz="1000" dirty="0"/>
          </a:p>
        </p:txBody>
      </p:sp>
      <p:pic>
        <p:nvPicPr>
          <p:cNvPr id="72" name="Image 8" descr="preencoded.png"/>
          <p:cNvPicPr>
            <a:picLocks noChangeAspect="1"/>
          </p:cNvPicPr>
          <p:nvPr/>
        </p:nvPicPr>
        <p:blipFill>
          <a:blip r:embed="rId4"/>
          <a:srcRect t="-17593" b="-17593"/>
          <a:stretch/>
        </p:blipFill>
        <p:spPr>
          <a:xfrm>
            <a:off x="9531706" y="3867385"/>
            <a:ext cx="123444" cy="267005"/>
          </a:xfrm>
          <a:prstGeom prst="rect">
            <a:avLst/>
          </a:prstGeom>
        </p:spPr>
      </p:pic>
      <p:sp>
        <p:nvSpPr>
          <p:cNvPr id="73" name="Shape 62"/>
          <p:cNvSpPr/>
          <p:nvPr/>
        </p:nvSpPr>
        <p:spPr>
          <a:xfrm>
            <a:off x="9784080" y="1741913"/>
            <a:ext cx="1952244" cy="4214471"/>
          </a:xfrm>
          <a:prstGeom prst="roundRect">
            <a:avLst>
              <a:gd name="adj" fmla="val 2742"/>
            </a:avLst>
          </a:prstGeom>
          <a:noFill/>
          <a:ln w="12700">
            <a:solidFill>
              <a:srgbClr val="E5E5E5"/>
            </a:solidFill>
            <a:prstDash val="solid"/>
          </a:ln>
          <a:effectLst>
            <a:outerShdw blurRad="76200" dist="25400" dir="16200000" algn="bl" rotWithShape="0">
              <a:srgbClr val="000000">
                <a:alpha val="4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74" name="Shape 63"/>
          <p:cNvSpPr/>
          <p:nvPr/>
        </p:nvSpPr>
        <p:spPr>
          <a:xfrm>
            <a:off x="9945929" y="2371022"/>
            <a:ext cx="1628546" cy="9144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 sz="2000"/>
          </a:p>
        </p:txBody>
      </p:sp>
      <p:sp>
        <p:nvSpPr>
          <p:cNvPr id="79" name="Text 67"/>
          <p:cNvSpPr txBox="1"/>
          <p:nvPr/>
        </p:nvSpPr>
        <p:spPr>
          <a:xfrm>
            <a:off x="9945929" y="2608833"/>
            <a:ext cx="169438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実機ベンチによる実用性の確定。</a:t>
            </a:r>
            <a:endParaRPr lang="en-US" sz="1000" dirty="0"/>
          </a:p>
        </p:txBody>
      </p:sp>
      <p:sp>
        <p:nvSpPr>
          <p:cNvPr id="80" name="Shape 68"/>
          <p:cNvSpPr/>
          <p:nvPr/>
        </p:nvSpPr>
        <p:spPr>
          <a:xfrm>
            <a:off x="9945929" y="3194387"/>
            <a:ext cx="1628546" cy="1410005"/>
          </a:xfrm>
          <a:prstGeom prst="roundRect">
            <a:avLst>
              <a:gd name="adj" fmla="val 2629"/>
            </a:avLst>
          </a:prstGeom>
          <a:solidFill>
            <a:srgbClr val="FBFBFD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ja-JP" altLang="en-US" sz="2000"/>
          </a:p>
        </p:txBody>
      </p:sp>
      <p:sp>
        <p:nvSpPr>
          <p:cNvPr id="81" name="Text 69"/>
          <p:cNvSpPr txBox="1"/>
          <p:nvPr/>
        </p:nvSpPr>
        <p:spPr>
          <a:xfrm>
            <a:off x="10031882" y="3280340"/>
            <a:ext cx="15343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007A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判断基準</a:t>
            </a:r>
            <a:r>
              <a:rPr lang="en-US" sz="900" b="1" kern="0" spc="38" dirty="0">
                <a:solidFill>
                  <a:srgbClr val="007AFF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(Criteria)</a:t>
            </a:r>
            <a:endParaRPr lang="en-US" sz="900" dirty="0">
              <a:solidFill>
                <a:srgbClr val="007AFF"/>
              </a:solidFill>
              <a:latin typeface="Cambria" panose="02040503050406030204" pitchFamily="18" charset="0"/>
            </a:endParaRPr>
          </a:p>
        </p:txBody>
      </p:sp>
      <p:sp>
        <p:nvSpPr>
          <p:cNvPr id="82" name="Text 70"/>
          <p:cNvSpPr txBox="1"/>
          <p:nvPr/>
        </p:nvSpPr>
        <p:spPr>
          <a:xfrm>
            <a:off x="10031882" y="3475108"/>
            <a:ext cx="151607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指標</a:t>
            </a:r>
            <a:r>
              <a:rPr lang="en-US" sz="1000" b="1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</a:t>
            </a:r>
            <a:r>
              <a:rPr lang="en-US" sz="10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TTFT, p95, JSON</a:t>
            </a:r>
            <a:r>
              <a:rPr lang="en-US" sz="10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破壊率</a:t>
            </a:r>
            <a:endParaRPr lang="en-US" sz="1000" dirty="0"/>
          </a:p>
        </p:txBody>
      </p:sp>
      <p:sp>
        <p:nvSpPr>
          <p:cNvPr id="83" name="Text 71"/>
          <p:cNvSpPr txBox="1"/>
          <p:nvPr/>
        </p:nvSpPr>
        <p:spPr>
          <a:xfrm>
            <a:off x="10031882" y="3884759"/>
            <a:ext cx="151607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負荷</a:t>
            </a:r>
            <a:r>
              <a:rPr lang="en-US" sz="1000" b="1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</a:t>
            </a:r>
            <a:r>
              <a:rPr lang="en-US" sz="10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sz="10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メモリピーク</a:t>
            </a:r>
            <a:r>
              <a:rPr lang="en-US" sz="10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, KV</a:t>
            </a:r>
            <a:r>
              <a:rPr lang="en-US" sz="10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推移</a:t>
            </a:r>
            <a:endParaRPr lang="en-US" sz="1000" dirty="0"/>
          </a:p>
        </p:txBody>
      </p:sp>
      <p:sp>
        <p:nvSpPr>
          <p:cNvPr id="84" name="Text 72"/>
          <p:cNvSpPr txBox="1"/>
          <p:nvPr/>
        </p:nvSpPr>
        <p:spPr>
          <a:xfrm>
            <a:off x="10031882" y="4294410"/>
            <a:ext cx="157459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品質</a:t>
            </a:r>
            <a:r>
              <a:rPr lang="en-US" sz="1000" b="1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:</a:t>
            </a:r>
            <a:r>
              <a:rPr lang="en-US" sz="10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 </a:t>
            </a:r>
            <a:r>
              <a:rPr lang="en-US" sz="10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幻覚</a:t>
            </a:r>
            <a:r>
              <a:rPr lang="en-US" sz="1000" dirty="0">
                <a:solidFill>
                  <a:srgbClr val="424245"/>
                </a:solidFill>
                <a:latin typeface="Cambria" panose="02040503050406030204" pitchFamily="18" charset="0"/>
                <a:ea typeface="Noto Sans JP" pitchFamily="34" charset="-122"/>
                <a:cs typeface="Noto Sans JP" pitchFamily="34" charset="-120"/>
              </a:rPr>
              <a:t>, </a:t>
            </a:r>
            <a:r>
              <a:rPr lang="en-US" sz="10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誤転記</a:t>
            </a:r>
            <a:endParaRPr lang="en-US" sz="1000" dirty="0"/>
          </a:p>
        </p:txBody>
      </p:sp>
      <p:sp>
        <p:nvSpPr>
          <p:cNvPr id="85" name="Shape 73"/>
          <p:cNvSpPr/>
          <p:nvPr/>
        </p:nvSpPr>
        <p:spPr>
          <a:xfrm>
            <a:off x="9945929" y="4737107"/>
            <a:ext cx="1628546" cy="972007"/>
          </a:xfrm>
          <a:prstGeom prst="roundRect">
            <a:avLst>
              <a:gd name="adj" fmla="val 5534"/>
            </a:avLst>
          </a:prstGeom>
          <a:solidFill>
            <a:srgbClr val="FBFBFD"/>
          </a:solidFill>
          <a:ln w="12700">
            <a:solidFill>
              <a:srgbClr val="F0F0F0"/>
            </a:solidFill>
            <a:prstDash val="solid"/>
          </a:ln>
        </p:spPr>
        <p:txBody>
          <a:bodyPr/>
          <a:lstStyle/>
          <a:p>
            <a:endParaRPr lang="ja-JP" altLang="en-US" sz="2000"/>
          </a:p>
        </p:txBody>
      </p:sp>
      <p:sp>
        <p:nvSpPr>
          <p:cNvPr id="86" name="Text 74"/>
          <p:cNvSpPr txBox="1"/>
          <p:nvPr/>
        </p:nvSpPr>
        <p:spPr>
          <a:xfrm>
            <a:off x="10031882" y="4823060"/>
            <a:ext cx="157459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38" dirty="0">
                <a:solidFill>
                  <a:srgbClr val="007A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アクション</a:t>
            </a:r>
            <a:endParaRPr lang="en-US" sz="900" dirty="0">
              <a:solidFill>
                <a:srgbClr val="007AFF"/>
              </a:solidFill>
            </a:endParaRPr>
          </a:p>
        </p:txBody>
      </p:sp>
      <p:sp>
        <p:nvSpPr>
          <p:cNvPr id="87" name="Text 75"/>
          <p:cNvSpPr txBox="1"/>
          <p:nvPr/>
        </p:nvSpPr>
        <p:spPr>
          <a:xfrm>
            <a:off x="10031882" y="5017828"/>
            <a:ext cx="1516075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2424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条件固定ベンチで測定。KV量子化やプロンプトキャッシュで調整。</a:t>
            </a:r>
            <a:endParaRPr lang="en-US" sz="1000" dirty="0"/>
          </a:p>
        </p:txBody>
      </p:sp>
      <p:sp>
        <p:nvSpPr>
          <p:cNvPr id="109" name="正方形/長方形 108">
            <a:extLst>
              <a:ext uri="{FF2B5EF4-FFF2-40B4-BE49-F238E27FC236}">
                <a16:creationId xmlns:a16="http://schemas.microsoft.com/office/drawing/2014/main" id="{3B2638A0-10C1-9E78-8C15-E1D9532FD987}"/>
              </a:ext>
            </a:extLst>
          </p:cNvPr>
          <p:cNvSpPr/>
          <p:nvPr/>
        </p:nvSpPr>
        <p:spPr>
          <a:xfrm>
            <a:off x="-1" y="-1"/>
            <a:ext cx="12192001" cy="54865"/>
          </a:xfrm>
          <a:prstGeom prst="rect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6" name="円/楕円 115">
            <a:extLst>
              <a:ext uri="{FF2B5EF4-FFF2-40B4-BE49-F238E27FC236}">
                <a16:creationId xmlns:a16="http://schemas.microsoft.com/office/drawing/2014/main" id="{AB99EA4C-0E43-4EB0-6637-31AE73755890}"/>
              </a:ext>
            </a:extLst>
          </p:cNvPr>
          <p:cNvSpPr/>
          <p:nvPr/>
        </p:nvSpPr>
        <p:spPr>
          <a:xfrm>
            <a:off x="1205179" y="1257730"/>
            <a:ext cx="456286" cy="4572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7" name="円/楕円 116">
            <a:extLst>
              <a:ext uri="{FF2B5EF4-FFF2-40B4-BE49-F238E27FC236}">
                <a16:creationId xmlns:a16="http://schemas.microsoft.com/office/drawing/2014/main" id="{D908548E-1F93-A0F4-217A-691C1CF44833}"/>
              </a:ext>
            </a:extLst>
          </p:cNvPr>
          <p:cNvSpPr/>
          <p:nvPr/>
        </p:nvSpPr>
        <p:spPr>
          <a:xfrm>
            <a:off x="3536899" y="1257730"/>
            <a:ext cx="456286" cy="4572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8" name="円/楕円 117">
            <a:extLst>
              <a:ext uri="{FF2B5EF4-FFF2-40B4-BE49-F238E27FC236}">
                <a16:creationId xmlns:a16="http://schemas.microsoft.com/office/drawing/2014/main" id="{ED432973-1E60-9545-AEDF-721117F39DF5}"/>
              </a:ext>
            </a:extLst>
          </p:cNvPr>
          <p:cNvSpPr/>
          <p:nvPr/>
        </p:nvSpPr>
        <p:spPr>
          <a:xfrm>
            <a:off x="5868619" y="1257730"/>
            <a:ext cx="456286" cy="4572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9" name="円/楕円 118">
            <a:extLst>
              <a:ext uri="{FF2B5EF4-FFF2-40B4-BE49-F238E27FC236}">
                <a16:creationId xmlns:a16="http://schemas.microsoft.com/office/drawing/2014/main" id="{9A21692F-090D-A197-E0A4-B27458865E27}"/>
              </a:ext>
            </a:extLst>
          </p:cNvPr>
          <p:cNvSpPr/>
          <p:nvPr/>
        </p:nvSpPr>
        <p:spPr>
          <a:xfrm>
            <a:off x="8200339" y="1257730"/>
            <a:ext cx="456286" cy="4572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0" name="円/楕円 119">
            <a:extLst>
              <a:ext uri="{FF2B5EF4-FFF2-40B4-BE49-F238E27FC236}">
                <a16:creationId xmlns:a16="http://schemas.microsoft.com/office/drawing/2014/main" id="{F6E5CE06-3F90-4A33-EA2E-66F4341A73ED}"/>
              </a:ext>
            </a:extLst>
          </p:cNvPr>
          <p:cNvSpPr/>
          <p:nvPr/>
        </p:nvSpPr>
        <p:spPr>
          <a:xfrm>
            <a:off x="10532059" y="1257730"/>
            <a:ext cx="456286" cy="457200"/>
          </a:xfrm>
          <a:prstGeom prst="ellipse">
            <a:avLst/>
          </a:prstGeom>
          <a:solidFill>
            <a:srgbClr val="007A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1" name="Text 28">
            <a:extLst>
              <a:ext uri="{FF2B5EF4-FFF2-40B4-BE49-F238E27FC236}">
                <a16:creationId xmlns:a16="http://schemas.microsoft.com/office/drawing/2014/main" id="{DCAD5D0A-5918-89BC-6999-1BBC08317AFE}"/>
              </a:ext>
            </a:extLst>
          </p:cNvPr>
          <p:cNvSpPr/>
          <p:nvPr/>
        </p:nvSpPr>
        <p:spPr>
          <a:xfrm>
            <a:off x="1204722" y="125773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122" name="Text 31">
            <a:extLst>
              <a:ext uri="{FF2B5EF4-FFF2-40B4-BE49-F238E27FC236}">
                <a16:creationId xmlns:a16="http://schemas.microsoft.com/office/drawing/2014/main" id="{BF8593DA-5048-F475-705D-A6693107C552}"/>
              </a:ext>
            </a:extLst>
          </p:cNvPr>
          <p:cNvSpPr/>
          <p:nvPr/>
        </p:nvSpPr>
        <p:spPr>
          <a:xfrm>
            <a:off x="3536442" y="125773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500" dirty="0"/>
          </a:p>
        </p:txBody>
      </p:sp>
      <p:sp>
        <p:nvSpPr>
          <p:cNvPr id="123" name="Text 34">
            <a:extLst>
              <a:ext uri="{FF2B5EF4-FFF2-40B4-BE49-F238E27FC236}">
                <a16:creationId xmlns:a16="http://schemas.microsoft.com/office/drawing/2014/main" id="{251976D7-81F9-98BD-5951-9DD15FD55D6D}"/>
              </a:ext>
            </a:extLst>
          </p:cNvPr>
          <p:cNvSpPr/>
          <p:nvPr/>
        </p:nvSpPr>
        <p:spPr>
          <a:xfrm>
            <a:off x="5868162" y="125773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500" dirty="0"/>
          </a:p>
        </p:txBody>
      </p:sp>
      <p:sp>
        <p:nvSpPr>
          <p:cNvPr id="124" name="Text 37">
            <a:extLst>
              <a:ext uri="{FF2B5EF4-FFF2-40B4-BE49-F238E27FC236}">
                <a16:creationId xmlns:a16="http://schemas.microsoft.com/office/drawing/2014/main" id="{63B5F92A-8234-601C-FBFE-6112B3B7E863}"/>
              </a:ext>
            </a:extLst>
          </p:cNvPr>
          <p:cNvSpPr/>
          <p:nvPr/>
        </p:nvSpPr>
        <p:spPr>
          <a:xfrm>
            <a:off x="8199882" y="125773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500" dirty="0"/>
          </a:p>
        </p:txBody>
      </p:sp>
      <p:sp>
        <p:nvSpPr>
          <p:cNvPr id="125" name="Text 40">
            <a:extLst>
              <a:ext uri="{FF2B5EF4-FFF2-40B4-BE49-F238E27FC236}">
                <a16:creationId xmlns:a16="http://schemas.microsoft.com/office/drawing/2014/main" id="{24363CAD-AB50-B041-5E9D-8D83902ACCDA}"/>
              </a:ext>
            </a:extLst>
          </p:cNvPr>
          <p:cNvSpPr/>
          <p:nvPr/>
        </p:nvSpPr>
        <p:spPr>
          <a:xfrm>
            <a:off x="10531602" y="125773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</TotalTime>
  <Words>229</Words>
  <Application>Microsoft Macintosh PowerPoint</Application>
  <PresentationFormat>ワイド画面</PresentationFormat>
  <Paragraphs>54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Noto Sans JP</vt:lpstr>
      <vt:lpstr>Arial</vt:lpstr>
      <vt:lpstr>Cambria</vt:lpstr>
      <vt:lpstr>Office Theme</vt:lpstr>
      <vt:lpstr>PowerPoint プレゼンテーション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e19217_木更津</cp:lastModifiedBy>
  <cp:revision>5</cp:revision>
  <dcterms:created xsi:type="dcterms:W3CDTF">2026-02-15T07:19:24Z</dcterms:created>
  <dcterms:modified xsi:type="dcterms:W3CDTF">2026-02-25T14:43:30Z</dcterms:modified>
</cp:coreProperties>
</file>