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762000"/>
          </a:xfrm>
          <a:prstGeom prst="rect">
            <a:avLst/>
          </a:prstGeom>
          <a:noFill/>
        </p:spPr>
        <p:txBody>
          <a:bodyPr wrap="none">
            <a:spAutoFit/>
          </a:bodyPr>
          <a:lstStyle/>
          <a:p>
            <a:r>
              <a:rPr sz="2000"/>
              <a:t>目次</a:t>
            </a:r>
          </a:p>
        </p:txBody>
      </p:sp>
      <p:sp>
        <p:nvSpPr>
          <p:cNvPr id="3" name="TextBox 2"/>
          <p:cNvSpPr txBox="1"/>
          <p:nvPr/>
        </p:nvSpPr>
        <p:spPr>
          <a:xfrm>
            <a:off x="762000" y="1778000"/>
            <a:ext cx="10668000" cy="4318000"/>
          </a:xfrm>
          <a:prstGeom prst="rect">
            <a:avLst/>
          </a:prstGeom>
          <a:noFill/>
        </p:spPr>
        <p:txBody>
          <a:bodyPr wrap="none">
            <a:spAutoFit/>
          </a:bodyPr>
          <a:lstStyle/>
          <a:p>
            <a:pPr/>
            <a:r>
              <a:rPr sz="1200"/>
              <a:t>  2026年2月15日 | Generated by Genspark AI Slides</a:t>
            </a:r>
          </a:p>
          <a:p>
            <a:pPr/>
            <a:r>
              <a:rPr sz="1200"/>
              <a:t>  このスライドの読み方</a:t>
            </a:r>
          </a:p>
          <a:p>
            <a:pPr/>
            <a:r>
              <a:rPr sz="1200"/>
              <a:t>  Local AI Technical Report</a:t>
            </a:r>
          </a:p>
          <a:p>
            <a:pPr/>
            <a:r>
              <a:rPr sz="1200"/>
              <a:t>  エグゼクティブサマリ（実務要点）</a:t>
            </a:r>
          </a:p>
          <a:p>
            <a:pPr/>
            <a:r>
              <a:rPr sz="1200"/>
              <a:t>  エグゼクティブサマリ（詳細1）</a:t>
            </a:r>
          </a:p>
          <a:p>
            <a:pPr/>
            <a:r>
              <a:rPr sz="1200"/>
              <a:t>  エグゼクティブサマリ（詳細2）</a:t>
            </a:r>
          </a:p>
          <a:p>
            <a:pPr/>
            <a:r>
              <a:rPr sz="1200"/>
              <a:t>  エグゼクティブサマリ（詳細3）</a:t>
            </a:r>
          </a:p>
          <a:p>
            <a:pPr/>
            <a:r>
              <a:rPr sz="1200"/>
              <a:t>  ローカルAIの定義とスコープ</a:t>
            </a:r>
          </a:p>
          <a:p>
            <a:pPr/>
            <a:r>
              <a:rPr sz="1200"/>
              <a:t>  未指定事項の扱い（前提条件）</a:t>
            </a:r>
          </a:p>
          <a:p>
            <a:pPr/>
            <a:r>
              <a:rPr sz="1200"/>
              <a:t>  04</a:t>
            </a:r>
          </a:p>
          <a:p>
            <a:pPr/>
            <a:r>
              <a:rPr sz="1200"/>
              <a:t>  ローカルAIランドスケープ</a:t>
            </a:r>
          </a:p>
          <a:p>
            <a:pPr/>
            <a:r>
              <a:rPr sz="1200"/>
              <a:t>  ローカルAIランドスケープ（詳細）</a:t>
            </a:r>
          </a:p>
          <a:p>
            <a:pPr/>
            <a:r>
              <a:rPr sz="1200"/>
              <a:t>  05</a:t>
            </a:r>
          </a:p>
          <a:p>
            <a:pPr/>
            <a:r>
              <a:rPr sz="1200"/>
              <a:t>  Evaluation Metrics Overview</a:t>
            </a:r>
          </a:p>
          <a:p>
            <a:pPr/>
            <a:r>
              <a:rPr sz="1200"/>
              <a:t>  特徴軸（詳細）：測定と設計含意</a:t>
            </a:r>
          </a:p>
          <a:p>
            <a:pPr/>
            <a:r>
              <a:rPr sz="1200"/>
              <a:t>  06</a:t>
            </a:r>
          </a:p>
          <a:p>
            <a:pPr/>
            <a:r>
              <a:rPr sz="1200"/>
              <a:t>  テキストLLM（汎用）概要</a:t>
            </a:r>
          </a:p>
          <a:p>
            <a:pPr/>
            <a:r>
              <a:rPr sz="1200"/>
              <a:t>  テキストLLM（完全版表1）</a:t>
            </a:r>
          </a:p>
          <a:p>
            <a:pPr/>
            <a:r>
              <a:rPr sz="1200"/>
              <a:t>  テキストLLM（完全版表2）</a:t>
            </a:r>
          </a:p>
          <a:p>
            <a:pPr/>
            <a:r>
              <a:rPr sz="1200"/>
              <a:t>  採用判断基準（テキストLLM）</a:t>
            </a:r>
          </a:p>
          <a:p>
            <a:pPr/>
            <a:r>
              <a:rPr sz="1200"/>
              <a:t>  VLM/LMM 概要（画像理解・マルチモーダル）</a:t>
            </a:r>
          </a:p>
          <a:p>
            <a:pPr/>
            <a:r>
              <a:rPr sz="1200"/>
              <a:t>  VLM/LMM（完全版表）</a:t>
            </a:r>
          </a:p>
          <a:p>
            <a:pPr/>
            <a:r>
              <a:rPr sz="1200"/>
              <a:t>  採用判断基準（VLM/LMM）</a:t>
            </a:r>
          </a:p>
          <a:p>
            <a:pPr/>
            <a:r>
              <a:rPr sz="1200"/>
              <a:t>  ASR（音声認識）概要</a:t>
            </a:r>
          </a:p>
          <a:p>
            <a:pPr/>
            <a:r>
              <a:rPr sz="1200"/>
              <a:t>  ASR（完全版表）</a:t>
            </a:r>
          </a:p>
          <a:p>
            <a:pPr/>
            <a:r>
              <a:rPr sz="1200"/>
              <a:t>  採用判断基準（ASR）</a:t>
            </a:r>
          </a:p>
          <a:p>
            <a:pPr/>
            <a:r>
              <a:rPr sz="1200"/>
              <a:t>  TTS（音声合成）概要</a:t>
            </a:r>
          </a:p>
          <a:p>
            <a:pPr/>
            <a:r>
              <a:rPr sz="1200"/>
              <a:t>  TTS（完全版表）</a:t>
            </a:r>
          </a:p>
          <a:p>
            <a:pPr/>
            <a:r>
              <a:rPr sz="1200"/>
              <a:t>  採用判断基準（TTS）</a:t>
            </a:r>
          </a:p>
          <a:p>
            <a:pPr/>
            <a:r>
              <a:rPr sz="1200"/>
              <a:t>  Embedding / Reranker 概要</a:t>
            </a:r>
          </a:p>
          <a:p>
            <a:pPr/>
            <a:r>
              <a:rPr sz="1200"/>
              <a:t>  Embedding/Reranker（完全版表）</a:t>
            </a:r>
          </a:p>
          <a:p>
            <a:pPr/>
            <a:r>
              <a:rPr sz="1200"/>
              <a:t>  採用判断基準（Embedding / Reranker）</a:t>
            </a:r>
          </a:p>
          <a:p>
            <a:pPr/>
            <a:r>
              <a:rPr sz="1200"/>
              <a:t>  OCR / Document AI 概要</a:t>
            </a:r>
          </a:p>
          <a:p>
            <a:pPr/>
            <a:r>
              <a:rPr sz="1200"/>
              <a:t>  OCR / Document AI（完全版表）</a:t>
            </a:r>
          </a:p>
          <a:p>
            <a:pPr/>
            <a:r>
              <a:rPr sz="1200"/>
              <a:t>  OCR/Document AI採用判断基準</a:t>
            </a:r>
          </a:p>
          <a:p>
            <a:pPr/>
            <a:r>
              <a:rPr sz="1200"/>
              <a:t>  画像生成（Diffusion）概要</a:t>
            </a:r>
          </a:p>
          <a:p>
            <a:pPr/>
            <a:r>
              <a:rPr sz="1200"/>
              <a:t>  画像生成（完全版表）</a:t>
            </a:r>
          </a:p>
          <a:p>
            <a:pPr/>
            <a:r>
              <a:rPr sz="1200"/>
              <a:t>  \\n\\n採用判断基準（画像生成）\\n</a:t>
            </a:r>
          </a:p>
          <a:p>
            <a:pPr/>
            <a:r>
              <a:rPr sz="1200"/>
              <a:t>  Agent / Tool-use 概要</a:t>
            </a:r>
          </a:p>
          <a:p>
            <a:pPr/>
            <a:r>
              <a:rPr sz="1200"/>
              <a:t>  Agent/Tool-use（完全版表）</a:t>
            </a:r>
          </a:p>
          <a:p>
            <a:pPr/>
            <a:r>
              <a:rPr sz="1200"/>
              <a:t>  採用判断基準（Agent / Tool-use）</a:t>
            </a:r>
          </a:p>
          <a:p>
            <a:pPr/>
            <a:r>
              <a:rPr sz="1200"/>
              <a:t>  音声周辺（VAD/話者分離/ウェイクワード/ノイズ除去）概要</a:t>
            </a:r>
          </a:p>
          <a:p>
            <a:pPr/>
            <a:r>
              <a:rPr sz="1200"/>
              <a:t>  音声周辺（完全版表）</a:t>
            </a:r>
          </a:p>
          <a:p>
            <a:pPr/>
            <a:r>
              <a:rPr sz="1200"/>
              <a:t>  採用判断基準（音声周辺）</a:t>
            </a:r>
          </a:p>
          <a:p>
            <a:pPr/>
            <a:r>
              <a:rPr sz="1200"/>
              <a:t>  07</a:t>
            </a:r>
          </a:p>
          <a:p>
            <a:pPr/>
            <a:r>
              <a:rPr sz="1200"/>
              <a:t>  メモリ設計のコア（概要）</a:t>
            </a:r>
          </a:p>
          <a:p>
            <a:pPr/>
            <a:r>
              <a:rPr sz="1200"/>
              <a:t>  重みメモリ理論値（完全版表1：0.5B〜14B）</a:t>
            </a:r>
          </a:p>
          <a:p>
            <a:pPr/>
            <a:r>
              <a:rPr sz="1200"/>
              <a:t>  重みメモリ理論値（完全版表2：27B〜70B）</a:t>
            </a:r>
          </a:p>
          <a:p>
            <a:pPr/>
            <a:r>
              <a:rPr sz="1200"/>
              <a:t>  KVキャッシュの支配性（完全版表1）</a:t>
            </a:r>
          </a:p>
          <a:p>
            <a:pPr/>
            <a:r>
              <a:rPr sz="1200"/>
              <a:t>  KVキャッシュの支配性（完全版表2：超長文域）</a:t>
            </a:r>
          </a:p>
          <a:p>
            <a:pPr/>
            <a:r>
              <a:rPr sz="1200"/>
              <a:t>  メモリ最適化技術</a:t>
            </a:r>
          </a:p>
          <a:p>
            <a:pPr/>
            <a:r>
              <a:rPr sz="1200"/>
              <a:t>  Tier定義と現実ライン（概要）</a:t>
            </a:r>
          </a:p>
          <a:p>
            <a:pPr/>
            <a:r>
              <a:rPr sz="1200"/>
              <a:t>  Apple Silicon Tier（完全版表1）</a:t>
            </a:r>
          </a:p>
          <a:p>
            <a:pPr/>
            <a:r>
              <a:rPr sz="1200"/>
              <a:t>  Apple Silicon Tier（完全版表2）</a:t>
            </a:r>
          </a:p>
          <a:p>
            <a:pPr/>
            <a:r>
              <a:rPr sz="1200"/>
              <a:t>  Windows Tier（完全版表1）</a:t>
            </a:r>
          </a:p>
          <a:p>
            <a:pPr/>
            <a:r>
              <a:rPr sz="1200"/>
              <a:t>  Windows Tier（完全版表2）</a:t>
            </a:r>
          </a:p>
          <a:p>
            <a:pPr/>
            <a:r>
              <a:rPr sz="1200"/>
              <a:t>  補足：AMD/Intel GPUの現実ライン</a:t>
            </a:r>
          </a:p>
          <a:p>
            <a:pPr/>
            <a:r>
              <a:rPr sz="1200"/>
              <a:t>  常駐運用 vs オンデマンド運用</a:t>
            </a:r>
          </a:p>
          <a:p>
            <a:pPr/>
            <a:r>
              <a:rPr sz="1200"/>
              <a:t>  ユースケース別推奨スタック：音声メモ→整文化→タスク抽出</a:t>
            </a:r>
          </a:p>
          <a:p>
            <a:pPr/>
            <a:r>
              <a:rPr sz="1200"/>
              <a:t>  音声メモ→整文化→タスク抽出（失敗モードと回避策）</a:t>
            </a:r>
          </a:p>
          <a:p>
            <a:pPr/>
            <a:r>
              <a:rPr sz="1200"/>
              <a:t>  ユースケース：会議議事録（話者分離＋要約＋アクション）</a:t>
            </a:r>
          </a:p>
          <a:p>
            <a:pPr/>
            <a:r>
              <a:rPr sz="1200"/>
              <a:t>  会議議事録：失敗モードと回避策</a:t>
            </a:r>
          </a:p>
          <a:p>
            <a:pPr/>
            <a:r>
              <a:rPr sz="1200"/>
              <a:t>  ユースケース：文書RAG</a:t>
            </a:r>
          </a:p>
          <a:p>
            <a:pPr/>
            <a:r>
              <a:rPr sz="1200"/>
              <a:t>  文書RAG：失敗モードと回避策</a:t>
            </a:r>
          </a:p>
          <a:p>
            <a:pPr/>
            <a:r>
              <a:rPr sz="1200"/>
              <a:t>  ユースケース：画像理解（VLM）— 3構成</a:t>
            </a:r>
          </a:p>
          <a:p>
            <a:pPr/>
            <a:r>
              <a:rPr sz="1200"/>
              <a:t>  画像理解：失敗モードと回避策</a:t>
            </a:r>
          </a:p>
          <a:p>
            <a:pPr/>
            <a:r>
              <a:rPr sz="1200"/>
              <a:t>  ユースケース：コーディング補助</a:t>
            </a:r>
          </a:p>
          <a:p>
            <a:pPr/>
            <a:r>
              <a:rPr sz="1200"/>
              <a:t>  コーディング支援：失敗モードと回避策</a:t>
            </a:r>
          </a:p>
          <a:p>
            <a:pPr/>
            <a:r>
              <a:rPr sz="1200"/>
              <a:t>  ユースケース：画像生成（Diffusion）— 3構成</a:t>
            </a:r>
          </a:p>
          <a:p>
            <a:pPr/>
            <a:r>
              <a:rPr sz="1200"/>
              <a:t>  画像生成：失敗モードと回避策</a:t>
            </a:r>
          </a:p>
          <a:p>
            <a:pPr/>
            <a:r>
              <a:rPr sz="1200"/>
              <a:t>  10</a:t>
            </a:r>
          </a:p>
          <a:p>
            <a:pPr/>
            <a:r>
              <a:rPr sz="1200"/>
              <a:t>  測定指標の定義</a:t>
            </a:r>
          </a:p>
          <a:p>
            <a:pPr/>
            <a:r>
              <a:rPr sz="1200"/>
              <a:t>  測定手順（条件固定・ウォームアップ・KV切り分け）</a:t>
            </a:r>
          </a:p>
          <a:p>
            <a:pPr/>
            <a:r>
              <a:rPr sz="1200"/>
              <a:t>  リスクとコンプライアンス</a:t>
            </a:r>
          </a:p>
          <a:p>
            <a:pPr/>
            <a:r>
              <a:rPr sz="1200"/>
              <a:t>  まとめ（意思決定フロー）</a:t>
            </a:r>
          </a:p>
          <a:p>
            <a:pPr/>
            <a:r>
              <a:rPr sz="1200"/>
              <a:t>  総括（実務への適用）</a:t>
            </a:r>
          </a:p>
          <a:p>
            <a:pPr/>
            <a:r>
              <a:rPr sz="1200"/>
              <a:t>  References（1/4）</a:t>
            </a:r>
          </a:p>
          <a:p>
            <a:pPr/>
            <a:r>
              <a:rPr sz="1200"/>
              <a:t>  References（参考文献リスト 2/4）</a:t>
            </a:r>
          </a:p>
          <a:p>
            <a:pPr/>
            <a:r>
              <a:rPr sz="1200"/>
              <a:t>  References（3/4）</a:t>
            </a:r>
          </a:p>
          <a:p>
            <a:pPr/>
            <a:r>
              <a:rPr sz="1200"/>
              <a:t>  References（参考文献リスト4/4）</a:t>
            </a:r>
          </a:p>
          <a:p>
            <a:pPr/>
            <a:r>
              <a:rPr sz="1200"/>
              <a:t>引用</a:t>
            </a:r>
          </a:p>
        </p:txBody>
      </p:sp>
      <p:sp>
        <p:nvSpPr>
          <p:cNvPr id="4" name="TextBox 3"/>
          <p:cNvSpPr txBox="1"/>
          <p:nvPr/>
        </p:nvSpPr>
        <p:spPr>
          <a:xfrm>
            <a:off x="10668000" y="6477000"/>
            <a:ext cx="1397000" cy="317500"/>
          </a:xfrm>
          <a:prstGeom prst="rect">
            <a:avLst/>
          </a:prstGeom>
          <a:noFill/>
        </p:spPr>
        <p:txBody>
          <a:bodyPr wrap="none">
            <a:spAutoFit/>
          </a:bodyPr>
          <a:lstStyle/>
          <a:p>
            <a:r>
              <a:rPr sz="1000"/>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2026年2月15日 | Generated by Genspark AI Slides</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Technical Research Report</a:t>
            </a:r>
          </a:p>
          <a:p>
            <a:pPr/>
            <a:r>
              <a:rPr sz="1200"/>
              <a:t>ローカルAI 技術調査レポート</a:t>
            </a:r>
          </a:p>
          <a:p>
            <a:pPr/>
            <a:r>
              <a:rPr sz="1200"/>
              <a:t>オンデバイス／ローカル推論の現実解と推奨スタック</a:t>
            </a:r>
          </a:p>
          <a:p>
            <a:pPr/>
            <a:r>
              <a:rPr sz="1200"/>
              <a:t>LLM</a:t>
            </a:r>
          </a:p>
          <a:p>
            <a:pPr/>
            <a:r>
              <a:rPr sz="1200"/>
              <a:t>VLM</a:t>
            </a:r>
          </a:p>
          <a:p>
            <a:pPr/>
            <a:r>
              <a:rPr sz="1200"/>
              <a:t>ASR</a:t>
            </a:r>
          </a:p>
          <a:p>
            <a:pPr/>
            <a:r>
              <a:rPr sz="1200"/>
              <a:t>TTS</a:t>
            </a:r>
          </a:p>
          <a:p>
            <a:pPr/>
            <a:r>
              <a:rPr sz="1200"/>
              <a:t>RAG</a:t>
            </a:r>
          </a:p>
        </p:txBody>
      </p:sp>
      <p:sp>
        <p:nvSpPr>
          <p:cNvPr id="4" name="TextBox 3"/>
          <p:cNvSpPr txBox="1"/>
          <p:nvPr/>
        </p:nvSpPr>
        <p:spPr>
          <a:xfrm>
            <a:off x="10668000" y="6477000"/>
            <a:ext cx="1397000" cy="317500"/>
          </a:xfrm>
          <a:prstGeom prst="rect">
            <a:avLst/>
          </a:prstGeom>
          <a:noFill/>
        </p:spPr>
        <p:txBody>
          <a:bodyPr wrap="none">
            <a:spAutoFit/>
          </a:bodyPr>
          <a:lstStyle/>
          <a:p>
            <a:r>
              <a:rPr sz="1000"/>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このスライドの読み方</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概要→詳細の二層構造ガイド</a:t>
            </a:r>
          </a:p>
          <a:p>
            <a:pPr/>
            <a:r>
              <a:rPr sz="1200"/>
              <a:t>構造：二層設計</a:t>
            </a:r>
          </a:p>
          <a:p>
            <a:pPr/>
            <a:r>
              <a:rPr sz="1200"/>
              <a:t>1. 概要スライド（Executive Summary）</a:t>
            </a:r>
          </a:p>
          <a:p>
            <a:pPr/>
            <a:r>
              <a:rPr sz="1200"/>
              <a:t>意思決定に必要な「結論」と「要点」を最初に提示します。時間がない場合はここだけ読めば全体像が掴めます。</a:t>
            </a:r>
          </a:p>
          <a:p>
            <a:pPr/>
            <a:r>
              <a:rPr sz="1200"/>
              <a:t>2. 完全版スライド（Full Detail）</a:t>
            </a:r>
          </a:p>
          <a:p>
            <a:pPr/>
            <a:r>
              <a:rPr sz="1200"/>
              <a:t>レポート内の表、数値、グラフ、注釈を省略せずに掲載します。エンジニアや実装担当者が参照するための詳細情報です。</a:t>
            </a:r>
          </a:p>
          <a:p>
            <a:pPr/>
            <a:r>
              <a:rPr sz="1200"/>
              <a:t>相互リンクと参照</a:t>
            </a:r>
          </a:p>
          <a:p>
            <a:pPr/>
            <a:r>
              <a:rPr sz="1200"/>
              <a:t>概要から詳細へ、詳細から参考文献へ、論理的に接続されています。</a:t>
            </a:r>
          </a:p>
        </p:txBody>
      </p:sp>
      <p:sp>
        <p:nvSpPr>
          <p:cNvPr id="4" name="TextBox 3"/>
          <p:cNvSpPr txBox="1"/>
          <p:nvPr/>
        </p:nvSpPr>
        <p:spPr>
          <a:xfrm>
            <a:off x="10668000" y="6477000"/>
            <a:ext cx="1397000" cy="317500"/>
          </a:xfrm>
          <a:prstGeom prst="rect">
            <a:avLst/>
          </a:prstGeom>
          <a:noFill/>
        </p:spPr>
        <p:txBody>
          <a:bodyPr wrap="none">
            <a:spAutoFit/>
          </a:bodyPr>
          <a:lstStyle/>
          <a:p>
            <a:r>
              <a:rPr sz="1000"/>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Local AI Technical Report</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目次（Agenda）</a:t>
            </a:r>
          </a:p>
          <a:p>
            <a:pPr/>
            <a:r>
              <a:rPr sz="1200"/>
              <a:t>Total 13 Chapters</a:t>
            </a:r>
          </a:p>
          <a:p>
            <a:pPr/>
            <a:r>
              <a:rPr sz="1200"/>
              <a:t>01</a:t>
            </a:r>
          </a:p>
          <a:p>
            <a:pPr/>
            <a:r>
              <a:rPr sz="1200"/>
              <a:t>タイトル／目的／読み方</a:t>
            </a:r>
          </a:p>
          <a:p>
            <a:pPr/>
            <a:r>
              <a:rPr sz="1200"/>
              <a:t>レポートの目的と、概要→詳細の二層構造の活用方法。</a:t>
            </a:r>
          </a:p>
          <a:p>
            <a:pPr/>
            <a:r>
              <a:rPr sz="1200"/>
              <a:t>02</a:t>
            </a:r>
          </a:p>
          <a:p>
            <a:pPr/>
            <a:r>
              <a:rPr sz="1200"/>
              <a:t>エグゼクティブサマリ</a:t>
            </a:r>
          </a:p>
          <a:p>
            <a:pPr/>
            <a:r>
              <a:rPr sz="1200"/>
              <a:t>実務要点、中核技術、推奨スタックの概要を提示。</a:t>
            </a:r>
          </a:p>
        </p:txBody>
      </p:sp>
      <p:sp>
        <p:nvSpPr>
          <p:cNvPr id="4" name="TextBox 3"/>
          <p:cNvSpPr txBox="1"/>
          <p:nvPr/>
        </p:nvSpPr>
        <p:spPr>
          <a:xfrm>
            <a:off x="10668000" y="6477000"/>
            <a:ext cx="1397000" cy="317500"/>
          </a:xfrm>
          <a:prstGeom prst="rect">
            <a:avLst/>
          </a:prstGeom>
          <a:noFill/>
        </p:spPr>
        <p:txBody>
          <a:bodyPr wrap="none">
            <a:spAutoFit/>
          </a:bodyPr>
          <a:lstStyle/>
          <a:p>
            <a:r>
              <a:rPr sz="1000"/>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エグゼクティブサマリ（実務要点）</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ローカルAI導入における意思決定の重要ポイント</a:t>
            </a:r>
          </a:p>
          <a:p>
            <a:pPr/>
            <a:r>
              <a:rPr sz="1200"/>
              <a:t>結論：ローカルAIは「4bit量子化＋KV管理」を前提に、</a:t>
            </a:r>
            <a:br/>
            <a:r>
              <a:rPr sz="1200"/>
              <a:t> GGUF/llama.cpp系とOllama/LM Studio/MLXで実務化可能です。</a:t>
            </a:r>
          </a:p>
          <a:p>
            <a:pPr/>
            <a:r>
              <a:rPr sz="1200"/>
              <a:t>定義とスコープ</a:t>
            </a:r>
          </a:p>
          <a:p>
            <a:pPr/>
            <a:r>
              <a:rPr sz="1200"/>
              <a:t>推論が端末orローカルLAN内で完結</a:t>
            </a:r>
          </a:p>
          <a:p>
            <a:pPr/>
            <a:r>
              <a:rPr sz="1200"/>
              <a:t>入力データは外部へ送信されない</a:t>
            </a:r>
          </a:p>
          <a:p>
            <a:pPr/>
            <a:r>
              <a:rPr sz="1200"/>
              <a:t>LANサーブ含む（LM Studio, Ollama）</a:t>
            </a:r>
          </a:p>
          <a:p>
            <a:pPr/>
            <a:r>
              <a:rPr sz="1200"/>
              <a:t>中核技術</a:t>
            </a:r>
          </a:p>
          <a:p>
            <a:pPr/>
            <a:r>
              <a:rPr sz="1200"/>
              <a:t>Weight-only 4bit (AWQ等)</a:t>
            </a:r>
          </a:p>
        </p:txBody>
      </p:sp>
      <p:sp>
        <p:nvSpPr>
          <p:cNvPr id="4" name="TextBox 3"/>
          <p:cNvSpPr txBox="1"/>
          <p:nvPr/>
        </p:nvSpPr>
        <p:spPr>
          <a:xfrm>
            <a:off x="10668000" y="6477000"/>
            <a:ext cx="1397000" cy="317500"/>
          </a:xfrm>
          <a:prstGeom prst="rect">
            <a:avLst/>
          </a:prstGeom>
          <a:noFill/>
        </p:spPr>
        <p:txBody>
          <a:bodyPr wrap="none">
            <a:spAutoFit/>
          </a:bodyPr>
          <a:lstStyle/>
          <a:p>
            <a:r>
              <a:rPr sz="1000"/>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エグゼクティブサマリ（詳細1）</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ローカルAIの定義と中核技術</a:t>
            </a:r>
          </a:p>
          <a:p>
            <a:pPr/>
            <a:r>
              <a:rPr sz="1200"/>
              <a:t>結論：ローカルAIは「推論がユーザー管理下で完結する構成」と定義され、 </a:t>
            </a:r>
            <a:br/>
            <a:r>
              <a:rPr sz="1200"/>
              <a:t>重み量子化（4bit）とKVキャッシュ最適化が実運用の技術的基盤です。</a:t>
            </a:r>
          </a:p>
          <a:p>
            <a:pPr/>
            <a:r>
              <a:rPr sz="1200"/>
              <a:t>ローカルAIの定義と射程</a:t>
            </a:r>
          </a:p>
          <a:p>
            <a:pPr/>
            <a:r>
              <a:rPr sz="1200"/>
              <a:t>ユーザー端末（オンデバイス）、PC、またはローカルLAN内サーバで完結。</a:t>
            </a:r>
          </a:p>
          <a:p>
            <a:pPr/>
            <a:r>
              <a:rPr sz="1200"/>
              <a:t>入力データ（文書・音声・画像）がデフォルトでクラウドへ送出されない構成。</a:t>
            </a:r>
          </a:p>
          <a:p>
            <a:pPr/>
            <a:r>
              <a:rPr sz="1200"/>
              <a:t>LM StudioやOllamaの「localhost/network公開」機能を含みます。</a:t>
            </a:r>
          </a:p>
          <a:p>
            <a:pPr/>
            <a:r>
              <a:rPr sz="1200"/>
              <a:t>[1][2]</a:t>
            </a:r>
          </a:p>
          <a:p>
            <a:pPr/>
            <a:r>
              <a:rPr sz="1200"/>
              <a:t>Localhost</a:t>
            </a:r>
          </a:p>
        </p:txBody>
      </p:sp>
      <p:sp>
        <p:nvSpPr>
          <p:cNvPr id="4" name="TextBox 3"/>
          <p:cNvSpPr txBox="1"/>
          <p:nvPr/>
        </p:nvSpPr>
        <p:spPr>
          <a:xfrm>
            <a:off x="10668000" y="6477000"/>
            <a:ext cx="1397000" cy="317500"/>
          </a:xfrm>
          <a:prstGeom prst="rect">
            <a:avLst/>
          </a:prstGeom>
          <a:noFill/>
        </p:spPr>
        <p:txBody>
          <a:bodyPr wrap="none">
            <a:spAutoFit/>
          </a:bodyPr>
          <a:lstStyle/>
          <a:p>
            <a:r>
              <a:rPr sz="1000"/>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エグゼクティブサマリ（詳細2）</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実運用ランタイムとハードウェア実用ライン</a:t>
            </a:r>
          </a:p>
          <a:p>
            <a:pPr/>
            <a:r>
              <a:rPr sz="1200"/>
              <a:t>結論：ランタイムはllama.cpp/GGUF系・MLXが第一選択となり、ハードウェアはメモリ容量でTier化されます（長文はKV支配）。</a:t>
            </a:r>
          </a:p>
          <a:p>
            <a:pPr/>
            <a:r>
              <a:rPr sz="1200"/>
              <a:t>実運用ランタイム（第一選択）</a:t>
            </a:r>
          </a:p>
          <a:p>
            <a:pPr/>
            <a:r>
              <a:rPr sz="1200"/>
              <a:t>クロスプラットフォーム標準：</a:t>
            </a:r>
          </a:p>
          <a:p>
            <a:pPr/>
            <a:r>
              <a:rPr sz="1200"/>
              <a:t>llama.cpp</a:t>
            </a:r>
          </a:p>
          <a:p>
            <a:pPr/>
            <a:r>
              <a:rPr sz="1200"/>
              <a:t>GGUF形式必須。最小セットアップでCPU/GPU推論が可能。</a:t>
            </a:r>
          </a:p>
          <a:p>
            <a:pPr/>
            <a:r>
              <a:rPr sz="1200"/>
              <a:t>軽量・汎用で多くのフロントエンドの基盤。[8]</a:t>
            </a:r>
          </a:p>
          <a:p>
            <a:pPr/>
            <a:r>
              <a:rPr sz="1200"/>
              <a:t>UI＋ローカルAPI：</a:t>
            </a:r>
          </a:p>
        </p:txBody>
      </p:sp>
      <p:sp>
        <p:nvSpPr>
          <p:cNvPr id="4" name="TextBox 3"/>
          <p:cNvSpPr txBox="1"/>
          <p:nvPr/>
        </p:nvSpPr>
        <p:spPr>
          <a:xfrm>
            <a:off x="10668000" y="6477000"/>
            <a:ext cx="1397000" cy="317500"/>
          </a:xfrm>
          <a:prstGeom prst="rect">
            <a:avLst/>
          </a:prstGeom>
          <a:noFill/>
        </p:spPr>
        <p:txBody>
          <a:bodyPr wrap="none">
            <a:spAutoFit/>
          </a:bodyPr>
          <a:lstStyle/>
          <a:p>
            <a:r>
              <a:rPr sz="1000"/>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エグゼクティブサマリ（詳細3）</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推奨スタック3パターン（Tier別構成案）</a:t>
            </a:r>
          </a:p>
          <a:p>
            <a:pPr/>
            <a:r>
              <a:rPr sz="1200"/>
              <a:t>結論：用途とリソースに応じて「低コスト／高品質／ハード制約」の3構成を選択します。</a:t>
            </a:r>
            <a:br/>
            <a:r>
              <a:rPr sz="1200"/>
              <a:t>※各構成の具体的な失敗モードと回避策は、後述の「ユースケース別推奨スタック」章で詳細に展開します。</a:t>
            </a:r>
          </a:p>
          <a:p>
            <a:pPr/>
            <a:r>
              <a:rPr sz="1200"/>
              <a:t>低コスト構成</a:t>
            </a:r>
          </a:p>
          <a:p>
            <a:pPr/>
            <a:r>
              <a:rPr sz="1200"/>
              <a:t>Target HW</a:t>
            </a:r>
          </a:p>
          <a:p>
            <a:pPr/>
            <a:r>
              <a:rPr sz="1200"/>
              <a:t>CPUのみ / エントリーGPU / Apple 16GB</a:t>
            </a:r>
          </a:p>
          <a:p>
            <a:pPr/>
            <a:r>
              <a:rPr sz="1200"/>
              <a:t>LLM Runtime</a:t>
            </a:r>
          </a:p>
          <a:p>
            <a:pPr/>
            <a:r>
              <a:rPr sz="1200"/>
              <a:t>llama.cpp (GGUF Q4/K) Ollama / LM Studio</a:t>
            </a:r>
          </a:p>
          <a:p>
            <a:pPr/>
            <a:r>
              <a:rPr sz="1200"/>
              <a:t>ASR / TTS</a:t>
            </a:r>
          </a:p>
        </p:txBody>
      </p:sp>
      <p:sp>
        <p:nvSpPr>
          <p:cNvPr id="4" name="TextBox 3"/>
          <p:cNvSpPr txBox="1"/>
          <p:nvPr/>
        </p:nvSpPr>
        <p:spPr>
          <a:xfrm>
            <a:off x="10668000" y="6477000"/>
            <a:ext cx="1397000" cy="317500"/>
          </a:xfrm>
          <a:prstGeom prst="rect">
            <a:avLst/>
          </a:prstGeom>
          <a:noFill/>
        </p:spPr>
        <p:txBody>
          <a:bodyPr wrap="none">
            <a:spAutoFit/>
          </a:bodyPr>
          <a:lstStyle/>
          <a:p>
            <a:r>
              <a:rPr sz="1000"/>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ローカルAIの定義とスコープ</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Definition &amp; Scope</a:t>
            </a:r>
          </a:p>
          <a:p>
            <a:pPr/>
            <a:r>
              <a:rPr sz="1200"/>
              <a:t>DEFINITION</a:t>
            </a:r>
          </a:p>
          <a:p>
            <a:pPr/>
            <a:r>
              <a:rPr sz="1200"/>
              <a:t>本資料の「ローカルAI」とは、推論がユーザー管理下（端末／ローカルPC／ローカルLAN）で完結し、入力データが外部へ送信されない構成を指します。</a:t>
            </a:r>
          </a:p>
          <a:p>
            <a:pPr/>
            <a:r>
              <a:rPr sz="1200"/>
              <a:t>スコープの射程（範囲）</a:t>
            </a:r>
          </a:p>
          <a:p>
            <a:pPr/>
            <a:r>
              <a:rPr sz="1200"/>
              <a:t>ローカルAPIサーバを含む:</a:t>
            </a:r>
            <a:br/>
            <a:r>
              <a:rPr sz="1200"/>
              <a:t>localhostだけでなく、LAN公開（network）された推論サーバも対象。</a:t>
            </a:r>
          </a:p>
          <a:p>
            <a:pPr/>
            <a:r>
              <a:rPr sz="1200"/>
              <a:t>LM Studio / Ollama</a:t>
            </a:r>
          </a:p>
          <a:p>
            <a:pPr/>
            <a:r>
              <a:rPr sz="1200"/>
              <a:t>実装例:</a:t>
            </a:r>
            <a:br/>
            <a:r>
              <a:rPr sz="1200"/>
              <a:t>Windows/macOS/Linux上で動作するOllama、LM Studio等のOpenAI互換APIサーバ。</a:t>
            </a:r>
          </a:p>
          <a:p>
            <a:pPr/>
            <a:r>
              <a:rPr sz="1200"/>
              <a:t>非対象:</a:t>
            </a:r>
            <a:br/>
            <a:r>
              <a:rPr sz="1200"/>
              <a:t>推論リクエストがインターネット経由で外部クラウドAPI（OpenAI, Anthropic等）へ飛ぶ構成。</a:t>
            </a:r>
          </a:p>
        </p:txBody>
      </p:sp>
      <p:sp>
        <p:nvSpPr>
          <p:cNvPr id="4" name="TextBox 3"/>
          <p:cNvSpPr txBox="1"/>
          <p:nvPr/>
        </p:nvSpPr>
        <p:spPr>
          <a:xfrm>
            <a:off x="10668000" y="6477000"/>
            <a:ext cx="1397000" cy="317500"/>
          </a:xfrm>
          <a:prstGeom prst="rect">
            <a:avLst/>
          </a:prstGeom>
          <a:noFill/>
        </p:spPr>
        <p:txBody>
          <a:bodyPr wrap="none">
            <a:spAutoFit/>
          </a:bodyPr>
          <a:lstStyle/>
          <a:p>
            <a:r>
              <a:rPr sz="1000"/>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未指定事項の扱い（前提条件）</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オフライン要件・対象OS・ライセンス</a:t>
            </a:r>
          </a:p>
          <a:p>
            <a:pPr/>
            <a:r>
              <a:rPr sz="1200"/>
              <a:t>結論：「完全オフライン」は推論実行時のみを必須要件とし、 </a:t>
            </a:r>
            <a:br/>
            <a:r>
              <a:rPr sz="1200"/>
              <a:t> 導入・更新時のネットワーク利用は許容する現実的な設計を前提とします。</a:t>
            </a:r>
          </a:p>
          <a:p>
            <a:pPr/>
            <a:r>
              <a:rPr sz="1200"/>
              <a:t>オフライン要件と対象OS</a:t>
            </a:r>
          </a:p>
          <a:p>
            <a:pPr/>
            <a:r>
              <a:rPr sz="1200"/>
              <a:t>“完全オフライン”の定義：</a:t>
            </a:r>
          </a:p>
          <a:p>
            <a:pPr/>
            <a:r>
              <a:rPr sz="1200"/>
              <a:t>「モデル推論自体はオフラインで成立する」レベルを基本とします。モデルの初回ダウンロードやRAG文書の取り込みプロセスにはネットワーク接続が必要になり得る点を前提とします。</a:t>
            </a:r>
          </a:p>
          <a:p>
            <a:pPr/>
            <a:r>
              <a:rPr sz="1200"/>
              <a:t>[19]</a:t>
            </a:r>
          </a:p>
          <a:p>
            <a:pPr/>
            <a:r>
              <a:rPr sz="1200"/>
              <a:t>対象OSのスコープ：</a:t>
            </a:r>
          </a:p>
          <a:p>
            <a:pPr/>
            <a:r>
              <a:rPr sz="1200"/>
              <a:t>macOS Ventura以降およびWindows 10/11を主要ターゲットとします。Linuxは「Windows上でWSL2を利用」または「別筐体サーバ」の選択肢としてのみ扱います。</a:t>
            </a:r>
          </a:p>
        </p:txBody>
      </p:sp>
      <p:sp>
        <p:nvSpPr>
          <p:cNvPr id="4" name="TextBox 3"/>
          <p:cNvSpPr txBox="1"/>
          <p:nvPr/>
        </p:nvSpPr>
        <p:spPr>
          <a:xfrm>
            <a:off x="10668000" y="6477000"/>
            <a:ext cx="1397000" cy="317500"/>
          </a:xfrm>
          <a:prstGeom prst="rect">
            <a:avLst/>
          </a:prstGeom>
          <a:noFill/>
        </p:spPr>
        <p:txBody>
          <a:bodyPr wrap="none">
            <a:spAutoFit/>
          </a:bodyPr>
          <a:lstStyle/>
          <a:p>
            <a:r>
              <a:rPr sz="1000"/>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04</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ローカルAI</a:t>
            </a:r>
            <a:br/>
            <a:r>
              <a:rPr sz="1200"/>
              <a:t>ランドスケープ</a:t>
            </a:r>
          </a:p>
          <a:p>
            <a:pPr/>
            <a:r>
              <a:rPr sz="1200"/>
              <a:t>オンデバイス実行環境の</a:t>
            </a:r>
            <a:br/>
            <a:r>
              <a:rPr sz="1200"/>
              <a:t>全体像と技術スタック</a:t>
            </a:r>
          </a:p>
          <a:p>
            <a:pPr/>
            <a:r>
              <a:rPr sz="1200"/>
              <a:t>KEY TAKEAWAYS</a:t>
            </a:r>
          </a:p>
          <a:p>
            <a:pPr/>
            <a:r>
              <a:rPr sz="1200"/>
              <a:t>本章の要点</a:t>
            </a:r>
          </a:p>
          <a:p>
            <a:pPr/>
            <a:r>
              <a:rPr sz="1200"/>
              <a:t>テキストLLMの二大潮流：</a:t>
            </a:r>
            <a:br/>
            <a:r>
              <a:rPr sz="1200"/>
              <a:t> GGUF（llama.cpp系）とGPU量子化形式（GPTQ/AWQ/EXL2等）に大別されます。</a:t>
            </a:r>
          </a:p>
          <a:p>
            <a:pPr/>
            <a:r>
              <a:rPr sz="1200"/>
              <a:t>プラットフォームの最適解：</a:t>
            </a:r>
            <a:br/>
            <a:r>
              <a:rPr sz="1200"/>
              <a:t> macOSはMetal/Unified Memory、WindowsはOllama/LM Studioが実務的選択肢です。</a:t>
            </a:r>
          </a:p>
          <a:p>
            <a:pPr/>
            <a:r>
              <a:rPr sz="1200"/>
              <a:t>構成要素の多様性：</a:t>
            </a:r>
            <a:br/>
            <a:r>
              <a:rPr sz="1200"/>
              <a:t> LLMだけでなく、ASR/TTS/VLM/RAG/Agentまで網羅的にマップ化します。</a:t>
            </a:r>
          </a:p>
          <a:p>
            <a:pPr/>
            <a:r>
              <a:rPr sz="1200"/>
              <a:t>カテゴリ網羅図</a:t>
            </a:r>
          </a:p>
        </p:txBody>
      </p:sp>
      <p:sp>
        <p:nvSpPr>
          <p:cNvPr id="4" name="TextBox 3"/>
          <p:cNvSpPr txBox="1"/>
          <p:nvPr/>
        </p:nvSpPr>
        <p:spPr>
          <a:xfrm>
            <a:off x="10668000" y="6477000"/>
            <a:ext cx="1397000" cy="317500"/>
          </a:xfrm>
          <a:prstGeom prst="rect">
            <a:avLst/>
          </a:prstGeom>
          <a:noFill/>
        </p:spPr>
        <p:txBody>
          <a:bodyPr wrap="none">
            <a:spAutoFit/>
          </a:bodyPr>
          <a:lstStyle/>
          <a:p>
            <a:r>
              <a:rPr sz="1000"/>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ローカルAIランドスケープ</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カテゴリ網羅・代表モデルとランタイムの関係図</a:t>
            </a:r>
          </a:p>
          <a:p>
            <a:pPr/>
            <a:r>
              <a:rPr sz="1200"/>
              <a:t>Local AI Technical Survey Report 2026</a:t>
            </a:r>
          </a:p>
          <a:p>
            <a:pPr/>
            <a:r>
              <a:rPr sz="1200"/>
              <a:t>11 / 80</a:t>
            </a:r>
          </a:p>
          <a:p>
            <a:pPr/>
            <a:r>
              <a:rPr sz="1200"/>
              <a:t>結論：ローカルAIは9カテゴリ（LLM/VLM/ASR/TTS/Embedding/OCR/画像生成/Agent/音声前処理）で構成され、</a:t>
            </a:r>
            <a:br/>
            <a:r>
              <a:rPr sz="1200"/>
              <a:t> モデル系とランタイム系が実務上の結節点となります。</a:t>
            </a:r>
          </a:p>
          <a:p>
            <a:pPr/>
            <a:r>
              <a:rPr sz="1200"/>
              <a:t>Core (AI Category)</a:t>
            </a:r>
          </a:p>
          <a:p>
            <a:pPr/>
            <a:r>
              <a:rPr sz="1200"/>
              <a:t>Model Examples</a:t>
            </a:r>
          </a:p>
          <a:p>
            <a:pPr/>
            <a:r>
              <a:rPr sz="1200"/>
              <a:t>Runtime / Stack</a:t>
            </a:r>
          </a:p>
        </p:txBody>
      </p:sp>
      <p:sp>
        <p:nvSpPr>
          <p:cNvPr id="4" name="TextBox 3"/>
          <p:cNvSpPr txBox="1"/>
          <p:nvPr/>
        </p:nvSpPr>
        <p:spPr>
          <a:xfrm>
            <a:off x="10668000" y="6477000"/>
            <a:ext cx="1397000" cy="317500"/>
          </a:xfrm>
          <a:prstGeom prst="rect">
            <a:avLst/>
          </a:prstGeom>
          <a:noFill/>
        </p:spPr>
        <p:txBody>
          <a:bodyPr wrap="none">
            <a:spAutoFit/>
          </a:bodyPr>
          <a:lstStyle/>
          <a:p>
            <a:r>
              <a:rPr sz="1000"/>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ローカルAIランドスケープ（詳細）</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カテゴリ別代表モデル・ランタイム・主用途</a:t>
            </a:r>
          </a:p>
          <a:p>
            <a:pPr/>
            <a:r>
              <a:rPr sz="1200"/>
              <a:t>結論：実務上の収束点は「LLMはGGUF (llama.cpp)かGPU量子化系」「macOSはMLX/Unified Memory最適化」「WindowsはOllama/LM Studio + 必要に応じWSL2」。</a:t>
            </a:r>
          </a:p>
          <a:p>
            <a:pPr/>
            <a:r>
              <a:rPr sz="1200"/>
              <a:t>テキストLLM</a:t>
            </a:r>
          </a:p>
          <a:p>
            <a:pPr/>
            <a:r>
              <a:rPr sz="1200"/>
              <a:t>形式:</a:t>
            </a:r>
          </a:p>
          <a:p>
            <a:pPr/>
            <a:r>
              <a:rPr sz="1200"/>
              <a:t>GGUF (llama.cpp必須), GPTQ/AWQ/EXL2 (GPU向け)</a:t>
            </a:r>
          </a:p>
          <a:p>
            <a:pPr/>
            <a:r>
              <a:rPr sz="1200"/>
              <a:t>[21]</a:t>
            </a:r>
          </a:p>
          <a:p>
            <a:pPr/>
            <a:r>
              <a:rPr sz="1200"/>
              <a:t>代表:</a:t>
            </a:r>
          </a:p>
          <a:p>
            <a:pPr/>
            <a:r>
              <a:rPr sz="1200"/>
              <a:t>Llama 3.1, Qwen2.5, Gemma 2, Phi-3/4</a:t>
            </a:r>
          </a:p>
        </p:txBody>
      </p:sp>
      <p:sp>
        <p:nvSpPr>
          <p:cNvPr id="4" name="TextBox 3"/>
          <p:cNvSpPr txBox="1"/>
          <p:nvPr/>
        </p:nvSpPr>
        <p:spPr>
          <a:xfrm>
            <a:off x="10668000" y="6477000"/>
            <a:ext cx="1397000" cy="317500"/>
          </a:xfrm>
          <a:prstGeom prst="rect">
            <a:avLst/>
          </a:prstGeom>
          <a:noFill/>
        </p:spPr>
        <p:txBody>
          <a:bodyPr wrap="none">
            <a:spAutoFit/>
          </a:bodyPr>
          <a:lstStyle/>
          <a:p>
            <a:r>
              <a:rPr sz="1000"/>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05</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特徴軸（評価軸）</a:t>
            </a:r>
            <a:br/>
            <a:r>
              <a:rPr sz="1200"/>
              <a:t>の定義</a:t>
            </a:r>
          </a:p>
          <a:p>
            <a:pPr/>
            <a:r>
              <a:rPr sz="1200"/>
              <a:t>評価の共通物差しと</a:t>
            </a:r>
            <a:br/>
            <a:r>
              <a:rPr sz="1200"/>
              <a:t>測定基準</a:t>
            </a:r>
          </a:p>
          <a:p>
            <a:pPr/>
            <a:r>
              <a:rPr sz="1200"/>
              <a:t>KEY TAKEAWAYS</a:t>
            </a:r>
          </a:p>
          <a:p>
            <a:pPr/>
            <a:r>
              <a:rPr sz="1200"/>
              <a:t>本章の要点</a:t>
            </a:r>
          </a:p>
          <a:p>
            <a:pPr/>
            <a:r>
              <a:rPr sz="1200"/>
              <a:t>13の評価軸：</a:t>
            </a:r>
            <a:br/>
            <a:r>
              <a:rPr sz="1200"/>
              <a:t> 指示追従、JSON堅牢性、長文耐性、速度、メモリなど、多角的な視点でモデルを比較評価します。</a:t>
            </a:r>
          </a:p>
          <a:p>
            <a:pPr/>
            <a:r>
              <a:rPr sz="1200"/>
              <a:t>KVキャッシュ最適化：</a:t>
            </a:r>
            <a:br/>
            <a:r>
              <a:rPr sz="1200"/>
              <a:t> paged/quantized KVやreuse機能が、長文コンテキストや多同時リクエスト処理の鍵となります。</a:t>
            </a:r>
          </a:p>
          <a:p>
            <a:pPr/>
            <a:r>
              <a:rPr sz="1200"/>
              <a:t>JSON制約の重要性：</a:t>
            </a:r>
            <a:br/>
            <a:r>
              <a:rPr sz="1200"/>
              <a:t> ツール利用においてJSON出力の安定性は必須ですが、機能はランタイムに強く依存します。</a:t>
            </a:r>
          </a:p>
          <a:p>
            <a:pPr/>
            <a:r>
              <a:rPr sz="1200"/>
              <a:t>13の評価軸定義</a:t>
            </a:r>
          </a:p>
        </p:txBody>
      </p:sp>
      <p:sp>
        <p:nvSpPr>
          <p:cNvPr id="4" name="TextBox 3"/>
          <p:cNvSpPr txBox="1"/>
          <p:nvPr/>
        </p:nvSpPr>
        <p:spPr>
          <a:xfrm>
            <a:off x="10668000" y="6477000"/>
            <a:ext cx="1397000" cy="317500"/>
          </a:xfrm>
          <a:prstGeom prst="rect">
            <a:avLst/>
          </a:prstGeom>
          <a:noFill/>
        </p:spPr>
        <p:txBody>
          <a:bodyPr wrap="none">
            <a:spAutoFit/>
          </a:bodyPr>
          <a:lstStyle/>
          <a:p>
            <a:r>
              <a:rPr sz="1000"/>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Evaluation Metrics Overview</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特徴軸（評価軸）の定義</a:t>
            </a:r>
          </a:p>
          <a:p>
            <a:pPr/>
            <a:r>
              <a:rPr sz="1200"/>
              <a:t>Total 13 Metrics</a:t>
            </a:r>
          </a:p>
          <a:p>
            <a:pPr/>
            <a:r>
              <a:rPr sz="1200"/>
              <a:t>01</a:t>
            </a:r>
          </a:p>
          <a:p>
            <a:pPr/>
            <a:r>
              <a:rPr sz="1200"/>
              <a:t>指示追従 (Instruction Following)</a:t>
            </a:r>
          </a:p>
          <a:p>
            <a:pPr/>
            <a:r>
              <a:rPr sz="1200"/>
              <a:t>プロンプトの制約・禁止事項・形式指定（箇条書き禁止等）を遵守する能力。</a:t>
            </a:r>
          </a:p>
          <a:p>
            <a:pPr/>
            <a:r>
              <a:rPr sz="1200"/>
              <a:t>02</a:t>
            </a:r>
          </a:p>
          <a:p>
            <a:pPr/>
            <a:r>
              <a:rPr sz="1200"/>
              <a:t>幻覚耐性 (Hallucination Resistance)</a:t>
            </a:r>
          </a:p>
          <a:p>
            <a:pPr/>
            <a:r>
              <a:rPr sz="1200"/>
              <a:t>根拠のない固有名詞や数値を捏造せず、不確実性を提示できる性質。</a:t>
            </a:r>
          </a:p>
        </p:txBody>
      </p:sp>
      <p:sp>
        <p:nvSpPr>
          <p:cNvPr id="4" name="TextBox 3"/>
          <p:cNvSpPr txBox="1"/>
          <p:nvPr/>
        </p:nvSpPr>
        <p:spPr>
          <a:xfrm>
            <a:off x="10668000" y="6477000"/>
            <a:ext cx="1397000" cy="317500"/>
          </a:xfrm>
          <a:prstGeom prst="rect">
            <a:avLst/>
          </a:prstGeom>
          <a:noFill/>
        </p:spPr>
        <p:txBody>
          <a:bodyPr wrap="none">
            <a:spAutoFit/>
          </a:bodyPr>
          <a:lstStyle/>
          <a:p>
            <a:r>
              <a:rPr sz="1000"/>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特徴軸（詳細）：測定と設計含意</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13の評価軸における計測手順と技術的背景</a:t>
            </a:r>
          </a:p>
          <a:p>
            <a:pPr/>
            <a:r>
              <a:rPr sz="1200"/>
              <a:t>機能・性能評価のコア</a:t>
            </a:r>
          </a:p>
          <a:p>
            <a:pPr/>
            <a:r>
              <a:rPr sz="1200"/>
              <a:t>JSON堅牢性と指示追従</a:t>
            </a:r>
          </a:p>
          <a:p>
            <a:pPr/>
            <a:r>
              <a:rPr sz="1200"/>
              <a:t>ツール呼び出し等の業務連携ではスキーマ破壊が致命的。Ollama/LM StudioのOpenAI互換APIを用いて同一条件で比較検証を行う。llama-cpp-python等のランタイム依存機能（response_format）も活用。</a:t>
            </a:r>
          </a:p>
          <a:p>
            <a:pPr/>
            <a:r>
              <a:rPr sz="1200"/>
              <a:t>[24]</a:t>
            </a:r>
          </a:p>
          <a:p>
            <a:pPr/>
            <a:r>
              <a:rPr sz="1200"/>
              <a:t>[25]</a:t>
            </a:r>
          </a:p>
          <a:p>
            <a:pPr/>
            <a:r>
              <a:rPr sz="1200"/>
              <a:t>長文耐性とメモリ管理</a:t>
            </a:r>
          </a:p>
          <a:p>
            <a:pPr/>
            <a:r>
              <a:rPr sz="1200"/>
              <a:t>コンテキスト長に応じてKVキャッシュメモリは線形に増加し、支配的要因となる。単純なトークン数だけでなく、KVキャッシュの最適化技術（Paged Attention等）の有無が安定性を左右する。</a:t>
            </a:r>
          </a:p>
        </p:txBody>
      </p:sp>
      <p:sp>
        <p:nvSpPr>
          <p:cNvPr id="4" name="TextBox 3"/>
          <p:cNvSpPr txBox="1"/>
          <p:nvPr/>
        </p:nvSpPr>
        <p:spPr>
          <a:xfrm>
            <a:off x="10668000" y="6477000"/>
            <a:ext cx="1397000" cy="317500"/>
          </a:xfrm>
          <a:prstGeom prst="rect">
            <a:avLst/>
          </a:prstGeom>
          <a:noFill/>
        </p:spPr>
        <p:txBody>
          <a:bodyPr wrap="none">
            <a:spAutoFit/>
          </a:bodyPr>
          <a:lstStyle/>
          <a:p>
            <a:r>
              <a:rPr sz="1000"/>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06</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カテゴリ別</a:t>
            </a:r>
            <a:br/>
            <a:r>
              <a:rPr sz="1200"/>
              <a:t>モデルカタログ</a:t>
            </a:r>
          </a:p>
          <a:p>
            <a:pPr/>
            <a:r>
              <a:rPr sz="1200"/>
              <a:t>主要9カテゴリの</a:t>
            </a:r>
            <a:br/>
            <a:r>
              <a:rPr sz="1200"/>
              <a:t>詳細データと採用判断</a:t>
            </a:r>
          </a:p>
          <a:p>
            <a:pPr/>
            <a:r>
              <a:rPr sz="1200"/>
              <a:t>SECTION OVERVIEW</a:t>
            </a:r>
          </a:p>
          <a:p>
            <a:pPr/>
            <a:r>
              <a:rPr sz="1200"/>
              <a:t>提示方針：三層構造</a:t>
            </a:r>
          </a:p>
          <a:p>
            <a:pPr/>
            <a:r>
              <a:rPr sz="1200"/>
              <a:t>概要（Overview）：</a:t>
            </a:r>
            <a:br/>
            <a:r>
              <a:rPr sz="1200"/>
              <a:t> カテゴリごとの主要トレンドと代表モデルの要点を概説。</a:t>
            </a:r>
          </a:p>
          <a:p>
            <a:pPr/>
            <a:r>
              <a:rPr sz="1200"/>
              <a:t>完全版表（Full Data）：</a:t>
            </a:r>
            <a:br/>
            <a:r>
              <a:rPr sz="1200"/>
              <a:t> 規模・量子化・得意不得意・ランタイム相性・リスク・参考文献を列落ちなく全掲載。</a:t>
            </a:r>
          </a:p>
          <a:p>
            <a:pPr/>
            <a:r>
              <a:rPr sz="1200"/>
              <a:t>採用判断（Decision）：</a:t>
            </a:r>
            <a:br/>
            <a:r>
              <a:rPr sz="1200"/>
              <a:t> 「どう選ぶか」の意思決定基準と失敗回避策を提示。</a:t>
            </a:r>
          </a:p>
          <a:p>
            <a:pPr/>
            <a:r>
              <a:rPr sz="1200"/>
              <a:t>テキストLLM</a:t>
            </a:r>
          </a:p>
        </p:txBody>
      </p:sp>
      <p:sp>
        <p:nvSpPr>
          <p:cNvPr id="4" name="TextBox 3"/>
          <p:cNvSpPr txBox="1"/>
          <p:nvPr/>
        </p:nvSpPr>
        <p:spPr>
          <a:xfrm>
            <a:off x="10668000" y="6477000"/>
            <a:ext cx="1397000" cy="317500"/>
          </a:xfrm>
          <a:prstGeom prst="rect">
            <a:avLst/>
          </a:prstGeom>
          <a:noFill/>
        </p:spPr>
        <p:txBody>
          <a:bodyPr wrap="none">
            <a:spAutoFit/>
          </a:bodyPr>
          <a:lstStyle/>
          <a:p>
            <a:r>
              <a:rPr sz="1000"/>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テキストLLM（汎用）概要</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主要7モデルと実運用環境</a:t>
            </a:r>
          </a:p>
          <a:p>
            <a:pPr/>
            <a:r>
              <a:rPr sz="1200"/>
              <a:t>結論：ローカル実務のボリュームゾーンは7B〜14B（4bit）。 </a:t>
            </a:r>
            <a:br/>
            <a:r>
              <a:rPr sz="1200"/>
              <a:t> 形式はGGUF（llama.cpp系）かGPU量子化（GPTQ/AWQ/EXL2）の二択が現実解です。</a:t>
            </a:r>
          </a:p>
          <a:p>
            <a:pPr/>
            <a:r>
              <a:rPr sz="1200"/>
              <a:t>代表モデル群（要点）</a:t>
            </a:r>
          </a:p>
          <a:p>
            <a:pPr/>
            <a:r>
              <a:rPr sz="1200"/>
              <a:t>Llama 3.1 Instruct: 8B/70B/405B系。多言語対話最適化を明記。</a:t>
            </a:r>
          </a:p>
          <a:p>
            <a:pPr/>
            <a:r>
              <a:rPr sz="1200"/>
              <a:t>[29-31]</a:t>
            </a:r>
          </a:p>
          <a:p>
            <a:pPr/>
            <a:r>
              <a:rPr sz="1200"/>
              <a:t>Qwen2.5 Instruct: 0.5〜72B。幅広いサイズ展開と高性能。</a:t>
            </a:r>
          </a:p>
          <a:p>
            <a:pPr/>
            <a:r>
              <a:rPr sz="1200"/>
              <a:t>[32-33]</a:t>
            </a:r>
          </a:p>
          <a:p>
            <a:pPr/>
            <a:r>
              <a:rPr sz="1200"/>
              <a:t>Gemma 2: 2B/9B/27B。9Bがローカル向き。責任ある利用を明示。</a:t>
            </a:r>
          </a:p>
        </p:txBody>
      </p:sp>
      <p:sp>
        <p:nvSpPr>
          <p:cNvPr id="4" name="TextBox 3"/>
          <p:cNvSpPr txBox="1"/>
          <p:nvPr/>
        </p:nvSpPr>
        <p:spPr>
          <a:xfrm>
            <a:off x="10668000" y="6477000"/>
            <a:ext cx="1397000" cy="317500"/>
          </a:xfrm>
          <a:prstGeom prst="rect">
            <a:avLst/>
          </a:prstGeom>
          <a:noFill/>
        </p:spPr>
        <p:txBody>
          <a:bodyPr wrap="none">
            <a:spAutoFit/>
          </a:bodyPr>
          <a:lstStyle/>
          <a:p>
            <a:r>
              <a:rPr sz="1000"/>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テキストLLM（完全版表1）</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主要モデル詳細比較：Llama 3.1 / Qwen2.5 / Gemma 2 / Mixtral</a:t>
            </a:r>
          </a:p>
          <a:p>
            <a:pPr/>
            <a:r>
              <a:rPr sz="1200"/>
              <a:t>採用判断の要点：ローカル実務のボリュームゾーンは7B〜14B級（4bit）です。3B級はハード制約時、32B以上は高品質要件時（メモリ増設前提）に選択します。ライセンスはファミリー内でも異なる場合があるため、必ず最新のモデルカードを確認してください。</a:t>
            </a:r>
          </a:p>
          <a:p>
            <a:pPr/>
            <a:r>
              <a:rPr sz="1200"/>
              <a:t>Page 18 | ローカルAI 技術調査レポート 2026</a:t>
            </a:r>
          </a:p>
          <a:p>
            <a:pPr/>
            <a:r>
              <a:rPr sz="1200"/>
              <a:t>Data Source: Technical Survey Report [29-37]</a:t>
            </a:r>
          </a:p>
        </p:txBody>
      </p:sp>
      <p:sp>
        <p:nvSpPr>
          <p:cNvPr id="4" name="TextBox 3"/>
          <p:cNvSpPr txBox="1"/>
          <p:nvPr/>
        </p:nvSpPr>
        <p:spPr>
          <a:xfrm>
            <a:off x="10668000" y="6477000"/>
            <a:ext cx="1397000" cy="317500"/>
          </a:xfrm>
          <a:prstGeom prst="rect">
            <a:avLst/>
          </a:prstGeom>
          <a:noFill/>
        </p:spPr>
        <p:txBody>
          <a:bodyPr wrap="none">
            <a:spAutoFit/>
          </a:bodyPr>
          <a:lstStyle/>
          <a:p>
            <a:r>
              <a:rPr sz="1000"/>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テキストLLM（完全版表2）</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主要モデル詳細比較：Phi-3 Mini / Phi-4 / gpt-oss</a:t>
            </a:r>
          </a:p>
          <a:p>
            <a:pPr/>
            <a:r>
              <a:rPr sz="1200"/>
              <a:t>採用判断の要点：14Bクラス（Phi-4等）はローカル運用の「上位実用ライン」であり、32GB以上のメモリ環境が推奨されます。長文コンテキスト（128K等）を活用する場合は、モデルサイズだけでなくKVキャッシュのメモリ消費が支配的になるため、メモリ設計（KV量子化やコンテキスト長制限）が不可欠です。</a:t>
            </a:r>
          </a:p>
          <a:p>
            <a:pPr/>
            <a:r>
              <a:rPr sz="1200"/>
              <a:t>Page 19 | ローカルAI 技術調査レポート 2026</a:t>
            </a:r>
          </a:p>
          <a:p>
            <a:pPr/>
            <a:r>
              <a:rPr sz="1200"/>
              <a:t>Data Source: Technical Survey Report [38-41]</a:t>
            </a:r>
          </a:p>
        </p:txBody>
      </p:sp>
      <p:sp>
        <p:nvSpPr>
          <p:cNvPr id="4" name="TextBox 3"/>
          <p:cNvSpPr txBox="1"/>
          <p:nvPr/>
        </p:nvSpPr>
        <p:spPr>
          <a:xfrm>
            <a:off x="10668000" y="6477000"/>
            <a:ext cx="1397000" cy="317500"/>
          </a:xfrm>
          <a:prstGeom prst="rect">
            <a:avLst/>
          </a:prstGeom>
          <a:noFill/>
        </p:spPr>
        <p:txBody>
          <a:bodyPr wrap="none">
            <a:spAutoFit/>
          </a:bodyPr>
          <a:lstStyle/>
          <a:p>
            <a:r>
              <a:rPr sz="1000"/>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採用判断基準（テキストLLM）</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選定フローと実務上の重要ポイント</a:t>
            </a:r>
          </a:p>
          <a:p>
            <a:pPr/>
            <a:r>
              <a:rPr sz="1200"/>
              <a:t>結論：モデル選定は「必要品質→許容レイテンシ→許容メモリ→形式→ランタイム」の順に行うのが、実務上最も破綻しにくいフローです。</a:t>
            </a:r>
          </a:p>
          <a:p>
            <a:pPr/>
            <a:r>
              <a:rPr sz="1200"/>
              <a:t>実務の現実ライン</a:t>
            </a:r>
          </a:p>
          <a:p>
            <a:pPr/>
            <a:r>
              <a:rPr sz="1200"/>
              <a:t>7B〜14Bがボリュームゾーン</a:t>
            </a:r>
            <a:br/>
            <a:r>
              <a:rPr sz="1200"/>
              <a:t> 一般業務やRAGにおいて、品質と速度のバランスが良いスイートスポット。</a:t>
            </a:r>
          </a:p>
          <a:p>
            <a:pPr/>
            <a:r>
              <a:rPr sz="1200"/>
              <a:t>3B級はハード制約モード</a:t>
            </a:r>
            <a:br/>
            <a:r>
              <a:rPr sz="1200"/>
              <a:t> メモリ不足時のフォールバックや、抽出特化タスクで使い分ける。</a:t>
            </a:r>
          </a:p>
          <a:p>
            <a:pPr/>
            <a:r>
              <a:rPr sz="1200"/>
              <a:t>形式とライセンス</a:t>
            </a:r>
          </a:p>
          <a:p>
            <a:pPr/>
            <a:r>
              <a:rPr sz="1200"/>
              <a:t>形式先行は詰まりやすい</a:t>
            </a:r>
            <a:br/>
            <a:r>
              <a:rPr sz="1200"/>
              <a:t> ランタイム（例: LM Studio使いたい）から入ると形式制約で選択肢が狭まるため逆順推奨。</a:t>
            </a:r>
          </a:p>
          <a:p>
            <a:pPr/>
            <a:r>
              <a:rPr sz="1200"/>
              <a:t>ライセンスの個別確認</a:t>
            </a:r>
            <a:br/>
            <a:r>
              <a:rPr sz="1200"/>
              <a:t> Qwen2.5等、同ファミリー内でもサイズにより条件が異なる例外あり。</a:t>
            </a:r>
          </a:p>
        </p:txBody>
      </p:sp>
      <p:sp>
        <p:nvSpPr>
          <p:cNvPr id="4" name="TextBox 3"/>
          <p:cNvSpPr txBox="1"/>
          <p:nvPr/>
        </p:nvSpPr>
        <p:spPr>
          <a:xfrm>
            <a:off x="10668000" y="6477000"/>
            <a:ext cx="1397000" cy="317500"/>
          </a:xfrm>
          <a:prstGeom prst="rect">
            <a:avLst/>
          </a:prstGeom>
          <a:noFill/>
        </p:spPr>
        <p:txBody>
          <a:bodyPr wrap="none">
            <a:spAutoFit/>
          </a:bodyPr>
          <a:lstStyle/>
          <a:p>
            <a:r>
              <a:rPr sz="1000"/>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VLM/LMM 概要（画像理解・マルチモーダル）</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カテゴリ別モデルカタログ</a:t>
            </a:r>
          </a:p>
          <a:p>
            <a:pPr/>
            <a:r>
              <a:rPr sz="1200"/>
              <a:t>結論：ローカル運用の現実ラインは2B/7B級が中心。 </a:t>
            </a:r>
            <a:br/>
            <a:r>
              <a:rPr sz="1200"/>
              <a:t> 画像トークン化の前処理依存が強く、ランタイムの明示サポートが重要です。</a:t>
            </a:r>
          </a:p>
          <a:p>
            <a:pPr/>
            <a:r>
              <a:rPr sz="1200"/>
              <a:t>代表モデルと特徴</a:t>
            </a:r>
          </a:p>
          <a:p>
            <a:pPr/>
            <a:r>
              <a:rPr sz="1200"/>
              <a:t>Qwen2-VL (2B/7B/72B)</a:t>
            </a:r>
          </a:p>
          <a:p>
            <a:pPr/>
            <a:r>
              <a:rPr sz="1200"/>
              <a:t>[42]</a:t>
            </a:r>
          </a:p>
          <a:p>
            <a:pPr/>
            <a:r>
              <a:rPr sz="1200"/>
              <a:t>ローカル現実ラインの主力。2B/7Bが実用的。72Bは上位ハード（96GB+）前提。</a:t>
            </a:r>
          </a:p>
          <a:p>
            <a:pPr/>
            <a:r>
              <a:rPr sz="1200"/>
              <a:t>Phi-3-Vision (128K)</a:t>
            </a:r>
          </a:p>
          <a:p>
            <a:pPr/>
            <a:r>
              <a:rPr sz="1200"/>
              <a:t>[43]</a:t>
            </a:r>
          </a:p>
        </p:txBody>
      </p:sp>
      <p:sp>
        <p:nvSpPr>
          <p:cNvPr id="4" name="TextBox 3"/>
          <p:cNvSpPr txBox="1"/>
          <p:nvPr/>
        </p:nvSpPr>
        <p:spPr>
          <a:xfrm>
            <a:off x="10668000" y="6477000"/>
            <a:ext cx="1397000" cy="317500"/>
          </a:xfrm>
          <a:prstGeom prst="rect">
            <a:avLst/>
          </a:prstGeom>
          <a:noFill/>
        </p:spPr>
        <p:txBody>
          <a:bodyPr wrap="none">
            <a:spAutoFit/>
          </a:bodyPr>
          <a:lstStyle/>
          <a:p>
            <a:r>
              <a:rPr sz="1000"/>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VLM/LMM（完全版表）</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Qwen2-VL / Phi-3-Vision / InternVL2 / LLaVA 詳細比較</a:t>
            </a:r>
          </a:p>
          <a:p>
            <a:pPr/>
            <a:r>
              <a:rPr sz="1200"/>
              <a:t>採用判断の要点：画像理解はテキストLLMより前処理・プロセッサ依存が強いため、「ランタイムがそのモデルを明示サポートしているか」を一次確認してください（例：MLX-VLMがQwen2-VLのコマンド提示）。72B級はローカルでは上位機（96GB+等）が必要で、現実は2B/7B級で設計します。</a:t>
            </a:r>
          </a:p>
          <a:p>
            <a:pPr/>
            <a:r>
              <a:rPr sz="1200"/>
              <a:t>Page 22 | ローカルAI 技術調査レポート 2026</a:t>
            </a:r>
          </a:p>
          <a:p>
            <a:pPr/>
            <a:r>
              <a:rPr sz="1200"/>
              <a:t>Data Source: Technical Survey Report [28, 42-47]</a:t>
            </a:r>
          </a:p>
        </p:txBody>
      </p:sp>
      <p:sp>
        <p:nvSpPr>
          <p:cNvPr id="4" name="TextBox 3"/>
          <p:cNvSpPr txBox="1"/>
          <p:nvPr/>
        </p:nvSpPr>
        <p:spPr>
          <a:xfrm>
            <a:off x="10668000" y="6477000"/>
            <a:ext cx="1397000" cy="317500"/>
          </a:xfrm>
          <a:prstGeom prst="rect">
            <a:avLst/>
          </a:prstGeom>
          <a:noFill/>
        </p:spPr>
        <p:txBody>
          <a:bodyPr wrap="none">
            <a:spAutoFit/>
          </a:bodyPr>
          <a:lstStyle/>
          <a:p>
            <a:r>
              <a:rPr sz="1000"/>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採用判断基準（VLM/LMM）</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ランタイム適合性と運用設計</a:t>
            </a:r>
          </a:p>
          <a:p>
            <a:pPr/>
            <a:r>
              <a:rPr sz="1200"/>
              <a:t>結論：画像理解は前処理・プロセッサ依存が強いため、「ランタイムの明示サポート確認」が最優先です。2B/7B級を基本とし、不足分をRAG/OCRで補うのが安全策です。</a:t>
            </a:r>
          </a:p>
          <a:p>
            <a:pPr/>
            <a:r>
              <a:rPr sz="1200"/>
              <a:t>ランタイム適合性</a:t>
            </a:r>
          </a:p>
          <a:p>
            <a:pPr/>
            <a:r>
              <a:rPr sz="1200"/>
              <a:t>一次情報の確認</a:t>
            </a:r>
            <a:br/>
            <a:r>
              <a:rPr sz="1200"/>
              <a:t> ランタイムがモデルを明示サポートしているか確認が安全（例: MLX-VLMのQwen2-VL対応コマンド提示）。</a:t>
            </a:r>
          </a:p>
          <a:p>
            <a:pPr/>
            <a:r>
              <a:rPr sz="1200"/>
              <a:t>プロセッサ依存性</a:t>
            </a:r>
            <a:br/>
            <a:r>
              <a:rPr sz="1200"/>
              <a:t> テキストLLMより前処理（画像トークン化）の依存が強く、変換ミスが起きやすい。</a:t>
            </a:r>
          </a:p>
          <a:p>
            <a:pPr/>
            <a:r>
              <a:rPr sz="1200"/>
              <a:t>運用設計（2B/7B級）</a:t>
            </a:r>
          </a:p>
          <a:p>
            <a:pPr/>
            <a:r>
              <a:rPr sz="1200"/>
              <a:t>現実的なライン</a:t>
            </a:r>
            <a:br/>
            <a:r>
              <a:rPr sz="1200"/>
              <a:t> 72B級は96GB+メモリや複数GPUが必要なため、実務では2B/7B級での運用設計に寄せる。</a:t>
            </a:r>
          </a:p>
          <a:p>
            <a:pPr/>
            <a:r>
              <a:rPr sz="1200"/>
              <a:t>視覚トークン制御</a:t>
            </a:r>
            <a:br/>
            <a:r>
              <a:rPr sz="1200"/>
              <a:t> 長文・多画像時はKV支配とトークン肥大に注意。max-pixels/マルチ画像数を制御する。</a:t>
            </a:r>
          </a:p>
        </p:txBody>
      </p:sp>
      <p:sp>
        <p:nvSpPr>
          <p:cNvPr id="4" name="TextBox 3"/>
          <p:cNvSpPr txBox="1"/>
          <p:nvPr/>
        </p:nvSpPr>
        <p:spPr>
          <a:xfrm>
            <a:off x="10668000" y="6477000"/>
            <a:ext cx="1397000" cy="317500"/>
          </a:xfrm>
          <a:prstGeom prst="rect">
            <a:avLst/>
          </a:prstGeom>
          <a:noFill/>
        </p:spPr>
        <p:txBody>
          <a:bodyPr wrap="none">
            <a:spAutoFit/>
          </a:bodyPr>
          <a:lstStyle/>
          <a:p>
            <a:r>
              <a:rPr sz="1000"/>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ASR（音声認識）概要</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カテゴリ別モデルカタログ</a:t>
            </a:r>
          </a:p>
          <a:p>
            <a:pPr/>
            <a:r>
              <a:rPr sz="1200"/>
              <a:t>結論：ローカルASRは「RTF・メモリ・誤転記」の同時最適化が必須。</a:t>
            </a:r>
            <a:br/>
            <a:r>
              <a:rPr sz="1200"/>
              <a:t>faster-whisperを基準実装とし、速度と精度（幻覚抑制）のバランスを図ります。</a:t>
            </a:r>
          </a:p>
          <a:p>
            <a:pPr/>
            <a:r>
              <a:rPr sz="1200"/>
              <a:t>Whisper系実装の比較</a:t>
            </a:r>
          </a:p>
          <a:p>
            <a:pPr/>
            <a:r>
              <a:rPr sz="1200"/>
              <a:t>主な技術要素:</a:t>
            </a:r>
          </a:p>
          <a:p>
            <a:pPr/>
            <a:r>
              <a:rPr sz="1200"/>
              <a:t>CTranslate2</a:t>
            </a:r>
          </a:p>
          <a:p>
            <a:pPr/>
            <a:r>
              <a:rPr sz="1200"/>
              <a:t>VAD Integration</a:t>
            </a:r>
          </a:p>
          <a:p>
            <a:pPr/>
            <a:r>
              <a:rPr sz="1200"/>
              <a:t>INT8 Quantization</a:t>
            </a:r>
          </a:p>
          <a:p>
            <a:pPr/>
            <a:r>
              <a:rPr sz="1200"/>
              <a:t>Beam Search</a:t>
            </a:r>
          </a:p>
        </p:txBody>
      </p:sp>
      <p:sp>
        <p:nvSpPr>
          <p:cNvPr id="4" name="TextBox 3"/>
          <p:cNvSpPr txBox="1"/>
          <p:nvPr/>
        </p:nvSpPr>
        <p:spPr>
          <a:xfrm>
            <a:off x="10668000" y="6477000"/>
            <a:ext cx="1397000" cy="317500"/>
          </a:xfrm>
          <a:prstGeom prst="rect">
            <a:avLst/>
          </a:prstGeom>
          <a:noFill/>
        </p:spPr>
        <p:txBody>
          <a:bodyPr wrap="none">
            <a:spAutoFit/>
          </a:bodyPr>
          <a:lstStyle/>
          <a:p>
            <a:r>
              <a:rPr sz="1000"/>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ASR（完全版表）</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主要モデル・方式比較：Whisper / faster-whisper / whisper.cpp</a:t>
            </a:r>
          </a:p>
          <a:p>
            <a:pPr/>
            <a:r>
              <a:rPr sz="1200"/>
              <a:t>採用判断の要点：ローカルASRは「RTF（実時間比）」「メモリ」「誤転記リスク」の3要素を同時に満たす必要があります。faster-whisperは速度・メモリ面での利点を明示しているため、まずはこれを基準実装として検証し、要件に応じてGPU化やモデルサイズの調整を行うのが合理的です。</a:t>
            </a:r>
          </a:p>
          <a:p>
            <a:pPr/>
            <a:r>
              <a:rPr sz="1200"/>
              <a:t>Page 25 | ローカルAI 技術調査レポート 2026</a:t>
            </a:r>
          </a:p>
          <a:p>
            <a:pPr/>
            <a:r>
              <a:rPr sz="1200"/>
              <a:t>Data Source: Technical Survey Report [48-51]</a:t>
            </a:r>
          </a:p>
        </p:txBody>
      </p:sp>
      <p:sp>
        <p:nvSpPr>
          <p:cNvPr id="4" name="TextBox 3"/>
          <p:cNvSpPr txBox="1"/>
          <p:nvPr/>
        </p:nvSpPr>
        <p:spPr>
          <a:xfrm>
            <a:off x="10668000" y="6477000"/>
            <a:ext cx="1397000" cy="317500"/>
          </a:xfrm>
          <a:prstGeom prst="rect">
            <a:avLst/>
          </a:prstGeom>
          <a:noFill/>
        </p:spPr>
        <p:txBody>
          <a:bodyPr wrap="none">
            <a:spAutoFit/>
          </a:bodyPr>
          <a:lstStyle/>
          <a:p>
            <a:r>
              <a:rPr sz="1000"/>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採用判断基準（ASR）</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RTF要件と誤転記リスクに基づく選定フロー</a:t>
            </a:r>
          </a:p>
          <a:p>
            <a:pPr/>
            <a:r>
              <a:rPr sz="1200"/>
              <a:t>結論：faster-whisperを基準実装とし、RTF要件・誤転記リスクに応じてGPU化やモデル拡大を検討する段階的最適化が合理的です。</a:t>
            </a:r>
          </a:p>
          <a:p>
            <a:pPr/>
            <a:r>
              <a:rPr sz="1200"/>
              <a:t>前処理の固定</a:t>
            </a:r>
          </a:p>
          <a:p>
            <a:pPr/>
            <a:r>
              <a:rPr sz="1200"/>
              <a:t>VAD設定の統一</a:t>
            </a:r>
            <a:br/>
            <a:r>
              <a:rPr sz="1200"/>
              <a:t> 無音区間の除去は認識精度と速度に直結するため、Silero VAD等の設定を固定し再現性を担保する。</a:t>
            </a:r>
          </a:p>
          <a:p>
            <a:pPr/>
            <a:r>
              <a:rPr sz="1200"/>
              <a:t>ベンチマーク条件</a:t>
            </a:r>
            <a:br/>
            <a:r>
              <a:rPr sz="1200"/>
              <a:t> 同一音声・同一前処理での比較が必須（後章のベンチ設計参照）。</a:t>
            </a:r>
          </a:p>
          <a:p>
            <a:pPr/>
            <a:r>
              <a:rPr sz="1200"/>
              <a:t>会議用途の要点</a:t>
            </a:r>
          </a:p>
          <a:p>
            <a:pPr/>
            <a:r>
              <a:rPr sz="1200"/>
              <a:t>話者分離が品質の土台</a:t>
            </a:r>
            <a:br/>
            <a:r>
              <a:rPr sz="1200"/>
              <a:t> pyannote.audio等の話者分離（Diarization）精度が議事録の質を左右する。</a:t>
            </a:r>
          </a:p>
          <a:p>
            <a:pPr/>
            <a:r>
              <a:rPr sz="1200"/>
              <a:t>無音除去の設計</a:t>
            </a:r>
            <a:br/>
            <a:r>
              <a:rPr sz="1200"/>
              <a:t> 幻覚（無音区間にテキストが入る現象）を防ぐため、VADによる無音区間の破棄を徹底する。</a:t>
            </a:r>
          </a:p>
        </p:txBody>
      </p:sp>
      <p:sp>
        <p:nvSpPr>
          <p:cNvPr id="4" name="TextBox 3"/>
          <p:cNvSpPr txBox="1"/>
          <p:nvPr/>
        </p:nvSpPr>
        <p:spPr>
          <a:xfrm>
            <a:off x="10668000" y="6477000"/>
            <a:ext cx="1397000" cy="317500"/>
          </a:xfrm>
          <a:prstGeom prst="rect">
            <a:avLst/>
          </a:prstGeom>
          <a:noFill/>
        </p:spPr>
        <p:txBody>
          <a:bodyPr wrap="none">
            <a:spAutoFit/>
          </a:bodyPr>
          <a:lstStyle/>
          <a:p>
            <a:r>
              <a:rPr sz="1000"/>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TTS（音声合成）概要</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読み上げと音声クローンの分離設計</a:t>
            </a:r>
          </a:p>
          <a:p>
            <a:pPr/>
            <a:r>
              <a:rPr sz="1200"/>
              <a:t>結論：「読み上げ」は軽量モデル（Piper/Kokoro）で常駐化し、 </a:t>
            </a:r>
            <a:br/>
            <a:r>
              <a:rPr sz="1200"/>
              <a:t> 「音声クローン」は高品質モデル（XTTS/StyleTTS2）で分離設計します。</a:t>
            </a:r>
          </a:p>
          <a:p>
            <a:pPr/>
            <a:r>
              <a:rPr sz="1200"/>
              <a:t>代表システムと特徴</a:t>
            </a:r>
          </a:p>
          <a:p>
            <a:pPr/>
            <a:r>
              <a:rPr sz="1200"/>
              <a:t>Piper: "fast, local neural TTS"を標榜。省リソース・常駐向き。</a:t>
            </a:r>
          </a:p>
          <a:p>
            <a:pPr/>
            <a:r>
              <a:rPr sz="1200"/>
              <a:t>[52]</a:t>
            </a:r>
          </a:p>
          <a:p>
            <a:pPr/>
            <a:r>
              <a:rPr sz="1200"/>
              <a:t>Kokoro: 82Mパラメータで高品質・高効率。</a:t>
            </a:r>
          </a:p>
          <a:p>
            <a:pPr/>
            <a:r>
              <a:rPr sz="1200"/>
              <a:t>[53]</a:t>
            </a:r>
          </a:p>
          <a:p>
            <a:pPr/>
            <a:r>
              <a:rPr sz="1200"/>
              <a:t>XTTS-v2: 数秒の参照音声で多言語クローンが可能。</a:t>
            </a:r>
          </a:p>
        </p:txBody>
      </p:sp>
      <p:sp>
        <p:nvSpPr>
          <p:cNvPr id="4" name="TextBox 3"/>
          <p:cNvSpPr txBox="1"/>
          <p:nvPr/>
        </p:nvSpPr>
        <p:spPr>
          <a:xfrm>
            <a:off x="10668000" y="6477000"/>
            <a:ext cx="1397000" cy="317500"/>
          </a:xfrm>
          <a:prstGeom prst="rect">
            <a:avLst/>
          </a:prstGeom>
          <a:noFill/>
        </p:spPr>
        <p:txBody>
          <a:bodyPr wrap="none">
            <a:spAutoFit/>
          </a:bodyPr>
          <a:lstStyle/>
          <a:p>
            <a:r>
              <a:rPr sz="1000"/>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TTS（完全版表）</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主要モデル詳細比較：Piper / Kokoro / XTTS-v2 / StyleTTS2</a:t>
            </a:r>
          </a:p>
          <a:p>
            <a:pPr/>
            <a:r>
              <a:rPr sz="1200"/>
              <a:t>採用判断の要点：「読み上げ（通知・要約）」と「クローン（本人声）」は別物として分離設計します。前者はPiper/Kokoroのような軽量系、後者はXTTS等で、法務・倫理リスク管理を別レイヤに置きます。</a:t>
            </a:r>
          </a:p>
          <a:p>
            <a:pPr/>
            <a:r>
              <a:rPr sz="1200"/>
              <a:t>[56]</a:t>
            </a:r>
          </a:p>
          <a:p>
            <a:pPr/>
            <a:r>
              <a:rPr sz="1200"/>
              <a:t>Page 28 | ローカルAI 技術調査レポート 2026</a:t>
            </a:r>
          </a:p>
          <a:p>
            <a:pPr/>
            <a:r>
              <a:rPr sz="1200"/>
              <a:t>Data Source: Technical Survey Report [52-56]</a:t>
            </a:r>
          </a:p>
        </p:txBody>
      </p:sp>
      <p:sp>
        <p:nvSpPr>
          <p:cNvPr id="4" name="TextBox 3"/>
          <p:cNvSpPr txBox="1"/>
          <p:nvPr/>
        </p:nvSpPr>
        <p:spPr>
          <a:xfrm>
            <a:off x="10668000" y="6477000"/>
            <a:ext cx="1397000" cy="317500"/>
          </a:xfrm>
          <a:prstGeom prst="rect">
            <a:avLst/>
          </a:prstGeom>
          <a:noFill/>
        </p:spPr>
        <p:txBody>
          <a:bodyPr wrap="none">
            <a:spAutoFit/>
          </a:bodyPr>
          <a:lstStyle/>
          <a:p>
            <a:r>
              <a:rPr sz="1000"/>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採用判断基準（TTS）</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品質・コスト・リスクの分離管理</a:t>
            </a:r>
          </a:p>
          <a:p>
            <a:pPr/>
            <a:r>
              <a:rPr sz="1200"/>
              <a:t>結論：「読み上げ（通知・要約）」と「クローン（本人声）」は別レイヤで運用すべきです。前者は軽量化し、後者は法務・倫理リスクを管理します。</a:t>
            </a:r>
          </a:p>
          <a:p>
            <a:pPr/>
            <a:r>
              <a:rPr sz="1200"/>
              <a:t>分離運用（Layered）</a:t>
            </a:r>
          </a:p>
          <a:p>
            <a:pPr/>
            <a:r>
              <a:rPr sz="1200"/>
              <a:t>軽量TTSの常駐</a:t>
            </a:r>
            <a:br/>
            <a:r>
              <a:rPr sz="1200"/>
              <a:t> 通知・要約読み上げはPiper/Kokoro等で省リソース化し、システムに常駐させる。</a:t>
            </a:r>
          </a:p>
          <a:p>
            <a:pPr/>
            <a:r>
              <a:rPr sz="1200"/>
              <a:t>クローンは別系統</a:t>
            </a:r>
            <a:br/>
            <a:r>
              <a:rPr sz="1200"/>
              <a:t> XTTS等はGPUリソースを消費するため、必要な時のみ呼び出す別サービスとして切り出す。</a:t>
            </a:r>
          </a:p>
          <a:p>
            <a:pPr/>
            <a:r>
              <a:rPr sz="1200"/>
              <a:t>リスク・コンプライアンス</a:t>
            </a:r>
          </a:p>
          <a:p>
            <a:pPr/>
            <a:r>
              <a:rPr sz="1200"/>
              <a:t>権利同意の必須化</a:t>
            </a:r>
            <a:br/>
            <a:r>
              <a:rPr sz="1200"/>
              <a:t> 音声クローンは法務・倫理リスクが高い。業務利用時は対象者の書面同意をプロセス化する。</a:t>
            </a:r>
          </a:p>
          <a:p>
            <a:pPr/>
            <a:r>
              <a:rPr sz="1200"/>
              <a:t>ログ監査</a:t>
            </a:r>
            <a:br/>
            <a:r>
              <a:rPr sz="1200"/>
              <a:t> 「誰が・いつ・何を」生成したかのログを保存し、不正利用を追跡可能にする。</a:t>
            </a:r>
          </a:p>
        </p:txBody>
      </p:sp>
      <p:sp>
        <p:nvSpPr>
          <p:cNvPr id="4" name="TextBox 3"/>
          <p:cNvSpPr txBox="1"/>
          <p:nvPr/>
        </p:nvSpPr>
        <p:spPr>
          <a:xfrm>
            <a:off x="10668000" y="6477000"/>
            <a:ext cx="1397000" cy="317500"/>
          </a:xfrm>
          <a:prstGeom prst="rect">
            <a:avLst/>
          </a:prstGeom>
          <a:noFill/>
        </p:spPr>
        <p:txBody>
          <a:bodyPr wrap="none">
            <a:spAutoFit/>
          </a:bodyPr>
          <a:lstStyle/>
          <a:p>
            <a:r>
              <a:rPr sz="1000"/>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Embedding / Reranker 概要</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検索・RAG基盤モデル</a:t>
            </a:r>
          </a:p>
          <a:p>
            <a:pPr/>
            <a:r>
              <a:rPr sz="1200"/>
              <a:t>結論：RAGシステムの品質上限はEmbeddingの検索精度で決まります。 </a:t>
            </a:r>
            <a:br/>
            <a:r>
              <a:rPr sz="1200"/>
              <a:t> まずBGE-M3等でRecallを確保し、RerankerでPrecisionを向上させる二段構えが定石です。</a:t>
            </a:r>
          </a:p>
          <a:p>
            <a:pPr/>
            <a:r>
              <a:rPr sz="1200"/>
              <a:t>Embedding (ベクトル検索)</a:t>
            </a:r>
          </a:p>
          <a:p>
            <a:pPr/>
            <a:r>
              <a:rPr sz="1200"/>
              <a:t>Retrieval</a:t>
            </a:r>
          </a:p>
          <a:p>
            <a:pPr/>
            <a:r>
              <a:rPr sz="1200"/>
              <a:t>Vector DB</a:t>
            </a:r>
          </a:p>
          <a:p>
            <a:pPr/>
            <a:r>
              <a:rPr sz="1200"/>
              <a:t>Multi-Functionality / Multi-Linguality / Multi-Granularityを特徴とし、多言語・多用途で強力なベースラインとなります。</a:t>
            </a:r>
          </a:p>
          <a:p>
            <a:pPr/>
            <a:r>
              <a:rPr sz="1200"/>
              <a:t>[58]</a:t>
            </a:r>
          </a:p>
          <a:p>
            <a:pPr/>
            <a:r>
              <a:rPr sz="1200"/>
              <a:t>多言語検索の定番モデル。日本語を含む多言語環境での実績が豊富です。</a:t>
            </a:r>
          </a:p>
        </p:txBody>
      </p:sp>
      <p:sp>
        <p:nvSpPr>
          <p:cNvPr id="4" name="TextBox 3"/>
          <p:cNvSpPr txBox="1"/>
          <p:nvPr/>
        </p:nvSpPr>
        <p:spPr>
          <a:xfrm>
            <a:off x="10668000" y="6477000"/>
            <a:ext cx="1397000" cy="317500"/>
          </a:xfrm>
          <a:prstGeom prst="rect">
            <a:avLst/>
          </a:prstGeom>
          <a:noFill/>
        </p:spPr>
        <p:txBody>
          <a:bodyPr wrap="none">
            <a:spAutoFit/>
          </a:bodyPr>
          <a:lstStyle/>
          <a:p>
            <a:r>
              <a:rPr sz="1000"/>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Embedding/Reranker（完全版表）</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検索・RAG基盤：BGE-M3 / multilingual-e5 / bge-reranker</a:t>
            </a:r>
          </a:p>
          <a:p>
            <a:pPr/>
            <a:r>
              <a:rPr sz="1200"/>
              <a:t>採用判断の要点：RAGの失敗の多くは「検索外れ」「上位が弱い」「文脈過多」です。EmbeddingでRecallを確保し、rerankerでPrecisionを上げる二段構えが実務的推奨です。ローカル運用では、Embeddingの前計算（夜間バッチ）により実時間の負荷をLLM応答に集中させる設計が有効です。</a:t>
            </a:r>
          </a:p>
          <a:p>
            <a:pPr/>
            <a:r>
              <a:rPr sz="1200"/>
              <a:t>Page 31 | ローカルAI 技術調査レポート 2026</a:t>
            </a:r>
          </a:p>
          <a:p>
            <a:pPr/>
            <a:r>
              <a:rPr sz="1200"/>
              <a:t>Data Source: Technical Survey Report [58-62]</a:t>
            </a:r>
          </a:p>
        </p:txBody>
      </p:sp>
      <p:sp>
        <p:nvSpPr>
          <p:cNvPr id="4" name="TextBox 3"/>
          <p:cNvSpPr txBox="1"/>
          <p:nvPr/>
        </p:nvSpPr>
        <p:spPr>
          <a:xfrm>
            <a:off x="10668000" y="6477000"/>
            <a:ext cx="1397000" cy="317500"/>
          </a:xfrm>
          <a:prstGeom prst="rect">
            <a:avLst/>
          </a:prstGeom>
          <a:noFill/>
        </p:spPr>
        <p:txBody>
          <a:bodyPr wrap="none">
            <a:spAutoFit/>
          </a:bodyPr>
          <a:lstStyle/>
          <a:p>
            <a:r>
              <a:rPr sz="1000"/>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採用判断基準（Embedding / Reranker）</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検索精度と運用安定化のための二段構え設計</a:t>
            </a:r>
          </a:p>
          <a:p>
            <a:pPr/>
            <a:r>
              <a:rPr sz="1200"/>
              <a:t>結論：Embeddingで網羅性(Recall)を確保し、Rerankerで精度(Precision)を上げる「二段構え」が実務的な最適解です。</a:t>
            </a:r>
          </a:p>
          <a:p>
            <a:pPr/>
            <a:r>
              <a:rPr sz="1200"/>
              <a:t>運用の安定化</a:t>
            </a:r>
          </a:p>
          <a:p>
            <a:pPr/>
            <a:r>
              <a:rPr sz="1200"/>
              <a:t>前計算（夜間バッチ）</a:t>
            </a:r>
            <a:br/>
            <a:r>
              <a:rPr sz="1200"/>
              <a:t> 検索対象文書のEmbedding化やOCR処理は夜間にバッチ実行し、日中の計算資源をLLMの応答生成に集中させる。</a:t>
            </a:r>
          </a:p>
          <a:p>
            <a:pPr/>
            <a:r>
              <a:rPr sz="1200"/>
              <a:t>インデックス更新</a:t>
            </a:r>
            <a:br/>
            <a:r>
              <a:rPr sz="1200"/>
              <a:t> 頻繁な更新が必要ない場合は、静的インデックスとして管理し、運用負荷を下げる。</a:t>
            </a:r>
          </a:p>
          <a:p>
            <a:pPr/>
            <a:r>
              <a:rPr sz="1200"/>
              <a:t>失敗パターンと回避策</a:t>
            </a:r>
          </a:p>
          <a:p>
            <a:pPr/>
            <a:r>
              <a:rPr sz="1200"/>
              <a:t>検索が外れる（Recall不足）</a:t>
            </a:r>
            <a:br/>
            <a:r>
              <a:rPr sz="1200"/>
              <a:t> 回避策：文書の前処理（チャンク分割）を見直す、またはHybrid検索（キーワード検索併用）を導入する。</a:t>
            </a:r>
          </a:p>
          <a:p>
            <a:pPr/>
            <a:r>
              <a:rPr sz="1200"/>
              <a:t>上位文書の関連度が弱い</a:t>
            </a:r>
            <a:br/>
            <a:r>
              <a:rPr sz="1200"/>
              <a:t> 回避策：Rerankerを導入して上位の並び順を補正し、LLMに渡すノイズを減らす。</a:t>
            </a:r>
          </a:p>
        </p:txBody>
      </p:sp>
      <p:sp>
        <p:nvSpPr>
          <p:cNvPr id="4" name="TextBox 3"/>
          <p:cNvSpPr txBox="1"/>
          <p:nvPr/>
        </p:nvSpPr>
        <p:spPr>
          <a:xfrm>
            <a:off x="10668000" y="6477000"/>
            <a:ext cx="1397000" cy="317500"/>
          </a:xfrm>
          <a:prstGeom prst="rect">
            <a:avLst/>
          </a:prstGeom>
          <a:noFill/>
        </p:spPr>
        <p:txBody>
          <a:bodyPr wrap="none">
            <a:spAutoFit/>
          </a:bodyPr>
          <a:lstStyle/>
          <a:p>
            <a:r>
              <a:rPr sz="1000"/>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OCR / Document AI 概要</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スキャン品質と構造化要件に基づく手法選択</a:t>
            </a:r>
          </a:p>
          <a:p>
            <a:pPr/>
            <a:r>
              <a:rPr sz="1200"/>
              <a:t>結論：スキャン品質やレイアウトの複雑度に応じて、 </a:t>
            </a:r>
            <a:br/>
            <a:r>
              <a:rPr sz="1200"/>
              <a:t>古典的OCRとOCR-free（Doc理解）を使い分けるハイブリッド戦略が推奨されます。</a:t>
            </a:r>
          </a:p>
          <a:p>
            <a:pPr/>
            <a:r>
              <a:rPr sz="1200"/>
              <a:t>代表的なシステム・モデル</a:t>
            </a:r>
          </a:p>
          <a:p>
            <a:pPr/>
            <a:r>
              <a:rPr sz="1200"/>
              <a:t>Tesseract OCR</a:t>
            </a:r>
          </a:p>
          <a:p>
            <a:pPr/>
            <a:r>
              <a:rPr sz="1200"/>
              <a:t>[64]</a:t>
            </a:r>
          </a:p>
          <a:p>
            <a:pPr/>
            <a:r>
              <a:rPr sz="1200"/>
              <a:t>古典的OCR＋LSTM。単純なテキスト化のデファクトスタンダード。</a:t>
            </a:r>
          </a:p>
          <a:p>
            <a:pPr/>
            <a:r>
              <a:rPr sz="1200"/>
              <a:t>PaddleOCR</a:t>
            </a:r>
          </a:p>
          <a:p>
            <a:pPr/>
            <a:r>
              <a:rPr sz="1200"/>
              <a:t>[66]</a:t>
            </a:r>
          </a:p>
        </p:txBody>
      </p:sp>
      <p:sp>
        <p:nvSpPr>
          <p:cNvPr id="4" name="TextBox 3"/>
          <p:cNvSpPr txBox="1"/>
          <p:nvPr/>
        </p:nvSpPr>
        <p:spPr>
          <a:xfrm>
            <a:off x="10668000" y="6477000"/>
            <a:ext cx="1397000" cy="317500"/>
          </a:xfrm>
          <a:prstGeom prst="rect">
            <a:avLst/>
          </a:prstGeom>
          <a:noFill/>
        </p:spPr>
        <p:txBody>
          <a:bodyPr wrap="none">
            <a:spAutoFit/>
          </a:bodyPr>
          <a:lstStyle/>
          <a:p>
            <a:r>
              <a:rPr sz="1000"/>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OCR / Document AI（完全版表）</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主要モデル詳細比較：Tesseract / PaddleOCR / Donut / LayoutLMv3</a:t>
            </a:r>
          </a:p>
          <a:p>
            <a:pPr/>
            <a:r>
              <a:rPr sz="1200"/>
              <a:t>レイアウト保持の重要性：RAGにおいて、単なるテキスト化では図表やレイアウト構造に含まれる情報が欠落しがちです。PaddleOCRの構造化出力や、Donut/LayoutLMv3のようなDocument AIモデルを活用し、レイアウト情報を保持することが検索精度の向上に直結します。</a:t>
            </a:r>
          </a:p>
          <a:p>
            <a:pPr/>
            <a:r>
              <a:rPr sz="1200"/>
              <a:t>Page 34 | ローカルAI 技術調査レポート 2026</a:t>
            </a:r>
          </a:p>
          <a:p>
            <a:pPr/>
            <a:r>
              <a:rPr sz="1200"/>
              <a:t>Data Source: Technical Survey Report [64, 66, 68, 69]</a:t>
            </a:r>
          </a:p>
        </p:txBody>
      </p:sp>
      <p:sp>
        <p:nvSpPr>
          <p:cNvPr id="4" name="TextBox 3"/>
          <p:cNvSpPr txBox="1"/>
          <p:nvPr/>
        </p:nvSpPr>
        <p:spPr>
          <a:xfrm>
            <a:off x="10668000" y="6477000"/>
            <a:ext cx="1397000" cy="317500"/>
          </a:xfrm>
          <a:prstGeom prst="rect">
            <a:avLst/>
          </a:prstGeom>
          <a:noFill/>
        </p:spPr>
        <p:txBody>
          <a:bodyPr wrap="none">
            <a:spAutoFit/>
          </a:bodyPr>
          <a:lstStyle/>
          <a:p>
            <a:r>
              <a:rPr sz="1000"/>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OCR/Document AI採用判断基準</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リスク緩和のためのUX要件とハイブリッド構成</a:t>
            </a:r>
          </a:p>
          <a:p>
            <a:pPr/>
            <a:r>
              <a:rPr sz="1200"/>
              <a:t>結論：誤読リスクをゼロにはできない前提で、前処理の標準化と「原文引用」による人間系確認のUXを要件化します。</a:t>
            </a:r>
          </a:p>
          <a:p>
            <a:pPr/>
            <a:r>
              <a:rPr sz="1200"/>
              <a:t>前処理の標準化</a:t>
            </a:r>
          </a:p>
          <a:p>
            <a:pPr/>
            <a:r>
              <a:rPr sz="1200"/>
              <a:t>品質の下限を担保</a:t>
            </a:r>
            <a:br/>
            <a:r>
              <a:rPr sz="1200"/>
              <a:t> 傾き補正、ノイズ除去、二値化をOCR前段に固定的に組み込むことで、認識精度のベースラインを確保。</a:t>
            </a:r>
          </a:p>
          <a:p>
            <a:pPr/>
            <a:r>
              <a:rPr sz="1200"/>
              <a:t>画像の正規化</a:t>
            </a:r>
            <a:br/>
            <a:r>
              <a:rPr sz="1200"/>
              <a:t> 解像度やコントラストのバラつきを抑え、モデルの得意な入力形式に合わせる。</a:t>
            </a:r>
          </a:p>
          <a:p>
            <a:pPr/>
            <a:r>
              <a:rPr sz="1200"/>
              <a:t>高品質方針：ハイブリッド</a:t>
            </a:r>
          </a:p>
          <a:p>
            <a:pPr/>
            <a:r>
              <a:rPr sz="1200"/>
              <a:t>構造化とレイアウト保持</a:t>
            </a:r>
            <a:br/>
            <a:r>
              <a:rPr sz="1200"/>
              <a:t> PaddleOCRでテキスト構造化を行い、Donut/LayoutLMv3でレイアウト情報を保持してRAG連携精度を高める。</a:t>
            </a:r>
          </a:p>
          <a:p>
            <a:pPr/>
            <a:r>
              <a:rPr sz="1200"/>
              <a:t>図表・UIへの対応</a:t>
            </a:r>
            <a:br/>
            <a:r>
              <a:rPr sz="1200"/>
              <a:t> 複雑な図表やUIスクショはVLMとOCRを併用し、視覚情報と文字情報を相互補完させて堅牢化する。</a:t>
            </a:r>
          </a:p>
        </p:txBody>
      </p:sp>
      <p:sp>
        <p:nvSpPr>
          <p:cNvPr id="4" name="TextBox 3"/>
          <p:cNvSpPr txBox="1"/>
          <p:nvPr/>
        </p:nvSpPr>
        <p:spPr>
          <a:xfrm>
            <a:off x="10668000" y="6477000"/>
            <a:ext cx="1397000" cy="317500"/>
          </a:xfrm>
          <a:prstGeom prst="rect">
            <a:avLst/>
          </a:prstGeom>
          <a:noFill/>
        </p:spPr>
        <p:txBody>
          <a:bodyPr wrap="none">
            <a:spAutoFit/>
          </a:bodyPr>
          <a:lstStyle/>
          <a:p>
            <a:r>
              <a:rPr sz="1000"/>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画像生成（Diffusion）概要</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モデル・ランタイム・実務ポイント</a:t>
            </a:r>
          </a:p>
          <a:p>
            <a:pPr/>
            <a:r>
              <a:rPr sz="1200"/>
              <a:t>結論：画像生成はSDXLを軸に、ComfyUI/SD WebUIで運用。</a:t>
            </a:r>
            <a:br/>
            <a:r>
              <a:rPr sz="1200"/>
              <a:t> FLUX等はライセンス精査が必須であり、VRAM要件はワークフローに依存します。</a:t>
            </a:r>
          </a:p>
          <a:p>
            <a:pPr/>
            <a:r>
              <a:rPr sz="1200"/>
              <a:t>主要モデルとUI（Runtime）</a:t>
            </a:r>
          </a:p>
          <a:p>
            <a:pPr/>
            <a:r>
              <a:rPr sz="1200"/>
              <a:t>高品質生成の標準モデル。ライセンス確認の上、低コスト構成の軸に。</a:t>
            </a:r>
          </a:p>
          <a:p>
            <a:pPr/>
            <a:r>
              <a:rPr sz="1200"/>
              <a:t>[71]</a:t>
            </a:r>
          </a:p>
          <a:p>
            <a:pPr/>
            <a:r>
              <a:rPr sz="1200"/>
              <a:t>ノードベースUI。Windows/Linux/macOS対応を明示し、ワークフローの再利用性が高い。</a:t>
            </a:r>
          </a:p>
          <a:p>
            <a:pPr/>
            <a:r>
              <a:rPr sz="1200"/>
              <a:t>[72]</a:t>
            </a:r>
          </a:p>
          <a:p>
            <a:pPr/>
            <a:r>
              <a:rPr sz="1200"/>
              <a:t>豊富なプラグインエコシステムを持つ定番UI。</a:t>
            </a:r>
          </a:p>
        </p:txBody>
      </p:sp>
      <p:sp>
        <p:nvSpPr>
          <p:cNvPr id="4" name="TextBox 3"/>
          <p:cNvSpPr txBox="1"/>
          <p:nvPr/>
        </p:nvSpPr>
        <p:spPr>
          <a:xfrm>
            <a:off x="10668000" y="6477000"/>
            <a:ext cx="1397000" cy="317500"/>
          </a:xfrm>
          <a:prstGeom prst="rect">
            <a:avLst/>
          </a:prstGeom>
          <a:noFill/>
        </p:spPr>
        <p:txBody>
          <a:bodyPr wrap="none">
            <a:spAutoFit/>
          </a:bodyPr>
          <a:lstStyle/>
          <a:p>
            <a:r>
              <a:rPr sz="1000"/>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画像生成（完全版表）</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主要モデル・UI詳細比較：SDXL / ComfyUI / SD WebUI / FLUX</a:t>
            </a:r>
          </a:p>
          <a:p>
            <a:pPr/>
            <a:r>
              <a:rPr sz="1200"/>
              <a:t>採用判断の要点：VRAM容量が最大の制約となります。解像度、バッチサイズ、ステップ数を固定したプロファイルを作成し、VRAM不足を防ぐ運用設計が重要です。特にFLUX等の最新・上位モデルを採用する場合は、ライセンス条件（商用利用制限など）を事前に入念に確認してください。</a:t>
            </a:r>
          </a:p>
          <a:p>
            <a:pPr/>
            <a:r>
              <a:rPr sz="1200"/>
              <a:t>Page 37 | ローカルAI 技術調査レポート 2026</a:t>
            </a:r>
          </a:p>
          <a:p>
            <a:pPr/>
            <a:r>
              <a:rPr sz="1200"/>
              <a:t>Data Source: Technical Survey Report [71-76]</a:t>
            </a:r>
          </a:p>
        </p:txBody>
      </p:sp>
      <p:sp>
        <p:nvSpPr>
          <p:cNvPr id="4" name="TextBox 3"/>
          <p:cNvSpPr txBox="1"/>
          <p:nvPr/>
        </p:nvSpPr>
        <p:spPr>
          <a:xfrm>
            <a:off x="10668000" y="6477000"/>
            <a:ext cx="1397000" cy="317500"/>
          </a:xfrm>
          <a:prstGeom prst="rect">
            <a:avLst/>
          </a:prstGeom>
          <a:noFill/>
        </p:spPr>
        <p:txBody>
          <a:bodyPr wrap="none">
            <a:spAutoFit/>
          </a:bodyPr>
          <a:lstStyle/>
          <a:p>
            <a:r>
              <a:rPr sz="1000"/>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\\n\\n採用判断基準（画像生成）\\n</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VRAM制約と再現性の担保</a:t>
            </a:r>
          </a:p>
          <a:p>
            <a:pPr/>
            <a:r>
              <a:rPr sz="1200"/>
              <a:t>\\n 結論：VRAM制約に合わせて解像度/バッチ/ステップを固定し、ワークフローを資産化して再現性を担保します。\\n</a:t>
            </a:r>
          </a:p>
          <a:p>
            <a:pPr/>
            <a:r>
              <a:rPr sz="1200"/>
              <a:t>1</a:t>
            </a:r>
          </a:p>
          <a:p>
            <a:pPr/>
            <a:r>
              <a:rPr sz="1200"/>
              <a:t>VRAM制約</a:t>
            </a:r>
          </a:p>
          <a:p>
            <a:pPr/>
            <a:r>
              <a:rPr sz="1200"/>
              <a:t>ハードウェア上限を</a:t>
            </a:r>
            <a:br/>
            <a:r>
              <a:rPr sz="1200"/>
              <a:t>まず確認</a:t>
            </a:r>
          </a:p>
          <a:p>
            <a:pPr/>
            <a:r>
              <a:rPr sz="1200"/>
              <a:t>2</a:t>
            </a:r>
          </a:p>
          <a:p>
            <a:pPr/>
            <a:r>
              <a:rPr sz="1200"/>
              <a:t>解像度固定</a:t>
            </a:r>
          </a:p>
          <a:p>
            <a:pPr/>
            <a:r>
              <a:rPr sz="1200"/>
              <a:t>VRAMに収まる</a:t>
            </a:r>
            <a:br/>
            <a:r>
              <a:rPr sz="1200"/>
              <a:t>最大サイズを決定</a:t>
            </a:r>
          </a:p>
        </p:txBody>
      </p:sp>
      <p:sp>
        <p:nvSpPr>
          <p:cNvPr id="4" name="TextBox 3"/>
          <p:cNvSpPr txBox="1"/>
          <p:nvPr/>
        </p:nvSpPr>
        <p:spPr>
          <a:xfrm>
            <a:off x="10668000" y="6477000"/>
            <a:ext cx="1397000" cy="317500"/>
          </a:xfrm>
          <a:prstGeom prst="rect">
            <a:avLst/>
          </a:prstGeom>
          <a:noFill/>
        </p:spPr>
        <p:txBody>
          <a:bodyPr wrap="none">
            <a:spAutoFit/>
          </a:bodyPr>
          <a:lstStyle/>
          <a:p>
            <a:r>
              <a:rPr sz="1000"/>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Agent / Tool-use 概要</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ローカル環境でのエージェント構築と実行</a:t>
            </a:r>
          </a:p>
          <a:p>
            <a:pPr/>
            <a:r>
              <a:rPr sz="1200"/>
              <a:t>結論：Agentは「LLM＋ツール呼び出し（関数）＋実行環境」で構成され、Ollama/LM StudioのOpenAI互換APIを用いることで、ローカルでの実務的な構築が現実化しています。</a:t>
            </a:r>
          </a:p>
          <a:p>
            <a:pPr/>
            <a:r>
              <a:rPr sz="1200"/>
              <a:t>構成要素とAPI基盤</a:t>
            </a:r>
          </a:p>
          <a:p>
            <a:pPr/>
            <a:r>
              <a:rPr sz="1200"/>
              <a:t>エージェントの基本構成。LLMが判断し、定義されたツール（関数）を呼び出し、ローカル環境で実行して結果を返すループ構造。</a:t>
            </a:r>
          </a:p>
          <a:p>
            <a:pPr/>
            <a:r>
              <a:rPr sz="1200"/>
              <a:t>OllamaやLM Studioは、ローカルで動作しながらOpenAI互換のエンドポイントを提供。これにより、既存のAgentフレームワークやクライアントツールをそのまま利用可能。</a:t>
            </a:r>
          </a:p>
          <a:p>
            <a:pPr/>
            <a:r>
              <a:rPr sz="1200"/>
              <a:t>[23][24][41]</a:t>
            </a:r>
          </a:p>
          <a:p>
            <a:pPr/>
            <a:r>
              <a:rPr sz="1200"/>
              <a:t>OpenHands等の自律エージェントツールでも、ローカルLLMを利用するガイドが整備されています。</a:t>
            </a:r>
          </a:p>
          <a:p>
            <a:pPr/>
            <a:r>
              <a:rPr sz="1200"/>
              <a:t>[2]</a:t>
            </a:r>
          </a:p>
        </p:txBody>
      </p:sp>
      <p:sp>
        <p:nvSpPr>
          <p:cNvPr id="4" name="TextBox 3"/>
          <p:cNvSpPr txBox="1"/>
          <p:nvPr/>
        </p:nvSpPr>
        <p:spPr>
          <a:xfrm>
            <a:off x="10668000" y="6477000"/>
            <a:ext cx="1397000" cy="317500"/>
          </a:xfrm>
          <a:prstGeom prst="rect">
            <a:avLst/>
          </a:prstGeom>
          <a:noFill/>
        </p:spPr>
        <p:txBody>
          <a:bodyPr wrap="none">
            <a:spAutoFit/>
          </a:bodyPr>
          <a:lstStyle/>
          <a:p>
            <a:r>
              <a:rPr sz="1000"/>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Agent/Tool-use（完全版表）</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OpenAI互換API / Function Calling / 実装基盤の詳細比較</a:t>
            </a:r>
          </a:p>
          <a:p>
            <a:pPr/>
            <a:r>
              <a:rPr sz="1200"/>
              <a:t>実装のポイント：安定運用の鍵は「JSONスキーマの固定」と「パラメータ（温度/top_p）の固定」です。幻覚（Hallucination）による不正な関数呼び出しを防ぐため、実行前に許可された関数リストと照合するホワイトリスト方式を推奨します。また、トラブルシューティング用にAPIの要求・応答ログを必ず保存してください。</a:t>
            </a:r>
          </a:p>
          <a:p>
            <a:pPr/>
            <a:r>
              <a:rPr sz="1200"/>
              <a:t>Page 40 | ローカルAI 技術調査レポート 2026</a:t>
            </a:r>
          </a:p>
          <a:p>
            <a:pPr/>
            <a:r>
              <a:rPr sz="1200"/>
              <a:t>Data Source: Technical Survey Report [2,3,19,23,24,27,41]</a:t>
            </a:r>
          </a:p>
        </p:txBody>
      </p:sp>
      <p:sp>
        <p:nvSpPr>
          <p:cNvPr id="4" name="TextBox 3"/>
          <p:cNvSpPr txBox="1"/>
          <p:nvPr/>
        </p:nvSpPr>
        <p:spPr>
          <a:xfrm>
            <a:off x="10668000" y="6477000"/>
            <a:ext cx="1397000" cy="317500"/>
          </a:xfrm>
          <a:prstGeom prst="rect">
            <a:avLst/>
          </a:prstGeom>
          <a:noFill/>
        </p:spPr>
        <p:txBody>
          <a:bodyPr wrap="none">
            <a:spAutoFit/>
          </a:bodyPr>
          <a:lstStyle/>
          <a:p>
            <a:r>
              <a:rPr sz="1000"/>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採用判断基準（Agent / Tool-use）</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JSONスキーマ固定と検証ループによる安全運用</a:t>
            </a:r>
          </a:p>
          <a:p>
            <a:pPr/>
            <a:r>
              <a:rPr sz="1200"/>
              <a:t>結論：JSONスキーマ固定＋検証ループ（自動チェック）による安全運用を基本とし、Ollama/LM StudioのOpenAI互換APIで実装を統一します。</a:t>
            </a:r>
          </a:p>
          <a:p>
            <a:pPr/>
            <a:r>
              <a:rPr sz="1200"/>
              <a:t>スキーマと検証</a:t>
            </a:r>
          </a:p>
          <a:p>
            <a:pPr/>
            <a:r>
              <a:rPr sz="1200"/>
              <a:t>JSONスキーマの厳格化 必須引数、型定義、Enum制約を厳密に記述し、モデルの構造化出力能力を最大限に活用。破壊時は即時再生成へ。</a:t>
            </a:r>
          </a:p>
          <a:p>
            <a:pPr/>
            <a:r>
              <a:rPr sz="1200"/>
              <a:t>検証ループの実装 「コード生成→コンパイル/テスト実行」自体をツールとして組み込み、LLM自身に結果をフィードバックするループを構築。</a:t>
            </a:r>
          </a:p>
          <a:p>
            <a:pPr/>
            <a:r>
              <a:rPr sz="1200"/>
              <a:t>実装基盤の統一</a:t>
            </a:r>
          </a:p>
          <a:p>
            <a:pPr/>
            <a:r>
              <a:rPr sz="1200"/>
              <a:t>OpenAI互換APIで統一 Ollama/LM Studio等の互換APIを採用し、クライアントコードを標準化。移行性・保守性を確保。</a:t>
            </a:r>
          </a:p>
          <a:p>
            <a:pPr/>
            <a:r>
              <a:rPr sz="1200"/>
              <a:t>[24,41]</a:t>
            </a:r>
          </a:p>
        </p:txBody>
      </p:sp>
      <p:sp>
        <p:nvSpPr>
          <p:cNvPr id="4" name="TextBox 3"/>
          <p:cNvSpPr txBox="1"/>
          <p:nvPr/>
        </p:nvSpPr>
        <p:spPr>
          <a:xfrm>
            <a:off x="10668000" y="6477000"/>
            <a:ext cx="1397000" cy="317500"/>
          </a:xfrm>
          <a:prstGeom prst="rect">
            <a:avLst/>
          </a:prstGeom>
          <a:noFill/>
        </p:spPr>
        <p:txBody>
          <a:bodyPr wrap="none">
            <a:spAutoFit/>
          </a:bodyPr>
          <a:lstStyle/>
          <a:p>
            <a:r>
              <a:rPr sz="1000"/>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音声周辺（VAD/話者分離/ウェイクワード/ノイズ除去）概要</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カテゴリ別モデルカタログ</a:t>
            </a:r>
          </a:p>
          <a:p>
            <a:pPr/>
            <a:r>
              <a:rPr sz="1200"/>
              <a:t>結論：前処理（VAD/話者分離/ウェイクワード/ノイズ除去）が音声UXの品質下限を決定します。</a:t>
            </a:r>
            <a:br/>
            <a:r>
              <a:rPr sz="1200"/>
              <a:t>Silero VADによる無音除去とpyannote.audioによる話者分離が実務上の標準構成です。</a:t>
            </a:r>
          </a:p>
          <a:p>
            <a:pPr/>
            <a:r>
              <a:rPr sz="1200"/>
              <a:t>主要コンポーネント（Primary）</a:t>
            </a:r>
          </a:p>
          <a:p>
            <a:pPr/>
            <a:r>
              <a:rPr sz="1200"/>
              <a:t>VAD（Voice Activity Detection）：Silero VAD</a:t>
            </a:r>
          </a:p>
          <a:p>
            <a:pPr/>
            <a:r>
              <a:rPr sz="1200"/>
              <a:t>[82]</a:t>
            </a:r>
          </a:p>
          <a:p>
            <a:pPr/>
            <a:r>
              <a:rPr sz="1200"/>
              <a:t>無音・雑音区間を事前除去し、ASRの幻覚（Hallucination）を抑制。軽量・高精度でデファクトスタンダード。</a:t>
            </a:r>
          </a:p>
          <a:p>
            <a:pPr/>
            <a:r>
              <a:rPr sz="1200"/>
              <a:t>話者分離（Diarization）：pyannote.audio</a:t>
            </a:r>
          </a:p>
          <a:p>
            <a:pPr/>
            <a:r>
              <a:rPr sz="1200"/>
              <a:t>[84]</a:t>
            </a:r>
          </a:p>
        </p:txBody>
      </p:sp>
      <p:sp>
        <p:nvSpPr>
          <p:cNvPr id="4" name="TextBox 3"/>
          <p:cNvSpPr txBox="1"/>
          <p:nvPr/>
        </p:nvSpPr>
        <p:spPr>
          <a:xfrm>
            <a:off x="10668000" y="6477000"/>
            <a:ext cx="1397000" cy="317500"/>
          </a:xfrm>
          <a:prstGeom prst="rect">
            <a:avLst/>
          </a:prstGeom>
          <a:noFill/>
        </p:spPr>
        <p:txBody>
          <a:bodyPr wrap="none">
            <a:spAutoFit/>
          </a:bodyPr>
          <a:lstStyle/>
          <a:p>
            <a:r>
              <a:rPr sz="1000"/>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音声周辺（完全版表）</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Silero VAD / pyannote / openWakeWord / RNNoise 詳細比較</a:t>
            </a:r>
          </a:p>
          <a:p>
            <a:pPr/>
            <a:r>
              <a:rPr sz="1200"/>
              <a:t>設計の推奨：会議系ワークフローでは「VAD → ASR → 要約」の直列処理を基本とし、負荷の高い話者分離（pyannote等）は必要時のみ追加する設計が実用的です。すべての音声に一律で話者分離を適用すると、処理時間（RTF）が大幅に悪化する可能性があります。</a:t>
            </a:r>
          </a:p>
          <a:p>
            <a:pPr/>
            <a:r>
              <a:rPr sz="1200"/>
              <a:t>Page 43 | ローカルAI 技術調査レポート 2026</a:t>
            </a:r>
          </a:p>
          <a:p>
            <a:pPr/>
            <a:r>
              <a:rPr sz="1200"/>
              <a:t>Data Source: Technical Survey Report [14, 82, 84, 85]</a:t>
            </a:r>
          </a:p>
        </p:txBody>
      </p:sp>
      <p:sp>
        <p:nvSpPr>
          <p:cNvPr id="4" name="TextBox 3"/>
          <p:cNvSpPr txBox="1"/>
          <p:nvPr/>
        </p:nvSpPr>
        <p:spPr>
          <a:xfrm>
            <a:off x="10668000" y="6477000"/>
            <a:ext cx="1397000" cy="317500"/>
          </a:xfrm>
          <a:prstGeom prst="rect">
            <a:avLst/>
          </a:prstGeom>
          <a:noFill/>
        </p:spPr>
        <p:txBody>
          <a:bodyPr wrap="none">
            <a:spAutoFit/>
          </a:bodyPr>
          <a:lstStyle/>
          <a:p>
            <a:r>
              <a:rPr sz="1000"/>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採用判断基準（音声周辺）</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前処理パイプライン標準化と品質管理</a:t>
            </a:r>
          </a:p>
          <a:p>
            <a:pPr/>
            <a:r>
              <a:rPr sz="1200"/>
              <a:t>結論：前処理パイプラインを標準化し、閾値・モデルバージョン・RTF目標を固定することで、UXの品質下限を担保します。</a:t>
            </a:r>
          </a:p>
          <a:p>
            <a:pPr/>
            <a:r>
              <a:rPr sz="1200"/>
              <a:t>パイプラインの標準化</a:t>
            </a:r>
          </a:p>
          <a:p>
            <a:pPr/>
            <a:r>
              <a:rPr sz="1200"/>
              <a:t>基準設定のプリセット化</a:t>
            </a:r>
            <a:br/>
            <a:r>
              <a:rPr sz="1200"/>
              <a:t> VAD閾値、話者分離の有無、ノイズ除去の有無をユースケースごとに固定セットとして定義。</a:t>
            </a:r>
          </a:p>
          <a:p>
            <a:pPr/>
            <a:r>
              <a:rPr sz="1200"/>
              <a:t>再現性の担保</a:t>
            </a:r>
            <a:br/>
            <a:r>
              <a:rPr sz="1200"/>
              <a:t> モデルバージョンとパラメータをコードで固定し、環境による挙動差を排除。</a:t>
            </a:r>
          </a:p>
          <a:p>
            <a:pPr/>
            <a:r>
              <a:rPr sz="1200"/>
              <a:t>ログ管理・監査</a:t>
            </a:r>
          </a:p>
          <a:p>
            <a:pPr/>
            <a:r>
              <a:rPr sz="1200"/>
              <a:t>パフォーマンス監視</a:t>
            </a:r>
            <a:br/>
            <a:r>
              <a:rPr sz="1200"/>
              <a:t> RTF（実時間係数）とエラー率をログに保存し、処理遅延や異常を検知。</a:t>
            </a:r>
          </a:p>
          <a:p>
            <a:pPr/>
            <a:r>
              <a:rPr sz="1200"/>
              <a:t>長時間処理のオフロード</a:t>
            </a:r>
            <a:br/>
            <a:r>
              <a:rPr sz="1200"/>
              <a:t> 長時間の音声処理は夜間バッチ化し、日中の計算資源をASRや要約などの対話的タスクに集中。</a:t>
            </a:r>
          </a:p>
        </p:txBody>
      </p:sp>
      <p:sp>
        <p:nvSpPr>
          <p:cNvPr id="4" name="TextBox 3"/>
          <p:cNvSpPr txBox="1"/>
          <p:nvPr/>
        </p:nvSpPr>
        <p:spPr>
          <a:xfrm>
            <a:off x="10668000" y="6477000"/>
            <a:ext cx="1397000" cy="317500"/>
          </a:xfrm>
          <a:prstGeom prst="rect">
            <a:avLst/>
          </a:prstGeom>
          <a:noFill/>
        </p:spPr>
        <p:txBody>
          <a:bodyPr wrap="none">
            <a:spAutoFit/>
          </a:bodyPr>
          <a:lstStyle/>
          <a:p>
            <a:r>
              <a:rPr sz="1000"/>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07</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メモリ設計の</a:t>
            </a:r>
            <a:br/>
            <a:r>
              <a:rPr sz="1200"/>
              <a:t>コア</a:t>
            </a:r>
          </a:p>
          <a:p>
            <a:pPr/>
            <a:r>
              <a:rPr sz="1200"/>
              <a:t>重み量子化・KVキャッシュ管理と</a:t>
            </a:r>
            <a:br/>
            <a:r>
              <a:rPr sz="1200"/>
              <a:t>最適化技術</a:t>
            </a:r>
          </a:p>
          <a:p>
            <a:pPr/>
            <a:r>
              <a:rPr sz="1200"/>
              <a:t>KEY TAKEAWAYS</a:t>
            </a:r>
          </a:p>
          <a:p>
            <a:pPr/>
            <a:r>
              <a:rPr sz="1200"/>
              <a:t>本章の要点</a:t>
            </a:r>
          </a:p>
          <a:p>
            <a:pPr/>
            <a:r>
              <a:rPr sz="1200"/>
              <a:t>重みメモリの現実解：</a:t>
            </a:r>
            <a:br/>
            <a:r>
              <a:rPr sz="1200"/>
              <a:t> 4bit量子化（weight-only）が基本。理論値＋10%オーバーヘッドで設計します。</a:t>
            </a:r>
          </a:p>
          <a:p>
            <a:pPr/>
            <a:r>
              <a:rPr sz="1200"/>
              <a:t>KVキャッシュの支配性：</a:t>
            </a:r>
            <a:br/>
            <a:r>
              <a:rPr sz="1200"/>
              <a:t> 長文コンテキストではKVがメモリを圧迫。vLLMのpaged/quantized KV[5,6]やTensorRT-LLMのKV reuse[7]が必須です。</a:t>
            </a:r>
          </a:p>
          <a:p>
            <a:pPr/>
            <a:r>
              <a:rPr sz="1200"/>
              <a:t>最適化技術の活用：</a:t>
            </a:r>
            <a:br/>
            <a:r>
              <a:rPr sz="1200"/>
              <a:t> llama.cppのprompt cache[88,90]等でTTFTを短縮し、実用性を高めます。</a:t>
            </a:r>
          </a:p>
          <a:p>
            <a:pPr/>
            <a:r>
              <a:rPr sz="1200"/>
              <a:t>重み理論値計算</a:t>
            </a:r>
          </a:p>
        </p:txBody>
      </p:sp>
      <p:sp>
        <p:nvSpPr>
          <p:cNvPr id="4" name="TextBox 3"/>
          <p:cNvSpPr txBox="1"/>
          <p:nvPr/>
        </p:nvSpPr>
        <p:spPr>
          <a:xfrm>
            <a:off x="10668000" y="6477000"/>
            <a:ext cx="1397000" cy="317500"/>
          </a:xfrm>
          <a:prstGeom prst="rect">
            <a:avLst/>
          </a:prstGeom>
          <a:noFill/>
        </p:spPr>
        <p:txBody>
          <a:bodyPr wrap="none">
            <a:spAutoFit/>
          </a:bodyPr>
          <a:lstStyle/>
          <a:p>
            <a:r>
              <a:rPr sz="1000"/>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メモリ設計のコア（概要）</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重み量子化とKVキャッシュの支配性</a:t>
            </a:r>
          </a:p>
          <a:p>
            <a:pPr/>
            <a:r>
              <a:rPr sz="1200"/>
              <a:t>結論：ローカルAIのメモリ制約は、「重み4bit量子化」と「KVキャッシュ最適化」の2点によって決定される支配的な要因です。</a:t>
            </a:r>
          </a:p>
          <a:p>
            <a:pPr/>
            <a:r>
              <a:rPr sz="1200"/>
              <a:t>重みメモリ（Weights）</a:t>
            </a:r>
          </a:p>
          <a:p>
            <a:pPr/>
            <a:r>
              <a:rPr sz="1200"/>
              <a:t>パラメータ数とbit幅で物理的な下限が決まります。</a:t>
            </a:r>
          </a:p>
          <a:p>
            <a:pPr/>
            <a:r>
              <a:rPr sz="1200"/>
              <a:t>メモリ ≈ パラメータ数 × bit幅 ÷ 8 （+約10% ランタイム/CUDA オーバーヘッド）</a:t>
            </a:r>
          </a:p>
          <a:p>
            <a:pPr/>
            <a:r>
              <a:rPr sz="1200"/>
              <a:t>FP16（16bit）と比較して約1/4のサイズで、品質劣化を最小限に抑えつつコンシューマGPUに載せるための必須技術です。</a:t>
            </a:r>
          </a:p>
          <a:p>
            <a:pPr/>
            <a:r>
              <a:rPr sz="1200"/>
              <a:t>GGUF Q4_K_M</a:t>
            </a:r>
          </a:p>
          <a:p>
            <a:pPr/>
            <a:r>
              <a:rPr sz="1200"/>
              <a:t>AWQ 4bit</a:t>
            </a:r>
          </a:p>
        </p:txBody>
      </p:sp>
      <p:sp>
        <p:nvSpPr>
          <p:cNvPr id="4" name="TextBox 3"/>
          <p:cNvSpPr txBox="1"/>
          <p:nvPr/>
        </p:nvSpPr>
        <p:spPr>
          <a:xfrm>
            <a:off x="10668000" y="6477000"/>
            <a:ext cx="1397000" cy="317500"/>
          </a:xfrm>
          <a:prstGeom prst="rect">
            <a:avLst/>
          </a:prstGeom>
          <a:noFill/>
        </p:spPr>
        <p:txBody>
          <a:bodyPr wrap="none">
            <a:spAutoFit/>
          </a:bodyPr>
          <a:lstStyle/>
          <a:p>
            <a:r>
              <a:rPr sz="1000"/>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重みメモリ理論値（完全版表1：0.5B〜14B）</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モデル規模別 推奨メモリ容量（+10%オーバーヘッド込み概算）</a:t>
            </a:r>
          </a:p>
          <a:p>
            <a:pPr/>
            <a:r>
              <a:rPr sz="1200"/>
              <a:t>計算根拠：上記数値は「パラメータ数 × bit幅 ÷ 8」に、ランタイムオーバヘッドとして約10%を加算した概算理論値です。これらは重みのみのメモリ消費であり、実運用ではこれに加えてKVキャッシュ（コンテキスト長に比例）が必要となります。特に7B〜14Bモデルは、8GB/16GBメモリ環境での動作可否の境界線となるため、4bit量子化の活用が実務上必須となります。</a:t>
            </a:r>
          </a:p>
          <a:p>
            <a:pPr/>
            <a:r>
              <a:rPr sz="1200"/>
              <a:t>Page 47 | ローカルAI 技術調査レポート 2026</a:t>
            </a:r>
          </a:p>
          <a:p>
            <a:pPr/>
            <a:r>
              <a:rPr sz="1200"/>
              <a:t>Data Source: Technical Survey Report (Calculated Estimates)</a:t>
            </a:r>
          </a:p>
        </p:txBody>
      </p:sp>
      <p:sp>
        <p:nvSpPr>
          <p:cNvPr id="4" name="TextBox 3"/>
          <p:cNvSpPr txBox="1"/>
          <p:nvPr/>
        </p:nvSpPr>
        <p:spPr>
          <a:xfrm>
            <a:off x="10668000" y="6477000"/>
            <a:ext cx="1397000" cy="317500"/>
          </a:xfrm>
          <a:prstGeom prst="rect">
            <a:avLst/>
          </a:prstGeom>
          <a:noFill/>
        </p:spPr>
        <p:txBody>
          <a:bodyPr wrap="none">
            <a:spAutoFit/>
          </a:bodyPr>
          <a:lstStyle/>
          <a:p>
            <a:r>
              <a:rPr sz="1000"/>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重みメモリ理論値（完全版表2：27B〜70B）</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大規模モデル（4bit/INT8/FP16）のメモリ要件</a:t>
            </a:r>
          </a:p>
          <a:p>
            <a:pPr/>
            <a:r>
              <a:rPr sz="1200"/>
              <a:t>計算前提： パラメータ数 × bit幅 ÷ 8 で基本容量を算出後、実運用におけるランタイムオーバヘッド等を考慮して約+10%を加算した概算値です。</a:t>
            </a:r>
          </a:p>
          <a:p>
            <a:pPr/>
            <a:r>
              <a:rPr sz="1200"/>
              <a:t>設計含意： 30B級モデルの実運用には、4bit量子化でも約16-18GiBのVRAM/統合メモリが必要です。70B級では4bitでも約36GiBを消費するため、Apple Silicon 64GB/96GBや、VRAM 24GB×2枚構成などの上位ハードウェア構成が現実的なラインとなります。</a:t>
            </a:r>
          </a:p>
          <a:p>
            <a:pPr/>
            <a:r>
              <a:rPr sz="1200"/>
              <a:t>Page 48 | ローカルAI 技術調査レポート 2026</a:t>
            </a:r>
          </a:p>
          <a:p>
            <a:pPr/>
            <a:r>
              <a:rPr sz="1200"/>
              <a:t>Source: Technical Survey Report (Calculated Values based on Weight Quantization)</a:t>
            </a:r>
          </a:p>
        </p:txBody>
      </p:sp>
      <p:sp>
        <p:nvSpPr>
          <p:cNvPr id="4" name="TextBox 3"/>
          <p:cNvSpPr txBox="1"/>
          <p:nvPr/>
        </p:nvSpPr>
        <p:spPr>
          <a:xfrm>
            <a:off x="10668000" y="6477000"/>
            <a:ext cx="1397000" cy="317500"/>
          </a:xfrm>
          <a:prstGeom prst="rect">
            <a:avLst/>
          </a:prstGeom>
          <a:noFill/>
        </p:spPr>
        <p:txBody>
          <a:bodyPr wrap="none">
            <a:spAutoFit/>
          </a:bodyPr>
          <a:lstStyle/>
          <a:p>
            <a:r>
              <a:rPr sz="1000"/>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KVキャッシュの支配性（完全版表1）</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2k〜32k tokensにおけるメモリ消費量比較（Llama3 8B相当）</a:t>
            </a:r>
          </a:p>
          <a:p>
            <a:pPr/>
            <a:r>
              <a:rPr sz="1200"/>
              <a:t>設計含意：KVキャッシュはコンテキスト長に比例して線形増加します。32kトークンなどの長文コンテキストでは、FP16のままでは4GBものVRAMを消費し、モデル重み（8B 4bitで約4.5GB）と合わせると8GB VRAMの限界を超えます。FP8/INT4量子化やPaged KV Cacheの導入が、長文運用成立の鍵となります。</a:t>
            </a:r>
          </a:p>
          <a:p>
            <a:pPr/>
            <a:r>
              <a:rPr sz="1200"/>
              <a:t>[5-7]</a:t>
            </a:r>
          </a:p>
          <a:p>
            <a:pPr/>
            <a:r>
              <a:rPr sz="1200"/>
              <a:t>※計算前提: Llama3 8B (n_layer=32, n_head_kv=8, head_dim=128), GQA有効</a:t>
            </a:r>
          </a:p>
          <a:p>
            <a:pPr/>
            <a:r>
              <a:rPr sz="1200"/>
              <a:t>Page 49 | ローカルAI 技術調査レポート 2026</a:t>
            </a:r>
          </a:p>
          <a:p>
            <a:pPr/>
            <a:r>
              <a:rPr sz="1200"/>
              <a:t>Data Source: Technical Survey Report [5-7]</a:t>
            </a:r>
          </a:p>
        </p:txBody>
      </p:sp>
      <p:sp>
        <p:nvSpPr>
          <p:cNvPr id="4" name="TextBox 3"/>
          <p:cNvSpPr txBox="1"/>
          <p:nvPr/>
        </p:nvSpPr>
        <p:spPr>
          <a:xfrm>
            <a:off x="10668000" y="6477000"/>
            <a:ext cx="1397000" cy="317500"/>
          </a:xfrm>
          <a:prstGeom prst="rect">
            <a:avLst/>
          </a:prstGeom>
          <a:noFill/>
        </p:spPr>
        <p:txBody>
          <a:bodyPr wrap="none">
            <a:spAutoFit/>
          </a:bodyPr>
          <a:lstStyle/>
          <a:p>
            <a:r>
              <a:rPr sz="1000"/>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KVキャッシュの支配性（完全版表2：超長文域）</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コンテキスト長131k tokensにおけるメモリ消費量比較（Llama3 8B相当）</a:t>
            </a:r>
          </a:p>
          <a:p>
            <a:pPr/>
            <a:r>
              <a:rPr sz="1200"/>
              <a:t>メモリ内訳の逆転現象</a:t>
            </a:r>
          </a:p>
          <a:p>
            <a:pPr/>
            <a:r>
              <a:rPr sz="1200"/>
              <a:t>超長文（128k等）では、KVキャッシュのメモリ消費量がモデル本体（重み）のメモリ消費量を上回る現象が発生します。</a:t>
            </a:r>
            <a:br/>
            <a:r>
              <a:rPr sz="1200"/>
              <a:t> 例：Llama3 8B（4bit重み≒4.1GiB）に対し、131k tokensのKV（FP16）は16.00GiBに達し、総メモリの約80%をKVが占有します。</a:t>
            </a:r>
          </a:p>
          <a:p>
            <a:pPr/>
            <a:r>
              <a:rPr sz="1200"/>
              <a:t>設計による回避策（Design Implications）</a:t>
            </a:r>
          </a:p>
          <a:p>
            <a:pPr/>
            <a:r>
              <a:rPr sz="1200"/>
              <a:t>要約・圧縮：Rolling Summary等でコンテキストを常に一定長以下に保つ。</a:t>
            </a:r>
          </a:p>
          <a:p>
            <a:pPr/>
            <a:r>
              <a:rPr sz="1200"/>
              <a:t>分割処理：長文を一括入力せず、チャンク分割して処理（Map-Reduce等）。</a:t>
            </a:r>
          </a:p>
          <a:p>
            <a:pPr/>
            <a:r>
              <a:rPr sz="1200"/>
              <a:t>RAG活用：全文をコンテキストに入れず、Embedding検索で必要箇所のみ抽出。</a:t>
            </a:r>
          </a:p>
          <a:p>
            <a:pPr/>
            <a:r>
              <a:rPr sz="1200"/>
              <a:t>KV量子化：vLLM等のpaged/quantized KV機能を積極的に利用[5,6]。</a:t>
            </a:r>
          </a:p>
        </p:txBody>
      </p:sp>
      <p:sp>
        <p:nvSpPr>
          <p:cNvPr id="4" name="TextBox 3"/>
          <p:cNvSpPr txBox="1"/>
          <p:nvPr/>
        </p:nvSpPr>
        <p:spPr>
          <a:xfrm>
            <a:off x="10668000" y="6477000"/>
            <a:ext cx="1397000" cy="317500"/>
          </a:xfrm>
          <a:prstGeom prst="rect">
            <a:avLst/>
          </a:prstGeom>
          <a:noFill/>
        </p:spPr>
        <p:txBody>
          <a:bodyPr wrap="none">
            <a:spAutoFit/>
          </a:bodyPr>
          <a:lstStyle/>
          <a:p>
            <a:r>
              <a:rPr sz="1000"/>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メモリ最適化技術</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paged KV／quantized KV／KV reuse／prompt cache</a:t>
            </a:r>
          </a:p>
          <a:p>
            <a:pPr/>
            <a:r>
              <a:rPr sz="1200"/>
              <a:t>KV構造と管理の最適化</a:t>
            </a:r>
          </a:p>
          <a:p>
            <a:pPr/>
            <a:r>
              <a:rPr sz="1200"/>
              <a:t>Paged KV Cache (vLLM)</a:t>
            </a:r>
          </a:p>
          <a:p>
            <a:pPr/>
            <a:r>
              <a:rPr sz="1200"/>
              <a:t>[5]</a:t>
            </a:r>
          </a:p>
          <a:p>
            <a:pPr/>
            <a:r>
              <a:rPr sz="1200"/>
              <a:t>メモリを固定サイズのページ単位で管理し、断片化を抑制する技術。OSの仮想メモリと同様の仕組みで、GPUメモリの利用効率を劇的に向上させ、スループットを高めます。</a:t>
            </a:r>
          </a:p>
          <a:p>
            <a:pPr/>
            <a:r>
              <a:rPr sz="1200"/>
              <a:t>Quantized KV Cache</a:t>
            </a:r>
          </a:p>
          <a:p>
            <a:pPr/>
            <a:r>
              <a:rPr sz="1200"/>
              <a:t>[6]</a:t>
            </a:r>
          </a:p>
          <a:p>
            <a:pPr/>
            <a:r>
              <a:rPr sz="1200"/>
              <a:t>KVキャッシュを標準のFP16からFP8やINT4へ量子化。精度劣化を最小限に抑えつつメモリフットプリントを50〜75%削減し、より長いコンテキストや大きなバッチサイズでの推論を可能にします。</a:t>
            </a:r>
          </a:p>
        </p:txBody>
      </p:sp>
      <p:sp>
        <p:nvSpPr>
          <p:cNvPr id="4" name="TextBox 3"/>
          <p:cNvSpPr txBox="1"/>
          <p:nvPr/>
        </p:nvSpPr>
        <p:spPr>
          <a:xfrm>
            <a:off x="10668000" y="6477000"/>
            <a:ext cx="1397000" cy="317500"/>
          </a:xfrm>
          <a:prstGeom prst="rect">
            <a:avLst/>
          </a:prstGeom>
          <a:noFill/>
        </p:spPr>
        <p:txBody>
          <a:bodyPr wrap="none">
            <a:spAutoFit/>
          </a:bodyPr>
          <a:lstStyle/>
          <a:p>
            <a:r>
              <a:rPr sz="1000"/>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Tier定義と現実ライン（概要）</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ハードウェア別の実用ライン定義</a:t>
            </a:r>
          </a:p>
          <a:p>
            <a:pPr/>
            <a:r>
              <a:rPr sz="1200"/>
              <a:t>結論：Tierは「重み（4bit）＋KV（4k〜8k）＋オーバーヘッド」を前提に定義。</a:t>
            </a:r>
            <a:br/>
            <a:r>
              <a:rPr sz="1200"/>
              <a:t>理論計算値をベースとしつつ、最終判断は実機再現ベンチで行う設計です。</a:t>
            </a:r>
          </a:p>
          <a:p>
            <a:pPr/>
            <a:r>
              <a:rPr sz="1200"/>
              <a:t>Apple Silicon (UMA)</a:t>
            </a:r>
          </a:p>
          <a:p>
            <a:pPr/>
            <a:r>
              <a:rPr sz="1200"/>
              <a:t>16GB (A-16) 3B 〜 7/8B (4bit)</a:t>
            </a:r>
          </a:p>
          <a:p>
            <a:pPr/>
            <a:r>
              <a:rPr sz="1200"/>
              <a:t>24-32GB (A-24/32) 7B 〜 14B (4bit)</a:t>
            </a:r>
          </a:p>
          <a:p>
            <a:pPr/>
            <a:r>
              <a:rPr sz="1200"/>
              <a:t>64GB (A-64) 14B 〜 32B (4bit)</a:t>
            </a:r>
          </a:p>
          <a:p>
            <a:pPr/>
            <a:r>
              <a:rPr sz="1200"/>
              <a:t>96-128GB (A-96+) 32B 〜 70B (4bit)</a:t>
            </a:r>
          </a:p>
          <a:p>
            <a:pPr/>
            <a:r>
              <a:rPr sz="1200"/>
              <a:t>Windows GPU (VRAM)</a:t>
            </a:r>
          </a:p>
        </p:txBody>
      </p:sp>
      <p:sp>
        <p:nvSpPr>
          <p:cNvPr id="4" name="TextBox 3"/>
          <p:cNvSpPr txBox="1"/>
          <p:nvPr/>
        </p:nvSpPr>
        <p:spPr>
          <a:xfrm>
            <a:off x="10668000" y="6477000"/>
            <a:ext cx="1397000" cy="317500"/>
          </a:xfrm>
          <a:prstGeom prst="rect">
            <a:avLst/>
          </a:prstGeom>
          <a:noFill/>
        </p:spPr>
        <p:txBody>
          <a:bodyPr wrap="none">
            <a:spAutoFit/>
          </a:bodyPr>
          <a:lstStyle/>
          <a:p>
            <a:r>
              <a:rPr sz="1000"/>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Apple Silicon Tier（完全版表1）</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実用ライン定義：A-16 / A-24/32 (Unified Memory Architecture)</a:t>
            </a:r>
          </a:p>
          <a:p>
            <a:pPr/>
            <a:r>
              <a:rPr sz="1200"/>
              <a:t>UMA (Unified Memory Architecture) の特性： CPUとGPUが同一のメモリプールを共有するため、データ転送のオーバーヘッドが極小化されます。Metal Performance Shaders (MPS) バックエンドを使用するMLXやPyTorchの実装では、この統合メモリを効率的に利用できますが、画面表示やOS自身のメモリ消費（数GB）を差し引いた残量が実効VRAMとなる点に注意が必要です。</a:t>
            </a:r>
          </a:p>
          <a:p>
            <a:pPr/>
            <a:r>
              <a:rPr sz="1200"/>
              <a:t>[1,132]</a:t>
            </a:r>
          </a:p>
          <a:p>
            <a:pPr/>
            <a:r>
              <a:rPr sz="1200"/>
              <a:t>Page 53 | ローカルAI 技術調査レポート 2026</a:t>
            </a:r>
          </a:p>
          <a:p>
            <a:pPr/>
            <a:r>
              <a:rPr sz="1200"/>
              <a:t>Data Source: Technical Survey Report [1,10,11,92,93,132]</a:t>
            </a:r>
          </a:p>
        </p:txBody>
      </p:sp>
      <p:sp>
        <p:nvSpPr>
          <p:cNvPr id="4" name="TextBox 3"/>
          <p:cNvSpPr txBox="1"/>
          <p:nvPr/>
        </p:nvSpPr>
        <p:spPr>
          <a:xfrm>
            <a:off x="10668000" y="6477000"/>
            <a:ext cx="1397000" cy="317500"/>
          </a:xfrm>
          <a:prstGeom prst="rect">
            <a:avLst/>
          </a:prstGeom>
          <a:noFill/>
        </p:spPr>
        <p:txBody>
          <a:bodyPr wrap="none">
            <a:spAutoFit/>
          </a:bodyPr>
          <a:lstStyle/>
          <a:p>
            <a:r>
              <a:rPr sz="1000"/>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Apple Silicon Tier（完全版表2）</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A-64 / A-96/128：高品質ローカルの到達点と運用指針</a:t>
            </a:r>
          </a:p>
          <a:p>
            <a:pPr/>
            <a:r>
              <a:rPr sz="1200"/>
              <a:t>到達点の意味： A-64以上は「妥協のないローカルAI」を実現する領域です。特にUnified Memory Architecture (UMA) の恩恵により、同等VRAMを持つディスクリートGPU構成よりも低コストかつ省電力に大規模モデルを扱えます。ただし、推論速度（スループット）は専用GPUに劣る場合があるため、レイテンシ要件が厳しい場合は量子化レベルの調整やプロンプトキャッシュの活用が重要になります。</a:t>
            </a:r>
          </a:p>
          <a:p>
            <a:pPr/>
            <a:r>
              <a:rPr sz="1200"/>
              <a:t>Page 54 | ローカルAI 技術調査レポート 2026</a:t>
            </a:r>
          </a:p>
          <a:p>
            <a:pPr/>
            <a:r>
              <a:rPr sz="1200"/>
              <a:t>Data Source: Technical Survey Report [1, 92, 93, 94]</a:t>
            </a:r>
          </a:p>
        </p:txBody>
      </p:sp>
      <p:sp>
        <p:nvSpPr>
          <p:cNvPr id="4" name="TextBox 3"/>
          <p:cNvSpPr txBox="1"/>
          <p:nvPr/>
        </p:nvSpPr>
        <p:spPr>
          <a:xfrm>
            <a:off x="10668000" y="6477000"/>
            <a:ext cx="1397000" cy="317500"/>
          </a:xfrm>
          <a:prstGeom prst="rect">
            <a:avLst/>
          </a:prstGeom>
          <a:noFill/>
        </p:spPr>
        <p:txBody>
          <a:bodyPr wrap="none">
            <a:spAutoFit/>
          </a:bodyPr>
          <a:lstStyle/>
          <a:p>
            <a:r>
              <a:rPr sz="1000"/>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Windows Tier（完全版表1）</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W-CPU1 / W-CPU2 / G-8 / G-12 の現実ライン</a:t>
            </a:r>
          </a:p>
          <a:p>
            <a:pPr/>
            <a:r>
              <a:rPr sz="1200"/>
              <a:t>最適化のポイント：WindowsのCPU推論はIntel拡張（IPEX）やOpenVINO等の最適化が効く場合があります。GPU（G-8/12）では、VRAM不足時にシステムRAMへ溢れると劇的に遅くなるため、タスクマネージャー等でVRAM使用率を厳密に監視してください。</a:t>
            </a:r>
          </a:p>
          <a:p>
            <a:pPr/>
            <a:r>
              <a:rPr sz="1200"/>
              <a:t>[13,135,136]</a:t>
            </a:r>
          </a:p>
          <a:p>
            <a:pPr/>
            <a:r>
              <a:rPr sz="1200"/>
              <a:t>Page 55 | ローカルAI 技術調査レポート 2026</a:t>
            </a:r>
          </a:p>
          <a:p>
            <a:pPr/>
            <a:r>
              <a:rPr sz="1200"/>
              <a:t>Data Source: Technical Survey Report [13, 135, 136]</a:t>
            </a:r>
          </a:p>
        </p:txBody>
      </p:sp>
      <p:sp>
        <p:nvSpPr>
          <p:cNvPr id="4" name="TextBox 3"/>
          <p:cNvSpPr txBox="1"/>
          <p:nvPr/>
        </p:nvSpPr>
        <p:spPr>
          <a:xfrm>
            <a:off x="10668000" y="6477000"/>
            <a:ext cx="1397000" cy="317500"/>
          </a:xfrm>
          <a:prstGeom prst="rect">
            <a:avLst/>
          </a:prstGeom>
          <a:noFill/>
        </p:spPr>
        <p:txBody>
          <a:bodyPr wrap="none">
            <a:spAutoFit/>
          </a:bodyPr>
          <a:lstStyle/>
          <a:p>
            <a:r>
              <a:rPr sz="1000"/>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Windows Tier（完全版表2）</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高品質・実務用：G-16 (16GB) / G-24 (24GB) 定義</a:t>
            </a:r>
          </a:p>
          <a:p>
            <a:pPr/>
            <a:r>
              <a:rPr sz="1200"/>
              <a:t>KVキャッシュに関する重要な注意点：</a:t>
            </a:r>
            <a:br/>
            <a:r>
              <a:rPr sz="1200"/>
              <a:t> VRAMに余裕があっても、長文コンテキスト（32k〜128k）を扱うとKVキャッシュがVRAMを大量に消費し、OOM（Out Of Memory）の原因となります。</a:t>
            </a:r>
            <a:br/>
            <a:r>
              <a:rPr sz="1200"/>
              <a:t> G-16/G-24であっても、長文を扱う際は「KV量子化（FP8/INT4）」や「コンテキスト設計（要約・分割）」によるメモリ管理が必須です。</a:t>
            </a:r>
          </a:p>
          <a:p>
            <a:pPr/>
            <a:r>
              <a:rPr sz="1200"/>
              <a:t>Page 56 | ローカルAI 技術調査レポート 2026</a:t>
            </a:r>
          </a:p>
          <a:p>
            <a:pPr/>
            <a:r>
              <a:rPr sz="1200"/>
              <a:t>Based on Weight Memory Theory + Reproduction Benchmarks</a:t>
            </a:r>
          </a:p>
        </p:txBody>
      </p:sp>
      <p:sp>
        <p:nvSpPr>
          <p:cNvPr id="4" name="TextBox 3"/>
          <p:cNvSpPr txBox="1"/>
          <p:nvPr/>
        </p:nvSpPr>
        <p:spPr>
          <a:xfrm>
            <a:off x="10668000" y="6477000"/>
            <a:ext cx="1397000" cy="317500"/>
          </a:xfrm>
          <a:prstGeom prst="rect">
            <a:avLst/>
          </a:prstGeom>
          <a:noFill/>
        </p:spPr>
        <p:txBody>
          <a:bodyPr wrap="none">
            <a:spAutoFit/>
          </a:bodyPr>
          <a:lstStyle/>
          <a:p>
            <a:r>
              <a:rPr sz="1000"/>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補足：AMD/Intel GPUの現実ライン</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公式最適化とエコシステムの現状</a:t>
            </a:r>
          </a:p>
          <a:p>
            <a:pPr/>
            <a:r>
              <a:rPr sz="1200"/>
              <a:t>結論：AMD/Intel環境でも公式最適化による選択肢が存在しますが、運用は実装・ドライバ依存となり、個別検証が必要です。</a:t>
            </a:r>
          </a:p>
          <a:p>
            <a:pPr/>
            <a:r>
              <a:rPr sz="1200"/>
              <a:t>AMD Radeon GPU (ROCm)</a:t>
            </a:r>
          </a:p>
          <a:p>
            <a:pPr/>
            <a:r>
              <a:rPr sz="1200"/>
              <a:t>ROCm</a:t>
            </a:r>
          </a:p>
          <a:p>
            <a:pPr/>
            <a:r>
              <a:rPr sz="1200"/>
              <a:t>HIP SDK</a:t>
            </a:r>
          </a:p>
          <a:p>
            <a:pPr/>
            <a:r>
              <a:rPr sz="1200"/>
              <a:t>ZLUDA (Deprecated)</a:t>
            </a:r>
          </a:p>
          <a:p>
            <a:pPr/>
            <a:r>
              <a:rPr sz="1200"/>
              <a:t>ROCmのWindowsサポートが進展しており、一部のWSL2環境やネイティブWindowsでの動作が可能になりつつあります。</a:t>
            </a:r>
          </a:p>
          <a:p>
            <a:pPr/>
            <a:r>
              <a:rPr sz="1200"/>
              <a:t>[97]</a:t>
            </a:r>
          </a:p>
        </p:txBody>
      </p:sp>
      <p:sp>
        <p:nvSpPr>
          <p:cNvPr id="4" name="TextBox 3"/>
          <p:cNvSpPr txBox="1"/>
          <p:nvPr/>
        </p:nvSpPr>
        <p:spPr>
          <a:xfrm>
            <a:off x="10668000" y="6477000"/>
            <a:ext cx="1397000" cy="317500"/>
          </a:xfrm>
          <a:prstGeom prst="rect">
            <a:avLst/>
          </a:prstGeom>
          <a:noFill/>
        </p:spPr>
        <p:txBody>
          <a:bodyPr wrap="none">
            <a:spAutoFit/>
          </a:bodyPr>
          <a:lstStyle/>
          <a:p>
            <a:r>
              <a:rPr sz="1000"/>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常駐運用 vs オンデマンド運用</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TTFT（初速）、安定性、リソース効率のトレードオフ</a:t>
            </a:r>
          </a:p>
          <a:p>
            <a:pPr/>
            <a:r>
              <a:rPr sz="1200"/>
              <a:t>基本運用モデルの比較</a:t>
            </a:r>
          </a:p>
          <a:p>
            <a:pPr/>
            <a:r>
              <a:rPr sz="1200"/>
              <a:t>常駐（Always-on）</a:t>
            </a:r>
          </a:p>
          <a:p>
            <a:pPr/>
            <a:r>
              <a:rPr sz="1200"/>
              <a:t>推奨: チャットBot</a:t>
            </a:r>
          </a:p>
          <a:p>
            <a:pPr/>
            <a:r>
              <a:rPr sz="1200"/>
              <a:t>モデルをメモリに保持し、Prompt Cacheを維持。</a:t>
            </a:r>
          </a:p>
          <a:p>
            <a:pPr/>
            <a:r>
              <a:rPr sz="1200"/>
              <a:t>利点：TTFTが最短、応答が安定。</a:t>
            </a:r>
          </a:p>
          <a:p>
            <a:pPr/>
            <a:r>
              <a:rPr sz="1200"/>
              <a:t>欠点：メモリを常時占有（他アプリと競合）。</a:t>
            </a:r>
          </a:p>
          <a:p>
            <a:pPr/>
            <a:r>
              <a:rPr sz="1200"/>
              <a:t>オンデマンド（On-demand）</a:t>
            </a:r>
          </a:p>
        </p:txBody>
      </p:sp>
      <p:sp>
        <p:nvSpPr>
          <p:cNvPr id="4" name="TextBox 3"/>
          <p:cNvSpPr txBox="1"/>
          <p:nvPr/>
        </p:nvSpPr>
        <p:spPr>
          <a:xfrm>
            <a:off x="10668000" y="6477000"/>
            <a:ext cx="1397000" cy="317500"/>
          </a:xfrm>
          <a:prstGeom prst="rect">
            <a:avLst/>
          </a:prstGeom>
          <a:noFill/>
        </p:spPr>
        <p:txBody>
          <a:bodyPr wrap="none">
            <a:spAutoFit/>
          </a:bodyPr>
          <a:lstStyle/>
          <a:p>
            <a:r>
              <a:rPr sz="1000"/>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ユースケース別推奨スタック：音声メモ→整文化→タスク抽出</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用途に応じて「低コスト／高品質／ハード制約」の3構成を選択</a:t>
            </a:r>
          </a:p>
          <a:p>
            <a:pPr/>
            <a:r>
              <a:rPr sz="1200"/>
              <a:t>結論：ASR精度とLLM推論能力のバランスで構成を決定します。 ※誤転記防止にはVAD（無音除去）が必須。タスク抽出にはJSONスキーマ固定が有効です。</a:t>
            </a:r>
          </a:p>
          <a:p>
            <a:pPr/>
            <a:r>
              <a:rPr sz="1200"/>
              <a:t>低コスト構成</a:t>
            </a:r>
          </a:p>
          <a:p>
            <a:pPr/>
            <a:r>
              <a:rPr sz="1200"/>
              <a:t>Target HW</a:t>
            </a:r>
          </a:p>
          <a:p>
            <a:pPr/>
            <a:r>
              <a:rPr sz="1200"/>
              <a:t>A-16 / W-CPU1 / G-8想定 (Apple 16GB / CPU / VRAM 8GB)</a:t>
            </a:r>
          </a:p>
          <a:p>
            <a:pPr/>
            <a:r>
              <a:rPr sz="1200"/>
              <a:t>VAD &amp; ASR</a:t>
            </a:r>
          </a:p>
          <a:p>
            <a:pPr/>
            <a:r>
              <a:rPr sz="1200"/>
              <a:t>Silero VAD (無音除去) faster-whisper (CPU/INT8)</a:t>
            </a:r>
          </a:p>
          <a:p>
            <a:pPr/>
            <a:r>
              <a:rPr sz="1200"/>
              <a:t>LLM 整形・抽出</a:t>
            </a:r>
          </a:p>
        </p:txBody>
      </p:sp>
      <p:sp>
        <p:nvSpPr>
          <p:cNvPr id="4" name="TextBox 3"/>
          <p:cNvSpPr txBox="1"/>
          <p:nvPr/>
        </p:nvSpPr>
        <p:spPr>
          <a:xfrm>
            <a:off x="10668000" y="6477000"/>
            <a:ext cx="1397000" cy="317500"/>
          </a:xfrm>
          <a:prstGeom prst="rect">
            <a:avLst/>
          </a:prstGeom>
          <a:noFill/>
        </p:spPr>
        <p:txBody>
          <a:bodyPr wrap="none">
            <a:spAutoFit/>
          </a:bodyPr>
          <a:lstStyle/>
          <a:p>
            <a:r>
              <a:rPr sz="1000"/>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音声メモ→整文化→タスク抽出（失敗モードと回避策）</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ユースケース別推奨スタック</a:t>
            </a:r>
          </a:p>
          <a:p>
            <a:pPr/>
            <a:r>
              <a:rPr sz="1200"/>
              <a:t>結論：誤転記・要点漏れ・推論不足は「設計」で抑え込む。</a:t>
            </a:r>
            <a:br/>
            <a:r>
              <a:rPr sz="1200"/>
              <a:t> VADによる区間分割、逐次要約、テンプレ固定が鍵となります。</a:t>
            </a:r>
          </a:p>
          <a:p>
            <a:pPr/>
            <a:r>
              <a:rPr sz="1200"/>
              <a:t>ASR誤転記→抽出ミス</a:t>
            </a:r>
          </a:p>
          <a:p>
            <a:pPr/>
            <a:r>
              <a:rPr sz="1200"/>
              <a:t>失敗モード</a:t>
            </a:r>
          </a:p>
          <a:p>
            <a:pPr/>
            <a:r>
              <a:rPr sz="1200"/>
              <a:t>ASRが固有名詞や数値を誤認識し、そのままタスクとして抽出されてしまう。</a:t>
            </a:r>
          </a:p>
          <a:p>
            <a:pPr/>
            <a:r>
              <a:rPr sz="1200"/>
              <a:t>回避策（Design）</a:t>
            </a:r>
          </a:p>
          <a:p>
            <a:pPr/>
            <a:r>
              <a:rPr sz="1200"/>
              <a:t>1. VADで区間分割：無音除去で認識精度向上。</a:t>
            </a:r>
            <a:br/>
            <a:r>
              <a:rPr sz="1200"/>
              <a:t> 2. 重要箇所再確認UI：抽出されたタスクの元音声をワンクリック再生できるUIを提供。</a:t>
            </a:r>
          </a:p>
          <a:p>
            <a:pPr/>
            <a:r>
              <a:rPr sz="1200"/>
              <a:t>Silero VAD</a:t>
            </a:r>
          </a:p>
        </p:txBody>
      </p:sp>
      <p:sp>
        <p:nvSpPr>
          <p:cNvPr id="4" name="TextBox 3"/>
          <p:cNvSpPr txBox="1"/>
          <p:nvPr/>
        </p:nvSpPr>
        <p:spPr>
          <a:xfrm>
            <a:off x="10668000" y="6477000"/>
            <a:ext cx="1397000" cy="317500"/>
          </a:xfrm>
          <a:prstGeom prst="rect">
            <a:avLst/>
          </a:prstGeom>
          <a:noFill/>
        </p:spPr>
        <p:txBody>
          <a:bodyPr wrap="none">
            <a:spAutoFit/>
          </a:bodyPr>
          <a:lstStyle/>
          <a:p>
            <a:r>
              <a:rPr sz="1000"/>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ユースケース：会議議事録（話者分離＋要約＋アクション）</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推奨スタック3構成（Tier別）</a:t>
            </a:r>
          </a:p>
          <a:p>
            <a:pPr/>
            <a:r>
              <a:rPr sz="1200"/>
              <a:t>結論：規模と要件に応じて3構成を選択。無音除去（VAD）と発話ターン統合ルールが品質下限を決定します。</a:t>
            </a:r>
            <a:br/>
            <a:r>
              <a:rPr sz="1200"/>
              <a:t>※評価はp50/p95、RTF、意味改変率で監視することを推奨します。</a:t>
            </a:r>
          </a:p>
          <a:p>
            <a:pPr/>
            <a:r>
              <a:rPr sz="1200"/>
              <a:t>低コスト構成</a:t>
            </a:r>
          </a:p>
          <a:p>
            <a:pPr/>
            <a:r>
              <a:rPr sz="1200"/>
              <a:t>前処理 (VAD)</a:t>
            </a:r>
          </a:p>
          <a:p>
            <a:pPr/>
            <a:r>
              <a:rPr sz="1200"/>
              <a:t>Silero VAD [82] 無音区間を確実に除去</a:t>
            </a:r>
          </a:p>
          <a:p>
            <a:pPr/>
            <a:r>
              <a:rPr sz="1200"/>
              <a:t>[82]</a:t>
            </a:r>
          </a:p>
          <a:p>
            <a:pPr/>
            <a:r>
              <a:rPr sz="1200"/>
              <a:t>ASR (音声認識)</a:t>
            </a:r>
          </a:p>
          <a:p>
            <a:pPr/>
            <a:r>
              <a:rPr sz="1200"/>
              <a:t>faster-whisper [50] (CPU / INT8量子化)</a:t>
            </a:r>
          </a:p>
        </p:txBody>
      </p:sp>
      <p:sp>
        <p:nvSpPr>
          <p:cNvPr id="4" name="TextBox 3"/>
          <p:cNvSpPr txBox="1"/>
          <p:nvPr/>
        </p:nvSpPr>
        <p:spPr>
          <a:xfrm>
            <a:off x="10668000" y="6477000"/>
            <a:ext cx="1397000" cy="317500"/>
          </a:xfrm>
          <a:prstGeom prst="rect">
            <a:avLst/>
          </a:prstGeom>
          <a:noFill/>
        </p:spPr>
        <p:txBody>
          <a:bodyPr wrap="none">
            <a:spAutoFit/>
          </a:bodyPr>
          <a:lstStyle/>
          <a:p>
            <a:r>
              <a:rPr sz="1000"/>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会議議事録：失敗モードと回避策</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ユースケース詳細分析</a:t>
            </a:r>
          </a:p>
          <a:p>
            <a:pPr/>
            <a:r>
              <a:rPr sz="1200"/>
              <a:t>結論：話者誤割当・ASR幻覚・長時間処理の負荷を設計で抑止。</a:t>
            </a:r>
            <a:br/>
            <a:r>
              <a:rPr sz="1200"/>
              <a:t>VAD（無音除去）の厳格化とタイムスタンプベースの検証が品質の防波堤となります。</a:t>
            </a:r>
          </a:p>
          <a:p>
            <a:pPr/>
            <a:r>
              <a:rPr sz="1200"/>
              <a:t>主な失敗モード（Failure Modes）</a:t>
            </a:r>
          </a:p>
          <a:p>
            <a:pPr/>
            <a:r>
              <a:rPr sz="1200"/>
              <a:t>話者誤割当（Diarization Error）</a:t>
            </a:r>
          </a:p>
          <a:p>
            <a:pPr/>
            <a:r>
              <a:rPr sz="1200"/>
              <a:t>高頻度</a:t>
            </a:r>
          </a:p>
          <a:p>
            <a:pPr/>
            <a:r>
              <a:rPr sz="1200"/>
              <a:t>発話の切れ目が不明確で、Aさんの発言がBさんとして記録される。特に割り込み発話で多発。</a:t>
            </a:r>
          </a:p>
          <a:p>
            <a:pPr/>
            <a:r>
              <a:rPr sz="1200"/>
              <a:t>ASR幻覚（Hallucination）</a:t>
            </a:r>
          </a:p>
          <a:p>
            <a:pPr/>
            <a:r>
              <a:rPr sz="1200"/>
              <a:t>致命的</a:t>
            </a:r>
          </a:p>
        </p:txBody>
      </p:sp>
      <p:sp>
        <p:nvSpPr>
          <p:cNvPr id="4" name="TextBox 3"/>
          <p:cNvSpPr txBox="1"/>
          <p:nvPr/>
        </p:nvSpPr>
        <p:spPr>
          <a:xfrm>
            <a:off x="10668000" y="6477000"/>
            <a:ext cx="1397000" cy="317500"/>
          </a:xfrm>
          <a:prstGeom prst="rect">
            <a:avLst/>
          </a:prstGeom>
          <a:noFill/>
        </p:spPr>
        <p:txBody>
          <a:bodyPr wrap="none">
            <a:spAutoFit/>
          </a:bodyPr>
          <a:lstStyle/>
          <a:p>
            <a:r>
              <a:rPr sz="1000"/>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ユースケース：文書RAG</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PDF/スキャン → OCR → 検索 → 回答</a:t>
            </a:r>
          </a:p>
          <a:p>
            <a:pPr/>
            <a:r>
              <a:rPr sz="1200"/>
              <a:t>結論：RAG品質はEmbeddingで上限が決まるため、「Embeddingでrecall確保→Rerankerでprecision向上」の二段構えが基本戦略です。</a:t>
            </a:r>
          </a:p>
          <a:p>
            <a:pPr/>
            <a:r>
              <a:rPr sz="1200"/>
              <a:t>低コスト構成</a:t>
            </a:r>
          </a:p>
          <a:p>
            <a:pPr/>
            <a:r>
              <a:rPr sz="1200"/>
              <a:t>OCR / Pre-process</a:t>
            </a:r>
          </a:p>
          <a:p>
            <a:pPr/>
            <a:r>
              <a:rPr sz="1200"/>
              <a:t>Tesseract OCR ※スキャン品質が高い場合</a:t>
            </a:r>
          </a:p>
          <a:p>
            <a:pPr/>
            <a:r>
              <a:rPr sz="1200"/>
              <a:t>Embedding / Reranker</a:t>
            </a:r>
          </a:p>
          <a:p>
            <a:pPr/>
            <a:r>
              <a:rPr sz="1200"/>
              <a:t>BGE-M3 (多用途) bge-reranker-base (軽量)</a:t>
            </a:r>
          </a:p>
          <a:p>
            <a:pPr/>
            <a:r>
              <a:rPr sz="1200"/>
              <a:t>LLM Runtime</a:t>
            </a:r>
          </a:p>
        </p:txBody>
      </p:sp>
      <p:sp>
        <p:nvSpPr>
          <p:cNvPr id="4" name="TextBox 3"/>
          <p:cNvSpPr txBox="1"/>
          <p:nvPr/>
        </p:nvSpPr>
        <p:spPr>
          <a:xfrm>
            <a:off x="10668000" y="6477000"/>
            <a:ext cx="1397000" cy="317500"/>
          </a:xfrm>
          <a:prstGeom prst="rect">
            <a:avLst/>
          </a:prstGeom>
          <a:noFill/>
        </p:spPr>
        <p:txBody>
          <a:bodyPr wrap="none">
            <a:spAutoFit/>
          </a:bodyPr>
          <a:lstStyle/>
          <a:p>
            <a:r>
              <a:rPr sz="1000"/>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文書RAG：失敗モードと回避策</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OCR誤読・検索失敗・幻覚への対策設計</a:t>
            </a:r>
          </a:p>
          <a:p>
            <a:pPr/>
            <a:r>
              <a:rPr sz="1200"/>
              <a:t>結論：文書RAGの失敗は「OCR誤読」「検索精度不足」「幻覚引用」に大別され、 </a:t>
            </a:r>
            <a:br/>
            <a:r>
              <a:rPr sz="1200"/>
              <a:t>前処理の標準化と原文スニペット引用のUX要件化で回避します。</a:t>
            </a:r>
          </a:p>
          <a:p>
            <a:pPr/>
            <a:r>
              <a:rPr sz="1200"/>
              <a:t>主な失敗モード（Failure Modes）</a:t>
            </a:r>
          </a:p>
          <a:p>
            <a:pPr/>
            <a:r>
              <a:rPr sz="1200"/>
              <a:t>スキャン品質低下や傾きにより、固有名詞や数値が誤認識され、正しい文書がヒットしない。</a:t>
            </a:r>
          </a:p>
          <a:p>
            <a:pPr/>
            <a:r>
              <a:rPr sz="1200"/>
              <a:t>Recall低下</a:t>
            </a:r>
          </a:p>
          <a:p>
            <a:pPr/>
            <a:r>
              <a:rPr sz="1200"/>
              <a:t>表組みや段組みが崩れてテキスト化され、文脈が断絶。LLMが意味を誤解釈する。</a:t>
            </a:r>
          </a:p>
          <a:p>
            <a:pPr/>
            <a:r>
              <a:rPr sz="1200"/>
              <a:t>Context喪失</a:t>
            </a:r>
          </a:p>
          <a:p>
            <a:pPr/>
            <a:r>
              <a:rPr sz="1200"/>
              <a:t>検索結果に含まれない情報を、さも引用したかのように回答する。</a:t>
            </a:r>
          </a:p>
        </p:txBody>
      </p:sp>
      <p:sp>
        <p:nvSpPr>
          <p:cNvPr id="4" name="TextBox 3"/>
          <p:cNvSpPr txBox="1"/>
          <p:nvPr/>
        </p:nvSpPr>
        <p:spPr>
          <a:xfrm>
            <a:off x="10668000" y="6477000"/>
            <a:ext cx="1397000" cy="317500"/>
          </a:xfrm>
          <a:prstGeom prst="rect">
            <a:avLst/>
          </a:prstGeom>
          <a:noFill/>
        </p:spPr>
        <p:txBody>
          <a:bodyPr wrap="none">
            <a:spAutoFit/>
          </a:bodyPr>
          <a:lstStyle/>
          <a:p>
            <a:r>
              <a:rPr sz="1000"/>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ユースケース：画像理解（VLM）— 3構成</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スクショ/写真の説明・抽出：推奨スタック比較</a:t>
            </a:r>
          </a:p>
          <a:p>
            <a:pPr/>
            <a:r>
              <a:rPr sz="1200"/>
              <a:t>結論：2B〜7B級VLMがローカルの現実ライン。72B級は上位機前提となります。</a:t>
            </a:r>
            <a:br/>
            <a:r>
              <a:rPr sz="1200"/>
              <a:t>※視覚トークン肥大による速度/メモリ急落を防ぐため、解像度・max-pixelsの制御が必須です。</a:t>
            </a:r>
          </a:p>
          <a:p>
            <a:pPr/>
            <a:r>
              <a:rPr sz="1200"/>
              <a:t>低コスト構成</a:t>
            </a:r>
          </a:p>
          <a:p>
            <a:pPr/>
            <a:r>
              <a:rPr sz="1200"/>
              <a:t>Target HW</a:t>
            </a:r>
          </a:p>
          <a:p>
            <a:pPr/>
            <a:r>
              <a:rPr sz="1200"/>
              <a:t>Apple 16GB / VRAM 8GB級</a:t>
            </a:r>
          </a:p>
          <a:p>
            <a:pPr/>
            <a:r>
              <a:rPr sz="1200"/>
              <a:t>VLM Model</a:t>
            </a:r>
          </a:p>
          <a:p>
            <a:pPr/>
            <a:r>
              <a:rPr sz="1200"/>
              <a:t>Qwen2-VL 2B 軽量・高速な視覚理解</a:t>
            </a:r>
          </a:p>
          <a:p>
            <a:pPr/>
            <a:r>
              <a:rPr sz="1200"/>
              <a:t>Runtime</a:t>
            </a:r>
          </a:p>
        </p:txBody>
      </p:sp>
      <p:sp>
        <p:nvSpPr>
          <p:cNvPr id="4" name="TextBox 3"/>
          <p:cNvSpPr txBox="1"/>
          <p:nvPr/>
        </p:nvSpPr>
        <p:spPr>
          <a:xfrm>
            <a:off x="10668000" y="6477000"/>
            <a:ext cx="1397000" cy="317500"/>
          </a:xfrm>
          <a:prstGeom prst="rect">
            <a:avLst/>
          </a:prstGeom>
          <a:noFill/>
        </p:spPr>
        <p:txBody>
          <a:bodyPr wrap="none">
            <a:spAutoFit/>
          </a:bodyPr>
          <a:lstStyle/>
          <a:p>
            <a:r>
              <a:rPr sz="1000"/>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画像理解：失敗モードと回避策</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ユースケース別推奨スタック（詳細）</a:t>
            </a:r>
          </a:p>
          <a:p>
            <a:pPr/>
            <a:r>
              <a:rPr sz="1200"/>
              <a:t>結論：UI文字の誤読と視覚トークン肥大による速度低下を、</a:t>
            </a:r>
            <a:br/>
            <a:r>
              <a:rPr sz="1200"/>
              <a:t>OCR併用と解像度・max-pixels制御で回避します。</a:t>
            </a:r>
          </a:p>
          <a:p>
            <a:pPr/>
            <a:r>
              <a:rPr sz="1200"/>
              <a:t>主な失敗モード（Failure Modes）</a:t>
            </a:r>
          </a:p>
          <a:p>
            <a:pPr/>
            <a:r>
              <a:rPr sz="1200"/>
              <a:t>2B/7B級VLMでは、スクリーンショット内の小さなフォントや密集した情報を正確に読み取れないケースが頻発。</a:t>
            </a:r>
          </a:p>
          <a:p>
            <a:pPr/>
            <a:r>
              <a:rPr sz="1200"/>
              <a:t>高解像度画像をそのまま入力すると、視覚トークン数が数千に達し、推論速度（TTFT/生成）が急激に悪化。</a:t>
            </a:r>
          </a:p>
          <a:p>
            <a:pPr/>
            <a:r>
              <a:rPr sz="1200"/>
              <a:t>複雑な表組みやグラフの空間関係を誤認し、存在しない数値や関係性を捏造する。</a:t>
            </a:r>
          </a:p>
          <a:p>
            <a:pPr/>
            <a:r>
              <a:rPr sz="1200"/>
              <a:t>回避策・設計（Mitigation）</a:t>
            </a:r>
          </a:p>
          <a:p>
            <a:pPr/>
            <a:r>
              <a:rPr sz="1200"/>
              <a:t>文字情報はPaddleOCR等で別経路からテキストとして供給し、VLMは「状況説明」に専念させる。</a:t>
            </a:r>
          </a:p>
        </p:txBody>
      </p:sp>
      <p:sp>
        <p:nvSpPr>
          <p:cNvPr id="4" name="TextBox 3"/>
          <p:cNvSpPr txBox="1"/>
          <p:nvPr/>
        </p:nvSpPr>
        <p:spPr>
          <a:xfrm>
            <a:off x="10668000" y="6477000"/>
            <a:ext cx="1397000" cy="317500"/>
          </a:xfrm>
          <a:prstGeom prst="rect">
            <a:avLst/>
          </a:prstGeom>
          <a:noFill/>
        </p:spPr>
        <p:txBody>
          <a:bodyPr wrap="none">
            <a:spAutoFit/>
          </a:bodyPr>
          <a:lstStyle/>
          <a:p>
            <a:r>
              <a:rPr sz="1000"/>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ユースケース：コーディング補助</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推奨スタック3パターン（IDE支援・リポジトリ理解）</a:t>
            </a:r>
          </a:p>
          <a:p>
            <a:pPr/>
            <a:r>
              <a:rPr sz="1200"/>
              <a:t>結論：補完は小型モデル、設計レビューや長距離依存解決は中〜大型モデルで役割分担します。</a:t>
            </a:r>
            <a:br/>
            <a:r>
              <a:rPr sz="1200"/>
              <a:t>※生成コードは自動コンパイル/テスト実行を“ツール”化し、検証ループに組み込むことが重要です。</a:t>
            </a:r>
          </a:p>
          <a:p>
            <a:pPr/>
            <a:r>
              <a:rPr sz="1200"/>
              <a:t>低コスト構成</a:t>
            </a:r>
          </a:p>
          <a:p>
            <a:pPr/>
            <a:r>
              <a:rPr sz="1200"/>
              <a:t>Code LLM</a:t>
            </a:r>
          </a:p>
          <a:p>
            <a:pPr/>
            <a:r>
              <a:rPr sz="1200"/>
              <a:t>Qwen2.5-Coder 7B サイズ展開が豊富で軽量</a:t>
            </a:r>
          </a:p>
          <a:p>
            <a:pPr/>
            <a:r>
              <a:rPr sz="1200"/>
              <a:t>RAG / Embedding</a:t>
            </a:r>
          </a:p>
          <a:p>
            <a:pPr/>
            <a:r>
              <a:rPr sz="1200"/>
              <a:t>リポジトリEmbedding (BGE/E5) 関連ファイル抽出→LLM回答</a:t>
            </a:r>
          </a:p>
          <a:p>
            <a:pPr/>
            <a:r>
              <a:rPr sz="1200"/>
              <a:t>Connection</a:t>
            </a:r>
          </a:p>
        </p:txBody>
      </p:sp>
      <p:sp>
        <p:nvSpPr>
          <p:cNvPr id="4" name="TextBox 3"/>
          <p:cNvSpPr txBox="1"/>
          <p:nvPr/>
        </p:nvSpPr>
        <p:spPr>
          <a:xfrm>
            <a:off x="10668000" y="6477000"/>
            <a:ext cx="1397000" cy="317500"/>
          </a:xfrm>
          <a:prstGeom prst="rect">
            <a:avLst/>
          </a:prstGeom>
          <a:noFill/>
        </p:spPr>
        <p:txBody>
          <a:bodyPr wrap="none">
            <a:spAutoFit/>
          </a:bodyPr>
          <a:lstStyle/>
          <a:p>
            <a:r>
              <a:rPr sz="1000"/>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コーディング支援：失敗モードと回避策</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コーディング補助（IDE支援・リポジトリ理解）</a:t>
            </a:r>
          </a:p>
          <a:p>
            <a:pPr/>
            <a:r>
              <a:rPr sz="1200"/>
              <a:t>結論：幻覚API生成と長文遅延を「検証ループ」と「キャッシュ活用」で抑止し、 </a:t>
            </a:r>
            <a:br/>
            <a:r>
              <a:rPr sz="1200"/>
              <a:t> コード品質とセキュリティを自動化プロセスで担保します。</a:t>
            </a:r>
          </a:p>
          <a:p>
            <a:pPr/>
            <a:r>
              <a:rPr sz="1200"/>
              <a:t>主な失敗モード（Failure Modes）</a:t>
            </a:r>
          </a:p>
          <a:p>
            <a:pPr/>
            <a:r>
              <a:rPr sz="1200"/>
              <a:t>ライブラリのバージョン不一致や、もっともらしいが実在しない関数（Hallucination）を生成。</a:t>
            </a:r>
          </a:p>
          <a:p>
            <a:pPr/>
            <a:r>
              <a:rPr sz="1200"/>
              <a:t>リポジトリ全体を読み込むとKVキャッシュが肥大化し、補完のレスポンスが低下する。</a:t>
            </a:r>
          </a:p>
          <a:p>
            <a:pPr/>
            <a:r>
              <a:rPr sz="1200"/>
              <a:t>古い構文や廃止されたメソッドを使用し、コンパイルエラーやセキュリティリスクを招く。</a:t>
            </a:r>
          </a:p>
          <a:p>
            <a:pPr/>
            <a:r>
              <a:rPr sz="1200"/>
              <a:t>回避策・設計（Mitigation &amp; Design）</a:t>
            </a:r>
          </a:p>
          <a:p>
            <a:pPr/>
            <a:r>
              <a:rPr sz="1200"/>
              <a:t>ビルド・単体テスト実行をfunction callingとしてLLMに提供。失敗時はエラーログをフィードバックして再生成させる。</a:t>
            </a:r>
          </a:p>
        </p:txBody>
      </p:sp>
      <p:sp>
        <p:nvSpPr>
          <p:cNvPr id="4" name="TextBox 3"/>
          <p:cNvSpPr txBox="1"/>
          <p:nvPr/>
        </p:nvSpPr>
        <p:spPr>
          <a:xfrm>
            <a:off x="10668000" y="6477000"/>
            <a:ext cx="1397000" cy="317500"/>
          </a:xfrm>
          <a:prstGeom prst="rect">
            <a:avLst/>
          </a:prstGeom>
          <a:noFill/>
        </p:spPr>
        <p:txBody>
          <a:bodyPr wrap="none">
            <a:spAutoFit/>
          </a:bodyPr>
          <a:lstStyle/>
          <a:p>
            <a:r>
              <a:rPr sz="1000"/>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ユースケース：画像生成（Diffusion）— 3構成</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推奨スタックとVRAM要件の最適化</a:t>
            </a:r>
          </a:p>
          <a:p>
            <a:pPr/>
            <a:r>
              <a:rPr sz="1200"/>
              <a:t>結論：SDXLを軸にComfyUIでワークフローを資産化。FLUX等はライセンス精査が必須です。</a:t>
            </a:r>
            <a:br/>
            <a:r>
              <a:rPr sz="1200"/>
              <a:t>※VRAM要件は解像度・バッチ・ステップ数に依存するため、プロファイル固定が重要です。</a:t>
            </a:r>
          </a:p>
          <a:p>
            <a:pPr/>
            <a:r>
              <a:rPr sz="1200"/>
              <a:t>低コスト構成</a:t>
            </a:r>
          </a:p>
          <a:p>
            <a:pPr/>
            <a:r>
              <a:rPr sz="1200"/>
              <a:t>Target VRAM</a:t>
            </a:r>
          </a:p>
          <a:p>
            <a:pPr/>
            <a:r>
              <a:rPr sz="1200"/>
              <a:t>VRAM 8GB〜12GB</a:t>
            </a:r>
            <a:br/>
            <a:r>
              <a:rPr sz="1200"/>
              <a:t>(Apple Silicon 16GB)</a:t>
            </a:r>
          </a:p>
          <a:p>
            <a:pPr/>
            <a:r>
              <a:rPr sz="1200"/>
              <a:t>Model / UI</a:t>
            </a:r>
          </a:p>
          <a:p>
            <a:pPr/>
            <a:r>
              <a:rPr sz="1200"/>
              <a:t>SDXL base 1.0 + Refinerなし</a:t>
            </a:r>
            <a:br/>
            <a:r>
              <a:rPr sz="1200"/>
              <a:t>ComfyUI (Win/Linux/macOS)</a:t>
            </a:r>
          </a:p>
          <a:p>
            <a:pPr/>
            <a:r>
              <a:rPr sz="1200"/>
              <a:t>Optimization</a:t>
            </a:r>
          </a:p>
        </p:txBody>
      </p:sp>
      <p:sp>
        <p:nvSpPr>
          <p:cNvPr id="4" name="TextBox 3"/>
          <p:cNvSpPr txBox="1"/>
          <p:nvPr/>
        </p:nvSpPr>
        <p:spPr>
          <a:xfrm>
            <a:off x="10668000" y="6477000"/>
            <a:ext cx="1397000" cy="317500"/>
          </a:xfrm>
          <a:prstGeom prst="rect">
            <a:avLst/>
          </a:prstGeom>
          <a:noFill/>
        </p:spPr>
        <p:txBody>
          <a:bodyPr wrap="none">
            <a:spAutoFit/>
          </a:bodyPr>
          <a:lstStyle/>
          <a:p>
            <a:r>
              <a:rPr sz="1000"/>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画像生成：失敗モードと回避策</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VRAM制約と品質・ライセンス管理</a:t>
            </a:r>
          </a:p>
          <a:p>
            <a:pPr/>
            <a:r>
              <a:rPr sz="1200"/>
              <a:t>結論：VRAM不足と生成結果のブレを「標準プロファイル」で抑制し、 </a:t>
            </a:r>
            <a:br/>
            <a:r>
              <a:rPr sz="1200"/>
              <a:t> ライセンス違反リスクを「事前精査と監査」で排除します。</a:t>
            </a:r>
          </a:p>
          <a:p>
            <a:pPr/>
            <a:r>
              <a:rPr sz="1200"/>
              <a:t>主な失敗モード（Failure Modes）</a:t>
            </a:r>
          </a:p>
          <a:p>
            <a:pPr/>
            <a:r>
              <a:rPr sz="1200"/>
              <a:t>高解像度や大バッチ指定時にプロセスがクラッシュ。特にSDXL/FLUX等の大型モデルで頻発。</a:t>
            </a:r>
          </a:p>
          <a:p>
            <a:pPr/>
            <a:r>
              <a:rPr sz="1200"/>
              <a:t>同じプロンプトでもSeedや設定の違いで出力が変動し、UIモック等の修正サイクルが回らない。</a:t>
            </a:r>
          </a:p>
          <a:p>
            <a:pPr/>
            <a:r>
              <a:rPr sz="1200"/>
              <a:t>FLUX.1-dev等の非商用/開発用ライセンスを、誤って商用プロダクトや社内資料に利用してしまう。</a:t>
            </a:r>
          </a:p>
          <a:p>
            <a:pPr/>
            <a:r>
              <a:rPr sz="1200"/>
              <a:t>回避策と設計（Mitigation Strategies）</a:t>
            </a:r>
          </a:p>
          <a:p>
            <a:pPr/>
            <a:r>
              <a:rPr sz="1200"/>
              <a:t>VRAM容量に応じた上限テーブルを作成。Attention SlicingやVAE Tiling等の最適化を強制適用。</a:t>
            </a:r>
          </a:p>
        </p:txBody>
      </p:sp>
      <p:sp>
        <p:nvSpPr>
          <p:cNvPr id="4" name="TextBox 3"/>
          <p:cNvSpPr txBox="1"/>
          <p:nvPr/>
        </p:nvSpPr>
        <p:spPr>
          <a:xfrm>
            <a:off x="10668000" y="6477000"/>
            <a:ext cx="1397000" cy="317500"/>
          </a:xfrm>
          <a:prstGeom prst="rect">
            <a:avLst/>
          </a:prstGeom>
          <a:noFill/>
        </p:spPr>
        <p:txBody>
          <a:bodyPr wrap="none">
            <a:spAutoFit/>
          </a:bodyPr>
          <a:lstStyle/>
          <a:p>
            <a:r>
              <a:rPr sz="1000"/>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10</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測定と比較の</a:t>
            </a:r>
            <a:br/>
            <a:r>
              <a:rPr sz="1200"/>
              <a:t>方法</a:t>
            </a:r>
          </a:p>
          <a:p>
            <a:pPr/>
            <a:r>
              <a:rPr sz="1200"/>
              <a:t>ベンチマーク設計と</a:t>
            </a:r>
            <a:br/>
            <a:r>
              <a:rPr sz="1200"/>
              <a:t>再現性の担保</a:t>
            </a:r>
          </a:p>
          <a:p>
            <a:pPr/>
            <a:r>
              <a:rPr sz="1200"/>
              <a:t>KEY TAKEAWAYS</a:t>
            </a:r>
          </a:p>
          <a:p>
            <a:pPr/>
            <a:r>
              <a:rPr sz="1200"/>
              <a:t>本章の要点</a:t>
            </a:r>
          </a:p>
          <a:p>
            <a:pPr/>
            <a:r>
              <a:rPr sz="1200"/>
              <a:t>指標の厳密定義：</a:t>
            </a:r>
            <a:br/>
            <a:r>
              <a:rPr sz="1200"/>
              <a:t> p50/p95レイテンシ、TTFT、tok/s、RTF等を定義し、JSON破壊率や意味改変率も定量化します。</a:t>
            </a:r>
          </a:p>
          <a:p>
            <a:pPr/>
            <a:r>
              <a:rPr sz="1200"/>
              <a:t>測定手順の標準化：</a:t>
            </a:r>
            <a:br/>
            <a:r>
              <a:rPr sz="1200"/>
              <a:t> 条件固定（温度・量子化等）、ウォームアップ分離、KV影響の切り分け（短文/長文）を徹底します。</a:t>
            </a:r>
          </a:p>
          <a:p>
            <a:pPr/>
            <a:r>
              <a:rPr sz="1200"/>
              <a:t>再現性のコア要素：</a:t>
            </a:r>
            <a:br/>
            <a:r>
              <a:rPr sz="1200"/>
              <a:t> ASR/TTSの前処理固定と、最小テストセット（短文/長文/構造化/音声）による比較を実施します。</a:t>
            </a:r>
          </a:p>
          <a:p>
            <a:pPr/>
            <a:r>
              <a:rPr sz="1200"/>
              <a:t>指標定義</a:t>
            </a:r>
          </a:p>
        </p:txBody>
      </p:sp>
      <p:sp>
        <p:nvSpPr>
          <p:cNvPr id="4" name="TextBox 3"/>
          <p:cNvSpPr txBox="1"/>
          <p:nvPr/>
        </p:nvSpPr>
        <p:spPr>
          <a:xfrm>
            <a:off x="10668000" y="6477000"/>
            <a:ext cx="1397000" cy="317500"/>
          </a:xfrm>
          <a:prstGeom prst="rect">
            <a:avLst/>
          </a:prstGeom>
          <a:noFill/>
        </p:spPr>
        <p:txBody>
          <a:bodyPr wrap="none">
            <a:spAutoFit/>
          </a:bodyPr>
          <a:lstStyle/>
          <a:p>
            <a:r>
              <a:rPr sz="1000"/>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測定指標の定義</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p50/p95・TTFT・tok/s・RTF・品質指標</a:t>
            </a:r>
          </a:p>
          <a:p>
            <a:pPr/>
            <a:r>
              <a:rPr sz="1200"/>
              <a:t>結論：LLMの「初速（TTFT）」と「生成速度（tok/s）」を分離して計測し、</a:t>
            </a:r>
            <a:br/>
            <a:r>
              <a:rPr sz="1200"/>
              <a:t> 品質（JSON破壊率等）とリソース消費（RAM/VRAM）を定量化します。</a:t>
            </a:r>
          </a:p>
          <a:p>
            <a:pPr/>
            <a:r>
              <a:rPr sz="1200"/>
              <a:t>速度・リソース指標（Latency &amp; Resource）</a:t>
            </a:r>
          </a:p>
          <a:p>
            <a:pPr/>
            <a:r>
              <a:rPr sz="1200"/>
              <a:t>TTFT（Time To First Token）と生成完了時間を分離して計測。KV reuseやprompt cacheの効果はTTFTに現れるため分離が必須。</a:t>
            </a:r>
          </a:p>
          <a:p>
            <a:pPr/>
            <a:r>
              <a:rPr sz="1200"/>
              <a:t>生成トークン数 ÷ 生成時間。ユーザーの体感速度やバッチ処理能力の指標。</a:t>
            </a:r>
          </a:p>
          <a:p>
            <a:pPr/>
            <a:r>
              <a:rPr sz="1200"/>
              <a:t>ASR/TTS用指標。処理時間 ÷ 音声長。</a:t>
            </a:r>
          </a:p>
          <a:p>
            <a:pPr/>
            <a:r>
              <a:rPr sz="1200"/>
              <a:t>RTF &lt; 1.0 なら実時間より高速</a:t>
            </a:r>
          </a:p>
          <a:p>
            <a:pPr/>
            <a:r>
              <a:rPr sz="1200"/>
              <a:t>OS監視またはプロセス単位（nvidia-smi等）で計測。Apple Silicon等の統合メモリ環境ではシステム全体の圧迫度も注視。</a:t>
            </a:r>
          </a:p>
        </p:txBody>
      </p:sp>
      <p:sp>
        <p:nvSpPr>
          <p:cNvPr id="4" name="TextBox 3"/>
          <p:cNvSpPr txBox="1"/>
          <p:nvPr/>
        </p:nvSpPr>
        <p:spPr>
          <a:xfrm>
            <a:off x="10668000" y="6477000"/>
            <a:ext cx="1397000" cy="317500"/>
          </a:xfrm>
          <a:prstGeom prst="rect">
            <a:avLst/>
          </a:prstGeom>
          <a:noFill/>
        </p:spPr>
        <p:txBody>
          <a:bodyPr wrap="none">
            <a:spAutoFit/>
          </a:bodyPr>
          <a:lstStyle/>
          <a:p>
            <a:r>
              <a:rPr sz="1000"/>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測定手順（条件固定・ウォームアップ・KV切り分け）</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再現可能なベンチマーク設計の要件</a:t>
            </a:r>
          </a:p>
          <a:p>
            <a:pPr/>
            <a:r>
              <a:rPr sz="1200"/>
              <a:t>再現条件の固定</a:t>
            </a:r>
          </a:p>
          <a:p>
            <a:pPr/>
            <a:r>
              <a:rPr sz="1200"/>
              <a:t>生成パラメータの統一</a:t>
            </a:r>
          </a:p>
          <a:p>
            <a:pPr/>
            <a:r>
              <a:rPr sz="1200"/>
              <a:t>同一プロンプト、最大トークン数、温度（temperature）、top_p を固定し、ランダム性を排除または制御します。</a:t>
            </a:r>
          </a:p>
          <a:p>
            <a:pPr/>
            <a:r>
              <a:rPr sz="1200"/>
              <a:t>モデル環境の固定</a:t>
            </a:r>
          </a:p>
          <a:p>
            <a:pPr/>
            <a:r>
              <a:rPr sz="1200"/>
              <a:t>同一の量子化形式（GGUF Q4_K_Mなど）、コンテキスト長設定を使用します。</a:t>
            </a:r>
          </a:p>
          <a:p>
            <a:pPr/>
            <a:r>
              <a:rPr sz="1200"/>
              <a:t>音声・画像系の前提</a:t>
            </a:r>
          </a:p>
          <a:p>
            <a:pPr/>
            <a:r>
              <a:rPr sz="1200"/>
              <a:t>ASR/TTSは同一音声・同一前処理（VAD有無）、同一話者設定で品質と速度を分離測定します。</a:t>
            </a:r>
          </a:p>
        </p:txBody>
      </p:sp>
      <p:sp>
        <p:nvSpPr>
          <p:cNvPr id="4" name="TextBox 3"/>
          <p:cNvSpPr txBox="1"/>
          <p:nvPr/>
        </p:nvSpPr>
        <p:spPr>
          <a:xfrm>
            <a:off x="10668000" y="6477000"/>
            <a:ext cx="1397000" cy="317500"/>
          </a:xfrm>
          <a:prstGeom prst="rect">
            <a:avLst/>
          </a:prstGeom>
          <a:noFill/>
        </p:spPr>
        <p:txBody>
          <a:bodyPr wrap="none">
            <a:spAutoFit/>
          </a:bodyPr>
          <a:lstStyle/>
          <a:p>
            <a:r>
              <a:rPr sz="1000"/>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リスクとコンプライアンス</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ライセンス管理・プライバシー・安全性対策</a:t>
            </a:r>
          </a:p>
          <a:p>
            <a:pPr/>
            <a:r>
              <a:rPr sz="1200"/>
              <a:t>結論：「コードのOSSライセンス」と「モデル重みの利用条件」を分離管理し、ローカル完結の利点を活かしつつ、検証ループによる安全性確保が必須です。</a:t>
            </a:r>
          </a:p>
          <a:p>
            <a:pPr/>
            <a:r>
              <a:rPr sz="1200"/>
              <a:t>ライセンス管理</a:t>
            </a:r>
          </a:p>
          <a:p>
            <a:pPr/>
            <a:r>
              <a:rPr sz="1200"/>
              <a:t>コードと重みの分離</a:t>
            </a:r>
            <a:br/>
            <a:r>
              <a:rPr sz="1200"/>
              <a:t> ランタイム(MIT/Apache)とモデル重み(Community/非商用)は別条件。利用範囲を台帳化する。</a:t>
            </a:r>
          </a:p>
          <a:p>
            <a:pPr/>
            <a:r>
              <a:rPr sz="1200"/>
              <a:t>個別確認の義務化</a:t>
            </a:r>
            <a:br/>
            <a:r>
              <a:rPr sz="1200"/>
              <a:t> Qwen2.5のファミリー内例外や、FLUX.1-dev等の派生モデル条件を一次ソースで確認する。</a:t>
            </a:r>
          </a:p>
          <a:p>
            <a:pPr/>
            <a:r>
              <a:rPr sz="1200"/>
              <a:t>[33]</a:t>
            </a:r>
          </a:p>
          <a:p>
            <a:pPr/>
            <a:r>
              <a:rPr sz="1200"/>
              <a:t>プライバシー・安全</a:t>
            </a:r>
          </a:p>
          <a:p>
            <a:pPr/>
            <a:r>
              <a:rPr sz="1200"/>
              <a:t>ローカル完結の徹底</a:t>
            </a:r>
            <a:br/>
            <a:r>
              <a:rPr sz="1200"/>
              <a:t> 入力データがデフォルトで外部送信されない構成を物理/論理的に担保。LAN内APIも管理対象。</a:t>
            </a:r>
          </a:p>
        </p:txBody>
      </p:sp>
      <p:sp>
        <p:nvSpPr>
          <p:cNvPr id="4" name="TextBox 3"/>
          <p:cNvSpPr txBox="1"/>
          <p:nvPr/>
        </p:nvSpPr>
        <p:spPr>
          <a:xfrm>
            <a:off x="10668000" y="6477000"/>
            <a:ext cx="1397000" cy="317500"/>
          </a:xfrm>
          <a:prstGeom prst="rect">
            <a:avLst/>
          </a:prstGeom>
          <a:noFill/>
        </p:spPr>
        <p:txBody>
          <a:bodyPr wrap="none">
            <a:spAutoFit/>
          </a:bodyPr>
          <a:lstStyle/>
          <a:p>
            <a:r>
              <a:rPr sz="1000"/>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まとめ（意思決定フロー）</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ローカルAI導入の5ステップと判断基準</a:t>
            </a:r>
          </a:p>
          <a:p>
            <a:pPr/>
            <a:r>
              <a:rPr sz="1200"/>
              <a:t>1</a:t>
            </a:r>
          </a:p>
          <a:p>
            <a:pPr/>
            <a:r>
              <a:rPr sz="1200"/>
              <a:t>要件定義</a:t>
            </a:r>
            <a:br/>
            <a:r>
              <a:rPr sz="1200"/>
              <a:t>Requirements</a:t>
            </a:r>
          </a:p>
          <a:p>
            <a:pPr/>
            <a:r>
              <a:rPr sz="1200"/>
              <a:t>Requirements</a:t>
            </a:r>
          </a:p>
          <a:p>
            <a:pPr/>
            <a:r>
              <a:rPr sz="1200"/>
              <a:t>業務課題から技術要件へ変換する始点。</a:t>
            </a:r>
          </a:p>
          <a:p>
            <a:pPr/>
            <a:r>
              <a:rPr sz="1200"/>
              <a:t>判断基準 (Criteria)</a:t>
            </a:r>
          </a:p>
          <a:p>
            <a:pPr/>
            <a:r>
              <a:rPr sz="1200"/>
              <a:t>品質: 日本語、JSON、専門性</a:t>
            </a:r>
          </a:p>
          <a:p>
            <a:pPr/>
            <a:r>
              <a:rPr sz="1200"/>
              <a:t>速度: p95レイテンシ、tok/s</a:t>
            </a:r>
          </a:p>
        </p:txBody>
      </p:sp>
      <p:sp>
        <p:nvSpPr>
          <p:cNvPr id="4" name="TextBox 3"/>
          <p:cNvSpPr txBox="1"/>
          <p:nvPr/>
        </p:nvSpPr>
        <p:spPr>
          <a:xfrm>
            <a:off x="10668000" y="6477000"/>
            <a:ext cx="1397000" cy="317500"/>
          </a:xfrm>
          <a:prstGeom prst="rect">
            <a:avLst/>
          </a:prstGeom>
          <a:noFill/>
        </p:spPr>
        <p:txBody>
          <a:bodyPr wrap="none">
            <a:spAutoFit/>
          </a:bodyPr>
          <a:lstStyle/>
          <a:p>
            <a:r>
              <a:rPr sz="1000"/>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総括（実務への適用）</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実装の原則と次のステップ</a:t>
            </a:r>
          </a:p>
          <a:p>
            <a:pPr/>
            <a:r>
              <a:rPr sz="1200"/>
              <a:t>結論：ローカルAIは「4bit量子化＋KV最適化」を前提に、 </a:t>
            </a:r>
            <a:br/>
            <a:r>
              <a:rPr sz="1200"/>
              <a:t> 失敗モードを設計で抑え込むことで実務運用が可能です。</a:t>
            </a:r>
          </a:p>
          <a:p>
            <a:pPr/>
            <a:r>
              <a:rPr sz="1200"/>
              <a:t>実装の原則（Principles）</a:t>
            </a:r>
          </a:p>
          <a:p>
            <a:pPr/>
            <a:r>
              <a:rPr sz="1200"/>
              <a:t>重みは4bit（GGUF/AWQ/GPTQ）でメモリ理論値を計算し、Tierに合わせる。</a:t>
            </a:r>
          </a:p>
          <a:p>
            <a:pPr/>
            <a:r>
              <a:rPr sz="1200"/>
              <a:t>Cost-Efficiency</a:t>
            </a:r>
          </a:p>
          <a:p>
            <a:pPr/>
            <a:r>
              <a:rPr sz="1200"/>
              <a:t>長文・多同時接続時は、paged KV、KV量子化、prompt cacheを活用してメモリ爆発を防ぐ。</a:t>
            </a:r>
          </a:p>
          <a:p>
            <a:pPr/>
            <a:r>
              <a:rPr sz="1200"/>
              <a:t>Scalability</a:t>
            </a:r>
          </a:p>
          <a:p>
            <a:pPr/>
            <a:r>
              <a:rPr sz="1200"/>
              <a:t>幻覚・誤転記・JSON破壊は「起きるもの」とし、UI確認・検証ループ・再生成でカバーする。</a:t>
            </a:r>
          </a:p>
        </p:txBody>
      </p:sp>
      <p:sp>
        <p:nvSpPr>
          <p:cNvPr id="4" name="TextBox 3"/>
          <p:cNvSpPr txBox="1"/>
          <p:nvPr/>
        </p:nvSpPr>
        <p:spPr>
          <a:xfrm>
            <a:off x="10668000" y="6477000"/>
            <a:ext cx="1397000" cy="317500"/>
          </a:xfrm>
          <a:prstGeom prst="rect">
            <a:avLst/>
          </a:prstGeom>
          <a:noFill/>
        </p:spPr>
        <p:txBody>
          <a:bodyPr wrap="none">
            <a:spAutoFit/>
          </a:bodyPr>
          <a:lstStyle/>
          <a:p>
            <a:r>
              <a:rPr sz="1000"/>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References（1/4）</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Technical Research Report Sources [1-34]</a:t>
            </a:r>
          </a:p>
          <a:p>
            <a:pPr/>
            <a:r>
              <a:rPr sz="1200"/>
              <a:t>[1]</a:t>
            </a:r>
          </a:p>
          <a:p>
            <a:pPr/>
            <a:r>
              <a:rPr sz="1200"/>
              <a:t>https://www.apple.com/newsroom/2020/11/apple-unleashes-m1/</a:t>
            </a:r>
          </a:p>
          <a:p>
            <a:pPr/>
            <a:r>
              <a:rPr sz="1200"/>
              <a:t>[2]</a:t>
            </a:r>
          </a:p>
          <a:p>
            <a:pPr/>
            <a:r>
              <a:rPr sz="1200"/>
              <a:t>https://docs.openhands.dev/openhands/usage/llms/local-llms</a:t>
            </a:r>
          </a:p>
          <a:p>
            <a:pPr/>
            <a:r>
              <a:rPr sz="1200"/>
              <a:t>[3]</a:t>
            </a:r>
          </a:p>
          <a:p>
            <a:pPr/>
            <a:r>
              <a:rPr sz="1200"/>
              <a:t>https://lmstudio.ai/docs/developer/core/server</a:t>
            </a:r>
          </a:p>
          <a:p>
            <a:pPr/>
            <a:r>
              <a:rPr sz="1200"/>
              <a:t>[4]</a:t>
            </a:r>
          </a:p>
        </p:txBody>
      </p:sp>
      <p:sp>
        <p:nvSpPr>
          <p:cNvPr id="4" name="TextBox 3"/>
          <p:cNvSpPr txBox="1"/>
          <p:nvPr/>
        </p:nvSpPr>
        <p:spPr>
          <a:xfrm>
            <a:off x="10668000" y="6477000"/>
            <a:ext cx="1397000" cy="317500"/>
          </a:xfrm>
          <a:prstGeom prst="rect">
            <a:avLst/>
          </a:prstGeom>
          <a:noFill/>
        </p:spPr>
        <p:txBody>
          <a:bodyPr wrap="none">
            <a:spAutoFit/>
          </a:bodyPr>
          <a:lstStyle/>
          <a:p>
            <a:r>
              <a:rPr sz="1000"/>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References（参考文献リスト 2/4）</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[35]～[68] Llama / Qwen / Gemma / Phi / VLM / Whisper / TTS / OCR</a:t>
            </a:r>
          </a:p>
          <a:p>
            <a:pPr/>
            <a:r>
              <a:rPr sz="1200"/>
              <a:t>Page 78 | ローカルAI 技術調査レポート 2026</a:t>
            </a:r>
          </a:p>
          <a:p>
            <a:pPr/>
            <a:r>
              <a:rPr sz="1200"/>
              <a:t>Reference List [35-68]</a:t>
            </a:r>
          </a:p>
        </p:txBody>
      </p:sp>
      <p:sp>
        <p:nvSpPr>
          <p:cNvPr id="4" name="TextBox 3"/>
          <p:cNvSpPr txBox="1"/>
          <p:nvPr/>
        </p:nvSpPr>
        <p:spPr>
          <a:xfrm>
            <a:off x="10668000" y="6477000"/>
            <a:ext cx="1397000" cy="317500"/>
          </a:xfrm>
          <a:prstGeom prst="rect">
            <a:avLst/>
          </a:prstGeom>
          <a:noFill/>
        </p:spPr>
        <p:txBody>
          <a:bodyPr wrap="none">
            <a:spAutoFit/>
          </a:bodyPr>
          <a:lstStyle/>
          <a:p>
            <a:r>
              <a:rPr sz="1000"/>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References（3/4）</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参考文献リスト [69] - [102]</a:t>
            </a:r>
          </a:p>
          <a:p>
            <a:pPr/>
            <a:r>
              <a:rPr sz="1200"/>
              <a:t>Page 79 | ローカルAI 技術調査レポート 2026</a:t>
            </a:r>
          </a:p>
          <a:p>
            <a:pPr/>
            <a:r>
              <a:rPr sz="1200"/>
              <a:t>Data Source: Technical Survey Report</a:t>
            </a:r>
          </a:p>
        </p:txBody>
      </p:sp>
      <p:sp>
        <p:nvSpPr>
          <p:cNvPr id="4" name="TextBox 3"/>
          <p:cNvSpPr txBox="1"/>
          <p:nvPr/>
        </p:nvSpPr>
        <p:spPr>
          <a:xfrm>
            <a:off x="10668000" y="6477000"/>
            <a:ext cx="1397000" cy="317500"/>
          </a:xfrm>
          <a:prstGeom prst="rect">
            <a:avLst/>
          </a:prstGeom>
          <a:noFill/>
        </p:spPr>
        <p:txBody>
          <a:bodyPr wrap="none">
            <a:spAutoFit/>
          </a:bodyPr>
          <a:lstStyle/>
          <a:p>
            <a:r>
              <a:rPr sz="1000"/>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1016000"/>
          </a:xfrm>
          <a:prstGeom prst="rect">
            <a:avLst/>
          </a:prstGeom>
          <a:noFill/>
        </p:spPr>
        <p:txBody>
          <a:bodyPr wrap="none">
            <a:spAutoFit/>
          </a:bodyPr>
          <a:lstStyle/>
          <a:p>
            <a:r>
              <a:rPr sz="1800"/>
              <a:t>References（参考文献リスト4/4）</a:t>
            </a:r>
          </a:p>
        </p:txBody>
      </p:sp>
      <p:sp>
        <p:nvSpPr>
          <p:cNvPr id="3" name="TextBox 2"/>
          <p:cNvSpPr txBox="1"/>
          <p:nvPr/>
        </p:nvSpPr>
        <p:spPr>
          <a:xfrm>
            <a:off x="762000" y="2032000"/>
            <a:ext cx="10668000" cy="4064000"/>
          </a:xfrm>
          <a:prstGeom prst="rect">
            <a:avLst/>
          </a:prstGeom>
          <a:noFill/>
        </p:spPr>
        <p:txBody>
          <a:bodyPr wrap="none">
            <a:spAutoFit/>
          </a:bodyPr>
          <a:lstStyle/>
          <a:p>
            <a:pPr/>
            <a:r>
              <a:rPr sz="1200"/>
              <a:t>音声周辺・ベンチマーク・最適化技術・ハードウェア関連 [103] - [136]</a:t>
            </a:r>
          </a:p>
          <a:p>
            <a:pPr/>
            <a:r>
              <a:rPr sz="1200"/>
              <a:t>完</a:t>
            </a:r>
          </a:p>
          <a:p>
            <a:pPr/>
            <a:r>
              <a:rPr sz="1200"/>
              <a:t>Page 80 | ローカルAI 技術調査レポート 2026</a:t>
            </a:r>
          </a:p>
          <a:p>
            <a:pPr/>
            <a:r>
              <a:rPr sz="1200"/>
              <a:t>Technical Survey Completed.</a:t>
            </a:r>
          </a:p>
        </p:txBody>
      </p:sp>
      <p:sp>
        <p:nvSpPr>
          <p:cNvPr id="4" name="TextBox 3"/>
          <p:cNvSpPr txBox="1"/>
          <p:nvPr/>
        </p:nvSpPr>
        <p:spPr>
          <a:xfrm>
            <a:off x="10668000" y="6477000"/>
            <a:ext cx="1397000" cy="317500"/>
          </a:xfrm>
          <a:prstGeom prst="rect">
            <a:avLst/>
          </a:prstGeom>
          <a:noFill/>
        </p:spPr>
        <p:txBody>
          <a:bodyPr wrap="none">
            <a:spAutoFit/>
          </a:bodyPr>
          <a:lstStyle/>
          <a:p>
            <a:r>
              <a:rPr sz="1000"/>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762000"/>
            <a:ext cx="10668000" cy="762000"/>
          </a:xfrm>
          <a:prstGeom prst="rect">
            <a:avLst/>
          </a:prstGeom>
          <a:noFill/>
        </p:spPr>
        <p:txBody>
          <a:bodyPr wrap="none">
            <a:spAutoFit/>
          </a:bodyPr>
          <a:lstStyle/>
          <a:p>
            <a:r>
              <a:rPr sz="2000"/>
              <a:t>引用</a:t>
            </a:r>
          </a:p>
        </p:txBody>
      </p:sp>
      <p:sp>
        <p:nvSpPr>
          <p:cNvPr id="3" name="TextBox 2"/>
          <p:cNvSpPr txBox="1"/>
          <p:nvPr/>
        </p:nvSpPr>
        <p:spPr>
          <a:xfrm>
            <a:off x="762000" y="1778000"/>
            <a:ext cx="10668000" cy="4318000"/>
          </a:xfrm>
          <a:prstGeom prst="rect">
            <a:avLst/>
          </a:prstGeom>
          <a:noFill/>
        </p:spPr>
        <p:txBody>
          <a:bodyPr wrap="none">
            <a:spAutoFit/>
          </a:bodyPr>
          <a:lstStyle/>
          <a:p>
            <a:pPr/>
            <a:r>
              <a:rPr sz="1000"/>
              <a:t>※1 p.1 chunk=s001_sh004</a:t>
            </a:r>
          </a:p>
          <a:p>
            <a:pPr/>
            <a:r>
              <a:rPr sz="1000"/>
              <a:t>※2 p.2 chunk=s002_sh004</a:t>
            </a:r>
          </a:p>
          <a:p>
            <a:pPr/>
            <a:r>
              <a:rPr sz="1000"/>
              <a:t>※3 p.3 chunk=s003_sh005</a:t>
            </a:r>
          </a:p>
          <a:p>
            <a:pPr/>
            <a:r>
              <a:rPr sz="1000"/>
              <a:t>※4 p.4 chunk=s004_sh004</a:t>
            </a:r>
          </a:p>
          <a:p>
            <a:pPr/>
            <a:r>
              <a:rPr sz="1000"/>
              <a:t>※5 p.5 chunk=s005_sh006</a:t>
            </a:r>
          </a:p>
          <a:p>
            <a:pPr/>
            <a:r>
              <a:rPr sz="1000"/>
              <a:t>※6 p.6 chunk=s006_sh006</a:t>
            </a:r>
          </a:p>
          <a:p>
            <a:pPr/>
            <a:r>
              <a:rPr sz="1000"/>
              <a:t>※7 p.7 chunk=s007_sh006</a:t>
            </a:r>
          </a:p>
          <a:p>
            <a:pPr/>
            <a:r>
              <a:rPr sz="1000"/>
              <a:t>※8 p.8 chunk=s008_sh005</a:t>
            </a:r>
          </a:p>
          <a:p>
            <a:pPr/>
            <a:r>
              <a:rPr sz="1000"/>
              <a:t>※9 p.9 chunk=s009_sh006</a:t>
            </a:r>
          </a:p>
          <a:p>
            <a:pPr/>
            <a:r>
              <a:rPr sz="1000"/>
              <a:t>※10 p.10 chunk=s010_sh006</a:t>
            </a:r>
          </a:p>
          <a:p>
            <a:pPr/>
            <a:r>
              <a:rPr sz="1000"/>
              <a:t>※11 p.11 chunk=s011_sh006</a:t>
            </a:r>
          </a:p>
          <a:p>
            <a:pPr/>
            <a:r>
              <a:rPr sz="1000"/>
              <a:t>※12 p.12 chunk=s012_sh006</a:t>
            </a:r>
          </a:p>
          <a:p>
            <a:pPr/>
            <a:r>
              <a:rPr sz="1000"/>
              <a:t>※13 p.13 chunk=s013_sh007</a:t>
            </a:r>
          </a:p>
          <a:p>
            <a:pPr/>
            <a:r>
              <a:rPr sz="1000"/>
              <a:t>※14 p.14 chunk=s014_sh005</a:t>
            </a:r>
          </a:p>
          <a:p>
            <a:pPr/>
            <a:r>
              <a:rPr sz="1000"/>
              <a:t>※15 p.15 chunk=s015_sh004</a:t>
            </a:r>
          </a:p>
          <a:p>
            <a:pPr/>
            <a:r>
              <a:rPr sz="1000"/>
              <a:t>※16 p.16 chunk=s016_sh006</a:t>
            </a:r>
          </a:p>
          <a:p>
            <a:pPr/>
            <a:r>
              <a:rPr sz="1000"/>
              <a:t>※17 p.17 chunk=s017_sh006</a:t>
            </a:r>
          </a:p>
          <a:p>
            <a:pPr/>
            <a:r>
              <a:rPr sz="1000"/>
              <a:t>※18 p.18 chunk=s018_sh005</a:t>
            </a:r>
          </a:p>
          <a:p>
            <a:pPr/>
            <a:r>
              <a:rPr sz="1000"/>
              <a:t>※19 p.19 chunk=s019_sh005</a:t>
            </a:r>
          </a:p>
          <a:p>
            <a:pPr/>
            <a:r>
              <a:rPr sz="1000"/>
              <a:t>※20 p.20 chunk=s020_sh006</a:t>
            </a:r>
          </a:p>
          <a:p>
            <a:pPr/>
            <a:r>
              <a:rPr sz="1000"/>
              <a:t>※21 p.21 chunk=s021_sh006</a:t>
            </a:r>
          </a:p>
          <a:p>
            <a:pPr/>
            <a:r>
              <a:rPr sz="1000"/>
              <a:t>※22 p.22 chunk=s022_sh005</a:t>
            </a:r>
          </a:p>
          <a:p>
            <a:pPr/>
            <a:r>
              <a:rPr sz="1000"/>
              <a:t>※23 p.23 chunk=s023_sh006</a:t>
            </a:r>
          </a:p>
          <a:p>
            <a:pPr/>
            <a:r>
              <a:rPr sz="1000"/>
              <a:t>※24 p.24 chunk=s024_sh006</a:t>
            </a:r>
          </a:p>
          <a:p>
            <a:pPr/>
            <a:r>
              <a:rPr sz="1000"/>
              <a:t>※25 p.25 chunk=s025_sh005</a:t>
            </a:r>
          </a:p>
          <a:p>
            <a:pPr/>
            <a:r>
              <a:rPr sz="1000"/>
              <a:t>※26 p.26 chunk=s026_sh006</a:t>
            </a:r>
          </a:p>
          <a:p>
            <a:pPr/>
            <a:r>
              <a:rPr sz="1000"/>
              <a:t>※27 p.27 chunk=s027_sh006</a:t>
            </a:r>
          </a:p>
          <a:p>
            <a:pPr/>
            <a:r>
              <a:rPr sz="1000"/>
              <a:t>※28 p.28 chunk=s028_sh005</a:t>
            </a:r>
          </a:p>
          <a:p>
            <a:pPr/>
            <a:r>
              <a:rPr sz="1000"/>
              <a:t>※29 p.29 chunk=s029_sh006</a:t>
            </a:r>
          </a:p>
          <a:p>
            <a:pPr/>
            <a:r>
              <a:rPr sz="1000"/>
              <a:t>※30 p.30 chunk=s030_sh006</a:t>
            </a:r>
          </a:p>
          <a:p>
            <a:pPr/>
            <a:r>
              <a:rPr sz="1000"/>
              <a:t>※31 p.31 chunk=s031_sh005</a:t>
            </a:r>
          </a:p>
          <a:p>
            <a:pPr/>
            <a:r>
              <a:rPr sz="1000"/>
              <a:t>※32 p.32 chunk=s032_sh006</a:t>
            </a:r>
          </a:p>
          <a:p>
            <a:pPr/>
            <a:r>
              <a:rPr sz="1000"/>
              <a:t>※33 p.33 chunk=s033_sh006</a:t>
            </a:r>
          </a:p>
          <a:p>
            <a:pPr/>
            <a:r>
              <a:rPr sz="1000"/>
              <a:t>※34 p.34 chunk=s034_sh005</a:t>
            </a:r>
          </a:p>
          <a:p>
            <a:pPr/>
            <a:r>
              <a:rPr sz="1000"/>
              <a:t>※35 p.35 chunk=s035_sh006</a:t>
            </a:r>
          </a:p>
          <a:p>
            <a:pPr/>
            <a:r>
              <a:rPr sz="1000"/>
              <a:t>※36 p.36 chunk=s036_sh006</a:t>
            </a:r>
          </a:p>
          <a:p>
            <a:pPr/>
            <a:r>
              <a:rPr sz="1000"/>
              <a:t>※37 p.37 chunk=s037_sh005</a:t>
            </a:r>
          </a:p>
          <a:p>
            <a:pPr/>
            <a:r>
              <a:rPr sz="1000"/>
              <a:t>※38 p.38 chunk=s038_sh001</a:t>
            </a:r>
          </a:p>
          <a:p>
            <a:pPr/>
            <a:r>
              <a:rPr sz="1000"/>
              <a:t>※39 p.39 chunk=s039_sh006</a:t>
            </a:r>
          </a:p>
          <a:p>
            <a:pPr/>
            <a:r>
              <a:rPr sz="1000"/>
              <a:t>※40 p.40 chunk=s040_sh005</a:t>
            </a:r>
          </a:p>
          <a:p>
            <a:pPr/>
            <a:r>
              <a:rPr sz="1000"/>
              <a:t>※41 p.41 chunk=s041_sh006</a:t>
            </a:r>
          </a:p>
          <a:p>
            <a:pPr/>
            <a:r>
              <a:rPr sz="1000"/>
              <a:t>※42 p.42 chunk=s042_sh006</a:t>
            </a:r>
          </a:p>
          <a:p>
            <a:pPr/>
            <a:r>
              <a:rPr sz="1000"/>
              <a:t>※43 p.43 chunk=s043_sh005</a:t>
            </a:r>
          </a:p>
          <a:p>
            <a:pPr/>
            <a:r>
              <a:rPr sz="1000"/>
              <a:t>※44 p.44 chunk=s044_sh006</a:t>
            </a:r>
          </a:p>
          <a:p>
            <a:pPr/>
            <a:r>
              <a:rPr sz="1000"/>
              <a:t>※45 p.45 chunk=s045_sh006</a:t>
            </a:r>
          </a:p>
          <a:p>
            <a:pPr/>
            <a:r>
              <a:rPr sz="1000"/>
              <a:t>※46 p.46 chunk=s046_sh006</a:t>
            </a:r>
          </a:p>
          <a:p>
            <a:pPr/>
            <a:r>
              <a:rPr sz="1000"/>
              <a:t>※47 p.47 chunk=s047_sh005</a:t>
            </a:r>
          </a:p>
          <a:p>
            <a:pPr/>
            <a:r>
              <a:rPr sz="1000"/>
              <a:t>※48 p.48 chunk=s048_sh005</a:t>
            </a:r>
          </a:p>
          <a:p>
            <a:pPr/>
            <a:r>
              <a:rPr sz="1000"/>
              <a:t>※49 p.49 chunk=s049_sh005</a:t>
            </a:r>
          </a:p>
          <a:p>
            <a:pPr/>
            <a:r>
              <a:rPr sz="1000"/>
              <a:t>※50 p.50 chunk=s050_sh005</a:t>
            </a:r>
          </a:p>
          <a:p>
            <a:pPr/>
            <a:r>
              <a:rPr sz="1000"/>
              <a:t>※51 p.51 chunk=s051_sh004</a:t>
            </a:r>
          </a:p>
          <a:p>
            <a:pPr/>
            <a:r>
              <a:rPr sz="1000"/>
              <a:t>※52 p.52 chunk=s052_sh006</a:t>
            </a:r>
          </a:p>
          <a:p>
            <a:pPr/>
            <a:r>
              <a:rPr sz="1000"/>
              <a:t>※53 p.53 chunk=s053_sh005</a:t>
            </a:r>
          </a:p>
          <a:p>
            <a:pPr/>
            <a:r>
              <a:rPr sz="1000"/>
              <a:t>※54 p.54 chunk=s054_sh005</a:t>
            </a:r>
          </a:p>
          <a:p>
            <a:pPr/>
            <a:r>
              <a:rPr sz="1000"/>
              <a:t>※55 p.55 chunk=s055_sh005</a:t>
            </a:r>
          </a:p>
          <a:p>
            <a:pPr/>
            <a:r>
              <a:rPr sz="1000"/>
              <a:t>※56 p.56 chunk=s056_sh005</a:t>
            </a:r>
          </a:p>
          <a:p>
            <a:pPr/>
            <a:r>
              <a:rPr sz="1000"/>
              <a:t>※57 p.57 chunk=s057_sh006</a:t>
            </a:r>
          </a:p>
          <a:p>
            <a:pPr/>
            <a:r>
              <a:rPr sz="1000"/>
              <a:t>※58 p.58 chunk=s058_sh004</a:t>
            </a:r>
          </a:p>
          <a:p>
            <a:pPr/>
            <a:r>
              <a:rPr sz="1000"/>
              <a:t>※59 p.59 chunk=s059_sh006</a:t>
            </a:r>
          </a:p>
          <a:p>
            <a:pPr/>
            <a:r>
              <a:rPr sz="1000"/>
              <a:t>※60 p.60 chunk=s060_sh006</a:t>
            </a:r>
          </a:p>
          <a:p>
            <a:pPr/>
            <a:r>
              <a:rPr sz="1000"/>
              <a:t>※61 p.61 chunk=s061_sh006</a:t>
            </a:r>
          </a:p>
          <a:p>
            <a:pPr/>
            <a:r>
              <a:rPr sz="1000"/>
              <a:t>※62 p.62 chunk=s062_sh006</a:t>
            </a:r>
          </a:p>
          <a:p>
            <a:pPr/>
            <a:r>
              <a:rPr sz="1000"/>
              <a:t>※63 p.63 chunk=s063_sh006</a:t>
            </a:r>
          </a:p>
          <a:p>
            <a:pPr/>
            <a:r>
              <a:rPr sz="1000"/>
              <a:t>※64 p.64 chunk=s064_sh006</a:t>
            </a:r>
          </a:p>
          <a:p>
            <a:pPr/>
            <a:r>
              <a:rPr sz="1000"/>
              <a:t>※65 p.65 chunk=s065_sh006</a:t>
            </a:r>
          </a:p>
          <a:p>
            <a:pPr/>
            <a:r>
              <a:rPr sz="1000"/>
              <a:t>※66 p.66 chunk=s066_sh006</a:t>
            </a:r>
          </a:p>
          <a:p>
            <a:pPr/>
            <a:r>
              <a:rPr sz="1000"/>
              <a:t>※67 p.67 chunk=s067_sh006</a:t>
            </a:r>
          </a:p>
          <a:p>
            <a:pPr/>
            <a:r>
              <a:rPr sz="1000"/>
              <a:t>※68 p.68 chunk=s068_sh006</a:t>
            </a:r>
          </a:p>
          <a:p>
            <a:pPr/>
            <a:r>
              <a:rPr sz="1000"/>
              <a:t>※69 p.69 chunk=s069_sh006</a:t>
            </a:r>
          </a:p>
          <a:p>
            <a:pPr/>
            <a:r>
              <a:rPr sz="1000"/>
              <a:t>※70 p.70 chunk=s070_sh006</a:t>
            </a:r>
          </a:p>
          <a:p>
            <a:pPr/>
            <a:r>
              <a:rPr sz="1000"/>
              <a:t>※71 p.71 chunk=s071_sh006</a:t>
            </a:r>
          </a:p>
          <a:p>
            <a:pPr/>
            <a:r>
              <a:rPr sz="1000"/>
              <a:t>※72 p.72 chunk=s072_sh006</a:t>
            </a:r>
          </a:p>
          <a:p>
            <a:pPr/>
            <a:r>
              <a:rPr sz="1000"/>
              <a:t>※73 p.73 chunk=s073_sh004</a:t>
            </a:r>
          </a:p>
          <a:p>
            <a:pPr/>
            <a:r>
              <a:rPr sz="1000"/>
              <a:t>※74 p.74 chunk=s074_sh006</a:t>
            </a:r>
          </a:p>
          <a:p>
            <a:pPr/>
            <a:r>
              <a:rPr sz="1000"/>
              <a:t>※75 p.75 chunk=s075_sh006</a:t>
            </a:r>
          </a:p>
          <a:p>
            <a:pPr/>
            <a:r>
              <a:rPr sz="1000"/>
              <a:t>※76 p.76 chunk=s076_sh006</a:t>
            </a:r>
          </a:p>
          <a:p>
            <a:pPr/>
            <a:r>
              <a:rPr sz="1000"/>
              <a:t>※77 p.77 chunk=s077_sh005</a:t>
            </a:r>
          </a:p>
          <a:p>
            <a:pPr/>
            <a:r>
              <a:rPr sz="1000"/>
              <a:t>※78 p.78 chunk=s078_sh005</a:t>
            </a:r>
          </a:p>
          <a:p>
            <a:pPr/>
            <a:r>
              <a:rPr sz="1000"/>
              <a:t>※79 p.79 chunk=s079_sh005</a:t>
            </a:r>
          </a:p>
          <a:p>
            <a:pPr/>
            <a:r>
              <a:rPr sz="1000"/>
              <a:t>※80 p.80 chunk=s080_sh005</a:t>
            </a:r>
          </a:p>
        </p:txBody>
      </p:sp>
      <p:sp>
        <p:nvSpPr>
          <p:cNvPr id="4" name="TextBox 3"/>
          <p:cNvSpPr txBox="1"/>
          <p:nvPr/>
        </p:nvSpPr>
        <p:spPr>
          <a:xfrm>
            <a:off x="10668000" y="6477000"/>
            <a:ext cx="1397000" cy="317500"/>
          </a:xfrm>
          <a:prstGeom prst="rect">
            <a:avLst/>
          </a:prstGeom>
          <a:noFill/>
        </p:spPr>
        <p:txBody>
          <a:bodyPr wrap="none">
            <a:spAutoFit/>
          </a:bodyPr>
          <a:lstStyle/>
          <a:p>
            <a:r>
              <a:rPr sz="1000"/>
              <a:t>82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