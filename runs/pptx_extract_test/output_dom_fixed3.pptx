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 Id="rId13" Type="http://schemas.openxmlformats.org/officeDocument/2006/relationships/image" Target="../media/image40.png"/><Relationship Id="rId14"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7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14.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png"/><Relationship Id="rId14" Type="http://schemas.openxmlformats.org/officeDocument/2006/relationships/image" Target="../media/image93.png"/><Relationship Id="rId15" Type="http://schemas.openxmlformats.org/officeDocument/2006/relationships/image" Target="../media/image9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116.png"/><Relationship Id="rId14" Type="http://schemas.openxmlformats.org/officeDocument/2006/relationships/image" Target="../media/image117.png"/><Relationship Id="rId15" Type="http://schemas.openxmlformats.org/officeDocument/2006/relationships/image" Target="../media/image118.png"/><Relationship Id="rId16" Type="http://schemas.openxmlformats.org/officeDocument/2006/relationships/image" Target="../media/image1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120.png"/><Relationship Id="rId4" Type="http://schemas.openxmlformats.org/officeDocument/2006/relationships/image" Target="../media/image96.png"/><Relationship Id="rId5" Type="http://schemas.openxmlformats.org/officeDocument/2006/relationships/image" Target="../media/image121.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22.png"/><Relationship Id="rId9" Type="http://schemas.openxmlformats.org/officeDocument/2006/relationships/image" Target="../media/image123.png"/><Relationship Id="rId10" Type="http://schemas.openxmlformats.org/officeDocument/2006/relationships/image" Target="../media/image1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2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 Id="rId7" Type="http://schemas.openxmlformats.org/officeDocument/2006/relationships/image" Target="../media/image131.png"/><Relationship Id="rId8" Type="http://schemas.openxmlformats.org/officeDocument/2006/relationships/image" Target="../media/image132.png"/><Relationship Id="rId9" Type="http://schemas.openxmlformats.org/officeDocument/2006/relationships/image" Target="../media/image133.png"/><Relationship Id="rId10" Type="http://schemas.openxmlformats.org/officeDocument/2006/relationships/image" Target="../media/image134.png"/><Relationship Id="rId11" Type="http://schemas.openxmlformats.org/officeDocument/2006/relationships/image" Target="../media/image135.png"/><Relationship Id="rId12" Type="http://schemas.openxmlformats.org/officeDocument/2006/relationships/image" Target="../media/image136.png"/><Relationship Id="rId13" Type="http://schemas.openxmlformats.org/officeDocument/2006/relationships/image" Target="../media/image137.png"/><Relationship Id="rId14" Type="http://schemas.openxmlformats.org/officeDocument/2006/relationships/image" Target="../media/image138.png"/><Relationship Id="rId15"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139.png"/><Relationship Id="rId5" Type="http://schemas.openxmlformats.org/officeDocument/2006/relationships/image" Target="../media/image140.png"/><Relationship Id="rId6" Type="http://schemas.openxmlformats.org/officeDocument/2006/relationships/image" Target="../media/image99.png"/><Relationship Id="rId7" Type="http://schemas.openxmlformats.org/officeDocument/2006/relationships/image" Target="../media/image141.png"/><Relationship Id="rId8" Type="http://schemas.openxmlformats.org/officeDocument/2006/relationships/image" Target="../media/image142.png"/><Relationship Id="rId9" Type="http://schemas.openxmlformats.org/officeDocument/2006/relationships/image" Target="../media/image143.png"/><Relationship Id="rId10" Type="http://schemas.openxmlformats.org/officeDocument/2006/relationships/image" Target="../media/image144.png"/><Relationship Id="rId11" Type="http://schemas.openxmlformats.org/officeDocument/2006/relationships/image" Target="../media/image145.png"/><Relationship Id="rId12" Type="http://schemas.openxmlformats.org/officeDocument/2006/relationships/image" Target="../media/image146.png"/><Relationship Id="rId13" Type="http://schemas.openxmlformats.org/officeDocument/2006/relationships/image" Target="../media/image123.png"/><Relationship Id="rId14" Type="http://schemas.openxmlformats.org/officeDocument/2006/relationships/image" Target="../media/image1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148.png"/><Relationship Id="rId5" Type="http://schemas.openxmlformats.org/officeDocument/2006/relationships/image" Target="../media/image149.png"/><Relationship Id="rId6" Type="http://schemas.openxmlformats.org/officeDocument/2006/relationships/image" Target="../media/image150.png"/><Relationship Id="rId7" Type="http://schemas.openxmlformats.org/officeDocument/2006/relationships/image" Target="../media/image151.png"/><Relationship Id="rId8" Type="http://schemas.openxmlformats.org/officeDocument/2006/relationships/image" Target="../media/image152.png"/><Relationship Id="rId9" Type="http://schemas.openxmlformats.org/officeDocument/2006/relationships/image" Target="../media/image153.png"/><Relationship Id="rId10" Type="http://schemas.openxmlformats.org/officeDocument/2006/relationships/image" Target="../media/image154.png"/><Relationship Id="rId11" Type="http://schemas.openxmlformats.org/officeDocument/2006/relationships/image" Target="../media/image155.png"/><Relationship Id="rId12" Type="http://schemas.openxmlformats.org/officeDocument/2006/relationships/image" Target="../media/image156.png"/><Relationship Id="rId13" Type="http://schemas.openxmlformats.org/officeDocument/2006/relationships/image" Target="../media/image157.png"/><Relationship Id="rId14" Type="http://schemas.openxmlformats.org/officeDocument/2006/relationships/image" Target="../media/image158.png"/><Relationship Id="rId15" Type="http://schemas.openxmlformats.org/officeDocument/2006/relationships/image" Target="../media/image159.png"/><Relationship Id="rId16" Type="http://schemas.openxmlformats.org/officeDocument/2006/relationships/image" Target="../media/image160.png"/><Relationship Id="rId17" Type="http://schemas.openxmlformats.org/officeDocument/2006/relationships/image" Target="../media/image161.png"/><Relationship Id="rId18" Type="http://schemas.openxmlformats.org/officeDocument/2006/relationships/image" Target="../media/image61.png"/><Relationship Id="rId19" Type="http://schemas.openxmlformats.org/officeDocument/2006/relationships/image" Target="../media/image16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168.png"/><Relationship Id="rId6" Type="http://schemas.openxmlformats.org/officeDocument/2006/relationships/image" Target="../media/image169.png"/><Relationship Id="rId7" Type="http://schemas.openxmlformats.org/officeDocument/2006/relationships/image" Target="../media/image170.png"/><Relationship Id="rId8" Type="http://schemas.openxmlformats.org/officeDocument/2006/relationships/image" Target="../media/image171.png"/><Relationship Id="rId9" Type="http://schemas.openxmlformats.org/officeDocument/2006/relationships/image" Target="../media/image172.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 Id="rId13" Type="http://schemas.openxmlformats.org/officeDocument/2006/relationships/image" Target="../media/image17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43.png"/><Relationship Id="rId4" Type="http://schemas.openxmlformats.org/officeDocument/2006/relationships/image" Target="../media/image178.png"/><Relationship Id="rId5" Type="http://schemas.openxmlformats.org/officeDocument/2006/relationships/image" Target="../media/image179.png"/><Relationship Id="rId6" Type="http://schemas.openxmlformats.org/officeDocument/2006/relationships/image" Target="../media/image180.png"/><Relationship Id="rId7" Type="http://schemas.openxmlformats.org/officeDocument/2006/relationships/image" Target="../media/image181.png"/><Relationship Id="rId8" Type="http://schemas.openxmlformats.org/officeDocument/2006/relationships/image" Target="../media/image182.png"/><Relationship Id="rId9" Type="http://schemas.openxmlformats.org/officeDocument/2006/relationships/image" Target="../media/image183.png"/><Relationship Id="rId10" Type="http://schemas.openxmlformats.org/officeDocument/2006/relationships/image" Target="../media/image184.png"/><Relationship Id="rId11" Type="http://schemas.openxmlformats.org/officeDocument/2006/relationships/image" Target="../media/image185.png"/><Relationship Id="rId12" Type="http://schemas.openxmlformats.org/officeDocument/2006/relationships/image" Target="../media/image186.png"/><Relationship Id="rId13" Type="http://schemas.openxmlformats.org/officeDocument/2006/relationships/image" Target="../media/image187.png"/><Relationship Id="rId14" Type="http://schemas.openxmlformats.org/officeDocument/2006/relationships/image" Target="../media/image188.png"/><Relationship Id="rId15" Type="http://schemas.openxmlformats.org/officeDocument/2006/relationships/image" Target="../media/image189.png"/><Relationship Id="rId16" Type="http://schemas.openxmlformats.org/officeDocument/2006/relationships/image" Target="../media/image19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192.png"/><Relationship Id="rId6" Type="http://schemas.openxmlformats.org/officeDocument/2006/relationships/image" Target="../media/image169.png"/><Relationship Id="rId7" Type="http://schemas.openxmlformats.org/officeDocument/2006/relationships/image" Target="../media/image193.png"/><Relationship Id="rId8" Type="http://schemas.openxmlformats.org/officeDocument/2006/relationships/image" Target="../media/image194.png"/><Relationship Id="rId9" Type="http://schemas.openxmlformats.org/officeDocument/2006/relationships/image" Target="../media/image173.png"/><Relationship Id="rId10" Type="http://schemas.openxmlformats.org/officeDocument/2006/relationships/image" Target="../media/image195.png"/><Relationship Id="rId11" Type="http://schemas.openxmlformats.org/officeDocument/2006/relationships/image" Target="../media/image171.png"/><Relationship Id="rId12" Type="http://schemas.openxmlformats.org/officeDocument/2006/relationships/image" Target="../media/image196.png"/><Relationship Id="rId13" Type="http://schemas.openxmlformats.org/officeDocument/2006/relationships/image" Target="../media/image197.png"/><Relationship Id="rId14" Type="http://schemas.openxmlformats.org/officeDocument/2006/relationships/image" Target="../media/image19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43.png"/><Relationship Id="rId4" Type="http://schemas.openxmlformats.org/officeDocument/2006/relationships/image" Target="../media/image200.png"/><Relationship Id="rId5" Type="http://schemas.openxmlformats.org/officeDocument/2006/relationships/image" Target="../media/image201.png"/><Relationship Id="rId6" Type="http://schemas.openxmlformats.org/officeDocument/2006/relationships/image" Target="../media/image202.png"/><Relationship Id="rId7" Type="http://schemas.openxmlformats.org/officeDocument/2006/relationships/image" Target="../media/image203.png"/><Relationship Id="rId8" Type="http://schemas.openxmlformats.org/officeDocument/2006/relationships/image" Target="../media/image204.png"/><Relationship Id="rId9" Type="http://schemas.openxmlformats.org/officeDocument/2006/relationships/image" Target="../media/image205.png"/><Relationship Id="rId10" Type="http://schemas.openxmlformats.org/officeDocument/2006/relationships/image" Target="../media/image206.png"/><Relationship Id="rId11" Type="http://schemas.openxmlformats.org/officeDocument/2006/relationships/image" Target="../media/image207.png"/><Relationship Id="rId12" Type="http://schemas.openxmlformats.org/officeDocument/2006/relationships/image" Target="../media/image208.png"/><Relationship Id="rId13" Type="http://schemas.openxmlformats.org/officeDocument/2006/relationships/image" Target="../media/image209.png"/><Relationship Id="rId14" Type="http://schemas.openxmlformats.org/officeDocument/2006/relationships/image" Target="../media/image2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212.png"/><Relationship Id="rId6" Type="http://schemas.openxmlformats.org/officeDocument/2006/relationships/image" Target="../media/image169.png"/><Relationship Id="rId7" Type="http://schemas.openxmlformats.org/officeDocument/2006/relationships/image" Target="../media/image213.png"/><Relationship Id="rId8" Type="http://schemas.openxmlformats.org/officeDocument/2006/relationships/image" Target="../media/image214.png"/><Relationship Id="rId9" Type="http://schemas.openxmlformats.org/officeDocument/2006/relationships/image" Target="../media/image171.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217.png"/><Relationship Id="rId6" Type="http://schemas.openxmlformats.org/officeDocument/2006/relationships/image" Target="../media/image218.png"/><Relationship Id="rId7" Type="http://schemas.openxmlformats.org/officeDocument/2006/relationships/image" Target="../media/image219.png"/><Relationship Id="rId8" Type="http://schemas.openxmlformats.org/officeDocument/2006/relationships/image" Target="../media/image220.png"/><Relationship Id="rId9" Type="http://schemas.openxmlformats.org/officeDocument/2006/relationships/image" Target="../media/image221.png"/><Relationship Id="rId10" Type="http://schemas.openxmlformats.org/officeDocument/2006/relationships/image" Target="../media/image222.png"/><Relationship Id="rId11" Type="http://schemas.openxmlformats.org/officeDocument/2006/relationships/image" Target="../media/image223.png"/><Relationship Id="rId12" Type="http://schemas.openxmlformats.org/officeDocument/2006/relationships/image" Target="../media/image224.png"/><Relationship Id="rId13" Type="http://schemas.openxmlformats.org/officeDocument/2006/relationships/image" Target="../media/image225.png"/><Relationship Id="rId14" Type="http://schemas.openxmlformats.org/officeDocument/2006/relationships/image" Target="../media/image226.png"/><Relationship Id="rId15"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image" Target="../media/image164.png"/><Relationship Id="rId4" Type="http://schemas.openxmlformats.org/officeDocument/2006/relationships/image" Target="../media/image2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230.png"/><Relationship Id="rId6" Type="http://schemas.openxmlformats.org/officeDocument/2006/relationships/image" Target="../media/image169.png"/><Relationship Id="rId7" Type="http://schemas.openxmlformats.org/officeDocument/2006/relationships/image" Target="../media/image194.png"/><Relationship Id="rId8" Type="http://schemas.openxmlformats.org/officeDocument/2006/relationships/image" Target="../media/image171.png"/><Relationship Id="rId9" Type="http://schemas.openxmlformats.org/officeDocument/2006/relationships/image" Target="../media/image231.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image" Target="../media/image17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image" Target="../media/image234.png"/><Relationship Id="rId7" Type="http://schemas.openxmlformats.org/officeDocument/2006/relationships/image" Target="../media/image32.png"/><Relationship Id="rId8" Type="http://schemas.openxmlformats.org/officeDocument/2006/relationships/image" Target="../media/image218.png"/><Relationship Id="rId9" Type="http://schemas.openxmlformats.org/officeDocument/2006/relationships/image" Target="../media/image235.png"/><Relationship Id="rId10" Type="http://schemas.openxmlformats.org/officeDocument/2006/relationships/image" Target="../media/image236.png"/><Relationship Id="rId11" Type="http://schemas.openxmlformats.org/officeDocument/2006/relationships/image" Target="../media/image237.png"/><Relationship Id="rId12" Type="http://schemas.openxmlformats.org/officeDocument/2006/relationships/image" Target="../media/image238.png"/><Relationship Id="rId13" Type="http://schemas.openxmlformats.org/officeDocument/2006/relationships/image" Target="../media/image2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169.png"/><Relationship Id="rId7" Type="http://schemas.openxmlformats.org/officeDocument/2006/relationships/image" Target="../media/image214.png"/><Relationship Id="rId8" Type="http://schemas.openxmlformats.org/officeDocument/2006/relationships/image" Target="../media/image244.png"/><Relationship Id="rId9" Type="http://schemas.openxmlformats.org/officeDocument/2006/relationships/image" Target="../media/image173.png"/><Relationship Id="rId10" Type="http://schemas.openxmlformats.org/officeDocument/2006/relationships/image" Target="../media/image245.png"/><Relationship Id="rId11" Type="http://schemas.openxmlformats.org/officeDocument/2006/relationships/image" Target="../media/image246.png"/><Relationship Id="rId12" Type="http://schemas.openxmlformats.org/officeDocument/2006/relationships/image" Target="../media/image2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249.png"/><Relationship Id="rId6" Type="http://schemas.openxmlformats.org/officeDocument/2006/relationships/image" Target="../media/image250.png"/><Relationship Id="rId7" Type="http://schemas.openxmlformats.org/officeDocument/2006/relationships/image" Target="../media/image222.png"/><Relationship Id="rId8" Type="http://schemas.openxmlformats.org/officeDocument/2006/relationships/image" Target="../media/image251.png"/><Relationship Id="rId9" Type="http://schemas.openxmlformats.org/officeDocument/2006/relationships/image" Target="../media/image252.png"/><Relationship Id="rId10" Type="http://schemas.openxmlformats.org/officeDocument/2006/relationships/image" Target="../media/image253.png"/><Relationship Id="rId11" Type="http://schemas.openxmlformats.org/officeDocument/2006/relationships/image" Target="../media/image254.png"/><Relationship Id="rId12" Type="http://schemas.openxmlformats.org/officeDocument/2006/relationships/image" Target="../media/image19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 Id="rId3" Type="http://schemas.openxmlformats.org/officeDocument/2006/relationships/image" Target="../media/image241.png"/><Relationship Id="rId4" Type="http://schemas.openxmlformats.org/officeDocument/2006/relationships/image" Target="../media/image167.png"/><Relationship Id="rId5" Type="http://schemas.openxmlformats.org/officeDocument/2006/relationships/image" Target="../media/image256.png"/><Relationship Id="rId6" Type="http://schemas.openxmlformats.org/officeDocument/2006/relationships/image" Target="../media/image169.png"/><Relationship Id="rId7" Type="http://schemas.openxmlformats.org/officeDocument/2006/relationships/image" Target="../media/image230.png"/><Relationship Id="rId8" Type="http://schemas.openxmlformats.org/officeDocument/2006/relationships/image" Target="../media/image257.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175.png"/><Relationship Id="rId12" Type="http://schemas.openxmlformats.org/officeDocument/2006/relationships/image" Target="../media/image17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30.png"/><Relationship Id="rId4" Type="http://schemas.openxmlformats.org/officeDocument/2006/relationships/image" Target="../media/image216.png"/><Relationship Id="rId5" Type="http://schemas.openxmlformats.org/officeDocument/2006/relationships/image" Target="../media/image32.png"/><Relationship Id="rId6" Type="http://schemas.openxmlformats.org/officeDocument/2006/relationships/image" Target="../media/image218.png"/><Relationship Id="rId7" Type="http://schemas.openxmlformats.org/officeDocument/2006/relationships/image" Target="../media/image235.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60.png"/><Relationship Id="rId11" Type="http://schemas.openxmlformats.org/officeDocument/2006/relationships/image" Target="../media/image222.png"/><Relationship Id="rId12" Type="http://schemas.openxmlformats.org/officeDocument/2006/relationships/image" Target="../media/image261.png"/><Relationship Id="rId13" Type="http://schemas.openxmlformats.org/officeDocument/2006/relationships/image" Target="../media/image262.png"/><Relationship Id="rId14" Type="http://schemas.openxmlformats.org/officeDocument/2006/relationships/image" Target="../media/image263.png"/><Relationship Id="rId15"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 Id="rId3" Type="http://schemas.openxmlformats.org/officeDocument/2006/relationships/image" Target="../media/image43.png"/><Relationship Id="rId4" Type="http://schemas.openxmlformats.org/officeDocument/2006/relationships/image" Target="../media/image216.png"/><Relationship Id="rId5" Type="http://schemas.openxmlformats.org/officeDocument/2006/relationships/image" Target="../media/image32.png"/><Relationship Id="rId6" Type="http://schemas.openxmlformats.org/officeDocument/2006/relationships/image" Target="../media/image265.png"/><Relationship Id="rId7" Type="http://schemas.openxmlformats.org/officeDocument/2006/relationships/image" Target="../media/image266.png"/><Relationship Id="rId8" Type="http://schemas.openxmlformats.org/officeDocument/2006/relationships/image" Target="../media/image267.png"/><Relationship Id="rId9" Type="http://schemas.openxmlformats.org/officeDocument/2006/relationships/image" Target="../media/image268.png"/><Relationship Id="rId10" Type="http://schemas.openxmlformats.org/officeDocument/2006/relationships/image" Target="../media/image269.png"/><Relationship Id="rId11" Type="http://schemas.openxmlformats.org/officeDocument/2006/relationships/image" Target="../media/image270.png"/><Relationship Id="rId12" Type="http://schemas.openxmlformats.org/officeDocument/2006/relationships/image" Target="../media/image161.png"/><Relationship Id="rId13" Type="http://schemas.openxmlformats.org/officeDocument/2006/relationships/image" Target="../media/image261.png"/><Relationship Id="rId14" Type="http://schemas.openxmlformats.org/officeDocument/2006/relationships/image" Target="../media/image271.png"/><Relationship Id="rId15" Type="http://schemas.openxmlformats.org/officeDocument/2006/relationships/image" Target="../media/image272.png"/><Relationship Id="rId16" Type="http://schemas.openxmlformats.org/officeDocument/2006/relationships/image" Target="../media/image273.png"/><Relationship Id="rId17"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 Id="rId3" Type="http://schemas.openxmlformats.org/officeDocument/2006/relationships/image" Target="../media/image2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 Id="rId3" Type="http://schemas.openxmlformats.org/officeDocument/2006/relationships/image" Target="../media/image166.png"/><Relationship Id="rId4" Type="http://schemas.openxmlformats.org/officeDocument/2006/relationships/image" Target="../media/image242.png"/><Relationship Id="rId5" Type="http://schemas.openxmlformats.org/officeDocument/2006/relationships/image" Target="../media/image277.png"/><Relationship Id="rId6" Type="http://schemas.openxmlformats.org/officeDocument/2006/relationships/image" Target="../media/image169.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171.png"/><Relationship Id="rId10" Type="http://schemas.openxmlformats.org/officeDocument/2006/relationships/image" Target="../media/image280.png"/><Relationship Id="rId11" Type="http://schemas.openxmlformats.org/officeDocument/2006/relationships/image" Target="../media/image173.png"/><Relationship Id="rId12" Type="http://schemas.openxmlformats.org/officeDocument/2006/relationships/image" Target="../media/image281.png"/><Relationship Id="rId13" Type="http://schemas.openxmlformats.org/officeDocument/2006/relationships/image" Target="../media/image282.png"/><Relationship Id="rId14" Type="http://schemas.openxmlformats.org/officeDocument/2006/relationships/image" Target="../media/image283.png"/><Relationship Id="rId15" Type="http://schemas.openxmlformats.org/officeDocument/2006/relationships/image" Target="../media/image284.png"/><Relationship Id="rId16" Type="http://schemas.openxmlformats.org/officeDocument/2006/relationships/image" Target="../media/image285.png"/><Relationship Id="rId17" Type="http://schemas.openxmlformats.org/officeDocument/2006/relationships/image" Target="../media/image286.png"/><Relationship Id="rId18" Type="http://schemas.openxmlformats.org/officeDocument/2006/relationships/image" Target="../media/image287.png"/><Relationship Id="rId19" Type="http://schemas.openxmlformats.org/officeDocument/2006/relationships/image" Target="../media/image2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 Id="rId3" Type="http://schemas.openxmlformats.org/officeDocument/2006/relationships/image" Target="../media/image43.png"/><Relationship Id="rId4" Type="http://schemas.openxmlformats.org/officeDocument/2006/relationships/image" Target="../media/image200.png"/><Relationship Id="rId5" Type="http://schemas.openxmlformats.org/officeDocument/2006/relationships/image" Target="../media/image290.png"/><Relationship Id="rId6" Type="http://schemas.openxmlformats.org/officeDocument/2006/relationships/image" Target="../media/image162.png"/><Relationship Id="rId7" Type="http://schemas.openxmlformats.org/officeDocument/2006/relationships/image" Target="../media/image291.png"/><Relationship Id="rId8" Type="http://schemas.openxmlformats.org/officeDocument/2006/relationships/image" Target="../media/image292.png"/><Relationship Id="rId9" Type="http://schemas.openxmlformats.org/officeDocument/2006/relationships/image" Target="../media/image293.png"/><Relationship Id="rId10" Type="http://schemas.openxmlformats.org/officeDocument/2006/relationships/image" Target="../media/image294.png"/><Relationship Id="rId11" Type="http://schemas.openxmlformats.org/officeDocument/2006/relationships/image" Target="../media/image295.png"/><Relationship Id="rId12" Type="http://schemas.openxmlformats.org/officeDocument/2006/relationships/image" Target="../media/image296.png"/><Relationship Id="rId13" Type="http://schemas.openxmlformats.org/officeDocument/2006/relationships/image" Target="../media/image297.png"/><Relationship Id="rId14"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 Id="rId3" Type="http://schemas.openxmlformats.org/officeDocument/2006/relationships/image" Target="../media/image29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image" Target="../media/image241.png"/><Relationship Id="rId4" Type="http://schemas.openxmlformats.org/officeDocument/2006/relationships/image" Target="../media/image167.png"/><Relationship Id="rId5" Type="http://schemas.openxmlformats.org/officeDocument/2006/relationships/image" Target="../media/image300.png"/><Relationship Id="rId6" Type="http://schemas.openxmlformats.org/officeDocument/2006/relationships/image" Target="../media/image169.png"/><Relationship Id="rId7" Type="http://schemas.openxmlformats.org/officeDocument/2006/relationships/image" Target="../media/image301.png"/><Relationship Id="rId8" Type="http://schemas.openxmlformats.org/officeDocument/2006/relationships/image" Target="../media/image194.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175.png"/><Relationship Id="rId12" Type="http://schemas.openxmlformats.org/officeDocument/2006/relationships/image" Target="../media/image1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302.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303.png"/><Relationship Id="rId9" Type="http://schemas.openxmlformats.org/officeDocument/2006/relationships/image" Target="../media/image304.png"/><Relationship Id="rId10" Type="http://schemas.openxmlformats.org/officeDocument/2006/relationships/image" Target="../media/image10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image" Target="../media/image30.png"/><Relationship Id="rId4" Type="http://schemas.openxmlformats.org/officeDocument/2006/relationships/image" Target="../media/image306.png"/><Relationship Id="rId5" Type="http://schemas.openxmlformats.org/officeDocument/2006/relationships/image" Target="../media/image307.png"/><Relationship Id="rId6" Type="http://schemas.openxmlformats.org/officeDocument/2006/relationships/image" Target="../media/image308.png"/><Relationship Id="rId7" Type="http://schemas.openxmlformats.org/officeDocument/2006/relationships/image" Target="../media/image309.png"/><Relationship Id="rId8" Type="http://schemas.openxmlformats.org/officeDocument/2006/relationships/image" Target="../media/image310.png"/><Relationship Id="rId9" Type="http://schemas.openxmlformats.org/officeDocument/2006/relationships/image" Target="../media/image311.png"/><Relationship Id="rId10" Type="http://schemas.openxmlformats.org/officeDocument/2006/relationships/image" Target="../media/image312.png"/><Relationship Id="rId11" Type="http://schemas.openxmlformats.org/officeDocument/2006/relationships/image" Target="../media/image313.png"/><Relationship Id="rId12" Type="http://schemas.openxmlformats.org/officeDocument/2006/relationships/image" Target="../media/image314.png"/><Relationship Id="rId13" Type="http://schemas.openxmlformats.org/officeDocument/2006/relationships/image" Target="../media/image315.png"/><Relationship Id="rId14" Type="http://schemas.openxmlformats.org/officeDocument/2006/relationships/image" Target="../media/image39.png"/><Relationship Id="rId15" Type="http://schemas.openxmlformats.org/officeDocument/2006/relationships/image" Target="../media/image235.png"/><Relationship Id="rId16" Type="http://schemas.openxmlformats.org/officeDocument/2006/relationships/image" Target="../media/image316.png"/><Relationship Id="rId17" Type="http://schemas.openxmlformats.org/officeDocument/2006/relationships/image" Target="../media/image3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20.png"/><Relationship Id="rId4" Type="http://schemas.openxmlformats.org/officeDocument/2006/relationships/image" Target="../media/image3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5.png"/><Relationship Id="rId3" Type="http://schemas.openxmlformats.org/officeDocument/2006/relationships/image" Target="../media/image326.png"/><Relationship Id="rId4" Type="http://schemas.openxmlformats.org/officeDocument/2006/relationships/image" Target="../media/image327.png"/><Relationship Id="rId5" Type="http://schemas.openxmlformats.org/officeDocument/2006/relationships/image" Target="../media/image328.png"/><Relationship Id="rId6" Type="http://schemas.openxmlformats.org/officeDocument/2006/relationships/image" Target="../media/image329.png"/><Relationship Id="rId7" Type="http://schemas.openxmlformats.org/officeDocument/2006/relationships/image" Target="../media/image330.png"/><Relationship Id="rId8" Type="http://schemas.openxmlformats.org/officeDocument/2006/relationships/image" Target="../media/image331.png"/><Relationship Id="rId9" Type="http://schemas.openxmlformats.org/officeDocument/2006/relationships/image" Target="../media/image332.png"/><Relationship Id="rId10" Type="http://schemas.openxmlformats.org/officeDocument/2006/relationships/image" Target="../media/image17.png"/><Relationship Id="rId11" Type="http://schemas.openxmlformats.org/officeDocument/2006/relationships/image" Target="../media/image1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43.png"/><Relationship Id="rId4" Type="http://schemas.openxmlformats.org/officeDocument/2006/relationships/image" Target="../media/image333.png"/><Relationship Id="rId5" Type="http://schemas.openxmlformats.org/officeDocument/2006/relationships/image" Target="../media/image334.png"/><Relationship Id="rId6" Type="http://schemas.openxmlformats.org/officeDocument/2006/relationships/image" Target="../media/image335.png"/><Relationship Id="rId7" Type="http://schemas.openxmlformats.org/officeDocument/2006/relationships/image" Target="../media/image336.png"/><Relationship Id="rId8" Type="http://schemas.openxmlformats.org/officeDocument/2006/relationships/image" Target="../media/image337.png"/><Relationship Id="rId9"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 Id="rId3" Type="http://schemas.openxmlformats.org/officeDocument/2006/relationships/image" Target="../media/image16.png"/><Relationship Id="rId4" Type="http://schemas.openxmlformats.org/officeDocument/2006/relationships/image" Target="../media/image3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 Id="rId3" Type="http://schemas.openxmlformats.org/officeDocument/2006/relationships/image" Target="../media/image3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image" Target="../media/image3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4.png"/><Relationship Id="rId3" Type="http://schemas.openxmlformats.org/officeDocument/2006/relationships/image" Target="../media/image3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image" Target="../media/image30.png"/><Relationship Id="rId4" Type="http://schemas.openxmlformats.org/officeDocument/2006/relationships/image" Target="../media/image346.png"/><Relationship Id="rId5" Type="http://schemas.openxmlformats.org/officeDocument/2006/relationships/image" Target="../media/image347.png"/><Relationship Id="rId6" Type="http://schemas.openxmlformats.org/officeDocument/2006/relationships/image" Target="../media/image348.png"/><Relationship Id="rId7" Type="http://schemas.openxmlformats.org/officeDocument/2006/relationships/image" Target="../media/image32.png"/><Relationship Id="rId8" Type="http://schemas.openxmlformats.org/officeDocument/2006/relationships/image" Target="../media/image218.png"/><Relationship Id="rId9" Type="http://schemas.openxmlformats.org/officeDocument/2006/relationships/image" Target="../media/image261.png"/><Relationship Id="rId10" Type="http://schemas.openxmlformats.org/officeDocument/2006/relationships/image" Target="../media/image349.png"/><Relationship Id="rId11" Type="http://schemas.openxmlformats.org/officeDocument/2006/relationships/image" Target="../media/image350.png"/><Relationship Id="rId12" Type="http://schemas.openxmlformats.org/officeDocument/2006/relationships/image" Target="../media/image351.png"/><Relationship Id="rId13" Type="http://schemas.openxmlformats.org/officeDocument/2006/relationships/image" Target="../media/image352.png"/><Relationship Id="rId14" Type="http://schemas.openxmlformats.org/officeDocument/2006/relationships/image" Target="../media/image353.png"/><Relationship Id="rId15"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4.png"/><Relationship Id="rId3" Type="http://schemas.openxmlformats.org/officeDocument/2006/relationships/image" Target="../media/image355.png"/><Relationship Id="rId4" Type="http://schemas.openxmlformats.org/officeDocument/2006/relationships/image" Target="../media/image356.png"/><Relationship Id="rId5" Type="http://schemas.openxmlformats.org/officeDocument/2006/relationships/image" Target="../media/image357.png"/><Relationship Id="rId6" Type="http://schemas.openxmlformats.org/officeDocument/2006/relationships/image" Target="../media/image358.png"/><Relationship Id="rId7" Type="http://schemas.openxmlformats.org/officeDocument/2006/relationships/image" Target="../media/image359.png"/><Relationship Id="rId8" Type="http://schemas.openxmlformats.org/officeDocument/2006/relationships/image" Target="../media/image360.png"/><Relationship Id="rId9" Type="http://schemas.openxmlformats.org/officeDocument/2006/relationships/image" Target="../media/image361.png"/><Relationship Id="rId10" Type="http://schemas.openxmlformats.org/officeDocument/2006/relationships/image" Target="../media/image17.png"/><Relationship Id="rId11" Type="http://schemas.openxmlformats.org/officeDocument/2006/relationships/image" Target="../media/image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63.png"/><Relationship Id="rId4" Type="http://schemas.openxmlformats.org/officeDocument/2006/relationships/image" Target="../media/image362.png"/><Relationship Id="rId5" Type="http://schemas.openxmlformats.org/officeDocument/2006/relationships/image" Target="../media/image363.png"/><Relationship Id="rId6" Type="http://schemas.openxmlformats.org/officeDocument/2006/relationships/image" Target="../media/image364.png"/><Relationship Id="rId7" Type="http://schemas.openxmlformats.org/officeDocument/2006/relationships/image" Target="../media/image365.png"/><Relationship Id="rId8" Type="http://schemas.openxmlformats.org/officeDocument/2006/relationships/image" Target="../media/image366.png"/><Relationship Id="rId9" Type="http://schemas.openxmlformats.org/officeDocument/2006/relationships/image" Target="../media/image367.png"/><Relationship Id="rId10" Type="http://schemas.openxmlformats.org/officeDocument/2006/relationships/image" Target="../media/image368.png"/><Relationship Id="rId11" Type="http://schemas.openxmlformats.org/officeDocument/2006/relationships/image" Target="../media/image68.png"/><Relationship Id="rId12" Type="http://schemas.openxmlformats.org/officeDocument/2006/relationships/image" Target="../media/image369.png"/><Relationship Id="rId13" Type="http://schemas.openxmlformats.org/officeDocument/2006/relationships/image" Target="../media/image70.png"/><Relationship Id="rId14" Type="http://schemas.openxmlformats.org/officeDocument/2006/relationships/image" Target="../media/image3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1.png"/><Relationship Id="rId3" Type="http://schemas.openxmlformats.org/officeDocument/2006/relationships/image" Target="../media/image372.png"/><Relationship Id="rId4" Type="http://schemas.openxmlformats.org/officeDocument/2006/relationships/image" Target="../media/image373.png"/><Relationship Id="rId5" Type="http://schemas.openxmlformats.org/officeDocument/2006/relationships/image" Target="../media/image374.png"/><Relationship Id="rId6" Type="http://schemas.openxmlformats.org/officeDocument/2006/relationships/image" Target="../media/image375.png"/><Relationship Id="rId7" Type="http://schemas.openxmlformats.org/officeDocument/2006/relationships/image" Target="../media/image376.png"/><Relationship Id="rId8" Type="http://schemas.openxmlformats.org/officeDocument/2006/relationships/image" Target="../media/image377.png"/><Relationship Id="rId9" Type="http://schemas.openxmlformats.org/officeDocument/2006/relationships/image" Target="../media/image378.png"/><Relationship Id="rId10" Type="http://schemas.openxmlformats.org/officeDocument/2006/relationships/image" Target="../media/image379.png"/><Relationship Id="rId11" Type="http://schemas.openxmlformats.org/officeDocument/2006/relationships/image" Target="../media/image380.png"/><Relationship Id="rId12" Type="http://schemas.openxmlformats.org/officeDocument/2006/relationships/image" Target="../media/image381.png"/><Relationship Id="rId13" Type="http://schemas.openxmlformats.org/officeDocument/2006/relationships/image" Target="../media/image382.png"/><Relationship Id="rId14" Type="http://schemas.openxmlformats.org/officeDocument/2006/relationships/image" Target="../media/image383.png"/><Relationship Id="rId15" Type="http://schemas.openxmlformats.org/officeDocument/2006/relationships/image" Target="../media/image38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5.png"/><Relationship Id="rId3" Type="http://schemas.openxmlformats.org/officeDocument/2006/relationships/image" Target="../media/image386.png"/><Relationship Id="rId4" Type="http://schemas.openxmlformats.org/officeDocument/2006/relationships/image" Target="../media/image387.png"/><Relationship Id="rId5" Type="http://schemas.openxmlformats.org/officeDocument/2006/relationships/image" Target="../media/image388.png"/><Relationship Id="rId6" Type="http://schemas.openxmlformats.org/officeDocument/2006/relationships/image" Target="../media/image389.png"/><Relationship Id="rId7" Type="http://schemas.openxmlformats.org/officeDocument/2006/relationships/image" Target="../media/image390.png"/><Relationship Id="rId8" Type="http://schemas.openxmlformats.org/officeDocument/2006/relationships/image" Target="../media/image391.png"/><Relationship Id="rId9" Type="http://schemas.openxmlformats.org/officeDocument/2006/relationships/image" Target="../media/image392.png"/><Relationship Id="rId10" Type="http://schemas.openxmlformats.org/officeDocument/2006/relationships/image" Target="../media/image393.png"/><Relationship Id="rId11" Type="http://schemas.openxmlformats.org/officeDocument/2006/relationships/image" Target="../media/image394.png"/><Relationship Id="rId12" Type="http://schemas.openxmlformats.org/officeDocument/2006/relationships/image" Target="../media/image395.png"/><Relationship Id="rId13" Type="http://schemas.openxmlformats.org/officeDocument/2006/relationships/image" Target="../media/image396.png"/><Relationship Id="rId14" Type="http://schemas.openxmlformats.org/officeDocument/2006/relationships/image" Target="../media/image397.png"/><Relationship Id="rId15" Type="http://schemas.openxmlformats.org/officeDocument/2006/relationships/image" Target="../media/image398.png"/><Relationship Id="rId16" Type="http://schemas.openxmlformats.org/officeDocument/2006/relationships/image" Target="../media/image399.png"/><Relationship Id="rId17" Type="http://schemas.openxmlformats.org/officeDocument/2006/relationships/image" Target="../media/image400.png"/><Relationship Id="rId18" Type="http://schemas.openxmlformats.org/officeDocument/2006/relationships/image" Target="../media/image214.png"/><Relationship Id="rId19" Type="http://schemas.openxmlformats.org/officeDocument/2006/relationships/image" Target="../media/image401.png"/><Relationship Id="rId20" Type="http://schemas.openxmlformats.org/officeDocument/2006/relationships/image" Target="../media/image402.png"/><Relationship Id="rId21" Type="http://schemas.openxmlformats.org/officeDocument/2006/relationships/image" Target="../media/image403.png"/><Relationship Id="rId22" Type="http://schemas.openxmlformats.org/officeDocument/2006/relationships/image" Target="../media/image404.png"/><Relationship Id="rId23" Type="http://schemas.openxmlformats.org/officeDocument/2006/relationships/image" Target="../media/image40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6.png"/><Relationship Id="rId3" Type="http://schemas.openxmlformats.org/officeDocument/2006/relationships/image" Target="../media/image407.png"/><Relationship Id="rId4" Type="http://schemas.openxmlformats.org/officeDocument/2006/relationships/image" Target="../media/image408.png"/><Relationship Id="rId5" Type="http://schemas.openxmlformats.org/officeDocument/2006/relationships/image" Target="../media/image409.png"/><Relationship Id="rId6" Type="http://schemas.openxmlformats.org/officeDocument/2006/relationships/image" Target="../media/image410.png"/><Relationship Id="rId7" Type="http://schemas.openxmlformats.org/officeDocument/2006/relationships/image" Target="../media/image411.png"/><Relationship Id="rId8" Type="http://schemas.openxmlformats.org/officeDocument/2006/relationships/image" Target="../media/image412.png"/><Relationship Id="rId9" Type="http://schemas.openxmlformats.org/officeDocument/2006/relationships/image" Target="../media/image413.png"/><Relationship Id="rId10" Type="http://schemas.openxmlformats.org/officeDocument/2006/relationships/image" Target="../media/image414.png"/><Relationship Id="rId11" Type="http://schemas.openxmlformats.org/officeDocument/2006/relationships/image" Target="../media/image415.png"/><Relationship Id="rId12" Type="http://schemas.openxmlformats.org/officeDocument/2006/relationships/image" Target="../media/image416.png"/><Relationship Id="rId13" Type="http://schemas.openxmlformats.org/officeDocument/2006/relationships/image" Target="../media/image417.png"/><Relationship Id="rId14" Type="http://schemas.openxmlformats.org/officeDocument/2006/relationships/image" Target="../media/image418.png"/><Relationship Id="rId15" Type="http://schemas.openxmlformats.org/officeDocument/2006/relationships/image" Target="../media/image419.png"/><Relationship Id="rId16" Type="http://schemas.openxmlformats.org/officeDocument/2006/relationships/image" Target="../media/image4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1.png"/><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422.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423.png"/><Relationship Id="rId9" Type="http://schemas.openxmlformats.org/officeDocument/2006/relationships/image" Target="../media/image69.png"/><Relationship Id="rId10" Type="http://schemas.openxmlformats.org/officeDocument/2006/relationships/image" Target="../media/image70.png"/><Relationship Id="rId11" Type="http://schemas.openxmlformats.org/officeDocument/2006/relationships/image" Target="../media/image4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5.png"/><Relationship Id="rId3" Type="http://schemas.openxmlformats.org/officeDocument/2006/relationships/image" Target="../media/image426.png"/><Relationship Id="rId4" Type="http://schemas.openxmlformats.org/officeDocument/2006/relationships/image" Target="../media/image427.png"/><Relationship Id="rId5" Type="http://schemas.openxmlformats.org/officeDocument/2006/relationships/image" Target="../media/image428.png"/><Relationship Id="rId6" Type="http://schemas.openxmlformats.org/officeDocument/2006/relationships/image" Target="../media/image429.png"/><Relationship Id="rId7" Type="http://schemas.openxmlformats.org/officeDocument/2006/relationships/image" Target="../media/image430.png"/><Relationship Id="rId8" Type="http://schemas.openxmlformats.org/officeDocument/2006/relationships/image" Target="../media/image431.png"/><Relationship Id="rId9" Type="http://schemas.openxmlformats.org/officeDocument/2006/relationships/image" Target="../media/image432.png"/><Relationship Id="rId10" Type="http://schemas.openxmlformats.org/officeDocument/2006/relationships/image" Target="../media/image433.png"/><Relationship Id="rId11" Type="http://schemas.openxmlformats.org/officeDocument/2006/relationships/image" Target="../media/image434.png"/><Relationship Id="rId12" Type="http://schemas.openxmlformats.org/officeDocument/2006/relationships/image" Target="../media/image435.png"/><Relationship Id="rId13" Type="http://schemas.openxmlformats.org/officeDocument/2006/relationships/image" Target="../media/image19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43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6.png"/><Relationship Id="rId10" Type="http://schemas.openxmlformats.org/officeDocument/2006/relationships/image" Target="../media/image70.png"/><Relationship Id="rId11" Type="http://schemas.openxmlformats.org/officeDocument/2006/relationships/image" Target="../media/image43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1.png"/><Relationship Id="rId3" Type="http://schemas.openxmlformats.org/officeDocument/2006/relationships/image" Target="../media/image438.png"/><Relationship Id="rId4" Type="http://schemas.openxmlformats.org/officeDocument/2006/relationships/image" Target="../media/image439.png"/><Relationship Id="rId5" Type="http://schemas.openxmlformats.org/officeDocument/2006/relationships/image" Target="../media/image440.png"/><Relationship Id="rId6" Type="http://schemas.openxmlformats.org/officeDocument/2006/relationships/image" Target="../media/image441.png"/><Relationship Id="rId7" Type="http://schemas.openxmlformats.org/officeDocument/2006/relationships/image" Target="../media/image432.png"/><Relationship Id="rId8" Type="http://schemas.openxmlformats.org/officeDocument/2006/relationships/image" Target="../media/image442.png"/><Relationship Id="rId9" Type="http://schemas.openxmlformats.org/officeDocument/2006/relationships/image" Target="../media/image443.png"/><Relationship Id="rId10" Type="http://schemas.openxmlformats.org/officeDocument/2006/relationships/image" Target="../media/image444.png"/><Relationship Id="rId11"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5.png"/><Relationship Id="rId3" Type="http://schemas.openxmlformats.org/officeDocument/2006/relationships/image" Target="../media/image446.png"/><Relationship Id="rId4" Type="http://schemas.openxmlformats.org/officeDocument/2006/relationships/image" Target="../media/image65.png"/><Relationship Id="rId5" Type="http://schemas.openxmlformats.org/officeDocument/2006/relationships/image" Target="../media/image447.png"/><Relationship Id="rId6" Type="http://schemas.openxmlformats.org/officeDocument/2006/relationships/image" Target="../media/image67.png"/><Relationship Id="rId7" Type="http://schemas.openxmlformats.org/officeDocument/2006/relationships/image" Target="../media/image448.png"/><Relationship Id="rId8" Type="http://schemas.openxmlformats.org/officeDocument/2006/relationships/image" Target="../media/image69.png"/><Relationship Id="rId9" Type="http://schemas.openxmlformats.org/officeDocument/2006/relationships/image" Target="../media/image449.png"/><Relationship Id="rId10" Type="http://schemas.openxmlformats.org/officeDocument/2006/relationships/image" Target="../media/image6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0.png"/><Relationship Id="rId3" Type="http://schemas.openxmlformats.org/officeDocument/2006/relationships/image" Target="../media/image438.png"/><Relationship Id="rId4" Type="http://schemas.openxmlformats.org/officeDocument/2006/relationships/image" Target="../media/image408.png"/><Relationship Id="rId5" Type="http://schemas.openxmlformats.org/officeDocument/2006/relationships/image" Target="../media/image440.png"/><Relationship Id="rId6" Type="http://schemas.openxmlformats.org/officeDocument/2006/relationships/image" Target="../media/image441.png"/><Relationship Id="rId7" Type="http://schemas.openxmlformats.org/officeDocument/2006/relationships/image" Target="../media/image432.png"/><Relationship Id="rId8" Type="http://schemas.openxmlformats.org/officeDocument/2006/relationships/image" Target="../media/image317.png"/><Relationship Id="rId9" Type="http://schemas.openxmlformats.org/officeDocument/2006/relationships/image" Target="../media/image4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1.png"/><Relationship Id="rId3" Type="http://schemas.openxmlformats.org/officeDocument/2006/relationships/image" Target="../media/image452.png"/><Relationship Id="rId4" Type="http://schemas.openxmlformats.org/officeDocument/2006/relationships/image" Target="../media/image453.png"/><Relationship Id="rId5" Type="http://schemas.openxmlformats.org/officeDocument/2006/relationships/image" Target="../media/image454.png"/><Relationship Id="rId6" Type="http://schemas.openxmlformats.org/officeDocument/2006/relationships/image" Target="../media/image455.png"/><Relationship Id="rId7" Type="http://schemas.openxmlformats.org/officeDocument/2006/relationships/image" Target="../media/image456.png"/><Relationship Id="rId8" Type="http://schemas.openxmlformats.org/officeDocument/2006/relationships/image" Target="../media/image457.png"/><Relationship Id="rId9" Type="http://schemas.openxmlformats.org/officeDocument/2006/relationships/image" Target="../media/image368.png"/><Relationship Id="rId10" Type="http://schemas.openxmlformats.org/officeDocument/2006/relationships/image" Target="../media/image458.png"/><Relationship Id="rId11" Type="http://schemas.openxmlformats.org/officeDocument/2006/relationships/image" Target="../media/image459.png"/><Relationship Id="rId12" Type="http://schemas.openxmlformats.org/officeDocument/2006/relationships/image" Target="../media/image460.png"/><Relationship Id="rId13" Type="http://schemas.openxmlformats.org/officeDocument/2006/relationships/image" Target="../media/image461.png"/><Relationship Id="rId14" Type="http://schemas.openxmlformats.org/officeDocument/2006/relationships/image" Target="../media/image462.png"/><Relationship Id="rId15" Type="http://schemas.openxmlformats.org/officeDocument/2006/relationships/image" Target="../media/image463.png"/><Relationship Id="rId16" Type="http://schemas.openxmlformats.org/officeDocument/2006/relationships/image" Target="../media/image46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5.png"/><Relationship Id="rId3" Type="http://schemas.openxmlformats.org/officeDocument/2006/relationships/image" Target="../media/image438.png"/><Relationship Id="rId4" Type="http://schemas.openxmlformats.org/officeDocument/2006/relationships/image" Target="../media/image466.png"/><Relationship Id="rId5" Type="http://schemas.openxmlformats.org/officeDocument/2006/relationships/image" Target="../media/image440.png"/><Relationship Id="rId6" Type="http://schemas.openxmlformats.org/officeDocument/2006/relationships/image" Target="../media/image467.png"/><Relationship Id="rId7" Type="http://schemas.openxmlformats.org/officeDocument/2006/relationships/image" Target="../media/image432.png"/><Relationship Id="rId8" Type="http://schemas.openxmlformats.org/officeDocument/2006/relationships/image" Target="../media/image218.png"/><Relationship Id="rId9" Type="http://schemas.openxmlformats.org/officeDocument/2006/relationships/image" Target="../media/image46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9.png"/><Relationship Id="rId3" Type="http://schemas.openxmlformats.org/officeDocument/2006/relationships/image" Target="../media/image96.png"/><Relationship Id="rId4" Type="http://schemas.openxmlformats.org/officeDocument/2006/relationships/image" Target="../media/image121.png"/><Relationship Id="rId5" Type="http://schemas.openxmlformats.org/officeDocument/2006/relationships/image" Target="../media/image470.png"/><Relationship Id="rId6" Type="http://schemas.openxmlformats.org/officeDocument/2006/relationships/image" Target="../media/image99.png"/><Relationship Id="rId7" Type="http://schemas.openxmlformats.org/officeDocument/2006/relationships/image" Target="../media/image123.png"/><Relationship Id="rId8" Type="http://schemas.openxmlformats.org/officeDocument/2006/relationships/image" Target="../media/image30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1.png"/><Relationship Id="rId3" Type="http://schemas.openxmlformats.org/officeDocument/2006/relationships/image" Target="../media/image43.png"/><Relationship Id="rId4" Type="http://schemas.openxmlformats.org/officeDocument/2006/relationships/image" Target="../media/image472.png"/><Relationship Id="rId5" Type="http://schemas.openxmlformats.org/officeDocument/2006/relationships/image" Target="../media/image473.png"/><Relationship Id="rId6" Type="http://schemas.openxmlformats.org/officeDocument/2006/relationships/image" Target="../media/image474.png"/><Relationship Id="rId7" Type="http://schemas.openxmlformats.org/officeDocument/2006/relationships/image" Target="../media/image475.png"/><Relationship Id="rId8" Type="http://schemas.openxmlformats.org/officeDocument/2006/relationships/image" Target="../media/image476.png"/><Relationship Id="rId9" Type="http://schemas.openxmlformats.org/officeDocument/2006/relationships/image" Target="../media/image40.png"/><Relationship Id="rId10" Type="http://schemas.openxmlformats.org/officeDocument/2006/relationships/image" Target="../media/image477.png"/><Relationship Id="rId11" Type="http://schemas.openxmlformats.org/officeDocument/2006/relationships/image" Target="../media/image478.png"/><Relationship Id="rId12" Type="http://schemas.openxmlformats.org/officeDocument/2006/relationships/image" Target="../media/image479.png"/><Relationship Id="rId13" Type="http://schemas.openxmlformats.org/officeDocument/2006/relationships/image" Target="../media/image480.png"/><Relationship Id="rId14"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1.png"/><Relationship Id="rId3" Type="http://schemas.openxmlformats.org/officeDocument/2006/relationships/image" Target="../media/image482.png"/><Relationship Id="rId4" Type="http://schemas.openxmlformats.org/officeDocument/2006/relationships/image" Target="../media/image483.png"/><Relationship Id="rId5" Type="http://schemas.openxmlformats.org/officeDocument/2006/relationships/image" Target="../media/image484.png"/><Relationship Id="rId6" Type="http://schemas.openxmlformats.org/officeDocument/2006/relationships/image" Target="../media/image485.png"/><Relationship Id="rId7" Type="http://schemas.openxmlformats.org/officeDocument/2006/relationships/image" Target="../media/image486.png"/><Relationship Id="rId8" Type="http://schemas.openxmlformats.org/officeDocument/2006/relationships/image" Target="../media/image487.png"/><Relationship Id="rId9" Type="http://schemas.openxmlformats.org/officeDocument/2006/relationships/image" Target="../media/image14.png"/><Relationship Id="rId10" Type="http://schemas.openxmlformats.org/officeDocument/2006/relationships/image" Target="../media/image488.png"/><Relationship Id="rId11" Type="http://schemas.openxmlformats.org/officeDocument/2006/relationships/image" Target="../media/image489.png"/><Relationship Id="rId12" Type="http://schemas.openxmlformats.org/officeDocument/2006/relationships/image" Target="../media/image49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1.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492.png"/><Relationship Id="rId6" Type="http://schemas.openxmlformats.org/officeDocument/2006/relationships/image" Target="../media/image169.png"/><Relationship Id="rId7" Type="http://schemas.openxmlformats.org/officeDocument/2006/relationships/image" Target="../media/image171.png"/><Relationship Id="rId8" Type="http://schemas.openxmlformats.org/officeDocument/2006/relationships/image" Target="../media/image257.png"/><Relationship Id="rId9" Type="http://schemas.openxmlformats.org/officeDocument/2006/relationships/image" Target="../media/image493.png"/><Relationship Id="rId10" Type="http://schemas.openxmlformats.org/officeDocument/2006/relationships/image" Target="../media/image173.png"/><Relationship Id="rId11" Type="http://schemas.openxmlformats.org/officeDocument/2006/relationships/image" Target="../media/image494.png"/><Relationship Id="rId12" Type="http://schemas.openxmlformats.org/officeDocument/2006/relationships/image" Target="../media/image495.png"/><Relationship Id="rId13" Type="http://schemas.openxmlformats.org/officeDocument/2006/relationships/image" Target="../media/image496.png"/><Relationship Id="rId14" Type="http://schemas.openxmlformats.org/officeDocument/2006/relationships/image" Target="../media/image497.png"/><Relationship Id="rId15" Type="http://schemas.openxmlformats.org/officeDocument/2006/relationships/image" Target="../media/image498.png"/><Relationship Id="rId16" Type="http://schemas.openxmlformats.org/officeDocument/2006/relationships/image" Target="../media/image499.png"/><Relationship Id="rId17" Type="http://schemas.openxmlformats.org/officeDocument/2006/relationships/image" Target="../media/image500.png"/><Relationship Id="rId18" Type="http://schemas.openxmlformats.org/officeDocument/2006/relationships/image" Target="../media/image501.png"/><Relationship Id="rId19" Type="http://schemas.openxmlformats.org/officeDocument/2006/relationships/image" Target="../media/image502.png"/><Relationship Id="rId20" Type="http://schemas.openxmlformats.org/officeDocument/2006/relationships/image" Target="../media/image50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4.png"/><Relationship Id="rId3" Type="http://schemas.openxmlformats.org/officeDocument/2006/relationships/image" Target="../media/image505.png"/><Relationship Id="rId4" Type="http://schemas.openxmlformats.org/officeDocument/2006/relationships/image" Target="../media/image506.png"/><Relationship Id="rId5" Type="http://schemas.openxmlformats.org/officeDocument/2006/relationships/image" Target="../media/image507.png"/><Relationship Id="rId6" Type="http://schemas.openxmlformats.org/officeDocument/2006/relationships/image" Target="../media/image50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9.png"/><Relationship Id="rId3" Type="http://schemas.openxmlformats.org/officeDocument/2006/relationships/image" Target="../media/image510.png"/><Relationship Id="rId4" Type="http://schemas.openxmlformats.org/officeDocument/2006/relationships/image" Target="../media/image511.png"/><Relationship Id="rId5" Type="http://schemas.openxmlformats.org/officeDocument/2006/relationships/image" Target="../media/image512.png"/><Relationship Id="rId6" Type="http://schemas.openxmlformats.org/officeDocument/2006/relationships/image" Target="../media/image513.png"/><Relationship Id="rId7" Type="http://schemas.openxmlformats.org/officeDocument/2006/relationships/image" Target="../media/image514.png"/><Relationship Id="rId8" Type="http://schemas.openxmlformats.org/officeDocument/2006/relationships/image" Target="../media/image515.png"/><Relationship Id="rId9" Type="http://schemas.openxmlformats.org/officeDocument/2006/relationships/image" Target="../media/image516.png"/><Relationship Id="rId10" Type="http://schemas.openxmlformats.org/officeDocument/2006/relationships/image" Target="../media/image51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0" y="0"/>
            <a:ext cx="12191695" cy="6858000"/>
          </a:xfrm>
          <a:prstGeom prst="rect">
            <a:avLst/>
          </a:prstGeom>
          <a:ln/>
        </p:spPr>
      </p:pic>
      <p:pic>
        <p:nvPicPr>
          <p:cNvPr id="5" name="Picture 4" descr="image.png"/>
          <p:cNvPicPr>
            <a:picLocks noChangeAspect="1"/>
          </p:cNvPicPr>
          <p:nvPr/>
        </p:nvPicPr>
        <p:blipFill>
          <a:blip r:embed="rId3"/>
          <a:stretch>
            <a:fillRect/>
          </a:stretch>
        </p:blipFill>
        <p:spPr>
          <a:xfrm>
            <a:off x="0" y="0"/>
            <a:ext cx="12191695" cy="75895"/>
          </a:xfrm>
          <a:prstGeom prst="rect">
            <a:avLst/>
          </a:prstGeom>
          <a:ln/>
        </p:spPr>
      </p:pic>
      <p:sp>
        <p:nvSpPr>
          <p:cNvPr id="6" name="TextBox 5"/>
          <p:cNvSpPr txBox="1"/>
          <p:nvPr/>
        </p:nvSpPr>
        <p:spPr>
          <a:xfrm>
            <a:off x="0" y="6277356"/>
            <a:ext cx="12306910" cy="200253"/>
          </a:xfrm>
          <a:prstGeom prst="rect">
            <a:avLst/>
          </a:prstGeom>
          <a:noFill/>
          <a:ln/>
        </p:spPr>
        <p:txBody>
          <a:bodyPr wrap="square" lIns="0" rIns="0" tIns="0" bIns="0">
            <a:noAutofit/>
          </a:bodyPr>
          <a:lstStyle/>
          <a:p>
            <a:r>
              <a:rPr sz="1000">
                <a:solidFill>
                  <a:srgbClr val="86868B"/>
                </a:solidFill>
                <a:latin typeface="Noto Sans JP"/>
              </a:rPr>
              <a:t>2026年2月15日 | Generated by Genspark AI Slides</a:t>
            </a:r>
          </a:p>
        </p:txBody>
      </p:sp>
      <p:pic>
        <p:nvPicPr>
          <p:cNvPr id="7" name="Picture 6" descr="image.png"/>
          <p:cNvPicPr>
            <a:picLocks noChangeAspect="1"/>
          </p:cNvPicPr>
          <p:nvPr/>
        </p:nvPicPr>
        <p:blipFill>
          <a:blip r:embed="rId4"/>
          <a:stretch>
            <a:fillRect/>
          </a:stretch>
        </p:blipFill>
        <p:spPr>
          <a:xfrm>
            <a:off x="2190902" y="809244"/>
            <a:ext cx="609905" cy="609905"/>
          </a:xfrm>
          <a:prstGeom prst="rect">
            <a:avLst/>
          </a:prstGeom>
          <a:ln/>
        </p:spPr>
      </p:pic>
      <p:sp>
        <p:nvSpPr>
          <p:cNvPr id="8" name="TextBox 7"/>
          <p:cNvSpPr txBox="1"/>
          <p:nvPr/>
        </p:nvSpPr>
        <p:spPr>
          <a:xfrm>
            <a:off x="2133295" y="1705356"/>
            <a:ext cx="7925105" cy="257861"/>
          </a:xfrm>
          <a:prstGeom prst="rect">
            <a:avLst/>
          </a:prstGeom>
          <a:noFill/>
          <a:ln/>
        </p:spPr>
        <p:txBody>
          <a:bodyPr wrap="square" lIns="0" rIns="0" tIns="0" bIns="0">
            <a:noAutofit/>
          </a:bodyPr>
          <a:lstStyle/>
          <a:p>
            <a:r>
              <a:rPr sz="1300">
                <a:solidFill>
                  <a:srgbClr val="86868B"/>
                </a:solidFill>
                <a:latin typeface="Noto Sans JP"/>
              </a:rPr>
              <a:t>Technical Research Report</a:t>
            </a:r>
          </a:p>
        </p:txBody>
      </p:sp>
      <p:sp>
        <p:nvSpPr>
          <p:cNvPr id="9" name="TextBox 8"/>
          <p:cNvSpPr txBox="1"/>
          <p:nvPr/>
        </p:nvSpPr>
        <p:spPr>
          <a:xfrm>
            <a:off x="1677924" y="2190902"/>
            <a:ext cx="8837676" cy="590701"/>
          </a:xfrm>
          <a:prstGeom prst="rect">
            <a:avLst/>
          </a:prstGeom>
          <a:noFill/>
          <a:ln/>
        </p:spPr>
        <p:txBody>
          <a:bodyPr wrap="square" lIns="0" rIns="0" tIns="0" bIns="0">
            <a:noAutofit/>
          </a:bodyPr>
          <a:lstStyle/>
          <a:p>
            <a:r>
              <a:rPr sz="4200" b="1">
                <a:solidFill>
                  <a:srgbClr val="1D1D1F"/>
                </a:solidFill>
                <a:latin typeface="Noto Sans JP"/>
              </a:rPr>
              <a:t>ローカルAI 技術調査レポート</a:t>
            </a:r>
          </a:p>
        </p:txBody>
      </p:sp>
      <p:sp>
        <p:nvSpPr>
          <p:cNvPr id="10" name="TextBox 9"/>
          <p:cNvSpPr txBox="1"/>
          <p:nvPr/>
        </p:nvSpPr>
        <p:spPr>
          <a:xfrm>
            <a:off x="2095805" y="2929738"/>
            <a:ext cx="8001000" cy="457200"/>
          </a:xfrm>
          <a:prstGeom prst="rect">
            <a:avLst/>
          </a:prstGeom>
          <a:noFill/>
          <a:ln/>
        </p:spPr>
        <p:txBody>
          <a:bodyPr wrap="square" lIns="0" rIns="0" tIns="0" bIns="0">
            <a:noAutofit/>
          </a:bodyPr>
          <a:lstStyle/>
          <a:p>
            <a:r>
              <a:rPr sz="2400">
                <a:solidFill>
                  <a:srgbClr val="424245"/>
                </a:solidFill>
                <a:latin typeface="Noto Sans JP"/>
              </a:rPr>
              <a:t>オンデバイス／ローカル推論の現実解と推奨スタック</a:t>
            </a:r>
          </a:p>
        </p:txBody>
      </p:sp>
      <p:pic>
        <p:nvPicPr>
          <p:cNvPr id="11" name="Picture 10" descr="image.png"/>
          <p:cNvPicPr>
            <a:picLocks noChangeAspect="1"/>
          </p:cNvPicPr>
          <p:nvPr/>
        </p:nvPicPr>
        <p:blipFill>
          <a:blip r:embed="rId5"/>
          <a:stretch>
            <a:fillRect/>
          </a:stretch>
        </p:blipFill>
        <p:spPr>
          <a:xfrm>
            <a:off x="3384194" y="3844138"/>
            <a:ext cx="533094" cy="314553"/>
          </a:xfrm>
          <a:prstGeom prst="rect">
            <a:avLst/>
          </a:prstGeom>
          <a:ln/>
        </p:spPr>
      </p:pic>
      <p:sp>
        <p:nvSpPr>
          <p:cNvPr id="12" name="TextBox 11"/>
          <p:cNvSpPr txBox="1"/>
          <p:nvPr/>
        </p:nvSpPr>
        <p:spPr>
          <a:xfrm>
            <a:off x="3384194" y="3844138"/>
            <a:ext cx="534010"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LLM</a:t>
            </a:r>
          </a:p>
        </p:txBody>
      </p:sp>
      <p:pic>
        <p:nvPicPr>
          <p:cNvPr id="13" name="Picture 12" descr="image.png"/>
          <p:cNvPicPr>
            <a:picLocks noChangeAspect="1"/>
          </p:cNvPicPr>
          <p:nvPr/>
        </p:nvPicPr>
        <p:blipFill>
          <a:blip r:embed="rId5"/>
          <a:stretch>
            <a:fillRect/>
          </a:stretch>
        </p:blipFill>
        <p:spPr>
          <a:xfrm>
            <a:off x="4005072" y="3844138"/>
            <a:ext cx="533094" cy="314553"/>
          </a:xfrm>
          <a:prstGeom prst="rect">
            <a:avLst/>
          </a:prstGeom>
          <a:ln/>
        </p:spPr>
      </p:pic>
      <p:sp>
        <p:nvSpPr>
          <p:cNvPr id="14" name="TextBox 13"/>
          <p:cNvSpPr txBox="1"/>
          <p:nvPr/>
        </p:nvSpPr>
        <p:spPr>
          <a:xfrm>
            <a:off x="4005072" y="3844138"/>
            <a:ext cx="534010"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VLM</a:t>
            </a:r>
          </a:p>
        </p:txBody>
      </p:sp>
      <p:pic>
        <p:nvPicPr>
          <p:cNvPr id="15" name="Picture 14" descr="image.png"/>
          <p:cNvPicPr>
            <a:picLocks noChangeAspect="1"/>
          </p:cNvPicPr>
          <p:nvPr/>
        </p:nvPicPr>
        <p:blipFill>
          <a:blip r:embed="rId6"/>
          <a:stretch>
            <a:fillRect/>
          </a:stretch>
        </p:blipFill>
        <p:spPr>
          <a:xfrm>
            <a:off x="4631436" y="3844138"/>
            <a:ext cx="523951" cy="314553"/>
          </a:xfrm>
          <a:prstGeom prst="rect">
            <a:avLst/>
          </a:prstGeom>
          <a:ln/>
        </p:spPr>
      </p:pic>
      <p:sp>
        <p:nvSpPr>
          <p:cNvPr id="16" name="TextBox 15"/>
          <p:cNvSpPr txBox="1"/>
          <p:nvPr/>
        </p:nvSpPr>
        <p:spPr>
          <a:xfrm>
            <a:off x="4631436" y="3844138"/>
            <a:ext cx="523951"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ASR</a:t>
            </a:r>
          </a:p>
        </p:txBody>
      </p:sp>
      <p:pic>
        <p:nvPicPr>
          <p:cNvPr id="17" name="Picture 16" descr="image.png"/>
          <p:cNvPicPr>
            <a:picLocks noChangeAspect="1"/>
          </p:cNvPicPr>
          <p:nvPr/>
        </p:nvPicPr>
        <p:blipFill>
          <a:blip r:embed="rId7"/>
          <a:stretch>
            <a:fillRect/>
          </a:stretch>
        </p:blipFill>
        <p:spPr>
          <a:xfrm>
            <a:off x="5244998" y="3844138"/>
            <a:ext cx="504748" cy="314553"/>
          </a:xfrm>
          <a:prstGeom prst="rect">
            <a:avLst/>
          </a:prstGeom>
          <a:ln/>
        </p:spPr>
      </p:pic>
      <p:sp>
        <p:nvSpPr>
          <p:cNvPr id="18" name="TextBox 17"/>
          <p:cNvSpPr txBox="1"/>
          <p:nvPr/>
        </p:nvSpPr>
        <p:spPr>
          <a:xfrm>
            <a:off x="5244998" y="3844138"/>
            <a:ext cx="505662"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TTS</a:t>
            </a:r>
          </a:p>
        </p:txBody>
      </p:sp>
      <p:pic>
        <p:nvPicPr>
          <p:cNvPr id="19" name="Picture 18" descr="image.png"/>
          <p:cNvPicPr>
            <a:picLocks noChangeAspect="1"/>
          </p:cNvPicPr>
          <p:nvPr/>
        </p:nvPicPr>
        <p:blipFill>
          <a:blip r:embed="rId5"/>
          <a:stretch>
            <a:fillRect/>
          </a:stretch>
        </p:blipFill>
        <p:spPr>
          <a:xfrm>
            <a:off x="5844845" y="3844138"/>
            <a:ext cx="533094" cy="314553"/>
          </a:xfrm>
          <a:prstGeom prst="rect">
            <a:avLst/>
          </a:prstGeom>
          <a:ln/>
        </p:spPr>
      </p:pic>
      <p:sp>
        <p:nvSpPr>
          <p:cNvPr id="20" name="TextBox 19"/>
          <p:cNvSpPr txBox="1"/>
          <p:nvPr/>
        </p:nvSpPr>
        <p:spPr>
          <a:xfrm>
            <a:off x="5844845" y="3844138"/>
            <a:ext cx="534010"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RAG</a:t>
            </a:r>
          </a:p>
        </p:txBody>
      </p:sp>
      <p:pic>
        <p:nvPicPr>
          <p:cNvPr id="21" name="Picture 20" descr="image.png"/>
          <p:cNvPicPr>
            <a:picLocks noChangeAspect="1"/>
          </p:cNvPicPr>
          <p:nvPr/>
        </p:nvPicPr>
        <p:blipFill>
          <a:blip r:embed="rId8"/>
          <a:stretch>
            <a:fillRect/>
          </a:stretch>
        </p:blipFill>
        <p:spPr>
          <a:xfrm>
            <a:off x="6467551" y="3844138"/>
            <a:ext cx="1095451" cy="314553"/>
          </a:xfrm>
          <a:prstGeom prst="rect">
            <a:avLst/>
          </a:prstGeom>
          <a:ln/>
        </p:spPr>
      </p:pic>
      <p:sp>
        <p:nvSpPr>
          <p:cNvPr id="22" name="TextBox 21"/>
          <p:cNvSpPr txBox="1"/>
          <p:nvPr/>
        </p:nvSpPr>
        <p:spPr>
          <a:xfrm>
            <a:off x="6467551" y="3844138"/>
            <a:ext cx="1095451"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Apple Silicon</a:t>
            </a:r>
          </a:p>
        </p:txBody>
      </p:sp>
      <p:pic>
        <p:nvPicPr>
          <p:cNvPr id="23" name="Picture 22" descr="image.png"/>
          <p:cNvPicPr>
            <a:picLocks noChangeAspect="1"/>
          </p:cNvPicPr>
          <p:nvPr/>
        </p:nvPicPr>
        <p:blipFill>
          <a:blip r:embed="rId9"/>
          <a:stretch>
            <a:fillRect/>
          </a:stretch>
        </p:blipFill>
        <p:spPr>
          <a:xfrm>
            <a:off x="7653528" y="3844138"/>
            <a:ext cx="1162202" cy="314553"/>
          </a:xfrm>
          <a:prstGeom prst="rect">
            <a:avLst/>
          </a:prstGeom>
          <a:ln/>
        </p:spPr>
      </p:pic>
      <p:sp>
        <p:nvSpPr>
          <p:cNvPr id="24" name="TextBox 23"/>
          <p:cNvSpPr txBox="1"/>
          <p:nvPr/>
        </p:nvSpPr>
        <p:spPr>
          <a:xfrm>
            <a:off x="7653528" y="3844138"/>
            <a:ext cx="1162202" cy="31455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Windows GPU</a:t>
            </a:r>
          </a:p>
        </p:txBody>
      </p:sp>
      <p:sp>
        <p:nvSpPr>
          <p:cNvPr id="25" name="Rectangle 24"/>
          <p:cNvSpPr/>
          <p:nvPr/>
        </p:nvSpPr>
        <p:spPr>
          <a:xfrm>
            <a:off x="2190902" y="4463186"/>
            <a:ext cx="7810805" cy="159105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190902" y="4463186"/>
            <a:ext cx="38405" cy="159105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33802" y="4691786"/>
            <a:ext cx="7277710" cy="228600"/>
          </a:xfrm>
          <a:prstGeom prst="rect">
            <a:avLst/>
          </a:prstGeom>
          <a:noFill/>
          <a:ln/>
        </p:spPr>
        <p:txBody>
          <a:bodyPr wrap="square" lIns="0" rIns="0" tIns="0" bIns="0">
            <a:noAutofit/>
          </a:bodyPr>
          <a:lstStyle/>
          <a:p>
            <a:r>
              <a:rPr sz="1200" b="1">
                <a:solidFill>
                  <a:srgbClr val="007AFF"/>
                </a:solidFill>
                <a:latin typeface="Noto Sans JP"/>
              </a:rPr>
              <a:t>Report Purpose</a:t>
            </a:r>
          </a:p>
        </p:txBody>
      </p:sp>
      <p:sp>
        <p:nvSpPr>
          <p:cNvPr id="28" name="TextBox 27"/>
          <p:cNvSpPr txBox="1"/>
          <p:nvPr/>
        </p:nvSpPr>
        <p:spPr>
          <a:xfrm>
            <a:off x="2533802" y="4997196"/>
            <a:ext cx="7239305" cy="829360"/>
          </a:xfrm>
          <a:prstGeom prst="rect">
            <a:avLst/>
          </a:prstGeom>
          <a:noFill/>
          <a:ln/>
        </p:spPr>
        <p:txBody>
          <a:bodyPr wrap="square" lIns="0" rIns="0" tIns="0" bIns="0">
            <a:noAutofit/>
          </a:bodyPr>
          <a:lstStyle/>
          <a:p>
            <a:r>
              <a:rPr sz="1300">
                <a:solidFill>
                  <a:srgbClr val="1D1D1F"/>
                </a:solidFill>
                <a:latin typeface="Noto Sans JP"/>
              </a:rPr>
              <a:t> Apple SiliconおよびWindows環境におけるローカルAIの実運用ラインと推奨スタックを提示。</a:t>
            </a:r>
          </a:p>
          <a:p>
            <a:r>
              <a:rPr sz="1300">
                <a:solidFill>
                  <a:srgbClr val="1D1D1F"/>
                </a:solidFill>
                <a:latin typeface="Noto Sans JP"/>
              </a:rPr>
              <a:t> 「意思決定のための要点」と「根拠となる完全な技術詳細」を二層構造で網羅。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867558" cy="400506"/>
          </a:xfrm>
          <a:prstGeom prst="rect">
            <a:avLst/>
          </a:prstGeom>
          <a:noFill/>
          <a:ln/>
        </p:spPr>
        <p:txBody>
          <a:bodyPr wrap="square" lIns="0" rIns="0" tIns="0" bIns="0">
            <a:noAutofit/>
          </a:bodyPr>
          <a:lstStyle/>
          <a:p>
            <a:r>
              <a:rPr sz="2100" b="1">
                <a:solidFill>
                  <a:srgbClr val="FFFFFF"/>
                </a:solidFill>
                <a:latin typeface="Noto Sans JP"/>
              </a:rPr>
              <a:t>このスライドの読み方</a:t>
            </a:r>
          </a:p>
        </p:txBody>
      </p:sp>
      <p:sp>
        <p:nvSpPr>
          <p:cNvPr id="7" name="TextBox 6"/>
          <p:cNvSpPr txBox="1"/>
          <p:nvPr/>
        </p:nvSpPr>
        <p:spPr>
          <a:xfrm>
            <a:off x="9581998" y="252374"/>
            <a:ext cx="2407615" cy="257860"/>
          </a:xfrm>
          <a:prstGeom prst="rect">
            <a:avLst/>
          </a:prstGeom>
          <a:noFill/>
          <a:ln/>
        </p:spPr>
        <p:txBody>
          <a:bodyPr wrap="square" lIns="0" rIns="0" tIns="0" bIns="0">
            <a:noAutofit/>
          </a:bodyPr>
          <a:lstStyle/>
          <a:p>
            <a:r>
              <a:rPr sz="1300">
                <a:solidFill>
                  <a:srgbClr val="A1A1A6"/>
                </a:solidFill>
                <a:latin typeface="Noto Sans JP"/>
              </a:rPr>
              <a:t>概要→詳細の二層構造ガイド</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p:spPr>
      </p:pic>
      <p:sp>
        <p:nvSpPr>
          <p:cNvPr id="13" name="TextBox 12"/>
          <p:cNvSpPr txBox="1"/>
          <p:nvPr/>
        </p:nvSpPr>
        <p:spPr>
          <a:xfrm>
            <a:off x="1285646" y="1509674"/>
            <a:ext cx="1594714" cy="314554"/>
          </a:xfrm>
          <a:prstGeom prst="rect">
            <a:avLst/>
          </a:prstGeom>
          <a:noFill/>
          <a:ln/>
        </p:spPr>
        <p:txBody>
          <a:bodyPr wrap="square" lIns="0" rIns="0" tIns="0" bIns="0">
            <a:noAutofit/>
          </a:bodyPr>
          <a:lstStyle/>
          <a:p>
            <a:r>
              <a:rPr sz="1600" b="1">
                <a:solidFill>
                  <a:srgbClr val="1D1D1F"/>
                </a:solidFill>
                <a:latin typeface="Noto Sans JP"/>
              </a:rPr>
              <a:t>構造：二層設計</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p:spPr>
      </p:pic>
      <p:sp>
        <p:nvSpPr>
          <p:cNvPr id="15" name="TextBox 14"/>
          <p:cNvSpPr txBox="1"/>
          <p:nvPr/>
        </p:nvSpPr>
        <p:spPr>
          <a:xfrm>
            <a:off x="942746" y="2295144"/>
            <a:ext cx="4782312" cy="257861"/>
          </a:xfrm>
          <a:prstGeom prst="rect">
            <a:avLst/>
          </a:prstGeom>
          <a:noFill/>
          <a:ln/>
        </p:spPr>
        <p:txBody>
          <a:bodyPr wrap="square" lIns="0" rIns="0" tIns="0" bIns="0">
            <a:noAutofit/>
          </a:bodyPr>
          <a:lstStyle/>
          <a:p>
            <a:r>
              <a:rPr sz="1300" b="1">
                <a:solidFill>
                  <a:srgbClr val="1D1D1F"/>
                </a:solidFill>
                <a:latin typeface="Noto Sans JP"/>
              </a:rPr>
              <a:t>1. 概要スライド（Executive Summary）</a:t>
            </a:r>
          </a:p>
        </p:txBody>
      </p:sp>
      <p:sp>
        <p:nvSpPr>
          <p:cNvPr id="16" name="TextBox 15"/>
          <p:cNvSpPr txBox="1"/>
          <p:nvPr/>
        </p:nvSpPr>
        <p:spPr>
          <a:xfrm>
            <a:off x="942746" y="2590495"/>
            <a:ext cx="4743907" cy="457200"/>
          </a:xfrm>
          <a:prstGeom prst="rect">
            <a:avLst/>
          </a:prstGeom>
          <a:noFill/>
          <a:ln/>
        </p:spPr>
        <p:txBody>
          <a:bodyPr wrap="square" lIns="0" rIns="0" tIns="0" bIns="0">
            <a:noAutofit/>
          </a:bodyPr>
          <a:lstStyle/>
          <a:p>
            <a:r>
              <a:rPr sz="1200">
                <a:solidFill>
                  <a:srgbClr val="424245"/>
                </a:solidFill>
                <a:latin typeface="Noto Sans JP"/>
              </a:rPr>
              <a:t>意思決定に必要な「結論」と「要点」を最初に提示します。時間がない場合はここだけ読めば全体像が掴めます。</a:t>
            </a:r>
          </a:p>
        </p:txBody>
      </p:sp>
      <p:pic>
        <p:nvPicPr>
          <p:cNvPr id="17" name="Picture 16" descr="image.png"/>
          <p:cNvPicPr>
            <a:picLocks noChangeAspect="1"/>
          </p:cNvPicPr>
          <p:nvPr/>
        </p:nvPicPr>
        <p:blipFill>
          <a:blip r:embed="rId4"/>
          <a:stretch>
            <a:fillRect/>
          </a:stretch>
        </p:blipFill>
        <p:spPr>
          <a:xfrm>
            <a:off x="676656" y="3276295"/>
            <a:ext cx="152705" cy="152705"/>
          </a:xfrm>
          <a:prstGeom prst="rect">
            <a:avLst/>
          </a:prstGeom>
          <a:ln/>
        </p:spPr>
      </p:pic>
      <p:sp>
        <p:nvSpPr>
          <p:cNvPr id="18" name="TextBox 17"/>
          <p:cNvSpPr txBox="1"/>
          <p:nvPr/>
        </p:nvSpPr>
        <p:spPr>
          <a:xfrm>
            <a:off x="942746" y="3238805"/>
            <a:ext cx="4782312" cy="257860"/>
          </a:xfrm>
          <a:prstGeom prst="rect">
            <a:avLst/>
          </a:prstGeom>
          <a:noFill/>
          <a:ln/>
        </p:spPr>
        <p:txBody>
          <a:bodyPr wrap="square" lIns="0" rIns="0" tIns="0" bIns="0">
            <a:noAutofit/>
          </a:bodyPr>
          <a:lstStyle/>
          <a:p>
            <a:r>
              <a:rPr sz="1300" b="1">
                <a:solidFill>
                  <a:srgbClr val="1D1D1F"/>
                </a:solidFill>
                <a:latin typeface="Noto Sans JP"/>
              </a:rPr>
              <a:t>2. 完全版スライド（Full Detail）</a:t>
            </a:r>
          </a:p>
        </p:txBody>
      </p:sp>
      <p:sp>
        <p:nvSpPr>
          <p:cNvPr id="19" name="TextBox 18"/>
          <p:cNvSpPr txBox="1"/>
          <p:nvPr/>
        </p:nvSpPr>
        <p:spPr>
          <a:xfrm>
            <a:off x="942746" y="3534155"/>
            <a:ext cx="4743907" cy="457200"/>
          </a:xfrm>
          <a:prstGeom prst="rect">
            <a:avLst/>
          </a:prstGeom>
          <a:noFill/>
          <a:ln/>
        </p:spPr>
        <p:txBody>
          <a:bodyPr wrap="square" lIns="0" rIns="0" tIns="0" bIns="0">
            <a:noAutofit/>
          </a:bodyPr>
          <a:lstStyle/>
          <a:p>
            <a:r>
              <a:rPr sz="1200">
                <a:solidFill>
                  <a:srgbClr val="424245"/>
                </a:solidFill>
                <a:latin typeface="Noto Sans JP"/>
              </a:rPr>
              <a:t>レポート内の表、数値、グラフ、注釈を省略せずに掲載します。エンジニアや実装担当者が参照するための詳細情報です。</a:t>
            </a:r>
          </a:p>
        </p:txBody>
      </p:sp>
      <p:pic>
        <p:nvPicPr>
          <p:cNvPr id="20" name="Picture 19" descr="image.png"/>
          <p:cNvPicPr>
            <a:picLocks noChangeAspect="1"/>
          </p:cNvPicPr>
          <p:nvPr/>
        </p:nvPicPr>
        <p:blipFill>
          <a:blip r:embed="rId5"/>
          <a:stretch>
            <a:fillRect/>
          </a:stretch>
        </p:blipFill>
        <p:spPr>
          <a:xfrm>
            <a:off x="676656" y="4219956"/>
            <a:ext cx="190194" cy="152705"/>
          </a:xfrm>
          <a:prstGeom prst="rect">
            <a:avLst/>
          </a:prstGeom>
          <a:ln/>
        </p:spPr>
      </p:pic>
      <p:sp>
        <p:nvSpPr>
          <p:cNvPr id="21" name="TextBox 20"/>
          <p:cNvSpPr txBox="1"/>
          <p:nvPr/>
        </p:nvSpPr>
        <p:spPr>
          <a:xfrm>
            <a:off x="981150" y="4181551"/>
            <a:ext cx="4819802" cy="257860"/>
          </a:xfrm>
          <a:prstGeom prst="rect">
            <a:avLst/>
          </a:prstGeom>
          <a:noFill/>
          <a:ln/>
        </p:spPr>
        <p:txBody>
          <a:bodyPr wrap="square" lIns="0" rIns="0" tIns="0" bIns="0">
            <a:noAutofit/>
          </a:bodyPr>
          <a:lstStyle/>
          <a:p>
            <a:r>
              <a:rPr sz="1300" b="1">
                <a:solidFill>
                  <a:srgbClr val="1D1D1F"/>
                </a:solidFill>
                <a:latin typeface="Noto Sans JP"/>
              </a:rPr>
              <a:t>相互リンクと参照</a:t>
            </a:r>
          </a:p>
        </p:txBody>
      </p:sp>
      <p:sp>
        <p:nvSpPr>
          <p:cNvPr id="22" name="TextBox 21"/>
          <p:cNvSpPr txBox="1"/>
          <p:nvPr/>
        </p:nvSpPr>
        <p:spPr>
          <a:xfrm>
            <a:off x="981150" y="4476902"/>
            <a:ext cx="4705502" cy="457200"/>
          </a:xfrm>
          <a:prstGeom prst="rect">
            <a:avLst/>
          </a:prstGeom>
          <a:noFill/>
          <a:ln/>
        </p:spPr>
        <p:txBody>
          <a:bodyPr wrap="square" lIns="0" rIns="0" tIns="0" bIns="0">
            <a:noAutofit/>
          </a:bodyPr>
          <a:lstStyle/>
          <a:p>
            <a:r>
              <a:rPr sz="1200">
                <a:solidFill>
                  <a:srgbClr val="424245"/>
                </a:solidFill>
                <a:latin typeface="Noto Sans JP"/>
              </a:rPr>
              <a:t>概要から詳細へ、詳細から参考文献へ、論理的に接続されています。</a:t>
            </a:r>
          </a:p>
        </p:txBody>
      </p:sp>
      <p:sp>
        <p:nvSpPr>
          <p:cNvPr id="23" name="Rectangle 22"/>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676949" y="1533449"/>
            <a:ext cx="267005" cy="267005"/>
          </a:xfrm>
          <a:prstGeom prst="rect">
            <a:avLst/>
          </a:prstGeom>
          <a:ln/>
        </p:spPr>
      </p:pic>
      <p:sp>
        <p:nvSpPr>
          <p:cNvPr id="27" name="TextBox 26"/>
          <p:cNvSpPr txBox="1"/>
          <p:nvPr/>
        </p:nvSpPr>
        <p:spPr>
          <a:xfrm>
            <a:off x="7191756" y="1509674"/>
            <a:ext cx="1594714" cy="314554"/>
          </a:xfrm>
          <a:prstGeom prst="rect">
            <a:avLst/>
          </a:prstGeom>
          <a:noFill/>
          <a:ln/>
        </p:spPr>
        <p:txBody>
          <a:bodyPr wrap="square" lIns="0" rIns="0" tIns="0" bIns="0">
            <a:noAutofit/>
          </a:bodyPr>
          <a:lstStyle/>
          <a:p>
            <a:r>
              <a:rPr sz="1600" b="1">
                <a:solidFill>
                  <a:srgbClr val="1D1D1F"/>
                </a:solidFill>
                <a:latin typeface="Noto Sans JP"/>
              </a:rPr>
              <a:t>設計原則と表記</a:t>
            </a:r>
          </a:p>
        </p:txBody>
      </p:sp>
      <p:pic>
        <p:nvPicPr>
          <p:cNvPr id="28" name="Picture 27" descr="image.png"/>
          <p:cNvPicPr>
            <a:picLocks noChangeAspect="1"/>
          </p:cNvPicPr>
          <p:nvPr/>
        </p:nvPicPr>
        <p:blipFill>
          <a:blip r:embed="rId7"/>
          <a:stretch>
            <a:fillRect/>
          </a:stretch>
        </p:blipFill>
        <p:spPr>
          <a:xfrm>
            <a:off x="6581851" y="2333549"/>
            <a:ext cx="152705" cy="152705"/>
          </a:xfrm>
          <a:prstGeom prst="rect">
            <a:avLst/>
          </a:prstGeom>
          <a:ln/>
        </p:spPr>
      </p:pic>
      <p:sp>
        <p:nvSpPr>
          <p:cNvPr id="29" name="TextBox 28"/>
          <p:cNvSpPr txBox="1"/>
          <p:nvPr/>
        </p:nvSpPr>
        <p:spPr>
          <a:xfrm>
            <a:off x="6848856" y="2295144"/>
            <a:ext cx="4858207" cy="257861"/>
          </a:xfrm>
          <a:prstGeom prst="rect">
            <a:avLst/>
          </a:prstGeom>
          <a:noFill/>
          <a:ln/>
        </p:spPr>
        <p:txBody>
          <a:bodyPr wrap="square" lIns="0" rIns="0" tIns="0" bIns="0">
            <a:noAutofit/>
          </a:bodyPr>
          <a:lstStyle/>
          <a:p>
            <a:r>
              <a:rPr sz="1300" b="1">
                <a:solidFill>
                  <a:srgbClr val="1D1D1F"/>
                </a:solidFill>
                <a:latin typeface="Noto Sans JP"/>
              </a:rPr>
              <a:t>省略しない</a:t>
            </a:r>
          </a:p>
        </p:txBody>
      </p:sp>
      <p:sp>
        <p:nvSpPr>
          <p:cNvPr id="30" name="TextBox 29"/>
          <p:cNvSpPr txBox="1"/>
          <p:nvPr/>
        </p:nvSpPr>
        <p:spPr>
          <a:xfrm>
            <a:off x="6848856" y="2590495"/>
            <a:ext cx="4743907" cy="457200"/>
          </a:xfrm>
          <a:prstGeom prst="rect">
            <a:avLst/>
          </a:prstGeom>
          <a:noFill/>
          <a:ln/>
        </p:spPr>
        <p:txBody>
          <a:bodyPr wrap="square" lIns="0" rIns="0" tIns="0" bIns="0">
            <a:noAutofit/>
          </a:bodyPr>
          <a:lstStyle/>
          <a:p>
            <a:r>
              <a:rPr sz="1200">
                <a:solidFill>
                  <a:srgbClr val="424245"/>
                </a:solidFill>
                <a:latin typeface="Noto Sans JP"/>
              </a:rPr>
              <a:t>元の技術レポートに含まれる情報は、脚注やURLに至るまで全てスライド内に保持します。</a:t>
            </a:r>
          </a:p>
        </p:txBody>
      </p:sp>
      <p:pic>
        <p:nvPicPr>
          <p:cNvPr id="31" name="Picture 30" descr="image.png"/>
          <p:cNvPicPr>
            <a:picLocks noChangeAspect="1"/>
          </p:cNvPicPr>
          <p:nvPr/>
        </p:nvPicPr>
        <p:blipFill>
          <a:blip r:embed="rId7"/>
          <a:stretch>
            <a:fillRect/>
          </a:stretch>
        </p:blipFill>
        <p:spPr>
          <a:xfrm>
            <a:off x="6581851" y="3276295"/>
            <a:ext cx="152705" cy="152705"/>
          </a:xfrm>
          <a:prstGeom prst="rect">
            <a:avLst/>
          </a:prstGeom>
          <a:ln/>
        </p:spPr>
      </p:pic>
      <p:sp>
        <p:nvSpPr>
          <p:cNvPr id="32" name="TextBox 31"/>
          <p:cNvSpPr txBox="1"/>
          <p:nvPr/>
        </p:nvSpPr>
        <p:spPr>
          <a:xfrm>
            <a:off x="6848856" y="3238805"/>
            <a:ext cx="4858207" cy="257860"/>
          </a:xfrm>
          <a:prstGeom prst="rect">
            <a:avLst/>
          </a:prstGeom>
          <a:noFill/>
          <a:ln/>
        </p:spPr>
        <p:txBody>
          <a:bodyPr wrap="square" lIns="0" rIns="0" tIns="0" bIns="0">
            <a:noAutofit/>
          </a:bodyPr>
          <a:lstStyle/>
          <a:p>
            <a:r>
              <a:rPr sz="1300" b="1">
                <a:solidFill>
                  <a:srgbClr val="1D1D1F"/>
                </a:solidFill>
                <a:latin typeface="Noto Sans JP"/>
              </a:rPr>
              <a:t>根拠の明示</a:t>
            </a:r>
          </a:p>
        </p:txBody>
      </p:sp>
      <p:sp>
        <p:nvSpPr>
          <p:cNvPr id="33" name="TextBox 32"/>
          <p:cNvSpPr txBox="1"/>
          <p:nvPr/>
        </p:nvSpPr>
        <p:spPr>
          <a:xfrm>
            <a:off x="6848856" y="3534155"/>
            <a:ext cx="4743907" cy="457200"/>
          </a:xfrm>
          <a:prstGeom prst="rect">
            <a:avLst/>
          </a:prstGeom>
          <a:noFill/>
          <a:ln/>
        </p:spPr>
        <p:txBody>
          <a:bodyPr wrap="square" lIns="0" rIns="0" tIns="0" bIns="0">
            <a:noAutofit/>
          </a:bodyPr>
          <a:lstStyle/>
          <a:p>
            <a:r>
              <a:rPr sz="1200">
                <a:solidFill>
                  <a:srgbClr val="424245"/>
                </a:solidFill>
                <a:latin typeface="Noto Sans JP"/>
              </a:rPr>
              <a:t>「推測」と「事実（計算値/公式発表）」を明確に区別し、一次ソースに基づきます。</a:t>
            </a:r>
          </a:p>
        </p:txBody>
      </p:sp>
      <p:sp>
        <p:nvSpPr>
          <p:cNvPr id="34" name="Rectangle 33"/>
          <p:cNvSpPr/>
          <p:nvPr/>
        </p:nvSpPr>
        <p:spPr>
          <a:xfrm>
            <a:off x="6581851" y="4219956"/>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7"/>
          <a:stretch>
            <a:fillRect/>
          </a:stretch>
        </p:blipFill>
        <p:spPr>
          <a:xfrm>
            <a:off x="6972300" y="4395521"/>
            <a:ext cx="152705" cy="152705"/>
          </a:xfrm>
          <a:prstGeom prst="rect">
            <a:avLst/>
          </a:prstGeom>
          <a:ln/>
        </p:spPr>
      </p:pic>
      <p:sp>
        <p:nvSpPr>
          <p:cNvPr id="36" name="TextBox 35"/>
          <p:cNvSpPr txBox="1"/>
          <p:nvPr/>
        </p:nvSpPr>
        <p:spPr>
          <a:xfrm>
            <a:off x="7200900" y="4371746"/>
            <a:ext cx="609905" cy="200253"/>
          </a:xfrm>
          <a:prstGeom prst="rect">
            <a:avLst/>
          </a:prstGeom>
          <a:noFill/>
          <a:ln/>
        </p:spPr>
        <p:txBody>
          <a:bodyPr wrap="square" lIns="0" rIns="0" tIns="0" bIns="0">
            <a:noAutofit/>
          </a:bodyPr>
          <a:lstStyle/>
          <a:p>
            <a:r>
              <a:rPr sz="1000">
                <a:solidFill>
                  <a:srgbClr val="1D1D1F"/>
                </a:solidFill>
                <a:latin typeface="Noto Sans JP"/>
              </a:rPr>
              <a:t>推奨構成</a:t>
            </a:r>
          </a:p>
        </p:txBody>
      </p:sp>
      <p:pic>
        <p:nvPicPr>
          <p:cNvPr id="37" name="Picture 36" descr="image.png"/>
          <p:cNvPicPr>
            <a:picLocks noChangeAspect="1"/>
          </p:cNvPicPr>
          <p:nvPr/>
        </p:nvPicPr>
        <p:blipFill>
          <a:blip r:embed="rId8"/>
          <a:stretch>
            <a:fillRect/>
          </a:stretch>
        </p:blipFill>
        <p:spPr>
          <a:xfrm>
            <a:off x="8401507" y="4395521"/>
            <a:ext cx="152705" cy="152705"/>
          </a:xfrm>
          <a:prstGeom prst="rect">
            <a:avLst/>
          </a:prstGeom>
          <a:ln/>
        </p:spPr>
      </p:pic>
      <p:sp>
        <p:nvSpPr>
          <p:cNvPr id="38" name="TextBox 37"/>
          <p:cNvSpPr txBox="1"/>
          <p:nvPr/>
        </p:nvSpPr>
        <p:spPr>
          <a:xfrm>
            <a:off x="8630107" y="4371746"/>
            <a:ext cx="1152144" cy="200253"/>
          </a:xfrm>
          <a:prstGeom prst="rect">
            <a:avLst/>
          </a:prstGeom>
          <a:noFill/>
          <a:ln/>
        </p:spPr>
        <p:txBody>
          <a:bodyPr wrap="square" lIns="0" rIns="0" tIns="0" bIns="0">
            <a:noAutofit/>
          </a:bodyPr>
          <a:lstStyle/>
          <a:p>
            <a:r>
              <a:rPr sz="1000">
                <a:solidFill>
                  <a:srgbClr val="1D1D1F"/>
                </a:solidFill>
                <a:latin typeface="Noto Sans JP"/>
              </a:rPr>
              <a:t>注意・失敗モード</a:t>
            </a:r>
          </a:p>
        </p:txBody>
      </p:sp>
      <p:pic>
        <p:nvPicPr>
          <p:cNvPr id="39" name="Picture 38" descr="image.png"/>
          <p:cNvPicPr>
            <a:picLocks noChangeAspect="1"/>
          </p:cNvPicPr>
          <p:nvPr/>
        </p:nvPicPr>
        <p:blipFill>
          <a:blip r:embed="rId9"/>
          <a:stretch>
            <a:fillRect/>
          </a:stretch>
        </p:blipFill>
        <p:spPr>
          <a:xfrm>
            <a:off x="10362895" y="4395521"/>
            <a:ext cx="152705" cy="152705"/>
          </a:xfrm>
          <a:prstGeom prst="rect">
            <a:avLst/>
          </a:prstGeom>
          <a:ln/>
        </p:spPr>
      </p:pic>
      <p:sp>
        <p:nvSpPr>
          <p:cNvPr id="40" name="TextBox 39"/>
          <p:cNvSpPr txBox="1"/>
          <p:nvPr/>
        </p:nvSpPr>
        <p:spPr>
          <a:xfrm>
            <a:off x="10591495" y="4371746"/>
            <a:ext cx="609905" cy="200253"/>
          </a:xfrm>
          <a:prstGeom prst="rect">
            <a:avLst/>
          </a:prstGeom>
          <a:noFill/>
          <a:ln/>
        </p:spPr>
        <p:txBody>
          <a:bodyPr wrap="square" lIns="0" rIns="0" tIns="0" bIns="0">
            <a:noAutofit/>
          </a:bodyPr>
          <a:lstStyle/>
          <a:p>
            <a:r>
              <a:rPr sz="1000">
                <a:solidFill>
                  <a:srgbClr val="1D1D1F"/>
                </a:solidFill>
                <a:latin typeface="Noto Sans JP"/>
              </a:rPr>
              <a:t>補足情報</a:t>
            </a:r>
          </a:p>
        </p:txBody>
      </p:sp>
      <p:sp>
        <p:nvSpPr>
          <p:cNvPr id="41" name="Rectangle 40"/>
          <p:cNvSpPr/>
          <p:nvPr/>
        </p:nvSpPr>
        <p:spPr>
          <a:xfrm>
            <a:off x="6581851" y="4914900"/>
            <a:ext cx="4934102" cy="685800"/>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1851" y="4914900"/>
            <a:ext cx="38405" cy="68580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3954" y="5057546"/>
            <a:ext cx="4505248" cy="400506"/>
          </a:xfrm>
          <a:prstGeom prst="rect">
            <a:avLst/>
          </a:prstGeom>
          <a:noFill/>
          <a:ln/>
        </p:spPr>
        <p:txBody>
          <a:bodyPr wrap="square" lIns="0" rIns="0" tIns="0" bIns="0">
            <a:noAutofit/>
          </a:bodyPr>
          <a:lstStyle/>
          <a:p>
            <a:r>
              <a:rPr sz="1000" b="1">
                <a:solidFill>
                  <a:srgbClr val="5D4037"/>
                </a:solidFill>
                <a:latin typeface="Noto Sans JP"/>
              </a:rPr>
              <a:t>Key Takeaways:</a:t>
            </a:r>
            <a:r>
              <a:rPr sz="1000">
                <a:solidFill>
                  <a:srgbClr val="5D4037"/>
                </a:solidFill>
                <a:latin typeface="Noto Sans JP"/>
              </a:rPr>
              <a:t> 各章の冒頭で「持ち帰るべき要点」を3〜5点で提示します。 </a:t>
            </a:r>
          </a:p>
        </p:txBody>
      </p:sp>
      <p:pic>
        <p:nvPicPr>
          <p:cNvPr id="44" name="Picture 43" descr="image.png"/>
          <p:cNvPicPr>
            <a:picLocks noChangeAspect="1"/>
          </p:cNvPicPr>
          <p:nvPr/>
        </p:nvPicPr>
        <p:blipFill>
          <a:blip r:embed="rId10"/>
          <a:stretch>
            <a:fillRect/>
          </a:stretch>
        </p:blipFill>
        <p:spPr>
          <a:xfrm>
            <a:off x="6762902" y="5093208"/>
            <a:ext cx="105155" cy="133501"/>
          </a:xfrm>
          <a:prstGeom prst="rect">
            <a:avLst/>
          </a:prstGeom>
          <a:ln/>
        </p:spPr>
      </p:pic>
      <p:pic>
        <p:nvPicPr>
          <p:cNvPr id="45" name="Picture 44" descr="image.png"/>
          <p:cNvPicPr>
            <a:picLocks noChangeAspect="1"/>
          </p:cNvPicPr>
          <p:nvPr/>
        </p:nvPicPr>
        <p:blipFill>
          <a:blip r:embed="rId11"/>
          <a:stretch>
            <a:fillRect/>
          </a:stretch>
        </p:blipFill>
        <p:spPr>
          <a:xfrm>
            <a:off x="0" y="6476695"/>
            <a:ext cx="12191695" cy="381305"/>
          </a:xfrm>
          <a:prstGeom prst="rect">
            <a:avLst/>
          </a:prstGeom>
          <a:ln/>
        </p:spPr>
      </p:pic>
      <p:sp>
        <p:nvSpPr>
          <p:cNvPr id="46" name="TextBox 45"/>
          <p:cNvSpPr txBox="1"/>
          <p:nvPr/>
        </p:nvSpPr>
        <p:spPr>
          <a:xfrm>
            <a:off x="0" y="6476695"/>
            <a:ext cx="12192610" cy="381305"/>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2 | ローカルAI 技術調査レポート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p:spPr>
      </p:pic>
      <p:sp>
        <p:nvSpPr>
          <p:cNvPr id="6" name="Rectangle 5"/>
          <p:cNvSpPr/>
          <p:nvPr/>
        </p:nvSpPr>
        <p:spPr>
          <a:xfrm>
            <a:off x="0" y="10954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86207"/>
            <a:ext cx="2436876" cy="200254"/>
          </a:xfrm>
          <a:prstGeom prst="rect">
            <a:avLst/>
          </a:prstGeom>
          <a:noFill/>
          <a:ln/>
        </p:spPr>
        <p:txBody>
          <a:bodyPr wrap="square" lIns="0" rIns="0" tIns="0" bIns="0">
            <a:noAutofit/>
          </a:bodyPr>
          <a:lstStyle/>
          <a:p>
            <a:r>
              <a:rPr sz="1000">
                <a:solidFill>
                  <a:srgbClr val="86868B"/>
                </a:solidFill>
                <a:latin typeface="Noto Sans JP"/>
              </a:rPr>
              <a:t>Local AI Technical Report</a:t>
            </a:r>
          </a:p>
        </p:txBody>
      </p:sp>
      <p:sp>
        <p:nvSpPr>
          <p:cNvPr id="8" name="TextBox 7"/>
          <p:cNvSpPr txBox="1"/>
          <p:nvPr/>
        </p:nvSpPr>
        <p:spPr>
          <a:xfrm>
            <a:off x="476401" y="543154"/>
            <a:ext cx="2436876" cy="457200"/>
          </a:xfrm>
          <a:prstGeom prst="rect">
            <a:avLst/>
          </a:prstGeom>
          <a:noFill/>
          <a:ln/>
        </p:spPr>
        <p:txBody>
          <a:bodyPr wrap="square" lIns="0" rIns="0" tIns="0" bIns="0">
            <a:noAutofit/>
          </a:bodyPr>
          <a:lstStyle/>
          <a:p>
            <a:r>
              <a:rPr sz="2400" b="1">
                <a:solidFill>
                  <a:srgbClr val="1D1D1F"/>
                </a:solidFill>
                <a:latin typeface="Noto Sans JP"/>
              </a:rPr>
              <a:t>目次（Agenda）</a:t>
            </a:r>
          </a:p>
        </p:txBody>
      </p:sp>
      <p:sp>
        <p:nvSpPr>
          <p:cNvPr id="9" name="TextBox 8"/>
          <p:cNvSpPr txBox="1"/>
          <p:nvPr/>
        </p:nvSpPr>
        <p:spPr>
          <a:xfrm>
            <a:off x="10440619" y="800100"/>
            <a:ext cx="1281074" cy="200253"/>
          </a:xfrm>
          <a:prstGeom prst="rect">
            <a:avLst/>
          </a:prstGeom>
          <a:noFill/>
          <a:ln/>
        </p:spPr>
        <p:txBody>
          <a:bodyPr wrap="square" lIns="0" rIns="0" tIns="0" bIns="0">
            <a:noAutofit/>
          </a:bodyPr>
          <a:lstStyle/>
          <a:p>
            <a:r>
              <a:rPr sz="1000">
                <a:solidFill>
                  <a:srgbClr val="86868B"/>
                </a:solidFill>
                <a:latin typeface="Noto Sans JP"/>
              </a:rPr>
              <a:t>Total 13 Chapters</a:t>
            </a:r>
          </a:p>
        </p:txBody>
      </p:sp>
      <p:sp>
        <p:nvSpPr>
          <p:cNvPr id="10" name="TextBox 9"/>
          <p:cNvSpPr txBox="1"/>
          <p:nvPr/>
        </p:nvSpPr>
        <p:spPr>
          <a:xfrm>
            <a:off x="590702" y="1466698"/>
            <a:ext cx="419710" cy="228600"/>
          </a:xfrm>
          <a:prstGeom prst="rect">
            <a:avLst/>
          </a:prstGeom>
          <a:noFill/>
          <a:ln/>
        </p:spPr>
        <p:txBody>
          <a:bodyPr wrap="square" lIns="0" rIns="0" tIns="0" bIns="0">
            <a:noAutofit/>
          </a:bodyPr>
          <a:lstStyle/>
          <a:p>
            <a:r>
              <a:rPr sz="1500" b="1">
                <a:solidFill>
                  <a:srgbClr val="007AFF"/>
                </a:solidFill>
                <a:latin typeface="Noto Sans JP"/>
              </a:rPr>
              <a:t>01</a:t>
            </a:r>
          </a:p>
        </p:txBody>
      </p:sp>
      <p:sp>
        <p:nvSpPr>
          <p:cNvPr id="11" name="TextBox 10"/>
          <p:cNvSpPr txBox="1"/>
          <p:nvPr/>
        </p:nvSpPr>
        <p:spPr>
          <a:xfrm>
            <a:off x="933602" y="1466698"/>
            <a:ext cx="5048402" cy="210311"/>
          </a:xfrm>
          <a:prstGeom prst="rect">
            <a:avLst/>
          </a:prstGeom>
          <a:noFill/>
          <a:ln/>
        </p:spPr>
        <p:txBody>
          <a:bodyPr wrap="square" lIns="0" rIns="0" tIns="0" bIns="0">
            <a:noAutofit/>
          </a:bodyPr>
          <a:lstStyle/>
          <a:p>
            <a:r>
              <a:rPr sz="1300" b="1">
                <a:solidFill>
                  <a:srgbClr val="1D1D1F"/>
                </a:solidFill>
                <a:latin typeface="Noto Sans JP"/>
              </a:rPr>
              <a:t>タイトル／目的／読み方</a:t>
            </a:r>
          </a:p>
        </p:txBody>
      </p:sp>
      <p:sp>
        <p:nvSpPr>
          <p:cNvPr id="12" name="TextBox 11"/>
          <p:cNvSpPr txBox="1"/>
          <p:nvPr/>
        </p:nvSpPr>
        <p:spPr>
          <a:xfrm>
            <a:off x="933602" y="1691639"/>
            <a:ext cx="5048402" cy="181050"/>
          </a:xfrm>
          <a:prstGeom prst="rect">
            <a:avLst/>
          </a:prstGeom>
          <a:noFill/>
          <a:ln/>
        </p:spPr>
        <p:txBody>
          <a:bodyPr wrap="square" lIns="0" rIns="0" tIns="0" bIns="0">
            <a:noAutofit/>
          </a:bodyPr>
          <a:lstStyle/>
          <a:p>
            <a:r>
              <a:rPr sz="900">
                <a:solidFill>
                  <a:srgbClr val="6E6E73"/>
                </a:solidFill>
                <a:latin typeface="Noto Sans JP"/>
              </a:rPr>
              <a:t>レポートの目的と、概要→詳細の二層構造の活用方法。</a:t>
            </a:r>
          </a:p>
        </p:txBody>
      </p:sp>
      <p:sp>
        <p:nvSpPr>
          <p:cNvPr id="13" name="TextBox 12"/>
          <p:cNvSpPr txBox="1"/>
          <p:nvPr/>
        </p:nvSpPr>
        <p:spPr>
          <a:xfrm>
            <a:off x="590702" y="2222906"/>
            <a:ext cx="419710" cy="228600"/>
          </a:xfrm>
          <a:prstGeom prst="rect">
            <a:avLst/>
          </a:prstGeom>
          <a:noFill/>
          <a:ln/>
        </p:spPr>
        <p:txBody>
          <a:bodyPr wrap="square" lIns="0" rIns="0" tIns="0" bIns="0">
            <a:noAutofit/>
          </a:bodyPr>
          <a:lstStyle/>
          <a:p>
            <a:r>
              <a:rPr sz="1500" b="1">
                <a:solidFill>
                  <a:srgbClr val="007AFF"/>
                </a:solidFill>
                <a:latin typeface="Noto Sans JP"/>
              </a:rPr>
              <a:t>02</a:t>
            </a:r>
          </a:p>
        </p:txBody>
      </p:sp>
      <p:sp>
        <p:nvSpPr>
          <p:cNvPr id="14" name="TextBox 13"/>
          <p:cNvSpPr txBox="1"/>
          <p:nvPr/>
        </p:nvSpPr>
        <p:spPr>
          <a:xfrm>
            <a:off x="933602" y="2222906"/>
            <a:ext cx="5048402" cy="210312"/>
          </a:xfrm>
          <a:prstGeom prst="rect">
            <a:avLst/>
          </a:prstGeom>
          <a:noFill/>
          <a:ln/>
        </p:spPr>
        <p:txBody>
          <a:bodyPr wrap="square" lIns="0" rIns="0" tIns="0" bIns="0">
            <a:noAutofit/>
          </a:bodyPr>
          <a:lstStyle/>
          <a:p>
            <a:r>
              <a:rPr sz="1300" b="1">
                <a:solidFill>
                  <a:srgbClr val="1D1D1F"/>
                </a:solidFill>
                <a:latin typeface="Noto Sans JP"/>
              </a:rPr>
              <a:t>エグゼクティブサマリ</a:t>
            </a:r>
          </a:p>
        </p:txBody>
      </p:sp>
      <p:sp>
        <p:nvSpPr>
          <p:cNvPr id="15" name="TextBox 14"/>
          <p:cNvSpPr txBox="1"/>
          <p:nvPr/>
        </p:nvSpPr>
        <p:spPr>
          <a:xfrm>
            <a:off x="933602" y="2447849"/>
            <a:ext cx="5048402" cy="181050"/>
          </a:xfrm>
          <a:prstGeom prst="rect">
            <a:avLst/>
          </a:prstGeom>
          <a:noFill/>
          <a:ln/>
        </p:spPr>
        <p:txBody>
          <a:bodyPr wrap="square" lIns="0" rIns="0" tIns="0" bIns="0">
            <a:noAutofit/>
          </a:bodyPr>
          <a:lstStyle/>
          <a:p>
            <a:r>
              <a:rPr sz="900">
                <a:solidFill>
                  <a:srgbClr val="6E6E73"/>
                </a:solidFill>
                <a:latin typeface="Noto Sans JP"/>
              </a:rPr>
              <a:t>実務要点、中核技術、推奨スタックの概要を提示。</a:t>
            </a:r>
          </a:p>
        </p:txBody>
      </p:sp>
      <p:sp>
        <p:nvSpPr>
          <p:cNvPr id="16" name="TextBox 15"/>
          <p:cNvSpPr txBox="1"/>
          <p:nvPr/>
        </p:nvSpPr>
        <p:spPr>
          <a:xfrm>
            <a:off x="590702" y="2980030"/>
            <a:ext cx="419710" cy="228600"/>
          </a:xfrm>
          <a:prstGeom prst="rect">
            <a:avLst/>
          </a:prstGeom>
          <a:noFill/>
          <a:ln/>
        </p:spPr>
        <p:txBody>
          <a:bodyPr wrap="square" lIns="0" rIns="0" tIns="0" bIns="0">
            <a:noAutofit/>
          </a:bodyPr>
          <a:lstStyle/>
          <a:p>
            <a:r>
              <a:rPr sz="1500" b="1">
                <a:solidFill>
                  <a:srgbClr val="007AFF"/>
                </a:solidFill>
                <a:latin typeface="Noto Sans JP"/>
              </a:rPr>
              <a:t>03</a:t>
            </a:r>
          </a:p>
        </p:txBody>
      </p:sp>
      <p:sp>
        <p:nvSpPr>
          <p:cNvPr id="17" name="TextBox 16"/>
          <p:cNvSpPr txBox="1"/>
          <p:nvPr/>
        </p:nvSpPr>
        <p:spPr>
          <a:xfrm>
            <a:off x="933602" y="2980030"/>
            <a:ext cx="5048402" cy="210312"/>
          </a:xfrm>
          <a:prstGeom prst="rect">
            <a:avLst/>
          </a:prstGeom>
          <a:noFill/>
          <a:ln/>
        </p:spPr>
        <p:txBody>
          <a:bodyPr wrap="square" lIns="0" rIns="0" tIns="0" bIns="0">
            <a:noAutofit/>
          </a:bodyPr>
          <a:lstStyle/>
          <a:p>
            <a:r>
              <a:rPr sz="1300" b="1">
                <a:solidFill>
                  <a:srgbClr val="1D1D1F"/>
                </a:solidFill>
                <a:latin typeface="Noto Sans JP"/>
              </a:rPr>
              <a:t>ローカルAIの定義・前提</a:t>
            </a:r>
          </a:p>
        </p:txBody>
      </p:sp>
      <p:sp>
        <p:nvSpPr>
          <p:cNvPr id="18" name="TextBox 17"/>
          <p:cNvSpPr txBox="1"/>
          <p:nvPr/>
        </p:nvSpPr>
        <p:spPr>
          <a:xfrm>
            <a:off x="933602" y="3204972"/>
            <a:ext cx="5048402" cy="181051"/>
          </a:xfrm>
          <a:prstGeom prst="rect">
            <a:avLst/>
          </a:prstGeom>
          <a:noFill/>
          <a:ln/>
        </p:spPr>
        <p:txBody>
          <a:bodyPr wrap="square" lIns="0" rIns="0" tIns="0" bIns="0">
            <a:noAutofit/>
          </a:bodyPr>
          <a:lstStyle/>
          <a:p>
            <a:r>
              <a:rPr sz="900">
                <a:solidFill>
                  <a:srgbClr val="6E6E73"/>
                </a:solidFill>
                <a:latin typeface="Noto Sans JP"/>
              </a:rPr>
              <a:t>オンデバイス／ローカルLAN推論の定義と範囲。</a:t>
            </a:r>
          </a:p>
        </p:txBody>
      </p:sp>
      <p:sp>
        <p:nvSpPr>
          <p:cNvPr id="19" name="TextBox 18"/>
          <p:cNvSpPr txBox="1"/>
          <p:nvPr/>
        </p:nvSpPr>
        <p:spPr>
          <a:xfrm>
            <a:off x="590702" y="3736238"/>
            <a:ext cx="419710" cy="228600"/>
          </a:xfrm>
          <a:prstGeom prst="rect">
            <a:avLst/>
          </a:prstGeom>
          <a:noFill/>
          <a:ln/>
        </p:spPr>
        <p:txBody>
          <a:bodyPr wrap="square" lIns="0" rIns="0" tIns="0" bIns="0">
            <a:noAutofit/>
          </a:bodyPr>
          <a:lstStyle/>
          <a:p>
            <a:r>
              <a:rPr sz="1500" b="1">
                <a:solidFill>
                  <a:srgbClr val="007AFF"/>
                </a:solidFill>
                <a:latin typeface="Noto Sans JP"/>
              </a:rPr>
              <a:t>04</a:t>
            </a:r>
          </a:p>
        </p:txBody>
      </p:sp>
      <p:sp>
        <p:nvSpPr>
          <p:cNvPr id="20" name="TextBox 19"/>
          <p:cNvSpPr txBox="1"/>
          <p:nvPr/>
        </p:nvSpPr>
        <p:spPr>
          <a:xfrm>
            <a:off x="933602" y="3736238"/>
            <a:ext cx="5048402" cy="210312"/>
          </a:xfrm>
          <a:prstGeom prst="rect">
            <a:avLst/>
          </a:prstGeom>
          <a:noFill/>
          <a:ln/>
        </p:spPr>
        <p:txBody>
          <a:bodyPr wrap="square" lIns="0" rIns="0" tIns="0" bIns="0">
            <a:noAutofit/>
          </a:bodyPr>
          <a:lstStyle/>
          <a:p>
            <a:r>
              <a:rPr sz="1300" b="1">
                <a:solidFill>
                  <a:srgbClr val="1D1D1F"/>
                </a:solidFill>
                <a:latin typeface="Noto Sans JP"/>
              </a:rPr>
              <a:t>ローカルAIランドスケープ</a:t>
            </a:r>
          </a:p>
        </p:txBody>
      </p:sp>
      <p:sp>
        <p:nvSpPr>
          <p:cNvPr id="21" name="TextBox 20"/>
          <p:cNvSpPr txBox="1"/>
          <p:nvPr/>
        </p:nvSpPr>
        <p:spPr>
          <a:xfrm>
            <a:off x="933602" y="3961181"/>
            <a:ext cx="5048402" cy="181051"/>
          </a:xfrm>
          <a:prstGeom prst="rect">
            <a:avLst/>
          </a:prstGeom>
          <a:noFill/>
          <a:ln/>
        </p:spPr>
        <p:txBody>
          <a:bodyPr wrap="square" lIns="0" rIns="0" tIns="0" bIns="0">
            <a:noAutofit/>
          </a:bodyPr>
          <a:lstStyle/>
          <a:p>
            <a:r>
              <a:rPr sz="900">
                <a:solidFill>
                  <a:srgbClr val="6E6E73"/>
                </a:solidFill>
                <a:latin typeface="Noto Sans JP"/>
              </a:rPr>
              <a:t>LLMからAgentまで、技術スタックの全体像を図解。</a:t>
            </a:r>
          </a:p>
        </p:txBody>
      </p:sp>
      <p:sp>
        <p:nvSpPr>
          <p:cNvPr id="22" name="TextBox 21"/>
          <p:cNvSpPr txBox="1"/>
          <p:nvPr/>
        </p:nvSpPr>
        <p:spPr>
          <a:xfrm>
            <a:off x="590702" y="4492447"/>
            <a:ext cx="419710" cy="228600"/>
          </a:xfrm>
          <a:prstGeom prst="rect">
            <a:avLst/>
          </a:prstGeom>
          <a:noFill/>
          <a:ln/>
        </p:spPr>
        <p:txBody>
          <a:bodyPr wrap="square" lIns="0" rIns="0" tIns="0" bIns="0">
            <a:noAutofit/>
          </a:bodyPr>
          <a:lstStyle/>
          <a:p>
            <a:r>
              <a:rPr sz="1500" b="1">
                <a:solidFill>
                  <a:srgbClr val="007AFF"/>
                </a:solidFill>
                <a:latin typeface="Noto Sans JP"/>
              </a:rPr>
              <a:t>05</a:t>
            </a:r>
          </a:p>
        </p:txBody>
      </p:sp>
      <p:sp>
        <p:nvSpPr>
          <p:cNvPr id="23" name="TextBox 22"/>
          <p:cNvSpPr txBox="1"/>
          <p:nvPr/>
        </p:nvSpPr>
        <p:spPr>
          <a:xfrm>
            <a:off x="933602" y="4492447"/>
            <a:ext cx="5048402" cy="210312"/>
          </a:xfrm>
          <a:prstGeom prst="rect">
            <a:avLst/>
          </a:prstGeom>
          <a:noFill/>
          <a:ln/>
        </p:spPr>
        <p:txBody>
          <a:bodyPr wrap="square" lIns="0" rIns="0" tIns="0" bIns="0">
            <a:noAutofit/>
          </a:bodyPr>
          <a:lstStyle/>
          <a:p>
            <a:r>
              <a:rPr sz="1300" b="1">
                <a:solidFill>
                  <a:srgbClr val="1D1D1F"/>
                </a:solidFill>
                <a:latin typeface="Noto Sans JP"/>
              </a:rPr>
              <a:t>特徴軸（評価軸）の定義</a:t>
            </a:r>
          </a:p>
        </p:txBody>
      </p:sp>
      <p:sp>
        <p:nvSpPr>
          <p:cNvPr id="24" name="TextBox 23"/>
          <p:cNvSpPr txBox="1"/>
          <p:nvPr/>
        </p:nvSpPr>
        <p:spPr>
          <a:xfrm>
            <a:off x="933602" y="4717390"/>
            <a:ext cx="5048402" cy="181051"/>
          </a:xfrm>
          <a:prstGeom prst="rect">
            <a:avLst/>
          </a:prstGeom>
          <a:noFill/>
          <a:ln/>
        </p:spPr>
        <p:txBody>
          <a:bodyPr wrap="square" lIns="0" rIns="0" tIns="0" bIns="0">
            <a:noAutofit/>
          </a:bodyPr>
          <a:lstStyle/>
          <a:p>
            <a:r>
              <a:rPr sz="900">
                <a:solidFill>
                  <a:srgbClr val="6E6E73"/>
                </a:solidFill>
                <a:latin typeface="Noto Sans JP"/>
              </a:rPr>
              <a:t>指示追従、JSON堅牢性、メモリ効率などの評価基準。</a:t>
            </a:r>
          </a:p>
        </p:txBody>
      </p:sp>
      <p:sp>
        <p:nvSpPr>
          <p:cNvPr id="25" name="TextBox 24"/>
          <p:cNvSpPr txBox="1"/>
          <p:nvPr/>
        </p:nvSpPr>
        <p:spPr>
          <a:xfrm>
            <a:off x="590702" y="5249570"/>
            <a:ext cx="419710" cy="228600"/>
          </a:xfrm>
          <a:prstGeom prst="rect">
            <a:avLst/>
          </a:prstGeom>
          <a:noFill/>
          <a:ln/>
        </p:spPr>
        <p:txBody>
          <a:bodyPr wrap="square" lIns="0" rIns="0" tIns="0" bIns="0">
            <a:noAutofit/>
          </a:bodyPr>
          <a:lstStyle/>
          <a:p>
            <a:r>
              <a:rPr sz="1500" b="1">
                <a:solidFill>
                  <a:srgbClr val="007AFF"/>
                </a:solidFill>
                <a:latin typeface="Noto Sans JP"/>
              </a:rPr>
              <a:t>06</a:t>
            </a:r>
          </a:p>
        </p:txBody>
      </p:sp>
      <p:sp>
        <p:nvSpPr>
          <p:cNvPr id="26" name="TextBox 25"/>
          <p:cNvSpPr txBox="1"/>
          <p:nvPr/>
        </p:nvSpPr>
        <p:spPr>
          <a:xfrm>
            <a:off x="933602" y="5249570"/>
            <a:ext cx="5048402" cy="210312"/>
          </a:xfrm>
          <a:prstGeom prst="rect">
            <a:avLst/>
          </a:prstGeom>
          <a:noFill/>
          <a:ln/>
        </p:spPr>
        <p:txBody>
          <a:bodyPr wrap="square" lIns="0" rIns="0" tIns="0" bIns="0">
            <a:noAutofit/>
          </a:bodyPr>
          <a:lstStyle/>
          <a:p>
            <a:r>
              <a:rPr sz="1300" b="1">
                <a:solidFill>
                  <a:srgbClr val="1D1D1F"/>
                </a:solidFill>
                <a:latin typeface="Noto Sans JP"/>
              </a:rPr>
              <a:t>カテゴリ別モデルカタログ</a:t>
            </a:r>
          </a:p>
        </p:txBody>
      </p:sp>
      <p:sp>
        <p:nvSpPr>
          <p:cNvPr id="27" name="TextBox 26"/>
          <p:cNvSpPr txBox="1"/>
          <p:nvPr/>
        </p:nvSpPr>
        <p:spPr>
          <a:xfrm>
            <a:off x="933602" y="5474513"/>
            <a:ext cx="4972507" cy="181051"/>
          </a:xfrm>
          <a:prstGeom prst="rect">
            <a:avLst/>
          </a:prstGeom>
          <a:noFill/>
          <a:ln/>
        </p:spPr>
        <p:txBody>
          <a:bodyPr wrap="square" lIns="0" rIns="0" tIns="0" bIns="0">
            <a:noAutofit/>
          </a:bodyPr>
          <a:lstStyle/>
          <a:p>
            <a:r>
              <a:rPr sz="900">
                <a:solidFill>
                  <a:srgbClr val="6E6E73"/>
                </a:solidFill>
                <a:latin typeface="Noto Sans JP"/>
              </a:rPr>
              <a:t>LLM/VLM/ASR/TTS等の代表モデルと採用判断。</a:t>
            </a:r>
          </a:p>
        </p:txBody>
      </p:sp>
      <p:sp>
        <p:nvSpPr>
          <p:cNvPr id="28" name="TextBox 27"/>
          <p:cNvSpPr txBox="1"/>
          <p:nvPr/>
        </p:nvSpPr>
        <p:spPr>
          <a:xfrm>
            <a:off x="590702" y="6005779"/>
            <a:ext cx="419710" cy="228600"/>
          </a:xfrm>
          <a:prstGeom prst="rect">
            <a:avLst/>
          </a:prstGeom>
          <a:noFill/>
          <a:ln/>
        </p:spPr>
        <p:txBody>
          <a:bodyPr wrap="square" lIns="0" rIns="0" tIns="0" bIns="0">
            <a:noAutofit/>
          </a:bodyPr>
          <a:lstStyle/>
          <a:p>
            <a:r>
              <a:rPr sz="1500" b="1">
                <a:solidFill>
                  <a:srgbClr val="007AFF"/>
                </a:solidFill>
                <a:latin typeface="Noto Sans JP"/>
              </a:rPr>
              <a:t>07</a:t>
            </a:r>
          </a:p>
        </p:txBody>
      </p:sp>
      <p:sp>
        <p:nvSpPr>
          <p:cNvPr id="29" name="TextBox 28"/>
          <p:cNvSpPr txBox="1"/>
          <p:nvPr/>
        </p:nvSpPr>
        <p:spPr>
          <a:xfrm>
            <a:off x="933602" y="6005779"/>
            <a:ext cx="5048402" cy="210312"/>
          </a:xfrm>
          <a:prstGeom prst="rect">
            <a:avLst/>
          </a:prstGeom>
          <a:noFill/>
          <a:ln/>
        </p:spPr>
        <p:txBody>
          <a:bodyPr wrap="square" lIns="0" rIns="0" tIns="0" bIns="0">
            <a:noAutofit/>
          </a:bodyPr>
          <a:lstStyle/>
          <a:p>
            <a:r>
              <a:rPr sz="1300" b="1">
                <a:solidFill>
                  <a:srgbClr val="1D1D1F"/>
                </a:solidFill>
                <a:latin typeface="Noto Sans JP"/>
              </a:rPr>
              <a:t>メモリ設計のコア</a:t>
            </a:r>
          </a:p>
        </p:txBody>
      </p:sp>
      <p:sp>
        <p:nvSpPr>
          <p:cNvPr id="30" name="TextBox 29"/>
          <p:cNvSpPr txBox="1"/>
          <p:nvPr/>
        </p:nvSpPr>
        <p:spPr>
          <a:xfrm>
            <a:off x="933602" y="6230722"/>
            <a:ext cx="5048402" cy="181051"/>
          </a:xfrm>
          <a:prstGeom prst="rect">
            <a:avLst/>
          </a:prstGeom>
          <a:noFill/>
          <a:ln/>
        </p:spPr>
        <p:txBody>
          <a:bodyPr wrap="square" lIns="0" rIns="0" tIns="0" bIns="0">
            <a:noAutofit/>
          </a:bodyPr>
          <a:lstStyle/>
          <a:p>
            <a:r>
              <a:rPr sz="900">
                <a:solidFill>
                  <a:srgbClr val="6E6E73"/>
                </a:solidFill>
                <a:latin typeface="Noto Sans JP"/>
              </a:rPr>
              <a:t>重み理論値、KVキャッシュ、最適化技術の詳解。</a:t>
            </a:r>
          </a:p>
        </p:txBody>
      </p:sp>
      <p:sp>
        <p:nvSpPr>
          <p:cNvPr id="31" name="TextBox 30"/>
          <p:cNvSpPr txBox="1"/>
          <p:nvPr/>
        </p:nvSpPr>
        <p:spPr>
          <a:xfrm>
            <a:off x="6400800" y="1466698"/>
            <a:ext cx="419710" cy="228600"/>
          </a:xfrm>
          <a:prstGeom prst="rect">
            <a:avLst/>
          </a:prstGeom>
          <a:noFill/>
          <a:ln/>
        </p:spPr>
        <p:txBody>
          <a:bodyPr wrap="square" lIns="0" rIns="0" tIns="0" bIns="0">
            <a:noAutofit/>
          </a:bodyPr>
          <a:lstStyle/>
          <a:p>
            <a:r>
              <a:rPr sz="1500" b="1">
                <a:solidFill>
                  <a:srgbClr val="007AFF"/>
                </a:solidFill>
                <a:latin typeface="Noto Sans JP"/>
              </a:rPr>
              <a:t>08</a:t>
            </a:r>
          </a:p>
        </p:txBody>
      </p:sp>
      <p:sp>
        <p:nvSpPr>
          <p:cNvPr id="32" name="TextBox 31"/>
          <p:cNvSpPr txBox="1"/>
          <p:nvPr/>
        </p:nvSpPr>
        <p:spPr>
          <a:xfrm>
            <a:off x="6743700" y="1466698"/>
            <a:ext cx="5048401" cy="210311"/>
          </a:xfrm>
          <a:prstGeom prst="rect">
            <a:avLst/>
          </a:prstGeom>
          <a:noFill/>
          <a:ln/>
        </p:spPr>
        <p:txBody>
          <a:bodyPr wrap="square" lIns="0" rIns="0" tIns="0" bIns="0">
            <a:noAutofit/>
          </a:bodyPr>
          <a:lstStyle/>
          <a:p>
            <a:r>
              <a:rPr sz="1300" b="1">
                <a:solidFill>
                  <a:srgbClr val="1D1D1F"/>
                </a:solidFill>
                <a:latin typeface="Noto Sans JP"/>
              </a:rPr>
              <a:t>Tier定義と“現実ライン”</a:t>
            </a:r>
          </a:p>
        </p:txBody>
      </p:sp>
      <p:sp>
        <p:nvSpPr>
          <p:cNvPr id="33" name="TextBox 32"/>
          <p:cNvSpPr txBox="1"/>
          <p:nvPr/>
        </p:nvSpPr>
        <p:spPr>
          <a:xfrm>
            <a:off x="6743700" y="1691639"/>
            <a:ext cx="4972507" cy="181050"/>
          </a:xfrm>
          <a:prstGeom prst="rect">
            <a:avLst/>
          </a:prstGeom>
          <a:noFill/>
          <a:ln/>
        </p:spPr>
        <p:txBody>
          <a:bodyPr wrap="square" lIns="0" rIns="0" tIns="0" bIns="0">
            <a:noAutofit/>
          </a:bodyPr>
          <a:lstStyle/>
          <a:p>
            <a:r>
              <a:rPr sz="900">
                <a:solidFill>
                  <a:srgbClr val="6E6E73"/>
                </a:solidFill>
                <a:latin typeface="Noto Sans JP"/>
              </a:rPr>
              <a:t>Apple Silicon / Windows GPU / CPUごとの実用ライン。</a:t>
            </a:r>
          </a:p>
        </p:txBody>
      </p:sp>
      <p:sp>
        <p:nvSpPr>
          <p:cNvPr id="34" name="TextBox 33"/>
          <p:cNvSpPr txBox="1"/>
          <p:nvPr/>
        </p:nvSpPr>
        <p:spPr>
          <a:xfrm>
            <a:off x="6400800" y="2222906"/>
            <a:ext cx="419710" cy="228600"/>
          </a:xfrm>
          <a:prstGeom prst="rect">
            <a:avLst/>
          </a:prstGeom>
          <a:noFill/>
          <a:ln/>
        </p:spPr>
        <p:txBody>
          <a:bodyPr wrap="square" lIns="0" rIns="0" tIns="0" bIns="0">
            <a:noAutofit/>
          </a:bodyPr>
          <a:lstStyle/>
          <a:p>
            <a:r>
              <a:rPr sz="1500" b="1">
                <a:solidFill>
                  <a:srgbClr val="007AFF"/>
                </a:solidFill>
                <a:latin typeface="Noto Sans JP"/>
              </a:rPr>
              <a:t>09</a:t>
            </a:r>
          </a:p>
        </p:txBody>
      </p:sp>
      <p:sp>
        <p:nvSpPr>
          <p:cNvPr id="35" name="TextBox 34"/>
          <p:cNvSpPr txBox="1"/>
          <p:nvPr/>
        </p:nvSpPr>
        <p:spPr>
          <a:xfrm>
            <a:off x="6743700" y="2222906"/>
            <a:ext cx="5048401" cy="210312"/>
          </a:xfrm>
          <a:prstGeom prst="rect">
            <a:avLst/>
          </a:prstGeom>
          <a:noFill/>
          <a:ln/>
        </p:spPr>
        <p:txBody>
          <a:bodyPr wrap="square" lIns="0" rIns="0" tIns="0" bIns="0">
            <a:noAutofit/>
          </a:bodyPr>
          <a:lstStyle/>
          <a:p>
            <a:r>
              <a:rPr sz="1300" b="1">
                <a:solidFill>
                  <a:srgbClr val="1D1D1F"/>
                </a:solidFill>
                <a:latin typeface="Noto Sans JP"/>
              </a:rPr>
              <a:t>ユースケース別推奨スタック</a:t>
            </a:r>
          </a:p>
        </p:txBody>
      </p:sp>
      <p:sp>
        <p:nvSpPr>
          <p:cNvPr id="36" name="TextBox 35"/>
          <p:cNvSpPr txBox="1"/>
          <p:nvPr/>
        </p:nvSpPr>
        <p:spPr>
          <a:xfrm>
            <a:off x="6743700" y="2447849"/>
            <a:ext cx="5048401" cy="181050"/>
          </a:xfrm>
          <a:prstGeom prst="rect">
            <a:avLst/>
          </a:prstGeom>
          <a:noFill/>
          <a:ln/>
        </p:spPr>
        <p:txBody>
          <a:bodyPr wrap="square" lIns="0" rIns="0" tIns="0" bIns="0">
            <a:noAutofit/>
          </a:bodyPr>
          <a:lstStyle/>
          <a:p>
            <a:r>
              <a:rPr sz="900">
                <a:solidFill>
                  <a:srgbClr val="6E6E73"/>
                </a:solidFill>
                <a:latin typeface="Noto Sans JP"/>
              </a:rPr>
              <a:t>低コスト／高品質／ハード制約別の構成案（6ケース）。</a:t>
            </a:r>
          </a:p>
        </p:txBody>
      </p:sp>
      <p:sp>
        <p:nvSpPr>
          <p:cNvPr id="37" name="TextBox 36"/>
          <p:cNvSpPr txBox="1"/>
          <p:nvPr/>
        </p:nvSpPr>
        <p:spPr>
          <a:xfrm>
            <a:off x="6400800" y="2980030"/>
            <a:ext cx="419710" cy="228600"/>
          </a:xfrm>
          <a:prstGeom prst="rect">
            <a:avLst/>
          </a:prstGeom>
          <a:noFill/>
          <a:ln/>
        </p:spPr>
        <p:txBody>
          <a:bodyPr wrap="square" lIns="0" rIns="0" tIns="0" bIns="0">
            <a:noAutofit/>
          </a:bodyPr>
          <a:lstStyle/>
          <a:p>
            <a:r>
              <a:rPr sz="1500" b="1">
                <a:solidFill>
                  <a:srgbClr val="007AFF"/>
                </a:solidFill>
                <a:latin typeface="Noto Sans JP"/>
              </a:rPr>
              <a:t>10</a:t>
            </a:r>
          </a:p>
        </p:txBody>
      </p:sp>
      <p:sp>
        <p:nvSpPr>
          <p:cNvPr id="38" name="TextBox 37"/>
          <p:cNvSpPr txBox="1"/>
          <p:nvPr/>
        </p:nvSpPr>
        <p:spPr>
          <a:xfrm>
            <a:off x="6743700" y="2980030"/>
            <a:ext cx="5048401" cy="210312"/>
          </a:xfrm>
          <a:prstGeom prst="rect">
            <a:avLst/>
          </a:prstGeom>
          <a:noFill/>
          <a:ln/>
        </p:spPr>
        <p:txBody>
          <a:bodyPr wrap="square" lIns="0" rIns="0" tIns="0" bIns="0">
            <a:noAutofit/>
          </a:bodyPr>
          <a:lstStyle/>
          <a:p>
            <a:r>
              <a:rPr sz="1300" b="1">
                <a:solidFill>
                  <a:srgbClr val="1D1D1F"/>
                </a:solidFill>
                <a:latin typeface="Noto Sans JP"/>
              </a:rPr>
              <a:t>測定と比較の方法</a:t>
            </a:r>
          </a:p>
        </p:txBody>
      </p:sp>
      <p:sp>
        <p:nvSpPr>
          <p:cNvPr id="39" name="TextBox 38"/>
          <p:cNvSpPr txBox="1"/>
          <p:nvPr/>
        </p:nvSpPr>
        <p:spPr>
          <a:xfrm>
            <a:off x="6743700" y="3204972"/>
            <a:ext cx="5048401" cy="181051"/>
          </a:xfrm>
          <a:prstGeom prst="rect">
            <a:avLst/>
          </a:prstGeom>
          <a:noFill/>
          <a:ln/>
        </p:spPr>
        <p:txBody>
          <a:bodyPr wrap="square" lIns="0" rIns="0" tIns="0" bIns="0">
            <a:noAutofit/>
          </a:bodyPr>
          <a:lstStyle/>
          <a:p>
            <a:r>
              <a:rPr sz="900">
                <a:solidFill>
                  <a:srgbClr val="6E6E73"/>
                </a:solidFill>
                <a:latin typeface="Noto Sans JP"/>
              </a:rPr>
              <a:t>再現可能なベンチマーク手順と指標（tok/s, TTFT等）。</a:t>
            </a:r>
          </a:p>
        </p:txBody>
      </p:sp>
      <p:sp>
        <p:nvSpPr>
          <p:cNvPr id="40" name="TextBox 39"/>
          <p:cNvSpPr txBox="1"/>
          <p:nvPr/>
        </p:nvSpPr>
        <p:spPr>
          <a:xfrm>
            <a:off x="6400800" y="3736238"/>
            <a:ext cx="419710" cy="228600"/>
          </a:xfrm>
          <a:prstGeom prst="rect">
            <a:avLst/>
          </a:prstGeom>
          <a:noFill/>
          <a:ln/>
        </p:spPr>
        <p:txBody>
          <a:bodyPr wrap="square" lIns="0" rIns="0" tIns="0" bIns="0">
            <a:noAutofit/>
          </a:bodyPr>
          <a:lstStyle/>
          <a:p>
            <a:r>
              <a:rPr sz="1500" b="1">
                <a:solidFill>
                  <a:srgbClr val="007AFF"/>
                </a:solidFill>
                <a:latin typeface="Noto Sans JP"/>
              </a:rPr>
              <a:t>11</a:t>
            </a:r>
          </a:p>
        </p:txBody>
      </p:sp>
      <p:sp>
        <p:nvSpPr>
          <p:cNvPr id="41" name="TextBox 40"/>
          <p:cNvSpPr txBox="1"/>
          <p:nvPr/>
        </p:nvSpPr>
        <p:spPr>
          <a:xfrm>
            <a:off x="6743700" y="3736238"/>
            <a:ext cx="5048401" cy="210312"/>
          </a:xfrm>
          <a:prstGeom prst="rect">
            <a:avLst/>
          </a:prstGeom>
          <a:noFill/>
          <a:ln/>
        </p:spPr>
        <p:txBody>
          <a:bodyPr wrap="square" lIns="0" rIns="0" tIns="0" bIns="0">
            <a:noAutofit/>
          </a:bodyPr>
          <a:lstStyle/>
          <a:p>
            <a:r>
              <a:rPr sz="1300" b="1">
                <a:solidFill>
                  <a:srgbClr val="1D1D1F"/>
                </a:solidFill>
                <a:latin typeface="Noto Sans JP"/>
              </a:rPr>
              <a:t>リスク／コンプライアンス</a:t>
            </a:r>
          </a:p>
        </p:txBody>
      </p:sp>
      <p:sp>
        <p:nvSpPr>
          <p:cNvPr id="42" name="TextBox 41"/>
          <p:cNvSpPr txBox="1"/>
          <p:nvPr/>
        </p:nvSpPr>
        <p:spPr>
          <a:xfrm>
            <a:off x="6743700" y="3961181"/>
            <a:ext cx="5048401" cy="181051"/>
          </a:xfrm>
          <a:prstGeom prst="rect">
            <a:avLst/>
          </a:prstGeom>
          <a:noFill/>
          <a:ln/>
        </p:spPr>
        <p:txBody>
          <a:bodyPr wrap="square" lIns="0" rIns="0" tIns="0" bIns="0">
            <a:noAutofit/>
          </a:bodyPr>
          <a:lstStyle/>
          <a:p>
            <a:r>
              <a:rPr sz="900">
                <a:solidFill>
                  <a:srgbClr val="6E6E73"/>
                </a:solidFill>
                <a:latin typeface="Noto Sans JP"/>
              </a:rPr>
              <a:t>ライセンス条件、商用利用、セキュリティリスク。</a:t>
            </a:r>
          </a:p>
        </p:txBody>
      </p:sp>
      <p:sp>
        <p:nvSpPr>
          <p:cNvPr id="43" name="TextBox 42"/>
          <p:cNvSpPr txBox="1"/>
          <p:nvPr/>
        </p:nvSpPr>
        <p:spPr>
          <a:xfrm>
            <a:off x="6400800" y="4492447"/>
            <a:ext cx="419710" cy="228600"/>
          </a:xfrm>
          <a:prstGeom prst="rect">
            <a:avLst/>
          </a:prstGeom>
          <a:noFill/>
          <a:ln/>
        </p:spPr>
        <p:txBody>
          <a:bodyPr wrap="square" lIns="0" rIns="0" tIns="0" bIns="0">
            <a:noAutofit/>
          </a:bodyPr>
          <a:lstStyle/>
          <a:p>
            <a:r>
              <a:rPr sz="1500" b="1">
                <a:solidFill>
                  <a:srgbClr val="007AFF"/>
                </a:solidFill>
                <a:latin typeface="Noto Sans JP"/>
              </a:rPr>
              <a:t>12</a:t>
            </a:r>
          </a:p>
        </p:txBody>
      </p:sp>
      <p:sp>
        <p:nvSpPr>
          <p:cNvPr id="44" name="TextBox 43"/>
          <p:cNvSpPr txBox="1"/>
          <p:nvPr/>
        </p:nvSpPr>
        <p:spPr>
          <a:xfrm>
            <a:off x="6743700" y="4492447"/>
            <a:ext cx="5048401" cy="210312"/>
          </a:xfrm>
          <a:prstGeom prst="rect">
            <a:avLst/>
          </a:prstGeom>
          <a:noFill/>
          <a:ln/>
        </p:spPr>
        <p:txBody>
          <a:bodyPr wrap="square" lIns="0" rIns="0" tIns="0" bIns="0">
            <a:noAutofit/>
          </a:bodyPr>
          <a:lstStyle/>
          <a:p>
            <a:r>
              <a:rPr sz="1300" b="1">
                <a:solidFill>
                  <a:srgbClr val="1D1D1F"/>
                </a:solidFill>
                <a:latin typeface="Noto Sans JP"/>
              </a:rPr>
              <a:t>まとめ（意思決定フロー）</a:t>
            </a:r>
          </a:p>
        </p:txBody>
      </p:sp>
      <p:sp>
        <p:nvSpPr>
          <p:cNvPr id="45" name="TextBox 44"/>
          <p:cNvSpPr txBox="1"/>
          <p:nvPr/>
        </p:nvSpPr>
        <p:spPr>
          <a:xfrm>
            <a:off x="6743700" y="4717390"/>
            <a:ext cx="5048401" cy="181051"/>
          </a:xfrm>
          <a:prstGeom prst="rect">
            <a:avLst/>
          </a:prstGeom>
          <a:noFill/>
          <a:ln/>
        </p:spPr>
        <p:txBody>
          <a:bodyPr wrap="square" lIns="0" rIns="0" tIns="0" bIns="0">
            <a:noAutofit/>
          </a:bodyPr>
          <a:lstStyle/>
          <a:p>
            <a:r>
              <a:rPr sz="900">
                <a:solidFill>
                  <a:srgbClr val="6E6E73"/>
                </a:solidFill>
                <a:latin typeface="Noto Sans JP"/>
              </a:rPr>
              <a:t>モデル選定と環境構築のための意思決定チャート。</a:t>
            </a:r>
          </a:p>
        </p:txBody>
      </p:sp>
      <p:sp>
        <p:nvSpPr>
          <p:cNvPr id="46" name="TextBox 45"/>
          <p:cNvSpPr txBox="1"/>
          <p:nvPr/>
        </p:nvSpPr>
        <p:spPr>
          <a:xfrm>
            <a:off x="6400800" y="5249570"/>
            <a:ext cx="419710" cy="228600"/>
          </a:xfrm>
          <a:prstGeom prst="rect">
            <a:avLst/>
          </a:prstGeom>
          <a:noFill/>
          <a:ln/>
        </p:spPr>
        <p:txBody>
          <a:bodyPr wrap="square" lIns="0" rIns="0" tIns="0" bIns="0">
            <a:noAutofit/>
          </a:bodyPr>
          <a:lstStyle/>
          <a:p>
            <a:r>
              <a:rPr sz="1500" b="1">
                <a:solidFill>
                  <a:srgbClr val="007AFF"/>
                </a:solidFill>
                <a:latin typeface="Noto Sans JP"/>
              </a:rPr>
              <a:t>13</a:t>
            </a:r>
          </a:p>
        </p:txBody>
      </p:sp>
      <p:sp>
        <p:nvSpPr>
          <p:cNvPr id="47" name="TextBox 46"/>
          <p:cNvSpPr txBox="1"/>
          <p:nvPr/>
        </p:nvSpPr>
        <p:spPr>
          <a:xfrm>
            <a:off x="6743700" y="5249570"/>
            <a:ext cx="4972507" cy="210312"/>
          </a:xfrm>
          <a:prstGeom prst="rect">
            <a:avLst/>
          </a:prstGeom>
          <a:noFill/>
          <a:ln/>
        </p:spPr>
        <p:txBody>
          <a:bodyPr wrap="square" lIns="0" rIns="0" tIns="0" bIns="0">
            <a:noAutofit/>
          </a:bodyPr>
          <a:lstStyle/>
          <a:p>
            <a:r>
              <a:rPr sz="1300" b="1">
                <a:solidFill>
                  <a:srgbClr val="1D1D1F"/>
                </a:solidFill>
                <a:latin typeface="Noto Sans JP"/>
              </a:rPr>
              <a:t>References</a:t>
            </a:r>
          </a:p>
        </p:txBody>
      </p:sp>
      <p:sp>
        <p:nvSpPr>
          <p:cNvPr id="48" name="TextBox 47"/>
          <p:cNvSpPr txBox="1"/>
          <p:nvPr/>
        </p:nvSpPr>
        <p:spPr>
          <a:xfrm>
            <a:off x="6743700" y="5474513"/>
            <a:ext cx="5048401" cy="181051"/>
          </a:xfrm>
          <a:prstGeom prst="rect">
            <a:avLst/>
          </a:prstGeom>
          <a:noFill/>
          <a:ln/>
        </p:spPr>
        <p:txBody>
          <a:bodyPr wrap="square" lIns="0" rIns="0" tIns="0" bIns="0">
            <a:noAutofit/>
          </a:bodyPr>
          <a:lstStyle/>
          <a:p>
            <a:r>
              <a:rPr sz="900">
                <a:solidFill>
                  <a:srgbClr val="6E6E73"/>
                </a:solidFill>
                <a:latin typeface="Noto Sans JP"/>
              </a:rPr>
              <a:t>一次情報源および参照URL一覧。</a:t>
            </a:r>
          </a:p>
        </p:txBody>
      </p:sp>
      <p:pic>
        <p:nvPicPr>
          <p:cNvPr id="49" name="Picture 48" descr="image.png"/>
          <p:cNvPicPr>
            <a:picLocks noChangeAspect="1"/>
          </p:cNvPicPr>
          <p:nvPr/>
        </p:nvPicPr>
        <p:blipFill>
          <a:blip r:embed="rId3"/>
          <a:stretch>
            <a:fillRect/>
          </a:stretch>
        </p:blipFill>
        <p:spPr>
          <a:xfrm>
            <a:off x="476401" y="6258154"/>
            <a:ext cx="4045305" cy="362101"/>
          </a:xfrm>
          <a:prstGeom prst="rect">
            <a:avLst/>
          </a:prstGeom>
          <a:ln/>
        </p:spPr>
      </p:pic>
      <p:sp>
        <p:nvSpPr>
          <p:cNvPr id="50" name="TextBox 49"/>
          <p:cNvSpPr txBox="1"/>
          <p:nvPr/>
        </p:nvSpPr>
        <p:spPr>
          <a:xfrm>
            <a:off x="837590" y="6353251"/>
            <a:ext cx="3734410" cy="171906"/>
          </a:xfrm>
          <a:prstGeom prst="rect">
            <a:avLst/>
          </a:prstGeom>
          <a:noFill/>
          <a:ln/>
        </p:spPr>
        <p:txBody>
          <a:bodyPr wrap="square" lIns="0" rIns="0" tIns="0" bIns="0">
            <a:noAutofit/>
          </a:bodyPr>
          <a:lstStyle/>
          <a:p>
            <a:r>
              <a:rPr sz="900">
                <a:solidFill>
                  <a:srgbClr val="0056B3"/>
                </a:solidFill>
                <a:latin typeface="Noto Sans JP"/>
              </a:rPr>
              <a:t>各章は「概要（要点）」→「詳細（完全版）」の順で構成されています</a:t>
            </a:r>
          </a:p>
        </p:txBody>
      </p:sp>
      <p:pic>
        <p:nvPicPr>
          <p:cNvPr id="51" name="Picture 50" descr="image.png"/>
          <p:cNvPicPr>
            <a:picLocks noChangeAspect="1"/>
          </p:cNvPicPr>
          <p:nvPr/>
        </p:nvPicPr>
        <p:blipFill>
          <a:blip r:embed="rId4"/>
          <a:stretch>
            <a:fillRect/>
          </a:stretch>
        </p:blipFill>
        <p:spPr>
          <a:xfrm>
            <a:off x="647395" y="6386170"/>
            <a:ext cx="114300" cy="114300"/>
          </a:xfrm>
          <a:prstGeom prst="rect">
            <a:avLst/>
          </a:prstGeom>
          <a:ln/>
        </p:spPr>
      </p:pic>
      <p:sp>
        <p:nvSpPr>
          <p:cNvPr id="52" name="TextBox 51"/>
          <p:cNvSpPr txBox="1"/>
          <p:nvPr/>
        </p:nvSpPr>
        <p:spPr>
          <a:xfrm>
            <a:off x="11560759" y="6495898"/>
            <a:ext cx="428854" cy="171906"/>
          </a:xfrm>
          <a:prstGeom prst="rect">
            <a:avLst/>
          </a:prstGeom>
          <a:noFill/>
          <a:ln/>
        </p:spPr>
        <p:txBody>
          <a:bodyPr wrap="square" lIns="0" rIns="0" tIns="0" bIns="0">
            <a:noAutofit/>
          </a:bodyPr>
          <a:lstStyle/>
          <a:p>
            <a:r>
              <a:rPr sz="900">
                <a:solidFill>
                  <a:srgbClr val="86868B"/>
                </a:solidFill>
                <a:latin typeface="Noto Sans JP"/>
              </a:rPr>
              <a:t>Page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1467612"/>
            <a:ext cx="11048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381305"/>
            <a:ext cx="11354105" cy="514807"/>
          </a:xfrm>
          <a:prstGeom prst="rect">
            <a:avLst/>
          </a:prstGeom>
          <a:noFill/>
          <a:ln/>
        </p:spPr>
        <p:txBody>
          <a:bodyPr wrap="square" lIns="0" rIns="0" tIns="0" bIns="0">
            <a:noAutofit/>
          </a:bodyPr>
          <a:lstStyle/>
          <a:p>
            <a:r>
              <a:rPr sz="2700" b="1">
                <a:solidFill>
                  <a:srgbClr val="1D1D1F"/>
                </a:solidFill>
                <a:latin typeface="Noto Sans JP"/>
              </a:rPr>
              <a:t>エグゼクティブサマリ（実務要点）</a:t>
            </a:r>
          </a:p>
        </p:txBody>
      </p:sp>
      <p:sp>
        <p:nvSpPr>
          <p:cNvPr id="7" name="TextBox 6"/>
          <p:cNvSpPr txBox="1"/>
          <p:nvPr/>
        </p:nvSpPr>
        <p:spPr>
          <a:xfrm>
            <a:off x="571500" y="990294"/>
            <a:ext cx="11239805" cy="286206"/>
          </a:xfrm>
          <a:prstGeom prst="rect">
            <a:avLst/>
          </a:prstGeom>
          <a:noFill/>
          <a:ln/>
        </p:spPr>
        <p:txBody>
          <a:bodyPr wrap="square" lIns="0" rIns="0" tIns="0" bIns="0">
            <a:noAutofit/>
          </a:bodyPr>
          <a:lstStyle/>
          <a:p>
            <a:r>
              <a:rPr sz="1500">
                <a:solidFill>
                  <a:srgbClr val="86868B"/>
                </a:solidFill>
                <a:latin typeface="Noto Sans JP"/>
              </a:rPr>
              <a:t>ローカルAI導入における意思決定の重要ポイント</a:t>
            </a:r>
          </a:p>
        </p:txBody>
      </p:sp>
      <p:sp>
        <p:nvSpPr>
          <p:cNvPr id="8" name="Rectangle 7"/>
          <p:cNvSpPr/>
          <p:nvPr/>
        </p:nvSpPr>
        <p:spPr>
          <a:xfrm>
            <a:off x="571500" y="1762049"/>
            <a:ext cx="11048695" cy="875994"/>
          </a:xfrm>
          <a:prstGeom prst="rect">
            <a:avLst/>
          </a:prstGeom>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1762049"/>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7707" y="1914754"/>
            <a:ext cx="10611612" cy="571500"/>
          </a:xfrm>
          <a:prstGeom prst="rect">
            <a:avLst/>
          </a:prstGeom>
          <a:noFill/>
          <a:ln/>
        </p:spPr>
        <p:txBody>
          <a:bodyPr wrap="square" lIns="0" rIns="0" tIns="0" bIns="0">
            <a:noAutofit/>
          </a:bodyPr>
          <a:lstStyle/>
          <a:p>
            <a:r>
              <a:rPr sz="1500">
                <a:solidFill>
                  <a:srgbClr val="1D1D1F"/>
                </a:solidFill>
                <a:latin typeface="Noto Sans JP"/>
              </a:rPr>
              <a:t> 結論：ローカルAIは「4bit量子化＋KV管理」を前提に、</a:t>
            </a:r>
          </a:p>
          <a:p>
            <a:r>
              <a:rPr sz="1500">
                <a:solidFill>
                  <a:srgbClr val="1D1D1F"/>
                </a:solidFill>
                <a:latin typeface="Noto Sans JP"/>
              </a:rPr>
              <a:t> GGUF/llama.cpp系とOllama/LM Studio/MLXで実務化可能です。 </a:t>
            </a:r>
          </a:p>
        </p:txBody>
      </p:sp>
      <p:sp>
        <p:nvSpPr>
          <p:cNvPr id="11" name="Rectangle 10"/>
          <p:cNvSpPr/>
          <p:nvPr/>
        </p:nvSpPr>
        <p:spPr>
          <a:xfrm>
            <a:off x="571500"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3138221"/>
            <a:ext cx="304495" cy="228600"/>
          </a:xfrm>
          <a:prstGeom prst="rect">
            <a:avLst/>
          </a:prstGeom>
          <a:ln/>
        </p:spPr>
      </p:pic>
      <p:sp>
        <p:nvSpPr>
          <p:cNvPr id="13" name="TextBox 12"/>
          <p:cNvSpPr txBox="1"/>
          <p:nvPr/>
        </p:nvSpPr>
        <p:spPr>
          <a:xfrm>
            <a:off x="1190549" y="3124505"/>
            <a:ext cx="1286561" cy="257860"/>
          </a:xfrm>
          <a:prstGeom prst="rect">
            <a:avLst/>
          </a:prstGeom>
          <a:noFill/>
          <a:ln/>
        </p:spPr>
        <p:txBody>
          <a:bodyPr wrap="square" lIns="0" rIns="0" tIns="0" bIns="0">
            <a:noAutofit/>
          </a:bodyPr>
          <a:lstStyle/>
          <a:p>
            <a:r>
              <a:rPr sz="1300" b="1">
                <a:solidFill>
                  <a:srgbClr val="1D1D1F"/>
                </a:solidFill>
                <a:latin typeface="Noto Sans JP"/>
              </a:rPr>
              <a:t>定義とスコープ</a:t>
            </a:r>
          </a:p>
        </p:txBody>
      </p:sp>
      <p:sp>
        <p:nvSpPr>
          <p:cNvPr id="14" name="TextBox 13"/>
          <p:cNvSpPr txBox="1"/>
          <p:nvPr/>
        </p:nvSpPr>
        <p:spPr>
          <a:xfrm>
            <a:off x="771754" y="3495751"/>
            <a:ext cx="3324758" cy="228600"/>
          </a:xfrm>
          <a:prstGeom prst="rect">
            <a:avLst/>
          </a:prstGeom>
          <a:noFill/>
          <a:ln/>
        </p:spPr>
        <p:txBody>
          <a:bodyPr wrap="square" lIns="0" rIns="0" tIns="0" bIns="0">
            <a:noAutofit/>
          </a:bodyPr>
          <a:lstStyle/>
          <a:p>
            <a:r>
              <a:rPr sz="1100">
                <a:solidFill>
                  <a:srgbClr val="424245"/>
                </a:solidFill>
                <a:latin typeface="Noto Sans JP"/>
              </a:rPr>
              <a:t>推論が端末orローカルLAN内で完結</a:t>
            </a:r>
          </a:p>
        </p:txBody>
      </p:sp>
      <p:sp>
        <p:nvSpPr>
          <p:cNvPr id="15" name="TextBox 14"/>
          <p:cNvSpPr txBox="1"/>
          <p:nvPr/>
        </p:nvSpPr>
        <p:spPr>
          <a:xfrm>
            <a:off x="771754" y="3781044"/>
            <a:ext cx="3324758" cy="228600"/>
          </a:xfrm>
          <a:prstGeom prst="rect">
            <a:avLst/>
          </a:prstGeom>
          <a:noFill/>
          <a:ln/>
        </p:spPr>
        <p:txBody>
          <a:bodyPr wrap="square" lIns="0" rIns="0" tIns="0" bIns="0">
            <a:noAutofit/>
          </a:bodyPr>
          <a:lstStyle/>
          <a:p>
            <a:r>
              <a:rPr sz="1100">
                <a:solidFill>
                  <a:srgbClr val="424245"/>
                </a:solidFill>
                <a:latin typeface="Noto Sans JP"/>
              </a:rPr>
              <a:t>入力データは外部へ送信されない</a:t>
            </a:r>
          </a:p>
        </p:txBody>
      </p:sp>
      <p:sp>
        <p:nvSpPr>
          <p:cNvPr id="16" name="TextBox 15"/>
          <p:cNvSpPr txBox="1"/>
          <p:nvPr/>
        </p:nvSpPr>
        <p:spPr>
          <a:xfrm>
            <a:off x="771754" y="4067251"/>
            <a:ext cx="3248863" cy="228600"/>
          </a:xfrm>
          <a:prstGeom prst="rect">
            <a:avLst/>
          </a:prstGeom>
          <a:noFill/>
          <a:ln/>
        </p:spPr>
        <p:txBody>
          <a:bodyPr wrap="square" lIns="0" rIns="0" tIns="0" bIns="0">
            <a:noAutofit/>
          </a:bodyPr>
          <a:lstStyle/>
          <a:p>
            <a:r>
              <a:rPr sz="1100">
                <a:solidFill>
                  <a:srgbClr val="424245"/>
                </a:solidFill>
                <a:latin typeface="Noto Sans JP"/>
              </a:rPr>
              <a:t>LANサーブ含む（LM Studio, Ollama）</a:t>
            </a:r>
          </a:p>
        </p:txBody>
      </p:sp>
      <p:sp>
        <p:nvSpPr>
          <p:cNvPr id="17" name="Rectangle 16"/>
          <p:cNvSpPr/>
          <p:nvPr/>
        </p:nvSpPr>
        <p:spPr>
          <a:xfrm>
            <a:off x="4330598"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4530852" y="3138221"/>
            <a:ext cx="304494" cy="228600"/>
          </a:xfrm>
          <a:prstGeom prst="rect">
            <a:avLst/>
          </a:prstGeom>
          <a:ln/>
        </p:spPr>
      </p:pic>
      <p:sp>
        <p:nvSpPr>
          <p:cNvPr id="19" name="TextBox 18"/>
          <p:cNvSpPr txBox="1"/>
          <p:nvPr/>
        </p:nvSpPr>
        <p:spPr>
          <a:xfrm>
            <a:off x="4949647" y="3124505"/>
            <a:ext cx="762610" cy="257860"/>
          </a:xfrm>
          <a:prstGeom prst="rect">
            <a:avLst/>
          </a:prstGeom>
          <a:noFill/>
          <a:ln/>
        </p:spPr>
        <p:txBody>
          <a:bodyPr wrap="square" lIns="0" rIns="0" tIns="0" bIns="0">
            <a:noAutofit/>
          </a:bodyPr>
          <a:lstStyle/>
          <a:p>
            <a:r>
              <a:rPr sz="1300" b="1">
                <a:solidFill>
                  <a:srgbClr val="1D1D1F"/>
                </a:solidFill>
                <a:latin typeface="Noto Sans JP"/>
              </a:rPr>
              <a:t>中核技術</a:t>
            </a:r>
          </a:p>
        </p:txBody>
      </p:sp>
      <p:sp>
        <p:nvSpPr>
          <p:cNvPr id="20" name="TextBox 19"/>
          <p:cNvSpPr txBox="1"/>
          <p:nvPr/>
        </p:nvSpPr>
        <p:spPr>
          <a:xfrm>
            <a:off x="5226710" y="3495751"/>
            <a:ext cx="2553005" cy="247801"/>
          </a:xfrm>
          <a:prstGeom prst="rect">
            <a:avLst/>
          </a:prstGeom>
          <a:noFill/>
          <a:ln/>
        </p:spPr>
        <p:txBody>
          <a:bodyPr wrap="square" lIns="0" rIns="0" tIns="0" bIns="0">
            <a:noAutofit/>
          </a:bodyPr>
          <a:lstStyle/>
          <a:p>
            <a:r>
              <a:rPr sz="1100">
                <a:solidFill>
                  <a:srgbClr val="424245"/>
                </a:solidFill>
                <a:latin typeface="Noto Sans JP"/>
              </a:rPr>
              <a:t>Weight-only 4bit (AWQ等)</a:t>
            </a:r>
          </a:p>
        </p:txBody>
      </p:sp>
      <p:pic>
        <p:nvPicPr>
          <p:cNvPr id="21" name="Picture 20" descr="image.png"/>
          <p:cNvPicPr>
            <a:picLocks noChangeAspect="1"/>
          </p:cNvPicPr>
          <p:nvPr/>
        </p:nvPicPr>
        <p:blipFill>
          <a:blip r:embed="rId4"/>
          <a:stretch>
            <a:fillRect/>
          </a:stretch>
        </p:blipFill>
        <p:spPr>
          <a:xfrm>
            <a:off x="4664354" y="3504895"/>
            <a:ext cx="533094" cy="237744"/>
          </a:xfrm>
          <a:prstGeom prst="rect">
            <a:avLst/>
          </a:prstGeom>
          <a:ln/>
        </p:spPr>
      </p:pic>
      <p:sp>
        <p:nvSpPr>
          <p:cNvPr id="22" name="TextBox 21"/>
          <p:cNvSpPr txBox="1"/>
          <p:nvPr/>
        </p:nvSpPr>
        <p:spPr>
          <a:xfrm>
            <a:off x="4664354" y="3504895"/>
            <a:ext cx="534010" cy="238658"/>
          </a:xfrm>
          <a:prstGeom prst="rect">
            <a:avLst/>
          </a:prstGeom>
          <a:noFill/>
          <a:ln>
            <a:solidFill>
              <a:srgbClr val="FFFFFF"/>
            </a:solidFill>
          </a:ln>
        </p:spPr>
        <p:txBody>
          <a:bodyPr wrap="square" lIns="0" rIns="0" tIns="0" bIns="0">
            <a:noAutofit/>
          </a:bodyPr>
          <a:lstStyle/>
          <a:p>
            <a:r>
              <a:rPr sz="900" b="1">
                <a:solidFill>
                  <a:srgbClr val="1D1D1F"/>
                </a:solidFill>
                <a:latin typeface="Noto Sans JP"/>
              </a:rPr>
              <a:t>量子化</a:t>
            </a:r>
          </a:p>
        </p:txBody>
      </p:sp>
      <p:sp>
        <p:nvSpPr>
          <p:cNvPr id="23" name="TextBox 22"/>
          <p:cNvSpPr txBox="1"/>
          <p:nvPr/>
        </p:nvSpPr>
        <p:spPr>
          <a:xfrm>
            <a:off x="5226710" y="3798417"/>
            <a:ext cx="2628900" cy="247801"/>
          </a:xfrm>
          <a:prstGeom prst="rect">
            <a:avLst/>
          </a:prstGeom>
          <a:noFill/>
          <a:ln/>
        </p:spPr>
        <p:txBody>
          <a:bodyPr wrap="square" lIns="0" rIns="0" tIns="0" bIns="0">
            <a:noAutofit/>
          </a:bodyPr>
          <a:lstStyle/>
          <a:p>
            <a:r>
              <a:rPr sz="1100">
                <a:solidFill>
                  <a:srgbClr val="424245"/>
                </a:solidFill>
                <a:latin typeface="Noto Sans JP"/>
              </a:rPr>
              <a:t>KVキャッシュ管理最適化</a:t>
            </a:r>
          </a:p>
        </p:txBody>
      </p:sp>
      <p:pic>
        <p:nvPicPr>
          <p:cNvPr id="24" name="Picture 23" descr="image.png"/>
          <p:cNvPicPr>
            <a:picLocks noChangeAspect="1"/>
          </p:cNvPicPr>
          <p:nvPr/>
        </p:nvPicPr>
        <p:blipFill>
          <a:blip r:embed="rId4"/>
          <a:stretch>
            <a:fillRect/>
          </a:stretch>
        </p:blipFill>
        <p:spPr>
          <a:xfrm>
            <a:off x="4664354" y="3808476"/>
            <a:ext cx="533094" cy="237744"/>
          </a:xfrm>
          <a:prstGeom prst="rect">
            <a:avLst/>
          </a:prstGeom>
          <a:ln/>
        </p:spPr>
      </p:pic>
      <p:sp>
        <p:nvSpPr>
          <p:cNvPr id="25" name="TextBox 24"/>
          <p:cNvSpPr txBox="1"/>
          <p:nvPr/>
        </p:nvSpPr>
        <p:spPr>
          <a:xfrm>
            <a:off x="4664354" y="3808476"/>
            <a:ext cx="534010" cy="238658"/>
          </a:xfrm>
          <a:prstGeom prst="rect">
            <a:avLst/>
          </a:prstGeom>
          <a:noFill/>
          <a:ln>
            <a:solidFill>
              <a:srgbClr val="FFFFFF"/>
            </a:solidFill>
          </a:ln>
        </p:spPr>
        <p:txBody>
          <a:bodyPr wrap="square" lIns="0" rIns="0" tIns="0" bIns="0">
            <a:noAutofit/>
          </a:bodyPr>
          <a:lstStyle/>
          <a:p>
            <a:r>
              <a:rPr sz="900" b="1">
                <a:solidFill>
                  <a:srgbClr val="1D1D1F"/>
                </a:solidFill>
                <a:latin typeface="Noto Sans JP"/>
              </a:rPr>
              <a:t>メモリ</a:t>
            </a:r>
          </a:p>
        </p:txBody>
      </p:sp>
      <p:sp>
        <p:nvSpPr>
          <p:cNvPr id="26" name="TextBox 25"/>
          <p:cNvSpPr txBox="1"/>
          <p:nvPr/>
        </p:nvSpPr>
        <p:spPr>
          <a:xfrm>
            <a:off x="4530852" y="4101084"/>
            <a:ext cx="3248863" cy="228600"/>
          </a:xfrm>
          <a:prstGeom prst="rect">
            <a:avLst/>
          </a:prstGeom>
          <a:noFill/>
          <a:ln/>
        </p:spPr>
        <p:txBody>
          <a:bodyPr wrap="square" lIns="0" rIns="0" tIns="0" bIns="0">
            <a:noAutofit/>
          </a:bodyPr>
          <a:lstStyle/>
          <a:p>
            <a:r>
              <a:rPr sz="1100">
                <a:solidFill>
                  <a:srgbClr val="424245"/>
                </a:solidFill>
                <a:latin typeface="Noto Sans JP"/>
              </a:rPr>
              <a:t>Paged Attention / Quantized KV</a:t>
            </a:r>
          </a:p>
        </p:txBody>
      </p:sp>
      <p:sp>
        <p:nvSpPr>
          <p:cNvPr id="27" name="Rectangle 26"/>
          <p:cNvSpPr/>
          <p:nvPr/>
        </p:nvSpPr>
        <p:spPr>
          <a:xfrm>
            <a:off x="8089697" y="2924251"/>
            <a:ext cx="3534155" cy="16669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5"/>
          <a:stretch>
            <a:fillRect/>
          </a:stretch>
        </p:blipFill>
        <p:spPr>
          <a:xfrm>
            <a:off x="8289950" y="3138221"/>
            <a:ext cx="304494" cy="228600"/>
          </a:xfrm>
          <a:prstGeom prst="rect">
            <a:avLst/>
          </a:prstGeom>
          <a:ln/>
        </p:spPr>
      </p:pic>
      <p:sp>
        <p:nvSpPr>
          <p:cNvPr id="29" name="TextBox 28"/>
          <p:cNvSpPr txBox="1"/>
          <p:nvPr/>
        </p:nvSpPr>
        <p:spPr>
          <a:xfrm>
            <a:off x="8708746" y="3124505"/>
            <a:ext cx="1296619" cy="257860"/>
          </a:xfrm>
          <a:prstGeom prst="rect">
            <a:avLst/>
          </a:prstGeom>
          <a:noFill/>
          <a:ln/>
        </p:spPr>
        <p:txBody>
          <a:bodyPr wrap="square" lIns="0" rIns="0" tIns="0" bIns="0">
            <a:noAutofit/>
          </a:bodyPr>
          <a:lstStyle/>
          <a:p>
            <a:r>
              <a:rPr sz="1300" b="1">
                <a:solidFill>
                  <a:srgbClr val="1D1D1F"/>
                </a:solidFill>
                <a:latin typeface="Noto Sans JP"/>
              </a:rPr>
              <a:t>主要ランタイム</a:t>
            </a:r>
          </a:p>
        </p:txBody>
      </p:sp>
      <p:sp>
        <p:nvSpPr>
          <p:cNvPr id="30" name="TextBox 29"/>
          <p:cNvSpPr txBox="1"/>
          <p:nvPr/>
        </p:nvSpPr>
        <p:spPr>
          <a:xfrm>
            <a:off x="8289950" y="3495751"/>
            <a:ext cx="3248863" cy="228600"/>
          </a:xfrm>
          <a:prstGeom prst="rect">
            <a:avLst/>
          </a:prstGeom>
          <a:noFill/>
          <a:ln/>
        </p:spPr>
        <p:txBody>
          <a:bodyPr wrap="square" lIns="0" rIns="0" tIns="0" bIns="0">
            <a:noAutofit/>
          </a:bodyPr>
          <a:lstStyle/>
          <a:p>
            <a:r>
              <a:rPr sz="1100" b="1">
                <a:solidFill>
                  <a:srgbClr val="424245"/>
                </a:solidFill>
                <a:latin typeface="Noto Sans JP"/>
              </a:rPr>
              <a:t>llama.cpp (GGUF)</a:t>
            </a:r>
            <a:r>
              <a:rPr sz="1100">
                <a:solidFill>
                  <a:srgbClr val="424245"/>
                </a:solidFill>
                <a:latin typeface="Noto Sans JP"/>
              </a:rPr>
              <a:t>: 汎用・軽量</a:t>
            </a:r>
          </a:p>
        </p:txBody>
      </p:sp>
      <p:sp>
        <p:nvSpPr>
          <p:cNvPr id="31" name="TextBox 30"/>
          <p:cNvSpPr txBox="1"/>
          <p:nvPr/>
        </p:nvSpPr>
        <p:spPr>
          <a:xfrm>
            <a:off x="8289950" y="3781044"/>
            <a:ext cx="3248863" cy="228600"/>
          </a:xfrm>
          <a:prstGeom prst="rect">
            <a:avLst/>
          </a:prstGeom>
          <a:noFill/>
          <a:ln/>
        </p:spPr>
        <p:txBody>
          <a:bodyPr wrap="square" lIns="0" rIns="0" tIns="0" bIns="0">
            <a:noAutofit/>
          </a:bodyPr>
          <a:lstStyle/>
          <a:p>
            <a:r>
              <a:rPr sz="1100" b="1">
                <a:solidFill>
                  <a:srgbClr val="424245"/>
                </a:solidFill>
                <a:latin typeface="Noto Sans JP"/>
              </a:rPr>
              <a:t>Ollama / LM Studio</a:t>
            </a:r>
            <a:r>
              <a:rPr sz="1100">
                <a:solidFill>
                  <a:srgbClr val="424245"/>
                </a:solidFill>
                <a:latin typeface="Noto Sans JP"/>
              </a:rPr>
              <a:t>: UI + API</a:t>
            </a:r>
          </a:p>
        </p:txBody>
      </p:sp>
      <p:sp>
        <p:nvSpPr>
          <p:cNvPr id="32" name="TextBox 31"/>
          <p:cNvSpPr txBox="1"/>
          <p:nvPr/>
        </p:nvSpPr>
        <p:spPr>
          <a:xfrm>
            <a:off x="8289950" y="4067251"/>
            <a:ext cx="3248863" cy="228600"/>
          </a:xfrm>
          <a:prstGeom prst="rect">
            <a:avLst/>
          </a:prstGeom>
          <a:noFill/>
          <a:ln/>
        </p:spPr>
        <p:txBody>
          <a:bodyPr wrap="square" lIns="0" rIns="0" tIns="0" bIns="0">
            <a:noAutofit/>
          </a:bodyPr>
          <a:lstStyle/>
          <a:p>
            <a:r>
              <a:rPr sz="1100" b="1">
                <a:solidFill>
                  <a:srgbClr val="424245"/>
                </a:solidFill>
                <a:latin typeface="Noto Sans JP"/>
              </a:rPr>
              <a:t>MLX</a:t>
            </a:r>
            <a:r>
              <a:rPr sz="1100">
                <a:solidFill>
                  <a:srgbClr val="424245"/>
                </a:solidFill>
                <a:latin typeface="Noto Sans JP"/>
              </a:rPr>
              <a:t>: Apple Silicon特化</a:t>
            </a:r>
          </a:p>
        </p:txBody>
      </p:sp>
      <p:sp>
        <p:nvSpPr>
          <p:cNvPr id="33" name="Rectangle 32"/>
          <p:cNvSpPr/>
          <p:nvPr/>
        </p:nvSpPr>
        <p:spPr>
          <a:xfrm>
            <a:off x="571500" y="4816145"/>
            <a:ext cx="7295997"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6"/>
          <a:stretch>
            <a:fillRect/>
          </a:stretch>
        </p:blipFill>
        <p:spPr>
          <a:xfrm>
            <a:off x="771754" y="5030114"/>
            <a:ext cx="304495" cy="228600"/>
          </a:xfrm>
          <a:prstGeom prst="rect">
            <a:avLst/>
          </a:prstGeom>
          <a:ln/>
        </p:spPr>
      </p:pic>
      <p:sp>
        <p:nvSpPr>
          <p:cNvPr id="35" name="TextBox 34"/>
          <p:cNvSpPr txBox="1"/>
          <p:nvPr/>
        </p:nvSpPr>
        <p:spPr>
          <a:xfrm>
            <a:off x="1190549" y="5015484"/>
            <a:ext cx="3656686" cy="257860"/>
          </a:xfrm>
          <a:prstGeom prst="rect">
            <a:avLst/>
          </a:prstGeom>
          <a:noFill/>
          <a:ln/>
        </p:spPr>
        <p:txBody>
          <a:bodyPr wrap="square" lIns="0" rIns="0" tIns="0" bIns="0">
            <a:noAutofit/>
          </a:bodyPr>
          <a:lstStyle/>
          <a:p>
            <a:r>
              <a:rPr sz="1300" b="1">
                <a:solidFill>
                  <a:srgbClr val="1D1D1F"/>
                </a:solidFill>
                <a:latin typeface="Noto Sans JP"/>
              </a:rPr>
              <a:t>ハードウェア実用ライン (4bit量子化前提)</a:t>
            </a:r>
          </a:p>
        </p:txBody>
      </p:sp>
      <p:sp>
        <p:nvSpPr>
          <p:cNvPr id="36" name="TextBox 35"/>
          <p:cNvSpPr txBox="1"/>
          <p:nvPr/>
        </p:nvSpPr>
        <p:spPr>
          <a:xfrm>
            <a:off x="771754" y="5396789"/>
            <a:ext cx="2595982" cy="200253"/>
          </a:xfrm>
          <a:prstGeom prst="rect">
            <a:avLst/>
          </a:prstGeom>
          <a:noFill/>
          <a:ln/>
        </p:spPr>
        <p:txBody>
          <a:bodyPr wrap="square" lIns="0" rIns="0" tIns="0" bIns="0">
            <a:noAutofit/>
          </a:bodyPr>
          <a:lstStyle/>
          <a:p>
            <a:r>
              <a:rPr sz="1100" b="1">
                <a:solidFill>
                  <a:srgbClr val="1D1D1F"/>
                </a:solidFill>
                <a:latin typeface="Noto Sans JP"/>
              </a:rPr>
              <a:t>Apple Silicon (Unified Memory)</a:t>
            </a:r>
          </a:p>
        </p:txBody>
      </p:sp>
      <p:sp>
        <p:nvSpPr>
          <p:cNvPr id="37" name="TextBox 36"/>
          <p:cNvSpPr txBox="1"/>
          <p:nvPr/>
        </p:nvSpPr>
        <p:spPr>
          <a:xfrm>
            <a:off x="771754" y="5692140"/>
            <a:ext cx="3419855" cy="228600"/>
          </a:xfrm>
          <a:prstGeom prst="rect">
            <a:avLst/>
          </a:prstGeom>
          <a:noFill/>
          <a:ln/>
        </p:spPr>
        <p:txBody>
          <a:bodyPr wrap="square" lIns="0" rIns="0" tIns="0" bIns="0">
            <a:noAutofit/>
          </a:bodyPr>
          <a:lstStyle/>
          <a:p>
            <a:r>
              <a:rPr sz="1100" b="1">
                <a:solidFill>
                  <a:srgbClr val="424245"/>
                </a:solidFill>
                <a:latin typeface="Noto Sans JP"/>
              </a:rPr>
              <a:t>16GB</a:t>
            </a:r>
            <a:r>
              <a:rPr sz="1100">
                <a:solidFill>
                  <a:srgbClr val="424245"/>
                </a:solidFill>
                <a:latin typeface="Noto Sans JP"/>
              </a:rPr>
              <a:t>: 3B〜7/8B級</a:t>
            </a:r>
          </a:p>
        </p:txBody>
      </p:sp>
      <p:sp>
        <p:nvSpPr>
          <p:cNvPr id="38" name="TextBox 37"/>
          <p:cNvSpPr txBox="1"/>
          <p:nvPr/>
        </p:nvSpPr>
        <p:spPr>
          <a:xfrm>
            <a:off x="771754" y="5977433"/>
            <a:ext cx="3419855" cy="228600"/>
          </a:xfrm>
          <a:prstGeom prst="rect">
            <a:avLst/>
          </a:prstGeom>
          <a:noFill/>
          <a:ln/>
        </p:spPr>
        <p:txBody>
          <a:bodyPr wrap="square" lIns="0" rIns="0" tIns="0" bIns="0">
            <a:noAutofit/>
          </a:bodyPr>
          <a:lstStyle/>
          <a:p>
            <a:r>
              <a:rPr sz="1100" b="1">
                <a:solidFill>
                  <a:srgbClr val="424245"/>
                </a:solidFill>
                <a:latin typeface="Noto Sans JP"/>
              </a:rPr>
              <a:t>24-32GB</a:t>
            </a:r>
            <a:r>
              <a:rPr sz="1100">
                <a:solidFill>
                  <a:srgbClr val="424245"/>
                </a:solidFill>
                <a:latin typeface="Noto Sans JP"/>
              </a:rPr>
              <a:t>: 7B〜14B級 </a:t>
            </a:r>
            <a:r>
              <a:rPr sz="900">
                <a:solidFill>
                  <a:srgbClr val="86868B"/>
                </a:solidFill>
                <a:latin typeface="Noto Sans JP"/>
              </a:rPr>
              <a:t>(業務最小ライン)</a:t>
            </a:r>
          </a:p>
        </p:txBody>
      </p:sp>
      <p:sp>
        <p:nvSpPr>
          <p:cNvPr id="39" name="Rectangle 38"/>
          <p:cNvSpPr/>
          <p:nvPr/>
        </p:nvSpPr>
        <p:spPr>
          <a:xfrm>
            <a:off x="4211726" y="5387645"/>
            <a:ext cx="9144" cy="87599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4431" y="5396789"/>
            <a:ext cx="2296972" cy="200253"/>
          </a:xfrm>
          <a:prstGeom prst="rect">
            <a:avLst/>
          </a:prstGeom>
          <a:noFill/>
          <a:ln/>
        </p:spPr>
        <p:txBody>
          <a:bodyPr wrap="square" lIns="0" rIns="0" tIns="0" bIns="0">
            <a:noAutofit/>
          </a:bodyPr>
          <a:lstStyle/>
          <a:p>
            <a:r>
              <a:rPr sz="1100" b="1">
                <a:solidFill>
                  <a:srgbClr val="1D1D1F"/>
                </a:solidFill>
                <a:latin typeface="Noto Sans JP"/>
              </a:rPr>
              <a:t>Windows (NVIDIA GPU VRAM)</a:t>
            </a:r>
          </a:p>
        </p:txBody>
      </p:sp>
      <p:sp>
        <p:nvSpPr>
          <p:cNvPr id="41" name="TextBox 40"/>
          <p:cNvSpPr txBox="1"/>
          <p:nvPr/>
        </p:nvSpPr>
        <p:spPr>
          <a:xfrm>
            <a:off x="4364431" y="5692140"/>
            <a:ext cx="3419855" cy="228600"/>
          </a:xfrm>
          <a:prstGeom prst="rect">
            <a:avLst/>
          </a:prstGeom>
          <a:noFill/>
          <a:ln/>
        </p:spPr>
        <p:txBody>
          <a:bodyPr wrap="square" lIns="0" rIns="0" tIns="0" bIns="0">
            <a:noAutofit/>
          </a:bodyPr>
          <a:lstStyle/>
          <a:p>
            <a:r>
              <a:rPr sz="1100" b="1">
                <a:solidFill>
                  <a:srgbClr val="424245"/>
                </a:solidFill>
                <a:latin typeface="Noto Sans JP"/>
              </a:rPr>
              <a:t>8GB</a:t>
            </a:r>
            <a:r>
              <a:rPr sz="1100">
                <a:solidFill>
                  <a:srgbClr val="424245"/>
                </a:solidFill>
                <a:latin typeface="Noto Sans JP"/>
              </a:rPr>
              <a:t>: 7B級 / </a:t>
            </a:r>
            <a:r>
              <a:rPr sz="1100" b="1">
                <a:solidFill>
                  <a:srgbClr val="424245"/>
                </a:solidFill>
                <a:latin typeface="Noto Sans JP"/>
              </a:rPr>
              <a:t>12GB</a:t>
            </a:r>
            <a:r>
              <a:rPr sz="1100">
                <a:solidFill>
                  <a:srgbClr val="424245"/>
                </a:solidFill>
                <a:latin typeface="Noto Sans JP"/>
              </a:rPr>
              <a:t>: 14B級</a:t>
            </a:r>
          </a:p>
        </p:txBody>
      </p:sp>
      <p:sp>
        <p:nvSpPr>
          <p:cNvPr id="42" name="TextBox 41"/>
          <p:cNvSpPr txBox="1"/>
          <p:nvPr/>
        </p:nvSpPr>
        <p:spPr>
          <a:xfrm>
            <a:off x="4364431" y="5977433"/>
            <a:ext cx="3419855" cy="228600"/>
          </a:xfrm>
          <a:prstGeom prst="rect">
            <a:avLst/>
          </a:prstGeom>
          <a:noFill/>
          <a:ln/>
        </p:spPr>
        <p:txBody>
          <a:bodyPr wrap="square" lIns="0" rIns="0" tIns="0" bIns="0">
            <a:noAutofit/>
          </a:bodyPr>
          <a:lstStyle/>
          <a:p>
            <a:r>
              <a:rPr sz="1100" b="1">
                <a:solidFill>
                  <a:srgbClr val="424245"/>
                </a:solidFill>
                <a:latin typeface="Noto Sans JP"/>
              </a:rPr>
              <a:t>24GB</a:t>
            </a:r>
            <a:r>
              <a:rPr sz="1100">
                <a:solidFill>
                  <a:srgbClr val="424245"/>
                </a:solidFill>
                <a:latin typeface="Noto Sans JP"/>
              </a:rPr>
              <a:t>: 27B〜34B級 </a:t>
            </a:r>
            <a:r>
              <a:rPr sz="900">
                <a:solidFill>
                  <a:srgbClr val="86868B"/>
                </a:solidFill>
                <a:latin typeface="Noto Sans JP"/>
              </a:rPr>
              <a:t>(実務域)</a:t>
            </a:r>
          </a:p>
        </p:txBody>
      </p:sp>
      <p:sp>
        <p:nvSpPr>
          <p:cNvPr id="43" name="Rectangle 42"/>
          <p:cNvSpPr/>
          <p:nvPr/>
        </p:nvSpPr>
        <p:spPr>
          <a:xfrm>
            <a:off x="8089697" y="4816145"/>
            <a:ext cx="3534155" cy="16477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7"/>
          <a:stretch>
            <a:fillRect/>
          </a:stretch>
        </p:blipFill>
        <p:spPr>
          <a:xfrm>
            <a:off x="8289950" y="5030114"/>
            <a:ext cx="304494" cy="228600"/>
          </a:xfrm>
          <a:prstGeom prst="rect">
            <a:avLst/>
          </a:prstGeom>
          <a:ln/>
        </p:spPr>
      </p:pic>
      <p:sp>
        <p:nvSpPr>
          <p:cNvPr id="45" name="TextBox 44"/>
          <p:cNvSpPr txBox="1"/>
          <p:nvPr/>
        </p:nvSpPr>
        <p:spPr>
          <a:xfrm>
            <a:off x="8708746" y="5015484"/>
            <a:ext cx="1110996" cy="257860"/>
          </a:xfrm>
          <a:prstGeom prst="rect">
            <a:avLst/>
          </a:prstGeom>
          <a:noFill/>
          <a:ln/>
        </p:spPr>
        <p:txBody>
          <a:bodyPr wrap="square" lIns="0" rIns="0" tIns="0" bIns="0">
            <a:noAutofit/>
          </a:bodyPr>
          <a:lstStyle/>
          <a:p>
            <a:r>
              <a:rPr sz="1300" b="1">
                <a:solidFill>
                  <a:srgbClr val="1D1D1F"/>
                </a:solidFill>
                <a:latin typeface="Noto Sans JP"/>
              </a:rPr>
              <a:t>推奨スタック</a:t>
            </a:r>
          </a:p>
        </p:txBody>
      </p:sp>
      <p:sp>
        <p:nvSpPr>
          <p:cNvPr id="46" name="TextBox 45"/>
          <p:cNvSpPr txBox="1"/>
          <p:nvPr/>
        </p:nvSpPr>
        <p:spPr>
          <a:xfrm>
            <a:off x="8289950" y="5387645"/>
            <a:ext cx="3248863" cy="228600"/>
          </a:xfrm>
          <a:prstGeom prst="rect">
            <a:avLst/>
          </a:prstGeom>
          <a:noFill/>
          <a:ln/>
        </p:spPr>
        <p:txBody>
          <a:bodyPr wrap="square" lIns="0" rIns="0" tIns="0" bIns="0">
            <a:noAutofit/>
          </a:bodyPr>
          <a:lstStyle/>
          <a:p>
            <a:r>
              <a:rPr sz="1100" b="1">
                <a:solidFill>
                  <a:srgbClr val="424245"/>
                </a:solidFill>
                <a:latin typeface="Noto Sans JP"/>
              </a:rPr>
              <a:t>低コスト</a:t>
            </a:r>
            <a:r>
              <a:rPr sz="1100">
                <a:solidFill>
                  <a:srgbClr val="424245"/>
                </a:solidFill>
                <a:latin typeface="Noto Sans JP"/>
              </a:rPr>
              <a:t>: GGUF + llama.cpp</a:t>
            </a:r>
          </a:p>
        </p:txBody>
      </p:sp>
      <p:sp>
        <p:nvSpPr>
          <p:cNvPr id="47" name="TextBox 46"/>
          <p:cNvSpPr txBox="1"/>
          <p:nvPr/>
        </p:nvSpPr>
        <p:spPr>
          <a:xfrm>
            <a:off x="8289950" y="5672938"/>
            <a:ext cx="3248863" cy="228600"/>
          </a:xfrm>
          <a:prstGeom prst="rect">
            <a:avLst/>
          </a:prstGeom>
          <a:noFill/>
          <a:ln/>
        </p:spPr>
        <p:txBody>
          <a:bodyPr wrap="square" lIns="0" rIns="0" tIns="0" bIns="0">
            <a:noAutofit/>
          </a:bodyPr>
          <a:lstStyle/>
          <a:p>
            <a:r>
              <a:rPr sz="1100" b="1">
                <a:solidFill>
                  <a:srgbClr val="424245"/>
                </a:solidFill>
                <a:latin typeface="Noto Sans JP"/>
              </a:rPr>
              <a:t>高品質</a:t>
            </a:r>
            <a:r>
              <a:rPr sz="1100">
                <a:solidFill>
                  <a:srgbClr val="424245"/>
                </a:solidFill>
                <a:latin typeface="Noto Sans JP"/>
              </a:rPr>
              <a:t>: GPU + TensorRT-LLM</a:t>
            </a:r>
          </a:p>
        </p:txBody>
      </p:sp>
      <p:sp>
        <p:nvSpPr>
          <p:cNvPr id="48" name="TextBox 47"/>
          <p:cNvSpPr txBox="1"/>
          <p:nvPr/>
        </p:nvSpPr>
        <p:spPr>
          <a:xfrm>
            <a:off x="8289950" y="5959145"/>
            <a:ext cx="3248863" cy="228600"/>
          </a:xfrm>
          <a:prstGeom prst="rect">
            <a:avLst/>
          </a:prstGeom>
          <a:noFill/>
          <a:ln/>
        </p:spPr>
        <p:txBody>
          <a:bodyPr wrap="square" lIns="0" rIns="0" tIns="0" bIns="0">
            <a:noAutofit/>
          </a:bodyPr>
          <a:lstStyle/>
          <a:p>
            <a:r>
              <a:rPr sz="1100" b="1">
                <a:solidFill>
                  <a:srgbClr val="424245"/>
                </a:solidFill>
                <a:latin typeface="Noto Sans JP"/>
              </a:rPr>
              <a:t>ハード制約</a:t>
            </a:r>
            <a:r>
              <a:rPr sz="1100">
                <a:solidFill>
                  <a:srgbClr val="424245"/>
                </a:solidFill>
                <a:latin typeface="Noto Sans JP"/>
              </a:rPr>
              <a:t>: 3B級 + RAG工夫</a:t>
            </a:r>
          </a:p>
        </p:txBody>
      </p:sp>
      <p:pic>
        <p:nvPicPr>
          <p:cNvPr id="49" name="Picture 48" descr="image.png"/>
          <p:cNvPicPr>
            <a:picLocks noChangeAspect="1"/>
          </p:cNvPicPr>
          <p:nvPr/>
        </p:nvPicPr>
        <p:blipFill>
          <a:blip r:embed="rId8"/>
          <a:stretch>
            <a:fillRect/>
          </a:stretch>
        </p:blipFill>
        <p:spPr>
          <a:xfrm>
            <a:off x="3560674" y="6687007"/>
            <a:ext cx="133501" cy="133502"/>
          </a:xfrm>
          <a:prstGeom prst="rect">
            <a:avLst/>
          </a:prstGeom>
          <a:ln/>
        </p:spPr>
      </p:pic>
      <p:sp>
        <p:nvSpPr>
          <p:cNvPr id="50" name="TextBox 49"/>
          <p:cNvSpPr txBox="1"/>
          <p:nvPr/>
        </p:nvSpPr>
        <p:spPr>
          <a:xfrm>
            <a:off x="3560674" y="6654089"/>
            <a:ext cx="8067751" cy="200254"/>
          </a:xfrm>
          <a:prstGeom prst="rect">
            <a:avLst/>
          </a:prstGeom>
          <a:noFill/>
          <a:ln/>
        </p:spPr>
        <p:txBody>
          <a:bodyPr wrap="square" lIns="0" rIns="0" tIns="0" bIns="0">
            <a:noAutofit/>
          </a:bodyPr>
          <a:lstStyle/>
          <a:p>
            <a:r>
              <a:rPr sz="1000">
                <a:solidFill>
                  <a:srgbClr val="86868B"/>
                </a:solidFill>
                <a:latin typeface="Noto Sans JP"/>
              </a:rPr>
              <a:t>補足：長文コンテキストはKVキャッシュがメモリを支配します。最終判断は再現ベンチマーク（後述の手順）で確定してください。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4620463" cy="457200"/>
          </a:xfrm>
          <a:prstGeom prst="rect">
            <a:avLst/>
          </a:prstGeom>
          <a:noFill/>
          <a:ln/>
        </p:spPr>
        <p:txBody>
          <a:bodyPr wrap="square" lIns="0" rIns="0" tIns="0" bIns="0">
            <a:noAutofit/>
          </a:bodyPr>
          <a:lstStyle/>
          <a:p>
            <a:r>
              <a:rPr sz="2400" b="1">
                <a:solidFill>
                  <a:srgbClr val="1D1D1F"/>
                </a:solidFill>
                <a:latin typeface="Noto Sans JP"/>
              </a:rPr>
              <a:t>エグゼクティブサマリ（詳細1）</a:t>
            </a:r>
          </a:p>
        </p:txBody>
      </p:sp>
      <p:sp>
        <p:nvSpPr>
          <p:cNvPr id="9" name="TextBox 8"/>
          <p:cNvSpPr txBox="1"/>
          <p:nvPr/>
        </p:nvSpPr>
        <p:spPr>
          <a:xfrm>
            <a:off x="9517990" y="328270"/>
            <a:ext cx="2397557" cy="257861"/>
          </a:xfrm>
          <a:prstGeom prst="rect">
            <a:avLst/>
          </a:prstGeom>
          <a:noFill/>
          <a:ln/>
        </p:spPr>
        <p:txBody>
          <a:bodyPr wrap="square" lIns="0" rIns="0" tIns="0" bIns="0">
            <a:noAutofit/>
          </a:bodyPr>
          <a:lstStyle/>
          <a:p>
            <a:r>
              <a:rPr sz="1300">
                <a:solidFill>
                  <a:srgbClr val="86868B"/>
                </a:solidFill>
                <a:latin typeface="Noto Sans JP"/>
              </a:rPr>
              <a:t>ローカルAIの定義と中核技術</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結論：ローカルAIは「推論がユーザー管理下で完結する構成」と定義され、 </a:t>
            </a:r>
          </a:p>
          <a:p>
            <a:r>
              <a:rPr sz="1800" b="1">
                <a:solidFill>
                  <a:srgbClr val="2563EB"/>
                </a:solidFill>
                <a:latin typeface="Noto Sans JP"/>
              </a:rPr>
              <a:t>重み量子化（4bit）</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が実運用の技術的基盤です。 </a:t>
            </a:r>
          </a:p>
        </p:txBody>
      </p:sp>
      <p:sp>
        <p:nvSpPr>
          <p:cNvPr id="12" name="Rectangle 11"/>
          <p:cNvSpPr/>
          <p:nvPr/>
        </p:nvSpPr>
        <p:spPr>
          <a:xfrm>
            <a:off x="457200"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p:spPr>
      </p:pic>
      <p:sp>
        <p:nvSpPr>
          <p:cNvPr id="15" name="TextBox 14"/>
          <p:cNvSpPr txBox="1"/>
          <p:nvPr/>
        </p:nvSpPr>
        <p:spPr>
          <a:xfrm>
            <a:off x="1028700" y="2945282"/>
            <a:ext cx="2171700" cy="419709"/>
          </a:xfrm>
          <a:prstGeom prst="rect">
            <a:avLst/>
          </a:prstGeom>
          <a:noFill/>
          <a:ln/>
        </p:spPr>
        <p:txBody>
          <a:bodyPr wrap="square" lIns="0" rIns="0" tIns="0" bIns="0">
            <a:noAutofit/>
          </a:bodyPr>
          <a:lstStyle/>
          <a:p>
            <a:r>
              <a:rPr sz="1500" b="1">
                <a:solidFill>
                  <a:srgbClr val="1D1D1F"/>
                </a:solidFill>
                <a:latin typeface="Noto Sans JP"/>
              </a:rPr>
              <a:t>ローカルAIの定義と射程</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p:spPr>
      </p:pic>
      <p:sp>
        <p:nvSpPr>
          <p:cNvPr id="17" name="TextBox 16"/>
          <p:cNvSpPr txBox="1"/>
          <p:nvPr/>
        </p:nvSpPr>
        <p:spPr>
          <a:xfrm>
            <a:off x="895197" y="3760013"/>
            <a:ext cx="4886554" cy="495605"/>
          </a:xfrm>
          <a:prstGeom prst="rect">
            <a:avLst/>
          </a:prstGeom>
          <a:noFill/>
          <a:ln/>
        </p:spPr>
        <p:txBody>
          <a:bodyPr wrap="square" lIns="0" rIns="0" tIns="0" bIns="0">
            <a:noAutofit/>
          </a:bodyPr>
          <a:lstStyle/>
          <a:p>
            <a:r>
              <a:rPr sz="1200">
                <a:solidFill>
                  <a:srgbClr val="424245"/>
                </a:solidFill>
                <a:latin typeface="Noto Sans JP"/>
              </a:rPr>
              <a:t>ユーザー端末（オンデバイス）、PC、またはローカルLAN内サーバで完結。</a:t>
            </a:r>
          </a:p>
        </p:txBody>
      </p:sp>
      <p:pic>
        <p:nvPicPr>
          <p:cNvPr id="18" name="Picture 17" descr="image.png"/>
          <p:cNvPicPr>
            <a:picLocks noChangeAspect="1"/>
          </p:cNvPicPr>
          <p:nvPr/>
        </p:nvPicPr>
        <p:blipFill>
          <a:blip r:embed="rId5"/>
          <a:stretch>
            <a:fillRect/>
          </a:stretch>
        </p:blipFill>
        <p:spPr>
          <a:xfrm>
            <a:off x="694944" y="4362602"/>
            <a:ext cx="105156" cy="114300"/>
          </a:xfrm>
          <a:prstGeom prst="rect">
            <a:avLst/>
          </a:prstGeom>
          <a:ln/>
        </p:spPr>
      </p:pic>
      <p:sp>
        <p:nvSpPr>
          <p:cNvPr id="19" name="TextBox 18"/>
          <p:cNvSpPr txBox="1"/>
          <p:nvPr/>
        </p:nvSpPr>
        <p:spPr>
          <a:xfrm>
            <a:off x="895197" y="4605833"/>
            <a:ext cx="4886554" cy="495605"/>
          </a:xfrm>
          <a:prstGeom prst="rect">
            <a:avLst/>
          </a:prstGeom>
          <a:noFill/>
          <a:ln/>
        </p:spPr>
        <p:txBody>
          <a:bodyPr wrap="square" lIns="0" rIns="0" tIns="0" bIns="0">
            <a:noAutofit/>
          </a:bodyPr>
          <a:lstStyle/>
          <a:p>
            <a:r>
              <a:rPr sz="1200">
                <a:solidFill>
                  <a:srgbClr val="424245"/>
                </a:solidFill>
                <a:latin typeface="Noto Sans JP"/>
              </a:rPr>
              <a:t>入力データ（文書・音声・画像）がデフォルトでクラウドへ送出されない構成。</a:t>
            </a:r>
          </a:p>
        </p:txBody>
      </p:sp>
      <p:pic>
        <p:nvPicPr>
          <p:cNvPr id="20" name="Picture 19" descr="image.png"/>
          <p:cNvPicPr>
            <a:picLocks noChangeAspect="1"/>
          </p:cNvPicPr>
          <p:nvPr/>
        </p:nvPicPr>
        <p:blipFill>
          <a:blip r:embed="rId5"/>
          <a:stretch>
            <a:fillRect/>
          </a:stretch>
        </p:blipFill>
        <p:spPr>
          <a:xfrm>
            <a:off x="694944" y="5207508"/>
            <a:ext cx="105156" cy="114300"/>
          </a:xfrm>
          <a:prstGeom prst="rect">
            <a:avLst/>
          </a:prstGeom>
          <a:ln/>
        </p:spPr>
      </p:pic>
      <p:sp>
        <p:nvSpPr>
          <p:cNvPr id="21" name="TextBox 20"/>
          <p:cNvSpPr txBox="1"/>
          <p:nvPr/>
        </p:nvSpPr>
        <p:spPr>
          <a:xfrm>
            <a:off x="895197" y="5451653"/>
            <a:ext cx="4886554" cy="495605"/>
          </a:xfrm>
          <a:prstGeom prst="rect">
            <a:avLst/>
          </a:prstGeom>
          <a:noFill/>
          <a:ln/>
        </p:spPr>
        <p:txBody>
          <a:bodyPr wrap="square" lIns="0" rIns="0" tIns="0" bIns="0">
            <a:noAutofit/>
          </a:bodyPr>
          <a:lstStyle/>
          <a:p>
            <a:r>
              <a:rPr sz="1200">
                <a:solidFill>
                  <a:srgbClr val="424245"/>
                </a:solidFill>
                <a:latin typeface="Noto Sans JP"/>
              </a:rPr>
              <a:t>LM StudioやOllamaの「localhost/network公開」機能を含みます。</a:t>
            </a:r>
          </a:p>
        </p:txBody>
      </p:sp>
      <p:pic>
        <p:nvPicPr>
          <p:cNvPr id="22" name="Picture 21" descr="image.png"/>
          <p:cNvPicPr>
            <a:picLocks noChangeAspect="1"/>
          </p:cNvPicPr>
          <p:nvPr/>
        </p:nvPicPr>
        <p:blipFill>
          <a:blip r:embed="rId6"/>
          <a:stretch>
            <a:fillRect/>
          </a:stretch>
        </p:blipFill>
        <p:spPr>
          <a:xfrm>
            <a:off x="972007" y="5734202"/>
            <a:ext cx="400506" cy="200253"/>
          </a:xfrm>
          <a:prstGeom prst="rect">
            <a:avLst/>
          </a:prstGeom>
          <a:ln/>
        </p:spPr>
      </p:pic>
      <p:sp>
        <p:nvSpPr>
          <p:cNvPr id="23" name="TextBox 22"/>
          <p:cNvSpPr txBox="1"/>
          <p:nvPr/>
        </p:nvSpPr>
        <p:spPr>
          <a:xfrm>
            <a:off x="972007" y="5734202"/>
            <a:ext cx="400506"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[1][2]</a:t>
            </a:r>
          </a:p>
        </p:txBody>
      </p:sp>
      <p:pic>
        <p:nvPicPr>
          <p:cNvPr id="24" name="Picture 23" descr="image.png"/>
          <p:cNvPicPr>
            <a:picLocks noChangeAspect="1"/>
          </p:cNvPicPr>
          <p:nvPr/>
        </p:nvPicPr>
        <p:blipFill>
          <a:blip r:embed="rId7"/>
          <a:stretch>
            <a:fillRect/>
          </a:stretch>
        </p:blipFill>
        <p:spPr>
          <a:xfrm>
            <a:off x="694944" y="6091733"/>
            <a:ext cx="857707" cy="276148"/>
          </a:xfrm>
          <a:prstGeom prst="rect">
            <a:avLst/>
          </a:prstGeom>
          <a:ln/>
        </p:spPr>
      </p:pic>
      <p:sp>
        <p:nvSpPr>
          <p:cNvPr id="25" name="TextBox 24"/>
          <p:cNvSpPr txBox="1"/>
          <p:nvPr/>
        </p:nvSpPr>
        <p:spPr>
          <a:xfrm>
            <a:off x="694944" y="6091733"/>
            <a:ext cx="857707"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Localhost</a:t>
            </a:r>
          </a:p>
        </p:txBody>
      </p:sp>
      <p:pic>
        <p:nvPicPr>
          <p:cNvPr id="26" name="Picture 25" descr="image.png"/>
          <p:cNvPicPr>
            <a:picLocks noChangeAspect="1"/>
          </p:cNvPicPr>
          <p:nvPr/>
        </p:nvPicPr>
        <p:blipFill>
          <a:blip r:embed="rId8"/>
          <a:stretch>
            <a:fillRect/>
          </a:stretch>
        </p:blipFill>
        <p:spPr>
          <a:xfrm>
            <a:off x="1623060" y="6091733"/>
            <a:ext cx="1285646" cy="276148"/>
          </a:xfrm>
          <a:prstGeom prst="rect">
            <a:avLst/>
          </a:prstGeom>
          <a:ln/>
        </p:spPr>
      </p:pic>
      <p:sp>
        <p:nvSpPr>
          <p:cNvPr id="27" name="TextBox 26"/>
          <p:cNvSpPr txBox="1"/>
          <p:nvPr/>
        </p:nvSpPr>
        <p:spPr>
          <a:xfrm>
            <a:off x="1623060" y="6091733"/>
            <a:ext cx="1286561"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On-Premise LAN</a:t>
            </a:r>
          </a:p>
        </p:txBody>
      </p:sp>
      <p:pic>
        <p:nvPicPr>
          <p:cNvPr id="28" name="Picture 27" descr="image.png"/>
          <p:cNvPicPr>
            <a:picLocks noChangeAspect="1"/>
          </p:cNvPicPr>
          <p:nvPr/>
        </p:nvPicPr>
        <p:blipFill>
          <a:blip r:embed="rId9"/>
          <a:stretch>
            <a:fillRect/>
          </a:stretch>
        </p:blipFill>
        <p:spPr>
          <a:xfrm>
            <a:off x="2977286" y="6091733"/>
            <a:ext cx="1028700" cy="276148"/>
          </a:xfrm>
          <a:prstGeom prst="rect">
            <a:avLst/>
          </a:prstGeom>
          <a:ln/>
        </p:spPr>
      </p:pic>
      <p:sp>
        <p:nvSpPr>
          <p:cNvPr id="29" name="TextBox 28"/>
          <p:cNvSpPr txBox="1"/>
          <p:nvPr/>
        </p:nvSpPr>
        <p:spPr>
          <a:xfrm>
            <a:off x="2977286" y="6091733"/>
            <a:ext cx="1028700"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Privacy First</a:t>
            </a:r>
          </a:p>
        </p:txBody>
      </p:sp>
      <p:sp>
        <p:nvSpPr>
          <p:cNvPr id="30" name="Rectangle 29"/>
          <p:cNvSpPr/>
          <p:nvPr/>
        </p:nvSpPr>
        <p:spPr>
          <a:xfrm>
            <a:off x="6248095" y="2706624"/>
            <a:ext cx="5486400" cy="398129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86754" y="2992831"/>
            <a:ext cx="190195" cy="190194"/>
          </a:xfrm>
          <a:prstGeom prst="rect">
            <a:avLst/>
          </a:prstGeom>
          <a:ln/>
        </p:spPr>
      </p:pic>
      <p:sp>
        <p:nvSpPr>
          <p:cNvPr id="33" name="TextBox 32"/>
          <p:cNvSpPr txBox="1"/>
          <p:nvPr/>
        </p:nvSpPr>
        <p:spPr>
          <a:xfrm>
            <a:off x="6791249" y="2945282"/>
            <a:ext cx="3324758" cy="419709"/>
          </a:xfrm>
          <a:prstGeom prst="rect">
            <a:avLst/>
          </a:prstGeom>
          <a:noFill/>
          <a:ln/>
        </p:spPr>
        <p:txBody>
          <a:bodyPr wrap="square" lIns="0" rIns="0" tIns="0" bIns="0">
            <a:noAutofit/>
          </a:bodyPr>
          <a:lstStyle/>
          <a:p>
            <a:r>
              <a:rPr sz="1500" b="1">
                <a:solidFill>
                  <a:srgbClr val="1D1D1F"/>
                </a:solidFill>
                <a:latin typeface="Noto Sans JP"/>
              </a:rPr>
              <a:t>中核技術（Enabling Technologies）</a:t>
            </a:r>
          </a:p>
        </p:txBody>
      </p:sp>
      <p:pic>
        <p:nvPicPr>
          <p:cNvPr id="34" name="Picture 33" descr="image.png"/>
          <p:cNvPicPr>
            <a:picLocks noChangeAspect="1"/>
          </p:cNvPicPr>
          <p:nvPr/>
        </p:nvPicPr>
        <p:blipFill>
          <a:blip r:embed="rId11"/>
          <a:stretch>
            <a:fillRect/>
          </a:stretch>
        </p:blipFill>
        <p:spPr>
          <a:xfrm>
            <a:off x="6486754" y="3516782"/>
            <a:ext cx="114300" cy="114300"/>
          </a:xfrm>
          <a:prstGeom prst="rect">
            <a:avLst/>
          </a:prstGeom>
          <a:ln/>
        </p:spPr>
      </p:pic>
      <p:sp>
        <p:nvSpPr>
          <p:cNvPr id="35" name="TextBox 34"/>
          <p:cNvSpPr txBox="1"/>
          <p:nvPr/>
        </p:nvSpPr>
        <p:spPr>
          <a:xfrm>
            <a:off x="6696151" y="3760013"/>
            <a:ext cx="4877410" cy="495605"/>
          </a:xfrm>
          <a:prstGeom prst="rect">
            <a:avLst/>
          </a:prstGeom>
          <a:noFill/>
          <a:ln/>
        </p:spPr>
        <p:txBody>
          <a:bodyPr wrap="square" lIns="0" rIns="0" tIns="0" bIns="0">
            <a:noAutofit/>
          </a:bodyPr>
          <a:lstStyle/>
          <a:p>
            <a:r>
              <a:rPr sz="1200">
                <a:solidFill>
                  <a:srgbClr val="424245"/>
                </a:solidFill>
                <a:latin typeface="Noto Sans JP"/>
              </a:rPr>
              <a:t>4bit前後のweight-only量子化（AWQ/GGUF等）が主流。メモリ消費を劇的に削減し、コンシューマ機での実行を可能に。</a:t>
            </a:r>
          </a:p>
        </p:txBody>
      </p:sp>
      <p:pic>
        <p:nvPicPr>
          <p:cNvPr id="36" name="Picture 35" descr="image.png"/>
          <p:cNvPicPr>
            <a:picLocks noChangeAspect="1"/>
          </p:cNvPicPr>
          <p:nvPr/>
        </p:nvPicPr>
        <p:blipFill>
          <a:blip r:embed="rId12"/>
          <a:stretch>
            <a:fillRect/>
          </a:stretch>
        </p:blipFill>
        <p:spPr>
          <a:xfrm>
            <a:off x="10429646" y="4042562"/>
            <a:ext cx="256945" cy="200253"/>
          </a:xfrm>
          <a:prstGeom prst="rect">
            <a:avLst/>
          </a:prstGeom>
          <a:ln/>
        </p:spPr>
      </p:pic>
      <p:sp>
        <p:nvSpPr>
          <p:cNvPr id="37" name="TextBox 36"/>
          <p:cNvSpPr txBox="1"/>
          <p:nvPr/>
        </p:nvSpPr>
        <p:spPr>
          <a:xfrm>
            <a:off x="10429646" y="4042562"/>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[4]</a:t>
            </a:r>
          </a:p>
        </p:txBody>
      </p:sp>
      <p:pic>
        <p:nvPicPr>
          <p:cNvPr id="38" name="Picture 37" descr="image.png"/>
          <p:cNvPicPr>
            <a:picLocks noChangeAspect="1"/>
          </p:cNvPicPr>
          <p:nvPr/>
        </p:nvPicPr>
        <p:blipFill>
          <a:blip r:embed="rId13"/>
          <a:stretch>
            <a:fillRect/>
          </a:stretch>
        </p:blipFill>
        <p:spPr>
          <a:xfrm>
            <a:off x="6486754" y="4362602"/>
            <a:ext cx="133501" cy="114300"/>
          </a:xfrm>
          <a:prstGeom prst="rect">
            <a:avLst/>
          </a:prstGeom>
          <a:ln/>
        </p:spPr>
      </p:pic>
      <p:sp>
        <p:nvSpPr>
          <p:cNvPr id="39" name="TextBox 38"/>
          <p:cNvSpPr txBox="1"/>
          <p:nvPr/>
        </p:nvSpPr>
        <p:spPr>
          <a:xfrm>
            <a:off x="6715354" y="4605833"/>
            <a:ext cx="3781958" cy="247801"/>
          </a:xfrm>
          <a:prstGeom prst="rect">
            <a:avLst/>
          </a:prstGeom>
          <a:noFill/>
          <a:ln/>
        </p:spPr>
        <p:txBody>
          <a:bodyPr wrap="square" lIns="0" rIns="0" tIns="0" bIns="0">
            <a:noAutofit/>
          </a:bodyPr>
          <a:lstStyle/>
          <a:p>
            <a:r>
              <a:rPr sz="1200">
                <a:solidFill>
                  <a:srgbClr val="424245"/>
                </a:solidFill>
                <a:latin typeface="Noto Sans JP"/>
              </a:rPr>
              <a:t>長文・多同時接続のメモリ管理が鍵。</a:t>
            </a:r>
          </a:p>
        </p:txBody>
      </p:sp>
      <p:sp>
        <p:nvSpPr>
          <p:cNvPr id="40" name="TextBox 39"/>
          <p:cNvSpPr txBox="1"/>
          <p:nvPr/>
        </p:nvSpPr>
        <p:spPr>
          <a:xfrm>
            <a:off x="6943954" y="4887468"/>
            <a:ext cx="3477463" cy="219456"/>
          </a:xfrm>
          <a:prstGeom prst="rect">
            <a:avLst/>
          </a:prstGeom>
          <a:noFill/>
          <a:ln/>
        </p:spPr>
        <p:txBody>
          <a:bodyPr wrap="square" lIns="0" rIns="0" tIns="0" bIns="0">
            <a:noAutofit/>
          </a:bodyPr>
          <a:lstStyle/>
          <a:p>
            <a:r>
              <a:rPr sz="1000" b="1">
                <a:solidFill>
                  <a:srgbClr val="4B5563"/>
                </a:solidFill>
                <a:latin typeface="Noto Sans JP"/>
              </a:rPr>
              <a:t>Paged KV Cache:</a:t>
            </a:r>
            <a:r>
              <a:rPr sz="1000">
                <a:solidFill>
                  <a:srgbClr val="4B5563"/>
                </a:solidFill>
                <a:latin typeface="Noto Sans JP"/>
              </a:rPr>
              <a:t> メモリ断片化を防ぐ（vLLM等）</a:t>
            </a:r>
          </a:p>
        </p:txBody>
      </p:sp>
      <p:pic>
        <p:nvPicPr>
          <p:cNvPr id="41" name="Picture 40" descr="image.png"/>
          <p:cNvPicPr>
            <a:picLocks noChangeAspect="1"/>
          </p:cNvPicPr>
          <p:nvPr/>
        </p:nvPicPr>
        <p:blipFill>
          <a:blip r:embed="rId12"/>
          <a:stretch>
            <a:fillRect/>
          </a:stretch>
        </p:blipFill>
        <p:spPr>
          <a:xfrm>
            <a:off x="10048342" y="4899355"/>
            <a:ext cx="256945" cy="200253"/>
          </a:xfrm>
          <a:prstGeom prst="rect">
            <a:avLst/>
          </a:prstGeom>
          <a:ln/>
        </p:spPr>
      </p:pic>
      <p:sp>
        <p:nvSpPr>
          <p:cNvPr id="42" name="TextBox 41"/>
          <p:cNvSpPr txBox="1"/>
          <p:nvPr/>
        </p:nvSpPr>
        <p:spPr>
          <a:xfrm>
            <a:off x="10048342" y="4899355"/>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a:t>
            </a:r>
          </a:p>
        </p:txBody>
      </p:sp>
      <p:sp>
        <p:nvSpPr>
          <p:cNvPr id="43" name="TextBox 42"/>
          <p:cNvSpPr txBox="1"/>
          <p:nvPr/>
        </p:nvSpPr>
        <p:spPr>
          <a:xfrm>
            <a:off x="6943954" y="5099609"/>
            <a:ext cx="3477463" cy="219455"/>
          </a:xfrm>
          <a:prstGeom prst="rect">
            <a:avLst/>
          </a:prstGeom>
          <a:noFill/>
          <a:ln/>
        </p:spPr>
        <p:txBody>
          <a:bodyPr wrap="square" lIns="0" rIns="0" tIns="0" bIns="0">
            <a:noAutofit/>
          </a:bodyPr>
          <a:lstStyle/>
          <a:p>
            <a:r>
              <a:rPr sz="1000" b="1">
                <a:solidFill>
                  <a:srgbClr val="4B5563"/>
                </a:solidFill>
                <a:latin typeface="Noto Sans JP"/>
              </a:rPr>
              <a:t>Quantized KV:</a:t>
            </a:r>
            <a:r>
              <a:rPr sz="1000">
                <a:solidFill>
                  <a:srgbClr val="4B5563"/>
                </a:solidFill>
                <a:latin typeface="Noto Sans JP"/>
              </a:rPr>
              <a:t> KVをFP8/INT4化して容量削減</a:t>
            </a:r>
          </a:p>
        </p:txBody>
      </p:sp>
      <p:pic>
        <p:nvPicPr>
          <p:cNvPr id="44" name="Picture 43" descr="image.png"/>
          <p:cNvPicPr>
            <a:picLocks noChangeAspect="1"/>
          </p:cNvPicPr>
          <p:nvPr/>
        </p:nvPicPr>
        <p:blipFill>
          <a:blip r:embed="rId12"/>
          <a:stretch>
            <a:fillRect/>
          </a:stretch>
        </p:blipFill>
        <p:spPr>
          <a:xfrm>
            <a:off x="9769450" y="5110582"/>
            <a:ext cx="256945" cy="200253"/>
          </a:xfrm>
          <a:prstGeom prst="rect">
            <a:avLst/>
          </a:prstGeom>
          <a:ln/>
        </p:spPr>
      </p:pic>
      <p:sp>
        <p:nvSpPr>
          <p:cNvPr id="45" name="TextBox 44"/>
          <p:cNvSpPr txBox="1"/>
          <p:nvPr/>
        </p:nvSpPr>
        <p:spPr>
          <a:xfrm>
            <a:off x="9769450" y="5110582"/>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a:t>
            </a:r>
          </a:p>
        </p:txBody>
      </p:sp>
      <p:sp>
        <p:nvSpPr>
          <p:cNvPr id="46" name="TextBox 45"/>
          <p:cNvSpPr txBox="1"/>
          <p:nvPr/>
        </p:nvSpPr>
        <p:spPr>
          <a:xfrm>
            <a:off x="6943954" y="5310835"/>
            <a:ext cx="3477463" cy="219456"/>
          </a:xfrm>
          <a:prstGeom prst="rect">
            <a:avLst/>
          </a:prstGeom>
          <a:noFill/>
          <a:ln/>
        </p:spPr>
        <p:txBody>
          <a:bodyPr wrap="square" lIns="0" rIns="0" tIns="0" bIns="0">
            <a:noAutofit/>
          </a:bodyPr>
          <a:lstStyle/>
          <a:p>
            <a:r>
              <a:rPr sz="1000" b="1">
                <a:solidFill>
                  <a:srgbClr val="4B5563"/>
                </a:solidFill>
                <a:latin typeface="Noto Sans JP"/>
              </a:rPr>
              <a:t>KV Reuse / Prompt Cache:</a:t>
            </a:r>
            <a:r>
              <a:rPr sz="1000">
                <a:solidFill>
                  <a:srgbClr val="4B5563"/>
                </a:solidFill>
                <a:latin typeface="Noto Sans JP"/>
              </a:rPr>
              <a:t> 計算再利用で高速化</a:t>
            </a:r>
          </a:p>
        </p:txBody>
      </p:sp>
      <p:pic>
        <p:nvPicPr>
          <p:cNvPr id="47" name="Picture 46" descr="image.png"/>
          <p:cNvPicPr>
            <a:picLocks noChangeAspect="1"/>
          </p:cNvPicPr>
          <p:nvPr/>
        </p:nvPicPr>
        <p:blipFill>
          <a:blip r:embed="rId12"/>
          <a:stretch>
            <a:fillRect/>
          </a:stretch>
        </p:blipFill>
        <p:spPr>
          <a:xfrm>
            <a:off x="9925812" y="5321808"/>
            <a:ext cx="256945" cy="200253"/>
          </a:xfrm>
          <a:prstGeom prst="rect">
            <a:avLst/>
          </a:prstGeom>
          <a:ln/>
        </p:spPr>
      </p:pic>
      <p:sp>
        <p:nvSpPr>
          <p:cNvPr id="48" name="TextBox 47"/>
          <p:cNvSpPr txBox="1"/>
          <p:nvPr/>
        </p:nvSpPr>
        <p:spPr>
          <a:xfrm>
            <a:off x="9925812" y="5321808"/>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a:t>
            </a:r>
          </a:p>
        </p:txBody>
      </p:sp>
      <p:sp>
        <p:nvSpPr>
          <p:cNvPr id="49" name="Rectangle 48"/>
          <p:cNvSpPr/>
          <p:nvPr/>
        </p:nvSpPr>
        <p:spPr>
          <a:xfrm>
            <a:off x="457200" y="698693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4"/>
          <a:stretch>
            <a:fillRect/>
          </a:stretch>
        </p:blipFill>
        <p:spPr>
          <a:xfrm>
            <a:off x="619049" y="7167982"/>
            <a:ext cx="171907" cy="171907"/>
          </a:xfrm>
          <a:prstGeom prst="rect">
            <a:avLst/>
          </a:prstGeom>
          <a:ln/>
        </p:spPr>
      </p:pic>
      <p:sp>
        <p:nvSpPr>
          <p:cNvPr id="51" name="TextBox 50"/>
          <p:cNvSpPr txBox="1"/>
          <p:nvPr/>
        </p:nvSpPr>
        <p:spPr>
          <a:xfrm>
            <a:off x="905256" y="7148778"/>
            <a:ext cx="10782605" cy="200254"/>
          </a:xfrm>
          <a:prstGeom prst="rect">
            <a:avLst/>
          </a:prstGeom>
          <a:noFill/>
          <a:ln/>
        </p:spPr>
        <p:txBody>
          <a:bodyPr wrap="square" lIns="0" rIns="0" tIns="0" bIns="0">
            <a:noAutofit/>
          </a:bodyPr>
          <a:lstStyle/>
          <a:p>
            <a:r>
              <a:rPr sz="1000" b="1">
                <a:solidFill>
                  <a:srgbClr val="78350F"/>
                </a:solidFill>
                <a:latin typeface="Noto Sans JP"/>
              </a:rPr>
              <a:t>設計含意（Design Implication）</a:t>
            </a:r>
          </a:p>
        </p:txBody>
      </p:sp>
      <p:sp>
        <p:nvSpPr>
          <p:cNvPr id="52" name="TextBox 51"/>
          <p:cNvSpPr txBox="1"/>
          <p:nvPr/>
        </p:nvSpPr>
        <p:spPr>
          <a:xfrm>
            <a:off x="905256" y="7386523"/>
            <a:ext cx="10744200" cy="400507"/>
          </a:xfrm>
          <a:prstGeom prst="rect">
            <a:avLst/>
          </a:prstGeom>
          <a:noFill/>
          <a:ln/>
        </p:spPr>
        <p:txBody>
          <a:bodyPr wrap="square" lIns="0" rIns="0" tIns="0" bIns="0">
            <a:noAutofit/>
          </a:bodyPr>
          <a:lstStyle/>
          <a:p>
            <a:r>
              <a:rPr sz="1000">
                <a:solidFill>
                  <a:srgbClr val="78350F"/>
                </a:solidFill>
                <a:latin typeface="Noto Sans JP"/>
              </a:rPr>
              <a:t>業務用途（JSON出力やツール呼び出し）では、モデルの「指示追従能力」に加え、ランタイム側の「拘束付きデコード（Grammar/JSON schema enforcement）」が重要になります。単なるチャット以上の信頼性が求められるためです。</a:t>
            </a:r>
          </a:p>
        </p:txBody>
      </p:sp>
      <p:sp>
        <p:nvSpPr>
          <p:cNvPr id="53" name="Rectangle 52"/>
          <p:cNvSpPr/>
          <p:nvPr/>
        </p:nvSpPr>
        <p:spPr>
          <a:xfrm>
            <a:off x="0" y="8330183"/>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33018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33932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6" name="TextBox 55"/>
          <p:cNvSpPr txBox="1"/>
          <p:nvPr/>
        </p:nvSpPr>
        <p:spPr>
          <a:xfrm>
            <a:off x="11448288" y="8339328"/>
            <a:ext cx="372160" cy="171907"/>
          </a:xfrm>
          <a:prstGeom prst="rect">
            <a:avLst/>
          </a:prstGeom>
          <a:noFill/>
          <a:ln/>
        </p:spPr>
        <p:txBody>
          <a:bodyPr wrap="square" lIns="0" rIns="0" tIns="0" bIns="0">
            <a:noAutofit/>
          </a:bodyPr>
          <a:lstStyle/>
          <a:p>
            <a:r>
              <a:rPr sz="900">
                <a:solidFill>
                  <a:srgbClr val="86868B"/>
                </a:solidFill>
                <a:latin typeface="Noto Sans JP"/>
              </a:rPr>
              <a:t>5 /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p:spPr>
      </p:pic>
      <p:sp>
        <p:nvSpPr>
          <p:cNvPr id="8" name="TextBox 7"/>
          <p:cNvSpPr txBox="1"/>
          <p:nvPr/>
        </p:nvSpPr>
        <p:spPr>
          <a:xfrm>
            <a:off x="895197" y="190195"/>
            <a:ext cx="4343400" cy="428853"/>
          </a:xfrm>
          <a:prstGeom prst="rect">
            <a:avLst/>
          </a:prstGeom>
          <a:noFill/>
          <a:ln/>
        </p:spPr>
        <p:txBody>
          <a:bodyPr wrap="square" lIns="0" rIns="0" tIns="0" bIns="0">
            <a:noAutofit/>
          </a:bodyPr>
          <a:lstStyle/>
          <a:p>
            <a:r>
              <a:rPr sz="2200" b="1">
                <a:solidFill>
                  <a:srgbClr val="1D1D1F"/>
                </a:solidFill>
                <a:latin typeface="Noto Sans JP"/>
              </a:rPr>
              <a:t>エグゼクティブサマリ（詳細2）</a:t>
            </a:r>
          </a:p>
        </p:txBody>
      </p:sp>
      <p:sp>
        <p:nvSpPr>
          <p:cNvPr id="9" name="TextBox 8"/>
          <p:cNvSpPr txBox="1"/>
          <p:nvPr/>
        </p:nvSpPr>
        <p:spPr>
          <a:xfrm>
            <a:off x="8689543" y="290779"/>
            <a:ext cx="3238805" cy="228599"/>
          </a:xfrm>
          <a:prstGeom prst="rect">
            <a:avLst/>
          </a:prstGeom>
          <a:noFill/>
          <a:ln/>
        </p:spPr>
        <p:txBody>
          <a:bodyPr wrap="square" lIns="0" rIns="0" tIns="0" bIns="0">
            <a:noAutofit/>
          </a:bodyPr>
          <a:lstStyle/>
          <a:p>
            <a:r>
              <a:rPr sz="1200">
                <a:solidFill>
                  <a:srgbClr val="86868B"/>
                </a:solidFill>
                <a:latin typeface="Noto Sans JP"/>
              </a:rPr>
              <a:t>実運用ランタイムとハードウェア実用ライン</a:t>
            </a:r>
          </a:p>
        </p:txBody>
      </p:sp>
      <p:pic>
        <p:nvPicPr>
          <p:cNvPr id="10" name="Picture 9" descr="image.png"/>
          <p:cNvPicPr>
            <a:picLocks noChangeAspect="1"/>
          </p:cNvPicPr>
          <p:nvPr/>
        </p:nvPicPr>
        <p:blipFill>
          <a:blip r:embed="rId3"/>
          <a:stretch>
            <a:fillRect/>
          </a:stretch>
        </p:blipFill>
        <p:spPr>
          <a:xfrm>
            <a:off x="457200" y="1123798"/>
            <a:ext cx="11277295" cy="967435"/>
          </a:xfrm>
          <a:prstGeom prst="rect">
            <a:avLst/>
          </a:prstGeom>
          <a:ln/>
        </p:spPr>
      </p:pic>
      <p:sp>
        <p:nvSpPr>
          <p:cNvPr id="11" name="TextBox 10"/>
          <p:cNvSpPr txBox="1"/>
          <p:nvPr/>
        </p:nvSpPr>
        <p:spPr>
          <a:xfrm>
            <a:off x="705002" y="1314907"/>
            <a:ext cx="10918850" cy="590701"/>
          </a:xfrm>
          <a:prstGeom prst="rect">
            <a:avLst/>
          </a:prstGeom>
          <a:noFill/>
          <a:ln/>
        </p:spPr>
        <p:txBody>
          <a:bodyPr wrap="square" lIns="0" rIns="0" tIns="0" bIns="0">
            <a:noAutofit/>
          </a:bodyPr>
          <a:lstStyle/>
          <a:p>
            <a:r>
              <a:rPr sz="1600" b="1">
                <a:solidFill>
                  <a:srgbClr val="1D1D1F"/>
                </a:solidFill>
                <a:latin typeface="Noto Sans JP"/>
              </a:rPr>
              <a:t> 結論：ランタイムは</a:t>
            </a:r>
            <a:r>
              <a:rPr sz="1600" b="1">
                <a:solidFill>
                  <a:srgbClr val="2563EB"/>
                </a:solidFill>
                <a:latin typeface="Noto Sans JP"/>
              </a:rPr>
              <a:t>llama.cpp/GGUF系・MLX</a:t>
            </a:r>
            <a:r>
              <a:rPr sz="1600" b="1">
                <a:solidFill>
                  <a:srgbClr val="1D1D1F"/>
                </a:solidFill>
                <a:latin typeface="Noto Sans JP"/>
              </a:rPr>
              <a:t>が第一選択となり、ハードウェアはメモリ容量でTier化されます（長文はKV支配）。 </a:t>
            </a:r>
          </a:p>
        </p:txBody>
      </p:sp>
      <p:sp>
        <p:nvSpPr>
          <p:cNvPr id="12" name="Rectangle 11"/>
          <p:cNvSpPr/>
          <p:nvPr/>
        </p:nvSpPr>
        <p:spPr>
          <a:xfrm>
            <a:off x="457200"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63063"/>
            <a:ext cx="190194" cy="171906"/>
          </a:xfrm>
          <a:prstGeom prst="rect">
            <a:avLst/>
          </a:prstGeom>
          <a:ln/>
        </p:spPr>
      </p:pic>
      <p:sp>
        <p:nvSpPr>
          <p:cNvPr id="15" name="TextBox 14"/>
          <p:cNvSpPr txBox="1"/>
          <p:nvPr/>
        </p:nvSpPr>
        <p:spPr>
          <a:xfrm>
            <a:off x="942746" y="2520086"/>
            <a:ext cx="2477110" cy="352957"/>
          </a:xfrm>
          <a:prstGeom prst="rect">
            <a:avLst/>
          </a:prstGeom>
          <a:noFill/>
          <a:ln/>
        </p:spPr>
        <p:txBody>
          <a:bodyPr wrap="square" lIns="0" rIns="0" tIns="0" bIns="0">
            <a:noAutofit/>
          </a:bodyPr>
          <a:lstStyle/>
          <a:p>
            <a:r>
              <a:rPr sz="1300" b="1">
                <a:solidFill>
                  <a:srgbClr val="1D1D1F"/>
                </a:solidFill>
                <a:latin typeface="Noto Sans JP"/>
              </a:rPr>
              <a:t>実運用ランタイム（第一選択）</a:t>
            </a:r>
          </a:p>
        </p:txBody>
      </p:sp>
      <p:pic>
        <p:nvPicPr>
          <p:cNvPr id="16" name="Picture 15" descr="image.png"/>
          <p:cNvPicPr>
            <a:picLocks noChangeAspect="1"/>
          </p:cNvPicPr>
          <p:nvPr/>
        </p:nvPicPr>
        <p:blipFill>
          <a:blip r:embed="rId5"/>
          <a:stretch>
            <a:fillRect/>
          </a:stretch>
        </p:blipFill>
        <p:spPr>
          <a:xfrm>
            <a:off x="657454" y="2987345"/>
            <a:ext cx="133501" cy="114300"/>
          </a:xfrm>
          <a:prstGeom prst="rect">
            <a:avLst/>
          </a:prstGeom>
          <a:ln/>
        </p:spPr>
      </p:pic>
      <p:sp>
        <p:nvSpPr>
          <p:cNvPr id="17" name="TextBox 16"/>
          <p:cNvSpPr txBox="1"/>
          <p:nvPr/>
        </p:nvSpPr>
        <p:spPr>
          <a:xfrm>
            <a:off x="1570025" y="2987345"/>
            <a:ext cx="3326586" cy="219456"/>
          </a:xfrm>
          <a:prstGeom prst="rect">
            <a:avLst/>
          </a:prstGeom>
          <a:noFill/>
          <a:ln/>
        </p:spPr>
        <p:txBody>
          <a:bodyPr wrap="square" lIns="0" rIns="0" tIns="0" bIns="0">
            <a:noAutofit/>
          </a:bodyPr>
          <a:lstStyle/>
          <a:p>
            <a:r>
              <a:rPr sz="1100" b="1">
                <a:solidFill>
                  <a:srgbClr val="424245"/>
                </a:solidFill>
                <a:latin typeface="Noto Sans JP"/>
              </a:rPr>
              <a:t>クロスプラットフォーム標準：</a:t>
            </a:r>
          </a:p>
        </p:txBody>
      </p:sp>
      <p:pic>
        <p:nvPicPr>
          <p:cNvPr id="18" name="Picture 17" descr="image.png"/>
          <p:cNvPicPr>
            <a:picLocks noChangeAspect="1"/>
          </p:cNvPicPr>
          <p:nvPr/>
        </p:nvPicPr>
        <p:blipFill>
          <a:blip r:embed="rId6"/>
          <a:stretch>
            <a:fillRect/>
          </a:stretch>
        </p:blipFill>
        <p:spPr>
          <a:xfrm>
            <a:off x="866850" y="2996489"/>
            <a:ext cx="666598" cy="200254"/>
          </a:xfrm>
          <a:prstGeom prst="rect">
            <a:avLst/>
          </a:prstGeom>
          <a:ln/>
        </p:spPr>
      </p:pic>
      <p:sp>
        <p:nvSpPr>
          <p:cNvPr id="19" name="TextBox 18"/>
          <p:cNvSpPr txBox="1"/>
          <p:nvPr/>
        </p:nvSpPr>
        <p:spPr>
          <a:xfrm>
            <a:off x="866850" y="2996489"/>
            <a:ext cx="667512" cy="200254"/>
          </a:xfrm>
          <a:prstGeom prst="rect">
            <a:avLst/>
          </a:prstGeom>
          <a:noFill/>
          <a:ln>
            <a:solidFill>
              <a:srgbClr val="FFFFFF"/>
            </a:solidFill>
          </a:ln>
        </p:spPr>
        <p:txBody>
          <a:bodyPr wrap="square" lIns="0" rIns="0" tIns="0" bIns="0">
            <a:noAutofit/>
          </a:bodyPr>
          <a:lstStyle/>
          <a:p>
            <a:r>
              <a:rPr sz="900" b="1">
                <a:solidFill>
                  <a:srgbClr val="7B1FA2"/>
                </a:solidFill>
                <a:latin typeface="Noto Sans JP"/>
              </a:rPr>
              <a:t>llama.cpp</a:t>
            </a:r>
          </a:p>
        </p:txBody>
      </p:sp>
      <p:sp>
        <p:nvSpPr>
          <p:cNvPr id="20" name="TextBox 19"/>
          <p:cNvSpPr txBox="1"/>
          <p:nvPr/>
        </p:nvSpPr>
        <p:spPr>
          <a:xfrm>
            <a:off x="1095451" y="3239719"/>
            <a:ext cx="3801160" cy="200253"/>
          </a:xfrm>
          <a:prstGeom prst="rect">
            <a:avLst/>
          </a:prstGeom>
          <a:noFill/>
          <a:ln/>
        </p:spPr>
        <p:txBody>
          <a:bodyPr wrap="square" lIns="0" rIns="0" tIns="0" bIns="0">
            <a:noAutofit/>
          </a:bodyPr>
          <a:lstStyle/>
          <a:p>
            <a:r>
              <a:rPr sz="1000">
                <a:solidFill>
                  <a:srgbClr val="6E6E73"/>
                </a:solidFill>
                <a:latin typeface="Noto Sans JP"/>
              </a:rPr>
              <a:t>GGUF形式必須。最小セットアップでCPU/GPU推論が可能。</a:t>
            </a:r>
          </a:p>
        </p:txBody>
      </p:sp>
      <p:sp>
        <p:nvSpPr>
          <p:cNvPr id="21" name="TextBox 20"/>
          <p:cNvSpPr txBox="1"/>
          <p:nvPr/>
        </p:nvSpPr>
        <p:spPr>
          <a:xfrm>
            <a:off x="1095451" y="3477463"/>
            <a:ext cx="3801160" cy="200253"/>
          </a:xfrm>
          <a:prstGeom prst="rect">
            <a:avLst/>
          </a:prstGeom>
          <a:noFill/>
          <a:ln/>
        </p:spPr>
        <p:txBody>
          <a:bodyPr wrap="square" lIns="0" rIns="0" tIns="0" bIns="0">
            <a:noAutofit/>
          </a:bodyPr>
          <a:lstStyle/>
          <a:p>
            <a:r>
              <a:rPr sz="1000">
                <a:solidFill>
                  <a:srgbClr val="6E6E73"/>
                </a:solidFill>
                <a:latin typeface="Noto Sans JP"/>
              </a:rPr>
              <a:t>軽量・汎用で多くのフロントエンドの基盤。</a:t>
            </a:r>
            <a:r>
              <a:rPr sz="900">
                <a:solidFill>
                  <a:srgbClr val="6B7280"/>
                </a:solidFill>
                <a:latin typeface="Noto Sans JP"/>
              </a:rPr>
              <a:t>[8]</a:t>
            </a:r>
          </a:p>
        </p:txBody>
      </p:sp>
      <p:pic>
        <p:nvPicPr>
          <p:cNvPr id="22" name="Picture 21" descr="image.png"/>
          <p:cNvPicPr>
            <a:picLocks noChangeAspect="1"/>
          </p:cNvPicPr>
          <p:nvPr/>
        </p:nvPicPr>
        <p:blipFill>
          <a:blip r:embed="rId7"/>
          <a:stretch>
            <a:fillRect/>
          </a:stretch>
        </p:blipFill>
        <p:spPr>
          <a:xfrm>
            <a:off x="657454" y="3772814"/>
            <a:ext cx="114300" cy="114300"/>
          </a:xfrm>
          <a:prstGeom prst="rect">
            <a:avLst/>
          </a:prstGeom>
          <a:ln/>
        </p:spPr>
      </p:pic>
      <p:sp>
        <p:nvSpPr>
          <p:cNvPr id="23" name="TextBox 22"/>
          <p:cNvSpPr txBox="1"/>
          <p:nvPr/>
        </p:nvSpPr>
        <p:spPr>
          <a:xfrm>
            <a:off x="2045513" y="3772814"/>
            <a:ext cx="2126894" cy="219455"/>
          </a:xfrm>
          <a:prstGeom prst="rect">
            <a:avLst/>
          </a:prstGeom>
          <a:noFill/>
          <a:ln/>
        </p:spPr>
        <p:txBody>
          <a:bodyPr wrap="square" lIns="0" rIns="0" tIns="0" bIns="0">
            <a:noAutofit/>
          </a:bodyPr>
          <a:lstStyle/>
          <a:p>
            <a:r>
              <a:rPr sz="1100" b="1">
                <a:solidFill>
                  <a:srgbClr val="424245"/>
                </a:solidFill>
                <a:latin typeface="Noto Sans JP"/>
              </a:rPr>
              <a:t>UI＋ローカルAPI：</a:t>
            </a:r>
          </a:p>
        </p:txBody>
      </p:sp>
      <p:pic>
        <p:nvPicPr>
          <p:cNvPr id="24" name="Picture 23" descr="image.png"/>
          <p:cNvPicPr>
            <a:picLocks noChangeAspect="1"/>
          </p:cNvPicPr>
          <p:nvPr/>
        </p:nvPicPr>
        <p:blipFill>
          <a:blip r:embed="rId8"/>
          <a:stretch>
            <a:fillRect/>
          </a:stretch>
        </p:blipFill>
        <p:spPr>
          <a:xfrm>
            <a:off x="847649" y="3781958"/>
            <a:ext cx="1162202" cy="200253"/>
          </a:xfrm>
          <a:prstGeom prst="rect">
            <a:avLst/>
          </a:prstGeom>
          <a:ln/>
        </p:spPr>
      </p:pic>
      <p:sp>
        <p:nvSpPr>
          <p:cNvPr id="25" name="TextBox 24"/>
          <p:cNvSpPr txBox="1"/>
          <p:nvPr/>
        </p:nvSpPr>
        <p:spPr>
          <a:xfrm>
            <a:off x="847649" y="3781958"/>
            <a:ext cx="1162202" cy="200253"/>
          </a:xfrm>
          <a:prstGeom prst="rect">
            <a:avLst/>
          </a:prstGeom>
          <a:noFill/>
          <a:ln>
            <a:solidFill>
              <a:srgbClr val="FFFFFF"/>
            </a:solidFill>
          </a:ln>
        </p:spPr>
        <p:txBody>
          <a:bodyPr wrap="square" lIns="0" rIns="0" tIns="0" bIns="0">
            <a:noAutofit/>
          </a:bodyPr>
          <a:lstStyle/>
          <a:p>
            <a:r>
              <a:rPr sz="900" b="1">
                <a:solidFill>
                  <a:srgbClr val="7B1FA2"/>
                </a:solidFill>
                <a:latin typeface="Noto Sans JP"/>
              </a:rPr>
              <a:t>Ollama / LM Studio</a:t>
            </a:r>
          </a:p>
        </p:txBody>
      </p:sp>
      <p:sp>
        <p:nvSpPr>
          <p:cNvPr id="26" name="TextBox 25"/>
          <p:cNvSpPr txBox="1"/>
          <p:nvPr/>
        </p:nvSpPr>
        <p:spPr>
          <a:xfrm>
            <a:off x="1076249" y="4025189"/>
            <a:ext cx="3096158" cy="200253"/>
          </a:xfrm>
          <a:prstGeom prst="rect">
            <a:avLst/>
          </a:prstGeom>
          <a:noFill/>
          <a:ln/>
        </p:spPr>
        <p:txBody>
          <a:bodyPr wrap="square" lIns="0" rIns="0" tIns="0" bIns="0">
            <a:noAutofit/>
          </a:bodyPr>
          <a:lstStyle/>
          <a:p>
            <a:r>
              <a:rPr sz="1000">
                <a:solidFill>
                  <a:srgbClr val="6E6E73"/>
                </a:solidFill>
                <a:latin typeface="Noto Sans JP"/>
              </a:rPr>
              <a:t>OpenAI互換APIサーバとして動作（LAN公開可）。</a:t>
            </a:r>
          </a:p>
        </p:txBody>
      </p:sp>
      <p:sp>
        <p:nvSpPr>
          <p:cNvPr id="27" name="TextBox 26"/>
          <p:cNvSpPr txBox="1"/>
          <p:nvPr/>
        </p:nvSpPr>
        <p:spPr>
          <a:xfrm>
            <a:off x="1076249" y="4262933"/>
            <a:ext cx="3139135" cy="200253"/>
          </a:xfrm>
          <a:prstGeom prst="rect">
            <a:avLst/>
          </a:prstGeom>
          <a:noFill/>
          <a:ln/>
        </p:spPr>
        <p:txBody>
          <a:bodyPr wrap="square" lIns="0" rIns="0" tIns="0" bIns="0">
            <a:noAutofit/>
          </a:bodyPr>
          <a:lstStyle/>
          <a:p>
            <a:r>
              <a:rPr sz="1000">
                <a:solidFill>
                  <a:srgbClr val="6E6E73"/>
                </a:solidFill>
                <a:latin typeface="Noto Sans JP"/>
              </a:rPr>
              <a:t>Windows/macOS/Linux対応で導入が容易。</a:t>
            </a:r>
            <a:r>
              <a:rPr sz="900">
                <a:solidFill>
                  <a:srgbClr val="6B7280"/>
                </a:solidFill>
                <a:latin typeface="Noto Sans JP"/>
              </a:rPr>
              <a:t>[23]</a:t>
            </a:r>
          </a:p>
        </p:txBody>
      </p:sp>
      <p:pic>
        <p:nvPicPr>
          <p:cNvPr id="28" name="Picture 27" descr="image.png"/>
          <p:cNvPicPr>
            <a:picLocks noChangeAspect="1"/>
          </p:cNvPicPr>
          <p:nvPr/>
        </p:nvPicPr>
        <p:blipFill>
          <a:blip r:embed="rId9"/>
          <a:stretch>
            <a:fillRect/>
          </a:stretch>
        </p:blipFill>
        <p:spPr>
          <a:xfrm>
            <a:off x="657454" y="4558284"/>
            <a:ext cx="85953" cy="114300"/>
          </a:xfrm>
          <a:prstGeom prst="rect">
            <a:avLst/>
          </a:prstGeom>
          <a:ln/>
        </p:spPr>
      </p:pic>
      <p:sp>
        <p:nvSpPr>
          <p:cNvPr id="29" name="TextBox 28"/>
          <p:cNvSpPr txBox="1"/>
          <p:nvPr/>
        </p:nvSpPr>
        <p:spPr>
          <a:xfrm>
            <a:off x="1202436" y="4558284"/>
            <a:ext cx="3341217" cy="219456"/>
          </a:xfrm>
          <a:prstGeom prst="rect">
            <a:avLst/>
          </a:prstGeom>
          <a:noFill/>
          <a:ln/>
        </p:spPr>
        <p:txBody>
          <a:bodyPr wrap="square" lIns="0" rIns="0" tIns="0" bIns="0">
            <a:noAutofit/>
          </a:bodyPr>
          <a:lstStyle/>
          <a:p>
            <a:r>
              <a:rPr sz="1100" b="1">
                <a:solidFill>
                  <a:srgbClr val="424245"/>
                </a:solidFill>
                <a:latin typeface="Noto Sans JP"/>
              </a:rPr>
              <a:t>Apple Silicon特化：</a:t>
            </a:r>
          </a:p>
        </p:txBody>
      </p:sp>
      <p:pic>
        <p:nvPicPr>
          <p:cNvPr id="30" name="Picture 29" descr="image.png"/>
          <p:cNvPicPr>
            <a:picLocks noChangeAspect="1"/>
          </p:cNvPicPr>
          <p:nvPr/>
        </p:nvPicPr>
        <p:blipFill>
          <a:blip r:embed="rId10"/>
          <a:stretch>
            <a:fillRect/>
          </a:stretch>
        </p:blipFill>
        <p:spPr>
          <a:xfrm>
            <a:off x="819302" y="4568342"/>
            <a:ext cx="352044" cy="200253"/>
          </a:xfrm>
          <a:prstGeom prst="rect">
            <a:avLst/>
          </a:prstGeom>
          <a:ln/>
        </p:spPr>
      </p:pic>
      <p:sp>
        <p:nvSpPr>
          <p:cNvPr id="31" name="TextBox 30"/>
          <p:cNvSpPr txBox="1"/>
          <p:nvPr/>
        </p:nvSpPr>
        <p:spPr>
          <a:xfrm>
            <a:off x="819302" y="4568342"/>
            <a:ext cx="352958" cy="200253"/>
          </a:xfrm>
          <a:prstGeom prst="rect">
            <a:avLst/>
          </a:prstGeom>
          <a:noFill/>
          <a:ln>
            <a:solidFill>
              <a:srgbClr val="FFFFFF"/>
            </a:solidFill>
          </a:ln>
        </p:spPr>
        <p:txBody>
          <a:bodyPr wrap="square" lIns="0" rIns="0" tIns="0" bIns="0">
            <a:noAutofit/>
          </a:bodyPr>
          <a:lstStyle/>
          <a:p>
            <a:r>
              <a:rPr sz="900" b="1">
                <a:solidFill>
                  <a:srgbClr val="7B1FA2"/>
                </a:solidFill>
                <a:latin typeface="Noto Sans JP"/>
              </a:rPr>
              <a:t>MLX</a:t>
            </a:r>
          </a:p>
        </p:txBody>
      </p:sp>
      <p:sp>
        <p:nvSpPr>
          <p:cNvPr id="32" name="TextBox 31"/>
          <p:cNvSpPr txBox="1"/>
          <p:nvPr/>
        </p:nvSpPr>
        <p:spPr>
          <a:xfrm>
            <a:off x="1047902" y="4810658"/>
            <a:ext cx="3572560" cy="200253"/>
          </a:xfrm>
          <a:prstGeom prst="rect">
            <a:avLst/>
          </a:prstGeom>
          <a:noFill/>
          <a:ln/>
        </p:spPr>
        <p:txBody>
          <a:bodyPr wrap="square" lIns="0" rIns="0" tIns="0" bIns="0">
            <a:noAutofit/>
          </a:bodyPr>
          <a:lstStyle/>
          <a:p>
            <a:r>
              <a:rPr sz="1000">
                <a:solidFill>
                  <a:srgbClr val="6E6E73"/>
                </a:solidFill>
                <a:latin typeface="Noto Sans JP"/>
              </a:rPr>
              <a:t>Unified Memory前提で設計された配列フレームワーク。</a:t>
            </a:r>
          </a:p>
        </p:txBody>
      </p:sp>
      <p:sp>
        <p:nvSpPr>
          <p:cNvPr id="33" name="TextBox 32"/>
          <p:cNvSpPr txBox="1"/>
          <p:nvPr/>
        </p:nvSpPr>
        <p:spPr>
          <a:xfrm>
            <a:off x="1047902" y="5049317"/>
            <a:ext cx="3523183" cy="200253"/>
          </a:xfrm>
          <a:prstGeom prst="rect">
            <a:avLst/>
          </a:prstGeom>
          <a:noFill/>
          <a:ln/>
        </p:spPr>
        <p:txBody>
          <a:bodyPr wrap="square" lIns="0" rIns="0" tIns="0" bIns="0">
            <a:noAutofit/>
          </a:bodyPr>
          <a:lstStyle/>
          <a:p>
            <a:r>
              <a:rPr sz="1000">
                <a:solidFill>
                  <a:srgbClr val="6E6E73"/>
                </a:solidFill>
                <a:latin typeface="Noto Sans JP"/>
              </a:rPr>
              <a:t>MLX-LM/MLX-VLMによりMetal最適化推論を実現。</a:t>
            </a:r>
            <a:r>
              <a:rPr sz="900">
                <a:solidFill>
                  <a:srgbClr val="6B7280"/>
                </a:solidFill>
                <a:latin typeface="Noto Sans JP"/>
              </a:rPr>
              <a:t>[22]</a:t>
            </a:r>
          </a:p>
        </p:txBody>
      </p:sp>
      <p:sp>
        <p:nvSpPr>
          <p:cNvPr id="34" name="Rectangle 33"/>
          <p:cNvSpPr/>
          <p:nvPr/>
        </p:nvSpPr>
        <p:spPr>
          <a:xfrm>
            <a:off x="6248095" y="2319833"/>
            <a:ext cx="5486400" cy="33723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48349" y="2852928"/>
            <a:ext cx="508680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1"/>
          <a:stretch>
            <a:fillRect/>
          </a:stretch>
        </p:blipFill>
        <p:spPr>
          <a:xfrm>
            <a:off x="6448349" y="2563063"/>
            <a:ext cx="171906" cy="171906"/>
          </a:xfrm>
          <a:prstGeom prst="rect">
            <a:avLst/>
          </a:prstGeom>
          <a:ln/>
        </p:spPr>
      </p:pic>
      <p:sp>
        <p:nvSpPr>
          <p:cNvPr id="37" name="TextBox 36"/>
          <p:cNvSpPr txBox="1"/>
          <p:nvPr/>
        </p:nvSpPr>
        <p:spPr>
          <a:xfrm>
            <a:off x="6715354" y="2520086"/>
            <a:ext cx="3333901" cy="352957"/>
          </a:xfrm>
          <a:prstGeom prst="rect">
            <a:avLst/>
          </a:prstGeom>
          <a:noFill/>
          <a:ln/>
        </p:spPr>
        <p:txBody>
          <a:bodyPr wrap="square" lIns="0" rIns="0" tIns="0" bIns="0">
            <a:noAutofit/>
          </a:bodyPr>
          <a:lstStyle/>
          <a:p>
            <a:r>
              <a:rPr sz="1300" b="1">
                <a:solidFill>
                  <a:srgbClr val="1D1D1F"/>
                </a:solidFill>
                <a:latin typeface="Noto Sans JP"/>
              </a:rPr>
              <a:t>ハードウェア実用ライン（4bit中心概算）</a:t>
            </a:r>
          </a:p>
        </p:txBody>
      </p:sp>
      <p:pic>
        <p:nvPicPr>
          <p:cNvPr id="38" name="Picture 37" descr="image.png"/>
          <p:cNvPicPr>
            <a:picLocks noChangeAspect="1"/>
          </p:cNvPicPr>
          <p:nvPr/>
        </p:nvPicPr>
        <p:blipFill>
          <a:blip r:embed="rId9"/>
          <a:stretch>
            <a:fillRect/>
          </a:stretch>
        </p:blipFill>
        <p:spPr>
          <a:xfrm>
            <a:off x="6448349" y="2987345"/>
            <a:ext cx="85953" cy="114300"/>
          </a:xfrm>
          <a:prstGeom prst="rect">
            <a:avLst/>
          </a:prstGeom>
          <a:ln/>
        </p:spPr>
      </p:pic>
      <p:sp>
        <p:nvSpPr>
          <p:cNvPr id="39" name="TextBox 38"/>
          <p:cNvSpPr txBox="1"/>
          <p:nvPr/>
        </p:nvSpPr>
        <p:spPr>
          <a:xfrm>
            <a:off x="6610197" y="2987345"/>
            <a:ext cx="3514953" cy="219456"/>
          </a:xfrm>
          <a:prstGeom prst="rect">
            <a:avLst/>
          </a:prstGeom>
          <a:noFill/>
          <a:ln/>
        </p:spPr>
        <p:txBody>
          <a:bodyPr wrap="square" lIns="0" rIns="0" tIns="0" bIns="0">
            <a:noAutofit/>
          </a:bodyPr>
          <a:lstStyle/>
          <a:p>
            <a:r>
              <a:rPr sz="1100" b="1">
                <a:solidFill>
                  <a:srgbClr val="424245"/>
                </a:solidFill>
                <a:latin typeface="Noto Sans JP"/>
              </a:rPr>
              <a:t>Apple Silicon (Unified Memory):</a:t>
            </a:r>
          </a:p>
        </p:txBody>
      </p:sp>
      <p:sp>
        <p:nvSpPr>
          <p:cNvPr id="40" name="TextBox 39"/>
          <p:cNvSpPr txBox="1"/>
          <p:nvPr/>
        </p:nvSpPr>
        <p:spPr>
          <a:xfrm>
            <a:off x="7311542" y="3239719"/>
            <a:ext cx="2813609" cy="200253"/>
          </a:xfrm>
          <a:prstGeom prst="rect">
            <a:avLst/>
          </a:prstGeom>
          <a:noFill/>
          <a:ln/>
        </p:spPr>
        <p:txBody>
          <a:bodyPr wrap="square" lIns="0" rIns="0" tIns="0" bIns="0">
            <a:noAutofit/>
          </a:bodyPr>
          <a:lstStyle/>
          <a:p>
            <a:r>
              <a:rPr sz="1000">
                <a:solidFill>
                  <a:srgbClr val="6E6E73"/>
                </a:solidFill>
                <a:latin typeface="Noto Sans JP"/>
              </a:rPr>
              <a:t>3B〜7/8B級（インタラクティブ）</a:t>
            </a:r>
          </a:p>
        </p:txBody>
      </p:sp>
      <p:pic>
        <p:nvPicPr>
          <p:cNvPr id="41" name="Picture 40" descr="image.png"/>
          <p:cNvPicPr>
            <a:picLocks noChangeAspect="1"/>
          </p:cNvPicPr>
          <p:nvPr/>
        </p:nvPicPr>
        <p:blipFill>
          <a:blip r:embed="rId12"/>
          <a:stretch>
            <a:fillRect/>
          </a:stretch>
        </p:blipFill>
        <p:spPr>
          <a:xfrm>
            <a:off x="6838797" y="3239719"/>
            <a:ext cx="409650" cy="200253"/>
          </a:xfrm>
          <a:prstGeom prst="rect">
            <a:avLst/>
          </a:prstGeom>
          <a:ln/>
        </p:spPr>
      </p:pic>
      <p:sp>
        <p:nvSpPr>
          <p:cNvPr id="42" name="TextBox 41"/>
          <p:cNvSpPr txBox="1"/>
          <p:nvPr/>
        </p:nvSpPr>
        <p:spPr>
          <a:xfrm>
            <a:off x="6838797" y="3239719"/>
            <a:ext cx="409650"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16GB</a:t>
            </a:r>
          </a:p>
        </p:txBody>
      </p:sp>
      <p:sp>
        <p:nvSpPr>
          <p:cNvPr id="43" name="TextBox 42"/>
          <p:cNvSpPr txBox="1"/>
          <p:nvPr/>
        </p:nvSpPr>
        <p:spPr>
          <a:xfrm>
            <a:off x="7486192" y="3477463"/>
            <a:ext cx="2638958" cy="200253"/>
          </a:xfrm>
          <a:prstGeom prst="rect">
            <a:avLst/>
          </a:prstGeom>
          <a:noFill/>
          <a:ln/>
        </p:spPr>
        <p:txBody>
          <a:bodyPr wrap="square" lIns="0" rIns="0" tIns="0" bIns="0">
            <a:noAutofit/>
          </a:bodyPr>
          <a:lstStyle/>
          <a:p>
            <a:r>
              <a:rPr sz="1000">
                <a:solidFill>
                  <a:srgbClr val="6E6E73"/>
                </a:solidFill>
                <a:latin typeface="Noto Sans JP"/>
              </a:rPr>
              <a:t>7B〜14B級（業務実用・RAG最小ライン）</a:t>
            </a:r>
          </a:p>
        </p:txBody>
      </p:sp>
      <p:pic>
        <p:nvPicPr>
          <p:cNvPr id="44" name="Picture 43" descr="image.png"/>
          <p:cNvPicPr>
            <a:picLocks noChangeAspect="1"/>
          </p:cNvPicPr>
          <p:nvPr/>
        </p:nvPicPr>
        <p:blipFill>
          <a:blip r:embed="rId13"/>
          <a:stretch>
            <a:fillRect/>
          </a:stretch>
        </p:blipFill>
        <p:spPr>
          <a:xfrm>
            <a:off x="6838797" y="3477463"/>
            <a:ext cx="580644" cy="200253"/>
          </a:xfrm>
          <a:prstGeom prst="rect">
            <a:avLst/>
          </a:prstGeom>
          <a:ln/>
        </p:spPr>
      </p:pic>
      <p:sp>
        <p:nvSpPr>
          <p:cNvPr id="45" name="TextBox 44"/>
          <p:cNvSpPr txBox="1"/>
          <p:nvPr/>
        </p:nvSpPr>
        <p:spPr>
          <a:xfrm>
            <a:off x="6838797" y="3477463"/>
            <a:ext cx="581558"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24-32GB</a:t>
            </a:r>
          </a:p>
        </p:txBody>
      </p:sp>
      <p:sp>
        <p:nvSpPr>
          <p:cNvPr id="46" name="TextBox 45"/>
          <p:cNvSpPr txBox="1"/>
          <p:nvPr/>
        </p:nvSpPr>
        <p:spPr>
          <a:xfrm>
            <a:off x="7378294" y="3715207"/>
            <a:ext cx="2823667" cy="200253"/>
          </a:xfrm>
          <a:prstGeom prst="rect">
            <a:avLst/>
          </a:prstGeom>
          <a:noFill/>
          <a:ln/>
        </p:spPr>
        <p:txBody>
          <a:bodyPr wrap="square" lIns="0" rIns="0" tIns="0" bIns="0">
            <a:noAutofit/>
          </a:bodyPr>
          <a:lstStyle/>
          <a:p>
            <a:r>
              <a:rPr sz="1000">
                <a:solidFill>
                  <a:srgbClr val="6E6E73"/>
                </a:solidFill>
                <a:latin typeface="Noto Sans JP"/>
              </a:rPr>
              <a:t>14B〜32B級以上（高品質・長文要約可）</a:t>
            </a:r>
          </a:p>
        </p:txBody>
      </p:sp>
      <p:pic>
        <p:nvPicPr>
          <p:cNvPr id="47" name="Picture 46" descr="image.png"/>
          <p:cNvPicPr>
            <a:picLocks noChangeAspect="1"/>
          </p:cNvPicPr>
          <p:nvPr/>
        </p:nvPicPr>
        <p:blipFill>
          <a:blip r:embed="rId14"/>
          <a:stretch>
            <a:fillRect/>
          </a:stretch>
        </p:blipFill>
        <p:spPr>
          <a:xfrm>
            <a:off x="6838797" y="3715207"/>
            <a:ext cx="476402" cy="200253"/>
          </a:xfrm>
          <a:prstGeom prst="rect">
            <a:avLst/>
          </a:prstGeom>
          <a:ln/>
        </p:spPr>
      </p:pic>
      <p:sp>
        <p:nvSpPr>
          <p:cNvPr id="48" name="TextBox 47"/>
          <p:cNvSpPr txBox="1"/>
          <p:nvPr/>
        </p:nvSpPr>
        <p:spPr>
          <a:xfrm>
            <a:off x="6838797" y="3715207"/>
            <a:ext cx="476402"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64GB+</a:t>
            </a:r>
          </a:p>
        </p:txBody>
      </p:sp>
      <p:pic>
        <p:nvPicPr>
          <p:cNvPr id="49" name="Picture 48" descr="image.png"/>
          <p:cNvPicPr>
            <a:picLocks noChangeAspect="1"/>
          </p:cNvPicPr>
          <p:nvPr/>
        </p:nvPicPr>
        <p:blipFill>
          <a:blip r:embed="rId15"/>
          <a:stretch>
            <a:fillRect/>
          </a:stretch>
        </p:blipFill>
        <p:spPr>
          <a:xfrm>
            <a:off x="6448349" y="4010558"/>
            <a:ext cx="105156" cy="114300"/>
          </a:xfrm>
          <a:prstGeom prst="rect">
            <a:avLst/>
          </a:prstGeom>
          <a:ln/>
        </p:spPr>
      </p:pic>
      <p:sp>
        <p:nvSpPr>
          <p:cNvPr id="50" name="TextBox 49"/>
          <p:cNvSpPr txBox="1"/>
          <p:nvPr/>
        </p:nvSpPr>
        <p:spPr>
          <a:xfrm>
            <a:off x="6629400" y="4010558"/>
            <a:ext cx="3191255" cy="219455"/>
          </a:xfrm>
          <a:prstGeom prst="rect">
            <a:avLst/>
          </a:prstGeom>
          <a:noFill/>
          <a:ln/>
        </p:spPr>
        <p:txBody>
          <a:bodyPr wrap="square" lIns="0" rIns="0" tIns="0" bIns="0">
            <a:noAutofit/>
          </a:bodyPr>
          <a:lstStyle/>
          <a:p>
            <a:r>
              <a:rPr sz="1100" b="1">
                <a:solidFill>
                  <a:srgbClr val="424245"/>
                </a:solidFill>
                <a:latin typeface="Noto Sans JP"/>
              </a:rPr>
              <a:t>Windows (Discrete GPU):</a:t>
            </a:r>
          </a:p>
        </p:txBody>
      </p:sp>
      <p:sp>
        <p:nvSpPr>
          <p:cNvPr id="51" name="TextBox 50"/>
          <p:cNvSpPr txBox="1"/>
          <p:nvPr/>
        </p:nvSpPr>
        <p:spPr>
          <a:xfrm>
            <a:off x="7603235" y="4262933"/>
            <a:ext cx="2293315" cy="200253"/>
          </a:xfrm>
          <a:prstGeom prst="rect">
            <a:avLst/>
          </a:prstGeom>
          <a:noFill/>
          <a:ln/>
        </p:spPr>
        <p:txBody>
          <a:bodyPr wrap="square" lIns="0" rIns="0" tIns="0" bIns="0">
            <a:noAutofit/>
          </a:bodyPr>
          <a:lstStyle/>
          <a:p>
            <a:r>
              <a:rPr sz="1000">
                <a:solidFill>
                  <a:srgbClr val="6E6E73"/>
                </a:solidFill>
                <a:latin typeface="Noto Sans JP"/>
              </a:rPr>
              <a:t>7B級（最小ライン）</a:t>
            </a:r>
          </a:p>
        </p:txBody>
      </p:sp>
      <p:pic>
        <p:nvPicPr>
          <p:cNvPr id="52" name="Picture 51" descr="image.png"/>
          <p:cNvPicPr>
            <a:picLocks noChangeAspect="1"/>
          </p:cNvPicPr>
          <p:nvPr/>
        </p:nvPicPr>
        <p:blipFill>
          <a:blip r:embed="rId16"/>
          <a:stretch>
            <a:fillRect/>
          </a:stretch>
        </p:blipFill>
        <p:spPr>
          <a:xfrm>
            <a:off x="6858000" y="4262933"/>
            <a:ext cx="685800" cy="200253"/>
          </a:xfrm>
          <a:prstGeom prst="rect">
            <a:avLst/>
          </a:prstGeom>
          <a:ln/>
        </p:spPr>
      </p:pic>
      <p:sp>
        <p:nvSpPr>
          <p:cNvPr id="53" name="TextBox 52"/>
          <p:cNvSpPr txBox="1"/>
          <p:nvPr/>
        </p:nvSpPr>
        <p:spPr>
          <a:xfrm>
            <a:off x="6858000" y="4262933"/>
            <a:ext cx="685800"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VRAM 8GB</a:t>
            </a:r>
          </a:p>
        </p:txBody>
      </p:sp>
      <p:sp>
        <p:nvSpPr>
          <p:cNvPr id="54" name="TextBox 53"/>
          <p:cNvSpPr txBox="1"/>
          <p:nvPr/>
        </p:nvSpPr>
        <p:spPr>
          <a:xfrm>
            <a:off x="7843723" y="4501591"/>
            <a:ext cx="1976933" cy="200253"/>
          </a:xfrm>
          <a:prstGeom prst="rect">
            <a:avLst/>
          </a:prstGeom>
          <a:noFill/>
          <a:ln/>
        </p:spPr>
        <p:txBody>
          <a:bodyPr wrap="square" lIns="0" rIns="0" tIns="0" bIns="0">
            <a:noAutofit/>
          </a:bodyPr>
          <a:lstStyle/>
          <a:p>
            <a:r>
              <a:rPr sz="1000">
                <a:solidFill>
                  <a:srgbClr val="6E6E73"/>
                </a:solidFill>
                <a:latin typeface="Noto Sans JP"/>
              </a:rPr>
              <a:t>14B級〜27B級（品質寄り）</a:t>
            </a:r>
          </a:p>
        </p:txBody>
      </p:sp>
      <p:pic>
        <p:nvPicPr>
          <p:cNvPr id="55" name="Picture 54" descr="image.png"/>
          <p:cNvPicPr>
            <a:picLocks noChangeAspect="1"/>
          </p:cNvPicPr>
          <p:nvPr/>
        </p:nvPicPr>
        <p:blipFill>
          <a:blip r:embed="rId17"/>
          <a:stretch>
            <a:fillRect/>
          </a:stretch>
        </p:blipFill>
        <p:spPr>
          <a:xfrm>
            <a:off x="6858000" y="4501591"/>
            <a:ext cx="923544" cy="200253"/>
          </a:xfrm>
          <a:prstGeom prst="rect">
            <a:avLst/>
          </a:prstGeom>
          <a:ln/>
        </p:spPr>
      </p:pic>
      <p:sp>
        <p:nvSpPr>
          <p:cNvPr id="56" name="TextBox 55"/>
          <p:cNvSpPr txBox="1"/>
          <p:nvPr/>
        </p:nvSpPr>
        <p:spPr>
          <a:xfrm>
            <a:off x="6858000" y="4501591"/>
            <a:ext cx="924458"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VRAM 12-16GB</a:t>
            </a:r>
          </a:p>
        </p:txBody>
      </p:sp>
      <p:sp>
        <p:nvSpPr>
          <p:cNvPr id="57" name="TextBox 56"/>
          <p:cNvSpPr txBox="1"/>
          <p:nvPr/>
        </p:nvSpPr>
        <p:spPr>
          <a:xfrm>
            <a:off x="7669987" y="4739335"/>
            <a:ext cx="2226564" cy="200253"/>
          </a:xfrm>
          <a:prstGeom prst="rect">
            <a:avLst/>
          </a:prstGeom>
          <a:noFill/>
          <a:ln/>
        </p:spPr>
        <p:txBody>
          <a:bodyPr wrap="square" lIns="0" rIns="0" tIns="0" bIns="0">
            <a:noAutofit/>
          </a:bodyPr>
          <a:lstStyle/>
          <a:p>
            <a:r>
              <a:rPr sz="1000">
                <a:solidFill>
                  <a:srgbClr val="6E6E73"/>
                </a:solidFill>
                <a:latin typeface="Noto Sans JP"/>
              </a:rPr>
              <a:t>32-34B級・重い画像生成が実務域</a:t>
            </a:r>
          </a:p>
        </p:txBody>
      </p:sp>
      <p:pic>
        <p:nvPicPr>
          <p:cNvPr id="58" name="Picture 57" descr="image.png"/>
          <p:cNvPicPr>
            <a:picLocks noChangeAspect="1"/>
          </p:cNvPicPr>
          <p:nvPr/>
        </p:nvPicPr>
        <p:blipFill>
          <a:blip r:embed="rId18"/>
          <a:stretch>
            <a:fillRect/>
          </a:stretch>
        </p:blipFill>
        <p:spPr>
          <a:xfrm>
            <a:off x="6858000" y="4739335"/>
            <a:ext cx="752550" cy="200253"/>
          </a:xfrm>
          <a:prstGeom prst="rect">
            <a:avLst/>
          </a:prstGeom>
          <a:ln/>
        </p:spPr>
      </p:pic>
      <p:sp>
        <p:nvSpPr>
          <p:cNvPr id="59" name="TextBox 58"/>
          <p:cNvSpPr txBox="1"/>
          <p:nvPr/>
        </p:nvSpPr>
        <p:spPr>
          <a:xfrm>
            <a:off x="6858000" y="4739335"/>
            <a:ext cx="752550"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VRAM 24GB</a:t>
            </a:r>
          </a:p>
        </p:txBody>
      </p:sp>
      <p:pic>
        <p:nvPicPr>
          <p:cNvPr id="60" name="Picture 59" descr="image.png"/>
          <p:cNvPicPr>
            <a:picLocks noChangeAspect="1"/>
          </p:cNvPicPr>
          <p:nvPr/>
        </p:nvPicPr>
        <p:blipFill>
          <a:blip r:embed="rId19"/>
          <a:stretch>
            <a:fillRect/>
          </a:stretch>
        </p:blipFill>
        <p:spPr>
          <a:xfrm>
            <a:off x="6448349" y="5034686"/>
            <a:ext cx="133501" cy="114300"/>
          </a:xfrm>
          <a:prstGeom prst="rect">
            <a:avLst/>
          </a:prstGeom>
          <a:ln/>
        </p:spPr>
      </p:pic>
      <p:sp>
        <p:nvSpPr>
          <p:cNvPr id="61" name="TextBox 60"/>
          <p:cNvSpPr txBox="1"/>
          <p:nvPr/>
        </p:nvSpPr>
        <p:spPr>
          <a:xfrm>
            <a:off x="6657745" y="5034686"/>
            <a:ext cx="3343960" cy="219455"/>
          </a:xfrm>
          <a:prstGeom prst="rect">
            <a:avLst/>
          </a:prstGeom>
          <a:noFill/>
          <a:ln/>
        </p:spPr>
        <p:txBody>
          <a:bodyPr wrap="square" lIns="0" rIns="0" tIns="0" bIns="0">
            <a:noAutofit/>
          </a:bodyPr>
          <a:lstStyle/>
          <a:p>
            <a:r>
              <a:rPr sz="1100" b="1">
                <a:solidFill>
                  <a:srgbClr val="424245"/>
                </a:solidFill>
                <a:latin typeface="Noto Sans JP"/>
              </a:rPr>
              <a:t>Windows CPU-only:</a:t>
            </a:r>
          </a:p>
        </p:txBody>
      </p:sp>
      <p:sp>
        <p:nvSpPr>
          <p:cNvPr id="62" name="TextBox 61"/>
          <p:cNvSpPr txBox="1"/>
          <p:nvPr/>
        </p:nvSpPr>
        <p:spPr>
          <a:xfrm>
            <a:off x="7694676" y="5287061"/>
            <a:ext cx="2307031" cy="200253"/>
          </a:xfrm>
          <a:prstGeom prst="rect">
            <a:avLst/>
          </a:prstGeom>
          <a:noFill/>
          <a:ln/>
        </p:spPr>
        <p:txBody>
          <a:bodyPr wrap="square" lIns="0" rIns="0" tIns="0" bIns="0">
            <a:noAutofit/>
          </a:bodyPr>
          <a:lstStyle/>
          <a:p>
            <a:r>
              <a:rPr sz="1000">
                <a:solidFill>
                  <a:srgbClr val="6E6E73"/>
                </a:solidFill>
                <a:latin typeface="Noto Sans JP"/>
              </a:rPr>
              <a:t>7B級が「使える」境界（AVX活用）。</a:t>
            </a:r>
          </a:p>
        </p:txBody>
      </p:sp>
      <p:pic>
        <p:nvPicPr>
          <p:cNvPr id="63" name="Picture 62" descr="image.png"/>
          <p:cNvPicPr>
            <a:picLocks noChangeAspect="1"/>
          </p:cNvPicPr>
          <p:nvPr/>
        </p:nvPicPr>
        <p:blipFill>
          <a:blip r:embed="rId20"/>
          <a:stretch>
            <a:fillRect/>
          </a:stretch>
        </p:blipFill>
        <p:spPr>
          <a:xfrm>
            <a:off x="6886345" y="5287061"/>
            <a:ext cx="743407" cy="200253"/>
          </a:xfrm>
          <a:prstGeom prst="rect">
            <a:avLst/>
          </a:prstGeom>
          <a:ln/>
        </p:spPr>
      </p:pic>
      <p:sp>
        <p:nvSpPr>
          <p:cNvPr id="64" name="TextBox 63"/>
          <p:cNvSpPr txBox="1"/>
          <p:nvPr/>
        </p:nvSpPr>
        <p:spPr>
          <a:xfrm>
            <a:off x="6886345" y="5287061"/>
            <a:ext cx="743407" cy="200253"/>
          </a:xfrm>
          <a:prstGeom prst="rect">
            <a:avLst/>
          </a:prstGeom>
          <a:noFill/>
          <a:ln>
            <a:solidFill>
              <a:srgbClr val="FFFFFF"/>
            </a:solidFill>
          </a:ln>
        </p:spPr>
        <p:txBody>
          <a:bodyPr wrap="square" lIns="0" rIns="0" tIns="0" bIns="0">
            <a:noAutofit/>
          </a:bodyPr>
          <a:lstStyle/>
          <a:p>
            <a:r>
              <a:rPr sz="900" b="1">
                <a:solidFill>
                  <a:srgbClr val="1B5E20"/>
                </a:solidFill>
                <a:latin typeface="Noto Sans JP"/>
              </a:rPr>
              <a:t>32GB RAM+</a:t>
            </a:r>
          </a:p>
        </p:txBody>
      </p:sp>
      <p:sp>
        <p:nvSpPr>
          <p:cNvPr id="65" name="Rectangle 64"/>
          <p:cNvSpPr/>
          <p:nvPr/>
        </p:nvSpPr>
        <p:spPr>
          <a:xfrm>
            <a:off x="457200" y="5916168"/>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21"/>
          <a:stretch>
            <a:fillRect/>
          </a:stretch>
        </p:blipFill>
        <p:spPr>
          <a:xfrm>
            <a:off x="599846" y="6078017"/>
            <a:ext cx="152704" cy="152705"/>
          </a:xfrm>
          <a:prstGeom prst="rect">
            <a:avLst/>
          </a:prstGeom>
          <a:ln/>
        </p:spPr>
      </p:pic>
      <p:sp>
        <p:nvSpPr>
          <p:cNvPr id="67" name="TextBox 66"/>
          <p:cNvSpPr txBox="1"/>
          <p:nvPr/>
        </p:nvSpPr>
        <p:spPr>
          <a:xfrm>
            <a:off x="847649" y="6058814"/>
            <a:ext cx="10935310" cy="200253"/>
          </a:xfrm>
          <a:prstGeom prst="rect">
            <a:avLst/>
          </a:prstGeom>
          <a:noFill/>
          <a:ln/>
        </p:spPr>
        <p:txBody>
          <a:bodyPr wrap="square" lIns="0" rIns="0" tIns="0" bIns="0">
            <a:noAutofit/>
          </a:bodyPr>
          <a:lstStyle/>
          <a:p>
            <a:r>
              <a:rPr sz="1000" b="1">
                <a:solidFill>
                  <a:srgbClr val="78350F"/>
                </a:solidFill>
                <a:latin typeface="Noto Sans JP"/>
              </a:rPr>
              <a:t>注意：長文コンテキストとメモリ</a:t>
            </a:r>
          </a:p>
        </p:txBody>
      </p:sp>
      <p:sp>
        <p:nvSpPr>
          <p:cNvPr id="68" name="TextBox 67"/>
          <p:cNvSpPr txBox="1"/>
          <p:nvPr/>
        </p:nvSpPr>
        <p:spPr>
          <a:xfrm>
            <a:off x="847649" y="6296558"/>
            <a:ext cx="10821010" cy="400507"/>
          </a:xfrm>
          <a:prstGeom prst="rect">
            <a:avLst/>
          </a:prstGeom>
          <a:noFill/>
          <a:ln/>
        </p:spPr>
        <p:txBody>
          <a:bodyPr wrap="square" lIns="0" rIns="0" tIns="0" bIns="0">
            <a:noAutofit/>
          </a:bodyPr>
          <a:lstStyle/>
          <a:p>
            <a:r>
              <a:rPr sz="1000">
                <a:solidFill>
                  <a:srgbClr val="78350F"/>
                </a:solidFill>
                <a:latin typeface="Noto Sans JP"/>
              </a:rPr>
              <a:t>上記は重み（weight-only）の概算です。長文（Long Context）を扱う場合、KVキャッシュがメモリを線形に圧迫するため、別途KV量子化やコンテキスト長制限（4k/8k等）の設計が必要です。</a:t>
            </a:r>
          </a:p>
        </p:txBody>
      </p:sp>
      <p:sp>
        <p:nvSpPr>
          <p:cNvPr id="69" name="Rectangle 68"/>
          <p:cNvSpPr/>
          <p:nvPr/>
        </p:nvSpPr>
        <p:spPr>
          <a:xfrm>
            <a:off x="0" y="7144207"/>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71442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7154266"/>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2" name="TextBox 71"/>
          <p:cNvSpPr txBox="1"/>
          <p:nvPr/>
        </p:nvSpPr>
        <p:spPr>
          <a:xfrm>
            <a:off x="11448288" y="7154266"/>
            <a:ext cx="372160" cy="171907"/>
          </a:xfrm>
          <a:prstGeom prst="rect">
            <a:avLst/>
          </a:prstGeom>
          <a:noFill/>
          <a:ln/>
        </p:spPr>
        <p:txBody>
          <a:bodyPr wrap="square" lIns="0" rIns="0" tIns="0" bIns="0">
            <a:noAutofit/>
          </a:bodyPr>
          <a:lstStyle/>
          <a:p>
            <a:r>
              <a:rPr sz="900">
                <a:solidFill>
                  <a:srgbClr val="86868B"/>
                </a:solidFill>
                <a:latin typeface="Noto Sans JP"/>
              </a:rPr>
              <a:t>6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42900" cy="304495"/>
          </a:xfrm>
          <a:prstGeom prst="rect">
            <a:avLst/>
          </a:prstGeom>
          <a:ln/>
        </p:spPr>
      </p:pic>
      <p:sp>
        <p:nvSpPr>
          <p:cNvPr id="8" name="TextBox 7"/>
          <p:cNvSpPr txBox="1"/>
          <p:nvPr/>
        </p:nvSpPr>
        <p:spPr>
          <a:xfrm>
            <a:off x="952805" y="190195"/>
            <a:ext cx="4620463" cy="457200"/>
          </a:xfrm>
          <a:prstGeom prst="rect">
            <a:avLst/>
          </a:prstGeom>
          <a:noFill/>
          <a:ln/>
        </p:spPr>
        <p:txBody>
          <a:bodyPr wrap="square" lIns="0" rIns="0" tIns="0" bIns="0">
            <a:noAutofit/>
          </a:bodyPr>
          <a:lstStyle/>
          <a:p>
            <a:r>
              <a:rPr sz="2400" b="1">
                <a:solidFill>
                  <a:srgbClr val="1D1D1F"/>
                </a:solidFill>
                <a:latin typeface="Noto Sans JP"/>
              </a:rPr>
              <a:t>エグゼクティブサマリ（詳細3）</a:t>
            </a:r>
          </a:p>
        </p:txBody>
      </p:sp>
      <p:sp>
        <p:nvSpPr>
          <p:cNvPr id="9" name="TextBox 8"/>
          <p:cNvSpPr txBox="1"/>
          <p:nvPr/>
        </p:nvSpPr>
        <p:spPr>
          <a:xfrm>
            <a:off x="8580730" y="290779"/>
            <a:ext cx="3353105" cy="257861"/>
          </a:xfrm>
          <a:prstGeom prst="rect">
            <a:avLst/>
          </a:prstGeom>
          <a:noFill/>
          <a:ln/>
        </p:spPr>
        <p:txBody>
          <a:bodyPr wrap="square" lIns="0" rIns="0" tIns="0" bIns="0">
            <a:noAutofit/>
          </a:bodyPr>
          <a:lstStyle/>
          <a:p>
            <a:r>
              <a:rPr sz="1300">
                <a:solidFill>
                  <a:srgbClr val="86868B"/>
                </a:solidFill>
                <a:latin typeface="Noto Sans JP"/>
              </a:rPr>
              <a:t>推奨スタック3パターン（Tier別構成案）</a:t>
            </a:r>
          </a:p>
        </p:txBody>
      </p:sp>
      <p:sp>
        <p:nvSpPr>
          <p:cNvPr id="10" name="Rectangle 9"/>
          <p:cNvSpPr/>
          <p:nvPr/>
        </p:nvSpPr>
        <p:spPr>
          <a:xfrm>
            <a:off x="457200" y="1133856"/>
            <a:ext cx="11277295" cy="87599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noFill/>
          <a:ln/>
        </p:spPr>
        <p:txBody>
          <a:bodyPr wrap="square" lIns="0" rIns="0" tIns="0" bIns="0">
            <a:noAutofit/>
          </a:bodyPr>
          <a:lstStyle/>
          <a:p>
            <a:r>
              <a:rPr sz="1500" b="1">
                <a:solidFill>
                  <a:srgbClr val="1D1D1F"/>
                </a:solidFill>
                <a:latin typeface="Noto Sans JP"/>
              </a:rPr>
              <a:t> 結論：用途とリソースに応じて「低コスト／高品質／ハード制約」の3構成を選択します。</a:t>
            </a:r>
          </a:p>
          <a:p>
            <a:r>
              <a:rPr sz="1200" b="1">
                <a:solidFill>
                  <a:srgbClr val="424245"/>
                </a:solidFill>
                <a:latin typeface="Noto Sans JP"/>
              </a:rPr>
              <a:t>※各構成の具体的な失敗モードと回避策は、後述の「ユースケース別推奨スタック」章で詳細に展開します。</a:t>
            </a:r>
          </a:p>
        </p:txBody>
      </p:sp>
      <p:sp>
        <p:nvSpPr>
          <p:cNvPr id="13" name="TextBox 12"/>
          <p:cNvSpPr txBox="1"/>
          <p:nvPr/>
        </p:nvSpPr>
        <p:spPr>
          <a:xfrm>
            <a:off x="457200" y="2295144"/>
            <a:ext cx="3638398" cy="4895697"/>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p:spPr>
      </p:pic>
      <p:sp>
        <p:nvSpPr>
          <p:cNvPr id="17" name="TextBox 16"/>
          <p:cNvSpPr txBox="1"/>
          <p:nvPr/>
        </p:nvSpPr>
        <p:spPr>
          <a:xfrm>
            <a:off x="1901952" y="2467051"/>
            <a:ext cx="1234439"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p:spPr>
      </p:pic>
      <p:sp>
        <p:nvSpPr>
          <p:cNvPr id="21" name="TextBox 20"/>
          <p:cNvSpPr txBox="1"/>
          <p:nvPr/>
        </p:nvSpPr>
        <p:spPr>
          <a:xfrm>
            <a:off x="657454" y="3329329"/>
            <a:ext cx="3238805"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CPUのみ / エントリーGPU / Apple 16GB</a:t>
            </a:r>
          </a:p>
        </p:txBody>
      </p:sp>
      <p:sp>
        <p:nvSpPr>
          <p:cNvPr id="22" name="TextBox 21"/>
          <p:cNvSpPr txBox="1"/>
          <p:nvPr/>
        </p:nvSpPr>
        <p:spPr>
          <a:xfrm>
            <a:off x="657454" y="3795674"/>
            <a:ext cx="3353105"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p:spPr>
      </p:pic>
      <p:sp>
        <p:nvSpPr>
          <p:cNvPr id="24" name="TextBox 23"/>
          <p:cNvSpPr txBox="1"/>
          <p:nvPr/>
        </p:nvSpPr>
        <p:spPr>
          <a:xfrm>
            <a:off x="657454" y="401970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llama.cpp (GGUF Q4/K) Ollama / LM Studio</a:t>
            </a:r>
          </a:p>
        </p:txBody>
      </p:sp>
      <p:sp>
        <p:nvSpPr>
          <p:cNvPr id="25" name="TextBox 24"/>
          <p:cNvSpPr txBox="1"/>
          <p:nvPr/>
        </p:nvSpPr>
        <p:spPr>
          <a:xfrm>
            <a:off x="657454" y="4686300"/>
            <a:ext cx="3353105" cy="191110"/>
          </a:xfrm>
          <a:prstGeom prst="rect">
            <a:avLst/>
          </a:prstGeom>
          <a:noFill/>
          <a:ln/>
        </p:spPr>
        <p:txBody>
          <a:bodyPr wrap="square" lIns="0" rIns="0" tIns="0" bIns="0">
            <a:noAutofit/>
          </a:bodyPr>
          <a:lstStyle/>
          <a:p>
            <a:r>
              <a:rPr sz="900" b="1">
                <a:solidFill>
                  <a:srgbClr val="86868B"/>
                </a:solidFill>
                <a:latin typeface="Noto Sans JP"/>
              </a:rPr>
              <a:t>ASR / TTS</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p:spPr>
      </p:pic>
      <p:sp>
        <p:nvSpPr>
          <p:cNvPr id="27" name="TextBox 26"/>
          <p:cNvSpPr txBox="1"/>
          <p:nvPr/>
        </p:nvSpPr>
        <p:spPr>
          <a:xfrm>
            <a:off x="657454" y="4910328"/>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faster-whisper (INT8) Piper / Kokoro (軽量)</a:t>
            </a:r>
          </a:p>
        </p:txBody>
      </p:sp>
      <p:sp>
        <p:nvSpPr>
          <p:cNvPr id="28" name="TextBox 27"/>
          <p:cNvSpPr txBox="1"/>
          <p:nvPr/>
        </p:nvSpPr>
        <p:spPr>
          <a:xfrm>
            <a:off x="657454" y="5576926"/>
            <a:ext cx="3353105" cy="191110"/>
          </a:xfrm>
          <a:prstGeom prst="rect">
            <a:avLst/>
          </a:prstGeom>
          <a:noFill/>
          <a:ln/>
        </p:spPr>
        <p:txBody>
          <a:bodyPr wrap="square" lIns="0" rIns="0" tIns="0" bIns="0">
            <a:noAutofit/>
          </a:bodyPr>
          <a:lstStyle/>
          <a:p>
            <a:r>
              <a:rPr sz="900" b="1">
                <a:solidFill>
                  <a:srgbClr val="86868B"/>
                </a:solidFill>
                <a:latin typeface="Noto Sans JP"/>
              </a:rPr>
              <a:t>RAG / Embedding</a:t>
            </a:r>
          </a:p>
        </p:txBody>
      </p:sp>
      <p:pic>
        <p:nvPicPr>
          <p:cNvPr id="29" name="Picture 28" descr="image.png"/>
          <p:cNvPicPr>
            <a:picLocks noChangeAspect="1"/>
          </p:cNvPicPr>
          <p:nvPr/>
        </p:nvPicPr>
        <p:blipFill>
          <a:blip r:embed="rId5"/>
          <a:stretch>
            <a:fillRect/>
          </a:stretch>
        </p:blipFill>
        <p:spPr>
          <a:xfrm>
            <a:off x="657454" y="5800954"/>
            <a:ext cx="3238805" cy="552298"/>
          </a:xfrm>
          <a:prstGeom prst="rect">
            <a:avLst/>
          </a:prstGeom>
          <a:ln/>
        </p:spPr>
      </p:pic>
      <p:sp>
        <p:nvSpPr>
          <p:cNvPr id="30" name="TextBox 29"/>
          <p:cNvSpPr txBox="1"/>
          <p:nvPr/>
        </p:nvSpPr>
        <p:spPr>
          <a:xfrm>
            <a:off x="657454" y="5800954"/>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BGE-M3 (多言語・多用途) bge-reranker-base</a:t>
            </a:r>
          </a:p>
        </p:txBody>
      </p:sp>
      <p:pic>
        <p:nvPicPr>
          <p:cNvPr id="31" name="Picture 30" descr="image.png"/>
          <p:cNvPicPr>
            <a:picLocks noChangeAspect="1"/>
          </p:cNvPicPr>
          <p:nvPr/>
        </p:nvPicPr>
        <p:blipFill>
          <a:blip r:embed="rId6"/>
          <a:stretch>
            <a:fillRect/>
          </a:stretch>
        </p:blipFill>
        <p:spPr>
          <a:xfrm>
            <a:off x="657454" y="6743700"/>
            <a:ext cx="1333194" cy="247802"/>
          </a:xfrm>
          <a:prstGeom prst="rect">
            <a:avLst/>
          </a:prstGeom>
          <a:ln/>
        </p:spPr>
      </p:pic>
      <p:sp>
        <p:nvSpPr>
          <p:cNvPr id="32" name="TextBox 31"/>
          <p:cNvSpPr txBox="1"/>
          <p:nvPr/>
        </p:nvSpPr>
        <p:spPr>
          <a:xfrm>
            <a:off x="876910" y="6743700"/>
            <a:ext cx="1114654"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最低限の業務自動化</a:t>
            </a:r>
          </a:p>
        </p:txBody>
      </p:sp>
      <p:pic>
        <p:nvPicPr>
          <p:cNvPr id="33" name="Picture 32" descr="image.png"/>
          <p:cNvPicPr>
            <a:picLocks noChangeAspect="1"/>
          </p:cNvPicPr>
          <p:nvPr/>
        </p:nvPicPr>
        <p:blipFill>
          <a:blip r:embed="rId7"/>
          <a:stretch>
            <a:fillRect/>
          </a:stretch>
        </p:blipFill>
        <p:spPr>
          <a:xfrm>
            <a:off x="733349" y="6815023"/>
            <a:ext cx="105155" cy="114300"/>
          </a:xfrm>
          <a:prstGeom prst="rect">
            <a:avLst/>
          </a:prstGeom>
          <a:ln/>
        </p:spPr>
      </p:pic>
      <p:sp>
        <p:nvSpPr>
          <p:cNvPr id="34" name="TextBox 33"/>
          <p:cNvSpPr txBox="1"/>
          <p:nvPr/>
        </p:nvSpPr>
        <p:spPr>
          <a:xfrm>
            <a:off x="4280306" y="2295144"/>
            <a:ext cx="3638398" cy="4895697"/>
          </a:xfrm>
          <a:prstGeom prst="rect">
            <a:avLst/>
          </a:prstGeom>
          <a:noFill/>
          <a:ln w="12700">
            <a:solidFill>
              <a:srgbClr val="E5E5E5"/>
            </a:solidFill>
          </a:ln>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p:spPr>
      </p:pic>
      <p:sp>
        <p:nvSpPr>
          <p:cNvPr id="38" name="TextBox 37"/>
          <p:cNvSpPr txBox="1"/>
          <p:nvPr/>
        </p:nvSpPr>
        <p:spPr>
          <a:xfrm>
            <a:off x="5820156" y="2467051"/>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39" name="Rectangle 38"/>
          <p:cNvSpPr/>
          <p:nvPr/>
        </p:nvSpPr>
        <p:spPr>
          <a:xfrm>
            <a:off x="4289450"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41" name="Picture 40" descr="image.png"/>
          <p:cNvPicPr>
            <a:picLocks noChangeAspect="1"/>
          </p:cNvPicPr>
          <p:nvPr/>
        </p:nvPicPr>
        <p:blipFill>
          <a:blip r:embed="rId5"/>
          <a:stretch>
            <a:fillRect/>
          </a:stretch>
        </p:blipFill>
        <p:spPr>
          <a:xfrm>
            <a:off x="4479646" y="3329329"/>
            <a:ext cx="3238804" cy="552298"/>
          </a:xfrm>
          <a:prstGeom prst="rect">
            <a:avLst/>
          </a:prstGeom>
          <a:ln/>
        </p:spPr>
      </p:pic>
      <p:sp>
        <p:nvSpPr>
          <p:cNvPr id="42" name="TextBox 41"/>
          <p:cNvSpPr txBox="1"/>
          <p:nvPr/>
        </p:nvSpPr>
        <p:spPr>
          <a:xfrm>
            <a:off x="4479646" y="3329329"/>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GPU搭載機 (VRAM 16-24GB+) Apple 64GB+</a:t>
            </a:r>
          </a:p>
        </p:txBody>
      </p:sp>
      <p:sp>
        <p:nvSpPr>
          <p:cNvPr id="43" name="TextBox 42"/>
          <p:cNvSpPr txBox="1"/>
          <p:nvPr/>
        </p:nvSpPr>
        <p:spPr>
          <a:xfrm>
            <a:off x="4479646" y="3995928"/>
            <a:ext cx="3353104"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44" name="Picture 43" descr="image.png"/>
          <p:cNvPicPr>
            <a:picLocks noChangeAspect="1"/>
          </p:cNvPicPr>
          <p:nvPr/>
        </p:nvPicPr>
        <p:blipFill>
          <a:blip r:embed="rId5"/>
          <a:stretch>
            <a:fillRect/>
          </a:stretch>
        </p:blipFill>
        <p:spPr>
          <a:xfrm>
            <a:off x="4479646" y="4219956"/>
            <a:ext cx="3238804" cy="552298"/>
          </a:xfrm>
          <a:prstGeom prst="rect">
            <a:avLst/>
          </a:prstGeom>
          <a:ln/>
        </p:spPr>
      </p:pic>
      <p:sp>
        <p:nvSpPr>
          <p:cNvPr id="45" name="TextBox 44"/>
          <p:cNvSpPr txBox="1"/>
          <p:nvPr/>
        </p:nvSpPr>
        <p:spPr>
          <a:xfrm>
            <a:off x="4479646" y="4219956"/>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GPU優先 (TensorRT-LLM / vLLM) 32B〜70B級モデル</a:t>
            </a:r>
          </a:p>
        </p:txBody>
      </p:sp>
      <p:sp>
        <p:nvSpPr>
          <p:cNvPr id="46" name="TextBox 45"/>
          <p:cNvSpPr txBox="1"/>
          <p:nvPr/>
        </p:nvSpPr>
        <p:spPr>
          <a:xfrm>
            <a:off x="4479646" y="4886554"/>
            <a:ext cx="3353104" cy="191110"/>
          </a:xfrm>
          <a:prstGeom prst="rect">
            <a:avLst/>
          </a:prstGeom>
          <a:noFill/>
          <a:ln/>
        </p:spPr>
        <p:txBody>
          <a:bodyPr wrap="square" lIns="0" rIns="0" tIns="0" bIns="0">
            <a:noAutofit/>
          </a:bodyPr>
          <a:lstStyle/>
          <a:p>
            <a:r>
              <a:rPr sz="900" b="1">
                <a:solidFill>
                  <a:srgbClr val="86868B"/>
                </a:solidFill>
                <a:latin typeface="Noto Sans JP"/>
              </a:rPr>
              <a:t>ASR / TTS</a:t>
            </a:r>
          </a:p>
        </p:txBody>
      </p:sp>
      <p:pic>
        <p:nvPicPr>
          <p:cNvPr id="47" name="Picture 46" descr="image.png"/>
          <p:cNvPicPr>
            <a:picLocks noChangeAspect="1"/>
          </p:cNvPicPr>
          <p:nvPr/>
        </p:nvPicPr>
        <p:blipFill>
          <a:blip r:embed="rId5"/>
          <a:stretch>
            <a:fillRect/>
          </a:stretch>
        </p:blipFill>
        <p:spPr>
          <a:xfrm>
            <a:off x="4479646" y="5110582"/>
            <a:ext cx="3238804" cy="552298"/>
          </a:xfrm>
          <a:prstGeom prst="rect">
            <a:avLst/>
          </a:prstGeom>
          <a:ln/>
        </p:spPr>
      </p:pic>
      <p:sp>
        <p:nvSpPr>
          <p:cNvPr id="48" name="TextBox 47"/>
          <p:cNvSpPr txBox="1"/>
          <p:nvPr/>
        </p:nvSpPr>
        <p:spPr>
          <a:xfrm>
            <a:off x="4479646" y="5110582"/>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faster-whisper (GPU) XTTS / StyleTTS2 (高品質)</a:t>
            </a:r>
          </a:p>
        </p:txBody>
      </p:sp>
      <p:sp>
        <p:nvSpPr>
          <p:cNvPr id="49" name="TextBox 48"/>
          <p:cNvSpPr txBox="1"/>
          <p:nvPr/>
        </p:nvSpPr>
        <p:spPr>
          <a:xfrm>
            <a:off x="4479646" y="5777179"/>
            <a:ext cx="3353104" cy="191110"/>
          </a:xfrm>
          <a:prstGeom prst="rect">
            <a:avLst/>
          </a:prstGeom>
          <a:noFill/>
          <a:ln/>
        </p:spPr>
        <p:txBody>
          <a:bodyPr wrap="square" lIns="0" rIns="0" tIns="0" bIns="0">
            <a:noAutofit/>
          </a:bodyPr>
          <a:lstStyle/>
          <a:p>
            <a:r>
              <a:rPr sz="900" b="1">
                <a:solidFill>
                  <a:srgbClr val="86868B"/>
                </a:solidFill>
                <a:latin typeface="Noto Sans JP"/>
              </a:rPr>
              <a:t>RAG / VLM</a:t>
            </a:r>
          </a:p>
        </p:txBody>
      </p:sp>
      <p:pic>
        <p:nvPicPr>
          <p:cNvPr id="50" name="Picture 49" descr="image.png"/>
          <p:cNvPicPr>
            <a:picLocks noChangeAspect="1"/>
          </p:cNvPicPr>
          <p:nvPr/>
        </p:nvPicPr>
        <p:blipFill>
          <a:blip r:embed="rId5"/>
          <a:stretch>
            <a:fillRect/>
          </a:stretch>
        </p:blipFill>
        <p:spPr>
          <a:xfrm>
            <a:off x="4479646" y="6001207"/>
            <a:ext cx="3238804" cy="552298"/>
          </a:xfrm>
          <a:prstGeom prst="rect">
            <a:avLst/>
          </a:prstGeom>
          <a:ln/>
        </p:spPr>
      </p:pic>
      <p:sp>
        <p:nvSpPr>
          <p:cNvPr id="51" name="TextBox 50"/>
          <p:cNvSpPr txBox="1"/>
          <p:nvPr/>
        </p:nvSpPr>
        <p:spPr>
          <a:xfrm>
            <a:off x="4479646" y="6001207"/>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bge-reranker-large Qwen2-VL 7B / InternVL2</a:t>
            </a:r>
          </a:p>
        </p:txBody>
      </p:sp>
      <p:pic>
        <p:nvPicPr>
          <p:cNvPr id="52" name="Picture 51" descr="image.png"/>
          <p:cNvPicPr>
            <a:picLocks noChangeAspect="1"/>
          </p:cNvPicPr>
          <p:nvPr/>
        </p:nvPicPr>
        <p:blipFill>
          <a:blip r:embed="rId9"/>
          <a:stretch>
            <a:fillRect/>
          </a:stretch>
        </p:blipFill>
        <p:spPr>
          <a:xfrm>
            <a:off x="4479646" y="6743700"/>
            <a:ext cx="1447495" cy="247802"/>
          </a:xfrm>
          <a:prstGeom prst="rect">
            <a:avLst/>
          </a:prstGeom>
          <a:ln/>
        </p:spPr>
      </p:pic>
      <p:sp>
        <p:nvSpPr>
          <p:cNvPr id="53" name="TextBox 52"/>
          <p:cNvSpPr txBox="1"/>
          <p:nvPr/>
        </p:nvSpPr>
        <p:spPr>
          <a:xfrm>
            <a:off x="4699102" y="6743700"/>
            <a:ext cx="1228953"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リッチな体験・高精度</a:t>
            </a:r>
          </a:p>
        </p:txBody>
      </p:sp>
      <p:pic>
        <p:nvPicPr>
          <p:cNvPr id="54" name="Picture 53" descr="image.png"/>
          <p:cNvPicPr>
            <a:picLocks noChangeAspect="1"/>
          </p:cNvPicPr>
          <p:nvPr/>
        </p:nvPicPr>
        <p:blipFill>
          <a:blip r:embed="rId7"/>
          <a:stretch>
            <a:fillRect/>
          </a:stretch>
        </p:blipFill>
        <p:spPr>
          <a:xfrm>
            <a:off x="4556455" y="6815023"/>
            <a:ext cx="105155" cy="114300"/>
          </a:xfrm>
          <a:prstGeom prst="rect">
            <a:avLst/>
          </a:prstGeom>
          <a:ln/>
        </p:spPr>
      </p:pic>
      <p:sp>
        <p:nvSpPr>
          <p:cNvPr id="55" name="TextBox 54"/>
          <p:cNvSpPr txBox="1"/>
          <p:nvPr/>
        </p:nvSpPr>
        <p:spPr>
          <a:xfrm>
            <a:off x="8102497" y="2295144"/>
            <a:ext cx="3638398" cy="4895697"/>
          </a:xfrm>
          <a:prstGeom prst="rect">
            <a:avLst/>
          </a:prstGeom>
          <a:noFill/>
          <a:ln w="12700">
            <a:solidFill>
              <a:srgbClr val="E5E5E5"/>
            </a:solidFill>
          </a:ln>
        </p:spPr>
        <p:txBody>
          <a:bodyPr wrap="square" lIns="0" rIns="0" tIns="0" bIns="0">
            <a:noAutofit/>
          </a:bodyPr>
          <a:lstStyle/>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p:spPr>
      </p:pic>
      <p:sp>
        <p:nvSpPr>
          <p:cNvPr id="59" name="TextBox 58"/>
          <p:cNvSpPr txBox="1"/>
          <p:nvPr/>
        </p:nvSpPr>
        <p:spPr>
          <a:xfrm>
            <a:off x="9452153" y="2467051"/>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60" name="Rectangle 59"/>
          <p:cNvSpPr/>
          <p:nvPr/>
        </p:nvSpPr>
        <p:spPr>
          <a:xfrm>
            <a:off x="8112557" y="2915107"/>
            <a:ext cx="3619195" cy="426750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62" name="Picture 61" descr="image.png"/>
          <p:cNvPicPr>
            <a:picLocks noChangeAspect="1"/>
          </p:cNvPicPr>
          <p:nvPr/>
        </p:nvPicPr>
        <p:blipFill>
          <a:blip r:embed="rId5"/>
          <a:stretch>
            <a:fillRect/>
          </a:stretch>
        </p:blipFill>
        <p:spPr>
          <a:xfrm>
            <a:off x="8302752" y="3329329"/>
            <a:ext cx="3238805" cy="552298"/>
          </a:xfrm>
          <a:prstGeom prst="rect">
            <a:avLst/>
          </a:prstGeom>
          <a:ln/>
        </p:spPr>
      </p:pic>
      <p:sp>
        <p:nvSpPr>
          <p:cNvPr id="63" name="TextBox 62"/>
          <p:cNvSpPr txBox="1"/>
          <p:nvPr/>
        </p:nvSpPr>
        <p:spPr>
          <a:xfrm>
            <a:off x="8302752" y="3329329"/>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低スペックPC / 古いMac メモリ8GB以下等</a:t>
            </a:r>
          </a:p>
        </p:txBody>
      </p:sp>
      <p:sp>
        <p:nvSpPr>
          <p:cNvPr id="64" name="TextBox 63"/>
          <p:cNvSpPr txBox="1"/>
          <p:nvPr/>
        </p:nvSpPr>
        <p:spPr>
          <a:xfrm>
            <a:off x="8302752" y="3995928"/>
            <a:ext cx="3353105"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65" name="Picture 64" descr="image.png"/>
          <p:cNvPicPr>
            <a:picLocks noChangeAspect="1"/>
          </p:cNvPicPr>
          <p:nvPr/>
        </p:nvPicPr>
        <p:blipFill>
          <a:blip r:embed="rId5"/>
          <a:stretch>
            <a:fillRect/>
          </a:stretch>
        </p:blipFill>
        <p:spPr>
          <a:xfrm>
            <a:off x="8302752" y="4219956"/>
            <a:ext cx="3238805" cy="552298"/>
          </a:xfrm>
          <a:prstGeom prst="rect">
            <a:avLst/>
          </a:prstGeom>
          <a:ln/>
        </p:spPr>
      </p:pic>
      <p:sp>
        <p:nvSpPr>
          <p:cNvPr id="66" name="TextBox 65"/>
          <p:cNvSpPr txBox="1"/>
          <p:nvPr/>
        </p:nvSpPr>
        <p:spPr>
          <a:xfrm>
            <a:off x="8302752" y="4219956"/>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Phi-3 mini (3.8B) 等 GGUF Q4 (極小モデル)</a:t>
            </a:r>
          </a:p>
        </p:txBody>
      </p:sp>
      <p:sp>
        <p:nvSpPr>
          <p:cNvPr id="67" name="TextBox 66"/>
          <p:cNvSpPr txBox="1"/>
          <p:nvPr/>
        </p:nvSpPr>
        <p:spPr>
          <a:xfrm>
            <a:off x="8302752" y="4886554"/>
            <a:ext cx="3353105" cy="191110"/>
          </a:xfrm>
          <a:prstGeom prst="rect">
            <a:avLst/>
          </a:prstGeom>
          <a:noFill/>
          <a:ln/>
        </p:spPr>
        <p:txBody>
          <a:bodyPr wrap="square" lIns="0" rIns="0" tIns="0" bIns="0">
            <a:noAutofit/>
          </a:bodyPr>
          <a:lstStyle/>
          <a:p>
            <a:r>
              <a:rPr sz="900" b="1">
                <a:solidFill>
                  <a:srgbClr val="86868B"/>
                </a:solidFill>
                <a:latin typeface="Noto Sans JP"/>
              </a:rPr>
              <a:t>Strategy</a:t>
            </a:r>
          </a:p>
        </p:txBody>
      </p:sp>
      <p:pic>
        <p:nvPicPr>
          <p:cNvPr id="68" name="Picture 67" descr="image.png"/>
          <p:cNvPicPr>
            <a:picLocks noChangeAspect="1"/>
          </p:cNvPicPr>
          <p:nvPr/>
        </p:nvPicPr>
        <p:blipFill>
          <a:blip r:embed="rId5"/>
          <a:stretch>
            <a:fillRect/>
          </a:stretch>
        </p:blipFill>
        <p:spPr>
          <a:xfrm>
            <a:off x="8302752" y="5110582"/>
            <a:ext cx="3238805" cy="552298"/>
          </a:xfrm>
          <a:prstGeom prst="rect">
            <a:avLst/>
          </a:prstGeom>
          <a:ln/>
        </p:spPr>
      </p:pic>
      <p:sp>
        <p:nvSpPr>
          <p:cNvPr id="69" name="TextBox 68"/>
          <p:cNvSpPr txBox="1"/>
          <p:nvPr/>
        </p:nvSpPr>
        <p:spPr>
          <a:xfrm>
            <a:off x="8302752" y="511058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短いコンテキストで完結させる RAGはEmbedding検索を重視</a:t>
            </a:r>
          </a:p>
        </p:txBody>
      </p:sp>
      <p:sp>
        <p:nvSpPr>
          <p:cNvPr id="70" name="TextBox 69"/>
          <p:cNvSpPr txBox="1"/>
          <p:nvPr/>
        </p:nvSpPr>
        <p:spPr>
          <a:xfrm>
            <a:off x="8302752" y="5777179"/>
            <a:ext cx="3353105" cy="191110"/>
          </a:xfrm>
          <a:prstGeom prst="rect">
            <a:avLst/>
          </a:prstGeom>
          <a:noFill/>
          <a:ln/>
        </p:spPr>
        <p:txBody>
          <a:bodyPr wrap="square" lIns="0" rIns="0" tIns="0" bIns="0">
            <a:noAutofit/>
          </a:bodyPr>
          <a:lstStyle/>
          <a:p>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6001207"/>
            <a:ext cx="3238805" cy="552298"/>
          </a:xfrm>
          <a:prstGeom prst="rect">
            <a:avLst/>
          </a:prstGeom>
          <a:ln/>
        </p:spPr>
      </p:pic>
      <p:sp>
        <p:nvSpPr>
          <p:cNvPr id="72" name="TextBox 71"/>
          <p:cNvSpPr txBox="1"/>
          <p:nvPr/>
        </p:nvSpPr>
        <p:spPr>
          <a:xfrm>
            <a:off x="8302752" y="6001207"/>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LLM自体を軽くし、検索精度で補う 生成タスクを限定する</a:t>
            </a:r>
          </a:p>
        </p:txBody>
      </p:sp>
      <p:pic>
        <p:nvPicPr>
          <p:cNvPr id="73" name="Picture 72" descr="image.png"/>
          <p:cNvPicPr>
            <a:picLocks noChangeAspect="1"/>
          </p:cNvPicPr>
          <p:nvPr/>
        </p:nvPicPr>
        <p:blipFill>
          <a:blip r:embed="rId11"/>
          <a:stretch>
            <a:fillRect/>
          </a:stretch>
        </p:blipFill>
        <p:spPr>
          <a:xfrm>
            <a:off x="8302752" y="6743700"/>
            <a:ext cx="1218895" cy="247802"/>
          </a:xfrm>
          <a:prstGeom prst="rect">
            <a:avLst/>
          </a:prstGeom>
          <a:ln/>
        </p:spPr>
      </p:pic>
      <p:sp>
        <p:nvSpPr>
          <p:cNvPr id="74" name="TextBox 73"/>
          <p:cNvSpPr txBox="1"/>
          <p:nvPr/>
        </p:nvSpPr>
        <p:spPr>
          <a:xfrm>
            <a:off x="8522208" y="6743700"/>
            <a:ext cx="1000354"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極限環境での動作</a:t>
            </a:r>
          </a:p>
        </p:txBody>
      </p:sp>
      <p:pic>
        <p:nvPicPr>
          <p:cNvPr id="75" name="Picture 74" descr="image.png"/>
          <p:cNvPicPr>
            <a:picLocks noChangeAspect="1"/>
          </p:cNvPicPr>
          <p:nvPr/>
        </p:nvPicPr>
        <p:blipFill>
          <a:blip r:embed="rId7"/>
          <a:stretch>
            <a:fillRect/>
          </a:stretch>
        </p:blipFill>
        <p:spPr>
          <a:xfrm>
            <a:off x="8378647" y="6815023"/>
            <a:ext cx="105155" cy="114300"/>
          </a:xfrm>
          <a:prstGeom prst="rect">
            <a:avLst/>
          </a:prstGeom>
          <a:ln/>
        </p:spPr>
      </p:pic>
      <p:sp>
        <p:nvSpPr>
          <p:cNvPr id="76" name="Rectangle 75"/>
          <p:cNvSpPr/>
          <p:nvPr/>
        </p:nvSpPr>
        <p:spPr>
          <a:xfrm>
            <a:off x="0" y="7477049"/>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47704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487107"/>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9" name="TextBox 78"/>
          <p:cNvSpPr txBox="1"/>
          <p:nvPr/>
        </p:nvSpPr>
        <p:spPr>
          <a:xfrm>
            <a:off x="11448288" y="7487107"/>
            <a:ext cx="372160" cy="171907"/>
          </a:xfrm>
          <a:prstGeom prst="rect">
            <a:avLst/>
          </a:prstGeom>
          <a:noFill/>
          <a:ln/>
        </p:spPr>
        <p:txBody>
          <a:bodyPr wrap="square" lIns="0" rIns="0" tIns="0" bIns="0">
            <a:noAutofit/>
          </a:bodyPr>
          <a:lstStyle/>
          <a:p>
            <a:r>
              <a:rPr sz="900">
                <a:solidFill>
                  <a:srgbClr val="86868B"/>
                </a:solidFill>
                <a:latin typeface="Noto Sans JP"/>
              </a:rPr>
              <a:t>7 /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276149"/>
            <a:ext cx="342900" cy="304494"/>
          </a:xfrm>
          <a:prstGeom prst="rect">
            <a:avLst/>
          </a:prstGeom>
          <a:ln/>
        </p:spPr>
      </p:pic>
      <p:sp>
        <p:nvSpPr>
          <p:cNvPr id="7" name="TextBox 6"/>
          <p:cNvSpPr txBox="1"/>
          <p:nvPr/>
        </p:nvSpPr>
        <p:spPr>
          <a:xfrm>
            <a:off x="952805" y="200254"/>
            <a:ext cx="4197096" cy="457200"/>
          </a:xfrm>
          <a:prstGeom prst="rect">
            <a:avLst/>
          </a:prstGeom>
          <a:noFill/>
          <a:ln/>
        </p:spPr>
        <p:txBody>
          <a:bodyPr wrap="square" lIns="0" rIns="0" tIns="0" bIns="0">
            <a:noAutofit/>
          </a:bodyPr>
          <a:lstStyle/>
          <a:p>
            <a:r>
              <a:rPr sz="2400" b="1">
                <a:solidFill>
                  <a:srgbClr val="FFFFFF"/>
                </a:solidFill>
                <a:latin typeface="Noto Sans JP"/>
              </a:rPr>
              <a:t>ローカルAIの定義とスコープ</a:t>
            </a:r>
          </a:p>
        </p:txBody>
      </p:sp>
      <p:sp>
        <p:nvSpPr>
          <p:cNvPr id="8" name="TextBox 7"/>
          <p:cNvSpPr txBox="1"/>
          <p:nvPr/>
        </p:nvSpPr>
        <p:spPr>
          <a:xfrm>
            <a:off x="10228478" y="299923"/>
            <a:ext cx="1802282" cy="257861"/>
          </a:xfrm>
          <a:prstGeom prst="rect">
            <a:avLst/>
          </a:prstGeom>
          <a:noFill/>
          <a:ln/>
        </p:spPr>
        <p:txBody>
          <a:bodyPr wrap="square" lIns="0" rIns="0" tIns="0" bIns="0">
            <a:noAutofit/>
          </a:bodyPr>
          <a:lstStyle/>
          <a:p>
            <a:r>
              <a:rPr sz="1300">
                <a:solidFill>
                  <a:srgbClr val="D1D1D6"/>
                </a:solidFill>
                <a:latin typeface="Noto Sans JP"/>
              </a:rPr>
              <a:t>Definition &amp; Scope</a:t>
            </a:r>
          </a:p>
        </p:txBody>
      </p:sp>
      <p:sp>
        <p:nvSpPr>
          <p:cNvPr id="9" name="Rectangle 8"/>
          <p:cNvSpPr/>
          <p:nvPr/>
        </p:nvSpPr>
        <p:spPr>
          <a:xfrm>
            <a:off x="457200" y="1238098"/>
            <a:ext cx="11277295" cy="1410005"/>
          </a:xfrm>
          <a:prstGeom prst="rect">
            <a:avLst/>
          </a:prstGeom>
          <a:solidFill>
            <a:srgbClr val="F0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238098"/>
            <a:ext cx="75895" cy="1410005"/>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505" y="1466698"/>
            <a:ext cx="10706710" cy="228600"/>
          </a:xfrm>
          <a:prstGeom prst="rect">
            <a:avLst/>
          </a:prstGeom>
          <a:noFill/>
          <a:ln/>
        </p:spPr>
        <p:txBody>
          <a:bodyPr wrap="square" lIns="0" rIns="0" tIns="0" bIns="0">
            <a:noAutofit/>
          </a:bodyPr>
          <a:lstStyle/>
          <a:p>
            <a:r>
              <a:rPr sz="1200" b="1">
                <a:solidFill>
                  <a:srgbClr val="007AFF"/>
                </a:solidFill>
                <a:latin typeface="Noto Sans JP"/>
              </a:rPr>
              <a:t>DEFINITION</a:t>
            </a:r>
          </a:p>
        </p:txBody>
      </p:sp>
      <p:sp>
        <p:nvSpPr>
          <p:cNvPr id="12" name="TextBox 11"/>
          <p:cNvSpPr txBox="1"/>
          <p:nvPr/>
        </p:nvSpPr>
        <p:spPr>
          <a:xfrm>
            <a:off x="838505" y="1772107"/>
            <a:ext cx="10678363" cy="648310"/>
          </a:xfrm>
          <a:prstGeom prst="rect">
            <a:avLst/>
          </a:prstGeom>
          <a:noFill/>
          <a:ln/>
        </p:spPr>
        <p:txBody>
          <a:bodyPr wrap="square" lIns="0" rIns="0" tIns="0" bIns="0">
            <a:noAutofit/>
          </a:bodyPr>
          <a:lstStyle/>
          <a:p>
            <a:r>
              <a:rPr sz="1800" b="1">
                <a:solidFill>
                  <a:srgbClr val="1D1D1F"/>
                </a:solidFill>
                <a:latin typeface="Noto Sans JP"/>
              </a:rPr>
              <a:t>本資料の「ローカルAI」とは、推論がユーザー管理下（端末／ローカルPC／ローカルLAN）で完結し、入力データが外部へ送信されない構成を指します。</a:t>
            </a:r>
          </a:p>
        </p:txBody>
      </p:sp>
      <p:sp>
        <p:nvSpPr>
          <p:cNvPr id="13" name="Rectangle 12"/>
          <p:cNvSpPr/>
          <p:nvPr/>
        </p:nvSpPr>
        <p:spPr>
          <a:xfrm>
            <a:off x="457200"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564331"/>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944" y="3107131"/>
            <a:ext cx="342900"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780898" y="3193085"/>
            <a:ext cx="171907" cy="171907"/>
          </a:xfrm>
          <a:prstGeom prst="rect">
            <a:avLst/>
          </a:prstGeom>
          <a:ln/>
        </p:spPr>
      </p:pic>
      <p:sp>
        <p:nvSpPr>
          <p:cNvPr id="17" name="TextBox 16"/>
          <p:cNvSpPr txBox="1"/>
          <p:nvPr/>
        </p:nvSpPr>
        <p:spPr>
          <a:xfrm>
            <a:off x="1152144" y="3150108"/>
            <a:ext cx="2027225" cy="257861"/>
          </a:xfrm>
          <a:prstGeom prst="rect">
            <a:avLst/>
          </a:prstGeom>
          <a:noFill/>
          <a:ln/>
        </p:spPr>
        <p:txBody>
          <a:bodyPr wrap="square" lIns="0" rIns="0" tIns="0" bIns="0">
            <a:noAutofit/>
          </a:bodyPr>
          <a:lstStyle/>
          <a:p>
            <a:r>
              <a:rPr sz="1300" b="1">
                <a:solidFill>
                  <a:srgbClr val="1D1D1F"/>
                </a:solidFill>
                <a:latin typeface="Noto Sans JP"/>
              </a:rPr>
              <a:t>スコープの射程（範囲）</a:t>
            </a:r>
          </a:p>
        </p:txBody>
      </p:sp>
      <p:pic>
        <p:nvPicPr>
          <p:cNvPr id="18" name="Picture 17" descr="image.png"/>
          <p:cNvPicPr>
            <a:picLocks noChangeAspect="1"/>
          </p:cNvPicPr>
          <p:nvPr/>
        </p:nvPicPr>
        <p:blipFill>
          <a:blip r:embed="rId4"/>
          <a:stretch>
            <a:fillRect/>
          </a:stretch>
        </p:blipFill>
        <p:spPr>
          <a:xfrm>
            <a:off x="694944" y="3773729"/>
            <a:ext cx="152705" cy="152705"/>
          </a:xfrm>
          <a:prstGeom prst="rect">
            <a:avLst/>
          </a:prstGeom>
          <a:ln/>
        </p:spPr>
      </p:pic>
      <p:sp>
        <p:nvSpPr>
          <p:cNvPr id="19" name="TextBox 18"/>
          <p:cNvSpPr txBox="1"/>
          <p:nvPr/>
        </p:nvSpPr>
        <p:spPr>
          <a:xfrm>
            <a:off x="1190549" y="3735324"/>
            <a:ext cx="4629606" cy="695858"/>
          </a:xfrm>
          <a:prstGeom prst="rect">
            <a:avLst/>
          </a:prstGeom>
          <a:noFill/>
          <a:ln/>
        </p:spPr>
        <p:txBody>
          <a:bodyPr wrap="square" lIns="0" rIns="0" tIns="0" bIns="0">
            <a:noAutofit/>
          </a:bodyPr>
          <a:lstStyle/>
          <a:p>
            <a:r>
              <a:rPr sz="1200" b="1">
                <a:solidFill>
                  <a:srgbClr val="424245"/>
                </a:solidFill>
                <a:latin typeface="Noto Sans JP"/>
              </a:rPr>
              <a:t>ローカルAPIサーバを含む:</a:t>
            </a:r>
          </a:p>
          <a:p>
            <a:r>
              <a:rPr sz="1200">
                <a:solidFill>
                  <a:srgbClr val="424245"/>
                </a:solidFill>
                <a:latin typeface="Noto Sans JP"/>
              </a:rPr>
              <a:t>localhostだけでなく、LAN公開（network）された推論サーバも対象。</a:t>
            </a:r>
          </a:p>
        </p:txBody>
      </p:sp>
      <p:pic>
        <p:nvPicPr>
          <p:cNvPr id="20" name="Picture 19" descr="image.png"/>
          <p:cNvPicPr>
            <a:picLocks noChangeAspect="1"/>
          </p:cNvPicPr>
          <p:nvPr/>
        </p:nvPicPr>
        <p:blipFill>
          <a:blip r:embed="rId5"/>
          <a:stretch>
            <a:fillRect/>
          </a:stretch>
        </p:blipFill>
        <p:spPr>
          <a:xfrm>
            <a:off x="1304849" y="4221785"/>
            <a:ext cx="1200607" cy="209398"/>
          </a:xfrm>
          <a:prstGeom prst="rect">
            <a:avLst/>
          </a:prstGeom>
          <a:ln/>
        </p:spPr>
      </p:pic>
      <p:sp>
        <p:nvSpPr>
          <p:cNvPr id="21" name="TextBox 20"/>
          <p:cNvSpPr txBox="1"/>
          <p:nvPr/>
        </p:nvSpPr>
        <p:spPr>
          <a:xfrm>
            <a:off x="1304849" y="4221785"/>
            <a:ext cx="1200607" cy="210312"/>
          </a:xfrm>
          <a:prstGeom prst="rect">
            <a:avLst/>
          </a:prstGeom>
          <a:noFill/>
          <a:ln>
            <a:solidFill>
              <a:srgbClr val="FFFFFF"/>
            </a:solidFill>
          </a:ln>
        </p:spPr>
        <p:txBody>
          <a:bodyPr wrap="square" lIns="0" rIns="0" tIns="0" bIns="0">
            <a:noAutofit/>
          </a:bodyPr>
          <a:lstStyle/>
          <a:p>
            <a:r>
              <a:rPr sz="900" b="1">
                <a:solidFill>
                  <a:srgbClr val="007AFF"/>
                </a:solidFill>
                <a:latin typeface="Noto Sans JP"/>
              </a:rPr>
              <a:t>LM Studio / Ollama</a:t>
            </a:r>
          </a:p>
        </p:txBody>
      </p:sp>
      <p:pic>
        <p:nvPicPr>
          <p:cNvPr id="22" name="Picture 21" descr="image.png"/>
          <p:cNvPicPr>
            <a:picLocks noChangeAspect="1"/>
          </p:cNvPicPr>
          <p:nvPr/>
        </p:nvPicPr>
        <p:blipFill>
          <a:blip r:embed="rId4"/>
          <a:stretch>
            <a:fillRect/>
          </a:stretch>
        </p:blipFill>
        <p:spPr>
          <a:xfrm>
            <a:off x="694944" y="4582973"/>
            <a:ext cx="152705" cy="152705"/>
          </a:xfrm>
          <a:prstGeom prst="rect">
            <a:avLst/>
          </a:prstGeom>
          <a:ln/>
        </p:spPr>
      </p:pic>
      <p:sp>
        <p:nvSpPr>
          <p:cNvPr id="23" name="TextBox 22"/>
          <p:cNvSpPr txBox="1"/>
          <p:nvPr/>
        </p:nvSpPr>
        <p:spPr>
          <a:xfrm>
            <a:off x="1190549" y="4545482"/>
            <a:ext cx="4629606" cy="685800"/>
          </a:xfrm>
          <a:prstGeom prst="rect">
            <a:avLst/>
          </a:prstGeom>
          <a:noFill/>
          <a:ln/>
        </p:spPr>
        <p:txBody>
          <a:bodyPr wrap="square" lIns="0" rIns="0" tIns="0" bIns="0">
            <a:noAutofit/>
          </a:bodyPr>
          <a:lstStyle/>
          <a:p>
            <a:r>
              <a:rPr sz="1200" b="1">
                <a:solidFill>
                  <a:srgbClr val="424245"/>
                </a:solidFill>
                <a:latin typeface="Noto Sans JP"/>
              </a:rPr>
              <a:t>実装例:</a:t>
            </a:r>
          </a:p>
          <a:p>
            <a:r>
              <a:rPr sz="1200">
                <a:solidFill>
                  <a:srgbClr val="424245"/>
                </a:solidFill>
                <a:latin typeface="Noto Sans JP"/>
              </a:rPr>
              <a:t>Windows/macOS/Linux上で動作するOllama、LM Studio等のOpenAI互換APIサーバ。</a:t>
            </a:r>
          </a:p>
        </p:txBody>
      </p:sp>
      <p:pic>
        <p:nvPicPr>
          <p:cNvPr id="24" name="Picture 23" descr="image.png"/>
          <p:cNvPicPr>
            <a:picLocks noChangeAspect="1"/>
          </p:cNvPicPr>
          <p:nvPr/>
        </p:nvPicPr>
        <p:blipFill>
          <a:blip r:embed="rId4"/>
          <a:stretch>
            <a:fillRect/>
          </a:stretch>
        </p:blipFill>
        <p:spPr>
          <a:xfrm>
            <a:off x="694944" y="5383073"/>
            <a:ext cx="152705" cy="152705"/>
          </a:xfrm>
          <a:prstGeom prst="rect">
            <a:avLst/>
          </a:prstGeom>
          <a:ln/>
        </p:spPr>
      </p:pic>
      <p:sp>
        <p:nvSpPr>
          <p:cNvPr id="25" name="TextBox 24"/>
          <p:cNvSpPr txBox="1"/>
          <p:nvPr/>
        </p:nvSpPr>
        <p:spPr>
          <a:xfrm>
            <a:off x="1190549" y="5345582"/>
            <a:ext cx="4629606" cy="685800"/>
          </a:xfrm>
          <a:prstGeom prst="rect">
            <a:avLst/>
          </a:prstGeom>
          <a:noFill/>
          <a:ln/>
        </p:spPr>
        <p:txBody>
          <a:bodyPr wrap="square" lIns="0" rIns="0" tIns="0" bIns="0">
            <a:noAutofit/>
          </a:bodyPr>
          <a:lstStyle/>
          <a:p>
            <a:r>
              <a:rPr sz="1200" b="1">
                <a:solidFill>
                  <a:srgbClr val="424245"/>
                </a:solidFill>
                <a:latin typeface="Noto Sans JP"/>
              </a:rPr>
              <a:t>非対象:</a:t>
            </a:r>
          </a:p>
          <a:p>
            <a:r>
              <a:rPr sz="1200">
                <a:solidFill>
                  <a:srgbClr val="424245"/>
                </a:solidFill>
                <a:latin typeface="Noto Sans JP"/>
              </a:rPr>
              <a:t>推論リクエストがインターネット経由で外部クラウドAPI（OpenAI, Anthropic等）へ飛ぶ構成。</a:t>
            </a:r>
          </a:p>
        </p:txBody>
      </p:sp>
      <p:sp>
        <p:nvSpPr>
          <p:cNvPr id="26" name="Rectangle 25"/>
          <p:cNvSpPr/>
          <p:nvPr/>
        </p:nvSpPr>
        <p:spPr>
          <a:xfrm>
            <a:off x="6210605" y="2868473"/>
            <a:ext cx="5524805" cy="35149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564331"/>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48349" y="3107131"/>
            <a:ext cx="342899" cy="342900"/>
          </a:xfrm>
          <a:prstGeom prst="rect">
            <a:avLst/>
          </a:prstGeom>
          <a:solidFill>
            <a:srgbClr val="E5E5E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6"/>
          <a:stretch>
            <a:fillRect/>
          </a:stretch>
        </p:blipFill>
        <p:spPr>
          <a:xfrm>
            <a:off x="6534302" y="3193085"/>
            <a:ext cx="171907" cy="171907"/>
          </a:xfrm>
          <a:prstGeom prst="rect">
            <a:avLst/>
          </a:prstGeom>
          <a:ln/>
        </p:spPr>
      </p:pic>
      <p:sp>
        <p:nvSpPr>
          <p:cNvPr id="30" name="TextBox 29"/>
          <p:cNvSpPr txBox="1"/>
          <p:nvPr/>
        </p:nvSpPr>
        <p:spPr>
          <a:xfrm>
            <a:off x="6905549" y="3150108"/>
            <a:ext cx="2911449" cy="257861"/>
          </a:xfrm>
          <a:prstGeom prst="rect">
            <a:avLst/>
          </a:prstGeom>
          <a:noFill/>
          <a:ln/>
        </p:spPr>
        <p:txBody>
          <a:bodyPr wrap="square" lIns="0" rIns="0" tIns="0" bIns="0">
            <a:noAutofit/>
          </a:bodyPr>
          <a:lstStyle/>
          <a:p>
            <a:r>
              <a:rPr sz="1300" b="1">
                <a:solidFill>
                  <a:srgbClr val="1D1D1F"/>
                </a:solidFill>
                <a:latin typeface="Noto Sans JP"/>
              </a:rPr>
              <a:t>設計含意（Design Implication）</a:t>
            </a:r>
          </a:p>
        </p:txBody>
      </p:sp>
      <p:pic>
        <p:nvPicPr>
          <p:cNvPr id="31" name="Picture 30" descr="image.png"/>
          <p:cNvPicPr>
            <a:picLocks noChangeAspect="1"/>
          </p:cNvPicPr>
          <p:nvPr/>
        </p:nvPicPr>
        <p:blipFill>
          <a:blip r:embed="rId7"/>
          <a:stretch>
            <a:fillRect/>
          </a:stretch>
        </p:blipFill>
        <p:spPr>
          <a:xfrm>
            <a:off x="6448349" y="3773729"/>
            <a:ext cx="152704" cy="152705"/>
          </a:xfrm>
          <a:prstGeom prst="rect">
            <a:avLst/>
          </a:prstGeom>
          <a:ln/>
        </p:spPr>
      </p:pic>
      <p:sp>
        <p:nvSpPr>
          <p:cNvPr id="32" name="TextBox 31"/>
          <p:cNvSpPr txBox="1"/>
          <p:nvPr/>
        </p:nvSpPr>
        <p:spPr>
          <a:xfrm>
            <a:off x="6943954" y="3735324"/>
            <a:ext cx="4629607" cy="685800"/>
          </a:xfrm>
          <a:prstGeom prst="rect">
            <a:avLst/>
          </a:prstGeom>
          <a:noFill/>
          <a:ln/>
        </p:spPr>
        <p:txBody>
          <a:bodyPr wrap="square" lIns="0" rIns="0" tIns="0" bIns="0">
            <a:noAutofit/>
          </a:bodyPr>
          <a:lstStyle/>
          <a:p>
            <a:r>
              <a:rPr sz="1200" b="1">
                <a:solidFill>
                  <a:srgbClr val="424245"/>
                </a:solidFill>
                <a:latin typeface="Noto Sans JP"/>
              </a:rPr>
              <a:t>プライバシー最優先:</a:t>
            </a:r>
          </a:p>
          <a:p>
            <a:r>
              <a:rPr sz="1200">
                <a:solidFill>
                  <a:srgbClr val="424245"/>
                </a:solidFill>
                <a:latin typeface="Noto Sans JP"/>
              </a:rPr>
              <a:t>機密データ（個人情報・社外秘）を入力しても外部流出しない安全性を担保。</a:t>
            </a:r>
          </a:p>
        </p:txBody>
      </p:sp>
      <p:pic>
        <p:nvPicPr>
          <p:cNvPr id="33" name="Picture 32" descr="image.png"/>
          <p:cNvPicPr>
            <a:picLocks noChangeAspect="1"/>
          </p:cNvPicPr>
          <p:nvPr/>
        </p:nvPicPr>
        <p:blipFill>
          <a:blip r:embed="rId8"/>
          <a:stretch>
            <a:fillRect/>
          </a:stretch>
        </p:blipFill>
        <p:spPr>
          <a:xfrm>
            <a:off x="6448349" y="4573829"/>
            <a:ext cx="152704" cy="152705"/>
          </a:xfrm>
          <a:prstGeom prst="rect">
            <a:avLst/>
          </a:prstGeom>
          <a:ln/>
        </p:spPr>
      </p:pic>
      <p:sp>
        <p:nvSpPr>
          <p:cNvPr id="34" name="TextBox 33"/>
          <p:cNvSpPr txBox="1"/>
          <p:nvPr/>
        </p:nvSpPr>
        <p:spPr>
          <a:xfrm>
            <a:off x="6943954" y="4535424"/>
            <a:ext cx="4629607" cy="685800"/>
          </a:xfrm>
          <a:prstGeom prst="rect">
            <a:avLst/>
          </a:prstGeom>
          <a:noFill/>
          <a:ln/>
        </p:spPr>
        <p:txBody>
          <a:bodyPr wrap="square" lIns="0" rIns="0" tIns="0" bIns="0">
            <a:noAutofit/>
          </a:bodyPr>
          <a:lstStyle/>
          <a:p>
            <a:r>
              <a:rPr sz="1200" b="1">
                <a:solidFill>
                  <a:srgbClr val="424245"/>
                </a:solidFill>
                <a:latin typeface="Noto Sans JP"/>
              </a:rPr>
              <a:t>コスト固定化:</a:t>
            </a:r>
          </a:p>
          <a:p>
            <a:r>
              <a:rPr sz="1200">
                <a:solidFill>
                  <a:srgbClr val="424245"/>
                </a:solidFill>
                <a:latin typeface="Noto Sans JP"/>
              </a:rPr>
              <a:t>トークン課金を回避し、ハードウェア初期投資のみでランニングコストを抑制。</a:t>
            </a:r>
          </a:p>
        </p:txBody>
      </p:sp>
      <p:pic>
        <p:nvPicPr>
          <p:cNvPr id="35" name="Picture 34" descr="image.png"/>
          <p:cNvPicPr>
            <a:picLocks noChangeAspect="1"/>
          </p:cNvPicPr>
          <p:nvPr/>
        </p:nvPicPr>
        <p:blipFill>
          <a:blip r:embed="rId9"/>
          <a:stretch>
            <a:fillRect/>
          </a:stretch>
        </p:blipFill>
        <p:spPr>
          <a:xfrm>
            <a:off x="6448349" y="5373929"/>
            <a:ext cx="190195" cy="152705"/>
          </a:xfrm>
          <a:prstGeom prst="rect">
            <a:avLst/>
          </a:prstGeom>
          <a:ln/>
        </p:spPr>
      </p:pic>
      <p:sp>
        <p:nvSpPr>
          <p:cNvPr id="36" name="TextBox 35"/>
          <p:cNvSpPr txBox="1"/>
          <p:nvPr/>
        </p:nvSpPr>
        <p:spPr>
          <a:xfrm>
            <a:off x="6982358" y="5335524"/>
            <a:ext cx="3801160" cy="457200"/>
          </a:xfrm>
          <a:prstGeom prst="rect">
            <a:avLst/>
          </a:prstGeom>
          <a:noFill/>
          <a:ln/>
        </p:spPr>
        <p:txBody>
          <a:bodyPr wrap="square" lIns="0" rIns="0" tIns="0" bIns="0">
            <a:noAutofit/>
          </a:bodyPr>
          <a:lstStyle/>
          <a:p>
            <a:r>
              <a:rPr sz="1200" b="1">
                <a:solidFill>
                  <a:srgbClr val="424245"/>
                </a:solidFill>
                <a:latin typeface="Noto Sans JP"/>
              </a:rPr>
              <a:t>耐障害性:</a:t>
            </a:r>
          </a:p>
          <a:p>
            <a:r>
              <a:rPr sz="1200">
                <a:solidFill>
                  <a:srgbClr val="424245"/>
                </a:solidFill>
                <a:latin typeface="Noto Sans JP"/>
              </a:rPr>
              <a:t>ネットワーク切断時でも推論機能が継続動作する自律性。</a:t>
            </a:r>
          </a:p>
        </p:txBody>
      </p:sp>
      <p:sp>
        <p:nvSpPr>
          <p:cNvPr id="37" name="Rectangle 36"/>
          <p:cNvSpPr/>
          <p:nvPr/>
        </p:nvSpPr>
        <p:spPr>
          <a:xfrm>
            <a:off x="457200" y="6612026"/>
            <a:ext cx="11277295" cy="990294"/>
          </a:xfrm>
          <a:prstGeom prst="rect">
            <a:avLst/>
          </a:prstGeom>
          <a:solidFill>
            <a:srgbClr val="FFF8E1"/>
          </a:solidFill>
          <a:ln w="12700">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10"/>
          <a:stretch>
            <a:fillRect/>
          </a:stretch>
        </p:blipFill>
        <p:spPr>
          <a:xfrm>
            <a:off x="694944" y="6793078"/>
            <a:ext cx="190194" cy="190194"/>
          </a:xfrm>
          <a:prstGeom prst="rect">
            <a:avLst/>
          </a:prstGeom>
          <a:ln/>
        </p:spPr>
      </p:pic>
      <p:sp>
        <p:nvSpPr>
          <p:cNvPr id="39" name="TextBox 38"/>
          <p:cNvSpPr txBox="1"/>
          <p:nvPr/>
        </p:nvSpPr>
        <p:spPr>
          <a:xfrm>
            <a:off x="1037844" y="6773875"/>
            <a:ext cx="10649102" cy="228600"/>
          </a:xfrm>
          <a:prstGeom prst="rect">
            <a:avLst/>
          </a:prstGeom>
          <a:noFill/>
          <a:ln/>
        </p:spPr>
        <p:txBody>
          <a:bodyPr wrap="square" lIns="0" rIns="0" tIns="0" bIns="0">
            <a:noAutofit/>
          </a:bodyPr>
          <a:lstStyle/>
          <a:p>
            <a:r>
              <a:rPr sz="1200" b="1">
                <a:solidFill>
                  <a:srgbClr val="78350F"/>
                </a:solidFill>
                <a:latin typeface="Noto Sans JP"/>
              </a:rPr>
              <a:t>補足：ネットワーク利用の例外</a:t>
            </a:r>
          </a:p>
        </p:txBody>
      </p:sp>
      <p:sp>
        <p:nvSpPr>
          <p:cNvPr id="40" name="TextBox 39"/>
          <p:cNvSpPr txBox="1"/>
          <p:nvPr/>
        </p:nvSpPr>
        <p:spPr>
          <a:xfrm>
            <a:off x="1037844" y="7040880"/>
            <a:ext cx="10534802" cy="400507"/>
          </a:xfrm>
          <a:prstGeom prst="rect">
            <a:avLst/>
          </a:prstGeom>
          <a:noFill/>
          <a:ln/>
        </p:spPr>
        <p:txBody>
          <a:bodyPr wrap="square" lIns="0" rIns="0" tIns="0" bIns="0">
            <a:noAutofit/>
          </a:bodyPr>
          <a:lstStyle/>
          <a:p>
            <a:r>
              <a:rPr sz="1000">
                <a:solidFill>
                  <a:srgbClr val="92400E"/>
                </a:solidFill>
                <a:latin typeface="Noto Sans JP"/>
              </a:rPr>
              <a:t>RAG（検索拡張生成）におけるWeb検索や、モデルの初回ダウンロード／更新時にはネットワーク接続が必要になる場合があります。これらは「推論実行時のデータ送信」とは区別して管理します。</a:t>
            </a:r>
          </a:p>
        </p:txBody>
      </p:sp>
      <p:pic>
        <p:nvPicPr>
          <p:cNvPr id="41" name="Picture 40" descr="image.png"/>
          <p:cNvPicPr>
            <a:picLocks noChangeAspect="1"/>
          </p:cNvPicPr>
          <p:nvPr/>
        </p:nvPicPr>
        <p:blipFill>
          <a:blip r:embed="rId11"/>
          <a:stretch>
            <a:fillRect/>
          </a:stretch>
        </p:blipFill>
        <p:spPr>
          <a:xfrm>
            <a:off x="0" y="7983626"/>
            <a:ext cx="12191695" cy="171907"/>
          </a:xfrm>
          <a:prstGeom prst="rect">
            <a:avLst/>
          </a:prstGeom>
          <a:ln/>
        </p:spPr>
      </p:pic>
      <p:sp>
        <p:nvSpPr>
          <p:cNvPr id="42" name="TextBox 41"/>
          <p:cNvSpPr txBox="1"/>
          <p:nvPr/>
        </p:nvSpPr>
        <p:spPr>
          <a:xfrm>
            <a:off x="0" y="7983626"/>
            <a:ext cx="12192610" cy="171907"/>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8 | ローカルAI 技術調査レポート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28600" cy="304495"/>
          </a:xfrm>
          <a:prstGeom prst="rect">
            <a:avLst/>
          </a:prstGeom>
          <a:ln/>
        </p:spPr>
      </p:pic>
      <p:sp>
        <p:nvSpPr>
          <p:cNvPr id="8" name="TextBox 7"/>
          <p:cNvSpPr txBox="1"/>
          <p:nvPr/>
        </p:nvSpPr>
        <p:spPr>
          <a:xfrm>
            <a:off x="838505" y="243230"/>
            <a:ext cx="4467758" cy="457200"/>
          </a:xfrm>
          <a:prstGeom prst="rect">
            <a:avLst/>
          </a:prstGeom>
          <a:noFill/>
          <a:ln/>
        </p:spPr>
        <p:txBody>
          <a:bodyPr wrap="square" lIns="0" rIns="0" tIns="0" bIns="0">
            <a:noAutofit/>
          </a:bodyPr>
          <a:lstStyle/>
          <a:p>
            <a:r>
              <a:rPr sz="2400" b="1">
                <a:solidFill>
                  <a:srgbClr val="1D1D1F"/>
                </a:solidFill>
                <a:latin typeface="Noto Sans JP"/>
              </a:rPr>
              <a:t>未指定事項の扱い（前提条件）</a:t>
            </a:r>
          </a:p>
        </p:txBody>
      </p:sp>
      <p:sp>
        <p:nvSpPr>
          <p:cNvPr id="9" name="TextBox 8"/>
          <p:cNvSpPr txBox="1"/>
          <p:nvPr/>
        </p:nvSpPr>
        <p:spPr>
          <a:xfrm>
            <a:off x="8761781" y="342900"/>
            <a:ext cx="3172054" cy="257861"/>
          </a:xfrm>
          <a:prstGeom prst="rect">
            <a:avLst/>
          </a:prstGeom>
          <a:noFill/>
          <a:ln/>
        </p:spPr>
        <p:txBody>
          <a:bodyPr wrap="square" lIns="0" rIns="0" tIns="0" bIns="0">
            <a:noAutofit/>
          </a:bodyPr>
          <a:lstStyle/>
          <a:p>
            <a:r>
              <a:rPr sz="1300">
                <a:solidFill>
                  <a:srgbClr val="86868B"/>
                </a:solidFill>
                <a:latin typeface="Noto Sans JP"/>
              </a:rPr>
              <a:t>オフライン要件・対象OS・ライセンス</a:t>
            </a:r>
          </a:p>
        </p:txBody>
      </p:sp>
      <p:pic>
        <p:nvPicPr>
          <p:cNvPr id="10" name="Picture 9" descr="image.png"/>
          <p:cNvPicPr>
            <a:picLocks noChangeAspect="1"/>
          </p:cNvPicPr>
          <p:nvPr/>
        </p:nvPicPr>
        <p:blipFill>
          <a:blip r:embed="rId3"/>
          <a:stretch>
            <a:fillRect/>
          </a:stretch>
        </p:blipFill>
        <p:spPr>
          <a:xfrm>
            <a:off x="457200" y="1333195"/>
            <a:ext cx="11277295" cy="1044244"/>
          </a:xfrm>
          <a:prstGeom prst="rect">
            <a:avLst/>
          </a:prstGeom>
          <a:ln/>
        </p:spPr>
      </p:pic>
      <p:sp>
        <p:nvSpPr>
          <p:cNvPr id="11" name="TextBox 10"/>
          <p:cNvSpPr txBox="1"/>
          <p:nvPr/>
        </p:nvSpPr>
        <p:spPr>
          <a:xfrm>
            <a:off x="743407" y="1561795"/>
            <a:ext cx="10842041" cy="590701"/>
          </a:xfrm>
          <a:prstGeom prst="rect">
            <a:avLst/>
          </a:prstGeom>
          <a:noFill/>
          <a:ln/>
        </p:spPr>
        <p:txBody>
          <a:bodyPr wrap="square" lIns="0" rIns="0" tIns="0" bIns="0">
            <a:noAutofit/>
          </a:bodyPr>
          <a:lstStyle/>
          <a:p>
            <a:r>
              <a:rPr sz="1600" b="1">
                <a:solidFill>
                  <a:srgbClr val="78350F"/>
                </a:solidFill>
                <a:latin typeface="Noto Sans JP"/>
              </a:rPr>
              <a:t> 結論：「完全オフライン」は推論実行時のみを必須要件とし、 </a:t>
            </a:r>
          </a:p>
          <a:p>
            <a:r>
              <a:rPr sz="1600" b="1">
                <a:solidFill>
                  <a:srgbClr val="78350F"/>
                </a:solidFill>
                <a:latin typeface="Noto Sans JP"/>
              </a:rPr>
              <a:t> 導入・更新時のネットワーク利用は許容する現実的な設計を前提とします。 </a:t>
            </a:r>
          </a:p>
        </p:txBody>
      </p:sp>
      <p:sp>
        <p:nvSpPr>
          <p:cNvPr id="12" name="Rectangle 11"/>
          <p:cNvSpPr/>
          <p:nvPr/>
        </p:nvSpPr>
        <p:spPr>
          <a:xfrm>
            <a:off x="457200"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243377"/>
            <a:ext cx="5048401"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91333"/>
            <a:ext cx="237744" cy="190194"/>
          </a:xfrm>
          <a:prstGeom prst="rect">
            <a:avLst/>
          </a:prstGeom>
          <a:ln/>
        </p:spPr>
      </p:pic>
      <p:sp>
        <p:nvSpPr>
          <p:cNvPr id="15" name="TextBox 14"/>
          <p:cNvSpPr txBox="1"/>
          <p:nvPr/>
        </p:nvSpPr>
        <p:spPr>
          <a:xfrm>
            <a:off x="1047902" y="2843784"/>
            <a:ext cx="2248510" cy="419709"/>
          </a:xfrm>
          <a:prstGeom prst="rect">
            <a:avLst/>
          </a:prstGeom>
          <a:noFill/>
          <a:ln/>
        </p:spPr>
        <p:txBody>
          <a:bodyPr wrap="square" lIns="0" rIns="0" tIns="0" bIns="0">
            <a:noAutofit/>
          </a:bodyPr>
          <a:lstStyle/>
          <a:p>
            <a:r>
              <a:rPr sz="1500" b="1">
                <a:solidFill>
                  <a:srgbClr val="1D1D1F"/>
                </a:solidFill>
                <a:latin typeface="Noto Sans JP"/>
              </a:rPr>
              <a:t>オフライン要件と対象OS</a:t>
            </a:r>
          </a:p>
        </p:txBody>
      </p:sp>
      <p:pic>
        <p:nvPicPr>
          <p:cNvPr id="16" name="Picture 15" descr="image.png"/>
          <p:cNvPicPr>
            <a:picLocks noChangeAspect="1"/>
          </p:cNvPicPr>
          <p:nvPr/>
        </p:nvPicPr>
        <p:blipFill>
          <a:blip r:embed="rId5"/>
          <a:stretch>
            <a:fillRect/>
          </a:stretch>
        </p:blipFill>
        <p:spPr>
          <a:xfrm>
            <a:off x="694944" y="3415284"/>
            <a:ext cx="133502" cy="133501"/>
          </a:xfrm>
          <a:prstGeom prst="rect">
            <a:avLst/>
          </a:prstGeom>
          <a:ln/>
        </p:spPr>
      </p:pic>
      <p:sp>
        <p:nvSpPr>
          <p:cNvPr id="17" name="TextBox 16"/>
          <p:cNvSpPr txBox="1"/>
          <p:nvPr/>
        </p:nvSpPr>
        <p:spPr>
          <a:xfrm>
            <a:off x="942746" y="3415284"/>
            <a:ext cx="4991710" cy="247801"/>
          </a:xfrm>
          <a:prstGeom prst="rect">
            <a:avLst/>
          </a:prstGeom>
          <a:noFill/>
          <a:ln/>
        </p:spPr>
        <p:txBody>
          <a:bodyPr wrap="square" lIns="0" rIns="0" tIns="0" bIns="0">
            <a:noAutofit/>
          </a:bodyPr>
          <a:lstStyle/>
          <a:p>
            <a:r>
              <a:rPr sz="1200" b="1">
                <a:solidFill>
                  <a:srgbClr val="424245"/>
                </a:solidFill>
                <a:latin typeface="Noto Sans JP"/>
              </a:rPr>
              <a:t>“完全オフライン”の定義：</a:t>
            </a:r>
          </a:p>
        </p:txBody>
      </p:sp>
      <p:sp>
        <p:nvSpPr>
          <p:cNvPr id="18" name="TextBox 17"/>
          <p:cNvSpPr txBox="1"/>
          <p:nvPr/>
        </p:nvSpPr>
        <p:spPr>
          <a:xfrm>
            <a:off x="942746" y="3659429"/>
            <a:ext cx="4877410" cy="734263"/>
          </a:xfrm>
          <a:prstGeom prst="rect">
            <a:avLst/>
          </a:prstGeom>
          <a:noFill/>
          <a:ln/>
        </p:spPr>
        <p:txBody>
          <a:bodyPr wrap="square" lIns="0" rIns="0" tIns="0" bIns="0">
            <a:noAutofit/>
          </a:bodyPr>
          <a:lstStyle/>
          <a:p>
            <a:r>
              <a:rPr sz="1200">
                <a:solidFill>
                  <a:srgbClr val="424245"/>
                </a:solidFill>
                <a:latin typeface="Noto Sans JP"/>
              </a:rPr>
              <a:t>「モデル推論自体はオフラインで成立する」レベルを基本とします。モデルの初回ダウンロードやRAG文書の取り込みプロセスにはネットワーク接続が必要になり得る点を前提とします。</a:t>
            </a:r>
          </a:p>
        </p:txBody>
      </p:sp>
      <p:pic>
        <p:nvPicPr>
          <p:cNvPr id="19" name="Picture 18" descr="image.png"/>
          <p:cNvPicPr>
            <a:picLocks noChangeAspect="1"/>
          </p:cNvPicPr>
          <p:nvPr/>
        </p:nvPicPr>
        <p:blipFill>
          <a:blip r:embed="rId6"/>
          <a:stretch>
            <a:fillRect/>
          </a:stretch>
        </p:blipFill>
        <p:spPr>
          <a:xfrm>
            <a:off x="4337914" y="4183379"/>
            <a:ext cx="304494" cy="209398"/>
          </a:xfrm>
          <a:prstGeom prst="rect">
            <a:avLst/>
          </a:prstGeom>
          <a:ln/>
        </p:spPr>
      </p:pic>
      <p:sp>
        <p:nvSpPr>
          <p:cNvPr id="20" name="TextBox 19"/>
          <p:cNvSpPr txBox="1"/>
          <p:nvPr/>
        </p:nvSpPr>
        <p:spPr>
          <a:xfrm>
            <a:off x="4337914" y="4183379"/>
            <a:ext cx="305410" cy="21031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[19]</a:t>
            </a:r>
          </a:p>
        </p:txBody>
      </p:sp>
      <p:pic>
        <p:nvPicPr>
          <p:cNvPr id="21" name="Picture 20" descr="image.png"/>
          <p:cNvPicPr>
            <a:picLocks noChangeAspect="1"/>
          </p:cNvPicPr>
          <p:nvPr/>
        </p:nvPicPr>
        <p:blipFill>
          <a:blip r:embed="rId7"/>
          <a:stretch>
            <a:fillRect/>
          </a:stretch>
        </p:blipFill>
        <p:spPr>
          <a:xfrm>
            <a:off x="694944" y="4524451"/>
            <a:ext cx="152705" cy="133501"/>
          </a:xfrm>
          <a:prstGeom prst="rect">
            <a:avLst/>
          </a:prstGeom>
          <a:ln/>
        </p:spPr>
      </p:pic>
      <p:sp>
        <p:nvSpPr>
          <p:cNvPr id="22" name="TextBox 21"/>
          <p:cNvSpPr txBox="1"/>
          <p:nvPr/>
        </p:nvSpPr>
        <p:spPr>
          <a:xfrm>
            <a:off x="961949" y="4524451"/>
            <a:ext cx="4972506" cy="247801"/>
          </a:xfrm>
          <a:prstGeom prst="rect">
            <a:avLst/>
          </a:prstGeom>
          <a:noFill/>
          <a:ln/>
        </p:spPr>
        <p:txBody>
          <a:bodyPr wrap="square" lIns="0" rIns="0" tIns="0" bIns="0">
            <a:noAutofit/>
          </a:bodyPr>
          <a:lstStyle/>
          <a:p>
            <a:r>
              <a:rPr sz="1200" b="1">
                <a:solidFill>
                  <a:srgbClr val="424245"/>
                </a:solidFill>
                <a:latin typeface="Noto Sans JP"/>
              </a:rPr>
              <a:t>対象OSのスコープ：</a:t>
            </a:r>
          </a:p>
        </p:txBody>
      </p:sp>
      <p:sp>
        <p:nvSpPr>
          <p:cNvPr id="23" name="TextBox 22"/>
          <p:cNvSpPr txBox="1"/>
          <p:nvPr/>
        </p:nvSpPr>
        <p:spPr>
          <a:xfrm>
            <a:off x="961949" y="4767682"/>
            <a:ext cx="4858206" cy="734263"/>
          </a:xfrm>
          <a:prstGeom prst="rect">
            <a:avLst/>
          </a:prstGeom>
          <a:noFill/>
          <a:ln/>
        </p:spPr>
        <p:txBody>
          <a:bodyPr wrap="square" lIns="0" rIns="0" tIns="0" bIns="0">
            <a:noAutofit/>
          </a:bodyPr>
          <a:lstStyle/>
          <a:p>
            <a:r>
              <a:rPr sz="1200">
                <a:solidFill>
                  <a:srgbClr val="424245"/>
                </a:solidFill>
                <a:latin typeface="Noto Sans JP"/>
              </a:rPr>
              <a:t>macOS Ventura以降およびWindows 10/11を主要ターゲットとします。Linuxは「Windows上でWSL2を利用」または「別筐体サーバ」の選択肢としてのみ扱います。</a:t>
            </a:r>
          </a:p>
        </p:txBody>
      </p:sp>
      <p:pic>
        <p:nvPicPr>
          <p:cNvPr id="24" name="Picture 23" descr="image.png"/>
          <p:cNvPicPr>
            <a:picLocks noChangeAspect="1"/>
          </p:cNvPicPr>
          <p:nvPr/>
        </p:nvPicPr>
        <p:blipFill>
          <a:blip r:embed="rId8"/>
          <a:stretch>
            <a:fillRect/>
          </a:stretch>
        </p:blipFill>
        <p:spPr>
          <a:xfrm>
            <a:off x="694944" y="5651906"/>
            <a:ext cx="1228954" cy="267005"/>
          </a:xfrm>
          <a:prstGeom prst="rect">
            <a:avLst/>
          </a:prstGeom>
          <a:ln/>
        </p:spPr>
      </p:pic>
      <p:sp>
        <p:nvSpPr>
          <p:cNvPr id="25" name="TextBox 24"/>
          <p:cNvSpPr txBox="1"/>
          <p:nvPr/>
        </p:nvSpPr>
        <p:spPr>
          <a:xfrm>
            <a:off x="694944" y="5651906"/>
            <a:ext cx="1228954" cy="267005"/>
          </a:xfrm>
          <a:prstGeom prst="rect">
            <a:avLst/>
          </a:prstGeom>
          <a:noFill/>
          <a:ln>
            <a:solidFill>
              <a:srgbClr val="FFFFFF"/>
            </a:solidFill>
          </a:ln>
        </p:spPr>
        <p:txBody>
          <a:bodyPr wrap="square" lIns="0" rIns="0" tIns="0" bIns="0">
            <a:noAutofit/>
          </a:bodyPr>
          <a:lstStyle/>
          <a:p>
            <a:r>
              <a:rPr sz="900" b="1">
                <a:solidFill>
                  <a:srgbClr val="92400E"/>
                </a:solidFill>
                <a:latin typeface="Noto Sans JP"/>
              </a:rPr>
              <a:t>Offline Inference</a:t>
            </a:r>
          </a:p>
        </p:txBody>
      </p:sp>
      <p:pic>
        <p:nvPicPr>
          <p:cNvPr id="26" name="Picture 25" descr="image.png"/>
          <p:cNvPicPr>
            <a:picLocks noChangeAspect="1"/>
          </p:cNvPicPr>
          <p:nvPr/>
        </p:nvPicPr>
        <p:blipFill>
          <a:blip r:embed="rId9"/>
          <a:stretch>
            <a:fillRect/>
          </a:stretch>
        </p:blipFill>
        <p:spPr>
          <a:xfrm>
            <a:off x="1976018" y="5651906"/>
            <a:ext cx="1304849" cy="267005"/>
          </a:xfrm>
          <a:prstGeom prst="rect">
            <a:avLst/>
          </a:prstGeom>
          <a:ln/>
        </p:spPr>
      </p:pic>
      <p:sp>
        <p:nvSpPr>
          <p:cNvPr id="27" name="TextBox 26"/>
          <p:cNvSpPr txBox="1"/>
          <p:nvPr/>
        </p:nvSpPr>
        <p:spPr>
          <a:xfrm>
            <a:off x="1976018" y="5651906"/>
            <a:ext cx="1305763" cy="267005"/>
          </a:xfrm>
          <a:prstGeom prst="rect">
            <a:avLst/>
          </a:prstGeom>
          <a:noFill/>
          <a:ln>
            <a:solidFill>
              <a:srgbClr val="FFFFFF"/>
            </a:solidFill>
          </a:ln>
        </p:spPr>
        <p:txBody>
          <a:bodyPr wrap="square" lIns="0" rIns="0" tIns="0" bIns="0">
            <a:noAutofit/>
          </a:bodyPr>
          <a:lstStyle/>
          <a:p>
            <a:r>
              <a:rPr sz="900" b="1">
                <a:solidFill>
                  <a:srgbClr val="92400E"/>
                </a:solidFill>
                <a:latin typeface="Noto Sans JP"/>
              </a:rPr>
              <a:t>macOS / Windows</a:t>
            </a:r>
          </a:p>
        </p:txBody>
      </p:sp>
      <p:pic>
        <p:nvPicPr>
          <p:cNvPr id="28" name="Picture 27" descr="image.png"/>
          <p:cNvPicPr>
            <a:picLocks noChangeAspect="1"/>
          </p:cNvPicPr>
          <p:nvPr/>
        </p:nvPicPr>
        <p:blipFill>
          <a:blip r:embed="rId10"/>
          <a:stretch>
            <a:fillRect/>
          </a:stretch>
        </p:blipFill>
        <p:spPr>
          <a:xfrm>
            <a:off x="3337560" y="5651906"/>
            <a:ext cx="1000353" cy="267005"/>
          </a:xfrm>
          <a:prstGeom prst="rect">
            <a:avLst/>
          </a:prstGeom>
          <a:ln/>
        </p:spPr>
      </p:pic>
      <p:sp>
        <p:nvSpPr>
          <p:cNvPr id="29" name="TextBox 28"/>
          <p:cNvSpPr txBox="1"/>
          <p:nvPr/>
        </p:nvSpPr>
        <p:spPr>
          <a:xfrm>
            <a:off x="3337560" y="5651906"/>
            <a:ext cx="1000353" cy="267005"/>
          </a:xfrm>
          <a:prstGeom prst="rect">
            <a:avLst/>
          </a:prstGeom>
          <a:noFill/>
          <a:ln>
            <a:solidFill>
              <a:srgbClr val="FFFFFF"/>
            </a:solidFill>
          </a:ln>
        </p:spPr>
        <p:txBody>
          <a:bodyPr wrap="square" lIns="0" rIns="0" tIns="0" bIns="0">
            <a:noAutofit/>
          </a:bodyPr>
          <a:lstStyle/>
          <a:p>
            <a:r>
              <a:rPr sz="900" b="1">
                <a:solidFill>
                  <a:srgbClr val="92400E"/>
                </a:solidFill>
                <a:latin typeface="Noto Sans JP"/>
              </a:rPr>
              <a:t>WSL2 Option</a:t>
            </a:r>
          </a:p>
        </p:txBody>
      </p:sp>
      <p:sp>
        <p:nvSpPr>
          <p:cNvPr id="30" name="Rectangle 29"/>
          <p:cNvSpPr/>
          <p:nvPr/>
        </p:nvSpPr>
        <p:spPr>
          <a:xfrm>
            <a:off x="6210605" y="2606040"/>
            <a:ext cx="5524805" cy="36100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243377"/>
            <a:ext cx="5048402" cy="19202"/>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1"/>
          <a:stretch>
            <a:fillRect/>
          </a:stretch>
        </p:blipFill>
        <p:spPr>
          <a:xfrm>
            <a:off x="6448349" y="2891333"/>
            <a:ext cx="190195" cy="190194"/>
          </a:xfrm>
          <a:prstGeom prst="rect">
            <a:avLst/>
          </a:prstGeom>
          <a:ln/>
        </p:spPr>
      </p:pic>
      <p:sp>
        <p:nvSpPr>
          <p:cNvPr id="33" name="TextBox 32"/>
          <p:cNvSpPr txBox="1"/>
          <p:nvPr/>
        </p:nvSpPr>
        <p:spPr>
          <a:xfrm>
            <a:off x="6752844" y="2843784"/>
            <a:ext cx="2362810" cy="419709"/>
          </a:xfrm>
          <a:prstGeom prst="rect">
            <a:avLst/>
          </a:prstGeom>
          <a:noFill/>
          <a:ln/>
        </p:spPr>
        <p:txBody>
          <a:bodyPr wrap="square" lIns="0" rIns="0" tIns="0" bIns="0">
            <a:noAutofit/>
          </a:bodyPr>
          <a:lstStyle/>
          <a:p>
            <a:r>
              <a:rPr sz="1500" b="1">
                <a:solidFill>
                  <a:srgbClr val="1D1D1F"/>
                </a:solidFill>
                <a:latin typeface="Noto Sans JP"/>
              </a:rPr>
              <a:t>実装環境とライセンス管理</a:t>
            </a:r>
          </a:p>
        </p:txBody>
      </p:sp>
      <p:pic>
        <p:nvPicPr>
          <p:cNvPr id="34" name="Picture 33" descr="image.png"/>
          <p:cNvPicPr>
            <a:picLocks noChangeAspect="1"/>
          </p:cNvPicPr>
          <p:nvPr/>
        </p:nvPicPr>
        <p:blipFill>
          <a:blip r:embed="rId12"/>
          <a:stretch>
            <a:fillRect/>
          </a:stretch>
        </p:blipFill>
        <p:spPr>
          <a:xfrm>
            <a:off x="6448349" y="3415284"/>
            <a:ext cx="114299" cy="133501"/>
          </a:xfrm>
          <a:prstGeom prst="rect">
            <a:avLst/>
          </a:prstGeom>
          <a:ln/>
        </p:spPr>
      </p:pic>
      <p:sp>
        <p:nvSpPr>
          <p:cNvPr id="35" name="TextBox 34"/>
          <p:cNvSpPr txBox="1"/>
          <p:nvPr/>
        </p:nvSpPr>
        <p:spPr>
          <a:xfrm>
            <a:off x="6676949" y="3415284"/>
            <a:ext cx="4934102" cy="247801"/>
          </a:xfrm>
          <a:prstGeom prst="rect">
            <a:avLst/>
          </a:prstGeom>
          <a:noFill/>
          <a:ln/>
        </p:spPr>
        <p:txBody>
          <a:bodyPr wrap="square" lIns="0" rIns="0" tIns="0" bIns="0">
            <a:noAutofit/>
          </a:bodyPr>
          <a:lstStyle/>
          <a:p>
            <a:r>
              <a:rPr sz="1200" b="1">
                <a:solidFill>
                  <a:srgbClr val="424245"/>
                </a:solidFill>
                <a:latin typeface="Noto Sans JP"/>
              </a:rPr>
              <a:t>Linux前提の技術（TensorRT-LLM等）：</a:t>
            </a:r>
          </a:p>
        </p:txBody>
      </p:sp>
      <p:sp>
        <p:nvSpPr>
          <p:cNvPr id="36" name="TextBox 35"/>
          <p:cNvSpPr txBox="1"/>
          <p:nvPr/>
        </p:nvSpPr>
        <p:spPr>
          <a:xfrm>
            <a:off x="6676949" y="3659429"/>
            <a:ext cx="4896612" cy="734263"/>
          </a:xfrm>
          <a:prstGeom prst="rect">
            <a:avLst/>
          </a:prstGeom>
          <a:noFill/>
          <a:ln/>
        </p:spPr>
        <p:txBody>
          <a:bodyPr wrap="square" lIns="0" rIns="0" tIns="0" bIns="0">
            <a:noAutofit/>
          </a:bodyPr>
          <a:lstStyle/>
          <a:p>
            <a:r>
              <a:rPr sz="1200">
                <a:solidFill>
                  <a:srgbClr val="424245"/>
                </a:solidFill>
                <a:latin typeface="Noto Sans JP"/>
              </a:rPr>
              <a:t>NVIDIA TensorRT-LLMなどはLinux環境でのドキュメントが中心です。</a:t>
            </a:r>
            <a:r>
              <a:rPr sz="1200">
                <a:solidFill>
                  <a:srgbClr val="424245"/>
                </a:solidFill>
                <a:latin typeface="Noto Sans JP"/>
              </a:rPr>
              <a:t> Windowsでこれらを利用する場合、WSL2上でのDocker運用が実務的な解決策となります。</a:t>
            </a:r>
          </a:p>
        </p:txBody>
      </p:sp>
      <p:pic>
        <p:nvPicPr>
          <p:cNvPr id="37" name="Picture 36" descr="image.png"/>
          <p:cNvPicPr>
            <a:picLocks noChangeAspect="1"/>
          </p:cNvPicPr>
          <p:nvPr/>
        </p:nvPicPr>
        <p:blipFill>
          <a:blip r:embed="rId6"/>
          <a:stretch>
            <a:fillRect/>
          </a:stretch>
        </p:blipFill>
        <p:spPr>
          <a:xfrm>
            <a:off x="6734556" y="3940150"/>
            <a:ext cx="304494" cy="209398"/>
          </a:xfrm>
          <a:prstGeom prst="rect">
            <a:avLst/>
          </a:prstGeom>
          <a:ln/>
        </p:spPr>
      </p:pic>
      <p:sp>
        <p:nvSpPr>
          <p:cNvPr id="38" name="TextBox 37"/>
          <p:cNvSpPr txBox="1"/>
          <p:nvPr/>
        </p:nvSpPr>
        <p:spPr>
          <a:xfrm>
            <a:off x="6734556" y="3940150"/>
            <a:ext cx="305410" cy="21031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[20]</a:t>
            </a:r>
          </a:p>
        </p:txBody>
      </p:sp>
      <p:pic>
        <p:nvPicPr>
          <p:cNvPr id="39" name="Picture 38" descr="image.png"/>
          <p:cNvPicPr>
            <a:picLocks noChangeAspect="1"/>
          </p:cNvPicPr>
          <p:nvPr/>
        </p:nvPicPr>
        <p:blipFill>
          <a:blip r:embed="rId13"/>
          <a:stretch>
            <a:fillRect/>
          </a:stretch>
        </p:blipFill>
        <p:spPr>
          <a:xfrm>
            <a:off x="6448349" y="4524451"/>
            <a:ext cx="171906" cy="133501"/>
          </a:xfrm>
          <a:prstGeom prst="rect">
            <a:avLst/>
          </a:prstGeom>
          <a:ln/>
        </p:spPr>
      </p:pic>
      <p:sp>
        <p:nvSpPr>
          <p:cNvPr id="40" name="TextBox 39"/>
          <p:cNvSpPr txBox="1"/>
          <p:nvPr/>
        </p:nvSpPr>
        <p:spPr>
          <a:xfrm>
            <a:off x="6734556" y="4524451"/>
            <a:ext cx="4953305" cy="247801"/>
          </a:xfrm>
          <a:prstGeom prst="rect">
            <a:avLst/>
          </a:prstGeom>
          <a:noFill/>
          <a:ln/>
        </p:spPr>
        <p:txBody>
          <a:bodyPr wrap="square" lIns="0" rIns="0" tIns="0" bIns="0">
            <a:noAutofit/>
          </a:bodyPr>
          <a:lstStyle/>
          <a:p>
            <a:r>
              <a:rPr sz="1200" b="1">
                <a:solidFill>
                  <a:srgbClr val="424245"/>
                </a:solidFill>
                <a:latin typeface="Noto Sans JP"/>
              </a:rPr>
              <a:t>ライセンスの分離管理：</a:t>
            </a:r>
          </a:p>
        </p:txBody>
      </p:sp>
      <p:sp>
        <p:nvSpPr>
          <p:cNvPr id="41" name="TextBox 40"/>
          <p:cNvSpPr txBox="1"/>
          <p:nvPr/>
        </p:nvSpPr>
        <p:spPr>
          <a:xfrm>
            <a:off x="6734556" y="4767682"/>
            <a:ext cx="4839005" cy="734263"/>
          </a:xfrm>
          <a:prstGeom prst="rect">
            <a:avLst/>
          </a:prstGeom>
          <a:noFill/>
          <a:ln/>
        </p:spPr>
        <p:txBody>
          <a:bodyPr wrap="square" lIns="0" rIns="0" tIns="0" bIns="0">
            <a:noAutofit/>
          </a:bodyPr>
          <a:lstStyle/>
          <a:p>
            <a:r>
              <a:rPr sz="1200">
                <a:solidFill>
                  <a:srgbClr val="424245"/>
                </a:solidFill>
                <a:latin typeface="Noto Sans JP"/>
              </a:rPr>
              <a:t>「推論コード（OSSライセンス）」と「モデル重み（商用利用制限など）」は別物です。特に画像生成や音声系モデルでは重みの利用条件が厳格な場合があるため、個別のリスク確認を必須とします。</a:t>
            </a:r>
          </a:p>
        </p:txBody>
      </p:sp>
      <p:sp>
        <p:nvSpPr>
          <p:cNvPr id="42" name="Rectangle 41"/>
          <p:cNvSpPr/>
          <p:nvPr/>
        </p:nvSpPr>
        <p:spPr>
          <a:xfrm>
            <a:off x="457200" y="6437376"/>
            <a:ext cx="11277295" cy="1009497"/>
          </a:xfrm>
          <a:prstGeom prst="rect">
            <a:avLst/>
          </a:prstGeom>
          <a:solidFill>
            <a:srgbClr val="F0F7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4"/>
          <a:stretch>
            <a:fillRect/>
          </a:stretch>
        </p:blipFill>
        <p:spPr>
          <a:xfrm>
            <a:off x="619049" y="6618426"/>
            <a:ext cx="171907" cy="171907"/>
          </a:xfrm>
          <a:prstGeom prst="rect">
            <a:avLst/>
          </a:prstGeom>
          <a:ln/>
        </p:spPr>
      </p:pic>
      <p:sp>
        <p:nvSpPr>
          <p:cNvPr id="44" name="TextBox 43"/>
          <p:cNvSpPr txBox="1"/>
          <p:nvPr/>
        </p:nvSpPr>
        <p:spPr>
          <a:xfrm>
            <a:off x="905256" y="6599225"/>
            <a:ext cx="10782605" cy="228600"/>
          </a:xfrm>
          <a:prstGeom prst="rect">
            <a:avLst/>
          </a:prstGeom>
          <a:noFill/>
          <a:ln/>
        </p:spPr>
        <p:txBody>
          <a:bodyPr wrap="square" lIns="0" rIns="0" tIns="0" bIns="0">
            <a:noAutofit/>
          </a:bodyPr>
          <a:lstStyle/>
          <a:p>
            <a:r>
              <a:rPr sz="1200" b="1">
                <a:solidFill>
                  <a:srgbClr val="000000"/>
                </a:solidFill>
                <a:latin typeface="Noto Sans JP"/>
              </a:rPr>
              <a:t>LM StudioのRAG仕様に関する補足</a:t>
            </a:r>
          </a:p>
        </p:txBody>
      </p:sp>
      <p:sp>
        <p:nvSpPr>
          <p:cNvPr id="45" name="TextBox 44"/>
          <p:cNvSpPr txBox="1"/>
          <p:nvPr/>
        </p:nvSpPr>
        <p:spPr>
          <a:xfrm>
            <a:off x="905256" y="6866230"/>
            <a:ext cx="10744200" cy="419710"/>
          </a:xfrm>
          <a:prstGeom prst="rect">
            <a:avLst/>
          </a:prstGeom>
          <a:noFill/>
          <a:ln/>
        </p:spPr>
        <p:txBody>
          <a:bodyPr wrap="square" lIns="0" rIns="0" tIns="0" bIns="0">
            <a:noAutofit/>
          </a:bodyPr>
          <a:lstStyle/>
          <a:p>
            <a:r>
              <a:rPr sz="1000">
                <a:solidFill>
                  <a:srgbClr val="0C4A6E"/>
                </a:solidFill>
                <a:latin typeface="Noto Sans JP"/>
              </a:rPr>
              <a:t>LM Studioは「文書添付（RAG）をオフラインで実行可能」と説明していますが、これは“実行時の外部送信をしない”という意味であり、ローカルでのEmbedding処理等は完結します。</a:t>
            </a:r>
          </a:p>
        </p:txBody>
      </p:sp>
      <p:pic>
        <p:nvPicPr>
          <p:cNvPr id="46" name="Picture 45" descr="image.png"/>
          <p:cNvPicPr>
            <a:picLocks noChangeAspect="1"/>
          </p:cNvPicPr>
          <p:nvPr/>
        </p:nvPicPr>
        <p:blipFill>
          <a:blip r:embed="rId15"/>
          <a:stretch>
            <a:fillRect/>
          </a:stretch>
        </p:blipFill>
        <p:spPr>
          <a:xfrm>
            <a:off x="1348740" y="7084771"/>
            <a:ext cx="304495" cy="200254"/>
          </a:xfrm>
          <a:prstGeom prst="rect">
            <a:avLst/>
          </a:prstGeom>
          <a:ln/>
        </p:spPr>
      </p:pic>
      <p:sp>
        <p:nvSpPr>
          <p:cNvPr id="47" name="TextBox 46"/>
          <p:cNvSpPr txBox="1"/>
          <p:nvPr/>
        </p:nvSpPr>
        <p:spPr>
          <a:xfrm>
            <a:off x="1348740" y="7084771"/>
            <a:ext cx="305409" cy="200254"/>
          </a:xfrm>
          <a:prstGeom prst="rect">
            <a:avLst/>
          </a:prstGeom>
          <a:noFill/>
          <a:ln>
            <a:solidFill>
              <a:srgbClr val="FFFFFF"/>
            </a:solidFill>
          </a:ln>
        </p:spPr>
        <p:txBody>
          <a:bodyPr wrap="square" lIns="0" rIns="0" tIns="0" bIns="0">
            <a:noAutofit/>
          </a:bodyPr>
          <a:lstStyle/>
          <a:p>
            <a:r>
              <a:rPr sz="800">
                <a:solidFill>
                  <a:srgbClr val="6B7280"/>
                </a:solidFill>
                <a:latin typeface="Noto Sans JP"/>
              </a:rPr>
              <a:t>[19]</a:t>
            </a:r>
          </a:p>
        </p:txBody>
      </p:sp>
      <p:sp>
        <p:nvSpPr>
          <p:cNvPr id="48" name="Rectangle 47"/>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1" name="TextBox 50"/>
          <p:cNvSpPr txBox="1"/>
          <p:nvPr/>
        </p:nvSpPr>
        <p:spPr>
          <a:xfrm>
            <a:off x="11448288" y="6586423"/>
            <a:ext cx="372160" cy="171907"/>
          </a:xfrm>
          <a:prstGeom prst="rect">
            <a:avLst/>
          </a:prstGeom>
          <a:noFill/>
          <a:ln/>
        </p:spPr>
        <p:txBody>
          <a:bodyPr wrap="square" lIns="0" rIns="0" tIns="0" bIns="0">
            <a:noAutofit/>
          </a:bodyPr>
          <a:lstStyle/>
          <a:p>
            <a:r>
              <a:rPr sz="900">
                <a:solidFill>
                  <a:srgbClr val="86868B"/>
                </a:solidFill>
                <a:latin typeface="Noto Sans JP"/>
              </a:rPr>
              <a:t>9 /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noFill/>
          <a:ln/>
        </p:spPr>
        <p:txBody>
          <a:bodyPr wrap="square" lIns="0" rIns="0" tIns="0" bIns="0">
            <a:noAutofit/>
          </a:bodyPr>
          <a:lstStyle/>
          <a:p>
            <a:r>
              <a:rPr sz="9000" b="1">
                <a:solidFill>
                  <a:srgbClr val="333336"/>
                </a:solidFill>
                <a:latin typeface="Helvetica Neue"/>
              </a:rPr>
              <a:t>04</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p:spPr>
      </p:pic>
      <p:sp>
        <p:nvSpPr>
          <p:cNvPr id="10" name="TextBox 9"/>
          <p:cNvSpPr txBox="1"/>
          <p:nvPr/>
        </p:nvSpPr>
        <p:spPr>
          <a:xfrm>
            <a:off x="761695" y="3270809"/>
            <a:ext cx="4121201" cy="1181405"/>
          </a:xfrm>
          <a:prstGeom prst="rect">
            <a:avLst/>
          </a:prstGeom>
          <a:noFill/>
          <a:ln/>
        </p:spPr>
        <p:txBody>
          <a:bodyPr wrap="square" lIns="0" rIns="0" tIns="0" bIns="0">
            <a:noAutofit/>
          </a:bodyPr>
          <a:lstStyle/>
          <a:p>
            <a:r>
              <a:rPr sz="4200" b="1">
                <a:solidFill>
                  <a:srgbClr val="FFFFFF"/>
                </a:solidFill>
                <a:latin typeface="Noto Sans JP"/>
              </a:rPr>
              <a:t>ローカルAI</a:t>
            </a:r>
          </a:p>
          <a:p>
            <a:r>
              <a:rPr sz="4200" b="1">
                <a:solidFill>
                  <a:srgbClr val="FFFFFF"/>
                </a:solidFill>
                <a:latin typeface="Noto Sans JP"/>
              </a:rPr>
              <a:t>ランドスケープ</a:t>
            </a:r>
          </a:p>
        </p:txBody>
      </p:sp>
      <p:sp>
        <p:nvSpPr>
          <p:cNvPr id="11" name="TextBox 10"/>
          <p:cNvSpPr txBox="1"/>
          <p:nvPr/>
        </p:nvSpPr>
        <p:spPr>
          <a:xfrm>
            <a:off x="761695" y="4672584"/>
            <a:ext cx="4048963" cy="685800"/>
          </a:xfrm>
          <a:prstGeom prst="rect">
            <a:avLst/>
          </a:prstGeom>
          <a:noFill/>
          <a:ln/>
        </p:spPr>
        <p:txBody>
          <a:bodyPr wrap="square" lIns="0" rIns="0" tIns="0" bIns="0">
            <a:noAutofit/>
          </a:bodyPr>
          <a:lstStyle/>
          <a:p>
            <a:r>
              <a:rPr sz="1800">
                <a:solidFill>
                  <a:srgbClr val="86868B"/>
                </a:solidFill>
                <a:latin typeface="Noto Sans JP"/>
              </a:rPr>
              <a:t>オンデバイス実行環境の</a:t>
            </a:r>
          </a:p>
          <a:p>
            <a:r>
              <a:rPr sz="1800">
                <a:solidFill>
                  <a:srgbClr val="86868B"/>
                </a:solidFill>
                <a:latin typeface="Noto Sans JP"/>
              </a:rPr>
              <a:t>全体像と技術スタック</a:t>
            </a:r>
          </a:p>
        </p:txBody>
      </p:sp>
      <p:sp>
        <p:nvSpPr>
          <p:cNvPr id="12" name="TextBox 11"/>
          <p:cNvSpPr txBox="1"/>
          <p:nvPr/>
        </p:nvSpPr>
        <p:spPr>
          <a:xfrm>
            <a:off x="6248095" y="1047902"/>
            <a:ext cx="5296205" cy="228600"/>
          </a:xfrm>
          <a:prstGeom prst="rect">
            <a:avLst/>
          </a:prstGeom>
          <a:noFill/>
          <a:ln/>
        </p:spPr>
        <p:txBody>
          <a:bodyPr wrap="square" lIns="0" rIns="0" tIns="0" bIns="0">
            <a:noAutofit/>
          </a:bodyPr>
          <a:lstStyle/>
          <a:p>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66698"/>
            <a:ext cx="5181905" cy="3629254"/>
          </a:xfrm>
          <a:prstGeom prst="rect">
            <a:avLst/>
          </a:prstGeom>
          <a:ln/>
        </p:spPr>
      </p:pic>
      <p:sp>
        <p:nvSpPr>
          <p:cNvPr id="14" name="TextBox 13"/>
          <p:cNvSpPr txBox="1"/>
          <p:nvPr/>
        </p:nvSpPr>
        <p:spPr>
          <a:xfrm>
            <a:off x="6810451" y="1752905"/>
            <a:ext cx="4525366" cy="286206"/>
          </a:xfrm>
          <a:prstGeom prst="rect">
            <a:avLst/>
          </a:prstGeom>
          <a:noFill/>
          <a:ln/>
        </p:spPr>
        <p:txBody>
          <a:bodyPr wrap="square" lIns="0" rIns="0" tIns="0" bIns="0">
            <a:noAutofit/>
          </a:bodyPr>
          <a:lstStyle/>
          <a:p>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800454"/>
            <a:ext cx="142645" cy="190194"/>
          </a:xfrm>
          <a:prstGeom prst="rect">
            <a:avLst/>
          </a:prstGeom>
          <a:ln/>
        </p:spPr>
      </p:pic>
      <p:sp>
        <p:nvSpPr>
          <p:cNvPr id="16" name="TextBox 15"/>
          <p:cNvSpPr txBox="1"/>
          <p:nvPr/>
        </p:nvSpPr>
        <p:spPr>
          <a:xfrm>
            <a:off x="6801307" y="2190902"/>
            <a:ext cx="4420210" cy="771753"/>
          </a:xfrm>
          <a:prstGeom prst="rect">
            <a:avLst/>
          </a:prstGeom>
          <a:noFill/>
          <a:ln/>
        </p:spPr>
        <p:txBody>
          <a:bodyPr wrap="square" lIns="0" rIns="0" tIns="0" bIns="0">
            <a:noAutofit/>
          </a:bodyPr>
          <a:lstStyle/>
          <a:p>
            <a:r>
              <a:rPr sz="1300" b="1">
                <a:solidFill>
                  <a:srgbClr val="E5E5E5"/>
                </a:solidFill>
                <a:latin typeface="Noto Sans JP"/>
              </a:rPr>
              <a:t>テキストLLMの二大潮流：</a:t>
            </a:r>
          </a:p>
          <a:p>
            <a:r>
              <a:rPr sz="1300">
                <a:solidFill>
                  <a:srgbClr val="E5E5E5"/>
                </a:solidFill>
                <a:latin typeface="Noto Sans JP"/>
              </a:rPr>
              <a:t> GGUF（llama.cpp系）とGPU量子化形式（GPTQ/AWQ/EXL2等）に大別されます。 </a:t>
            </a:r>
          </a:p>
        </p:txBody>
      </p:sp>
      <p:pic>
        <p:nvPicPr>
          <p:cNvPr id="17" name="Picture 16" descr="image.png"/>
          <p:cNvPicPr>
            <a:picLocks noChangeAspect="1"/>
          </p:cNvPicPr>
          <p:nvPr/>
        </p:nvPicPr>
        <p:blipFill>
          <a:blip r:embed="rId6"/>
          <a:stretch>
            <a:fillRect/>
          </a:stretch>
        </p:blipFill>
        <p:spPr>
          <a:xfrm>
            <a:off x="6572707" y="2238451"/>
            <a:ext cx="114300" cy="133501"/>
          </a:xfrm>
          <a:prstGeom prst="rect">
            <a:avLst/>
          </a:prstGeom>
          <a:ln/>
        </p:spPr>
      </p:pic>
      <p:sp>
        <p:nvSpPr>
          <p:cNvPr id="18" name="TextBox 17"/>
          <p:cNvSpPr txBox="1"/>
          <p:nvPr/>
        </p:nvSpPr>
        <p:spPr>
          <a:xfrm>
            <a:off x="6801307" y="3114446"/>
            <a:ext cx="4420210" cy="771754"/>
          </a:xfrm>
          <a:prstGeom prst="rect">
            <a:avLst/>
          </a:prstGeom>
          <a:noFill/>
          <a:ln/>
        </p:spPr>
        <p:txBody>
          <a:bodyPr wrap="square" lIns="0" rIns="0" tIns="0" bIns="0">
            <a:noAutofit/>
          </a:bodyPr>
          <a:lstStyle/>
          <a:p>
            <a:r>
              <a:rPr sz="1300" b="1">
                <a:solidFill>
                  <a:srgbClr val="E5E5E5"/>
                </a:solidFill>
                <a:latin typeface="Noto Sans JP"/>
              </a:rPr>
              <a:t>プラットフォームの最適解：</a:t>
            </a:r>
          </a:p>
          <a:p>
            <a:r>
              <a:rPr sz="1300">
                <a:solidFill>
                  <a:srgbClr val="E5E5E5"/>
                </a:solidFill>
                <a:latin typeface="Noto Sans JP"/>
              </a:rPr>
              <a:t> macOSはMetal/Unified Memory、WindowsはOllama/LM Studioが実務的選択肢です。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p:spPr>
      </p:pic>
      <p:sp>
        <p:nvSpPr>
          <p:cNvPr id="20" name="TextBox 19"/>
          <p:cNvSpPr txBox="1"/>
          <p:nvPr/>
        </p:nvSpPr>
        <p:spPr>
          <a:xfrm>
            <a:off x="6801307" y="4038905"/>
            <a:ext cx="4420210" cy="771753"/>
          </a:xfrm>
          <a:prstGeom prst="rect">
            <a:avLst/>
          </a:prstGeom>
          <a:noFill/>
          <a:ln/>
        </p:spPr>
        <p:txBody>
          <a:bodyPr wrap="square" lIns="0" rIns="0" tIns="0" bIns="0">
            <a:noAutofit/>
          </a:bodyPr>
          <a:lstStyle/>
          <a:p>
            <a:r>
              <a:rPr sz="1300" b="1">
                <a:solidFill>
                  <a:srgbClr val="E5E5E5"/>
                </a:solidFill>
                <a:latin typeface="Noto Sans JP"/>
              </a:rPr>
              <a:t>構成要素の多様性：</a:t>
            </a:r>
          </a:p>
          <a:p>
            <a:r>
              <a:rPr sz="1300">
                <a:solidFill>
                  <a:srgbClr val="E5E5E5"/>
                </a:solidFill>
                <a:latin typeface="Noto Sans JP"/>
              </a:rPr>
              <a:t> LLMだけでなく、ASR/TTS/VLM/RAG/Agentまで網羅的にマップ化します。 </a:t>
            </a:r>
          </a:p>
        </p:txBody>
      </p:sp>
      <p:pic>
        <p:nvPicPr>
          <p:cNvPr id="21" name="Picture 20" descr="image.png"/>
          <p:cNvPicPr>
            <a:picLocks noChangeAspect="1"/>
          </p:cNvPicPr>
          <p:nvPr/>
        </p:nvPicPr>
        <p:blipFill>
          <a:blip r:embed="rId6"/>
          <a:stretch>
            <a:fillRect/>
          </a:stretch>
        </p:blipFill>
        <p:spPr>
          <a:xfrm>
            <a:off x="6572707" y="4086454"/>
            <a:ext cx="114300" cy="133501"/>
          </a:xfrm>
          <a:prstGeom prst="rect">
            <a:avLst/>
          </a:prstGeom>
          <a:ln/>
        </p:spPr>
      </p:pic>
      <p:pic>
        <p:nvPicPr>
          <p:cNvPr id="22" name="Picture 21" descr="image.png"/>
          <p:cNvPicPr>
            <a:picLocks noChangeAspect="1"/>
          </p:cNvPicPr>
          <p:nvPr/>
        </p:nvPicPr>
        <p:blipFill>
          <a:blip r:embed="rId7"/>
          <a:stretch>
            <a:fillRect/>
          </a:stretch>
        </p:blipFill>
        <p:spPr>
          <a:xfrm>
            <a:off x="6248095" y="5477256"/>
            <a:ext cx="1257300" cy="333755"/>
          </a:xfrm>
          <a:prstGeom prst="rect">
            <a:avLst/>
          </a:prstGeom>
          <a:ln/>
        </p:spPr>
      </p:pic>
      <p:sp>
        <p:nvSpPr>
          <p:cNvPr id="23" name="TextBox 22"/>
          <p:cNvSpPr txBox="1"/>
          <p:nvPr/>
        </p:nvSpPr>
        <p:spPr>
          <a:xfrm>
            <a:off x="6248095" y="5477256"/>
            <a:ext cx="1257300"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カテゴリ網羅図</a:t>
            </a:r>
          </a:p>
        </p:txBody>
      </p:sp>
      <p:pic>
        <p:nvPicPr>
          <p:cNvPr id="24" name="Picture 23" descr="image.png"/>
          <p:cNvPicPr>
            <a:picLocks noChangeAspect="1"/>
          </p:cNvPicPr>
          <p:nvPr/>
        </p:nvPicPr>
        <p:blipFill>
          <a:blip r:embed="rId8"/>
          <a:stretch>
            <a:fillRect/>
          </a:stretch>
        </p:blipFill>
        <p:spPr>
          <a:xfrm>
            <a:off x="7619695" y="5477256"/>
            <a:ext cx="990294" cy="333755"/>
          </a:xfrm>
          <a:prstGeom prst="rect">
            <a:avLst/>
          </a:prstGeom>
          <a:ln/>
        </p:spPr>
      </p:pic>
      <p:sp>
        <p:nvSpPr>
          <p:cNvPr id="25" name="TextBox 24"/>
          <p:cNvSpPr txBox="1"/>
          <p:nvPr/>
        </p:nvSpPr>
        <p:spPr>
          <a:xfrm>
            <a:off x="7619695" y="5477256"/>
            <a:ext cx="991210"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代表モデル</a:t>
            </a:r>
          </a:p>
        </p:txBody>
      </p:sp>
      <p:pic>
        <p:nvPicPr>
          <p:cNvPr id="26" name="Picture 25" descr="image.png"/>
          <p:cNvPicPr>
            <a:picLocks noChangeAspect="1"/>
          </p:cNvPicPr>
          <p:nvPr/>
        </p:nvPicPr>
        <p:blipFill>
          <a:blip r:embed="rId8"/>
          <a:stretch>
            <a:fillRect/>
          </a:stretch>
        </p:blipFill>
        <p:spPr>
          <a:xfrm>
            <a:off x="8725205" y="5477256"/>
            <a:ext cx="990294" cy="333755"/>
          </a:xfrm>
          <a:prstGeom prst="rect">
            <a:avLst/>
          </a:prstGeom>
          <a:ln/>
        </p:spPr>
      </p:pic>
      <p:sp>
        <p:nvSpPr>
          <p:cNvPr id="27" name="TextBox 26"/>
          <p:cNvSpPr txBox="1"/>
          <p:nvPr/>
        </p:nvSpPr>
        <p:spPr>
          <a:xfrm>
            <a:off x="8725205" y="5477256"/>
            <a:ext cx="991210"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ランタイム</a:t>
            </a:r>
          </a:p>
        </p:txBody>
      </p:sp>
      <p:pic>
        <p:nvPicPr>
          <p:cNvPr id="28" name="Picture 27" descr="image.png"/>
          <p:cNvPicPr>
            <a:picLocks noChangeAspect="1"/>
          </p:cNvPicPr>
          <p:nvPr/>
        </p:nvPicPr>
        <p:blipFill>
          <a:blip r:embed="rId9"/>
          <a:stretch>
            <a:fillRect/>
          </a:stretch>
        </p:blipFill>
        <p:spPr>
          <a:xfrm>
            <a:off x="9827057" y="5477256"/>
            <a:ext cx="724205" cy="333755"/>
          </a:xfrm>
          <a:prstGeom prst="rect">
            <a:avLst/>
          </a:prstGeom>
          <a:ln/>
        </p:spPr>
      </p:pic>
      <p:sp>
        <p:nvSpPr>
          <p:cNvPr id="29" name="TextBox 28"/>
          <p:cNvSpPr txBox="1"/>
          <p:nvPr/>
        </p:nvSpPr>
        <p:spPr>
          <a:xfrm>
            <a:off x="9827057" y="5477256"/>
            <a:ext cx="724205"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主用途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p:spPr>
      </p:pic>
      <p:sp>
        <p:nvSpPr>
          <p:cNvPr id="8" name="TextBox 7"/>
          <p:cNvSpPr txBox="1"/>
          <p:nvPr/>
        </p:nvSpPr>
        <p:spPr>
          <a:xfrm>
            <a:off x="914400" y="176479"/>
            <a:ext cx="3431743" cy="400507"/>
          </a:xfrm>
          <a:prstGeom prst="rect">
            <a:avLst/>
          </a:prstGeom>
          <a:noFill/>
          <a:ln/>
        </p:spPr>
        <p:txBody>
          <a:bodyPr wrap="square" lIns="0" rIns="0" tIns="0" bIns="0">
            <a:noAutofit/>
          </a:bodyPr>
          <a:lstStyle/>
          <a:p>
            <a:r>
              <a:rPr sz="2100" b="1">
                <a:solidFill>
                  <a:srgbClr val="1D1D1F"/>
                </a:solidFill>
                <a:latin typeface="Noto Sans JP"/>
              </a:rPr>
              <a:t>ローカルAIランドスケープ</a:t>
            </a:r>
          </a:p>
        </p:txBody>
      </p:sp>
      <p:sp>
        <p:nvSpPr>
          <p:cNvPr id="9" name="TextBox 8"/>
          <p:cNvSpPr txBox="1"/>
          <p:nvPr/>
        </p:nvSpPr>
        <p:spPr>
          <a:xfrm>
            <a:off x="8385048" y="261518"/>
            <a:ext cx="3543300" cy="228600"/>
          </a:xfrm>
          <a:prstGeom prst="rect">
            <a:avLst/>
          </a:prstGeom>
          <a:noFill/>
          <a:ln/>
        </p:spPr>
        <p:txBody>
          <a:bodyPr wrap="square" lIns="0" rIns="0" tIns="0" bIns="0">
            <a:noAutofit/>
          </a:bodyPr>
          <a:lstStyle/>
          <a:p>
            <a:r>
              <a:rPr sz="1200">
                <a:solidFill>
                  <a:srgbClr val="86868B"/>
                </a:solidFill>
                <a:latin typeface="Noto Sans JP"/>
              </a:rPr>
              <a:t>カテゴリ網羅・代表モデルとランタイムの関係図</a:t>
            </a:r>
          </a:p>
        </p:txBody>
      </p:sp>
      <p:pic>
        <p:nvPicPr>
          <p:cNvPr id="10" name="Picture 9" descr="image.png"/>
          <p:cNvPicPr>
            <a:picLocks noChangeAspect="1"/>
          </p:cNvPicPr>
          <p:nvPr/>
        </p:nvPicPr>
        <p:blipFill>
          <a:blip r:embed="rId3"/>
          <a:stretch>
            <a:fillRect/>
          </a:stretch>
        </p:blipFill>
        <p:spPr>
          <a:xfrm>
            <a:off x="457200" y="952805"/>
            <a:ext cx="11277295" cy="5333695"/>
          </a:xfrm>
          <a:prstGeom prst="rect">
            <a:avLst/>
          </a:prstGeom>
          <a:ln/>
        </p:spPr>
      </p:pic>
      <p:sp>
        <p:nvSpPr>
          <p:cNvPr id="11" name="Rectangle 10"/>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14" name="TextBox 13"/>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11 / 80</a:t>
            </a:r>
          </a:p>
        </p:txBody>
      </p:sp>
      <p:sp>
        <p:nvSpPr>
          <p:cNvPr id="15" name="Rectangle 14"/>
          <p:cNvSpPr/>
          <p:nvPr/>
        </p:nvSpPr>
        <p:spPr>
          <a:xfrm>
            <a:off x="457200" y="952805"/>
            <a:ext cx="11277295" cy="68580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952805"/>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067105"/>
            <a:ext cx="10935310" cy="457200"/>
          </a:xfrm>
          <a:prstGeom prst="rect">
            <a:avLst/>
          </a:prstGeom>
          <a:noFill/>
          <a:ln/>
        </p:spPr>
        <p:txBody>
          <a:bodyPr wrap="square" lIns="0" rIns="0" tIns="0" bIns="0">
            <a:noAutofit/>
          </a:bodyPr>
          <a:lstStyle/>
          <a:p>
            <a:r>
              <a:rPr sz="1200" b="1">
                <a:solidFill>
                  <a:srgbClr val="1D1D1F"/>
                </a:solidFill>
                <a:latin typeface="Noto Sans JP"/>
              </a:rPr>
              <a:t> 結論：ローカルAIは9カテゴリ（LLM/VLM/ASR/TTS/Embedding/OCR/画像生成/Agent/音声前処理）で構成され、</a:t>
            </a:r>
          </a:p>
          <a:p>
            <a:r>
              <a:rPr sz="1200" b="1">
                <a:solidFill>
                  <a:srgbClr val="1D1D1F"/>
                </a:solidFill>
                <a:latin typeface="Noto Sans JP"/>
              </a:rPr>
              <a:t> モデル系とランタイム系が実務上の結節点となります。 </a:t>
            </a:r>
          </a:p>
        </p:txBody>
      </p:sp>
      <p:sp>
        <p:nvSpPr>
          <p:cNvPr id="18" name="Rectangle 17"/>
          <p:cNvSpPr/>
          <p:nvPr/>
        </p:nvSpPr>
        <p:spPr>
          <a:xfrm>
            <a:off x="7968996" y="5905195"/>
            <a:ext cx="3771900" cy="381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0786" y="6038698"/>
            <a:ext cx="114300" cy="1143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2694" y="6010351"/>
            <a:ext cx="1144829" cy="171906"/>
          </a:xfrm>
          <a:prstGeom prst="rect">
            <a:avLst/>
          </a:prstGeom>
          <a:noFill/>
          <a:ln/>
        </p:spPr>
        <p:txBody>
          <a:bodyPr wrap="square" lIns="0" rIns="0" tIns="0" bIns="0">
            <a:noAutofit/>
          </a:bodyPr>
          <a:lstStyle/>
          <a:p>
            <a:r>
              <a:rPr sz="900">
                <a:solidFill>
                  <a:srgbClr val="424245"/>
                </a:solidFill>
                <a:latin typeface="Noto Sans JP"/>
              </a:rPr>
              <a:t>Core (AI Category)</a:t>
            </a:r>
          </a:p>
        </p:txBody>
      </p:sp>
      <p:sp>
        <p:nvSpPr>
          <p:cNvPr id="21" name="Rectangle 20"/>
          <p:cNvSpPr/>
          <p:nvPr/>
        </p:nvSpPr>
        <p:spPr>
          <a:xfrm>
            <a:off x="9391802" y="6038698"/>
            <a:ext cx="114300" cy="114300"/>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2795" y="6010351"/>
            <a:ext cx="994867" cy="171906"/>
          </a:xfrm>
          <a:prstGeom prst="rect">
            <a:avLst/>
          </a:prstGeom>
          <a:noFill/>
          <a:ln/>
        </p:spPr>
        <p:txBody>
          <a:bodyPr wrap="square" lIns="0" rIns="0" tIns="0" bIns="0">
            <a:noAutofit/>
          </a:bodyPr>
          <a:lstStyle/>
          <a:p>
            <a:r>
              <a:rPr sz="900">
                <a:solidFill>
                  <a:srgbClr val="424245"/>
                </a:solidFill>
                <a:latin typeface="Noto Sans JP"/>
              </a:rPr>
              <a:t>Model Examples</a:t>
            </a:r>
          </a:p>
        </p:txBody>
      </p:sp>
      <p:sp>
        <p:nvSpPr>
          <p:cNvPr id="23" name="Rectangle 22"/>
          <p:cNvSpPr/>
          <p:nvPr/>
        </p:nvSpPr>
        <p:spPr>
          <a:xfrm>
            <a:off x="10568635" y="6038698"/>
            <a:ext cx="114300" cy="114300"/>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40542" y="6010351"/>
            <a:ext cx="1009497" cy="171906"/>
          </a:xfrm>
          <a:prstGeom prst="rect">
            <a:avLst/>
          </a:prstGeom>
          <a:noFill/>
          <a:ln/>
        </p:spPr>
        <p:txBody>
          <a:bodyPr wrap="square" lIns="0" rIns="0" tIns="0" bIns="0">
            <a:noAutofit/>
          </a:bodyPr>
          <a:lstStyle/>
          <a:p>
            <a:r>
              <a:rPr sz="900">
                <a:solidFill>
                  <a:srgbClr val="424245"/>
                </a:solidFill>
                <a:latin typeface="Noto Sans JP"/>
              </a:rPr>
              <a:t>Runtime / Stack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90779"/>
            <a:ext cx="304495" cy="267005"/>
          </a:xfrm>
          <a:prstGeom prst="rect">
            <a:avLst/>
          </a:prstGeom>
          <a:ln/>
        </p:spPr>
      </p:pic>
      <p:sp>
        <p:nvSpPr>
          <p:cNvPr id="8" name="TextBox 7"/>
          <p:cNvSpPr txBox="1"/>
          <p:nvPr/>
        </p:nvSpPr>
        <p:spPr>
          <a:xfrm>
            <a:off x="914400" y="224028"/>
            <a:ext cx="4439412" cy="400506"/>
          </a:xfrm>
          <a:prstGeom prst="rect">
            <a:avLst/>
          </a:prstGeom>
          <a:noFill/>
          <a:ln/>
        </p:spPr>
        <p:txBody>
          <a:bodyPr wrap="square" lIns="0" rIns="0" tIns="0" bIns="0">
            <a:noAutofit/>
          </a:bodyPr>
          <a:lstStyle/>
          <a:p>
            <a:r>
              <a:rPr sz="2100" b="1">
                <a:solidFill>
                  <a:srgbClr val="1D1D1F"/>
                </a:solidFill>
                <a:latin typeface="Noto Sans JP"/>
              </a:rPr>
              <a:t>ローカルAIランドスケープ（詳細）</a:t>
            </a:r>
          </a:p>
        </p:txBody>
      </p:sp>
      <p:sp>
        <p:nvSpPr>
          <p:cNvPr id="9" name="TextBox 8"/>
          <p:cNvSpPr txBox="1"/>
          <p:nvPr/>
        </p:nvSpPr>
        <p:spPr>
          <a:xfrm>
            <a:off x="8689543" y="309982"/>
            <a:ext cx="3238805" cy="228599"/>
          </a:xfrm>
          <a:prstGeom prst="rect">
            <a:avLst/>
          </a:prstGeom>
          <a:noFill/>
          <a:ln/>
        </p:spPr>
        <p:txBody>
          <a:bodyPr wrap="square" lIns="0" rIns="0" tIns="0" bIns="0">
            <a:noAutofit/>
          </a:bodyPr>
          <a:lstStyle/>
          <a:p>
            <a:r>
              <a:rPr sz="1200">
                <a:solidFill>
                  <a:srgbClr val="86868B"/>
                </a:solidFill>
                <a:latin typeface="Noto Sans JP"/>
              </a:rPr>
              <a:t>カテゴリ別代表モデル・ランタイム・主用途</a:t>
            </a:r>
          </a:p>
        </p:txBody>
      </p:sp>
      <p:pic>
        <p:nvPicPr>
          <p:cNvPr id="10" name="Picture 9" descr="image.png"/>
          <p:cNvPicPr>
            <a:picLocks noChangeAspect="1"/>
          </p:cNvPicPr>
          <p:nvPr/>
        </p:nvPicPr>
        <p:blipFill>
          <a:blip r:embed="rId3"/>
          <a:stretch>
            <a:fillRect/>
          </a:stretch>
        </p:blipFill>
        <p:spPr>
          <a:xfrm>
            <a:off x="457200" y="1086307"/>
            <a:ext cx="11277295" cy="784555"/>
          </a:xfrm>
          <a:prstGeom prst="rect">
            <a:avLst/>
          </a:prstGeom>
          <a:ln/>
        </p:spPr>
      </p:pic>
      <p:sp>
        <p:nvSpPr>
          <p:cNvPr id="11" name="TextBox 10"/>
          <p:cNvSpPr txBox="1"/>
          <p:nvPr/>
        </p:nvSpPr>
        <p:spPr>
          <a:xfrm>
            <a:off x="743407" y="1238098"/>
            <a:ext cx="10840212" cy="486460"/>
          </a:xfrm>
          <a:prstGeom prst="rect">
            <a:avLst/>
          </a:prstGeom>
          <a:noFill/>
          <a:ln/>
        </p:spPr>
        <p:txBody>
          <a:bodyPr wrap="square" lIns="0" rIns="0" tIns="0" bIns="0">
            <a:noAutofit/>
          </a:bodyPr>
          <a:lstStyle/>
          <a:p>
            <a:r>
              <a:rPr sz="1300" b="1">
                <a:solidFill>
                  <a:srgbClr val="1D1D1F"/>
                </a:solidFill>
                <a:latin typeface="Noto Sans JP"/>
              </a:rPr>
              <a:t> 結論：実務上の収束点は「LLMは</a:t>
            </a:r>
            <a:r>
              <a:rPr sz="1300" b="1">
                <a:solidFill>
                  <a:srgbClr val="007AFF"/>
                </a:solidFill>
                <a:latin typeface="Noto Sans JP"/>
              </a:rPr>
              <a:t>GGUF (llama.cpp)</a:t>
            </a:r>
            <a:r>
              <a:rPr sz="1300" b="1">
                <a:solidFill>
                  <a:srgbClr val="1D1D1F"/>
                </a:solidFill>
                <a:latin typeface="Noto Sans JP"/>
              </a:rPr>
              <a:t>か</a:t>
            </a:r>
            <a:r>
              <a:rPr sz="1300" b="1">
                <a:solidFill>
                  <a:srgbClr val="007AFF"/>
                </a:solidFill>
                <a:latin typeface="Noto Sans JP"/>
              </a:rPr>
              <a:t>GPU量子化系</a:t>
            </a:r>
            <a:r>
              <a:rPr sz="1300" b="1">
                <a:solidFill>
                  <a:srgbClr val="1D1D1F"/>
                </a:solidFill>
                <a:latin typeface="Noto Sans JP"/>
              </a:rPr>
              <a:t>」「macOSは</a:t>
            </a:r>
            <a:r>
              <a:rPr sz="1300" b="1">
                <a:solidFill>
                  <a:srgbClr val="007AFF"/>
                </a:solidFill>
                <a:latin typeface="Noto Sans JP"/>
              </a:rPr>
              <a:t>MLX/Unified Memory</a:t>
            </a:r>
            <a:r>
              <a:rPr sz="1300" b="1">
                <a:solidFill>
                  <a:srgbClr val="1D1D1F"/>
                </a:solidFill>
                <a:latin typeface="Noto Sans JP"/>
              </a:rPr>
              <a:t>最適化」「Windowsは</a:t>
            </a:r>
            <a:r>
              <a:rPr sz="1300" b="1">
                <a:solidFill>
                  <a:srgbClr val="007AFF"/>
                </a:solidFill>
                <a:latin typeface="Noto Sans JP"/>
              </a:rPr>
              <a:t>Ollama/LM Studio</a:t>
            </a:r>
            <a:r>
              <a:rPr sz="1300" b="1">
                <a:solidFill>
                  <a:srgbClr val="1D1D1F"/>
                </a:solidFill>
                <a:latin typeface="Noto Sans JP"/>
              </a:rPr>
              <a:t> + 必要に応じWSL2」。 </a:t>
            </a:r>
          </a:p>
        </p:txBody>
      </p:sp>
      <p:sp>
        <p:nvSpPr>
          <p:cNvPr id="12" name="Rectangle 11"/>
          <p:cNvSpPr/>
          <p:nvPr/>
        </p:nvSpPr>
        <p:spPr>
          <a:xfrm>
            <a:off x="457200"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984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599846" y="2273198"/>
            <a:ext cx="190195" cy="152705"/>
          </a:xfrm>
          <a:prstGeom prst="rect">
            <a:avLst/>
          </a:prstGeom>
          <a:ln/>
        </p:spPr>
      </p:pic>
      <p:sp>
        <p:nvSpPr>
          <p:cNvPr id="15" name="TextBox 14"/>
          <p:cNvSpPr txBox="1"/>
          <p:nvPr/>
        </p:nvSpPr>
        <p:spPr>
          <a:xfrm>
            <a:off x="866850" y="2242109"/>
            <a:ext cx="914400" cy="305410"/>
          </a:xfrm>
          <a:prstGeom prst="rect">
            <a:avLst/>
          </a:prstGeom>
          <a:noFill/>
          <a:ln/>
        </p:spPr>
        <p:txBody>
          <a:bodyPr wrap="square" lIns="0" rIns="0" tIns="0" bIns="0">
            <a:noAutofit/>
          </a:bodyPr>
          <a:lstStyle/>
          <a:p>
            <a:r>
              <a:rPr sz="1100" b="1">
                <a:solidFill>
                  <a:srgbClr val="1D1D1F"/>
                </a:solidFill>
                <a:latin typeface="Noto Sans JP"/>
              </a:rPr>
              <a:t>テキストLLM</a:t>
            </a:r>
          </a:p>
        </p:txBody>
      </p:sp>
      <p:sp>
        <p:nvSpPr>
          <p:cNvPr id="16" name="TextBox 15"/>
          <p:cNvSpPr txBox="1"/>
          <p:nvPr/>
        </p:nvSpPr>
        <p:spPr>
          <a:xfrm>
            <a:off x="599846" y="2656332"/>
            <a:ext cx="600760" cy="171906"/>
          </a:xfrm>
          <a:prstGeom prst="rect">
            <a:avLst/>
          </a:prstGeom>
          <a:noFill/>
          <a:ln/>
        </p:spPr>
        <p:txBody>
          <a:bodyPr wrap="square" lIns="0" rIns="0" tIns="0" bIns="0">
            <a:noAutofit/>
          </a:bodyPr>
          <a:lstStyle/>
          <a:p>
            <a:r>
              <a:rPr sz="900" b="1">
                <a:solidFill>
                  <a:srgbClr val="6E6E73"/>
                </a:solidFill>
                <a:latin typeface="Noto Sans JP"/>
              </a:rPr>
              <a:t>形式:</a:t>
            </a:r>
          </a:p>
        </p:txBody>
      </p:sp>
      <p:sp>
        <p:nvSpPr>
          <p:cNvPr id="17" name="TextBox 16"/>
          <p:cNvSpPr txBox="1"/>
          <p:nvPr/>
        </p:nvSpPr>
        <p:spPr>
          <a:xfrm>
            <a:off x="1181405" y="2656332"/>
            <a:ext cx="2867558" cy="342900"/>
          </a:xfrm>
          <a:prstGeom prst="rect">
            <a:avLst/>
          </a:prstGeom>
          <a:noFill/>
          <a:ln/>
        </p:spPr>
        <p:txBody>
          <a:bodyPr wrap="square" lIns="0" rIns="0" tIns="0" bIns="0">
            <a:noAutofit/>
          </a:bodyPr>
          <a:lstStyle/>
          <a:p>
            <a:r>
              <a:rPr sz="900">
                <a:solidFill>
                  <a:srgbClr val="1D1D1F"/>
                </a:solidFill>
                <a:latin typeface="Noto Sans JP"/>
              </a:rPr>
              <a:t>GGUF (llama.cpp必須)</a:t>
            </a:r>
            <a:r>
              <a:rPr sz="900">
                <a:solidFill>
                  <a:srgbClr val="1D1D1F"/>
                </a:solidFill>
                <a:latin typeface="Noto Sans JP"/>
              </a:rPr>
              <a:t>, GPTQ/AWQ/EXL2 (GPU向け)</a:t>
            </a:r>
          </a:p>
        </p:txBody>
      </p:sp>
      <p:pic>
        <p:nvPicPr>
          <p:cNvPr id="18" name="Picture 17" descr="image.png"/>
          <p:cNvPicPr>
            <a:picLocks noChangeAspect="1"/>
          </p:cNvPicPr>
          <p:nvPr/>
        </p:nvPicPr>
        <p:blipFill>
          <a:blip r:embed="rId5"/>
          <a:stretch>
            <a:fillRect/>
          </a:stretch>
        </p:blipFill>
        <p:spPr>
          <a:xfrm>
            <a:off x="2363724" y="2656332"/>
            <a:ext cx="247801" cy="161849"/>
          </a:xfrm>
          <a:prstGeom prst="rect">
            <a:avLst/>
          </a:prstGeom>
          <a:ln/>
        </p:spPr>
      </p:pic>
      <p:sp>
        <p:nvSpPr>
          <p:cNvPr id="19" name="TextBox 18"/>
          <p:cNvSpPr txBox="1"/>
          <p:nvPr/>
        </p:nvSpPr>
        <p:spPr>
          <a:xfrm>
            <a:off x="2363724" y="2656332"/>
            <a:ext cx="247801" cy="16276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[21]</a:t>
            </a:r>
          </a:p>
        </p:txBody>
      </p:sp>
      <p:sp>
        <p:nvSpPr>
          <p:cNvPr id="20" name="TextBox 19"/>
          <p:cNvSpPr txBox="1"/>
          <p:nvPr/>
        </p:nvSpPr>
        <p:spPr>
          <a:xfrm>
            <a:off x="599846" y="3056839"/>
            <a:ext cx="600760" cy="171906"/>
          </a:xfrm>
          <a:prstGeom prst="rect">
            <a:avLst/>
          </a:prstGeom>
          <a:noFill/>
          <a:ln/>
        </p:spPr>
        <p:txBody>
          <a:bodyPr wrap="square" lIns="0" rIns="0" tIns="0" bIns="0">
            <a:noAutofit/>
          </a:bodyPr>
          <a:lstStyle/>
          <a:p>
            <a:r>
              <a:rPr sz="900" b="1">
                <a:solidFill>
                  <a:srgbClr val="6E6E73"/>
                </a:solidFill>
                <a:latin typeface="Noto Sans JP"/>
              </a:rPr>
              <a:t>代表:</a:t>
            </a:r>
          </a:p>
        </p:txBody>
      </p:sp>
      <p:sp>
        <p:nvSpPr>
          <p:cNvPr id="21" name="TextBox 20"/>
          <p:cNvSpPr txBox="1"/>
          <p:nvPr/>
        </p:nvSpPr>
        <p:spPr>
          <a:xfrm>
            <a:off x="1181405" y="3056839"/>
            <a:ext cx="2437790" cy="171906"/>
          </a:xfrm>
          <a:prstGeom prst="rect">
            <a:avLst/>
          </a:prstGeom>
          <a:noFill/>
          <a:ln/>
        </p:spPr>
        <p:txBody>
          <a:bodyPr wrap="square" lIns="0" rIns="0" tIns="0" bIns="0">
            <a:noAutofit/>
          </a:bodyPr>
          <a:lstStyle/>
          <a:p>
            <a:r>
              <a:rPr sz="900">
                <a:solidFill>
                  <a:srgbClr val="1D1D1F"/>
                </a:solidFill>
                <a:latin typeface="Noto Sans JP"/>
              </a:rPr>
              <a:t>Llama 3.1, Qwen2.5, Gemma 2, Phi-3/4</a:t>
            </a:r>
          </a:p>
        </p:txBody>
      </p:sp>
      <p:sp>
        <p:nvSpPr>
          <p:cNvPr id="22" name="TextBox 21"/>
          <p:cNvSpPr txBox="1"/>
          <p:nvPr/>
        </p:nvSpPr>
        <p:spPr>
          <a:xfrm>
            <a:off x="599846" y="3285439"/>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23" name="TextBox 22"/>
          <p:cNvSpPr txBox="1"/>
          <p:nvPr/>
        </p:nvSpPr>
        <p:spPr>
          <a:xfrm>
            <a:off x="1181405" y="3285439"/>
            <a:ext cx="1548079" cy="171906"/>
          </a:xfrm>
          <a:prstGeom prst="rect">
            <a:avLst/>
          </a:prstGeom>
          <a:noFill/>
          <a:ln/>
        </p:spPr>
        <p:txBody>
          <a:bodyPr wrap="square" lIns="0" rIns="0" tIns="0" bIns="0">
            <a:noAutofit/>
          </a:bodyPr>
          <a:lstStyle/>
          <a:p>
            <a:r>
              <a:rPr sz="900">
                <a:solidFill>
                  <a:srgbClr val="1D1D1F"/>
                </a:solidFill>
                <a:latin typeface="Noto Sans JP"/>
              </a:rPr>
              <a:t>汎用対話, 要約, RAG, 翻訳</a:t>
            </a:r>
          </a:p>
        </p:txBody>
      </p:sp>
      <p:sp>
        <p:nvSpPr>
          <p:cNvPr id="24" name="Rectangle 23"/>
          <p:cNvSpPr/>
          <p:nvPr/>
        </p:nvSpPr>
        <p:spPr>
          <a:xfrm>
            <a:off x="426750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151"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10151" y="2273198"/>
            <a:ext cx="190194" cy="152705"/>
          </a:xfrm>
          <a:prstGeom prst="rect">
            <a:avLst/>
          </a:prstGeom>
          <a:ln/>
        </p:spPr>
      </p:pic>
      <p:sp>
        <p:nvSpPr>
          <p:cNvPr id="27" name="TextBox 26"/>
          <p:cNvSpPr txBox="1"/>
          <p:nvPr/>
        </p:nvSpPr>
        <p:spPr>
          <a:xfrm>
            <a:off x="4677156" y="2242109"/>
            <a:ext cx="800100" cy="305410"/>
          </a:xfrm>
          <a:prstGeom prst="rect">
            <a:avLst/>
          </a:prstGeom>
          <a:noFill/>
          <a:ln/>
        </p:spPr>
        <p:txBody>
          <a:bodyPr wrap="square" lIns="0" rIns="0" tIns="0" bIns="0">
            <a:noAutofit/>
          </a:bodyPr>
          <a:lstStyle/>
          <a:p>
            <a:r>
              <a:rPr sz="1100" b="1">
                <a:solidFill>
                  <a:srgbClr val="1D1D1F"/>
                </a:solidFill>
                <a:latin typeface="Noto Sans JP"/>
              </a:rPr>
              <a:t>VLM / LMM</a:t>
            </a:r>
          </a:p>
        </p:txBody>
      </p:sp>
      <p:sp>
        <p:nvSpPr>
          <p:cNvPr id="28" name="TextBox 27"/>
          <p:cNvSpPr txBox="1"/>
          <p:nvPr/>
        </p:nvSpPr>
        <p:spPr>
          <a:xfrm>
            <a:off x="4410151" y="2656332"/>
            <a:ext cx="600760" cy="171906"/>
          </a:xfrm>
          <a:prstGeom prst="rect">
            <a:avLst/>
          </a:prstGeom>
          <a:noFill/>
          <a:ln/>
        </p:spPr>
        <p:txBody>
          <a:bodyPr wrap="square" lIns="0" rIns="0" tIns="0" bIns="0">
            <a:noAutofit/>
          </a:bodyPr>
          <a:lstStyle/>
          <a:p>
            <a:r>
              <a:rPr sz="900" b="1">
                <a:solidFill>
                  <a:srgbClr val="6E6E73"/>
                </a:solidFill>
                <a:latin typeface="Noto Sans JP"/>
              </a:rPr>
              <a:t>代表:</a:t>
            </a:r>
          </a:p>
        </p:txBody>
      </p:sp>
      <p:sp>
        <p:nvSpPr>
          <p:cNvPr id="29" name="TextBox 28"/>
          <p:cNvSpPr txBox="1"/>
          <p:nvPr/>
        </p:nvSpPr>
        <p:spPr>
          <a:xfrm>
            <a:off x="4990795" y="2656332"/>
            <a:ext cx="1915668" cy="171906"/>
          </a:xfrm>
          <a:prstGeom prst="rect">
            <a:avLst/>
          </a:prstGeom>
          <a:noFill/>
          <a:ln/>
        </p:spPr>
        <p:txBody>
          <a:bodyPr wrap="square" lIns="0" rIns="0" tIns="0" bIns="0">
            <a:noAutofit/>
          </a:bodyPr>
          <a:lstStyle/>
          <a:p>
            <a:r>
              <a:rPr sz="900">
                <a:solidFill>
                  <a:srgbClr val="1D1D1F"/>
                </a:solidFill>
                <a:latin typeface="Noto Sans JP"/>
              </a:rPr>
              <a:t>Qwen2-VL, Phi-3-Vision, LLaVA</a:t>
            </a:r>
          </a:p>
        </p:txBody>
      </p:sp>
      <p:sp>
        <p:nvSpPr>
          <p:cNvPr id="30" name="TextBox 29"/>
          <p:cNvSpPr txBox="1"/>
          <p:nvPr/>
        </p:nvSpPr>
        <p:spPr>
          <a:xfrm>
            <a:off x="4410151" y="2884932"/>
            <a:ext cx="600760" cy="171906"/>
          </a:xfrm>
          <a:prstGeom prst="rect">
            <a:avLst/>
          </a:prstGeom>
          <a:noFill/>
          <a:ln/>
        </p:spPr>
        <p:txBody>
          <a:bodyPr wrap="square" lIns="0" rIns="0" tIns="0" bIns="0">
            <a:noAutofit/>
          </a:bodyPr>
          <a:lstStyle/>
          <a:p>
            <a:r>
              <a:rPr sz="900" b="1">
                <a:solidFill>
                  <a:srgbClr val="6E6E73"/>
                </a:solidFill>
                <a:latin typeface="Noto Sans JP"/>
              </a:rPr>
              <a:t>実行:</a:t>
            </a:r>
          </a:p>
        </p:txBody>
      </p:sp>
      <p:sp>
        <p:nvSpPr>
          <p:cNvPr id="31" name="TextBox 30"/>
          <p:cNvSpPr txBox="1"/>
          <p:nvPr/>
        </p:nvSpPr>
        <p:spPr>
          <a:xfrm>
            <a:off x="4990795" y="2884932"/>
            <a:ext cx="2761487" cy="171906"/>
          </a:xfrm>
          <a:prstGeom prst="rect">
            <a:avLst/>
          </a:prstGeom>
          <a:noFill/>
          <a:ln/>
        </p:spPr>
        <p:txBody>
          <a:bodyPr wrap="square" lIns="0" rIns="0" tIns="0" bIns="0">
            <a:noAutofit/>
          </a:bodyPr>
          <a:lstStyle/>
          <a:p>
            <a:r>
              <a:rPr sz="900">
                <a:solidFill>
                  <a:srgbClr val="1D1D1F"/>
                </a:solidFill>
                <a:latin typeface="Noto Sans JP"/>
              </a:rPr>
              <a:t>MLX-VLM (Mac最適化)</a:t>
            </a:r>
            <a:r>
              <a:rPr sz="900">
                <a:solidFill>
                  <a:srgbClr val="1D1D1F"/>
                </a:solidFill>
                <a:latin typeface="Noto Sans JP"/>
              </a:rPr>
              <a:t>, Transformers, vLLM</a:t>
            </a:r>
          </a:p>
        </p:txBody>
      </p:sp>
      <p:pic>
        <p:nvPicPr>
          <p:cNvPr id="32" name="Picture 31" descr="image.png"/>
          <p:cNvPicPr>
            <a:picLocks noChangeAspect="1"/>
          </p:cNvPicPr>
          <p:nvPr/>
        </p:nvPicPr>
        <p:blipFill>
          <a:blip r:embed="rId5"/>
          <a:stretch>
            <a:fillRect/>
          </a:stretch>
        </p:blipFill>
        <p:spPr>
          <a:xfrm>
            <a:off x="6145682" y="2884932"/>
            <a:ext cx="247801" cy="161849"/>
          </a:xfrm>
          <a:prstGeom prst="rect">
            <a:avLst/>
          </a:prstGeom>
          <a:ln/>
        </p:spPr>
      </p:pic>
      <p:sp>
        <p:nvSpPr>
          <p:cNvPr id="33" name="TextBox 32"/>
          <p:cNvSpPr txBox="1"/>
          <p:nvPr/>
        </p:nvSpPr>
        <p:spPr>
          <a:xfrm>
            <a:off x="6145682" y="2884932"/>
            <a:ext cx="247801" cy="16276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[28]</a:t>
            </a:r>
          </a:p>
        </p:txBody>
      </p:sp>
      <p:sp>
        <p:nvSpPr>
          <p:cNvPr id="34" name="TextBox 33"/>
          <p:cNvSpPr txBox="1"/>
          <p:nvPr/>
        </p:nvSpPr>
        <p:spPr>
          <a:xfrm>
            <a:off x="4410151" y="3113532"/>
            <a:ext cx="600760" cy="171907"/>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35" name="TextBox 34"/>
          <p:cNvSpPr txBox="1"/>
          <p:nvPr/>
        </p:nvSpPr>
        <p:spPr>
          <a:xfrm>
            <a:off x="4990795" y="3113532"/>
            <a:ext cx="1550821" cy="171907"/>
          </a:xfrm>
          <a:prstGeom prst="rect">
            <a:avLst/>
          </a:prstGeom>
          <a:noFill/>
          <a:ln/>
        </p:spPr>
        <p:txBody>
          <a:bodyPr wrap="square" lIns="0" rIns="0" tIns="0" bIns="0">
            <a:noAutofit/>
          </a:bodyPr>
          <a:lstStyle/>
          <a:p>
            <a:r>
              <a:rPr sz="900">
                <a:solidFill>
                  <a:srgbClr val="1D1D1F"/>
                </a:solidFill>
                <a:latin typeface="Noto Sans JP"/>
              </a:rPr>
              <a:t>画像理解, OCR代替, UI解析</a:t>
            </a:r>
          </a:p>
        </p:txBody>
      </p:sp>
      <p:sp>
        <p:nvSpPr>
          <p:cNvPr id="36" name="Rectangle 35"/>
          <p:cNvSpPr/>
          <p:nvPr/>
        </p:nvSpPr>
        <p:spPr>
          <a:xfrm>
            <a:off x="8076895" y="2099462"/>
            <a:ext cx="3657600" cy="15051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20456" y="2537460"/>
            <a:ext cx="3372307"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220456" y="2273198"/>
            <a:ext cx="190194" cy="152705"/>
          </a:xfrm>
          <a:prstGeom prst="rect">
            <a:avLst/>
          </a:prstGeom>
          <a:ln/>
        </p:spPr>
      </p:pic>
      <p:sp>
        <p:nvSpPr>
          <p:cNvPr id="39" name="TextBox 38"/>
          <p:cNvSpPr txBox="1"/>
          <p:nvPr/>
        </p:nvSpPr>
        <p:spPr>
          <a:xfrm>
            <a:off x="8486546" y="2242109"/>
            <a:ext cx="1200607" cy="305410"/>
          </a:xfrm>
          <a:prstGeom prst="rect">
            <a:avLst/>
          </a:prstGeom>
          <a:noFill/>
          <a:ln/>
        </p:spPr>
        <p:txBody>
          <a:bodyPr wrap="square" lIns="0" rIns="0" tIns="0" bIns="0">
            <a:noAutofit/>
          </a:bodyPr>
          <a:lstStyle/>
          <a:p>
            <a:r>
              <a:rPr sz="1100" b="1">
                <a:solidFill>
                  <a:srgbClr val="1D1D1F"/>
                </a:solidFill>
                <a:latin typeface="Noto Sans JP"/>
              </a:rPr>
              <a:t>ASR（音声認識）</a:t>
            </a:r>
          </a:p>
        </p:txBody>
      </p:sp>
      <p:sp>
        <p:nvSpPr>
          <p:cNvPr id="40" name="TextBox 39"/>
          <p:cNvSpPr txBox="1"/>
          <p:nvPr/>
        </p:nvSpPr>
        <p:spPr>
          <a:xfrm>
            <a:off x="8220456" y="2656332"/>
            <a:ext cx="600760" cy="171906"/>
          </a:xfrm>
          <a:prstGeom prst="rect">
            <a:avLst/>
          </a:prstGeom>
          <a:noFill/>
          <a:ln/>
        </p:spPr>
        <p:txBody>
          <a:bodyPr wrap="square" lIns="0" rIns="0" tIns="0" bIns="0">
            <a:noAutofit/>
          </a:bodyPr>
          <a:lstStyle/>
          <a:p>
            <a:r>
              <a:rPr sz="900" b="1">
                <a:solidFill>
                  <a:srgbClr val="6E6E73"/>
                </a:solidFill>
                <a:latin typeface="Noto Sans JP"/>
              </a:rPr>
              <a:t>方式:</a:t>
            </a:r>
          </a:p>
        </p:txBody>
      </p:sp>
      <p:sp>
        <p:nvSpPr>
          <p:cNvPr id="41" name="TextBox 40"/>
          <p:cNvSpPr txBox="1"/>
          <p:nvPr/>
        </p:nvSpPr>
        <p:spPr>
          <a:xfrm>
            <a:off x="8801100" y="2656332"/>
            <a:ext cx="2890417" cy="171906"/>
          </a:xfrm>
          <a:prstGeom prst="rect">
            <a:avLst/>
          </a:prstGeom>
          <a:noFill/>
          <a:ln/>
        </p:spPr>
        <p:txBody>
          <a:bodyPr wrap="square" lIns="0" rIns="0" tIns="0" bIns="0">
            <a:noAutofit/>
          </a:bodyPr>
          <a:lstStyle/>
          <a:p>
            <a:r>
              <a:rPr sz="900">
                <a:solidFill>
                  <a:srgbClr val="1D1D1F"/>
                </a:solidFill>
                <a:latin typeface="Noto Sans JP"/>
              </a:rPr>
              <a:t>Whisper系 (faster-whisper</a:t>
            </a:r>
            <a:r>
              <a:rPr sz="900">
                <a:solidFill>
                  <a:srgbClr val="1D1D1F"/>
                </a:solidFill>
                <a:latin typeface="Noto Sans JP"/>
              </a:rPr>
              <a:t>, whisper.cpp</a:t>
            </a:r>
            <a:r>
              <a:rPr sz="900">
                <a:solidFill>
                  <a:srgbClr val="1D1D1F"/>
                </a:solidFill>
                <a:latin typeface="Noto Sans JP"/>
              </a:rPr>
              <a:t>)</a:t>
            </a:r>
          </a:p>
        </p:txBody>
      </p:sp>
      <p:pic>
        <p:nvPicPr>
          <p:cNvPr id="42" name="Picture 41" descr="image.png"/>
          <p:cNvPicPr>
            <a:picLocks noChangeAspect="1"/>
          </p:cNvPicPr>
          <p:nvPr/>
        </p:nvPicPr>
        <p:blipFill>
          <a:blip r:embed="rId5"/>
          <a:stretch>
            <a:fillRect/>
          </a:stretch>
        </p:blipFill>
        <p:spPr>
          <a:xfrm>
            <a:off x="10190988" y="2656332"/>
            <a:ext cx="247802" cy="161849"/>
          </a:xfrm>
          <a:prstGeom prst="rect">
            <a:avLst/>
          </a:prstGeom>
          <a:ln/>
        </p:spPr>
      </p:pic>
      <p:sp>
        <p:nvSpPr>
          <p:cNvPr id="43" name="TextBox 42"/>
          <p:cNvSpPr txBox="1"/>
          <p:nvPr/>
        </p:nvSpPr>
        <p:spPr>
          <a:xfrm>
            <a:off x="10190988" y="2656332"/>
            <a:ext cx="247802" cy="16276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[50]</a:t>
            </a:r>
          </a:p>
        </p:txBody>
      </p:sp>
      <p:pic>
        <p:nvPicPr>
          <p:cNvPr id="44" name="Picture 43" descr="image.png"/>
          <p:cNvPicPr>
            <a:picLocks noChangeAspect="1"/>
          </p:cNvPicPr>
          <p:nvPr/>
        </p:nvPicPr>
        <p:blipFill>
          <a:blip r:embed="rId5"/>
          <a:stretch>
            <a:fillRect/>
          </a:stretch>
        </p:blipFill>
        <p:spPr>
          <a:xfrm>
            <a:off x="11161166" y="2656332"/>
            <a:ext cx="247802" cy="161849"/>
          </a:xfrm>
          <a:prstGeom prst="rect">
            <a:avLst/>
          </a:prstGeom>
          <a:ln/>
        </p:spPr>
      </p:pic>
      <p:sp>
        <p:nvSpPr>
          <p:cNvPr id="45" name="TextBox 44"/>
          <p:cNvSpPr txBox="1"/>
          <p:nvPr/>
        </p:nvSpPr>
        <p:spPr>
          <a:xfrm>
            <a:off x="11161166" y="2656332"/>
            <a:ext cx="247802" cy="162762"/>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[51]</a:t>
            </a:r>
          </a:p>
        </p:txBody>
      </p:sp>
      <p:sp>
        <p:nvSpPr>
          <p:cNvPr id="46" name="TextBox 45"/>
          <p:cNvSpPr txBox="1"/>
          <p:nvPr/>
        </p:nvSpPr>
        <p:spPr>
          <a:xfrm>
            <a:off x="8220456" y="2884932"/>
            <a:ext cx="600760" cy="171906"/>
          </a:xfrm>
          <a:prstGeom prst="rect">
            <a:avLst/>
          </a:prstGeom>
          <a:noFill/>
          <a:ln/>
        </p:spPr>
        <p:txBody>
          <a:bodyPr wrap="square" lIns="0" rIns="0" tIns="0" bIns="0">
            <a:noAutofit/>
          </a:bodyPr>
          <a:lstStyle/>
          <a:p>
            <a:r>
              <a:rPr sz="900" b="1">
                <a:solidFill>
                  <a:srgbClr val="6E6E73"/>
                </a:solidFill>
                <a:latin typeface="Noto Sans JP"/>
              </a:rPr>
              <a:t>特徴:</a:t>
            </a:r>
          </a:p>
        </p:txBody>
      </p:sp>
      <p:sp>
        <p:nvSpPr>
          <p:cNvPr id="47" name="TextBox 46"/>
          <p:cNvSpPr txBox="1"/>
          <p:nvPr/>
        </p:nvSpPr>
        <p:spPr>
          <a:xfrm>
            <a:off x="8801100" y="2884932"/>
            <a:ext cx="2504541" cy="171906"/>
          </a:xfrm>
          <a:prstGeom prst="rect">
            <a:avLst/>
          </a:prstGeom>
          <a:noFill/>
          <a:ln/>
        </p:spPr>
        <p:txBody>
          <a:bodyPr wrap="square" lIns="0" rIns="0" tIns="0" bIns="0">
            <a:noAutofit/>
          </a:bodyPr>
          <a:lstStyle/>
          <a:p>
            <a:r>
              <a:rPr sz="900">
                <a:solidFill>
                  <a:srgbClr val="1D1D1F"/>
                </a:solidFill>
                <a:latin typeface="Noto Sans JP"/>
              </a:rPr>
              <a:t>CTranslate2で高速・省メモリ, C++軽量実装</a:t>
            </a:r>
          </a:p>
        </p:txBody>
      </p:sp>
      <p:sp>
        <p:nvSpPr>
          <p:cNvPr id="48" name="TextBox 47"/>
          <p:cNvSpPr txBox="1"/>
          <p:nvPr/>
        </p:nvSpPr>
        <p:spPr>
          <a:xfrm>
            <a:off x="8220456" y="3113532"/>
            <a:ext cx="600760" cy="171907"/>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49" name="TextBox 48"/>
          <p:cNvSpPr txBox="1"/>
          <p:nvPr/>
        </p:nvSpPr>
        <p:spPr>
          <a:xfrm>
            <a:off x="8801100" y="3113532"/>
            <a:ext cx="1948586" cy="171907"/>
          </a:xfrm>
          <a:prstGeom prst="rect">
            <a:avLst/>
          </a:prstGeom>
          <a:noFill/>
          <a:ln/>
        </p:spPr>
        <p:txBody>
          <a:bodyPr wrap="square" lIns="0" rIns="0" tIns="0" bIns="0">
            <a:noAutofit/>
          </a:bodyPr>
          <a:lstStyle/>
          <a:p>
            <a:r>
              <a:rPr sz="900">
                <a:solidFill>
                  <a:srgbClr val="1D1D1F"/>
                </a:solidFill>
                <a:latin typeface="Noto Sans JP"/>
              </a:rPr>
              <a:t>議事録, 音声コマンド, 文字起こし</a:t>
            </a:r>
          </a:p>
        </p:txBody>
      </p:sp>
      <p:sp>
        <p:nvSpPr>
          <p:cNvPr id="50" name="Rectangle 49"/>
          <p:cNvSpPr/>
          <p:nvPr/>
        </p:nvSpPr>
        <p:spPr>
          <a:xfrm>
            <a:off x="457200"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9984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8"/>
          <a:stretch>
            <a:fillRect/>
          </a:stretch>
        </p:blipFill>
        <p:spPr>
          <a:xfrm>
            <a:off x="599846" y="3925519"/>
            <a:ext cx="190195" cy="152705"/>
          </a:xfrm>
          <a:prstGeom prst="rect">
            <a:avLst/>
          </a:prstGeom>
          <a:ln/>
        </p:spPr>
      </p:pic>
      <p:sp>
        <p:nvSpPr>
          <p:cNvPr id="53" name="TextBox 52"/>
          <p:cNvSpPr txBox="1"/>
          <p:nvPr/>
        </p:nvSpPr>
        <p:spPr>
          <a:xfrm>
            <a:off x="866850" y="3894429"/>
            <a:ext cx="1181405" cy="305410"/>
          </a:xfrm>
          <a:prstGeom prst="rect">
            <a:avLst/>
          </a:prstGeom>
          <a:noFill/>
          <a:ln/>
        </p:spPr>
        <p:txBody>
          <a:bodyPr wrap="square" lIns="0" rIns="0" tIns="0" bIns="0">
            <a:noAutofit/>
          </a:bodyPr>
          <a:lstStyle/>
          <a:p>
            <a:r>
              <a:rPr sz="1100" b="1">
                <a:solidFill>
                  <a:srgbClr val="1D1D1F"/>
                </a:solidFill>
                <a:latin typeface="Noto Sans JP"/>
              </a:rPr>
              <a:t>TTS（音声合成）</a:t>
            </a:r>
          </a:p>
        </p:txBody>
      </p:sp>
      <p:sp>
        <p:nvSpPr>
          <p:cNvPr id="54" name="TextBox 53"/>
          <p:cNvSpPr txBox="1"/>
          <p:nvPr/>
        </p:nvSpPr>
        <p:spPr>
          <a:xfrm>
            <a:off x="599846" y="4309567"/>
            <a:ext cx="600760" cy="171906"/>
          </a:xfrm>
          <a:prstGeom prst="rect">
            <a:avLst/>
          </a:prstGeom>
          <a:noFill/>
          <a:ln/>
        </p:spPr>
        <p:txBody>
          <a:bodyPr wrap="square" lIns="0" rIns="0" tIns="0" bIns="0">
            <a:noAutofit/>
          </a:bodyPr>
          <a:lstStyle/>
          <a:p>
            <a:r>
              <a:rPr sz="900" b="1">
                <a:solidFill>
                  <a:srgbClr val="6E6E73"/>
                </a:solidFill>
                <a:latin typeface="Noto Sans JP"/>
              </a:rPr>
              <a:t>軽量:</a:t>
            </a:r>
          </a:p>
        </p:txBody>
      </p:sp>
      <p:sp>
        <p:nvSpPr>
          <p:cNvPr id="55" name="TextBox 54"/>
          <p:cNvSpPr txBox="1"/>
          <p:nvPr/>
        </p:nvSpPr>
        <p:spPr>
          <a:xfrm>
            <a:off x="1181405" y="4309567"/>
            <a:ext cx="2189988" cy="171906"/>
          </a:xfrm>
          <a:prstGeom prst="rect">
            <a:avLst/>
          </a:prstGeom>
          <a:noFill/>
          <a:ln/>
        </p:spPr>
        <p:txBody>
          <a:bodyPr wrap="square" lIns="0" rIns="0" tIns="0" bIns="0">
            <a:noAutofit/>
          </a:bodyPr>
          <a:lstStyle/>
          <a:p>
            <a:r>
              <a:rPr sz="900">
                <a:solidFill>
                  <a:srgbClr val="1D1D1F"/>
                </a:solidFill>
                <a:latin typeface="Noto Sans JP"/>
              </a:rPr>
              <a:t>Piper / Kokoro (高速・CPU向け)</a:t>
            </a:r>
          </a:p>
        </p:txBody>
      </p:sp>
      <p:pic>
        <p:nvPicPr>
          <p:cNvPr id="56" name="Picture 55" descr="image.png"/>
          <p:cNvPicPr>
            <a:picLocks noChangeAspect="1"/>
          </p:cNvPicPr>
          <p:nvPr/>
        </p:nvPicPr>
        <p:blipFill>
          <a:blip r:embed="rId9"/>
          <a:stretch>
            <a:fillRect/>
          </a:stretch>
        </p:blipFill>
        <p:spPr>
          <a:xfrm>
            <a:off x="2863901" y="4309567"/>
            <a:ext cx="418795" cy="161848"/>
          </a:xfrm>
          <a:prstGeom prst="rect">
            <a:avLst/>
          </a:prstGeom>
          <a:ln/>
        </p:spPr>
      </p:pic>
      <p:sp>
        <p:nvSpPr>
          <p:cNvPr id="57" name="TextBox 56"/>
          <p:cNvSpPr txBox="1"/>
          <p:nvPr/>
        </p:nvSpPr>
        <p:spPr>
          <a:xfrm>
            <a:off x="2863901" y="4309567"/>
            <a:ext cx="419709"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[52][53]</a:t>
            </a:r>
          </a:p>
        </p:txBody>
      </p:sp>
      <p:sp>
        <p:nvSpPr>
          <p:cNvPr id="58" name="TextBox 57"/>
          <p:cNvSpPr txBox="1"/>
          <p:nvPr/>
        </p:nvSpPr>
        <p:spPr>
          <a:xfrm>
            <a:off x="599846" y="4538167"/>
            <a:ext cx="600760" cy="171906"/>
          </a:xfrm>
          <a:prstGeom prst="rect">
            <a:avLst/>
          </a:prstGeom>
          <a:noFill/>
          <a:ln/>
        </p:spPr>
        <p:txBody>
          <a:bodyPr wrap="square" lIns="0" rIns="0" tIns="0" bIns="0">
            <a:noAutofit/>
          </a:bodyPr>
          <a:lstStyle/>
          <a:p>
            <a:r>
              <a:rPr sz="900" b="1">
                <a:solidFill>
                  <a:srgbClr val="6E6E73"/>
                </a:solidFill>
                <a:latin typeface="Noto Sans JP"/>
              </a:rPr>
              <a:t>高品質:</a:t>
            </a:r>
          </a:p>
        </p:txBody>
      </p:sp>
      <p:sp>
        <p:nvSpPr>
          <p:cNvPr id="59" name="TextBox 58"/>
          <p:cNvSpPr txBox="1"/>
          <p:nvPr/>
        </p:nvSpPr>
        <p:spPr>
          <a:xfrm>
            <a:off x="1181405" y="4538167"/>
            <a:ext cx="2546604" cy="171906"/>
          </a:xfrm>
          <a:prstGeom prst="rect">
            <a:avLst/>
          </a:prstGeom>
          <a:noFill/>
          <a:ln/>
        </p:spPr>
        <p:txBody>
          <a:bodyPr wrap="square" lIns="0" rIns="0" tIns="0" bIns="0">
            <a:noAutofit/>
          </a:bodyPr>
          <a:lstStyle/>
          <a:p>
            <a:r>
              <a:rPr sz="900">
                <a:solidFill>
                  <a:srgbClr val="1D1D1F"/>
                </a:solidFill>
                <a:latin typeface="Noto Sans JP"/>
              </a:rPr>
              <a:t>XTTS / StyleTTS2 (クローン・GPU推奨)</a:t>
            </a:r>
          </a:p>
        </p:txBody>
      </p:sp>
      <p:pic>
        <p:nvPicPr>
          <p:cNvPr id="60" name="Picture 59" descr="image.png"/>
          <p:cNvPicPr>
            <a:picLocks noChangeAspect="1"/>
          </p:cNvPicPr>
          <p:nvPr/>
        </p:nvPicPr>
        <p:blipFill>
          <a:blip r:embed="rId9"/>
          <a:stretch>
            <a:fillRect/>
          </a:stretch>
        </p:blipFill>
        <p:spPr>
          <a:xfrm>
            <a:off x="3212287" y="4538167"/>
            <a:ext cx="418795" cy="161848"/>
          </a:xfrm>
          <a:prstGeom prst="rect">
            <a:avLst/>
          </a:prstGeom>
          <a:ln/>
        </p:spPr>
      </p:pic>
      <p:sp>
        <p:nvSpPr>
          <p:cNvPr id="61" name="TextBox 60"/>
          <p:cNvSpPr txBox="1"/>
          <p:nvPr/>
        </p:nvSpPr>
        <p:spPr>
          <a:xfrm>
            <a:off x="3212287" y="4538167"/>
            <a:ext cx="419709"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[54][55]</a:t>
            </a:r>
          </a:p>
        </p:txBody>
      </p:sp>
      <p:sp>
        <p:nvSpPr>
          <p:cNvPr id="62" name="TextBox 61"/>
          <p:cNvSpPr txBox="1"/>
          <p:nvPr/>
        </p:nvSpPr>
        <p:spPr>
          <a:xfrm>
            <a:off x="599846" y="4766767"/>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63" name="TextBox 62"/>
          <p:cNvSpPr txBox="1"/>
          <p:nvPr/>
        </p:nvSpPr>
        <p:spPr>
          <a:xfrm>
            <a:off x="1181405" y="4766767"/>
            <a:ext cx="1709927" cy="171906"/>
          </a:xfrm>
          <a:prstGeom prst="rect">
            <a:avLst/>
          </a:prstGeom>
          <a:noFill/>
          <a:ln/>
        </p:spPr>
        <p:txBody>
          <a:bodyPr wrap="square" lIns="0" rIns="0" tIns="0" bIns="0">
            <a:noAutofit/>
          </a:bodyPr>
          <a:lstStyle/>
          <a:p>
            <a:r>
              <a:rPr sz="900">
                <a:solidFill>
                  <a:srgbClr val="1D1D1F"/>
                </a:solidFill>
                <a:latin typeface="Noto Sans JP"/>
              </a:rPr>
              <a:t>読み上げ, 通知, ボイスボット</a:t>
            </a:r>
          </a:p>
        </p:txBody>
      </p:sp>
      <p:sp>
        <p:nvSpPr>
          <p:cNvPr id="64" name="Rectangle 63"/>
          <p:cNvSpPr/>
          <p:nvPr/>
        </p:nvSpPr>
        <p:spPr>
          <a:xfrm>
            <a:off x="426750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410151"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0"/>
          <a:stretch>
            <a:fillRect/>
          </a:stretch>
        </p:blipFill>
        <p:spPr>
          <a:xfrm>
            <a:off x="4410151" y="3925519"/>
            <a:ext cx="190194" cy="152705"/>
          </a:xfrm>
          <a:prstGeom prst="rect">
            <a:avLst/>
          </a:prstGeom>
          <a:ln/>
        </p:spPr>
      </p:pic>
      <p:sp>
        <p:nvSpPr>
          <p:cNvPr id="67" name="TextBox 66"/>
          <p:cNvSpPr txBox="1"/>
          <p:nvPr/>
        </p:nvSpPr>
        <p:spPr>
          <a:xfrm>
            <a:off x="4677156" y="3894429"/>
            <a:ext cx="1565453" cy="305410"/>
          </a:xfrm>
          <a:prstGeom prst="rect">
            <a:avLst/>
          </a:prstGeom>
          <a:noFill/>
          <a:ln/>
        </p:spPr>
        <p:txBody>
          <a:bodyPr wrap="square" lIns="0" rIns="0" tIns="0" bIns="0">
            <a:noAutofit/>
          </a:bodyPr>
          <a:lstStyle/>
          <a:p>
            <a:r>
              <a:rPr sz="1100" b="1">
                <a:solidFill>
                  <a:srgbClr val="1D1D1F"/>
                </a:solidFill>
                <a:latin typeface="Noto Sans JP"/>
              </a:rPr>
              <a:t>Embedding/Reranker</a:t>
            </a:r>
          </a:p>
        </p:txBody>
      </p:sp>
      <p:sp>
        <p:nvSpPr>
          <p:cNvPr id="68" name="TextBox 67"/>
          <p:cNvSpPr txBox="1"/>
          <p:nvPr/>
        </p:nvSpPr>
        <p:spPr>
          <a:xfrm>
            <a:off x="4410151" y="4309567"/>
            <a:ext cx="600760" cy="171906"/>
          </a:xfrm>
          <a:prstGeom prst="rect">
            <a:avLst/>
          </a:prstGeom>
          <a:noFill/>
          <a:ln/>
        </p:spPr>
        <p:txBody>
          <a:bodyPr wrap="square" lIns="0" rIns="0" tIns="0" bIns="0">
            <a:noAutofit/>
          </a:bodyPr>
          <a:lstStyle/>
          <a:p>
            <a:r>
              <a:rPr sz="900" b="1">
                <a:solidFill>
                  <a:srgbClr val="6E6E73"/>
                </a:solidFill>
                <a:latin typeface="Noto Sans JP"/>
              </a:rPr>
              <a:t>代表:</a:t>
            </a:r>
          </a:p>
        </p:txBody>
      </p:sp>
      <p:sp>
        <p:nvSpPr>
          <p:cNvPr id="69" name="TextBox 68"/>
          <p:cNvSpPr txBox="1"/>
          <p:nvPr/>
        </p:nvSpPr>
        <p:spPr>
          <a:xfrm>
            <a:off x="4990795" y="4309567"/>
            <a:ext cx="2635301" cy="171906"/>
          </a:xfrm>
          <a:prstGeom prst="rect">
            <a:avLst/>
          </a:prstGeom>
          <a:noFill/>
          <a:ln/>
        </p:spPr>
        <p:txBody>
          <a:bodyPr wrap="square" lIns="0" rIns="0" tIns="0" bIns="0">
            <a:noAutofit/>
          </a:bodyPr>
          <a:lstStyle/>
          <a:p>
            <a:r>
              <a:rPr sz="900">
                <a:solidFill>
                  <a:srgbClr val="1D1D1F"/>
                </a:solidFill>
                <a:latin typeface="Noto Sans JP"/>
              </a:rPr>
              <a:t>bge-m3, multilingual-e5, bge-reranker</a:t>
            </a:r>
          </a:p>
        </p:txBody>
      </p:sp>
      <p:pic>
        <p:nvPicPr>
          <p:cNvPr id="70" name="Picture 69" descr="image.png"/>
          <p:cNvPicPr>
            <a:picLocks noChangeAspect="1"/>
          </p:cNvPicPr>
          <p:nvPr/>
        </p:nvPicPr>
        <p:blipFill>
          <a:blip r:embed="rId11"/>
          <a:stretch>
            <a:fillRect/>
          </a:stretch>
        </p:blipFill>
        <p:spPr>
          <a:xfrm>
            <a:off x="7030821" y="4309567"/>
            <a:ext cx="390449" cy="161848"/>
          </a:xfrm>
          <a:prstGeom prst="rect">
            <a:avLst/>
          </a:prstGeom>
          <a:ln/>
        </p:spPr>
      </p:pic>
      <p:sp>
        <p:nvSpPr>
          <p:cNvPr id="71" name="TextBox 70"/>
          <p:cNvSpPr txBox="1"/>
          <p:nvPr/>
        </p:nvSpPr>
        <p:spPr>
          <a:xfrm>
            <a:off x="7030821" y="4309567"/>
            <a:ext cx="391363"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[58-62]</a:t>
            </a:r>
          </a:p>
        </p:txBody>
      </p:sp>
      <p:sp>
        <p:nvSpPr>
          <p:cNvPr id="72" name="TextBox 71"/>
          <p:cNvSpPr txBox="1"/>
          <p:nvPr/>
        </p:nvSpPr>
        <p:spPr>
          <a:xfrm>
            <a:off x="4410151" y="4538167"/>
            <a:ext cx="600760" cy="171906"/>
          </a:xfrm>
          <a:prstGeom prst="rect">
            <a:avLst/>
          </a:prstGeom>
          <a:noFill/>
          <a:ln/>
        </p:spPr>
        <p:txBody>
          <a:bodyPr wrap="square" lIns="0" rIns="0" tIns="0" bIns="0">
            <a:noAutofit/>
          </a:bodyPr>
          <a:lstStyle/>
          <a:p>
            <a:r>
              <a:rPr sz="900" b="1">
                <a:solidFill>
                  <a:srgbClr val="6E6E73"/>
                </a:solidFill>
                <a:latin typeface="Noto Sans JP"/>
              </a:rPr>
              <a:t>重要性:</a:t>
            </a:r>
          </a:p>
        </p:txBody>
      </p:sp>
      <p:sp>
        <p:nvSpPr>
          <p:cNvPr id="73" name="TextBox 72"/>
          <p:cNvSpPr txBox="1"/>
          <p:nvPr/>
        </p:nvSpPr>
        <p:spPr>
          <a:xfrm>
            <a:off x="4990795" y="4538167"/>
            <a:ext cx="2407615" cy="171906"/>
          </a:xfrm>
          <a:prstGeom prst="rect">
            <a:avLst/>
          </a:prstGeom>
          <a:noFill/>
          <a:ln/>
        </p:spPr>
        <p:txBody>
          <a:bodyPr wrap="square" lIns="0" rIns="0" tIns="0" bIns="0">
            <a:noAutofit/>
          </a:bodyPr>
          <a:lstStyle/>
          <a:p>
            <a:r>
              <a:rPr sz="900">
                <a:solidFill>
                  <a:srgbClr val="1D1D1F"/>
                </a:solidFill>
                <a:latin typeface="Noto Sans JP"/>
              </a:rPr>
              <a:t>RAGの検索精度（Recall/Precision）を決定</a:t>
            </a:r>
          </a:p>
        </p:txBody>
      </p:sp>
      <p:sp>
        <p:nvSpPr>
          <p:cNvPr id="74" name="TextBox 73"/>
          <p:cNvSpPr txBox="1"/>
          <p:nvPr/>
        </p:nvSpPr>
        <p:spPr>
          <a:xfrm>
            <a:off x="4410151" y="4766767"/>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75" name="TextBox 74"/>
          <p:cNvSpPr txBox="1"/>
          <p:nvPr/>
        </p:nvSpPr>
        <p:spPr>
          <a:xfrm>
            <a:off x="4990795" y="4766767"/>
            <a:ext cx="1568196" cy="171906"/>
          </a:xfrm>
          <a:prstGeom prst="rect">
            <a:avLst/>
          </a:prstGeom>
          <a:noFill/>
          <a:ln/>
        </p:spPr>
        <p:txBody>
          <a:bodyPr wrap="square" lIns="0" rIns="0" tIns="0" bIns="0">
            <a:noAutofit/>
          </a:bodyPr>
          <a:lstStyle/>
          <a:p>
            <a:r>
              <a:rPr sz="900">
                <a:solidFill>
                  <a:srgbClr val="1D1D1F"/>
                </a:solidFill>
                <a:latin typeface="Noto Sans JP"/>
              </a:rPr>
              <a:t>ベクトル検索, 再ランキング</a:t>
            </a:r>
          </a:p>
        </p:txBody>
      </p:sp>
      <p:sp>
        <p:nvSpPr>
          <p:cNvPr id="76" name="Rectangle 75"/>
          <p:cNvSpPr/>
          <p:nvPr/>
        </p:nvSpPr>
        <p:spPr>
          <a:xfrm>
            <a:off x="8076895" y="3751783"/>
            <a:ext cx="3657600" cy="133319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20456" y="4189781"/>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mage.png"/>
          <p:cNvPicPr>
            <a:picLocks noChangeAspect="1"/>
          </p:cNvPicPr>
          <p:nvPr/>
        </p:nvPicPr>
        <p:blipFill>
          <a:blip r:embed="rId12"/>
          <a:stretch>
            <a:fillRect/>
          </a:stretch>
        </p:blipFill>
        <p:spPr>
          <a:xfrm>
            <a:off x="8220456" y="3925519"/>
            <a:ext cx="190194" cy="152705"/>
          </a:xfrm>
          <a:prstGeom prst="rect">
            <a:avLst/>
          </a:prstGeom>
          <a:ln/>
        </p:spPr>
      </p:pic>
      <p:sp>
        <p:nvSpPr>
          <p:cNvPr id="79" name="TextBox 78"/>
          <p:cNvSpPr txBox="1"/>
          <p:nvPr/>
        </p:nvSpPr>
        <p:spPr>
          <a:xfrm>
            <a:off x="8486546" y="3894429"/>
            <a:ext cx="1381658" cy="305410"/>
          </a:xfrm>
          <a:prstGeom prst="rect">
            <a:avLst/>
          </a:prstGeom>
          <a:noFill/>
          <a:ln/>
        </p:spPr>
        <p:txBody>
          <a:bodyPr wrap="square" lIns="0" rIns="0" tIns="0" bIns="0">
            <a:noAutofit/>
          </a:bodyPr>
          <a:lstStyle/>
          <a:p>
            <a:r>
              <a:rPr sz="1100" b="1">
                <a:solidFill>
                  <a:srgbClr val="1D1D1F"/>
                </a:solidFill>
                <a:latin typeface="Noto Sans JP"/>
              </a:rPr>
              <a:t>OCR / Document AI</a:t>
            </a:r>
          </a:p>
        </p:txBody>
      </p:sp>
      <p:sp>
        <p:nvSpPr>
          <p:cNvPr id="80" name="TextBox 79"/>
          <p:cNvSpPr txBox="1"/>
          <p:nvPr/>
        </p:nvSpPr>
        <p:spPr>
          <a:xfrm>
            <a:off x="8220456" y="4309567"/>
            <a:ext cx="600760" cy="171906"/>
          </a:xfrm>
          <a:prstGeom prst="rect">
            <a:avLst/>
          </a:prstGeom>
          <a:noFill/>
          <a:ln/>
        </p:spPr>
        <p:txBody>
          <a:bodyPr wrap="square" lIns="0" rIns="0" tIns="0" bIns="0">
            <a:noAutofit/>
          </a:bodyPr>
          <a:lstStyle/>
          <a:p>
            <a:r>
              <a:rPr sz="900" b="1">
                <a:solidFill>
                  <a:srgbClr val="6E6E73"/>
                </a:solidFill>
                <a:latin typeface="Noto Sans JP"/>
              </a:rPr>
              <a:t>古典:</a:t>
            </a:r>
          </a:p>
        </p:txBody>
      </p:sp>
      <p:sp>
        <p:nvSpPr>
          <p:cNvPr id="81" name="TextBox 80"/>
          <p:cNvSpPr txBox="1"/>
          <p:nvPr/>
        </p:nvSpPr>
        <p:spPr>
          <a:xfrm>
            <a:off x="8801100" y="4309567"/>
            <a:ext cx="2159812" cy="171906"/>
          </a:xfrm>
          <a:prstGeom prst="rect">
            <a:avLst/>
          </a:prstGeom>
          <a:noFill/>
          <a:ln/>
        </p:spPr>
        <p:txBody>
          <a:bodyPr wrap="square" lIns="0" rIns="0" tIns="0" bIns="0">
            <a:noAutofit/>
          </a:bodyPr>
          <a:lstStyle/>
          <a:p>
            <a:r>
              <a:rPr sz="900">
                <a:solidFill>
                  <a:srgbClr val="1D1D1F"/>
                </a:solidFill>
                <a:latin typeface="Noto Sans JP"/>
              </a:rPr>
              <a:t>Tesseract / PaddleOCR (構造化)</a:t>
            </a:r>
          </a:p>
        </p:txBody>
      </p:sp>
      <p:pic>
        <p:nvPicPr>
          <p:cNvPr id="82" name="Picture 81" descr="image.png"/>
          <p:cNvPicPr>
            <a:picLocks noChangeAspect="1"/>
          </p:cNvPicPr>
          <p:nvPr/>
        </p:nvPicPr>
        <p:blipFill>
          <a:blip r:embed="rId9"/>
          <a:stretch>
            <a:fillRect/>
          </a:stretch>
        </p:blipFill>
        <p:spPr>
          <a:xfrm>
            <a:off x="10458907" y="4309567"/>
            <a:ext cx="418794" cy="161848"/>
          </a:xfrm>
          <a:prstGeom prst="rect">
            <a:avLst/>
          </a:prstGeom>
          <a:ln/>
        </p:spPr>
      </p:pic>
      <p:sp>
        <p:nvSpPr>
          <p:cNvPr id="83" name="TextBox 82"/>
          <p:cNvSpPr txBox="1"/>
          <p:nvPr/>
        </p:nvSpPr>
        <p:spPr>
          <a:xfrm>
            <a:off x="10458907" y="4309567"/>
            <a:ext cx="419710"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[64][66]</a:t>
            </a:r>
          </a:p>
        </p:txBody>
      </p:sp>
      <p:sp>
        <p:nvSpPr>
          <p:cNvPr id="84" name="TextBox 83"/>
          <p:cNvSpPr txBox="1"/>
          <p:nvPr/>
        </p:nvSpPr>
        <p:spPr>
          <a:xfrm>
            <a:off x="8220456" y="4538167"/>
            <a:ext cx="600760" cy="171906"/>
          </a:xfrm>
          <a:prstGeom prst="rect">
            <a:avLst/>
          </a:prstGeom>
          <a:noFill/>
          <a:ln/>
        </p:spPr>
        <p:txBody>
          <a:bodyPr wrap="square" lIns="0" rIns="0" tIns="0" bIns="0">
            <a:noAutofit/>
          </a:bodyPr>
          <a:lstStyle/>
          <a:p>
            <a:r>
              <a:rPr sz="900" b="1">
                <a:solidFill>
                  <a:srgbClr val="6E6E73"/>
                </a:solidFill>
                <a:latin typeface="Noto Sans JP"/>
              </a:rPr>
              <a:t>AI型:</a:t>
            </a:r>
          </a:p>
        </p:txBody>
      </p:sp>
      <p:sp>
        <p:nvSpPr>
          <p:cNvPr id="85" name="TextBox 84"/>
          <p:cNvSpPr txBox="1"/>
          <p:nvPr/>
        </p:nvSpPr>
        <p:spPr>
          <a:xfrm>
            <a:off x="8801100" y="4538167"/>
            <a:ext cx="2149754" cy="171906"/>
          </a:xfrm>
          <a:prstGeom prst="rect">
            <a:avLst/>
          </a:prstGeom>
          <a:noFill/>
          <a:ln/>
        </p:spPr>
        <p:txBody>
          <a:bodyPr wrap="square" lIns="0" rIns="0" tIns="0" bIns="0">
            <a:noAutofit/>
          </a:bodyPr>
          <a:lstStyle/>
          <a:p>
            <a:r>
              <a:rPr sz="900">
                <a:solidFill>
                  <a:srgbClr val="1D1D1F"/>
                </a:solidFill>
                <a:latin typeface="Noto Sans JP"/>
              </a:rPr>
              <a:t>Donut / LayoutLMv3 (文書理解)</a:t>
            </a:r>
          </a:p>
        </p:txBody>
      </p:sp>
      <p:pic>
        <p:nvPicPr>
          <p:cNvPr id="86" name="Picture 85" descr="image.png"/>
          <p:cNvPicPr>
            <a:picLocks noChangeAspect="1"/>
          </p:cNvPicPr>
          <p:nvPr/>
        </p:nvPicPr>
        <p:blipFill>
          <a:blip r:embed="rId9"/>
          <a:stretch>
            <a:fillRect/>
          </a:stretch>
        </p:blipFill>
        <p:spPr>
          <a:xfrm>
            <a:off x="10451592" y="4538167"/>
            <a:ext cx="418794" cy="161848"/>
          </a:xfrm>
          <a:prstGeom prst="rect">
            <a:avLst/>
          </a:prstGeom>
          <a:ln/>
        </p:spPr>
      </p:pic>
      <p:sp>
        <p:nvSpPr>
          <p:cNvPr id="87" name="TextBox 86"/>
          <p:cNvSpPr txBox="1"/>
          <p:nvPr/>
        </p:nvSpPr>
        <p:spPr>
          <a:xfrm>
            <a:off x="10451592" y="4538167"/>
            <a:ext cx="419710"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[68][69]</a:t>
            </a:r>
          </a:p>
        </p:txBody>
      </p:sp>
      <p:sp>
        <p:nvSpPr>
          <p:cNvPr id="88" name="TextBox 87"/>
          <p:cNvSpPr txBox="1"/>
          <p:nvPr/>
        </p:nvSpPr>
        <p:spPr>
          <a:xfrm>
            <a:off x="8220456" y="4766767"/>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89" name="TextBox 88"/>
          <p:cNvSpPr txBox="1"/>
          <p:nvPr/>
        </p:nvSpPr>
        <p:spPr>
          <a:xfrm>
            <a:off x="8801100" y="4766767"/>
            <a:ext cx="2052827" cy="171906"/>
          </a:xfrm>
          <a:prstGeom prst="rect">
            <a:avLst/>
          </a:prstGeom>
          <a:noFill/>
          <a:ln/>
        </p:spPr>
        <p:txBody>
          <a:bodyPr wrap="square" lIns="0" rIns="0" tIns="0" bIns="0">
            <a:noAutofit/>
          </a:bodyPr>
          <a:lstStyle/>
          <a:p>
            <a:r>
              <a:rPr sz="900">
                <a:solidFill>
                  <a:srgbClr val="1D1D1F"/>
                </a:solidFill>
                <a:latin typeface="Noto Sans JP"/>
              </a:rPr>
              <a:t>PDF解析, 請求書読取, スキャン処理</a:t>
            </a:r>
          </a:p>
        </p:txBody>
      </p:sp>
      <p:sp>
        <p:nvSpPr>
          <p:cNvPr id="90" name="Rectangle 89"/>
          <p:cNvSpPr/>
          <p:nvPr/>
        </p:nvSpPr>
        <p:spPr>
          <a:xfrm>
            <a:off x="457200"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9984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Picture 91" descr="image.png"/>
          <p:cNvPicPr>
            <a:picLocks noChangeAspect="1"/>
          </p:cNvPicPr>
          <p:nvPr/>
        </p:nvPicPr>
        <p:blipFill>
          <a:blip r:embed="rId13"/>
          <a:stretch>
            <a:fillRect/>
          </a:stretch>
        </p:blipFill>
        <p:spPr>
          <a:xfrm>
            <a:off x="599846" y="5406847"/>
            <a:ext cx="190195" cy="152705"/>
          </a:xfrm>
          <a:prstGeom prst="rect">
            <a:avLst/>
          </a:prstGeom>
          <a:ln/>
        </p:spPr>
      </p:pic>
      <p:sp>
        <p:nvSpPr>
          <p:cNvPr id="93" name="TextBox 92"/>
          <p:cNvSpPr txBox="1"/>
          <p:nvPr/>
        </p:nvSpPr>
        <p:spPr>
          <a:xfrm>
            <a:off x="866850" y="5375758"/>
            <a:ext cx="638250" cy="305410"/>
          </a:xfrm>
          <a:prstGeom prst="rect">
            <a:avLst/>
          </a:prstGeom>
          <a:noFill/>
          <a:ln/>
        </p:spPr>
        <p:txBody>
          <a:bodyPr wrap="square" lIns="0" rIns="0" tIns="0" bIns="0">
            <a:noAutofit/>
          </a:bodyPr>
          <a:lstStyle/>
          <a:p>
            <a:r>
              <a:rPr sz="1100" b="1">
                <a:solidFill>
                  <a:srgbClr val="1D1D1F"/>
                </a:solidFill>
                <a:latin typeface="Noto Sans JP"/>
              </a:rPr>
              <a:t>画像生成</a:t>
            </a:r>
          </a:p>
        </p:txBody>
      </p:sp>
      <p:sp>
        <p:nvSpPr>
          <p:cNvPr id="94" name="TextBox 93"/>
          <p:cNvSpPr txBox="1"/>
          <p:nvPr/>
        </p:nvSpPr>
        <p:spPr>
          <a:xfrm>
            <a:off x="599846" y="5789981"/>
            <a:ext cx="600760" cy="171906"/>
          </a:xfrm>
          <a:prstGeom prst="rect">
            <a:avLst/>
          </a:prstGeom>
          <a:noFill/>
          <a:ln/>
        </p:spPr>
        <p:txBody>
          <a:bodyPr wrap="square" lIns="0" rIns="0" tIns="0" bIns="0">
            <a:noAutofit/>
          </a:bodyPr>
          <a:lstStyle/>
          <a:p>
            <a:r>
              <a:rPr sz="900" b="1">
                <a:solidFill>
                  <a:srgbClr val="6E6E73"/>
                </a:solidFill>
                <a:latin typeface="Noto Sans JP"/>
              </a:rPr>
              <a:t>代表:</a:t>
            </a:r>
          </a:p>
        </p:txBody>
      </p:sp>
      <p:sp>
        <p:nvSpPr>
          <p:cNvPr id="95" name="TextBox 94"/>
          <p:cNvSpPr txBox="1"/>
          <p:nvPr/>
        </p:nvSpPr>
        <p:spPr>
          <a:xfrm>
            <a:off x="1181405" y="5789981"/>
            <a:ext cx="1953158" cy="171906"/>
          </a:xfrm>
          <a:prstGeom prst="rect">
            <a:avLst/>
          </a:prstGeom>
          <a:noFill/>
          <a:ln/>
        </p:spPr>
        <p:txBody>
          <a:bodyPr wrap="square" lIns="0" rIns="0" tIns="0" bIns="0">
            <a:noAutofit/>
          </a:bodyPr>
          <a:lstStyle/>
          <a:p>
            <a:r>
              <a:rPr sz="900">
                <a:solidFill>
                  <a:srgbClr val="1D1D1F"/>
                </a:solidFill>
                <a:latin typeface="Noto Sans JP"/>
              </a:rPr>
              <a:t>SDXL, FLUX.1 (要VRAM確認)</a:t>
            </a:r>
          </a:p>
        </p:txBody>
      </p:sp>
      <p:pic>
        <p:nvPicPr>
          <p:cNvPr id="96" name="Picture 95" descr="image.png"/>
          <p:cNvPicPr>
            <a:picLocks noChangeAspect="1"/>
          </p:cNvPicPr>
          <p:nvPr/>
        </p:nvPicPr>
        <p:blipFill>
          <a:blip r:embed="rId9"/>
          <a:stretch>
            <a:fillRect/>
          </a:stretch>
        </p:blipFill>
        <p:spPr>
          <a:xfrm>
            <a:off x="2638044" y="5789981"/>
            <a:ext cx="418794" cy="161848"/>
          </a:xfrm>
          <a:prstGeom prst="rect">
            <a:avLst/>
          </a:prstGeom>
          <a:ln/>
        </p:spPr>
      </p:pic>
      <p:sp>
        <p:nvSpPr>
          <p:cNvPr id="97" name="TextBox 96"/>
          <p:cNvSpPr txBox="1"/>
          <p:nvPr/>
        </p:nvSpPr>
        <p:spPr>
          <a:xfrm>
            <a:off x="2638044" y="5789981"/>
            <a:ext cx="419709"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[71][75]</a:t>
            </a:r>
          </a:p>
        </p:txBody>
      </p:sp>
      <p:sp>
        <p:nvSpPr>
          <p:cNvPr id="98" name="TextBox 97"/>
          <p:cNvSpPr txBox="1"/>
          <p:nvPr/>
        </p:nvSpPr>
        <p:spPr>
          <a:xfrm>
            <a:off x="599846" y="6018581"/>
            <a:ext cx="600760" cy="171906"/>
          </a:xfrm>
          <a:prstGeom prst="rect">
            <a:avLst/>
          </a:prstGeom>
          <a:noFill/>
          <a:ln/>
        </p:spPr>
        <p:txBody>
          <a:bodyPr wrap="square" lIns="0" rIns="0" tIns="0" bIns="0">
            <a:noAutofit/>
          </a:bodyPr>
          <a:lstStyle/>
          <a:p>
            <a:r>
              <a:rPr sz="900" b="1">
                <a:solidFill>
                  <a:srgbClr val="6E6E73"/>
                </a:solidFill>
                <a:latin typeface="Noto Sans JP"/>
              </a:rPr>
              <a:t>実行:</a:t>
            </a:r>
          </a:p>
        </p:txBody>
      </p:sp>
      <p:sp>
        <p:nvSpPr>
          <p:cNvPr id="99" name="TextBox 98"/>
          <p:cNvSpPr txBox="1"/>
          <p:nvPr/>
        </p:nvSpPr>
        <p:spPr>
          <a:xfrm>
            <a:off x="1181405" y="6018581"/>
            <a:ext cx="1657807" cy="171906"/>
          </a:xfrm>
          <a:prstGeom prst="rect">
            <a:avLst/>
          </a:prstGeom>
          <a:noFill/>
          <a:ln/>
        </p:spPr>
        <p:txBody>
          <a:bodyPr wrap="square" lIns="0" rIns="0" tIns="0" bIns="0">
            <a:noAutofit/>
          </a:bodyPr>
          <a:lstStyle/>
          <a:p>
            <a:r>
              <a:rPr sz="900">
                <a:solidFill>
                  <a:srgbClr val="1D1D1F"/>
                </a:solidFill>
                <a:latin typeface="Noto Sans JP"/>
              </a:rPr>
              <a:t>ComfyUI</a:t>
            </a:r>
            <a:r>
              <a:rPr sz="900">
                <a:solidFill>
                  <a:srgbClr val="1D1D1F"/>
                </a:solidFill>
                <a:latin typeface="Noto Sans JP"/>
              </a:rPr>
              <a:t>, SD WebUI</a:t>
            </a:r>
          </a:p>
        </p:txBody>
      </p:sp>
      <p:pic>
        <p:nvPicPr>
          <p:cNvPr id="100" name="Picture 99" descr="image.png"/>
          <p:cNvPicPr>
            <a:picLocks noChangeAspect="1"/>
          </p:cNvPicPr>
          <p:nvPr/>
        </p:nvPicPr>
        <p:blipFill>
          <a:blip r:embed="rId5"/>
          <a:stretch>
            <a:fillRect/>
          </a:stretch>
        </p:blipFill>
        <p:spPr>
          <a:xfrm>
            <a:off x="1660550" y="6018581"/>
            <a:ext cx="247801" cy="161848"/>
          </a:xfrm>
          <a:prstGeom prst="rect">
            <a:avLst/>
          </a:prstGeom>
          <a:ln/>
        </p:spPr>
      </p:pic>
      <p:sp>
        <p:nvSpPr>
          <p:cNvPr id="101" name="TextBox 100"/>
          <p:cNvSpPr txBox="1"/>
          <p:nvPr/>
        </p:nvSpPr>
        <p:spPr>
          <a:xfrm>
            <a:off x="1660550" y="6018581"/>
            <a:ext cx="247801"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[72]</a:t>
            </a:r>
          </a:p>
        </p:txBody>
      </p:sp>
      <p:pic>
        <p:nvPicPr>
          <p:cNvPr id="102" name="Picture 101" descr="image.png"/>
          <p:cNvPicPr>
            <a:picLocks noChangeAspect="1"/>
          </p:cNvPicPr>
          <p:nvPr/>
        </p:nvPicPr>
        <p:blipFill>
          <a:blip r:embed="rId5"/>
          <a:stretch>
            <a:fillRect/>
          </a:stretch>
        </p:blipFill>
        <p:spPr>
          <a:xfrm>
            <a:off x="2506370" y="6018581"/>
            <a:ext cx="247801" cy="161848"/>
          </a:xfrm>
          <a:prstGeom prst="rect">
            <a:avLst/>
          </a:prstGeom>
          <a:ln/>
        </p:spPr>
      </p:pic>
      <p:sp>
        <p:nvSpPr>
          <p:cNvPr id="103" name="TextBox 102"/>
          <p:cNvSpPr txBox="1"/>
          <p:nvPr/>
        </p:nvSpPr>
        <p:spPr>
          <a:xfrm>
            <a:off x="2506370" y="6018581"/>
            <a:ext cx="247801"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[73]</a:t>
            </a:r>
          </a:p>
        </p:txBody>
      </p:sp>
      <p:sp>
        <p:nvSpPr>
          <p:cNvPr id="104" name="TextBox 103"/>
          <p:cNvSpPr txBox="1"/>
          <p:nvPr/>
        </p:nvSpPr>
        <p:spPr>
          <a:xfrm>
            <a:off x="599846" y="6247181"/>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105" name="TextBox 104"/>
          <p:cNvSpPr txBox="1"/>
          <p:nvPr/>
        </p:nvSpPr>
        <p:spPr>
          <a:xfrm>
            <a:off x="1181405" y="6247181"/>
            <a:ext cx="2094889" cy="171906"/>
          </a:xfrm>
          <a:prstGeom prst="rect">
            <a:avLst/>
          </a:prstGeom>
          <a:noFill/>
          <a:ln/>
        </p:spPr>
        <p:txBody>
          <a:bodyPr wrap="square" lIns="0" rIns="0" tIns="0" bIns="0">
            <a:noAutofit/>
          </a:bodyPr>
          <a:lstStyle/>
          <a:p>
            <a:r>
              <a:rPr sz="900">
                <a:solidFill>
                  <a:srgbClr val="1D1D1F"/>
                </a:solidFill>
                <a:latin typeface="Noto Sans JP"/>
              </a:rPr>
              <a:t>素材生成, UIモック, コンテンツ制作</a:t>
            </a:r>
          </a:p>
        </p:txBody>
      </p:sp>
      <p:sp>
        <p:nvSpPr>
          <p:cNvPr id="106" name="Rectangle 105"/>
          <p:cNvSpPr/>
          <p:nvPr/>
        </p:nvSpPr>
        <p:spPr>
          <a:xfrm>
            <a:off x="426750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410151"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8" name="Picture 107" descr="image.png"/>
          <p:cNvPicPr>
            <a:picLocks noChangeAspect="1"/>
          </p:cNvPicPr>
          <p:nvPr/>
        </p:nvPicPr>
        <p:blipFill>
          <a:blip r:embed="rId14"/>
          <a:stretch>
            <a:fillRect/>
          </a:stretch>
        </p:blipFill>
        <p:spPr>
          <a:xfrm>
            <a:off x="4410151" y="5406847"/>
            <a:ext cx="190194" cy="152705"/>
          </a:xfrm>
          <a:prstGeom prst="rect">
            <a:avLst/>
          </a:prstGeom>
          <a:ln/>
        </p:spPr>
      </p:pic>
      <p:sp>
        <p:nvSpPr>
          <p:cNvPr id="109" name="TextBox 108"/>
          <p:cNvSpPr txBox="1"/>
          <p:nvPr/>
        </p:nvSpPr>
        <p:spPr>
          <a:xfrm>
            <a:off x="4677156" y="5375758"/>
            <a:ext cx="1191463" cy="305410"/>
          </a:xfrm>
          <a:prstGeom prst="rect">
            <a:avLst/>
          </a:prstGeom>
          <a:noFill/>
          <a:ln/>
        </p:spPr>
        <p:txBody>
          <a:bodyPr wrap="square" lIns="0" rIns="0" tIns="0" bIns="0">
            <a:noAutofit/>
          </a:bodyPr>
          <a:lstStyle/>
          <a:p>
            <a:r>
              <a:rPr sz="1100" b="1">
                <a:solidFill>
                  <a:srgbClr val="1D1D1F"/>
                </a:solidFill>
                <a:latin typeface="Noto Sans JP"/>
              </a:rPr>
              <a:t>Agent / Tool-use</a:t>
            </a:r>
          </a:p>
        </p:txBody>
      </p:sp>
      <p:sp>
        <p:nvSpPr>
          <p:cNvPr id="110" name="TextBox 109"/>
          <p:cNvSpPr txBox="1"/>
          <p:nvPr/>
        </p:nvSpPr>
        <p:spPr>
          <a:xfrm>
            <a:off x="4410151" y="5789981"/>
            <a:ext cx="600760" cy="171906"/>
          </a:xfrm>
          <a:prstGeom prst="rect">
            <a:avLst/>
          </a:prstGeom>
          <a:noFill/>
          <a:ln/>
        </p:spPr>
        <p:txBody>
          <a:bodyPr wrap="square" lIns="0" rIns="0" tIns="0" bIns="0">
            <a:noAutofit/>
          </a:bodyPr>
          <a:lstStyle/>
          <a:p>
            <a:r>
              <a:rPr sz="900" b="1">
                <a:solidFill>
                  <a:srgbClr val="6E6E73"/>
                </a:solidFill>
                <a:latin typeface="Noto Sans JP"/>
              </a:rPr>
              <a:t>方式:</a:t>
            </a:r>
          </a:p>
        </p:txBody>
      </p:sp>
      <p:sp>
        <p:nvSpPr>
          <p:cNvPr id="111" name="TextBox 110"/>
          <p:cNvSpPr txBox="1"/>
          <p:nvPr/>
        </p:nvSpPr>
        <p:spPr>
          <a:xfrm>
            <a:off x="4990795" y="5789981"/>
            <a:ext cx="2249424" cy="171906"/>
          </a:xfrm>
          <a:prstGeom prst="rect">
            <a:avLst/>
          </a:prstGeom>
          <a:noFill/>
          <a:ln/>
        </p:spPr>
        <p:txBody>
          <a:bodyPr wrap="square" lIns="0" rIns="0" tIns="0" bIns="0">
            <a:noAutofit/>
          </a:bodyPr>
          <a:lstStyle/>
          <a:p>
            <a:r>
              <a:rPr sz="900">
                <a:solidFill>
                  <a:srgbClr val="1D1D1F"/>
                </a:solidFill>
                <a:latin typeface="Noto Sans JP"/>
              </a:rPr>
              <a:t>OpenAI互換APIでのFunction Calling</a:t>
            </a:r>
          </a:p>
        </p:txBody>
      </p:sp>
      <p:pic>
        <p:nvPicPr>
          <p:cNvPr id="112" name="Picture 111" descr="image.png"/>
          <p:cNvPicPr>
            <a:picLocks noChangeAspect="1"/>
          </p:cNvPicPr>
          <p:nvPr/>
        </p:nvPicPr>
        <p:blipFill>
          <a:blip r:embed="rId5"/>
          <a:stretch>
            <a:fillRect/>
          </a:stretch>
        </p:blipFill>
        <p:spPr>
          <a:xfrm>
            <a:off x="6898234" y="5789981"/>
            <a:ext cx="247802" cy="161848"/>
          </a:xfrm>
          <a:prstGeom prst="rect">
            <a:avLst/>
          </a:prstGeom>
          <a:ln/>
        </p:spPr>
      </p:pic>
      <p:sp>
        <p:nvSpPr>
          <p:cNvPr id="113" name="TextBox 112"/>
          <p:cNvSpPr txBox="1"/>
          <p:nvPr/>
        </p:nvSpPr>
        <p:spPr>
          <a:xfrm>
            <a:off x="6898234" y="5789981"/>
            <a:ext cx="247802"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[24]</a:t>
            </a:r>
          </a:p>
        </p:txBody>
      </p:sp>
      <p:sp>
        <p:nvSpPr>
          <p:cNvPr id="114" name="TextBox 113"/>
          <p:cNvSpPr txBox="1"/>
          <p:nvPr/>
        </p:nvSpPr>
        <p:spPr>
          <a:xfrm>
            <a:off x="4410151" y="6018581"/>
            <a:ext cx="600760" cy="171906"/>
          </a:xfrm>
          <a:prstGeom prst="rect">
            <a:avLst/>
          </a:prstGeom>
          <a:noFill/>
          <a:ln/>
        </p:spPr>
        <p:txBody>
          <a:bodyPr wrap="square" lIns="0" rIns="0" tIns="0" bIns="0">
            <a:noAutofit/>
          </a:bodyPr>
          <a:lstStyle/>
          <a:p>
            <a:r>
              <a:rPr sz="900" b="1">
                <a:solidFill>
                  <a:srgbClr val="6E6E73"/>
                </a:solidFill>
                <a:latin typeface="Noto Sans JP"/>
              </a:rPr>
              <a:t>実行:</a:t>
            </a:r>
          </a:p>
        </p:txBody>
      </p:sp>
      <p:sp>
        <p:nvSpPr>
          <p:cNvPr id="115" name="TextBox 114"/>
          <p:cNvSpPr txBox="1"/>
          <p:nvPr/>
        </p:nvSpPr>
        <p:spPr>
          <a:xfrm>
            <a:off x="4990795" y="6018581"/>
            <a:ext cx="1981505" cy="171906"/>
          </a:xfrm>
          <a:prstGeom prst="rect">
            <a:avLst/>
          </a:prstGeom>
          <a:noFill/>
          <a:ln/>
        </p:spPr>
        <p:txBody>
          <a:bodyPr wrap="square" lIns="0" rIns="0" tIns="0" bIns="0">
            <a:noAutofit/>
          </a:bodyPr>
          <a:lstStyle/>
          <a:p>
            <a:r>
              <a:rPr sz="900">
                <a:solidFill>
                  <a:srgbClr val="1D1D1F"/>
                </a:solidFill>
                <a:latin typeface="Noto Sans JP"/>
              </a:rPr>
              <a:t>Ollama / LM Studioが実務的</a:t>
            </a:r>
          </a:p>
        </p:txBody>
      </p:sp>
      <p:pic>
        <p:nvPicPr>
          <p:cNvPr id="116" name="Picture 115" descr="image.png"/>
          <p:cNvPicPr>
            <a:picLocks noChangeAspect="1"/>
          </p:cNvPicPr>
          <p:nvPr/>
        </p:nvPicPr>
        <p:blipFill>
          <a:blip r:embed="rId9"/>
          <a:stretch>
            <a:fillRect/>
          </a:stretch>
        </p:blipFill>
        <p:spPr>
          <a:xfrm>
            <a:off x="6476695" y="6018581"/>
            <a:ext cx="418794" cy="161848"/>
          </a:xfrm>
          <a:prstGeom prst="rect">
            <a:avLst/>
          </a:prstGeom>
          <a:ln/>
        </p:spPr>
      </p:pic>
      <p:sp>
        <p:nvSpPr>
          <p:cNvPr id="117" name="TextBox 116"/>
          <p:cNvSpPr txBox="1"/>
          <p:nvPr/>
        </p:nvSpPr>
        <p:spPr>
          <a:xfrm>
            <a:off x="6476695" y="6018581"/>
            <a:ext cx="419710"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[23][41]</a:t>
            </a:r>
          </a:p>
        </p:txBody>
      </p:sp>
      <p:sp>
        <p:nvSpPr>
          <p:cNvPr id="118" name="TextBox 117"/>
          <p:cNvSpPr txBox="1"/>
          <p:nvPr/>
        </p:nvSpPr>
        <p:spPr>
          <a:xfrm>
            <a:off x="4410151" y="6247181"/>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119" name="TextBox 118"/>
          <p:cNvSpPr txBox="1"/>
          <p:nvPr/>
        </p:nvSpPr>
        <p:spPr>
          <a:xfrm>
            <a:off x="4990795" y="6247181"/>
            <a:ext cx="1687982" cy="171906"/>
          </a:xfrm>
          <a:prstGeom prst="rect">
            <a:avLst/>
          </a:prstGeom>
          <a:noFill/>
          <a:ln/>
        </p:spPr>
        <p:txBody>
          <a:bodyPr wrap="square" lIns="0" rIns="0" tIns="0" bIns="0">
            <a:noAutofit/>
          </a:bodyPr>
          <a:lstStyle/>
          <a:p>
            <a:r>
              <a:rPr sz="900">
                <a:solidFill>
                  <a:srgbClr val="1D1D1F"/>
                </a:solidFill>
                <a:latin typeface="Noto Sans JP"/>
              </a:rPr>
              <a:t>タスク自動化, 外部ツール連携</a:t>
            </a:r>
          </a:p>
        </p:txBody>
      </p:sp>
      <p:sp>
        <p:nvSpPr>
          <p:cNvPr id="120" name="Rectangle 119"/>
          <p:cNvSpPr/>
          <p:nvPr/>
        </p:nvSpPr>
        <p:spPr>
          <a:xfrm>
            <a:off x="8076895" y="5233111"/>
            <a:ext cx="3657600" cy="133319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220456" y="5671109"/>
            <a:ext cx="3372307"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Picture 121" descr="image.png"/>
          <p:cNvPicPr>
            <a:picLocks noChangeAspect="1"/>
          </p:cNvPicPr>
          <p:nvPr/>
        </p:nvPicPr>
        <p:blipFill>
          <a:blip r:embed="rId15"/>
          <a:stretch>
            <a:fillRect/>
          </a:stretch>
        </p:blipFill>
        <p:spPr>
          <a:xfrm>
            <a:off x="8220456" y="5406847"/>
            <a:ext cx="190194" cy="152705"/>
          </a:xfrm>
          <a:prstGeom prst="rect">
            <a:avLst/>
          </a:prstGeom>
          <a:ln/>
        </p:spPr>
      </p:pic>
      <p:sp>
        <p:nvSpPr>
          <p:cNvPr id="123" name="TextBox 122"/>
          <p:cNvSpPr txBox="1"/>
          <p:nvPr/>
        </p:nvSpPr>
        <p:spPr>
          <a:xfrm>
            <a:off x="8486546" y="5375758"/>
            <a:ext cx="781811" cy="305410"/>
          </a:xfrm>
          <a:prstGeom prst="rect">
            <a:avLst/>
          </a:prstGeom>
          <a:noFill/>
          <a:ln/>
        </p:spPr>
        <p:txBody>
          <a:bodyPr wrap="square" lIns="0" rIns="0" tIns="0" bIns="0">
            <a:noAutofit/>
          </a:bodyPr>
          <a:lstStyle/>
          <a:p>
            <a:r>
              <a:rPr sz="1100" b="1">
                <a:solidFill>
                  <a:srgbClr val="1D1D1F"/>
                </a:solidFill>
                <a:latin typeface="Noto Sans JP"/>
              </a:rPr>
              <a:t>音声前処理</a:t>
            </a:r>
          </a:p>
        </p:txBody>
      </p:sp>
      <p:sp>
        <p:nvSpPr>
          <p:cNvPr id="124" name="TextBox 123"/>
          <p:cNvSpPr txBox="1"/>
          <p:nvPr/>
        </p:nvSpPr>
        <p:spPr>
          <a:xfrm>
            <a:off x="8220456" y="5789981"/>
            <a:ext cx="600760" cy="171906"/>
          </a:xfrm>
          <a:prstGeom prst="rect">
            <a:avLst/>
          </a:prstGeom>
          <a:noFill/>
          <a:ln/>
        </p:spPr>
        <p:txBody>
          <a:bodyPr wrap="square" lIns="0" rIns="0" tIns="0" bIns="0">
            <a:noAutofit/>
          </a:bodyPr>
          <a:lstStyle/>
          <a:p>
            <a:r>
              <a:rPr sz="900" b="1">
                <a:solidFill>
                  <a:srgbClr val="6E6E73"/>
                </a:solidFill>
                <a:latin typeface="Noto Sans JP"/>
              </a:rPr>
              <a:t>代表:</a:t>
            </a:r>
          </a:p>
        </p:txBody>
      </p:sp>
      <p:sp>
        <p:nvSpPr>
          <p:cNvPr id="125" name="TextBox 124"/>
          <p:cNvSpPr txBox="1"/>
          <p:nvPr/>
        </p:nvSpPr>
        <p:spPr>
          <a:xfrm>
            <a:off x="8801100" y="5789981"/>
            <a:ext cx="2139696" cy="171906"/>
          </a:xfrm>
          <a:prstGeom prst="rect">
            <a:avLst/>
          </a:prstGeom>
          <a:noFill/>
          <a:ln/>
        </p:spPr>
        <p:txBody>
          <a:bodyPr wrap="square" lIns="0" rIns="0" tIns="0" bIns="0">
            <a:noAutofit/>
          </a:bodyPr>
          <a:lstStyle/>
          <a:p>
            <a:r>
              <a:rPr sz="900">
                <a:solidFill>
                  <a:srgbClr val="1D1D1F"/>
                </a:solidFill>
                <a:latin typeface="Noto Sans JP"/>
              </a:rPr>
              <a:t>Silero VAD, pyannote, RNNoise</a:t>
            </a:r>
          </a:p>
        </p:txBody>
      </p:sp>
      <p:pic>
        <p:nvPicPr>
          <p:cNvPr id="126" name="Picture 125" descr="image.png"/>
          <p:cNvPicPr>
            <a:picLocks noChangeAspect="1"/>
          </p:cNvPicPr>
          <p:nvPr/>
        </p:nvPicPr>
        <p:blipFill>
          <a:blip r:embed="rId9"/>
          <a:stretch>
            <a:fillRect/>
          </a:stretch>
        </p:blipFill>
        <p:spPr>
          <a:xfrm>
            <a:off x="10436962" y="5789981"/>
            <a:ext cx="418794" cy="161848"/>
          </a:xfrm>
          <a:prstGeom prst="rect">
            <a:avLst/>
          </a:prstGeom>
          <a:ln/>
        </p:spPr>
      </p:pic>
      <p:sp>
        <p:nvSpPr>
          <p:cNvPr id="127" name="TextBox 126"/>
          <p:cNvSpPr txBox="1"/>
          <p:nvPr/>
        </p:nvSpPr>
        <p:spPr>
          <a:xfrm>
            <a:off x="10436962" y="5789981"/>
            <a:ext cx="419710" cy="16276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[82][84]</a:t>
            </a:r>
          </a:p>
        </p:txBody>
      </p:sp>
      <p:sp>
        <p:nvSpPr>
          <p:cNvPr id="128" name="TextBox 127"/>
          <p:cNvSpPr txBox="1"/>
          <p:nvPr/>
        </p:nvSpPr>
        <p:spPr>
          <a:xfrm>
            <a:off x="8220456" y="6018581"/>
            <a:ext cx="600760" cy="171906"/>
          </a:xfrm>
          <a:prstGeom prst="rect">
            <a:avLst/>
          </a:prstGeom>
          <a:noFill/>
          <a:ln/>
        </p:spPr>
        <p:txBody>
          <a:bodyPr wrap="square" lIns="0" rIns="0" tIns="0" bIns="0">
            <a:noAutofit/>
          </a:bodyPr>
          <a:lstStyle/>
          <a:p>
            <a:r>
              <a:rPr sz="900" b="1">
                <a:solidFill>
                  <a:srgbClr val="6E6E73"/>
                </a:solidFill>
                <a:latin typeface="Noto Sans JP"/>
              </a:rPr>
              <a:t>役割:</a:t>
            </a:r>
          </a:p>
        </p:txBody>
      </p:sp>
      <p:sp>
        <p:nvSpPr>
          <p:cNvPr id="129" name="TextBox 128"/>
          <p:cNvSpPr txBox="1"/>
          <p:nvPr/>
        </p:nvSpPr>
        <p:spPr>
          <a:xfrm>
            <a:off x="8801100" y="6018581"/>
            <a:ext cx="2232964" cy="171906"/>
          </a:xfrm>
          <a:prstGeom prst="rect">
            <a:avLst/>
          </a:prstGeom>
          <a:noFill/>
          <a:ln/>
        </p:spPr>
        <p:txBody>
          <a:bodyPr wrap="square" lIns="0" rIns="0" tIns="0" bIns="0">
            <a:noAutofit/>
          </a:bodyPr>
          <a:lstStyle/>
          <a:p>
            <a:r>
              <a:rPr sz="900">
                <a:solidFill>
                  <a:srgbClr val="1D1D1F"/>
                </a:solidFill>
                <a:latin typeface="Noto Sans JP"/>
              </a:rPr>
              <a:t>品質の下限担保（無音除去・話者分離）</a:t>
            </a:r>
          </a:p>
        </p:txBody>
      </p:sp>
      <p:sp>
        <p:nvSpPr>
          <p:cNvPr id="130" name="TextBox 129"/>
          <p:cNvSpPr txBox="1"/>
          <p:nvPr/>
        </p:nvSpPr>
        <p:spPr>
          <a:xfrm>
            <a:off x="8220456" y="6247181"/>
            <a:ext cx="600760" cy="171906"/>
          </a:xfrm>
          <a:prstGeom prst="rect">
            <a:avLst/>
          </a:prstGeom>
          <a:noFill/>
          <a:ln/>
        </p:spPr>
        <p:txBody>
          <a:bodyPr wrap="square" lIns="0" rIns="0" tIns="0" bIns="0">
            <a:noAutofit/>
          </a:bodyPr>
          <a:lstStyle/>
          <a:p>
            <a:r>
              <a:rPr sz="900" b="1">
                <a:solidFill>
                  <a:srgbClr val="6E6E73"/>
                </a:solidFill>
                <a:latin typeface="Noto Sans JP"/>
              </a:rPr>
              <a:t>用途:</a:t>
            </a:r>
          </a:p>
        </p:txBody>
      </p:sp>
      <p:sp>
        <p:nvSpPr>
          <p:cNvPr id="131" name="TextBox 130"/>
          <p:cNvSpPr txBox="1"/>
          <p:nvPr/>
        </p:nvSpPr>
        <p:spPr>
          <a:xfrm>
            <a:off x="8801100" y="6247181"/>
            <a:ext cx="1687068" cy="171906"/>
          </a:xfrm>
          <a:prstGeom prst="rect">
            <a:avLst/>
          </a:prstGeom>
          <a:noFill/>
          <a:ln/>
        </p:spPr>
        <p:txBody>
          <a:bodyPr wrap="square" lIns="0" rIns="0" tIns="0" bIns="0">
            <a:noAutofit/>
          </a:bodyPr>
          <a:lstStyle/>
          <a:p>
            <a:r>
              <a:rPr sz="900">
                <a:solidFill>
                  <a:srgbClr val="1D1D1F"/>
                </a:solidFill>
                <a:latin typeface="Noto Sans JP"/>
              </a:rPr>
              <a:t>会議録音の前処理, ノイズ除去</a:t>
            </a:r>
          </a:p>
        </p:txBody>
      </p:sp>
      <p:sp>
        <p:nvSpPr>
          <p:cNvPr id="132" name="Rectangle 131"/>
          <p:cNvSpPr/>
          <p:nvPr/>
        </p:nvSpPr>
        <p:spPr>
          <a:xfrm>
            <a:off x="457200" y="6751930"/>
            <a:ext cx="11277295" cy="562355"/>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3" name="Picture 132" descr="image.png"/>
          <p:cNvPicPr>
            <a:picLocks noChangeAspect="1"/>
          </p:cNvPicPr>
          <p:nvPr/>
        </p:nvPicPr>
        <p:blipFill>
          <a:blip r:embed="rId16"/>
          <a:stretch>
            <a:fillRect/>
          </a:stretch>
        </p:blipFill>
        <p:spPr>
          <a:xfrm>
            <a:off x="619049" y="6954011"/>
            <a:ext cx="171907" cy="152705"/>
          </a:xfrm>
          <a:prstGeom prst="rect">
            <a:avLst/>
          </a:prstGeom>
          <a:ln/>
        </p:spPr>
      </p:pic>
      <p:sp>
        <p:nvSpPr>
          <p:cNvPr id="134" name="TextBox 133"/>
          <p:cNvSpPr txBox="1"/>
          <p:nvPr/>
        </p:nvSpPr>
        <p:spPr>
          <a:xfrm>
            <a:off x="905256" y="6751930"/>
            <a:ext cx="10744200" cy="562355"/>
          </a:xfrm>
          <a:prstGeom prst="rect">
            <a:avLst/>
          </a:prstGeom>
          <a:noFill/>
          <a:ln/>
        </p:spPr>
        <p:txBody>
          <a:bodyPr wrap="square" lIns="0" rIns="0" tIns="0" bIns="0">
            <a:noAutofit/>
          </a:bodyPr>
          <a:lstStyle/>
          <a:p>
            <a:r>
              <a:rPr sz="900">
                <a:solidFill>
                  <a:srgbClr val="78350F"/>
                </a:solidFill>
                <a:latin typeface="Noto Sans JP"/>
              </a:rPr>
              <a:t>補足：WindowsでのGPUサービングは、Linux/WSL2を選択するのが現実的な局面が多いです（TensorRT-LLM資料等がLinux中心のため）。OllamaはWindowsネイティブ対応を強化しています。</a:t>
            </a:r>
          </a:p>
        </p:txBody>
      </p:sp>
      <p:sp>
        <p:nvSpPr>
          <p:cNvPr id="135" name="Rectangle 134"/>
          <p:cNvSpPr/>
          <p:nvPr/>
        </p:nvSpPr>
        <p:spPr>
          <a:xfrm>
            <a:off x="0" y="6572707"/>
            <a:ext cx="12191695" cy="286207"/>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0" y="657270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7200" y="6641287"/>
            <a:ext cx="2188159" cy="162763"/>
          </a:xfrm>
          <a:prstGeom prst="rect">
            <a:avLst/>
          </a:prstGeom>
          <a:noFill/>
          <a:ln/>
        </p:spPr>
        <p:txBody>
          <a:bodyPr wrap="square" lIns="0" rIns="0" tIns="0" bIns="0">
            <a:noAutofit/>
          </a:bodyPr>
          <a:lstStyle/>
          <a:p>
            <a:r>
              <a:rPr sz="800">
                <a:solidFill>
                  <a:srgbClr val="86868B"/>
                </a:solidFill>
                <a:latin typeface="Noto Sans JP"/>
              </a:rPr>
              <a:t>Local AI Technical Survey Report 2026</a:t>
            </a:r>
          </a:p>
        </p:txBody>
      </p:sp>
      <p:sp>
        <p:nvSpPr>
          <p:cNvPr id="138" name="TextBox 137"/>
          <p:cNvSpPr txBox="1"/>
          <p:nvPr/>
        </p:nvSpPr>
        <p:spPr>
          <a:xfrm>
            <a:off x="11414455" y="6641287"/>
            <a:ext cx="400507" cy="162763"/>
          </a:xfrm>
          <a:prstGeom prst="rect">
            <a:avLst/>
          </a:prstGeom>
          <a:noFill/>
          <a:ln/>
        </p:spPr>
        <p:txBody>
          <a:bodyPr wrap="square" lIns="0" rIns="0" tIns="0" bIns="0">
            <a:noAutofit/>
          </a:bodyPr>
          <a:lstStyle/>
          <a:p>
            <a:r>
              <a:rPr sz="800">
                <a:solidFill>
                  <a:srgbClr val="86868B"/>
                </a:solidFill>
                <a:latin typeface="Noto Sans JP"/>
              </a:rPr>
              <a:t>12 / 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9334195" y="0"/>
            <a:ext cx="3810305" cy="3810305"/>
          </a:xfrm>
          <a:prstGeom prst="rect">
            <a:avLst/>
          </a:prstGeom>
          <a:ln/>
        </p:spPr>
      </p:pic>
      <p:sp>
        <p:nvSpPr>
          <p:cNvPr id="8" name="Rectangle 7"/>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1695" y="1206094"/>
            <a:ext cx="4153205" cy="1143000"/>
          </a:xfrm>
          <a:prstGeom prst="rect">
            <a:avLst/>
          </a:prstGeom>
          <a:noFill/>
          <a:ln/>
        </p:spPr>
        <p:txBody>
          <a:bodyPr wrap="square" lIns="0" rIns="0" tIns="0" bIns="0">
            <a:noAutofit/>
          </a:bodyPr>
          <a:lstStyle/>
          <a:p>
            <a:r>
              <a:rPr sz="9000" b="1">
                <a:solidFill>
                  <a:srgbClr val="333336"/>
                </a:solidFill>
                <a:latin typeface="Helvetica Neue"/>
              </a:rPr>
              <a:t>05</a:t>
            </a:r>
          </a:p>
        </p:txBody>
      </p:sp>
      <p:pic>
        <p:nvPicPr>
          <p:cNvPr id="10" name="Picture 9" descr="image.png"/>
          <p:cNvPicPr>
            <a:picLocks noChangeAspect="1"/>
          </p:cNvPicPr>
          <p:nvPr/>
        </p:nvPicPr>
        <p:blipFill>
          <a:blip r:embed="rId4"/>
          <a:stretch>
            <a:fillRect/>
          </a:stretch>
        </p:blipFill>
        <p:spPr>
          <a:xfrm>
            <a:off x="761695" y="2539289"/>
            <a:ext cx="761695" cy="57606"/>
          </a:xfrm>
          <a:prstGeom prst="rect">
            <a:avLst/>
          </a:prstGeom>
          <a:ln/>
        </p:spPr>
      </p:pic>
      <p:sp>
        <p:nvSpPr>
          <p:cNvPr id="11" name="TextBox 10"/>
          <p:cNvSpPr txBox="1"/>
          <p:nvPr/>
        </p:nvSpPr>
        <p:spPr>
          <a:xfrm>
            <a:off x="761695" y="2977286"/>
            <a:ext cx="4121201" cy="1762963"/>
          </a:xfrm>
          <a:prstGeom prst="rect">
            <a:avLst/>
          </a:prstGeom>
          <a:noFill/>
          <a:ln/>
        </p:spPr>
        <p:txBody>
          <a:bodyPr wrap="square" lIns="0" rIns="0" tIns="0" bIns="0">
            <a:noAutofit/>
          </a:bodyPr>
          <a:lstStyle/>
          <a:p>
            <a:r>
              <a:rPr sz="4200" b="1">
                <a:solidFill>
                  <a:srgbClr val="FFFFFF"/>
                </a:solidFill>
                <a:latin typeface="Noto Sans JP"/>
              </a:rPr>
              <a:t>特徴軸（評価軸）</a:t>
            </a:r>
          </a:p>
          <a:p>
            <a:r>
              <a:rPr sz="4200" b="1">
                <a:solidFill>
                  <a:srgbClr val="FFFFFF"/>
                </a:solidFill>
                <a:latin typeface="Noto Sans JP"/>
              </a:rPr>
              <a:t>の定義</a:t>
            </a:r>
          </a:p>
        </p:txBody>
      </p:sp>
      <p:sp>
        <p:nvSpPr>
          <p:cNvPr id="12" name="TextBox 11"/>
          <p:cNvSpPr txBox="1"/>
          <p:nvPr/>
        </p:nvSpPr>
        <p:spPr>
          <a:xfrm>
            <a:off x="761695" y="4966106"/>
            <a:ext cx="4048963" cy="685800"/>
          </a:xfrm>
          <a:prstGeom prst="rect">
            <a:avLst/>
          </a:prstGeom>
          <a:noFill/>
          <a:ln/>
        </p:spPr>
        <p:txBody>
          <a:bodyPr wrap="square" lIns="0" rIns="0" tIns="0" bIns="0">
            <a:noAutofit/>
          </a:bodyPr>
          <a:lstStyle/>
          <a:p>
            <a:r>
              <a:rPr sz="1800">
                <a:solidFill>
                  <a:srgbClr val="86868B"/>
                </a:solidFill>
                <a:latin typeface="Noto Sans JP"/>
              </a:rPr>
              <a:t>評価の共通物差しと</a:t>
            </a:r>
          </a:p>
          <a:p>
            <a:r>
              <a:rPr sz="1800">
                <a:solidFill>
                  <a:srgbClr val="86868B"/>
                </a:solidFill>
                <a:latin typeface="Noto Sans JP"/>
              </a:rPr>
              <a:t>測定基準</a:t>
            </a:r>
          </a:p>
        </p:txBody>
      </p:sp>
      <p:sp>
        <p:nvSpPr>
          <p:cNvPr id="13" name="TextBox 12"/>
          <p:cNvSpPr txBox="1"/>
          <p:nvPr/>
        </p:nvSpPr>
        <p:spPr>
          <a:xfrm>
            <a:off x="6248095" y="1009497"/>
            <a:ext cx="5296205" cy="228600"/>
          </a:xfrm>
          <a:prstGeom prst="rect">
            <a:avLst/>
          </a:prstGeom>
          <a:noFill/>
          <a:ln/>
        </p:spPr>
        <p:txBody>
          <a:bodyPr wrap="square" lIns="0" rIns="0" tIns="0" bIns="0">
            <a:noAutofit/>
          </a:bodyPr>
          <a:lstStyle/>
          <a:p>
            <a:r>
              <a:rPr sz="1200" b="1">
                <a:solidFill>
                  <a:srgbClr val="007AFF"/>
                </a:solidFill>
                <a:latin typeface="Noto Sans JP"/>
              </a:rPr>
              <a:t>KEY TAKEAWAYS</a:t>
            </a:r>
          </a:p>
        </p:txBody>
      </p:sp>
      <p:pic>
        <p:nvPicPr>
          <p:cNvPr id="14" name="Picture 13" descr="image.png"/>
          <p:cNvPicPr>
            <a:picLocks noChangeAspect="1"/>
          </p:cNvPicPr>
          <p:nvPr/>
        </p:nvPicPr>
        <p:blipFill>
          <a:blip r:embed="rId5"/>
          <a:stretch>
            <a:fillRect/>
          </a:stretch>
        </p:blipFill>
        <p:spPr>
          <a:xfrm>
            <a:off x="6248095" y="1429207"/>
            <a:ext cx="5181905" cy="3705148"/>
          </a:xfrm>
          <a:prstGeom prst="rect">
            <a:avLst/>
          </a:prstGeom>
          <a:ln/>
        </p:spPr>
      </p:pic>
      <p:sp>
        <p:nvSpPr>
          <p:cNvPr id="15" name="TextBox 14"/>
          <p:cNvSpPr txBox="1"/>
          <p:nvPr/>
        </p:nvSpPr>
        <p:spPr>
          <a:xfrm>
            <a:off x="6810451" y="1714500"/>
            <a:ext cx="4525366" cy="286206"/>
          </a:xfrm>
          <a:prstGeom prst="rect">
            <a:avLst/>
          </a:prstGeom>
          <a:noFill/>
          <a:ln/>
        </p:spPr>
        <p:txBody>
          <a:bodyPr wrap="square" lIns="0" rIns="0" tIns="0" bIns="0">
            <a:noAutofit/>
          </a:bodyPr>
          <a:lstStyle/>
          <a:p>
            <a:r>
              <a:rPr sz="1500" b="1">
                <a:solidFill>
                  <a:srgbClr val="FFFFFF"/>
                </a:solidFill>
                <a:latin typeface="Noto Sans JP"/>
              </a:rPr>
              <a:t> 本章の要点 </a:t>
            </a:r>
          </a:p>
        </p:txBody>
      </p:sp>
      <p:pic>
        <p:nvPicPr>
          <p:cNvPr id="16" name="Picture 15" descr="image.png"/>
          <p:cNvPicPr>
            <a:picLocks noChangeAspect="1"/>
          </p:cNvPicPr>
          <p:nvPr/>
        </p:nvPicPr>
        <p:blipFill>
          <a:blip r:embed="rId6"/>
          <a:stretch>
            <a:fillRect/>
          </a:stretch>
        </p:blipFill>
        <p:spPr>
          <a:xfrm>
            <a:off x="6572707" y="1762049"/>
            <a:ext cx="142645" cy="190194"/>
          </a:xfrm>
          <a:prstGeom prst="rect">
            <a:avLst/>
          </a:prstGeom>
          <a:ln/>
        </p:spPr>
      </p:pic>
      <p:sp>
        <p:nvSpPr>
          <p:cNvPr id="17" name="TextBox 16"/>
          <p:cNvSpPr txBox="1"/>
          <p:nvPr/>
        </p:nvSpPr>
        <p:spPr>
          <a:xfrm>
            <a:off x="6801307" y="2152498"/>
            <a:ext cx="4420210" cy="771753"/>
          </a:xfrm>
          <a:prstGeom prst="rect">
            <a:avLst/>
          </a:prstGeom>
          <a:noFill/>
          <a:ln/>
        </p:spPr>
        <p:txBody>
          <a:bodyPr wrap="square" lIns="0" rIns="0" tIns="0" bIns="0">
            <a:noAutofit/>
          </a:bodyPr>
          <a:lstStyle/>
          <a:p>
            <a:r>
              <a:rPr sz="1300" b="1">
                <a:solidFill>
                  <a:srgbClr val="E5E5E5"/>
                </a:solidFill>
                <a:latin typeface="Noto Sans JP"/>
              </a:rPr>
              <a:t>13の評価軸：</a:t>
            </a:r>
          </a:p>
          <a:p>
            <a:r>
              <a:rPr sz="1300">
                <a:solidFill>
                  <a:srgbClr val="E5E5E5"/>
                </a:solidFill>
                <a:latin typeface="Noto Sans JP"/>
              </a:rPr>
              <a:t> 指示追従、JSON堅牢性、長文耐性、速度、メモリなど、多角的な視点でモデルを比較評価します。 </a:t>
            </a:r>
          </a:p>
        </p:txBody>
      </p:sp>
      <p:pic>
        <p:nvPicPr>
          <p:cNvPr id="18" name="Picture 17" descr="image.png"/>
          <p:cNvPicPr>
            <a:picLocks noChangeAspect="1"/>
          </p:cNvPicPr>
          <p:nvPr/>
        </p:nvPicPr>
        <p:blipFill>
          <a:blip r:embed="rId7"/>
          <a:stretch>
            <a:fillRect/>
          </a:stretch>
        </p:blipFill>
        <p:spPr>
          <a:xfrm>
            <a:off x="6572707" y="2200046"/>
            <a:ext cx="114300" cy="133501"/>
          </a:xfrm>
          <a:prstGeom prst="rect">
            <a:avLst/>
          </a:prstGeom>
          <a:ln/>
        </p:spPr>
      </p:pic>
      <p:sp>
        <p:nvSpPr>
          <p:cNvPr id="19" name="TextBox 18"/>
          <p:cNvSpPr txBox="1"/>
          <p:nvPr/>
        </p:nvSpPr>
        <p:spPr>
          <a:xfrm>
            <a:off x="6801307" y="3114446"/>
            <a:ext cx="4420210" cy="771754"/>
          </a:xfrm>
          <a:prstGeom prst="rect">
            <a:avLst/>
          </a:prstGeom>
          <a:noFill/>
          <a:ln/>
        </p:spPr>
        <p:txBody>
          <a:bodyPr wrap="square" lIns="0" rIns="0" tIns="0" bIns="0">
            <a:noAutofit/>
          </a:bodyPr>
          <a:lstStyle/>
          <a:p>
            <a:r>
              <a:rPr sz="1300" b="1">
                <a:solidFill>
                  <a:srgbClr val="E5E5E5"/>
                </a:solidFill>
                <a:latin typeface="Noto Sans JP"/>
              </a:rPr>
              <a:t>KVキャッシュ最適化：</a:t>
            </a:r>
          </a:p>
          <a:p>
            <a:r>
              <a:rPr sz="1300">
                <a:solidFill>
                  <a:srgbClr val="E5E5E5"/>
                </a:solidFill>
                <a:latin typeface="Noto Sans JP"/>
              </a:rPr>
              <a:t> paged/quantized KVやreuse機能が、長文コンテキストや多同時リクエスト処理の鍵となります。 </a:t>
            </a:r>
          </a:p>
        </p:txBody>
      </p:sp>
      <p:pic>
        <p:nvPicPr>
          <p:cNvPr id="20" name="Picture 19" descr="image.png"/>
          <p:cNvPicPr>
            <a:picLocks noChangeAspect="1"/>
          </p:cNvPicPr>
          <p:nvPr/>
        </p:nvPicPr>
        <p:blipFill>
          <a:blip r:embed="rId7"/>
          <a:stretch>
            <a:fillRect/>
          </a:stretch>
        </p:blipFill>
        <p:spPr>
          <a:xfrm>
            <a:off x="6572707" y="3161995"/>
            <a:ext cx="114300" cy="133501"/>
          </a:xfrm>
          <a:prstGeom prst="rect">
            <a:avLst/>
          </a:prstGeom>
          <a:ln/>
        </p:spPr>
      </p:pic>
      <p:sp>
        <p:nvSpPr>
          <p:cNvPr id="21" name="TextBox 20"/>
          <p:cNvSpPr txBox="1"/>
          <p:nvPr/>
        </p:nvSpPr>
        <p:spPr>
          <a:xfrm>
            <a:off x="6801307" y="4076395"/>
            <a:ext cx="4420210" cy="771753"/>
          </a:xfrm>
          <a:prstGeom prst="rect">
            <a:avLst/>
          </a:prstGeom>
          <a:noFill/>
          <a:ln/>
        </p:spPr>
        <p:txBody>
          <a:bodyPr wrap="square" lIns="0" rIns="0" tIns="0" bIns="0">
            <a:noAutofit/>
          </a:bodyPr>
          <a:lstStyle/>
          <a:p>
            <a:r>
              <a:rPr sz="1300" b="1">
                <a:solidFill>
                  <a:srgbClr val="E5E5E5"/>
                </a:solidFill>
                <a:latin typeface="Noto Sans JP"/>
              </a:rPr>
              <a:t>JSON制約の重要性：</a:t>
            </a:r>
          </a:p>
          <a:p>
            <a:r>
              <a:rPr sz="1300">
                <a:solidFill>
                  <a:srgbClr val="E5E5E5"/>
                </a:solidFill>
                <a:latin typeface="Noto Sans JP"/>
              </a:rPr>
              <a:t> ツール利用においてJSON出力の安定性は必須ですが、機能はランタイムに強く依存します。 </a:t>
            </a:r>
          </a:p>
        </p:txBody>
      </p:sp>
      <p:pic>
        <p:nvPicPr>
          <p:cNvPr id="22" name="Picture 21" descr="image.png"/>
          <p:cNvPicPr>
            <a:picLocks noChangeAspect="1"/>
          </p:cNvPicPr>
          <p:nvPr/>
        </p:nvPicPr>
        <p:blipFill>
          <a:blip r:embed="rId7"/>
          <a:stretch>
            <a:fillRect/>
          </a:stretch>
        </p:blipFill>
        <p:spPr>
          <a:xfrm>
            <a:off x="6572707" y="4123944"/>
            <a:ext cx="114300" cy="133501"/>
          </a:xfrm>
          <a:prstGeom prst="rect">
            <a:avLst/>
          </a:prstGeom>
          <a:ln/>
        </p:spPr>
      </p:pic>
      <p:pic>
        <p:nvPicPr>
          <p:cNvPr id="23" name="Picture 22" descr="image.png"/>
          <p:cNvPicPr>
            <a:picLocks noChangeAspect="1"/>
          </p:cNvPicPr>
          <p:nvPr/>
        </p:nvPicPr>
        <p:blipFill>
          <a:blip r:embed="rId8"/>
          <a:stretch>
            <a:fillRect/>
          </a:stretch>
        </p:blipFill>
        <p:spPr>
          <a:xfrm>
            <a:off x="6248095" y="5514746"/>
            <a:ext cx="1276502" cy="333756"/>
          </a:xfrm>
          <a:prstGeom prst="rect">
            <a:avLst/>
          </a:prstGeom>
          <a:ln/>
        </p:spPr>
      </p:pic>
      <p:sp>
        <p:nvSpPr>
          <p:cNvPr id="24" name="TextBox 23"/>
          <p:cNvSpPr txBox="1"/>
          <p:nvPr/>
        </p:nvSpPr>
        <p:spPr>
          <a:xfrm>
            <a:off x="6248095" y="5514746"/>
            <a:ext cx="1276502"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13の評価軸定義</a:t>
            </a:r>
          </a:p>
        </p:txBody>
      </p:sp>
      <p:pic>
        <p:nvPicPr>
          <p:cNvPr id="25" name="Picture 24" descr="image.png"/>
          <p:cNvPicPr>
            <a:picLocks noChangeAspect="1"/>
          </p:cNvPicPr>
          <p:nvPr/>
        </p:nvPicPr>
        <p:blipFill>
          <a:blip r:embed="rId9"/>
          <a:stretch>
            <a:fillRect/>
          </a:stretch>
        </p:blipFill>
        <p:spPr>
          <a:xfrm>
            <a:off x="7638897" y="5514746"/>
            <a:ext cx="857706" cy="333756"/>
          </a:xfrm>
          <a:prstGeom prst="rect">
            <a:avLst/>
          </a:prstGeom>
          <a:ln/>
        </p:spPr>
      </p:pic>
      <p:sp>
        <p:nvSpPr>
          <p:cNvPr id="26" name="TextBox 25"/>
          <p:cNvSpPr txBox="1"/>
          <p:nvPr/>
        </p:nvSpPr>
        <p:spPr>
          <a:xfrm>
            <a:off x="7638897" y="5514746"/>
            <a:ext cx="857706"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測定手順</a:t>
            </a:r>
          </a:p>
        </p:txBody>
      </p:sp>
      <p:pic>
        <p:nvPicPr>
          <p:cNvPr id="27" name="Picture 26" descr="image.png"/>
          <p:cNvPicPr>
            <a:picLocks noChangeAspect="1"/>
          </p:cNvPicPr>
          <p:nvPr/>
        </p:nvPicPr>
        <p:blipFill>
          <a:blip r:embed="rId9"/>
          <a:stretch>
            <a:fillRect/>
          </a:stretch>
        </p:blipFill>
        <p:spPr>
          <a:xfrm>
            <a:off x="8609990" y="5514746"/>
            <a:ext cx="857707" cy="333756"/>
          </a:xfrm>
          <a:prstGeom prst="rect">
            <a:avLst/>
          </a:prstGeom>
          <a:ln/>
        </p:spPr>
      </p:pic>
      <p:sp>
        <p:nvSpPr>
          <p:cNvPr id="28" name="TextBox 27"/>
          <p:cNvSpPr txBox="1"/>
          <p:nvPr/>
        </p:nvSpPr>
        <p:spPr>
          <a:xfrm>
            <a:off x="8609990" y="5514746"/>
            <a:ext cx="857707"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設計含意</a:t>
            </a:r>
          </a:p>
        </p:txBody>
      </p:sp>
      <p:pic>
        <p:nvPicPr>
          <p:cNvPr id="29" name="Picture 28" descr="image.png"/>
          <p:cNvPicPr>
            <a:picLocks noChangeAspect="1"/>
          </p:cNvPicPr>
          <p:nvPr/>
        </p:nvPicPr>
        <p:blipFill>
          <a:blip r:embed="rId10"/>
          <a:stretch>
            <a:fillRect/>
          </a:stretch>
        </p:blipFill>
        <p:spPr>
          <a:xfrm>
            <a:off x="9581998" y="5514746"/>
            <a:ext cx="895197" cy="333756"/>
          </a:xfrm>
          <a:prstGeom prst="rect">
            <a:avLst/>
          </a:prstGeom>
          <a:ln/>
        </p:spPr>
      </p:pic>
      <p:sp>
        <p:nvSpPr>
          <p:cNvPr id="30" name="TextBox 29"/>
          <p:cNvSpPr txBox="1"/>
          <p:nvPr/>
        </p:nvSpPr>
        <p:spPr>
          <a:xfrm>
            <a:off x="9581998" y="5514746"/>
            <a:ext cx="896112"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KV最適化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0" y="0"/>
            <a:ext cx="12191695" cy="57607"/>
          </a:xfrm>
          <a:prstGeom prst="rect">
            <a:avLst/>
          </a:prstGeom>
          <a:ln/>
        </p:spPr>
      </p:pic>
      <p:sp>
        <p:nvSpPr>
          <p:cNvPr id="6" name="Rectangle 5"/>
          <p:cNvSpPr/>
          <p:nvPr/>
        </p:nvSpPr>
        <p:spPr>
          <a:xfrm>
            <a:off x="0" y="1047902"/>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401" y="237744"/>
            <a:ext cx="3477463" cy="200253"/>
          </a:xfrm>
          <a:prstGeom prst="rect">
            <a:avLst/>
          </a:prstGeom>
          <a:noFill/>
          <a:ln/>
        </p:spPr>
        <p:txBody>
          <a:bodyPr wrap="square" lIns="0" rIns="0" tIns="0" bIns="0">
            <a:noAutofit/>
          </a:bodyPr>
          <a:lstStyle/>
          <a:p>
            <a:r>
              <a:rPr sz="1000">
                <a:solidFill>
                  <a:srgbClr val="86868B"/>
                </a:solidFill>
                <a:latin typeface="Noto Sans JP"/>
              </a:rPr>
              <a:t>Evaluation Metrics Overview</a:t>
            </a:r>
          </a:p>
        </p:txBody>
      </p:sp>
      <p:sp>
        <p:nvSpPr>
          <p:cNvPr id="8" name="TextBox 7"/>
          <p:cNvSpPr txBox="1"/>
          <p:nvPr/>
        </p:nvSpPr>
        <p:spPr>
          <a:xfrm>
            <a:off x="476401" y="495605"/>
            <a:ext cx="3553358" cy="457200"/>
          </a:xfrm>
          <a:prstGeom prst="rect">
            <a:avLst/>
          </a:prstGeom>
          <a:noFill/>
          <a:ln/>
        </p:spPr>
        <p:txBody>
          <a:bodyPr wrap="square" lIns="0" rIns="0" tIns="0" bIns="0">
            <a:noAutofit/>
          </a:bodyPr>
          <a:lstStyle/>
          <a:p>
            <a:r>
              <a:rPr sz="2400" b="1">
                <a:solidFill>
                  <a:srgbClr val="1D1D1F"/>
                </a:solidFill>
                <a:latin typeface="Noto Sans JP"/>
              </a:rPr>
              <a:t>特徴軸（評価軸）の定義</a:t>
            </a:r>
          </a:p>
        </p:txBody>
      </p:sp>
      <p:sp>
        <p:nvSpPr>
          <p:cNvPr id="9" name="TextBox 8"/>
          <p:cNvSpPr txBox="1"/>
          <p:nvPr/>
        </p:nvSpPr>
        <p:spPr>
          <a:xfrm>
            <a:off x="10566806" y="752551"/>
            <a:ext cx="1156716" cy="200254"/>
          </a:xfrm>
          <a:prstGeom prst="rect">
            <a:avLst/>
          </a:prstGeom>
          <a:noFill/>
          <a:ln/>
        </p:spPr>
        <p:txBody>
          <a:bodyPr wrap="square" lIns="0" rIns="0" tIns="0" bIns="0">
            <a:noAutofit/>
          </a:bodyPr>
          <a:lstStyle/>
          <a:p>
            <a:r>
              <a:rPr sz="1000">
                <a:solidFill>
                  <a:srgbClr val="86868B"/>
                </a:solidFill>
                <a:latin typeface="Noto Sans JP"/>
              </a:rPr>
              <a:t>Total 13 Metrics</a:t>
            </a:r>
          </a:p>
        </p:txBody>
      </p:sp>
      <p:sp>
        <p:nvSpPr>
          <p:cNvPr id="10" name="TextBox 9"/>
          <p:cNvSpPr txBox="1"/>
          <p:nvPr/>
        </p:nvSpPr>
        <p:spPr>
          <a:xfrm>
            <a:off x="590702" y="1324051"/>
            <a:ext cx="381305" cy="210312"/>
          </a:xfrm>
          <a:prstGeom prst="rect">
            <a:avLst/>
          </a:prstGeom>
          <a:noFill/>
          <a:ln/>
        </p:spPr>
        <p:txBody>
          <a:bodyPr wrap="square" lIns="0" rIns="0" tIns="0" bIns="0">
            <a:noAutofit/>
          </a:bodyPr>
          <a:lstStyle/>
          <a:p>
            <a:r>
              <a:rPr sz="1300" b="1">
                <a:solidFill>
                  <a:srgbClr val="007AFF"/>
                </a:solidFill>
                <a:latin typeface="Noto Sans JP"/>
              </a:rPr>
              <a:t>01</a:t>
            </a:r>
          </a:p>
        </p:txBody>
      </p:sp>
      <p:sp>
        <p:nvSpPr>
          <p:cNvPr id="11" name="TextBox 10"/>
          <p:cNvSpPr txBox="1"/>
          <p:nvPr/>
        </p:nvSpPr>
        <p:spPr>
          <a:xfrm>
            <a:off x="895197" y="1304849"/>
            <a:ext cx="5058461" cy="191109"/>
          </a:xfrm>
          <a:prstGeom prst="rect">
            <a:avLst/>
          </a:prstGeom>
          <a:noFill/>
          <a:ln/>
        </p:spPr>
        <p:txBody>
          <a:bodyPr wrap="square" lIns="0" rIns="0" tIns="0" bIns="0">
            <a:noAutofit/>
          </a:bodyPr>
          <a:lstStyle/>
          <a:p>
            <a:r>
              <a:rPr sz="1200" b="1">
                <a:solidFill>
                  <a:srgbClr val="1D1D1F"/>
                </a:solidFill>
                <a:latin typeface="Noto Sans JP"/>
              </a:rPr>
              <a:t>指示追従 (Instruction Following)</a:t>
            </a:r>
          </a:p>
        </p:txBody>
      </p:sp>
      <p:sp>
        <p:nvSpPr>
          <p:cNvPr id="12" name="TextBox 11"/>
          <p:cNvSpPr txBox="1"/>
          <p:nvPr/>
        </p:nvSpPr>
        <p:spPr>
          <a:xfrm>
            <a:off x="895197" y="1506931"/>
            <a:ext cx="5134356" cy="152705"/>
          </a:xfrm>
          <a:prstGeom prst="rect">
            <a:avLst/>
          </a:prstGeom>
          <a:noFill/>
          <a:ln/>
        </p:spPr>
        <p:txBody>
          <a:bodyPr wrap="square" lIns="0" rIns="0" tIns="0" bIns="0">
            <a:noAutofit/>
          </a:bodyPr>
          <a:lstStyle/>
          <a:p>
            <a:r>
              <a:rPr sz="900">
                <a:solidFill>
                  <a:srgbClr val="6E6E73"/>
                </a:solidFill>
                <a:latin typeface="Noto Sans JP"/>
              </a:rPr>
              <a:t>プロンプトの制約・禁止事項・形式指定（箇条書き禁止等）を遵守する能力。</a:t>
            </a:r>
          </a:p>
        </p:txBody>
      </p:sp>
      <p:sp>
        <p:nvSpPr>
          <p:cNvPr id="13" name="TextBox 12"/>
          <p:cNvSpPr txBox="1"/>
          <p:nvPr/>
        </p:nvSpPr>
        <p:spPr>
          <a:xfrm>
            <a:off x="590702" y="2108606"/>
            <a:ext cx="381305" cy="210312"/>
          </a:xfrm>
          <a:prstGeom prst="rect">
            <a:avLst/>
          </a:prstGeom>
          <a:noFill/>
          <a:ln/>
        </p:spPr>
        <p:txBody>
          <a:bodyPr wrap="square" lIns="0" rIns="0" tIns="0" bIns="0">
            <a:noAutofit/>
          </a:bodyPr>
          <a:lstStyle/>
          <a:p>
            <a:r>
              <a:rPr sz="1300" b="1">
                <a:solidFill>
                  <a:srgbClr val="007AFF"/>
                </a:solidFill>
                <a:latin typeface="Noto Sans JP"/>
              </a:rPr>
              <a:t>02</a:t>
            </a:r>
          </a:p>
        </p:txBody>
      </p:sp>
      <p:sp>
        <p:nvSpPr>
          <p:cNvPr id="14" name="TextBox 13"/>
          <p:cNvSpPr txBox="1"/>
          <p:nvPr/>
        </p:nvSpPr>
        <p:spPr>
          <a:xfrm>
            <a:off x="895197" y="2090318"/>
            <a:ext cx="5058461" cy="191110"/>
          </a:xfrm>
          <a:prstGeom prst="rect">
            <a:avLst/>
          </a:prstGeom>
          <a:noFill/>
          <a:ln/>
        </p:spPr>
        <p:txBody>
          <a:bodyPr wrap="square" lIns="0" rIns="0" tIns="0" bIns="0">
            <a:noAutofit/>
          </a:bodyPr>
          <a:lstStyle/>
          <a:p>
            <a:r>
              <a:rPr sz="1200" b="1">
                <a:solidFill>
                  <a:srgbClr val="1D1D1F"/>
                </a:solidFill>
                <a:latin typeface="Noto Sans JP"/>
              </a:rPr>
              <a:t>幻覚耐性 (Hallucination Resistance)</a:t>
            </a:r>
          </a:p>
        </p:txBody>
      </p:sp>
      <p:sp>
        <p:nvSpPr>
          <p:cNvPr id="15" name="TextBox 14"/>
          <p:cNvSpPr txBox="1"/>
          <p:nvPr/>
        </p:nvSpPr>
        <p:spPr>
          <a:xfrm>
            <a:off x="895197" y="2292401"/>
            <a:ext cx="5134356" cy="152705"/>
          </a:xfrm>
          <a:prstGeom prst="rect">
            <a:avLst/>
          </a:prstGeom>
          <a:noFill/>
          <a:ln/>
        </p:spPr>
        <p:txBody>
          <a:bodyPr wrap="square" lIns="0" rIns="0" tIns="0" bIns="0">
            <a:noAutofit/>
          </a:bodyPr>
          <a:lstStyle/>
          <a:p>
            <a:r>
              <a:rPr sz="900">
                <a:solidFill>
                  <a:srgbClr val="6E6E73"/>
                </a:solidFill>
                <a:latin typeface="Noto Sans JP"/>
              </a:rPr>
              <a:t>根拠のない固有名詞や数値を捏造せず、不確実性を提示できる性質。</a:t>
            </a:r>
          </a:p>
        </p:txBody>
      </p:sp>
      <p:sp>
        <p:nvSpPr>
          <p:cNvPr id="16" name="TextBox 15"/>
          <p:cNvSpPr txBox="1"/>
          <p:nvPr/>
        </p:nvSpPr>
        <p:spPr>
          <a:xfrm>
            <a:off x="590702" y="2894076"/>
            <a:ext cx="381305" cy="210312"/>
          </a:xfrm>
          <a:prstGeom prst="rect">
            <a:avLst/>
          </a:prstGeom>
          <a:noFill/>
          <a:ln/>
        </p:spPr>
        <p:txBody>
          <a:bodyPr wrap="square" lIns="0" rIns="0" tIns="0" bIns="0">
            <a:noAutofit/>
          </a:bodyPr>
          <a:lstStyle/>
          <a:p>
            <a:r>
              <a:rPr sz="1300" b="1">
                <a:solidFill>
                  <a:srgbClr val="007AFF"/>
                </a:solidFill>
                <a:latin typeface="Noto Sans JP"/>
              </a:rPr>
              <a:t>03</a:t>
            </a:r>
          </a:p>
        </p:txBody>
      </p:sp>
      <p:sp>
        <p:nvSpPr>
          <p:cNvPr id="17" name="TextBox 16"/>
          <p:cNvSpPr txBox="1"/>
          <p:nvPr/>
        </p:nvSpPr>
        <p:spPr>
          <a:xfrm>
            <a:off x="895197" y="2874874"/>
            <a:ext cx="5058461" cy="191110"/>
          </a:xfrm>
          <a:prstGeom prst="rect">
            <a:avLst/>
          </a:prstGeom>
          <a:noFill/>
          <a:ln/>
        </p:spPr>
        <p:txBody>
          <a:bodyPr wrap="square" lIns="0" rIns="0" tIns="0" bIns="0">
            <a:noAutofit/>
          </a:bodyPr>
          <a:lstStyle/>
          <a:p>
            <a:r>
              <a:rPr sz="1200" b="1">
                <a:solidFill>
                  <a:srgbClr val="1D1D1F"/>
                </a:solidFill>
                <a:latin typeface="Noto Sans JP"/>
              </a:rPr>
              <a:t>JSON堅牢性 (Structured Output)</a:t>
            </a:r>
          </a:p>
        </p:txBody>
      </p:sp>
      <p:sp>
        <p:nvSpPr>
          <p:cNvPr id="18" name="TextBox 17"/>
          <p:cNvSpPr txBox="1"/>
          <p:nvPr/>
        </p:nvSpPr>
        <p:spPr>
          <a:xfrm>
            <a:off x="895197" y="3076956"/>
            <a:ext cx="5134356" cy="152705"/>
          </a:xfrm>
          <a:prstGeom prst="rect">
            <a:avLst/>
          </a:prstGeom>
          <a:noFill/>
          <a:ln/>
        </p:spPr>
        <p:txBody>
          <a:bodyPr wrap="square" lIns="0" rIns="0" tIns="0" bIns="0">
            <a:noAutofit/>
          </a:bodyPr>
          <a:lstStyle/>
          <a:p>
            <a:r>
              <a:rPr sz="900">
                <a:solidFill>
                  <a:srgbClr val="6E6E73"/>
                </a:solidFill>
                <a:latin typeface="Noto Sans JP"/>
              </a:rPr>
              <a:t>スキーマ遵守・構文破壊率の低さ。ツール呼び出しやシステム連携の要。</a:t>
            </a:r>
          </a:p>
        </p:txBody>
      </p:sp>
      <p:sp>
        <p:nvSpPr>
          <p:cNvPr id="19" name="TextBox 18"/>
          <p:cNvSpPr txBox="1"/>
          <p:nvPr/>
        </p:nvSpPr>
        <p:spPr>
          <a:xfrm>
            <a:off x="590702" y="3679546"/>
            <a:ext cx="381305" cy="210312"/>
          </a:xfrm>
          <a:prstGeom prst="rect">
            <a:avLst/>
          </a:prstGeom>
          <a:noFill/>
          <a:ln/>
        </p:spPr>
        <p:txBody>
          <a:bodyPr wrap="square" lIns="0" rIns="0" tIns="0" bIns="0">
            <a:noAutofit/>
          </a:bodyPr>
          <a:lstStyle/>
          <a:p>
            <a:r>
              <a:rPr sz="1300" b="1">
                <a:solidFill>
                  <a:srgbClr val="007AFF"/>
                </a:solidFill>
                <a:latin typeface="Noto Sans JP"/>
              </a:rPr>
              <a:t>04</a:t>
            </a:r>
          </a:p>
        </p:txBody>
      </p:sp>
      <p:sp>
        <p:nvSpPr>
          <p:cNvPr id="20" name="TextBox 19"/>
          <p:cNvSpPr txBox="1"/>
          <p:nvPr/>
        </p:nvSpPr>
        <p:spPr>
          <a:xfrm>
            <a:off x="895197" y="3660343"/>
            <a:ext cx="5058461" cy="191110"/>
          </a:xfrm>
          <a:prstGeom prst="rect">
            <a:avLst/>
          </a:prstGeom>
          <a:noFill/>
          <a:ln/>
        </p:spPr>
        <p:txBody>
          <a:bodyPr wrap="square" lIns="0" rIns="0" tIns="0" bIns="0">
            <a:noAutofit/>
          </a:bodyPr>
          <a:lstStyle/>
          <a:p>
            <a:r>
              <a:rPr sz="1200" b="1">
                <a:solidFill>
                  <a:srgbClr val="1D1D1F"/>
                </a:solidFill>
                <a:latin typeface="Noto Sans JP"/>
              </a:rPr>
              <a:t>長文耐性 (Long-context Stability)</a:t>
            </a:r>
          </a:p>
        </p:txBody>
      </p:sp>
      <p:sp>
        <p:nvSpPr>
          <p:cNvPr id="21" name="TextBox 20"/>
          <p:cNvSpPr txBox="1"/>
          <p:nvPr/>
        </p:nvSpPr>
        <p:spPr>
          <a:xfrm>
            <a:off x="895197" y="3862426"/>
            <a:ext cx="5134356" cy="152705"/>
          </a:xfrm>
          <a:prstGeom prst="rect">
            <a:avLst/>
          </a:prstGeom>
          <a:noFill/>
          <a:ln/>
        </p:spPr>
        <p:txBody>
          <a:bodyPr wrap="square" lIns="0" rIns="0" tIns="0" bIns="0">
            <a:noAutofit/>
          </a:bodyPr>
          <a:lstStyle/>
          <a:p>
            <a:r>
              <a:rPr sz="900">
                <a:solidFill>
                  <a:srgbClr val="6E6E73"/>
                </a:solidFill>
                <a:latin typeface="Noto Sans JP"/>
              </a:rPr>
              <a:t>長い入力に対する要約崩れや重要情報の欠落、自己矛盾の抑制。</a:t>
            </a:r>
          </a:p>
        </p:txBody>
      </p:sp>
      <p:sp>
        <p:nvSpPr>
          <p:cNvPr id="22" name="TextBox 21"/>
          <p:cNvSpPr txBox="1"/>
          <p:nvPr/>
        </p:nvSpPr>
        <p:spPr>
          <a:xfrm>
            <a:off x="590702" y="4464101"/>
            <a:ext cx="381305" cy="210312"/>
          </a:xfrm>
          <a:prstGeom prst="rect">
            <a:avLst/>
          </a:prstGeom>
          <a:noFill/>
          <a:ln/>
        </p:spPr>
        <p:txBody>
          <a:bodyPr wrap="square" lIns="0" rIns="0" tIns="0" bIns="0">
            <a:noAutofit/>
          </a:bodyPr>
          <a:lstStyle/>
          <a:p>
            <a:r>
              <a:rPr sz="1300" b="1">
                <a:solidFill>
                  <a:srgbClr val="007AFF"/>
                </a:solidFill>
                <a:latin typeface="Noto Sans JP"/>
              </a:rPr>
              <a:t>05</a:t>
            </a:r>
          </a:p>
        </p:txBody>
      </p:sp>
      <p:sp>
        <p:nvSpPr>
          <p:cNvPr id="23" name="TextBox 22"/>
          <p:cNvSpPr txBox="1"/>
          <p:nvPr/>
        </p:nvSpPr>
        <p:spPr>
          <a:xfrm>
            <a:off x="895197" y="4444898"/>
            <a:ext cx="5058461" cy="191110"/>
          </a:xfrm>
          <a:prstGeom prst="rect">
            <a:avLst/>
          </a:prstGeom>
          <a:noFill/>
          <a:ln/>
        </p:spPr>
        <p:txBody>
          <a:bodyPr wrap="square" lIns="0" rIns="0" tIns="0" bIns="0">
            <a:noAutofit/>
          </a:bodyPr>
          <a:lstStyle/>
          <a:p>
            <a:r>
              <a:rPr sz="1200" b="1">
                <a:solidFill>
                  <a:srgbClr val="1D1D1F"/>
                </a:solidFill>
                <a:latin typeface="Noto Sans JP"/>
              </a:rPr>
              <a:t>推論計画 (Planning)</a:t>
            </a:r>
          </a:p>
        </p:txBody>
      </p:sp>
      <p:sp>
        <p:nvSpPr>
          <p:cNvPr id="24" name="TextBox 23"/>
          <p:cNvSpPr txBox="1"/>
          <p:nvPr/>
        </p:nvSpPr>
        <p:spPr>
          <a:xfrm>
            <a:off x="895197" y="4646981"/>
            <a:ext cx="5134356" cy="152705"/>
          </a:xfrm>
          <a:prstGeom prst="rect">
            <a:avLst/>
          </a:prstGeom>
          <a:noFill/>
          <a:ln/>
        </p:spPr>
        <p:txBody>
          <a:bodyPr wrap="square" lIns="0" rIns="0" tIns="0" bIns="0">
            <a:noAutofit/>
          </a:bodyPr>
          <a:lstStyle/>
          <a:p>
            <a:r>
              <a:rPr sz="900">
                <a:solidFill>
                  <a:srgbClr val="6E6E73"/>
                </a:solidFill>
                <a:latin typeface="Noto Sans JP"/>
              </a:rPr>
              <a:t>タスク分解、複数ステップの自己検証、外部ツール呼び出し順序の妥当性。</a:t>
            </a:r>
          </a:p>
        </p:txBody>
      </p:sp>
      <p:sp>
        <p:nvSpPr>
          <p:cNvPr id="25" name="TextBox 24"/>
          <p:cNvSpPr txBox="1"/>
          <p:nvPr/>
        </p:nvSpPr>
        <p:spPr>
          <a:xfrm>
            <a:off x="590702" y="5249570"/>
            <a:ext cx="381305" cy="210312"/>
          </a:xfrm>
          <a:prstGeom prst="rect">
            <a:avLst/>
          </a:prstGeom>
          <a:noFill/>
          <a:ln/>
        </p:spPr>
        <p:txBody>
          <a:bodyPr wrap="square" lIns="0" rIns="0" tIns="0" bIns="0">
            <a:noAutofit/>
          </a:bodyPr>
          <a:lstStyle/>
          <a:p>
            <a:r>
              <a:rPr sz="1300" b="1">
                <a:solidFill>
                  <a:srgbClr val="007AFF"/>
                </a:solidFill>
                <a:latin typeface="Noto Sans JP"/>
              </a:rPr>
              <a:t>06</a:t>
            </a:r>
          </a:p>
        </p:txBody>
      </p:sp>
      <p:sp>
        <p:nvSpPr>
          <p:cNvPr id="26" name="TextBox 25"/>
          <p:cNvSpPr txBox="1"/>
          <p:nvPr/>
        </p:nvSpPr>
        <p:spPr>
          <a:xfrm>
            <a:off x="895197" y="5230368"/>
            <a:ext cx="5058461" cy="191110"/>
          </a:xfrm>
          <a:prstGeom prst="rect">
            <a:avLst/>
          </a:prstGeom>
          <a:noFill/>
          <a:ln/>
        </p:spPr>
        <p:txBody>
          <a:bodyPr wrap="square" lIns="0" rIns="0" tIns="0" bIns="0">
            <a:noAutofit/>
          </a:bodyPr>
          <a:lstStyle/>
          <a:p>
            <a:r>
              <a:rPr sz="1200" b="1">
                <a:solidFill>
                  <a:srgbClr val="1D1D1F"/>
                </a:solidFill>
                <a:latin typeface="Noto Sans JP"/>
              </a:rPr>
              <a:t>ツール呼び出し適性 (Tool-use)</a:t>
            </a:r>
          </a:p>
        </p:txBody>
      </p:sp>
      <p:sp>
        <p:nvSpPr>
          <p:cNvPr id="27" name="TextBox 26"/>
          <p:cNvSpPr txBox="1"/>
          <p:nvPr/>
        </p:nvSpPr>
        <p:spPr>
          <a:xfrm>
            <a:off x="895197" y="5432450"/>
            <a:ext cx="5134356" cy="152705"/>
          </a:xfrm>
          <a:prstGeom prst="rect">
            <a:avLst/>
          </a:prstGeom>
          <a:noFill/>
          <a:ln/>
        </p:spPr>
        <p:txBody>
          <a:bodyPr wrap="square" lIns="0" rIns="0" tIns="0" bIns="0">
            <a:noAutofit/>
          </a:bodyPr>
          <a:lstStyle/>
          <a:p>
            <a:r>
              <a:rPr sz="900">
                <a:solidFill>
                  <a:srgbClr val="6E6E73"/>
                </a:solidFill>
                <a:latin typeface="Noto Sans JP"/>
              </a:rPr>
              <a:t>関数呼び出しの意思決定、必要引数の抽出、曖昧性の解消能力。</a:t>
            </a:r>
          </a:p>
        </p:txBody>
      </p:sp>
      <p:sp>
        <p:nvSpPr>
          <p:cNvPr id="28" name="TextBox 27"/>
          <p:cNvSpPr txBox="1"/>
          <p:nvPr/>
        </p:nvSpPr>
        <p:spPr>
          <a:xfrm>
            <a:off x="590702" y="6035040"/>
            <a:ext cx="381305" cy="210312"/>
          </a:xfrm>
          <a:prstGeom prst="rect">
            <a:avLst/>
          </a:prstGeom>
          <a:noFill/>
          <a:ln/>
        </p:spPr>
        <p:txBody>
          <a:bodyPr wrap="square" lIns="0" rIns="0" tIns="0" bIns="0">
            <a:noAutofit/>
          </a:bodyPr>
          <a:lstStyle/>
          <a:p>
            <a:r>
              <a:rPr sz="1300" b="1">
                <a:solidFill>
                  <a:srgbClr val="007AFF"/>
                </a:solidFill>
                <a:latin typeface="Noto Sans JP"/>
              </a:rPr>
              <a:t>07</a:t>
            </a:r>
          </a:p>
        </p:txBody>
      </p:sp>
      <p:sp>
        <p:nvSpPr>
          <p:cNvPr id="29" name="TextBox 28"/>
          <p:cNvSpPr txBox="1"/>
          <p:nvPr/>
        </p:nvSpPr>
        <p:spPr>
          <a:xfrm>
            <a:off x="895197" y="6015838"/>
            <a:ext cx="5058461" cy="191110"/>
          </a:xfrm>
          <a:prstGeom prst="rect">
            <a:avLst/>
          </a:prstGeom>
          <a:noFill/>
          <a:ln/>
        </p:spPr>
        <p:txBody>
          <a:bodyPr wrap="square" lIns="0" rIns="0" tIns="0" bIns="0">
            <a:noAutofit/>
          </a:bodyPr>
          <a:lstStyle/>
          <a:p>
            <a:r>
              <a:rPr sz="1200" b="1">
                <a:solidFill>
                  <a:srgbClr val="1D1D1F"/>
                </a:solidFill>
                <a:latin typeface="Noto Sans JP"/>
              </a:rPr>
              <a:t>日本語品質 (Japanese Quality)</a:t>
            </a:r>
          </a:p>
        </p:txBody>
      </p:sp>
      <p:sp>
        <p:nvSpPr>
          <p:cNvPr id="30" name="TextBox 29"/>
          <p:cNvSpPr txBox="1"/>
          <p:nvPr/>
        </p:nvSpPr>
        <p:spPr>
          <a:xfrm>
            <a:off x="895197" y="6217920"/>
            <a:ext cx="5134356" cy="152705"/>
          </a:xfrm>
          <a:prstGeom prst="rect">
            <a:avLst/>
          </a:prstGeom>
          <a:noFill/>
          <a:ln/>
        </p:spPr>
        <p:txBody>
          <a:bodyPr wrap="square" lIns="0" rIns="0" tIns="0" bIns="0">
            <a:noAutofit/>
          </a:bodyPr>
          <a:lstStyle/>
          <a:p>
            <a:r>
              <a:rPr sz="900">
                <a:solidFill>
                  <a:srgbClr val="6E6E73"/>
                </a:solidFill>
                <a:latin typeface="Noto Sans JP"/>
              </a:rPr>
              <a:t>文法・敬語・語彙の自然さと、業務文書スタイルの再現性。</a:t>
            </a:r>
          </a:p>
        </p:txBody>
      </p:sp>
      <p:sp>
        <p:nvSpPr>
          <p:cNvPr id="31" name="TextBox 30"/>
          <p:cNvSpPr txBox="1"/>
          <p:nvPr/>
        </p:nvSpPr>
        <p:spPr>
          <a:xfrm>
            <a:off x="6353251" y="1324051"/>
            <a:ext cx="381304" cy="210312"/>
          </a:xfrm>
          <a:prstGeom prst="rect">
            <a:avLst/>
          </a:prstGeom>
          <a:noFill/>
          <a:ln/>
        </p:spPr>
        <p:txBody>
          <a:bodyPr wrap="square" lIns="0" rIns="0" tIns="0" bIns="0">
            <a:noAutofit/>
          </a:bodyPr>
          <a:lstStyle/>
          <a:p>
            <a:r>
              <a:rPr sz="1300" b="1">
                <a:solidFill>
                  <a:srgbClr val="007AFF"/>
                </a:solidFill>
                <a:latin typeface="Noto Sans JP"/>
              </a:rPr>
              <a:t>08</a:t>
            </a:r>
          </a:p>
        </p:txBody>
      </p:sp>
      <p:sp>
        <p:nvSpPr>
          <p:cNvPr id="32" name="TextBox 31"/>
          <p:cNvSpPr txBox="1"/>
          <p:nvPr/>
        </p:nvSpPr>
        <p:spPr>
          <a:xfrm>
            <a:off x="6657745" y="1304849"/>
            <a:ext cx="5058461" cy="191109"/>
          </a:xfrm>
          <a:prstGeom prst="rect">
            <a:avLst/>
          </a:prstGeom>
          <a:noFill/>
          <a:ln/>
        </p:spPr>
        <p:txBody>
          <a:bodyPr wrap="square" lIns="0" rIns="0" tIns="0" bIns="0">
            <a:noAutofit/>
          </a:bodyPr>
          <a:lstStyle/>
          <a:p>
            <a:r>
              <a:rPr sz="1200" b="1">
                <a:solidFill>
                  <a:srgbClr val="1D1D1F"/>
                </a:solidFill>
                <a:latin typeface="Noto Sans JP"/>
              </a:rPr>
              <a:t>音声品質 (TTS Quality)</a:t>
            </a:r>
          </a:p>
        </p:txBody>
      </p:sp>
      <p:sp>
        <p:nvSpPr>
          <p:cNvPr id="33" name="TextBox 32"/>
          <p:cNvSpPr txBox="1"/>
          <p:nvPr/>
        </p:nvSpPr>
        <p:spPr>
          <a:xfrm>
            <a:off x="6657745" y="1506931"/>
            <a:ext cx="5134356" cy="152705"/>
          </a:xfrm>
          <a:prstGeom prst="rect">
            <a:avLst/>
          </a:prstGeom>
          <a:noFill/>
          <a:ln/>
        </p:spPr>
        <p:txBody>
          <a:bodyPr wrap="square" lIns="0" rIns="0" tIns="0" bIns="0">
            <a:noAutofit/>
          </a:bodyPr>
          <a:lstStyle/>
          <a:p>
            <a:r>
              <a:rPr sz="900">
                <a:solidFill>
                  <a:srgbClr val="6E6E73"/>
                </a:solidFill>
                <a:latin typeface="Noto Sans JP"/>
              </a:rPr>
              <a:t>自然さ（抑揚・間）、アクセント、ノイズの少なさ、声質再現性。</a:t>
            </a:r>
          </a:p>
        </p:txBody>
      </p:sp>
      <p:sp>
        <p:nvSpPr>
          <p:cNvPr id="34" name="TextBox 33"/>
          <p:cNvSpPr txBox="1"/>
          <p:nvPr/>
        </p:nvSpPr>
        <p:spPr>
          <a:xfrm>
            <a:off x="6353251" y="2108606"/>
            <a:ext cx="381304" cy="210312"/>
          </a:xfrm>
          <a:prstGeom prst="rect">
            <a:avLst/>
          </a:prstGeom>
          <a:noFill/>
          <a:ln/>
        </p:spPr>
        <p:txBody>
          <a:bodyPr wrap="square" lIns="0" rIns="0" tIns="0" bIns="0">
            <a:noAutofit/>
          </a:bodyPr>
          <a:lstStyle/>
          <a:p>
            <a:r>
              <a:rPr sz="1300" b="1">
                <a:solidFill>
                  <a:srgbClr val="007AFF"/>
                </a:solidFill>
                <a:latin typeface="Noto Sans JP"/>
              </a:rPr>
              <a:t>09</a:t>
            </a:r>
          </a:p>
        </p:txBody>
      </p:sp>
      <p:sp>
        <p:nvSpPr>
          <p:cNvPr id="35" name="TextBox 34"/>
          <p:cNvSpPr txBox="1"/>
          <p:nvPr/>
        </p:nvSpPr>
        <p:spPr>
          <a:xfrm>
            <a:off x="6657745" y="2090318"/>
            <a:ext cx="5058461" cy="191110"/>
          </a:xfrm>
          <a:prstGeom prst="rect">
            <a:avLst/>
          </a:prstGeom>
          <a:noFill/>
          <a:ln/>
        </p:spPr>
        <p:txBody>
          <a:bodyPr wrap="square" lIns="0" rIns="0" tIns="0" bIns="0">
            <a:noAutofit/>
          </a:bodyPr>
          <a:lstStyle/>
          <a:p>
            <a:r>
              <a:rPr sz="1200" b="1">
                <a:solidFill>
                  <a:srgbClr val="1D1D1F"/>
                </a:solidFill>
                <a:latin typeface="Noto Sans JP"/>
              </a:rPr>
              <a:t>画像理解精度 (VLM Accuracy)</a:t>
            </a:r>
          </a:p>
        </p:txBody>
      </p:sp>
      <p:sp>
        <p:nvSpPr>
          <p:cNvPr id="36" name="TextBox 35"/>
          <p:cNvSpPr txBox="1"/>
          <p:nvPr/>
        </p:nvSpPr>
        <p:spPr>
          <a:xfrm>
            <a:off x="6657745" y="2292401"/>
            <a:ext cx="5134356" cy="152705"/>
          </a:xfrm>
          <a:prstGeom prst="rect">
            <a:avLst/>
          </a:prstGeom>
          <a:noFill/>
          <a:ln/>
        </p:spPr>
        <p:txBody>
          <a:bodyPr wrap="square" lIns="0" rIns="0" tIns="0" bIns="0">
            <a:noAutofit/>
          </a:bodyPr>
          <a:lstStyle/>
          <a:p>
            <a:r>
              <a:rPr sz="900">
                <a:solidFill>
                  <a:srgbClr val="6E6E73"/>
                </a:solidFill>
                <a:latin typeface="Noto Sans JP"/>
              </a:rPr>
              <a:t>OCR的読み取り、図表理解、空間関係、UIスクリーンショットの解釈。</a:t>
            </a:r>
          </a:p>
        </p:txBody>
      </p:sp>
      <p:sp>
        <p:nvSpPr>
          <p:cNvPr id="37" name="TextBox 36"/>
          <p:cNvSpPr txBox="1"/>
          <p:nvPr/>
        </p:nvSpPr>
        <p:spPr>
          <a:xfrm>
            <a:off x="6353251" y="2894076"/>
            <a:ext cx="381304" cy="210312"/>
          </a:xfrm>
          <a:prstGeom prst="rect">
            <a:avLst/>
          </a:prstGeom>
          <a:noFill/>
          <a:ln/>
        </p:spPr>
        <p:txBody>
          <a:bodyPr wrap="square" lIns="0" rIns="0" tIns="0" bIns="0">
            <a:noAutofit/>
          </a:bodyPr>
          <a:lstStyle/>
          <a:p>
            <a:r>
              <a:rPr sz="1300" b="1">
                <a:solidFill>
                  <a:srgbClr val="007AFF"/>
                </a:solidFill>
                <a:latin typeface="Noto Sans JP"/>
              </a:rPr>
              <a:t>10</a:t>
            </a:r>
          </a:p>
        </p:txBody>
      </p:sp>
      <p:sp>
        <p:nvSpPr>
          <p:cNvPr id="38" name="TextBox 37"/>
          <p:cNvSpPr txBox="1"/>
          <p:nvPr/>
        </p:nvSpPr>
        <p:spPr>
          <a:xfrm>
            <a:off x="6657745" y="2874874"/>
            <a:ext cx="5058461" cy="191110"/>
          </a:xfrm>
          <a:prstGeom prst="rect">
            <a:avLst/>
          </a:prstGeom>
          <a:noFill/>
          <a:ln/>
        </p:spPr>
        <p:txBody>
          <a:bodyPr wrap="square" lIns="0" rIns="0" tIns="0" bIns="0">
            <a:noAutofit/>
          </a:bodyPr>
          <a:lstStyle/>
          <a:p>
            <a:r>
              <a:rPr sz="1200" b="1">
                <a:solidFill>
                  <a:srgbClr val="1D1D1F"/>
                </a:solidFill>
                <a:latin typeface="Noto Sans JP"/>
              </a:rPr>
              <a:t>速度 (Speed / Throughput)</a:t>
            </a:r>
          </a:p>
        </p:txBody>
      </p:sp>
      <p:sp>
        <p:nvSpPr>
          <p:cNvPr id="39" name="TextBox 38"/>
          <p:cNvSpPr txBox="1"/>
          <p:nvPr/>
        </p:nvSpPr>
        <p:spPr>
          <a:xfrm>
            <a:off x="6657745" y="3076956"/>
            <a:ext cx="5058461" cy="152705"/>
          </a:xfrm>
          <a:prstGeom prst="rect">
            <a:avLst/>
          </a:prstGeom>
          <a:noFill/>
          <a:ln/>
        </p:spPr>
        <p:txBody>
          <a:bodyPr wrap="square" lIns="0" rIns="0" tIns="0" bIns="0">
            <a:noAutofit/>
          </a:bodyPr>
          <a:lstStyle/>
          <a:p>
            <a:r>
              <a:rPr sz="900">
                <a:solidFill>
                  <a:srgbClr val="6E6E73"/>
                </a:solidFill>
                <a:latin typeface="Noto Sans JP"/>
              </a:rPr>
              <a:t>LLMの生成速度(tok/s)およびASR/TTSの実時間比(RTF)。</a:t>
            </a:r>
          </a:p>
        </p:txBody>
      </p:sp>
      <p:sp>
        <p:nvSpPr>
          <p:cNvPr id="40" name="TextBox 39"/>
          <p:cNvSpPr txBox="1"/>
          <p:nvPr/>
        </p:nvSpPr>
        <p:spPr>
          <a:xfrm>
            <a:off x="6353251" y="3679546"/>
            <a:ext cx="381304" cy="210312"/>
          </a:xfrm>
          <a:prstGeom prst="rect">
            <a:avLst/>
          </a:prstGeom>
          <a:noFill/>
          <a:ln/>
        </p:spPr>
        <p:txBody>
          <a:bodyPr wrap="square" lIns="0" rIns="0" tIns="0" bIns="0">
            <a:noAutofit/>
          </a:bodyPr>
          <a:lstStyle/>
          <a:p>
            <a:r>
              <a:rPr sz="1300" b="1">
                <a:solidFill>
                  <a:srgbClr val="007AFF"/>
                </a:solidFill>
                <a:latin typeface="Noto Sans JP"/>
              </a:rPr>
              <a:t>11</a:t>
            </a:r>
          </a:p>
        </p:txBody>
      </p:sp>
      <p:sp>
        <p:nvSpPr>
          <p:cNvPr id="41" name="TextBox 40"/>
          <p:cNvSpPr txBox="1"/>
          <p:nvPr/>
        </p:nvSpPr>
        <p:spPr>
          <a:xfrm>
            <a:off x="6657745" y="3660343"/>
            <a:ext cx="5058461" cy="191110"/>
          </a:xfrm>
          <a:prstGeom prst="rect">
            <a:avLst/>
          </a:prstGeom>
          <a:noFill/>
          <a:ln/>
        </p:spPr>
        <p:txBody>
          <a:bodyPr wrap="square" lIns="0" rIns="0" tIns="0" bIns="0">
            <a:noAutofit/>
          </a:bodyPr>
          <a:lstStyle/>
          <a:p>
            <a:r>
              <a:rPr sz="1200" b="1">
                <a:solidFill>
                  <a:srgbClr val="1D1D1F"/>
                </a:solidFill>
                <a:latin typeface="Noto Sans JP"/>
              </a:rPr>
              <a:t>メモリ/VRAM (Memory Footprint)</a:t>
            </a:r>
          </a:p>
        </p:txBody>
      </p:sp>
      <p:sp>
        <p:nvSpPr>
          <p:cNvPr id="42" name="TextBox 41"/>
          <p:cNvSpPr txBox="1"/>
          <p:nvPr/>
        </p:nvSpPr>
        <p:spPr>
          <a:xfrm>
            <a:off x="6657745" y="3862426"/>
            <a:ext cx="5134356" cy="152705"/>
          </a:xfrm>
          <a:prstGeom prst="rect">
            <a:avLst/>
          </a:prstGeom>
          <a:noFill/>
          <a:ln/>
        </p:spPr>
        <p:txBody>
          <a:bodyPr wrap="square" lIns="0" rIns="0" tIns="0" bIns="0">
            <a:noAutofit/>
          </a:bodyPr>
          <a:lstStyle/>
          <a:p>
            <a:r>
              <a:rPr sz="900">
                <a:solidFill>
                  <a:srgbClr val="6E6E73"/>
                </a:solidFill>
                <a:latin typeface="Noto Sans JP"/>
              </a:rPr>
              <a:t>重み＋KVキャッシュ＋ランタイムオーバーヘッドの総消費量。</a:t>
            </a:r>
          </a:p>
        </p:txBody>
      </p:sp>
      <p:sp>
        <p:nvSpPr>
          <p:cNvPr id="43" name="TextBox 42"/>
          <p:cNvSpPr txBox="1"/>
          <p:nvPr/>
        </p:nvSpPr>
        <p:spPr>
          <a:xfrm>
            <a:off x="6353251" y="4464101"/>
            <a:ext cx="381304" cy="210312"/>
          </a:xfrm>
          <a:prstGeom prst="rect">
            <a:avLst/>
          </a:prstGeom>
          <a:noFill/>
          <a:ln/>
        </p:spPr>
        <p:txBody>
          <a:bodyPr wrap="square" lIns="0" rIns="0" tIns="0" bIns="0">
            <a:noAutofit/>
          </a:bodyPr>
          <a:lstStyle/>
          <a:p>
            <a:r>
              <a:rPr sz="1300" b="1">
                <a:solidFill>
                  <a:srgbClr val="007AFF"/>
                </a:solidFill>
                <a:latin typeface="Noto Sans JP"/>
              </a:rPr>
              <a:t>12</a:t>
            </a:r>
          </a:p>
        </p:txBody>
      </p:sp>
      <p:sp>
        <p:nvSpPr>
          <p:cNvPr id="44" name="TextBox 43"/>
          <p:cNvSpPr txBox="1"/>
          <p:nvPr/>
        </p:nvSpPr>
        <p:spPr>
          <a:xfrm>
            <a:off x="6657745" y="4444898"/>
            <a:ext cx="5058461" cy="191110"/>
          </a:xfrm>
          <a:prstGeom prst="rect">
            <a:avLst/>
          </a:prstGeom>
          <a:noFill/>
          <a:ln/>
        </p:spPr>
        <p:txBody>
          <a:bodyPr wrap="square" lIns="0" rIns="0" tIns="0" bIns="0">
            <a:noAutofit/>
          </a:bodyPr>
          <a:lstStyle/>
          <a:p>
            <a:r>
              <a:rPr sz="1200" b="1">
                <a:solidFill>
                  <a:srgbClr val="1D1D1F"/>
                </a:solidFill>
                <a:latin typeface="Noto Sans JP"/>
              </a:rPr>
              <a:t>量子化耐性 (Quantization Robustness)</a:t>
            </a:r>
          </a:p>
        </p:txBody>
      </p:sp>
      <p:sp>
        <p:nvSpPr>
          <p:cNvPr id="45" name="TextBox 44"/>
          <p:cNvSpPr txBox="1"/>
          <p:nvPr/>
        </p:nvSpPr>
        <p:spPr>
          <a:xfrm>
            <a:off x="6657745" y="4646981"/>
            <a:ext cx="5134356" cy="152705"/>
          </a:xfrm>
          <a:prstGeom prst="rect">
            <a:avLst/>
          </a:prstGeom>
          <a:noFill/>
          <a:ln/>
        </p:spPr>
        <p:txBody>
          <a:bodyPr wrap="square" lIns="0" rIns="0" tIns="0" bIns="0">
            <a:noAutofit/>
          </a:bodyPr>
          <a:lstStyle/>
          <a:p>
            <a:r>
              <a:rPr sz="900">
                <a:solidFill>
                  <a:srgbClr val="6E6E73"/>
                </a:solidFill>
                <a:latin typeface="Noto Sans JP"/>
              </a:rPr>
              <a:t>4bit等に圧縮した際の品質劣化の小ささ（モデルと手法の相性）。</a:t>
            </a:r>
          </a:p>
        </p:txBody>
      </p:sp>
      <p:sp>
        <p:nvSpPr>
          <p:cNvPr id="46" name="TextBox 45"/>
          <p:cNvSpPr txBox="1"/>
          <p:nvPr/>
        </p:nvSpPr>
        <p:spPr>
          <a:xfrm>
            <a:off x="6353251" y="5249570"/>
            <a:ext cx="381304" cy="210312"/>
          </a:xfrm>
          <a:prstGeom prst="rect">
            <a:avLst/>
          </a:prstGeom>
          <a:noFill/>
          <a:ln/>
        </p:spPr>
        <p:txBody>
          <a:bodyPr wrap="square" lIns="0" rIns="0" tIns="0" bIns="0">
            <a:noAutofit/>
          </a:bodyPr>
          <a:lstStyle/>
          <a:p>
            <a:r>
              <a:rPr sz="1300" b="1">
                <a:solidFill>
                  <a:srgbClr val="007AFF"/>
                </a:solidFill>
                <a:latin typeface="Noto Sans JP"/>
              </a:rPr>
              <a:t>13</a:t>
            </a:r>
          </a:p>
        </p:txBody>
      </p:sp>
      <p:sp>
        <p:nvSpPr>
          <p:cNvPr id="47" name="TextBox 46"/>
          <p:cNvSpPr txBox="1"/>
          <p:nvPr/>
        </p:nvSpPr>
        <p:spPr>
          <a:xfrm>
            <a:off x="6657745" y="5230368"/>
            <a:ext cx="5058461" cy="191110"/>
          </a:xfrm>
          <a:prstGeom prst="rect">
            <a:avLst/>
          </a:prstGeom>
          <a:noFill/>
          <a:ln/>
        </p:spPr>
        <p:txBody>
          <a:bodyPr wrap="square" lIns="0" rIns="0" tIns="0" bIns="0">
            <a:noAutofit/>
          </a:bodyPr>
          <a:lstStyle/>
          <a:p>
            <a:r>
              <a:rPr sz="1200" b="1">
                <a:solidFill>
                  <a:srgbClr val="1D1D1F"/>
                </a:solidFill>
                <a:latin typeface="Noto Sans JP"/>
              </a:rPr>
              <a:t>ライセンス (License &amp; Compliance)</a:t>
            </a:r>
          </a:p>
        </p:txBody>
      </p:sp>
      <p:sp>
        <p:nvSpPr>
          <p:cNvPr id="48" name="TextBox 47"/>
          <p:cNvSpPr txBox="1"/>
          <p:nvPr/>
        </p:nvSpPr>
        <p:spPr>
          <a:xfrm>
            <a:off x="6657745" y="5432450"/>
            <a:ext cx="5134356" cy="152705"/>
          </a:xfrm>
          <a:prstGeom prst="rect">
            <a:avLst/>
          </a:prstGeom>
          <a:noFill/>
          <a:ln/>
        </p:spPr>
        <p:txBody>
          <a:bodyPr wrap="square" lIns="0" rIns="0" tIns="0" bIns="0">
            <a:noAutofit/>
          </a:bodyPr>
          <a:lstStyle/>
          <a:p>
            <a:r>
              <a:rPr sz="900">
                <a:solidFill>
                  <a:srgbClr val="6E6E73"/>
                </a:solidFill>
                <a:latin typeface="Noto Sans JP"/>
              </a:rPr>
              <a:t>コードのOSSライセンスと、モデル重みの利用条件（商用制限等）の区別。</a:t>
            </a:r>
          </a:p>
        </p:txBody>
      </p:sp>
      <p:pic>
        <p:nvPicPr>
          <p:cNvPr id="49" name="Picture 48" descr="image.png"/>
          <p:cNvPicPr>
            <a:picLocks noChangeAspect="1"/>
          </p:cNvPicPr>
          <p:nvPr/>
        </p:nvPicPr>
        <p:blipFill>
          <a:blip r:embed="rId3"/>
          <a:stretch>
            <a:fillRect/>
          </a:stretch>
        </p:blipFill>
        <p:spPr>
          <a:xfrm>
            <a:off x="476401" y="6344107"/>
            <a:ext cx="4162348" cy="323698"/>
          </a:xfrm>
          <a:prstGeom prst="rect">
            <a:avLst/>
          </a:prstGeom>
          <a:ln/>
        </p:spPr>
      </p:pic>
      <p:sp>
        <p:nvSpPr>
          <p:cNvPr id="50" name="TextBox 49"/>
          <p:cNvSpPr txBox="1"/>
          <p:nvPr/>
        </p:nvSpPr>
        <p:spPr>
          <a:xfrm>
            <a:off x="837590" y="6420002"/>
            <a:ext cx="3858767" cy="171906"/>
          </a:xfrm>
          <a:prstGeom prst="rect">
            <a:avLst/>
          </a:prstGeom>
          <a:noFill/>
          <a:ln/>
        </p:spPr>
        <p:txBody>
          <a:bodyPr wrap="square" lIns="0" rIns="0" tIns="0" bIns="0">
            <a:noAutofit/>
          </a:bodyPr>
          <a:lstStyle/>
          <a:p>
            <a:r>
              <a:rPr sz="900">
                <a:solidFill>
                  <a:srgbClr val="0056B3"/>
                </a:solidFill>
                <a:latin typeface="Noto Sans JP"/>
              </a:rPr>
              <a:t>各評価軸の測定手法と設計含意は、次スライド以降で詳細に解説します</a:t>
            </a:r>
          </a:p>
        </p:txBody>
      </p:sp>
      <p:pic>
        <p:nvPicPr>
          <p:cNvPr id="51" name="Picture 50" descr="image.png"/>
          <p:cNvPicPr>
            <a:picLocks noChangeAspect="1"/>
          </p:cNvPicPr>
          <p:nvPr/>
        </p:nvPicPr>
        <p:blipFill>
          <a:blip r:embed="rId4"/>
          <a:stretch>
            <a:fillRect/>
          </a:stretch>
        </p:blipFill>
        <p:spPr>
          <a:xfrm>
            <a:off x="647395" y="6452921"/>
            <a:ext cx="114300" cy="114300"/>
          </a:xfrm>
          <a:prstGeom prst="rect">
            <a:avLst/>
          </a:prstGeom>
          <a:ln/>
        </p:spPr>
      </p:pic>
      <p:sp>
        <p:nvSpPr>
          <p:cNvPr id="52" name="TextBox 51"/>
          <p:cNvSpPr txBox="1"/>
          <p:nvPr/>
        </p:nvSpPr>
        <p:spPr>
          <a:xfrm>
            <a:off x="11496751" y="6543445"/>
            <a:ext cx="488289" cy="171907"/>
          </a:xfrm>
          <a:prstGeom prst="rect">
            <a:avLst/>
          </a:prstGeom>
          <a:noFill/>
          <a:ln/>
        </p:spPr>
        <p:txBody>
          <a:bodyPr wrap="square" lIns="0" rIns="0" tIns="0" bIns="0">
            <a:noAutofit/>
          </a:bodyPr>
          <a:lstStyle/>
          <a:p>
            <a:r>
              <a:rPr sz="900">
                <a:solidFill>
                  <a:srgbClr val="86868B"/>
                </a:solidFill>
                <a:latin typeface="Noto Sans JP"/>
              </a:rPr>
              <a:t>Page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200754" cy="400506"/>
          </a:xfrm>
          <a:prstGeom prst="rect">
            <a:avLst/>
          </a:prstGeom>
          <a:noFill/>
          <a:ln/>
        </p:spPr>
        <p:txBody>
          <a:bodyPr wrap="square" lIns="0" rIns="0" tIns="0" bIns="0">
            <a:noAutofit/>
          </a:bodyPr>
          <a:lstStyle/>
          <a:p>
            <a:r>
              <a:rPr sz="2100" b="1">
                <a:solidFill>
                  <a:srgbClr val="FFFFFF"/>
                </a:solidFill>
                <a:latin typeface="Noto Sans JP"/>
              </a:rPr>
              <a:t>特徴軸（詳細）：測定と設計含意</a:t>
            </a:r>
          </a:p>
        </p:txBody>
      </p:sp>
      <p:sp>
        <p:nvSpPr>
          <p:cNvPr id="7" name="TextBox 6"/>
          <p:cNvSpPr txBox="1"/>
          <p:nvPr/>
        </p:nvSpPr>
        <p:spPr>
          <a:xfrm>
            <a:off x="8534095" y="252374"/>
            <a:ext cx="3467405" cy="257860"/>
          </a:xfrm>
          <a:prstGeom prst="rect">
            <a:avLst/>
          </a:prstGeom>
          <a:noFill/>
          <a:ln/>
        </p:spPr>
        <p:txBody>
          <a:bodyPr wrap="square" lIns="0" rIns="0" tIns="0" bIns="0">
            <a:noAutofit/>
          </a:bodyPr>
          <a:lstStyle/>
          <a:p>
            <a:r>
              <a:rPr sz="1300">
                <a:solidFill>
                  <a:srgbClr val="A1A1A6"/>
                </a:solidFill>
                <a:latin typeface="Noto Sans JP"/>
              </a:rPr>
              <a:t>13の評価軸における計測手順と技術的背景</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049"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285646"/>
            <a:ext cx="381305" cy="381304"/>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694944" y="1362456"/>
            <a:ext cx="228600" cy="228600"/>
          </a:xfrm>
          <a:prstGeom prst="rect">
            <a:avLst/>
          </a:prstGeom>
          <a:ln/>
        </p:spPr>
      </p:pic>
      <p:sp>
        <p:nvSpPr>
          <p:cNvPr id="13" name="TextBox 12"/>
          <p:cNvSpPr txBox="1"/>
          <p:nvPr/>
        </p:nvSpPr>
        <p:spPr>
          <a:xfrm>
            <a:off x="1152144" y="1333195"/>
            <a:ext cx="2057400" cy="286206"/>
          </a:xfrm>
          <a:prstGeom prst="rect">
            <a:avLst/>
          </a:prstGeom>
          <a:noFill/>
          <a:ln/>
        </p:spPr>
        <p:txBody>
          <a:bodyPr wrap="square" lIns="0" rIns="0" tIns="0" bIns="0">
            <a:noAutofit/>
          </a:bodyPr>
          <a:lstStyle/>
          <a:p>
            <a:r>
              <a:rPr sz="1500" b="1">
                <a:solidFill>
                  <a:srgbClr val="1D1D1F"/>
                </a:solidFill>
                <a:latin typeface="Noto Sans JP"/>
              </a:rPr>
              <a:t>機能・性能評価のコア</a:t>
            </a:r>
          </a:p>
        </p:txBody>
      </p:sp>
      <p:pic>
        <p:nvPicPr>
          <p:cNvPr id="14" name="Picture 13" descr="image.png"/>
          <p:cNvPicPr>
            <a:picLocks noChangeAspect="1"/>
          </p:cNvPicPr>
          <p:nvPr/>
        </p:nvPicPr>
        <p:blipFill>
          <a:blip r:embed="rId3"/>
          <a:stretch>
            <a:fillRect/>
          </a:stretch>
        </p:blipFill>
        <p:spPr>
          <a:xfrm>
            <a:off x="619049" y="2038198"/>
            <a:ext cx="171907" cy="133501"/>
          </a:xfrm>
          <a:prstGeom prst="rect">
            <a:avLst/>
          </a:prstGeom>
          <a:ln/>
        </p:spPr>
      </p:pic>
      <p:sp>
        <p:nvSpPr>
          <p:cNvPr id="15" name="TextBox 14"/>
          <p:cNvSpPr txBox="1"/>
          <p:nvPr/>
        </p:nvSpPr>
        <p:spPr>
          <a:xfrm>
            <a:off x="905256" y="1990649"/>
            <a:ext cx="5000854" cy="228600"/>
          </a:xfrm>
          <a:prstGeom prst="rect">
            <a:avLst/>
          </a:prstGeom>
          <a:noFill/>
          <a:ln/>
        </p:spPr>
        <p:txBody>
          <a:bodyPr wrap="square" lIns="0" rIns="0" tIns="0" bIns="0">
            <a:noAutofit/>
          </a:bodyPr>
          <a:lstStyle/>
          <a:p>
            <a:r>
              <a:rPr sz="1200" b="1">
                <a:solidFill>
                  <a:srgbClr val="1D1D1F"/>
                </a:solidFill>
                <a:latin typeface="Noto Sans JP"/>
              </a:rPr>
              <a:t>JSON堅牢性と指示追従</a:t>
            </a:r>
          </a:p>
        </p:txBody>
      </p:sp>
      <p:sp>
        <p:nvSpPr>
          <p:cNvPr id="16" name="TextBox 15"/>
          <p:cNvSpPr txBox="1"/>
          <p:nvPr/>
        </p:nvSpPr>
        <p:spPr>
          <a:xfrm>
            <a:off x="905256" y="2238451"/>
            <a:ext cx="4886554" cy="629107"/>
          </a:xfrm>
          <a:prstGeom prst="rect">
            <a:avLst/>
          </a:prstGeom>
          <a:noFill/>
          <a:ln/>
        </p:spPr>
        <p:txBody>
          <a:bodyPr wrap="square" lIns="0" rIns="0" tIns="0" bIns="0">
            <a:noAutofit/>
          </a:bodyPr>
          <a:lstStyle/>
          <a:p>
            <a:r>
              <a:rPr sz="1000">
                <a:solidFill>
                  <a:srgbClr val="424245"/>
                </a:solidFill>
                <a:latin typeface="Noto Sans JP"/>
              </a:rPr>
              <a:t> ツール呼び出し等の業務連携ではスキーマ破壊が致命的。Ollama/LM StudioのOpenAI互換APIを用いて同一条件で比較検証を行う</a:t>
            </a:r>
            <a:r>
              <a:rPr sz="1000">
                <a:solidFill>
                  <a:srgbClr val="424245"/>
                </a:solidFill>
                <a:latin typeface="Noto Sans JP"/>
              </a:rPr>
              <a:t>。llama-cpp-python等のランタイム依存機能（response_format）も活用</a:t>
            </a:r>
            <a:r>
              <a:rPr sz="1000">
                <a:solidFill>
                  <a:srgbClr val="424245"/>
                </a:solidFill>
                <a:latin typeface="Noto Sans JP"/>
              </a:rPr>
              <a:t>。 </a:t>
            </a:r>
          </a:p>
        </p:txBody>
      </p:sp>
      <p:pic>
        <p:nvPicPr>
          <p:cNvPr id="17" name="Picture 16" descr="image.png"/>
          <p:cNvPicPr>
            <a:picLocks noChangeAspect="1"/>
          </p:cNvPicPr>
          <p:nvPr/>
        </p:nvPicPr>
        <p:blipFill>
          <a:blip r:embed="rId4"/>
          <a:stretch>
            <a:fillRect/>
          </a:stretch>
        </p:blipFill>
        <p:spPr>
          <a:xfrm>
            <a:off x="4019702" y="2456993"/>
            <a:ext cx="304494" cy="200254"/>
          </a:xfrm>
          <a:prstGeom prst="rect">
            <a:avLst/>
          </a:prstGeom>
          <a:ln/>
        </p:spPr>
      </p:pic>
      <p:sp>
        <p:nvSpPr>
          <p:cNvPr id="18" name="TextBox 17"/>
          <p:cNvSpPr txBox="1"/>
          <p:nvPr/>
        </p:nvSpPr>
        <p:spPr>
          <a:xfrm>
            <a:off x="4019702" y="2456993"/>
            <a:ext cx="305410" cy="200254"/>
          </a:xfrm>
          <a:prstGeom prst="rect">
            <a:avLst/>
          </a:prstGeom>
          <a:noFill/>
          <a:ln>
            <a:solidFill>
              <a:srgbClr val="FFFFFF"/>
            </a:solidFill>
          </a:ln>
        </p:spPr>
        <p:txBody>
          <a:bodyPr wrap="square" lIns="0" rIns="0" tIns="0" bIns="0">
            <a:noAutofit/>
          </a:bodyPr>
          <a:lstStyle/>
          <a:p>
            <a:r>
              <a:rPr sz="800">
                <a:solidFill>
                  <a:srgbClr val="86868B"/>
                </a:solidFill>
                <a:latin typeface="Noto Sans JP"/>
              </a:rPr>
              <a:t>[24]</a:t>
            </a:r>
          </a:p>
        </p:txBody>
      </p:sp>
      <p:pic>
        <p:nvPicPr>
          <p:cNvPr id="19" name="Picture 18" descr="image.png"/>
          <p:cNvPicPr>
            <a:picLocks noChangeAspect="1"/>
          </p:cNvPicPr>
          <p:nvPr/>
        </p:nvPicPr>
        <p:blipFill>
          <a:blip r:embed="rId4"/>
          <a:stretch>
            <a:fillRect/>
          </a:stretch>
        </p:blipFill>
        <p:spPr>
          <a:xfrm>
            <a:off x="4021531" y="2670962"/>
            <a:ext cx="304494" cy="200254"/>
          </a:xfrm>
          <a:prstGeom prst="rect">
            <a:avLst/>
          </a:prstGeom>
          <a:ln/>
        </p:spPr>
      </p:pic>
      <p:sp>
        <p:nvSpPr>
          <p:cNvPr id="20" name="TextBox 19"/>
          <p:cNvSpPr txBox="1"/>
          <p:nvPr/>
        </p:nvSpPr>
        <p:spPr>
          <a:xfrm>
            <a:off x="4021531" y="2670962"/>
            <a:ext cx="305410" cy="200254"/>
          </a:xfrm>
          <a:prstGeom prst="rect">
            <a:avLst/>
          </a:prstGeom>
          <a:noFill/>
          <a:ln>
            <a:solidFill>
              <a:srgbClr val="FFFFFF"/>
            </a:solidFill>
          </a:ln>
        </p:spPr>
        <p:txBody>
          <a:bodyPr wrap="square" lIns="0" rIns="0" tIns="0" bIns="0">
            <a:noAutofit/>
          </a:bodyPr>
          <a:lstStyle/>
          <a:p>
            <a:r>
              <a:rPr sz="800">
                <a:solidFill>
                  <a:srgbClr val="86868B"/>
                </a:solidFill>
                <a:latin typeface="Noto Sans JP"/>
              </a:rPr>
              <a:t>[25]</a:t>
            </a:r>
          </a:p>
        </p:txBody>
      </p:sp>
      <p:pic>
        <p:nvPicPr>
          <p:cNvPr id="21" name="Picture 20" descr="image.png"/>
          <p:cNvPicPr>
            <a:picLocks noChangeAspect="1"/>
          </p:cNvPicPr>
          <p:nvPr/>
        </p:nvPicPr>
        <p:blipFill>
          <a:blip r:embed="rId5"/>
          <a:stretch>
            <a:fillRect/>
          </a:stretch>
        </p:blipFill>
        <p:spPr>
          <a:xfrm>
            <a:off x="619049" y="3065983"/>
            <a:ext cx="152704" cy="133501"/>
          </a:xfrm>
          <a:prstGeom prst="rect">
            <a:avLst/>
          </a:prstGeom>
          <a:ln/>
        </p:spPr>
      </p:pic>
      <p:sp>
        <p:nvSpPr>
          <p:cNvPr id="22" name="TextBox 21"/>
          <p:cNvSpPr txBox="1"/>
          <p:nvPr/>
        </p:nvSpPr>
        <p:spPr>
          <a:xfrm>
            <a:off x="886054" y="3018434"/>
            <a:ext cx="5020056" cy="228600"/>
          </a:xfrm>
          <a:prstGeom prst="rect">
            <a:avLst/>
          </a:prstGeom>
          <a:noFill/>
          <a:ln/>
        </p:spPr>
        <p:txBody>
          <a:bodyPr wrap="square" lIns="0" rIns="0" tIns="0" bIns="0">
            <a:noAutofit/>
          </a:bodyPr>
          <a:lstStyle/>
          <a:p>
            <a:r>
              <a:rPr sz="1200" b="1">
                <a:solidFill>
                  <a:srgbClr val="1D1D1F"/>
                </a:solidFill>
                <a:latin typeface="Noto Sans JP"/>
              </a:rPr>
              <a:t>長文耐性とメモリ管理</a:t>
            </a:r>
          </a:p>
        </p:txBody>
      </p:sp>
      <p:sp>
        <p:nvSpPr>
          <p:cNvPr id="23" name="TextBox 22"/>
          <p:cNvSpPr txBox="1"/>
          <p:nvPr/>
        </p:nvSpPr>
        <p:spPr>
          <a:xfrm>
            <a:off x="886054" y="3266236"/>
            <a:ext cx="4905756" cy="619963"/>
          </a:xfrm>
          <a:prstGeom prst="rect">
            <a:avLst/>
          </a:prstGeom>
          <a:noFill/>
          <a:ln/>
        </p:spPr>
        <p:txBody>
          <a:bodyPr wrap="square" lIns="0" rIns="0" tIns="0" bIns="0">
            <a:noAutofit/>
          </a:bodyPr>
          <a:lstStyle/>
          <a:p>
            <a:r>
              <a:rPr sz="1000">
                <a:solidFill>
                  <a:srgbClr val="424245"/>
                </a:solidFill>
                <a:latin typeface="Noto Sans JP"/>
              </a:rPr>
              <a:t> コンテキスト長に応じてKVキャッシュメモリは線形に増加し、支配的要因となる。単純なトークン数だけでなく、KVキャッシュの最適化技術（Paged Attention等）の有無が安定性を左右する</a:t>
            </a:r>
            <a:r>
              <a:rPr sz="1000">
                <a:solidFill>
                  <a:srgbClr val="424245"/>
                </a:solidFill>
                <a:latin typeface="Noto Sans JP"/>
              </a:rPr>
              <a:t>。 </a:t>
            </a:r>
          </a:p>
        </p:txBody>
      </p:sp>
      <p:pic>
        <p:nvPicPr>
          <p:cNvPr id="24" name="Picture 23" descr="image.png"/>
          <p:cNvPicPr>
            <a:picLocks noChangeAspect="1"/>
          </p:cNvPicPr>
          <p:nvPr/>
        </p:nvPicPr>
        <p:blipFill>
          <a:blip r:embed="rId6"/>
          <a:stretch>
            <a:fillRect/>
          </a:stretch>
        </p:blipFill>
        <p:spPr>
          <a:xfrm>
            <a:off x="3387852" y="3685032"/>
            <a:ext cx="381305" cy="200253"/>
          </a:xfrm>
          <a:prstGeom prst="rect">
            <a:avLst/>
          </a:prstGeom>
          <a:ln/>
        </p:spPr>
      </p:pic>
      <p:sp>
        <p:nvSpPr>
          <p:cNvPr id="25" name="TextBox 24"/>
          <p:cNvSpPr txBox="1"/>
          <p:nvPr/>
        </p:nvSpPr>
        <p:spPr>
          <a:xfrm>
            <a:off x="3387852" y="3685032"/>
            <a:ext cx="381305" cy="200253"/>
          </a:xfrm>
          <a:prstGeom prst="rect">
            <a:avLst/>
          </a:prstGeom>
          <a:noFill/>
          <a:ln>
            <a:solidFill>
              <a:srgbClr val="FFFFFF"/>
            </a:solidFill>
          </a:ln>
        </p:spPr>
        <p:txBody>
          <a:bodyPr wrap="square" lIns="0" rIns="0" tIns="0" bIns="0">
            <a:noAutofit/>
          </a:bodyPr>
          <a:lstStyle/>
          <a:p>
            <a:r>
              <a:rPr sz="800">
                <a:solidFill>
                  <a:srgbClr val="86868B"/>
                </a:solidFill>
                <a:latin typeface="Noto Sans JP"/>
              </a:rPr>
              <a:t>[5][6]</a:t>
            </a:r>
          </a:p>
        </p:txBody>
      </p:sp>
      <p:pic>
        <p:nvPicPr>
          <p:cNvPr id="26" name="Picture 25" descr="image.png"/>
          <p:cNvPicPr>
            <a:picLocks noChangeAspect="1"/>
          </p:cNvPicPr>
          <p:nvPr/>
        </p:nvPicPr>
        <p:blipFill>
          <a:blip r:embed="rId7"/>
          <a:stretch>
            <a:fillRect/>
          </a:stretch>
        </p:blipFill>
        <p:spPr>
          <a:xfrm>
            <a:off x="619049" y="4080053"/>
            <a:ext cx="133501" cy="133501"/>
          </a:xfrm>
          <a:prstGeom prst="rect">
            <a:avLst/>
          </a:prstGeom>
          <a:ln/>
        </p:spPr>
      </p:pic>
      <p:sp>
        <p:nvSpPr>
          <p:cNvPr id="27" name="TextBox 26"/>
          <p:cNvSpPr txBox="1"/>
          <p:nvPr/>
        </p:nvSpPr>
        <p:spPr>
          <a:xfrm>
            <a:off x="866850" y="4032504"/>
            <a:ext cx="4963363" cy="228600"/>
          </a:xfrm>
          <a:prstGeom prst="rect">
            <a:avLst/>
          </a:prstGeom>
          <a:noFill/>
          <a:ln/>
        </p:spPr>
        <p:txBody>
          <a:bodyPr wrap="square" lIns="0" rIns="0" tIns="0" bIns="0">
            <a:noAutofit/>
          </a:bodyPr>
          <a:lstStyle/>
          <a:p>
            <a:r>
              <a:rPr sz="1200" b="1">
                <a:solidFill>
                  <a:srgbClr val="1D1D1F"/>
                </a:solidFill>
                <a:latin typeface="Noto Sans JP"/>
              </a:rPr>
              <a:t>速度指標 (tok/s &amp; RTF)</a:t>
            </a:r>
          </a:p>
        </p:txBody>
      </p:sp>
      <p:sp>
        <p:nvSpPr>
          <p:cNvPr id="28" name="TextBox 27"/>
          <p:cNvSpPr txBox="1"/>
          <p:nvPr/>
        </p:nvSpPr>
        <p:spPr>
          <a:xfrm>
            <a:off x="866850" y="4280306"/>
            <a:ext cx="4924958" cy="400506"/>
          </a:xfrm>
          <a:prstGeom prst="rect">
            <a:avLst/>
          </a:prstGeom>
          <a:noFill/>
          <a:ln/>
        </p:spPr>
        <p:txBody>
          <a:bodyPr wrap="square" lIns="0" rIns="0" tIns="0" bIns="0">
            <a:noAutofit/>
          </a:bodyPr>
          <a:lstStyle/>
          <a:p>
            <a:r>
              <a:rPr sz="1000">
                <a:solidFill>
                  <a:srgbClr val="424245"/>
                </a:solidFill>
                <a:latin typeface="Noto Sans JP"/>
              </a:rPr>
              <a:t>LLMは生成スループット(tok/s)だけでなく、初動遅延(TTFT)を分離して測定。ASR/TTSは実時間比(RTF)で評価し、実務要件（RTF&lt;1など）との適合を見る。</a:t>
            </a:r>
          </a:p>
        </p:txBody>
      </p:sp>
      <p:pic>
        <p:nvPicPr>
          <p:cNvPr id="29" name="Picture 28" descr="image.png"/>
          <p:cNvPicPr>
            <a:picLocks noChangeAspect="1"/>
          </p:cNvPicPr>
          <p:nvPr/>
        </p:nvPicPr>
        <p:blipFill>
          <a:blip r:embed="rId8"/>
          <a:stretch>
            <a:fillRect/>
          </a:stretch>
        </p:blipFill>
        <p:spPr>
          <a:xfrm>
            <a:off x="619049" y="4880153"/>
            <a:ext cx="133501" cy="133501"/>
          </a:xfrm>
          <a:prstGeom prst="rect">
            <a:avLst/>
          </a:prstGeom>
          <a:ln/>
        </p:spPr>
      </p:pic>
      <p:sp>
        <p:nvSpPr>
          <p:cNvPr id="30" name="TextBox 29"/>
          <p:cNvSpPr txBox="1"/>
          <p:nvPr/>
        </p:nvSpPr>
        <p:spPr>
          <a:xfrm>
            <a:off x="866850" y="4832604"/>
            <a:ext cx="4963363" cy="228600"/>
          </a:xfrm>
          <a:prstGeom prst="rect">
            <a:avLst/>
          </a:prstGeom>
          <a:noFill/>
          <a:ln/>
        </p:spPr>
        <p:txBody>
          <a:bodyPr wrap="square" lIns="0" rIns="0" tIns="0" bIns="0">
            <a:noAutofit/>
          </a:bodyPr>
          <a:lstStyle/>
          <a:p>
            <a:r>
              <a:rPr sz="1200" b="1">
                <a:solidFill>
                  <a:srgbClr val="1D1D1F"/>
                </a:solidFill>
                <a:latin typeface="Noto Sans JP"/>
              </a:rPr>
              <a:t>画像理解 (VLM)</a:t>
            </a:r>
          </a:p>
        </p:txBody>
      </p:sp>
      <p:sp>
        <p:nvSpPr>
          <p:cNvPr id="31" name="TextBox 30"/>
          <p:cNvSpPr txBox="1"/>
          <p:nvPr/>
        </p:nvSpPr>
        <p:spPr>
          <a:xfrm>
            <a:off x="866850" y="5080406"/>
            <a:ext cx="4924958" cy="419710"/>
          </a:xfrm>
          <a:prstGeom prst="rect">
            <a:avLst/>
          </a:prstGeom>
          <a:noFill/>
          <a:ln/>
        </p:spPr>
        <p:txBody>
          <a:bodyPr wrap="square" lIns="0" rIns="0" tIns="0" bIns="0">
            <a:noAutofit/>
          </a:bodyPr>
          <a:lstStyle/>
          <a:p>
            <a:r>
              <a:rPr sz="1000">
                <a:solidFill>
                  <a:srgbClr val="424245"/>
                </a:solidFill>
                <a:latin typeface="Noto Sans JP"/>
              </a:rPr>
              <a:t> 視覚トークン数が増加すると速度・メモリ効率が急落するため、解像度やmax-pixels制御が重要</a:t>
            </a:r>
            <a:r>
              <a:rPr sz="1000">
                <a:solidFill>
                  <a:srgbClr val="424245"/>
                </a:solidFill>
                <a:latin typeface="Noto Sans JP"/>
              </a:rPr>
              <a:t>。 </a:t>
            </a:r>
          </a:p>
        </p:txBody>
      </p:sp>
      <p:pic>
        <p:nvPicPr>
          <p:cNvPr id="32" name="Picture 31" descr="image.png"/>
          <p:cNvPicPr>
            <a:picLocks noChangeAspect="1"/>
          </p:cNvPicPr>
          <p:nvPr/>
        </p:nvPicPr>
        <p:blipFill>
          <a:blip r:embed="rId4"/>
          <a:stretch>
            <a:fillRect/>
          </a:stretch>
        </p:blipFill>
        <p:spPr>
          <a:xfrm>
            <a:off x="1947672" y="5298948"/>
            <a:ext cx="304494" cy="200253"/>
          </a:xfrm>
          <a:prstGeom prst="rect">
            <a:avLst/>
          </a:prstGeom>
          <a:ln/>
        </p:spPr>
      </p:pic>
      <p:sp>
        <p:nvSpPr>
          <p:cNvPr id="33" name="TextBox 32"/>
          <p:cNvSpPr txBox="1"/>
          <p:nvPr/>
        </p:nvSpPr>
        <p:spPr>
          <a:xfrm>
            <a:off x="1947672" y="5298948"/>
            <a:ext cx="305410" cy="200253"/>
          </a:xfrm>
          <a:prstGeom prst="rect">
            <a:avLst/>
          </a:prstGeom>
          <a:noFill/>
          <a:ln>
            <a:solidFill>
              <a:srgbClr val="FFFFFF"/>
            </a:solidFill>
          </a:ln>
        </p:spPr>
        <p:txBody>
          <a:bodyPr wrap="square" lIns="0" rIns="0" tIns="0" bIns="0">
            <a:noAutofit/>
          </a:bodyPr>
          <a:lstStyle/>
          <a:p>
            <a:r>
              <a:rPr sz="800">
                <a:solidFill>
                  <a:srgbClr val="86868B"/>
                </a:solidFill>
                <a:latin typeface="Noto Sans JP"/>
              </a:rPr>
              <a:t>[28]</a:t>
            </a:r>
          </a:p>
        </p:txBody>
      </p:sp>
      <p:sp>
        <p:nvSpPr>
          <p:cNvPr id="34" name="Rectangle 33"/>
          <p:cNvSpPr/>
          <p:nvPr/>
        </p:nvSpPr>
        <p:spPr>
          <a:xfrm>
            <a:off x="6238951" y="1047902"/>
            <a:ext cx="5572354" cy="5143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76695" y="1781251"/>
            <a:ext cx="509595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76695" y="1285646"/>
            <a:ext cx="381305" cy="381304"/>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524244" y="1362456"/>
            <a:ext cx="286207" cy="228600"/>
          </a:xfrm>
          <a:prstGeom prst="rect">
            <a:avLst/>
          </a:prstGeom>
          <a:ln/>
        </p:spPr>
      </p:pic>
      <p:sp>
        <p:nvSpPr>
          <p:cNvPr id="38" name="TextBox 37"/>
          <p:cNvSpPr txBox="1"/>
          <p:nvPr/>
        </p:nvSpPr>
        <p:spPr>
          <a:xfrm>
            <a:off x="7010705" y="1333195"/>
            <a:ext cx="2057400" cy="286206"/>
          </a:xfrm>
          <a:prstGeom prst="rect">
            <a:avLst/>
          </a:prstGeom>
          <a:noFill/>
          <a:ln/>
        </p:spPr>
        <p:txBody>
          <a:bodyPr wrap="square" lIns="0" rIns="0" tIns="0" bIns="0">
            <a:noAutofit/>
          </a:bodyPr>
          <a:lstStyle/>
          <a:p>
            <a:r>
              <a:rPr sz="1500" b="1">
                <a:solidFill>
                  <a:srgbClr val="1D1D1F"/>
                </a:solidFill>
                <a:latin typeface="Noto Sans JP"/>
              </a:rPr>
              <a:t>技術的詳細と設計含意</a:t>
            </a:r>
          </a:p>
        </p:txBody>
      </p:sp>
      <p:pic>
        <p:nvPicPr>
          <p:cNvPr id="39" name="Picture 38" descr="image.png"/>
          <p:cNvPicPr>
            <a:picLocks noChangeAspect="1"/>
          </p:cNvPicPr>
          <p:nvPr/>
        </p:nvPicPr>
        <p:blipFill>
          <a:blip r:embed="rId10"/>
          <a:stretch>
            <a:fillRect/>
          </a:stretch>
        </p:blipFill>
        <p:spPr>
          <a:xfrm>
            <a:off x="6476695" y="2038198"/>
            <a:ext cx="133502" cy="133501"/>
          </a:xfrm>
          <a:prstGeom prst="rect">
            <a:avLst/>
          </a:prstGeom>
          <a:ln/>
        </p:spPr>
      </p:pic>
      <p:sp>
        <p:nvSpPr>
          <p:cNvPr id="40" name="TextBox 39"/>
          <p:cNvSpPr txBox="1"/>
          <p:nvPr/>
        </p:nvSpPr>
        <p:spPr>
          <a:xfrm>
            <a:off x="6724497" y="1990649"/>
            <a:ext cx="5039258" cy="228600"/>
          </a:xfrm>
          <a:prstGeom prst="rect">
            <a:avLst/>
          </a:prstGeom>
          <a:noFill/>
          <a:ln/>
        </p:spPr>
        <p:txBody>
          <a:bodyPr wrap="square" lIns="0" rIns="0" tIns="0" bIns="0">
            <a:noAutofit/>
          </a:bodyPr>
          <a:lstStyle/>
          <a:p>
            <a:r>
              <a:rPr sz="1200" b="1">
                <a:solidFill>
                  <a:srgbClr val="1D1D1F"/>
                </a:solidFill>
                <a:latin typeface="Noto Sans JP"/>
              </a:rPr>
              <a:t>KVキャッシュ最適化技術</a:t>
            </a:r>
          </a:p>
        </p:txBody>
      </p:sp>
      <p:sp>
        <p:nvSpPr>
          <p:cNvPr id="41" name="TextBox 40"/>
          <p:cNvSpPr txBox="1"/>
          <p:nvPr/>
        </p:nvSpPr>
        <p:spPr>
          <a:xfrm>
            <a:off x="6724497" y="2238451"/>
            <a:ext cx="4924958" cy="629107"/>
          </a:xfrm>
          <a:prstGeom prst="rect">
            <a:avLst/>
          </a:prstGeom>
          <a:noFill/>
          <a:ln/>
        </p:spPr>
        <p:txBody>
          <a:bodyPr wrap="square" lIns="0" rIns="0" tIns="0" bIns="0">
            <a:noAutofit/>
          </a:bodyPr>
          <a:lstStyle/>
          <a:p>
            <a:r>
              <a:rPr sz="1000">
                <a:solidFill>
                  <a:srgbClr val="424245"/>
                </a:solidFill>
                <a:latin typeface="Noto Sans JP"/>
              </a:rPr>
              <a:t> vLLMはPaged KV Cache設計でメモリ断片化を防ぎ、KVキャッシュをFP8等に量子化してフットプリントを削減</a:t>
            </a:r>
            <a:r>
              <a:rPr sz="1000">
                <a:solidFill>
                  <a:srgbClr val="424245"/>
                </a:solidFill>
                <a:latin typeface="Noto Sans JP"/>
              </a:rPr>
              <a:t>。NVIDIA TensorRT-LLMもKV reuse（再利用）を最適化として強調</a:t>
            </a:r>
            <a:r>
              <a:rPr sz="1000">
                <a:solidFill>
                  <a:srgbClr val="424245"/>
                </a:solidFill>
                <a:latin typeface="Noto Sans JP"/>
              </a:rPr>
              <a:t>。長文・多同時接続時の鍵となる。 </a:t>
            </a:r>
          </a:p>
        </p:txBody>
      </p:sp>
      <p:pic>
        <p:nvPicPr>
          <p:cNvPr id="42" name="Picture 41" descr="image.png"/>
          <p:cNvPicPr>
            <a:picLocks noChangeAspect="1"/>
          </p:cNvPicPr>
          <p:nvPr/>
        </p:nvPicPr>
        <p:blipFill>
          <a:blip r:embed="rId6"/>
          <a:stretch>
            <a:fillRect/>
          </a:stretch>
        </p:blipFill>
        <p:spPr>
          <a:xfrm>
            <a:off x="8644738" y="2456993"/>
            <a:ext cx="381305" cy="200254"/>
          </a:xfrm>
          <a:prstGeom prst="rect">
            <a:avLst/>
          </a:prstGeom>
          <a:ln/>
        </p:spPr>
      </p:pic>
      <p:sp>
        <p:nvSpPr>
          <p:cNvPr id="43" name="TextBox 42"/>
          <p:cNvSpPr txBox="1"/>
          <p:nvPr/>
        </p:nvSpPr>
        <p:spPr>
          <a:xfrm>
            <a:off x="8644738" y="2456993"/>
            <a:ext cx="381305" cy="200254"/>
          </a:xfrm>
          <a:prstGeom prst="rect">
            <a:avLst/>
          </a:prstGeom>
          <a:noFill/>
          <a:ln>
            <a:solidFill>
              <a:srgbClr val="FFFFFF"/>
            </a:solidFill>
          </a:ln>
        </p:spPr>
        <p:txBody>
          <a:bodyPr wrap="square" lIns="0" rIns="0" tIns="0" bIns="0">
            <a:noAutofit/>
          </a:bodyPr>
          <a:lstStyle/>
          <a:p>
            <a:r>
              <a:rPr sz="800">
                <a:solidFill>
                  <a:srgbClr val="86868B"/>
                </a:solidFill>
                <a:latin typeface="Noto Sans JP"/>
              </a:rPr>
              <a:t>[5][6]</a:t>
            </a:r>
          </a:p>
        </p:txBody>
      </p:sp>
      <p:pic>
        <p:nvPicPr>
          <p:cNvPr id="44" name="Picture 43" descr="image.png"/>
          <p:cNvPicPr>
            <a:picLocks noChangeAspect="1"/>
          </p:cNvPicPr>
          <p:nvPr/>
        </p:nvPicPr>
        <p:blipFill>
          <a:blip r:embed="rId11"/>
          <a:stretch>
            <a:fillRect/>
          </a:stretch>
        </p:blipFill>
        <p:spPr>
          <a:xfrm>
            <a:off x="8245145" y="2670962"/>
            <a:ext cx="247802" cy="200254"/>
          </a:xfrm>
          <a:prstGeom prst="rect">
            <a:avLst/>
          </a:prstGeom>
          <a:ln/>
        </p:spPr>
      </p:pic>
      <p:sp>
        <p:nvSpPr>
          <p:cNvPr id="45" name="TextBox 44"/>
          <p:cNvSpPr txBox="1"/>
          <p:nvPr/>
        </p:nvSpPr>
        <p:spPr>
          <a:xfrm>
            <a:off x="8245145" y="2670962"/>
            <a:ext cx="247802" cy="200254"/>
          </a:xfrm>
          <a:prstGeom prst="rect">
            <a:avLst/>
          </a:prstGeom>
          <a:noFill/>
          <a:ln>
            <a:solidFill>
              <a:srgbClr val="FFFFFF"/>
            </a:solidFill>
          </a:ln>
        </p:spPr>
        <p:txBody>
          <a:bodyPr wrap="square" lIns="0" rIns="0" tIns="0" bIns="0">
            <a:noAutofit/>
          </a:bodyPr>
          <a:lstStyle/>
          <a:p>
            <a:r>
              <a:rPr sz="800">
                <a:solidFill>
                  <a:srgbClr val="86868B"/>
                </a:solidFill>
                <a:latin typeface="Noto Sans JP"/>
              </a:rPr>
              <a:t>[7]</a:t>
            </a:r>
          </a:p>
        </p:txBody>
      </p:sp>
      <p:pic>
        <p:nvPicPr>
          <p:cNvPr id="46" name="Picture 45" descr="image.png"/>
          <p:cNvPicPr>
            <a:picLocks noChangeAspect="1"/>
          </p:cNvPicPr>
          <p:nvPr/>
        </p:nvPicPr>
        <p:blipFill>
          <a:blip r:embed="rId12"/>
          <a:stretch>
            <a:fillRect/>
          </a:stretch>
        </p:blipFill>
        <p:spPr>
          <a:xfrm>
            <a:off x="6476695" y="3065983"/>
            <a:ext cx="133502" cy="133501"/>
          </a:xfrm>
          <a:prstGeom prst="rect">
            <a:avLst/>
          </a:prstGeom>
          <a:ln/>
        </p:spPr>
      </p:pic>
      <p:sp>
        <p:nvSpPr>
          <p:cNvPr id="47" name="TextBox 46"/>
          <p:cNvSpPr txBox="1"/>
          <p:nvPr/>
        </p:nvSpPr>
        <p:spPr>
          <a:xfrm>
            <a:off x="6724497" y="3018434"/>
            <a:ext cx="5039258" cy="228600"/>
          </a:xfrm>
          <a:prstGeom prst="rect">
            <a:avLst/>
          </a:prstGeom>
          <a:noFill/>
          <a:ln/>
        </p:spPr>
        <p:txBody>
          <a:bodyPr wrap="square" lIns="0" rIns="0" tIns="0" bIns="0">
            <a:noAutofit/>
          </a:bodyPr>
          <a:lstStyle/>
          <a:p>
            <a:r>
              <a:rPr sz="1200" b="1">
                <a:solidFill>
                  <a:srgbClr val="1D1D1F"/>
                </a:solidFill>
                <a:latin typeface="Noto Sans JP"/>
              </a:rPr>
              <a:t>量子化耐性と相性</a:t>
            </a:r>
          </a:p>
        </p:txBody>
      </p:sp>
      <p:sp>
        <p:nvSpPr>
          <p:cNvPr id="48" name="TextBox 47"/>
          <p:cNvSpPr txBox="1"/>
          <p:nvPr/>
        </p:nvSpPr>
        <p:spPr>
          <a:xfrm>
            <a:off x="6724497" y="3266236"/>
            <a:ext cx="4924958" cy="400506"/>
          </a:xfrm>
          <a:prstGeom prst="rect">
            <a:avLst/>
          </a:prstGeom>
          <a:noFill/>
          <a:ln/>
        </p:spPr>
        <p:txBody>
          <a:bodyPr wrap="square" lIns="0" rIns="0" tIns="0" bIns="0">
            <a:noAutofit/>
          </a:bodyPr>
          <a:lstStyle/>
          <a:p>
            <a:r>
              <a:rPr sz="1000">
                <a:solidFill>
                  <a:srgbClr val="424245"/>
                </a:solidFill>
                <a:latin typeface="Noto Sans JP"/>
              </a:rPr>
              <a:t>4bit化による品質劣化はモデルと量子化方式（AWQ, GPTQ, EXL2等）の相性に依存。実機ベンチマークでの確認が必須。</a:t>
            </a:r>
          </a:p>
        </p:txBody>
      </p:sp>
      <p:pic>
        <p:nvPicPr>
          <p:cNvPr id="49" name="Picture 48" descr="image.png"/>
          <p:cNvPicPr>
            <a:picLocks noChangeAspect="1"/>
          </p:cNvPicPr>
          <p:nvPr/>
        </p:nvPicPr>
        <p:blipFill>
          <a:blip r:embed="rId13"/>
          <a:stretch>
            <a:fillRect/>
          </a:stretch>
        </p:blipFill>
        <p:spPr>
          <a:xfrm>
            <a:off x="6476695" y="3866083"/>
            <a:ext cx="171907" cy="133501"/>
          </a:xfrm>
          <a:prstGeom prst="rect">
            <a:avLst/>
          </a:prstGeom>
          <a:ln/>
        </p:spPr>
      </p:pic>
      <p:sp>
        <p:nvSpPr>
          <p:cNvPr id="50" name="TextBox 49"/>
          <p:cNvSpPr txBox="1"/>
          <p:nvPr/>
        </p:nvSpPr>
        <p:spPr>
          <a:xfrm>
            <a:off x="6762902" y="3818534"/>
            <a:ext cx="5000853" cy="228600"/>
          </a:xfrm>
          <a:prstGeom prst="rect">
            <a:avLst/>
          </a:prstGeom>
          <a:noFill/>
          <a:ln/>
        </p:spPr>
        <p:txBody>
          <a:bodyPr wrap="square" lIns="0" rIns="0" tIns="0" bIns="0">
            <a:noAutofit/>
          </a:bodyPr>
          <a:lstStyle/>
          <a:p>
            <a:r>
              <a:rPr sz="1200" b="1">
                <a:solidFill>
                  <a:srgbClr val="1D1D1F"/>
                </a:solidFill>
                <a:latin typeface="Noto Sans JP"/>
              </a:rPr>
              <a:t>ライセンスとコンプライアンス</a:t>
            </a:r>
          </a:p>
        </p:txBody>
      </p:sp>
      <p:sp>
        <p:nvSpPr>
          <p:cNvPr id="51" name="TextBox 50"/>
          <p:cNvSpPr txBox="1"/>
          <p:nvPr/>
        </p:nvSpPr>
        <p:spPr>
          <a:xfrm>
            <a:off x="6762902" y="4066336"/>
            <a:ext cx="4886553" cy="400506"/>
          </a:xfrm>
          <a:prstGeom prst="rect">
            <a:avLst/>
          </a:prstGeom>
          <a:noFill/>
          <a:ln/>
        </p:spPr>
        <p:txBody>
          <a:bodyPr wrap="square" lIns="0" rIns="0" tIns="0" bIns="0">
            <a:noAutofit/>
          </a:bodyPr>
          <a:lstStyle/>
          <a:p>
            <a:r>
              <a:rPr sz="1000">
                <a:solidFill>
                  <a:srgbClr val="424245"/>
                </a:solidFill>
                <a:latin typeface="Noto Sans JP"/>
              </a:rPr>
              <a:t>「コード(OSS)」と「モデル重み」のライセンスは別物。特に画像生成やTTSでは重みに非商用制限が含まれる場合が多く、個別精査が必要。</a:t>
            </a:r>
          </a:p>
        </p:txBody>
      </p:sp>
      <p:sp>
        <p:nvSpPr>
          <p:cNvPr id="52" name="Rectangle 51"/>
          <p:cNvSpPr/>
          <p:nvPr/>
        </p:nvSpPr>
        <p:spPr>
          <a:xfrm>
            <a:off x="6476695" y="5067605"/>
            <a:ext cx="5095951" cy="886053"/>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76695" y="5067605"/>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0" y="5210251"/>
            <a:ext cx="4648810" cy="600760"/>
          </a:xfrm>
          <a:prstGeom prst="rect">
            <a:avLst/>
          </a:prstGeom>
          <a:noFill/>
          <a:ln/>
        </p:spPr>
        <p:txBody>
          <a:bodyPr wrap="square" lIns="0" rIns="0" tIns="0" bIns="0">
            <a:noAutofit/>
          </a:bodyPr>
          <a:lstStyle/>
          <a:p>
            <a:r>
              <a:rPr sz="1000" b="1">
                <a:solidFill>
                  <a:srgbClr val="5D4037"/>
                </a:solidFill>
                <a:latin typeface="Noto Sans JP"/>
              </a:rPr>
              <a:t>Key Takeaways:</a:t>
            </a:r>
            <a:r>
              <a:rPr sz="1000">
                <a:solidFill>
                  <a:srgbClr val="5D4037"/>
                </a:solidFill>
                <a:latin typeface="Noto Sans JP"/>
              </a:rPr>
              <a:t> 評価は「モデル×量子化×ランタイム×ハード」の組み合わせで決まるため、標準化された測定手順（条件固定・ウォームアップ・ログ保存）が不可欠です。 </a:t>
            </a:r>
          </a:p>
        </p:txBody>
      </p:sp>
      <p:pic>
        <p:nvPicPr>
          <p:cNvPr id="55" name="Picture 54" descr="image.png"/>
          <p:cNvPicPr>
            <a:picLocks noChangeAspect="1"/>
          </p:cNvPicPr>
          <p:nvPr/>
        </p:nvPicPr>
        <p:blipFill>
          <a:blip r:embed="rId14"/>
          <a:stretch>
            <a:fillRect/>
          </a:stretch>
        </p:blipFill>
        <p:spPr>
          <a:xfrm>
            <a:off x="6657745" y="5238598"/>
            <a:ext cx="105155" cy="133501"/>
          </a:xfrm>
          <a:prstGeom prst="rect">
            <a:avLst/>
          </a:prstGeom>
          <a:ln/>
        </p:spPr>
      </p:pic>
      <p:pic>
        <p:nvPicPr>
          <p:cNvPr id="56" name="Picture 55" descr="image.png"/>
          <p:cNvPicPr>
            <a:picLocks noChangeAspect="1"/>
          </p:cNvPicPr>
          <p:nvPr/>
        </p:nvPicPr>
        <p:blipFill>
          <a:blip r:embed="rId15"/>
          <a:stretch>
            <a:fillRect/>
          </a:stretch>
        </p:blipFill>
        <p:spPr>
          <a:xfrm>
            <a:off x="0" y="6476695"/>
            <a:ext cx="12191695" cy="381305"/>
          </a:xfrm>
          <a:prstGeom prst="rect">
            <a:avLst/>
          </a:prstGeom>
          <a:ln/>
        </p:spPr>
      </p:pic>
      <p:sp>
        <p:nvSpPr>
          <p:cNvPr id="57" name="TextBox 56"/>
          <p:cNvSpPr txBox="1"/>
          <p:nvPr/>
        </p:nvSpPr>
        <p:spPr>
          <a:xfrm>
            <a:off x="0" y="6476695"/>
            <a:ext cx="12192610" cy="381305"/>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15 | ローカルAI 技術調査レポート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noFill/>
          <a:ln/>
        </p:spPr>
        <p:txBody>
          <a:bodyPr wrap="square" lIns="0" rIns="0" tIns="0" bIns="0">
            <a:noAutofit/>
          </a:bodyPr>
          <a:lstStyle/>
          <a:p>
            <a:r>
              <a:rPr sz="9000" b="1">
                <a:solidFill>
                  <a:srgbClr val="333336"/>
                </a:solidFill>
                <a:latin typeface="Helvetica Neue"/>
              </a:rPr>
              <a:t>06</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p:spPr>
      </p:pic>
      <p:sp>
        <p:nvSpPr>
          <p:cNvPr id="10" name="TextBox 9"/>
          <p:cNvSpPr txBox="1"/>
          <p:nvPr/>
        </p:nvSpPr>
        <p:spPr>
          <a:xfrm>
            <a:off x="761695" y="3270809"/>
            <a:ext cx="4121201" cy="1181405"/>
          </a:xfrm>
          <a:prstGeom prst="rect">
            <a:avLst/>
          </a:prstGeom>
          <a:noFill/>
          <a:ln/>
        </p:spPr>
        <p:txBody>
          <a:bodyPr wrap="square" lIns="0" rIns="0" tIns="0" bIns="0">
            <a:noAutofit/>
          </a:bodyPr>
          <a:lstStyle/>
          <a:p>
            <a:r>
              <a:rPr sz="4200" b="1">
                <a:solidFill>
                  <a:srgbClr val="FFFFFF"/>
                </a:solidFill>
                <a:latin typeface="Noto Sans JP"/>
              </a:rPr>
              <a:t>カテゴリ別</a:t>
            </a:r>
          </a:p>
          <a:p>
            <a:r>
              <a:rPr sz="4200" b="1">
                <a:solidFill>
                  <a:srgbClr val="FFFFFF"/>
                </a:solidFill>
                <a:latin typeface="Noto Sans JP"/>
              </a:rPr>
              <a:t>モデルカタログ</a:t>
            </a:r>
          </a:p>
        </p:txBody>
      </p:sp>
      <p:sp>
        <p:nvSpPr>
          <p:cNvPr id="11" name="TextBox 10"/>
          <p:cNvSpPr txBox="1"/>
          <p:nvPr/>
        </p:nvSpPr>
        <p:spPr>
          <a:xfrm>
            <a:off x="761695" y="4672584"/>
            <a:ext cx="4048963" cy="685800"/>
          </a:xfrm>
          <a:prstGeom prst="rect">
            <a:avLst/>
          </a:prstGeom>
          <a:noFill/>
          <a:ln/>
        </p:spPr>
        <p:txBody>
          <a:bodyPr wrap="square" lIns="0" rIns="0" tIns="0" bIns="0">
            <a:noAutofit/>
          </a:bodyPr>
          <a:lstStyle/>
          <a:p>
            <a:r>
              <a:rPr sz="1800">
                <a:solidFill>
                  <a:srgbClr val="86868B"/>
                </a:solidFill>
                <a:latin typeface="Noto Sans JP"/>
              </a:rPr>
              <a:t>主要9カテゴリの</a:t>
            </a:r>
          </a:p>
          <a:p>
            <a:r>
              <a:rPr sz="1800">
                <a:solidFill>
                  <a:srgbClr val="86868B"/>
                </a:solidFill>
                <a:latin typeface="Noto Sans JP"/>
              </a:rPr>
              <a:t>詳細データと採用判断</a:t>
            </a:r>
          </a:p>
        </p:txBody>
      </p:sp>
      <p:sp>
        <p:nvSpPr>
          <p:cNvPr id="12" name="TextBox 11"/>
          <p:cNvSpPr txBox="1"/>
          <p:nvPr/>
        </p:nvSpPr>
        <p:spPr>
          <a:xfrm>
            <a:off x="6248095" y="952805"/>
            <a:ext cx="5296205" cy="228600"/>
          </a:xfrm>
          <a:prstGeom prst="rect">
            <a:avLst/>
          </a:prstGeom>
          <a:noFill/>
          <a:ln/>
        </p:spPr>
        <p:txBody>
          <a:bodyPr wrap="square" lIns="0" rIns="0" tIns="0" bIns="0">
            <a:noAutofit/>
          </a:bodyPr>
          <a:lstStyle/>
          <a:p>
            <a:r>
              <a:rPr sz="1200" b="1">
                <a:solidFill>
                  <a:srgbClr val="007AFF"/>
                </a:solidFill>
                <a:latin typeface="Noto Sans JP"/>
              </a:rPr>
              <a:t>SECTION OVERVIEW</a:t>
            </a:r>
          </a:p>
        </p:txBody>
      </p:sp>
      <p:pic>
        <p:nvPicPr>
          <p:cNvPr id="13" name="Picture 12" descr="image.png"/>
          <p:cNvPicPr>
            <a:picLocks noChangeAspect="1"/>
          </p:cNvPicPr>
          <p:nvPr/>
        </p:nvPicPr>
        <p:blipFill>
          <a:blip r:embed="rId4"/>
          <a:stretch>
            <a:fillRect/>
          </a:stretch>
        </p:blipFill>
        <p:spPr>
          <a:xfrm>
            <a:off x="6248095" y="1371600"/>
            <a:ext cx="5181905" cy="3372307"/>
          </a:xfrm>
          <a:prstGeom prst="rect">
            <a:avLst/>
          </a:prstGeom>
          <a:ln/>
        </p:spPr>
      </p:pic>
      <p:sp>
        <p:nvSpPr>
          <p:cNvPr id="14" name="TextBox 13"/>
          <p:cNvSpPr txBox="1"/>
          <p:nvPr/>
        </p:nvSpPr>
        <p:spPr>
          <a:xfrm>
            <a:off x="6887261" y="1657807"/>
            <a:ext cx="4448556" cy="286206"/>
          </a:xfrm>
          <a:prstGeom prst="rect">
            <a:avLst/>
          </a:prstGeom>
          <a:noFill/>
          <a:ln/>
        </p:spPr>
        <p:txBody>
          <a:bodyPr wrap="square" lIns="0" rIns="0" tIns="0" bIns="0">
            <a:noAutofit/>
          </a:bodyPr>
          <a:lstStyle/>
          <a:p>
            <a:r>
              <a:rPr sz="1500" b="1">
                <a:solidFill>
                  <a:srgbClr val="FFFFFF"/>
                </a:solidFill>
                <a:latin typeface="Noto Sans JP"/>
              </a:rPr>
              <a:t> 提示方針：三層構造 </a:t>
            </a:r>
          </a:p>
        </p:txBody>
      </p:sp>
      <p:pic>
        <p:nvPicPr>
          <p:cNvPr id="15" name="Picture 14" descr="image.png"/>
          <p:cNvPicPr>
            <a:picLocks noChangeAspect="1"/>
          </p:cNvPicPr>
          <p:nvPr/>
        </p:nvPicPr>
        <p:blipFill>
          <a:blip r:embed="rId5"/>
          <a:stretch>
            <a:fillRect/>
          </a:stretch>
        </p:blipFill>
        <p:spPr>
          <a:xfrm>
            <a:off x="6572707" y="1705356"/>
            <a:ext cx="219455" cy="190194"/>
          </a:xfrm>
          <a:prstGeom prst="rect">
            <a:avLst/>
          </a:prstGeom>
          <a:ln/>
        </p:spPr>
      </p:pic>
      <p:sp>
        <p:nvSpPr>
          <p:cNvPr id="16" name="TextBox 15"/>
          <p:cNvSpPr txBox="1"/>
          <p:nvPr/>
        </p:nvSpPr>
        <p:spPr>
          <a:xfrm>
            <a:off x="6801307" y="2095805"/>
            <a:ext cx="4420210" cy="771753"/>
          </a:xfrm>
          <a:prstGeom prst="rect">
            <a:avLst/>
          </a:prstGeom>
          <a:noFill/>
          <a:ln/>
        </p:spPr>
        <p:txBody>
          <a:bodyPr wrap="square" lIns="0" rIns="0" tIns="0" bIns="0">
            <a:noAutofit/>
          </a:bodyPr>
          <a:lstStyle/>
          <a:p>
            <a:r>
              <a:rPr sz="1300" b="1">
                <a:solidFill>
                  <a:srgbClr val="E5E5E5"/>
                </a:solidFill>
                <a:latin typeface="Noto Sans JP"/>
              </a:rPr>
              <a:t>概要（Overview）：</a:t>
            </a:r>
          </a:p>
          <a:p>
            <a:r>
              <a:rPr sz="1300">
                <a:solidFill>
                  <a:srgbClr val="E5E5E5"/>
                </a:solidFill>
                <a:latin typeface="Noto Sans JP"/>
              </a:rPr>
              <a:t> カテゴリごとの主要トレンドと代表モデルの要点を概説。 </a:t>
            </a:r>
          </a:p>
        </p:txBody>
      </p:sp>
      <p:pic>
        <p:nvPicPr>
          <p:cNvPr id="17" name="Picture 16" descr="image.png"/>
          <p:cNvPicPr>
            <a:picLocks noChangeAspect="1"/>
          </p:cNvPicPr>
          <p:nvPr/>
        </p:nvPicPr>
        <p:blipFill>
          <a:blip r:embed="rId6"/>
          <a:stretch>
            <a:fillRect/>
          </a:stretch>
        </p:blipFill>
        <p:spPr>
          <a:xfrm>
            <a:off x="6572707" y="2143354"/>
            <a:ext cx="114300" cy="133501"/>
          </a:xfrm>
          <a:prstGeom prst="rect">
            <a:avLst/>
          </a:prstGeom>
          <a:ln/>
        </p:spPr>
      </p:pic>
      <p:sp>
        <p:nvSpPr>
          <p:cNvPr id="18" name="TextBox 17"/>
          <p:cNvSpPr txBox="1"/>
          <p:nvPr/>
        </p:nvSpPr>
        <p:spPr>
          <a:xfrm>
            <a:off x="6801307" y="3019349"/>
            <a:ext cx="4420210" cy="771754"/>
          </a:xfrm>
          <a:prstGeom prst="rect">
            <a:avLst/>
          </a:prstGeom>
          <a:noFill/>
          <a:ln/>
        </p:spPr>
        <p:txBody>
          <a:bodyPr wrap="square" lIns="0" rIns="0" tIns="0" bIns="0">
            <a:noAutofit/>
          </a:bodyPr>
          <a:lstStyle/>
          <a:p>
            <a:r>
              <a:rPr sz="1300" b="1">
                <a:solidFill>
                  <a:srgbClr val="E5E5E5"/>
                </a:solidFill>
                <a:latin typeface="Noto Sans JP"/>
              </a:rPr>
              <a:t>完全版表（Full Data）：</a:t>
            </a:r>
          </a:p>
          <a:p>
            <a:r>
              <a:rPr sz="1300">
                <a:solidFill>
                  <a:srgbClr val="E5E5E5"/>
                </a:solidFill>
                <a:latin typeface="Noto Sans JP"/>
              </a:rPr>
              <a:t> 規模・量子化・得意不得意・ランタイム相性・リスク・参考文献を列落ちなく全掲載。 </a:t>
            </a:r>
          </a:p>
        </p:txBody>
      </p:sp>
      <p:pic>
        <p:nvPicPr>
          <p:cNvPr id="19" name="Picture 18" descr="image.png"/>
          <p:cNvPicPr>
            <a:picLocks noChangeAspect="1"/>
          </p:cNvPicPr>
          <p:nvPr/>
        </p:nvPicPr>
        <p:blipFill>
          <a:blip r:embed="rId6"/>
          <a:stretch>
            <a:fillRect/>
          </a:stretch>
        </p:blipFill>
        <p:spPr>
          <a:xfrm>
            <a:off x="6572707" y="3066898"/>
            <a:ext cx="114300" cy="133501"/>
          </a:xfrm>
          <a:prstGeom prst="rect">
            <a:avLst/>
          </a:prstGeom>
          <a:ln/>
        </p:spPr>
      </p:pic>
      <p:sp>
        <p:nvSpPr>
          <p:cNvPr id="20" name="TextBox 19"/>
          <p:cNvSpPr txBox="1"/>
          <p:nvPr/>
        </p:nvSpPr>
        <p:spPr>
          <a:xfrm>
            <a:off x="6801307" y="3943807"/>
            <a:ext cx="4420210" cy="514806"/>
          </a:xfrm>
          <a:prstGeom prst="rect">
            <a:avLst/>
          </a:prstGeom>
          <a:noFill/>
          <a:ln/>
        </p:spPr>
        <p:txBody>
          <a:bodyPr wrap="square" lIns="0" rIns="0" tIns="0" bIns="0">
            <a:noAutofit/>
          </a:bodyPr>
          <a:lstStyle/>
          <a:p>
            <a:r>
              <a:rPr sz="1300" b="1">
                <a:solidFill>
                  <a:srgbClr val="E5E5E5"/>
                </a:solidFill>
                <a:latin typeface="Noto Sans JP"/>
              </a:rPr>
              <a:t>採用判断（Decision）：</a:t>
            </a:r>
          </a:p>
          <a:p>
            <a:r>
              <a:rPr sz="1300">
                <a:solidFill>
                  <a:srgbClr val="E5E5E5"/>
                </a:solidFill>
                <a:latin typeface="Noto Sans JP"/>
              </a:rPr>
              <a:t> 「どう選ぶか」の意思決定基準と失敗回避策を提示。 </a:t>
            </a:r>
          </a:p>
        </p:txBody>
      </p:sp>
      <p:pic>
        <p:nvPicPr>
          <p:cNvPr id="21" name="Picture 20" descr="image.png"/>
          <p:cNvPicPr>
            <a:picLocks noChangeAspect="1"/>
          </p:cNvPicPr>
          <p:nvPr/>
        </p:nvPicPr>
        <p:blipFill>
          <a:blip r:embed="rId6"/>
          <a:stretch>
            <a:fillRect/>
          </a:stretch>
        </p:blipFill>
        <p:spPr>
          <a:xfrm>
            <a:off x="6572707" y="3991355"/>
            <a:ext cx="114300" cy="133501"/>
          </a:xfrm>
          <a:prstGeom prst="rect">
            <a:avLst/>
          </a:prstGeom>
          <a:ln/>
        </p:spPr>
      </p:pic>
      <p:pic>
        <p:nvPicPr>
          <p:cNvPr id="22" name="Picture 21" descr="image.png"/>
          <p:cNvPicPr>
            <a:picLocks noChangeAspect="1"/>
          </p:cNvPicPr>
          <p:nvPr/>
        </p:nvPicPr>
        <p:blipFill>
          <a:blip r:embed="rId7"/>
          <a:stretch>
            <a:fillRect/>
          </a:stretch>
        </p:blipFill>
        <p:spPr>
          <a:xfrm>
            <a:off x="6248095" y="5124298"/>
            <a:ext cx="1114654" cy="333756"/>
          </a:xfrm>
          <a:prstGeom prst="rect">
            <a:avLst/>
          </a:prstGeom>
          <a:ln/>
        </p:spPr>
      </p:pic>
      <p:sp>
        <p:nvSpPr>
          <p:cNvPr id="23" name="TextBox 22"/>
          <p:cNvSpPr txBox="1"/>
          <p:nvPr/>
        </p:nvSpPr>
        <p:spPr>
          <a:xfrm>
            <a:off x="6248095" y="5124298"/>
            <a:ext cx="1114654"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テキストLLM</a:t>
            </a:r>
          </a:p>
        </p:txBody>
      </p:sp>
      <p:pic>
        <p:nvPicPr>
          <p:cNvPr id="24" name="Picture 23" descr="image.png"/>
          <p:cNvPicPr>
            <a:picLocks noChangeAspect="1"/>
          </p:cNvPicPr>
          <p:nvPr/>
        </p:nvPicPr>
        <p:blipFill>
          <a:blip r:embed="rId8"/>
          <a:stretch>
            <a:fillRect/>
          </a:stretch>
        </p:blipFill>
        <p:spPr>
          <a:xfrm>
            <a:off x="7475220" y="5124298"/>
            <a:ext cx="942745" cy="333756"/>
          </a:xfrm>
          <a:prstGeom prst="rect">
            <a:avLst/>
          </a:prstGeom>
          <a:ln/>
        </p:spPr>
      </p:pic>
      <p:sp>
        <p:nvSpPr>
          <p:cNvPr id="25" name="TextBox 24"/>
          <p:cNvSpPr txBox="1"/>
          <p:nvPr/>
        </p:nvSpPr>
        <p:spPr>
          <a:xfrm>
            <a:off x="7475220" y="5124298"/>
            <a:ext cx="943660"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VLM/LMM</a:t>
            </a:r>
          </a:p>
        </p:txBody>
      </p:sp>
      <p:pic>
        <p:nvPicPr>
          <p:cNvPr id="26" name="Picture 25" descr="image.png"/>
          <p:cNvPicPr>
            <a:picLocks noChangeAspect="1"/>
          </p:cNvPicPr>
          <p:nvPr/>
        </p:nvPicPr>
        <p:blipFill>
          <a:blip r:embed="rId9"/>
          <a:stretch>
            <a:fillRect/>
          </a:stretch>
        </p:blipFill>
        <p:spPr>
          <a:xfrm>
            <a:off x="8525866" y="5124298"/>
            <a:ext cx="580644" cy="333756"/>
          </a:xfrm>
          <a:prstGeom prst="rect">
            <a:avLst/>
          </a:prstGeom>
          <a:ln/>
        </p:spPr>
      </p:pic>
      <p:sp>
        <p:nvSpPr>
          <p:cNvPr id="27" name="TextBox 26"/>
          <p:cNvSpPr txBox="1"/>
          <p:nvPr/>
        </p:nvSpPr>
        <p:spPr>
          <a:xfrm>
            <a:off x="8525866" y="5124298"/>
            <a:ext cx="581558"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ASR</a:t>
            </a:r>
          </a:p>
        </p:txBody>
      </p:sp>
      <p:pic>
        <p:nvPicPr>
          <p:cNvPr id="28" name="Picture 27" descr="image.png"/>
          <p:cNvPicPr>
            <a:picLocks noChangeAspect="1"/>
          </p:cNvPicPr>
          <p:nvPr/>
        </p:nvPicPr>
        <p:blipFill>
          <a:blip r:embed="rId10"/>
          <a:stretch>
            <a:fillRect/>
          </a:stretch>
        </p:blipFill>
        <p:spPr>
          <a:xfrm>
            <a:off x="9215323" y="5124298"/>
            <a:ext cx="562355" cy="333756"/>
          </a:xfrm>
          <a:prstGeom prst="rect">
            <a:avLst/>
          </a:prstGeom>
          <a:ln/>
        </p:spPr>
      </p:pic>
      <p:sp>
        <p:nvSpPr>
          <p:cNvPr id="29" name="TextBox 28"/>
          <p:cNvSpPr txBox="1"/>
          <p:nvPr/>
        </p:nvSpPr>
        <p:spPr>
          <a:xfrm>
            <a:off x="9215323" y="5124298"/>
            <a:ext cx="562355"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TTS</a:t>
            </a:r>
          </a:p>
        </p:txBody>
      </p:sp>
      <p:pic>
        <p:nvPicPr>
          <p:cNvPr id="30" name="Picture 29" descr="image.png"/>
          <p:cNvPicPr>
            <a:picLocks noChangeAspect="1"/>
          </p:cNvPicPr>
          <p:nvPr/>
        </p:nvPicPr>
        <p:blipFill>
          <a:blip r:embed="rId11"/>
          <a:stretch>
            <a:fillRect/>
          </a:stretch>
        </p:blipFill>
        <p:spPr>
          <a:xfrm>
            <a:off x="9891979" y="5124298"/>
            <a:ext cx="1057045" cy="333756"/>
          </a:xfrm>
          <a:prstGeom prst="rect">
            <a:avLst/>
          </a:prstGeom>
          <a:ln/>
        </p:spPr>
      </p:pic>
      <p:sp>
        <p:nvSpPr>
          <p:cNvPr id="31" name="TextBox 30"/>
          <p:cNvSpPr txBox="1"/>
          <p:nvPr/>
        </p:nvSpPr>
        <p:spPr>
          <a:xfrm>
            <a:off x="9891979" y="5124298"/>
            <a:ext cx="1057960"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Embedding</a:t>
            </a:r>
          </a:p>
        </p:txBody>
      </p:sp>
      <p:pic>
        <p:nvPicPr>
          <p:cNvPr id="32" name="Picture 31" descr="image.png"/>
          <p:cNvPicPr>
            <a:picLocks noChangeAspect="1"/>
          </p:cNvPicPr>
          <p:nvPr/>
        </p:nvPicPr>
        <p:blipFill>
          <a:blip r:embed="rId12"/>
          <a:stretch>
            <a:fillRect/>
          </a:stretch>
        </p:blipFill>
        <p:spPr>
          <a:xfrm>
            <a:off x="6248095" y="5572354"/>
            <a:ext cx="599845" cy="333756"/>
          </a:xfrm>
          <a:prstGeom prst="rect">
            <a:avLst/>
          </a:prstGeom>
          <a:ln/>
        </p:spPr>
      </p:pic>
      <p:sp>
        <p:nvSpPr>
          <p:cNvPr id="33" name="TextBox 32"/>
          <p:cNvSpPr txBox="1"/>
          <p:nvPr/>
        </p:nvSpPr>
        <p:spPr>
          <a:xfrm>
            <a:off x="6248095" y="5572354"/>
            <a:ext cx="600760"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OCR</a:t>
            </a:r>
          </a:p>
        </p:txBody>
      </p:sp>
      <p:pic>
        <p:nvPicPr>
          <p:cNvPr id="34" name="Picture 33" descr="image.png"/>
          <p:cNvPicPr>
            <a:picLocks noChangeAspect="1"/>
          </p:cNvPicPr>
          <p:nvPr/>
        </p:nvPicPr>
        <p:blipFill>
          <a:blip r:embed="rId13"/>
          <a:stretch>
            <a:fillRect/>
          </a:stretch>
        </p:blipFill>
        <p:spPr>
          <a:xfrm>
            <a:off x="6960413" y="5572354"/>
            <a:ext cx="857706" cy="333756"/>
          </a:xfrm>
          <a:prstGeom prst="rect">
            <a:avLst/>
          </a:prstGeom>
          <a:ln/>
        </p:spPr>
      </p:pic>
      <p:sp>
        <p:nvSpPr>
          <p:cNvPr id="35" name="TextBox 34"/>
          <p:cNvSpPr txBox="1"/>
          <p:nvPr/>
        </p:nvSpPr>
        <p:spPr>
          <a:xfrm>
            <a:off x="6960413" y="5572354"/>
            <a:ext cx="857706"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画像生成</a:t>
            </a:r>
          </a:p>
        </p:txBody>
      </p:sp>
      <p:pic>
        <p:nvPicPr>
          <p:cNvPr id="36" name="Picture 35" descr="image.png"/>
          <p:cNvPicPr>
            <a:picLocks noChangeAspect="1"/>
          </p:cNvPicPr>
          <p:nvPr/>
        </p:nvPicPr>
        <p:blipFill>
          <a:blip r:embed="rId14"/>
          <a:stretch>
            <a:fillRect/>
          </a:stretch>
        </p:blipFill>
        <p:spPr>
          <a:xfrm>
            <a:off x="7932420" y="5572354"/>
            <a:ext cx="694944" cy="333756"/>
          </a:xfrm>
          <a:prstGeom prst="rect">
            <a:avLst/>
          </a:prstGeom>
          <a:ln/>
        </p:spPr>
      </p:pic>
      <p:sp>
        <p:nvSpPr>
          <p:cNvPr id="37" name="TextBox 36"/>
          <p:cNvSpPr txBox="1"/>
          <p:nvPr/>
        </p:nvSpPr>
        <p:spPr>
          <a:xfrm>
            <a:off x="7932420" y="5572354"/>
            <a:ext cx="695858"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Agent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p:spPr>
      </p:pic>
      <p:sp>
        <p:nvSpPr>
          <p:cNvPr id="8" name="TextBox 7"/>
          <p:cNvSpPr txBox="1"/>
          <p:nvPr/>
        </p:nvSpPr>
        <p:spPr>
          <a:xfrm>
            <a:off x="952805" y="243230"/>
            <a:ext cx="3848710" cy="457200"/>
          </a:xfrm>
          <a:prstGeom prst="rect">
            <a:avLst/>
          </a:prstGeom>
          <a:noFill/>
          <a:ln/>
        </p:spPr>
        <p:txBody>
          <a:bodyPr wrap="square" lIns="0" rIns="0" tIns="0" bIns="0">
            <a:noAutofit/>
          </a:bodyPr>
          <a:lstStyle/>
          <a:p>
            <a:r>
              <a:rPr sz="2400" b="1">
                <a:solidFill>
                  <a:srgbClr val="1D1D1F"/>
                </a:solidFill>
                <a:latin typeface="Noto Sans JP"/>
              </a:rPr>
              <a:t>テキストLLM（汎用）概要</a:t>
            </a:r>
          </a:p>
        </p:txBody>
      </p:sp>
      <p:sp>
        <p:nvSpPr>
          <p:cNvPr id="9" name="TextBox 8"/>
          <p:cNvSpPr txBox="1"/>
          <p:nvPr/>
        </p:nvSpPr>
        <p:spPr>
          <a:xfrm>
            <a:off x="9751162" y="342900"/>
            <a:ext cx="2150669" cy="257861"/>
          </a:xfrm>
          <a:prstGeom prst="rect">
            <a:avLst/>
          </a:prstGeom>
          <a:noFill/>
          <a:ln/>
        </p:spPr>
        <p:txBody>
          <a:bodyPr wrap="square" lIns="0" rIns="0" tIns="0" bIns="0">
            <a:noAutofit/>
          </a:bodyPr>
          <a:lstStyle/>
          <a:p>
            <a:r>
              <a:rPr sz="1300">
                <a:solidFill>
                  <a:srgbClr val="86868B"/>
                </a:solidFill>
                <a:latin typeface="Noto Sans JP"/>
              </a:rPr>
              <a:t>主要7モデルと実運用環境</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p:spPr>
      </p:pic>
      <p:sp>
        <p:nvSpPr>
          <p:cNvPr id="11" name="TextBox 10"/>
          <p:cNvSpPr txBox="1"/>
          <p:nvPr/>
        </p:nvSpPr>
        <p:spPr>
          <a:xfrm>
            <a:off x="743407" y="1447495"/>
            <a:ext cx="10842041" cy="590701"/>
          </a:xfrm>
          <a:prstGeom prst="rect">
            <a:avLst/>
          </a:prstGeom>
          <a:noFill/>
          <a:ln/>
        </p:spPr>
        <p:txBody>
          <a:bodyPr wrap="square" lIns="0" rIns="0" tIns="0" bIns="0">
            <a:noAutofit/>
          </a:bodyPr>
          <a:lstStyle/>
          <a:p>
            <a:r>
              <a:rPr sz="1600" b="1">
                <a:solidFill>
                  <a:srgbClr val="1D1D1F"/>
                </a:solidFill>
                <a:latin typeface="Noto Sans JP"/>
              </a:rPr>
              <a:t> 結論：ローカル実務のボリュームゾーンは</a:t>
            </a:r>
            <a:r>
              <a:rPr sz="1600" b="1">
                <a:solidFill>
                  <a:srgbClr val="2563EB"/>
                </a:solidFill>
                <a:latin typeface="Noto Sans JP"/>
              </a:rPr>
              <a:t>7B〜14B（4bit）</a:t>
            </a:r>
            <a:r>
              <a:rPr sz="1600" b="1">
                <a:solidFill>
                  <a:srgbClr val="1D1D1F"/>
                </a:solidFill>
                <a:latin typeface="Noto Sans JP"/>
              </a:rPr>
              <a:t>。 </a:t>
            </a:r>
          </a:p>
          <a:p>
            <a:r>
              <a:rPr sz="1600" b="1">
                <a:solidFill>
                  <a:srgbClr val="1D1D1F"/>
                </a:solidFill>
                <a:latin typeface="Noto Sans JP"/>
              </a:rPr>
              <a:t> 形式はGGUF（llama.cpp系）かGPU量子化（GPTQ/AWQ/EXL2）の二択が現実解です。 </a:t>
            </a:r>
          </a:p>
        </p:txBody>
      </p:sp>
      <p:sp>
        <p:nvSpPr>
          <p:cNvPr id="12" name="Rectangle 11"/>
          <p:cNvSpPr/>
          <p:nvPr/>
        </p:nvSpPr>
        <p:spPr>
          <a:xfrm>
            <a:off x="457200"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219456" cy="171906"/>
          </a:xfrm>
          <a:prstGeom prst="rect">
            <a:avLst/>
          </a:prstGeom>
          <a:ln/>
        </p:spPr>
      </p:pic>
      <p:sp>
        <p:nvSpPr>
          <p:cNvPr id="15" name="TextBox 14"/>
          <p:cNvSpPr txBox="1"/>
          <p:nvPr/>
        </p:nvSpPr>
        <p:spPr>
          <a:xfrm>
            <a:off x="972007" y="2653589"/>
            <a:ext cx="1783080" cy="352957"/>
          </a:xfrm>
          <a:prstGeom prst="rect">
            <a:avLst/>
          </a:prstGeom>
          <a:noFill/>
          <a:ln/>
        </p:spPr>
        <p:txBody>
          <a:bodyPr wrap="square" lIns="0" rIns="0" tIns="0" bIns="0">
            <a:noAutofit/>
          </a:bodyPr>
          <a:lstStyle/>
          <a:p>
            <a:r>
              <a:rPr sz="1300" b="1">
                <a:solidFill>
                  <a:srgbClr val="1D1D1F"/>
                </a:solidFill>
                <a:latin typeface="Noto Sans JP"/>
              </a:rPr>
              <a:t>代表モデル群（要点）</a:t>
            </a:r>
          </a:p>
        </p:txBody>
      </p:sp>
      <p:pic>
        <p:nvPicPr>
          <p:cNvPr id="16" name="Picture 15" descr="image.png"/>
          <p:cNvPicPr>
            <a:picLocks noChangeAspect="1"/>
          </p:cNvPicPr>
          <p:nvPr/>
        </p:nvPicPr>
        <p:blipFill>
          <a:blip r:embed="rId5"/>
          <a:stretch>
            <a:fillRect/>
          </a:stretch>
        </p:blipFill>
        <p:spPr>
          <a:xfrm>
            <a:off x="657454" y="3119933"/>
            <a:ext cx="85953" cy="95098"/>
          </a:xfrm>
          <a:prstGeom prst="rect">
            <a:avLst/>
          </a:prstGeom>
          <a:ln/>
        </p:spPr>
      </p:pic>
      <p:sp>
        <p:nvSpPr>
          <p:cNvPr id="17" name="TextBox 16"/>
          <p:cNvSpPr txBox="1"/>
          <p:nvPr/>
        </p:nvSpPr>
        <p:spPr>
          <a:xfrm>
            <a:off x="819302" y="3119933"/>
            <a:ext cx="4506163" cy="210312"/>
          </a:xfrm>
          <a:prstGeom prst="rect">
            <a:avLst/>
          </a:prstGeom>
          <a:noFill/>
          <a:ln/>
        </p:spPr>
        <p:txBody>
          <a:bodyPr wrap="square" lIns="0" rIns="0" tIns="0" bIns="0">
            <a:noAutofit/>
          </a:bodyPr>
          <a:lstStyle/>
          <a:p>
            <a:r>
              <a:rPr sz="1000" b="1">
                <a:solidFill>
                  <a:srgbClr val="1D1D1F"/>
                </a:solidFill>
                <a:latin typeface="Noto Sans JP"/>
              </a:rPr>
              <a:t>Llama 3.1 Instruct:</a:t>
            </a:r>
            <a:r>
              <a:rPr sz="1000">
                <a:solidFill>
                  <a:srgbClr val="424245"/>
                </a:solidFill>
                <a:latin typeface="Noto Sans JP"/>
              </a:rPr>
              <a:t> 8B/70B/405B系。多言語対話最適化を明記。</a:t>
            </a:r>
          </a:p>
        </p:txBody>
      </p:sp>
      <p:pic>
        <p:nvPicPr>
          <p:cNvPr id="18" name="Picture 17" descr="image.png"/>
          <p:cNvPicPr>
            <a:picLocks noChangeAspect="1"/>
          </p:cNvPicPr>
          <p:nvPr/>
        </p:nvPicPr>
        <p:blipFill>
          <a:blip r:embed="rId6"/>
          <a:stretch>
            <a:fillRect/>
          </a:stretch>
        </p:blipFill>
        <p:spPr>
          <a:xfrm>
            <a:off x="4767682" y="3148279"/>
            <a:ext cx="437998" cy="181051"/>
          </a:xfrm>
          <a:prstGeom prst="rect">
            <a:avLst/>
          </a:prstGeom>
          <a:ln/>
        </p:spPr>
      </p:pic>
      <p:sp>
        <p:nvSpPr>
          <p:cNvPr id="19" name="TextBox 18"/>
          <p:cNvSpPr txBox="1"/>
          <p:nvPr/>
        </p:nvSpPr>
        <p:spPr>
          <a:xfrm>
            <a:off x="4767682" y="3148279"/>
            <a:ext cx="43891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[29-31]</a:t>
            </a:r>
          </a:p>
        </p:txBody>
      </p:sp>
      <p:pic>
        <p:nvPicPr>
          <p:cNvPr id="20" name="Picture 19" descr="image.png"/>
          <p:cNvPicPr>
            <a:picLocks noChangeAspect="1"/>
          </p:cNvPicPr>
          <p:nvPr/>
        </p:nvPicPr>
        <p:blipFill>
          <a:blip r:embed="rId5"/>
          <a:stretch>
            <a:fillRect/>
          </a:stretch>
        </p:blipFill>
        <p:spPr>
          <a:xfrm>
            <a:off x="657454" y="3400654"/>
            <a:ext cx="85953" cy="95098"/>
          </a:xfrm>
          <a:prstGeom prst="rect">
            <a:avLst/>
          </a:prstGeom>
          <a:ln/>
        </p:spPr>
      </p:pic>
      <p:sp>
        <p:nvSpPr>
          <p:cNvPr id="21" name="TextBox 20"/>
          <p:cNvSpPr txBox="1"/>
          <p:nvPr/>
        </p:nvSpPr>
        <p:spPr>
          <a:xfrm>
            <a:off x="819302" y="3400654"/>
            <a:ext cx="4181551" cy="210312"/>
          </a:xfrm>
          <a:prstGeom prst="rect">
            <a:avLst/>
          </a:prstGeom>
          <a:noFill/>
          <a:ln/>
        </p:spPr>
        <p:txBody>
          <a:bodyPr wrap="square" lIns="0" rIns="0" tIns="0" bIns="0">
            <a:noAutofit/>
          </a:bodyPr>
          <a:lstStyle/>
          <a:p>
            <a:r>
              <a:rPr sz="1000" b="1">
                <a:solidFill>
                  <a:srgbClr val="1D1D1F"/>
                </a:solidFill>
                <a:latin typeface="Noto Sans JP"/>
              </a:rPr>
              <a:t>Qwen2.5 Instruct:</a:t>
            </a:r>
            <a:r>
              <a:rPr sz="1000">
                <a:solidFill>
                  <a:srgbClr val="424245"/>
                </a:solidFill>
                <a:latin typeface="Noto Sans JP"/>
              </a:rPr>
              <a:t> 0.5〜72B。幅広いサイズ展開と高性能。</a:t>
            </a:r>
          </a:p>
        </p:txBody>
      </p:sp>
      <p:pic>
        <p:nvPicPr>
          <p:cNvPr id="22" name="Picture 21" descr="image.png"/>
          <p:cNvPicPr>
            <a:picLocks noChangeAspect="1"/>
          </p:cNvPicPr>
          <p:nvPr/>
        </p:nvPicPr>
        <p:blipFill>
          <a:blip r:embed="rId6"/>
          <a:stretch>
            <a:fillRect/>
          </a:stretch>
        </p:blipFill>
        <p:spPr>
          <a:xfrm>
            <a:off x="4451299" y="3429000"/>
            <a:ext cx="437998" cy="181051"/>
          </a:xfrm>
          <a:prstGeom prst="rect">
            <a:avLst/>
          </a:prstGeom>
          <a:ln/>
        </p:spPr>
      </p:pic>
      <p:sp>
        <p:nvSpPr>
          <p:cNvPr id="23" name="TextBox 22"/>
          <p:cNvSpPr txBox="1"/>
          <p:nvPr/>
        </p:nvSpPr>
        <p:spPr>
          <a:xfrm>
            <a:off x="4451299" y="3429000"/>
            <a:ext cx="43891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[32-33]</a:t>
            </a:r>
          </a:p>
        </p:txBody>
      </p:sp>
      <p:pic>
        <p:nvPicPr>
          <p:cNvPr id="24" name="Picture 23" descr="image.png"/>
          <p:cNvPicPr>
            <a:picLocks noChangeAspect="1"/>
          </p:cNvPicPr>
          <p:nvPr/>
        </p:nvPicPr>
        <p:blipFill>
          <a:blip r:embed="rId5"/>
          <a:stretch>
            <a:fillRect/>
          </a:stretch>
        </p:blipFill>
        <p:spPr>
          <a:xfrm>
            <a:off x="657454" y="3681374"/>
            <a:ext cx="85953" cy="95098"/>
          </a:xfrm>
          <a:prstGeom prst="rect">
            <a:avLst/>
          </a:prstGeom>
          <a:ln/>
        </p:spPr>
      </p:pic>
      <p:sp>
        <p:nvSpPr>
          <p:cNvPr id="25" name="TextBox 24"/>
          <p:cNvSpPr txBox="1"/>
          <p:nvPr/>
        </p:nvSpPr>
        <p:spPr>
          <a:xfrm>
            <a:off x="819302" y="3681374"/>
            <a:ext cx="4476902" cy="210312"/>
          </a:xfrm>
          <a:prstGeom prst="rect">
            <a:avLst/>
          </a:prstGeom>
          <a:noFill/>
          <a:ln/>
        </p:spPr>
        <p:txBody>
          <a:bodyPr wrap="square" lIns="0" rIns="0" tIns="0" bIns="0">
            <a:noAutofit/>
          </a:bodyPr>
          <a:lstStyle/>
          <a:p>
            <a:r>
              <a:rPr sz="1000" b="1">
                <a:solidFill>
                  <a:srgbClr val="1D1D1F"/>
                </a:solidFill>
                <a:latin typeface="Noto Sans JP"/>
              </a:rPr>
              <a:t>Gemma 2:</a:t>
            </a:r>
            <a:r>
              <a:rPr sz="1000">
                <a:solidFill>
                  <a:srgbClr val="424245"/>
                </a:solidFill>
                <a:latin typeface="Noto Sans JP"/>
              </a:rPr>
              <a:t> 2B/9B/27B。9Bがローカル向き。責任ある利用を明示。</a:t>
            </a:r>
          </a:p>
        </p:txBody>
      </p:sp>
      <p:pic>
        <p:nvPicPr>
          <p:cNvPr id="26" name="Picture 25" descr="image.png"/>
          <p:cNvPicPr>
            <a:picLocks noChangeAspect="1"/>
          </p:cNvPicPr>
          <p:nvPr/>
        </p:nvPicPr>
        <p:blipFill>
          <a:blip r:embed="rId7"/>
          <a:stretch>
            <a:fillRect/>
          </a:stretch>
        </p:blipFill>
        <p:spPr>
          <a:xfrm>
            <a:off x="4891126" y="3709721"/>
            <a:ext cx="286206" cy="181051"/>
          </a:xfrm>
          <a:prstGeom prst="rect">
            <a:avLst/>
          </a:prstGeom>
          <a:ln/>
        </p:spPr>
      </p:pic>
      <p:sp>
        <p:nvSpPr>
          <p:cNvPr id="27" name="TextBox 26"/>
          <p:cNvSpPr txBox="1"/>
          <p:nvPr/>
        </p:nvSpPr>
        <p:spPr>
          <a:xfrm>
            <a:off x="4891126" y="3709721"/>
            <a:ext cx="286206"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[35]</a:t>
            </a:r>
          </a:p>
        </p:txBody>
      </p:sp>
      <p:pic>
        <p:nvPicPr>
          <p:cNvPr id="28" name="Picture 27" descr="image.png"/>
          <p:cNvPicPr>
            <a:picLocks noChangeAspect="1"/>
          </p:cNvPicPr>
          <p:nvPr/>
        </p:nvPicPr>
        <p:blipFill>
          <a:blip r:embed="rId5"/>
          <a:stretch>
            <a:fillRect/>
          </a:stretch>
        </p:blipFill>
        <p:spPr>
          <a:xfrm>
            <a:off x="657454" y="3962095"/>
            <a:ext cx="85953" cy="95098"/>
          </a:xfrm>
          <a:prstGeom prst="rect">
            <a:avLst/>
          </a:prstGeom>
          <a:ln/>
        </p:spPr>
      </p:pic>
      <p:sp>
        <p:nvSpPr>
          <p:cNvPr id="29" name="TextBox 28"/>
          <p:cNvSpPr txBox="1"/>
          <p:nvPr/>
        </p:nvSpPr>
        <p:spPr>
          <a:xfrm>
            <a:off x="819302" y="3962095"/>
            <a:ext cx="3915460" cy="210312"/>
          </a:xfrm>
          <a:prstGeom prst="rect">
            <a:avLst/>
          </a:prstGeom>
          <a:noFill/>
          <a:ln/>
        </p:spPr>
        <p:txBody>
          <a:bodyPr wrap="square" lIns="0" rIns="0" tIns="0" bIns="0">
            <a:noAutofit/>
          </a:bodyPr>
          <a:lstStyle/>
          <a:p>
            <a:r>
              <a:rPr sz="1000" b="1">
                <a:solidFill>
                  <a:srgbClr val="1D1D1F"/>
                </a:solidFill>
                <a:latin typeface="Noto Sans JP"/>
              </a:rPr>
              <a:t>Mixtral 8x7B:</a:t>
            </a:r>
            <a:r>
              <a:rPr sz="1000">
                <a:solidFill>
                  <a:srgbClr val="424245"/>
                </a:solidFill>
                <a:latin typeface="Noto Sans JP"/>
              </a:rPr>
              <a:t> MoE構成。Llama2 70B超の性能を標榜。</a:t>
            </a:r>
          </a:p>
        </p:txBody>
      </p:sp>
      <p:pic>
        <p:nvPicPr>
          <p:cNvPr id="30" name="Picture 29" descr="image.png"/>
          <p:cNvPicPr>
            <a:picLocks noChangeAspect="1"/>
          </p:cNvPicPr>
          <p:nvPr/>
        </p:nvPicPr>
        <p:blipFill>
          <a:blip r:embed="rId6"/>
          <a:stretch>
            <a:fillRect/>
          </a:stretch>
        </p:blipFill>
        <p:spPr>
          <a:xfrm>
            <a:off x="4177894" y="3990441"/>
            <a:ext cx="437998" cy="181051"/>
          </a:xfrm>
          <a:prstGeom prst="rect">
            <a:avLst/>
          </a:prstGeom>
          <a:ln/>
        </p:spPr>
      </p:pic>
      <p:sp>
        <p:nvSpPr>
          <p:cNvPr id="31" name="TextBox 30"/>
          <p:cNvSpPr txBox="1"/>
          <p:nvPr/>
        </p:nvSpPr>
        <p:spPr>
          <a:xfrm>
            <a:off x="4177894" y="3990441"/>
            <a:ext cx="43891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[36-37]</a:t>
            </a:r>
          </a:p>
        </p:txBody>
      </p:sp>
      <p:pic>
        <p:nvPicPr>
          <p:cNvPr id="32" name="Picture 31" descr="image.png"/>
          <p:cNvPicPr>
            <a:picLocks noChangeAspect="1"/>
          </p:cNvPicPr>
          <p:nvPr/>
        </p:nvPicPr>
        <p:blipFill>
          <a:blip r:embed="rId5"/>
          <a:stretch>
            <a:fillRect/>
          </a:stretch>
        </p:blipFill>
        <p:spPr>
          <a:xfrm>
            <a:off x="657454" y="4242816"/>
            <a:ext cx="85953" cy="95098"/>
          </a:xfrm>
          <a:prstGeom prst="rect">
            <a:avLst/>
          </a:prstGeom>
          <a:ln/>
        </p:spPr>
      </p:pic>
      <p:sp>
        <p:nvSpPr>
          <p:cNvPr id="33" name="TextBox 32"/>
          <p:cNvSpPr txBox="1"/>
          <p:nvPr/>
        </p:nvSpPr>
        <p:spPr>
          <a:xfrm>
            <a:off x="819302" y="4242816"/>
            <a:ext cx="4067251" cy="210312"/>
          </a:xfrm>
          <a:prstGeom prst="rect">
            <a:avLst/>
          </a:prstGeom>
          <a:noFill/>
          <a:ln/>
        </p:spPr>
        <p:txBody>
          <a:bodyPr wrap="square" lIns="0" rIns="0" tIns="0" bIns="0">
            <a:noAutofit/>
          </a:bodyPr>
          <a:lstStyle/>
          <a:p>
            <a:r>
              <a:rPr sz="1000" b="1">
                <a:solidFill>
                  <a:srgbClr val="1D1D1F"/>
                </a:solidFill>
                <a:latin typeface="Noto Sans JP"/>
              </a:rPr>
              <a:t>Phi-3 Mini:</a:t>
            </a:r>
            <a:r>
              <a:rPr sz="1000">
                <a:solidFill>
                  <a:srgbClr val="424245"/>
                </a:solidFill>
                <a:latin typeface="Noto Sans JP"/>
              </a:rPr>
              <a:t> 3.8B (128k)。軽量かつ長文対応（KV設計必須）。</a:t>
            </a:r>
          </a:p>
        </p:txBody>
      </p:sp>
      <p:pic>
        <p:nvPicPr>
          <p:cNvPr id="34" name="Picture 33" descr="image.png"/>
          <p:cNvPicPr>
            <a:picLocks noChangeAspect="1"/>
          </p:cNvPicPr>
          <p:nvPr/>
        </p:nvPicPr>
        <p:blipFill>
          <a:blip r:embed="rId7"/>
          <a:stretch>
            <a:fillRect/>
          </a:stretch>
        </p:blipFill>
        <p:spPr>
          <a:xfrm>
            <a:off x="4487875" y="4270248"/>
            <a:ext cx="286206" cy="181051"/>
          </a:xfrm>
          <a:prstGeom prst="rect">
            <a:avLst/>
          </a:prstGeom>
          <a:ln/>
        </p:spPr>
      </p:pic>
      <p:sp>
        <p:nvSpPr>
          <p:cNvPr id="35" name="TextBox 34"/>
          <p:cNvSpPr txBox="1"/>
          <p:nvPr/>
        </p:nvSpPr>
        <p:spPr>
          <a:xfrm>
            <a:off x="4487875" y="4270248"/>
            <a:ext cx="286206"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[38]</a:t>
            </a:r>
          </a:p>
        </p:txBody>
      </p:sp>
      <p:pic>
        <p:nvPicPr>
          <p:cNvPr id="36" name="Picture 35" descr="image.png"/>
          <p:cNvPicPr>
            <a:picLocks noChangeAspect="1"/>
          </p:cNvPicPr>
          <p:nvPr/>
        </p:nvPicPr>
        <p:blipFill>
          <a:blip r:embed="rId5"/>
          <a:stretch>
            <a:fillRect/>
          </a:stretch>
        </p:blipFill>
        <p:spPr>
          <a:xfrm>
            <a:off x="657454" y="4522622"/>
            <a:ext cx="85953" cy="95098"/>
          </a:xfrm>
          <a:prstGeom prst="rect">
            <a:avLst/>
          </a:prstGeom>
          <a:ln/>
        </p:spPr>
      </p:pic>
      <p:sp>
        <p:nvSpPr>
          <p:cNvPr id="37" name="TextBox 36"/>
          <p:cNvSpPr txBox="1"/>
          <p:nvPr/>
        </p:nvSpPr>
        <p:spPr>
          <a:xfrm>
            <a:off x="819302" y="4522622"/>
            <a:ext cx="4372661" cy="210312"/>
          </a:xfrm>
          <a:prstGeom prst="rect">
            <a:avLst/>
          </a:prstGeom>
          <a:noFill/>
          <a:ln/>
        </p:spPr>
        <p:txBody>
          <a:bodyPr wrap="square" lIns="0" rIns="0" tIns="0" bIns="0">
            <a:noAutofit/>
          </a:bodyPr>
          <a:lstStyle/>
          <a:p>
            <a:r>
              <a:rPr sz="1000" b="1">
                <a:solidFill>
                  <a:srgbClr val="1D1D1F"/>
                </a:solidFill>
                <a:latin typeface="Noto Sans JP"/>
              </a:rPr>
              <a:t>Phi-4:</a:t>
            </a:r>
            <a:r>
              <a:rPr sz="1000">
                <a:solidFill>
                  <a:srgbClr val="424245"/>
                </a:solidFill>
                <a:latin typeface="Noto Sans JP"/>
              </a:rPr>
              <a:t> 14B。合成データ活用で高品質。ローカル上位ライン。</a:t>
            </a:r>
          </a:p>
        </p:txBody>
      </p:sp>
      <p:pic>
        <p:nvPicPr>
          <p:cNvPr id="38" name="Picture 37" descr="image.png"/>
          <p:cNvPicPr>
            <a:picLocks noChangeAspect="1"/>
          </p:cNvPicPr>
          <p:nvPr/>
        </p:nvPicPr>
        <p:blipFill>
          <a:blip r:embed="rId6"/>
          <a:stretch>
            <a:fillRect/>
          </a:stretch>
        </p:blipFill>
        <p:spPr>
          <a:xfrm>
            <a:off x="4561027" y="4550969"/>
            <a:ext cx="437998" cy="181051"/>
          </a:xfrm>
          <a:prstGeom prst="rect">
            <a:avLst/>
          </a:prstGeom>
          <a:ln/>
        </p:spPr>
      </p:pic>
      <p:sp>
        <p:nvSpPr>
          <p:cNvPr id="39" name="TextBox 38"/>
          <p:cNvSpPr txBox="1"/>
          <p:nvPr/>
        </p:nvSpPr>
        <p:spPr>
          <a:xfrm>
            <a:off x="4561027" y="4550969"/>
            <a:ext cx="43891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[39-40]</a:t>
            </a:r>
          </a:p>
        </p:txBody>
      </p:sp>
      <p:pic>
        <p:nvPicPr>
          <p:cNvPr id="40" name="Picture 39" descr="image.png"/>
          <p:cNvPicPr>
            <a:picLocks noChangeAspect="1"/>
          </p:cNvPicPr>
          <p:nvPr/>
        </p:nvPicPr>
        <p:blipFill>
          <a:blip r:embed="rId5"/>
          <a:stretch>
            <a:fillRect/>
          </a:stretch>
        </p:blipFill>
        <p:spPr>
          <a:xfrm>
            <a:off x="657454" y="4803343"/>
            <a:ext cx="85953" cy="95098"/>
          </a:xfrm>
          <a:prstGeom prst="rect">
            <a:avLst/>
          </a:prstGeom>
          <a:ln/>
        </p:spPr>
      </p:pic>
      <p:sp>
        <p:nvSpPr>
          <p:cNvPr id="41" name="TextBox 40"/>
          <p:cNvSpPr txBox="1"/>
          <p:nvPr/>
        </p:nvSpPr>
        <p:spPr>
          <a:xfrm>
            <a:off x="819302" y="4803343"/>
            <a:ext cx="3448202" cy="210312"/>
          </a:xfrm>
          <a:prstGeom prst="rect">
            <a:avLst/>
          </a:prstGeom>
          <a:noFill/>
          <a:ln/>
        </p:spPr>
        <p:txBody>
          <a:bodyPr wrap="square" lIns="0" rIns="0" tIns="0" bIns="0">
            <a:noAutofit/>
          </a:bodyPr>
          <a:lstStyle/>
          <a:p>
            <a:r>
              <a:rPr sz="1000" b="1">
                <a:solidFill>
                  <a:srgbClr val="1D1D1F"/>
                </a:solidFill>
                <a:latin typeface="Noto Sans JP"/>
              </a:rPr>
              <a:t>gpt-oss:</a:t>
            </a:r>
            <a:r>
              <a:rPr sz="1000">
                <a:solidFill>
                  <a:srgbClr val="424245"/>
                </a:solidFill>
                <a:latin typeface="Noto Sans JP"/>
              </a:rPr>
              <a:t> 20B/120B。ツール呼び出しガイド充実。</a:t>
            </a:r>
          </a:p>
        </p:txBody>
      </p:sp>
      <p:pic>
        <p:nvPicPr>
          <p:cNvPr id="42" name="Picture 41" descr="image.png"/>
          <p:cNvPicPr>
            <a:picLocks noChangeAspect="1"/>
          </p:cNvPicPr>
          <p:nvPr/>
        </p:nvPicPr>
        <p:blipFill>
          <a:blip r:embed="rId7"/>
          <a:stretch>
            <a:fillRect/>
          </a:stretch>
        </p:blipFill>
        <p:spPr>
          <a:xfrm>
            <a:off x="3861510" y="4831690"/>
            <a:ext cx="286206" cy="181051"/>
          </a:xfrm>
          <a:prstGeom prst="rect">
            <a:avLst/>
          </a:prstGeom>
          <a:ln/>
        </p:spPr>
      </p:pic>
      <p:sp>
        <p:nvSpPr>
          <p:cNvPr id="43" name="TextBox 42"/>
          <p:cNvSpPr txBox="1"/>
          <p:nvPr/>
        </p:nvSpPr>
        <p:spPr>
          <a:xfrm>
            <a:off x="3861510" y="4831690"/>
            <a:ext cx="286206"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[41]</a:t>
            </a:r>
          </a:p>
        </p:txBody>
      </p:sp>
      <p:pic>
        <p:nvPicPr>
          <p:cNvPr id="44" name="Picture 43" descr="image.png"/>
          <p:cNvPicPr>
            <a:picLocks noChangeAspect="1"/>
          </p:cNvPicPr>
          <p:nvPr/>
        </p:nvPicPr>
        <p:blipFill>
          <a:blip r:embed="rId8"/>
          <a:stretch>
            <a:fillRect/>
          </a:stretch>
        </p:blipFill>
        <p:spPr>
          <a:xfrm>
            <a:off x="657454" y="4661611"/>
            <a:ext cx="847649" cy="209398"/>
          </a:xfrm>
          <a:prstGeom prst="rect">
            <a:avLst/>
          </a:prstGeom>
          <a:ln/>
        </p:spPr>
      </p:pic>
      <p:sp>
        <p:nvSpPr>
          <p:cNvPr id="45" name="TextBox 44"/>
          <p:cNvSpPr txBox="1"/>
          <p:nvPr/>
        </p:nvSpPr>
        <p:spPr>
          <a:xfrm>
            <a:off x="657454" y="4661611"/>
            <a:ext cx="848563" cy="210312"/>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Weights 4bit</a:t>
            </a:r>
          </a:p>
        </p:txBody>
      </p:sp>
      <p:pic>
        <p:nvPicPr>
          <p:cNvPr id="46" name="Picture 45" descr="image.png"/>
          <p:cNvPicPr>
            <a:picLocks noChangeAspect="1"/>
          </p:cNvPicPr>
          <p:nvPr/>
        </p:nvPicPr>
        <p:blipFill>
          <a:blip r:embed="rId9"/>
          <a:stretch>
            <a:fillRect/>
          </a:stretch>
        </p:blipFill>
        <p:spPr>
          <a:xfrm>
            <a:off x="1554480" y="4661611"/>
            <a:ext cx="466344" cy="209398"/>
          </a:xfrm>
          <a:prstGeom prst="rect">
            <a:avLst/>
          </a:prstGeom>
          <a:ln/>
        </p:spPr>
      </p:pic>
      <p:sp>
        <p:nvSpPr>
          <p:cNvPr id="47" name="TextBox 46"/>
          <p:cNvSpPr txBox="1"/>
          <p:nvPr/>
        </p:nvSpPr>
        <p:spPr>
          <a:xfrm>
            <a:off x="1554480" y="4661611"/>
            <a:ext cx="467257" cy="210312"/>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GGUF</a:t>
            </a:r>
          </a:p>
        </p:txBody>
      </p:sp>
      <p:pic>
        <p:nvPicPr>
          <p:cNvPr id="48" name="Picture 47" descr="image.png"/>
          <p:cNvPicPr>
            <a:picLocks noChangeAspect="1"/>
          </p:cNvPicPr>
          <p:nvPr/>
        </p:nvPicPr>
        <p:blipFill>
          <a:blip r:embed="rId10"/>
          <a:stretch>
            <a:fillRect/>
          </a:stretch>
        </p:blipFill>
        <p:spPr>
          <a:xfrm>
            <a:off x="2076601" y="4661611"/>
            <a:ext cx="418794" cy="209398"/>
          </a:xfrm>
          <a:prstGeom prst="rect">
            <a:avLst/>
          </a:prstGeom>
          <a:ln/>
        </p:spPr>
      </p:pic>
      <p:sp>
        <p:nvSpPr>
          <p:cNvPr id="49" name="TextBox 48"/>
          <p:cNvSpPr txBox="1"/>
          <p:nvPr/>
        </p:nvSpPr>
        <p:spPr>
          <a:xfrm>
            <a:off x="2076601" y="4661611"/>
            <a:ext cx="419710" cy="210312"/>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AWQ</a:t>
            </a:r>
          </a:p>
        </p:txBody>
      </p:sp>
      <p:sp>
        <p:nvSpPr>
          <p:cNvPr id="50" name="Rectangle 49"/>
          <p:cNvSpPr/>
          <p:nvPr/>
        </p:nvSpPr>
        <p:spPr>
          <a:xfrm>
            <a:off x="6210605" y="2453335"/>
            <a:ext cx="5524805"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1"/>
          <a:stretch>
            <a:fillRect/>
          </a:stretch>
        </p:blipFill>
        <p:spPr>
          <a:xfrm>
            <a:off x="6409944" y="2696566"/>
            <a:ext cx="171907" cy="171906"/>
          </a:xfrm>
          <a:prstGeom prst="rect">
            <a:avLst/>
          </a:prstGeom>
          <a:ln/>
        </p:spPr>
      </p:pic>
      <p:sp>
        <p:nvSpPr>
          <p:cNvPr id="53" name="TextBox 52"/>
          <p:cNvSpPr txBox="1"/>
          <p:nvPr/>
        </p:nvSpPr>
        <p:spPr>
          <a:xfrm>
            <a:off x="6676949" y="2653589"/>
            <a:ext cx="3162910" cy="352957"/>
          </a:xfrm>
          <a:prstGeom prst="rect">
            <a:avLst/>
          </a:prstGeom>
          <a:noFill/>
          <a:ln/>
        </p:spPr>
        <p:txBody>
          <a:bodyPr wrap="square" lIns="0" rIns="0" tIns="0" bIns="0">
            <a:noAutofit/>
          </a:bodyPr>
          <a:lstStyle/>
          <a:p>
            <a:r>
              <a:rPr sz="1300" b="1">
                <a:solidFill>
                  <a:srgbClr val="1D1D1F"/>
                </a:solidFill>
                <a:latin typeface="Noto Sans JP"/>
              </a:rPr>
              <a:t>実行環境と形式（Runtime &amp; Format）</a:t>
            </a:r>
          </a:p>
        </p:txBody>
      </p:sp>
      <p:pic>
        <p:nvPicPr>
          <p:cNvPr id="54" name="Picture 53" descr="image.png"/>
          <p:cNvPicPr>
            <a:picLocks noChangeAspect="1"/>
          </p:cNvPicPr>
          <p:nvPr/>
        </p:nvPicPr>
        <p:blipFill>
          <a:blip r:embed="rId12"/>
          <a:stretch>
            <a:fillRect/>
          </a:stretch>
        </p:blipFill>
        <p:spPr>
          <a:xfrm>
            <a:off x="6409944" y="3119933"/>
            <a:ext cx="105155" cy="95098"/>
          </a:xfrm>
          <a:prstGeom prst="rect">
            <a:avLst/>
          </a:prstGeom>
          <a:ln/>
        </p:spPr>
      </p:pic>
      <p:sp>
        <p:nvSpPr>
          <p:cNvPr id="55" name="TextBox 54"/>
          <p:cNvSpPr txBox="1"/>
          <p:nvPr/>
        </p:nvSpPr>
        <p:spPr>
          <a:xfrm>
            <a:off x="6590995" y="3320186"/>
            <a:ext cx="5020056" cy="409651"/>
          </a:xfrm>
          <a:prstGeom prst="rect">
            <a:avLst/>
          </a:prstGeom>
          <a:noFill/>
          <a:ln/>
        </p:spPr>
        <p:txBody>
          <a:bodyPr wrap="square" lIns="0" rIns="0" tIns="0" bIns="0">
            <a:noAutofit/>
          </a:bodyPr>
          <a:lstStyle/>
          <a:p>
            <a:r>
              <a:rPr sz="1000">
                <a:solidFill>
                  <a:srgbClr val="424245"/>
                </a:solidFill>
                <a:latin typeface="Noto Sans JP"/>
              </a:rPr>
              <a:t>クロスプラットフォーム標準。CPU/GPUハイブリッド実行が可能。GGUF形式が必須。</a:t>
            </a:r>
          </a:p>
        </p:txBody>
      </p:sp>
      <p:pic>
        <p:nvPicPr>
          <p:cNvPr id="56" name="Picture 55" descr="image.png"/>
          <p:cNvPicPr>
            <a:picLocks noChangeAspect="1"/>
          </p:cNvPicPr>
          <p:nvPr/>
        </p:nvPicPr>
        <p:blipFill>
          <a:blip r:embed="rId13"/>
          <a:stretch>
            <a:fillRect/>
          </a:stretch>
        </p:blipFill>
        <p:spPr>
          <a:xfrm>
            <a:off x="6896405" y="3548786"/>
            <a:ext cx="533094" cy="181051"/>
          </a:xfrm>
          <a:prstGeom prst="rect">
            <a:avLst/>
          </a:prstGeom>
          <a:ln/>
        </p:spPr>
      </p:pic>
      <p:sp>
        <p:nvSpPr>
          <p:cNvPr id="57" name="TextBox 56"/>
          <p:cNvSpPr txBox="1"/>
          <p:nvPr/>
        </p:nvSpPr>
        <p:spPr>
          <a:xfrm>
            <a:off x="6896405" y="3548786"/>
            <a:ext cx="534010"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[21][116]</a:t>
            </a:r>
          </a:p>
        </p:txBody>
      </p:sp>
      <p:pic>
        <p:nvPicPr>
          <p:cNvPr id="58" name="Picture 57" descr="image.png"/>
          <p:cNvPicPr>
            <a:picLocks noChangeAspect="1"/>
          </p:cNvPicPr>
          <p:nvPr/>
        </p:nvPicPr>
        <p:blipFill>
          <a:blip r:embed="rId14"/>
          <a:stretch>
            <a:fillRect/>
          </a:stretch>
        </p:blipFill>
        <p:spPr>
          <a:xfrm>
            <a:off x="6409944" y="3801160"/>
            <a:ext cx="75894" cy="95098"/>
          </a:xfrm>
          <a:prstGeom prst="rect">
            <a:avLst/>
          </a:prstGeom>
          <a:ln/>
        </p:spPr>
      </p:pic>
      <p:sp>
        <p:nvSpPr>
          <p:cNvPr id="59" name="TextBox 58"/>
          <p:cNvSpPr txBox="1"/>
          <p:nvPr/>
        </p:nvSpPr>
        <p:spPr>
          <a:xfrm>
            <a:off x="6562649" y="4000500"/>
            <a:ext cx="5048402" cy="409651"/>
          </a:xfrm>
          <a:prstGeom prst="rect">
            <a:avLst/>
          </a:prstGeom>
          <a:noFill/>
          <a:ln/>
        </p:spPr>
        <p:txBody>
          <a:bodyPr wrap="square" lIns="0" rIns="0" tIns="0" bIns="0">
            <a:noAutofit/>
          </a:bodyPr>
          <a:lstStyle/>
          <a:p>
            <a:r>
              <a:rPr sz="1000">
                <a:solidFill>
                  <a:srgbClr val="424245"/>
                </a:solidFill>
                <a:latin typeface="Noto Sans JP"/>
              </a:rPr>
              <a:t>MLX / MLX-LMによる変換・実行、またはGGUF (llama.cpp) が最適。Unified Memoryを活用。</a:t>
            </a:r>
          </a:p>
        </p:txBody>
      </p:sp>
      <p:pic>
        <p:nvPicPr>
          <p:cNvPr id="60" name="Picture 59" descr="image.png"/>
          <p:cNvPicPr>
            <a:picLocks noChangeAspect="1"/>
          </p:cNvPicPr>
          <p:nvPr/>
        </p:nvPicPr>
        <p:blipFill>
          <a:blip r:embed="rId13"/>
          <a:stretch>
            <a:fillRect/>
          </a:stretch>
        </p:blipFill>
        <p:spPr>
          <a:xfrm>
            <a:off x="7645297" y="4229100"/>
            <a:ext cx="533094" cy="181051"/>
          </a:xfrm>
          <a:prstGeom prst="rect">
            <a:avLst/>
          </a:prstGeom>
          <a:ln/>
        </p:spPr>
      </p:pic>
      <p:sp>
        <p:nvSpPr>
          <p:cNvPr id="61" name="TextBox 60"/>
          <p:cNvSpPr txBox="1"/>
          <p:nvPr/>
        </p:nvSpPr>
        <p:spPr>
          <a:xfrm>
            <a:off x="7645297" y="4229100"/>
            <a:ext cx="534010"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[22][120]</a:t>
            </a:r>
          </a:p>
        </p:txBody>
      </p:sp>
      <p:pic>
        <p:nvPicPr>
          <p:cNvPr id="62" name="Picture 61" descr="image.png"/>
          <p:cNvPicPr>
            <a:picLocks noChangeAspect="1"/>
          </p:cNvPicPr>
          <p:nvPr/>
        </p:nvPicPr>
        <p:blipFill>
          <a:blip r:embed="rId15"/>
          <a:stretch>
            <a:fillRect/>
          </a:stretch>
        </p:blipFill>
        <p:spPr>
          <a:xfrm>
            <a:off x="6409944" y="4481474"/>
            <a:ext cx="85953" cy="95098"/>
          </a:xfrm>
          <a:prstGeom prst="rect">
            <a:avLst/>
          </a:prstGeom>
          <a:ln/>
        </p:spPr>
      </p:pic>
      <p:sp>
        <p:nvSpPr>
          <p:cNvPr id="63" name="TextBox 62"/>
          <p:cNvSpPr txBox="1"/>
          <p:nvPr/>
        </p:nvSpPr>
        <p:spPr>
          <a:xfrm>
            <a:off x="6572707" y="4681728"/>
            <a:ext cx="5039258" cy="409651"/>
          </a:xfrm>
          <a:prstGeom prst="rect">
            <a:avLst/>
          </a:prstGeom>
          <a:noFill/>
          <a:ln/>
        </p:spPr>
        <p:txBody>
          <a:bodyPr wrap="square" lIns="0" rIns="0" tIns="0" bIns="0">
            <a:noAutofit/>
          </a:bodyPr>
          <a:lstStyle/>
          <a:p>
            <a:r>
              <a:rPr sz="1000">
                <a:solidFill>
                  <a:srgbClr val="424245"/>
                </a:solidFill>
                <a:latin typeface="Noto Sans JP"/>
              </a:rPr>
              <a:t>vLLM / ExLlamaV2 / AutoGPTQ等。GPU量子化形式（AWQ/GPTQ/EXL2）で高速推論。</a:t>
            </a:r>
          </a:p>
        </p:txBody>
      </p:sp>
      <p:pic>
        <p:nvPicPr>
          <p:cNvPr id="64" name="Picture 63" descr="image.png"/>
          <p:cNvPicPr>
            <a:picLocks noChangeAspect="1"/>
          </p:cNvPicPr>
          <p:nvPr/>
        </p:nvPicPr>
        <p:blipFill>
          <a:blip r:embed="rId13"/>
          <a:stretch>
            <a:fillRect/>
          </a:stretch>
        </p:blipFill>
        <p:spPr>
          <a:xfrm>
            <a:off x="6877202" y="4909414"/>
            <a:ext cx="533094" cy="181051"/>
          </a:xfrm>
          <a:prstGeom prst="rect">
            <a:avLst/>
          </a:prstGeom>
          <a:ln/>
        </p:spPr>
      </p:pic>
      <p:sp>
        <p:nvSpPr>
          <p:cNvPr id="65" name="TextBox 64"/>
          <p:cNvSpPr txBox="1"/>
          <p:nvPr/>
        </p:nvSpPr>
        <p:spPr>
          <a:xfrm>
            <a:off x="6877202" y="4909414"/>
            <a:ext cx="534010"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[87][121]</a:t>
            </a:r>
          </a:p>
        </p:txBody>
      </p:sp>
      <p:pic>
        <p:nvPicPr>
          <p:cNvPr id="66" name="Picture 65" descr="image.png"/>
          <p:cNvPicPr>
            <a:picLocks noChangeAspect="1"/>
          </p:cNvPicPr>
          <p:nvPr/>
        </p:nvPicPr>
        <p:blipFill>
          <a:blip r:embed="rId16"/>
          <a:stretch>
            <a:fillRect/>
          </a:stretch>
        </p:blipFill>
        <p:spPr>
          <a:xfrm>
            <a:off x="6409944" y="5161788"/>
            <a:ext cx="123444" cy="95098"/>
          </a:xfrm>
          <a:prstGeom prst="rect">
            <a:avLst/>
          </a:prstGeom>
          <a:ln/>
        </p:spPr>
      </p:pic>
      <p:sp>
        <p:nvSpPr>
          <p:cNvPr id="67" name="TextBox 66"/>
          <p:cNvSpPr txBox="1"/>
          <p:nvPr/>
        </p:nvSpPr>
        <p:spPr>
          <a:xfrm>
            <a:off x="6610197" y="5362042"/>
            <a:ext cx="4058106" cy="210312"/>
          </a:xfrm>
          <a:prstGeom prst="rect">
            <a:avLst/>
          </a:prstGeom>
          <a:noFill/>
          <a:ln/>
        </p:spPr>
        <p:txBody>
          <a:bodyPr wrap="square" lIns="0" rIns="0" tIns="0" bIns="0">
            <a:noAutofit/>
          </a:bodyPr>
          <a:lstStyle/>
          <a:p>
            <a:r>
              <a:rPr sz="1000">
                <a:solidFill>
                  <a:srgbClr val="424245"/>
                </a:solidFill>
                <a:latin typeface="Noto Sans JP"/>
              </a:rPr>
              <a:t>Ollama / LM StudioによるOpenAI互換API提供が実務的。</a:t>
            </a:r>
          </a:p>
        </p:txBody>
      </p:sp>
      <p:pic>
        <p:nvPicPr>
          <p:cNvPr id="68" name="Picture 67" descr="image.png"/>
          <p:cNvPicPr>
            <a:picLocks noChangeAspect="1"/>
          </p:cNvPicPr>
          <p:nvPr/>
        </p:nvPicPr>
        <p:blipFill>
          <a:blip r:embed="rId17"/>
          <a:stretch>
            <a:fillRect/>
          </a:stretch>
        </p:blipFill>
        <p:spPr>
          <a:xfrm>
            <a:off x="10084003" y="5390388"/>
            <a:ext cx="476402" cy="181051"/>
          </a:xfrm>
          <a:prstGeom prst="rect">
            <a:avLst/>
          </a:prstGeom>
          <a:ln/>
        </p:spPr>
      </p:pic>
      <p:sp>
        <p:nvSpPr>
          <p:cNvPr id="69" name="TextBox 68"/>
          <p:cNvSpPr txBox="1"/>
          <p:nvPr/>
        </p:nvSpPr>
        <p:spPr>
          <a:xfrm>
            <a:off x="10084003" y="5390388"/>
            <a:ext cx="47640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[23][41]</a:t>
            </a:r>
          </a:p>
        </p:txBody>
      </p:sp>
      <p:sp>
        <p:nvSpPr>
          <p:cNvPr id="70" name="Rectangle 69"/>
          <p:cNvSpPr/>
          <p:nvPr/>
        </p:nvSpPr>
        <p:spPr>
          <a:xfrm>
            <a:off x="457200" y="5357470"/>
            <a:ext cx="11277295" cy="81930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8"/>
          <a:stretch>
            <a:fillRect/>
          </a:stretch>
        </p:blipFill>
        <p:spPr>
          <a:xfrm>
            <a:off x="619049" y="5500116"/>
            <a:ext cx="152704" cy="152705"/>
          </a:xfrm>
          <a:prstGeom prst="rect">
            <a:avLst/>
          </a:prstGeom>
          <a:ln/>
        </p:spPr>
      </p:pic>
      <p:sp>
        <p:nvSpPr>
          <p:cNvPr id="72" name="TextBox 71"/>
          <p:cNvSpPr txBox="1"/>
          <p:nvPr/>
        </p:nvSpPr>
        <p:spPr>
          <a:xfrm>
            <a:off x="886054" y="5480914"/>
            <a:ext cx="10801807" cy="181051"/>
          </a:xfrm>
          <a:prstGeom prst="rect">
            <a:avLst/>
          </a:prstGeom>
          <a:noFill/>
          <a:ln/>
        </p:spPr>
        <p:txBody>
          <a:bodyPr wrap="square" lIns="0" rIns="0" tIns="0" bIns="0">
            <a:noAutofit/>
          </a:bodyPr>
          <a:lstStyle/>
          <a:p>
            <a:r>
              <a:rPr sz="900" b="1">
                <a:solidFill>
                  <a:srgbClr val="78350F"/>
                </a:solidFill>
                <a:latin typeface="Noto Sans JP"/>
              </a:rPr>
              <a:t>ライセンス注意（License Caution）</a:t>
            </a:r>
          </a:p>
        </p:txBody>
      </p:sp>
      <p:sp>
        <p:nvSpPr>
          <p:cNvPr id="73" name="TextBox 72"/>
          <p:cNvSpPr txBox="1"/>
          <p:nvPr/>
        </p:nvSpPr>
        <p:spPr>
          <a:xfrm>
            <a:off x="886054" y="5692140"/>
            <a:ext cx="10763402" cy="362101"/>
          </a:xfrm>
          <a:prstGeom prst="rect">
            <a:avLst/>
          </a:prstGeom>
          <a:noFill/>
          <a:ln/>
        </p:spPr>
        <p:txBody>
          <a:bodyPr wrap="square" lIns="0" rIns="0" tIns="0" bIns="0">
            <a:noAutofit/>
          </a:bodyPr>
          <a:lstStyle/>
          <a:p>
            <a:r>
              <a:rPr sz="900">
                <a:solidFill>
                  <a:srgbClr val="78350F"/>
                </a:solidFill>
                <a:latin typeface="Noto Sans JP"/>
              </a:rPr>
              <a:t>モデルファミリー内でもサイズやバージョンによりライセンス条件が異なる場合があります（例：Qwen2.5の一部例外など）。採用時は必ず各モデルカードおよび公式ブログの最新条件を確認してください。</a:t>
            </a:r>
          </a:p>
        </p:txBody>
      </p:sp>
      <p:pic>
        <p:nvPicPr>
          <p:cNvPr id="74" name="Picture 73" descr="image.png"/>
          <p:cNvPicPr>
            <a:picLocks noChangeAspect="1"/>
          </p:cNvPicPr>
          <p:nvPr/>
        </p:nvPicPr>
        <p:blipFill>
          <a:blip r:embed="rId19"/>
          <a:stretch>
            <a:fillRect/>
          </a:stretch>
        </p:blipFill>
        <p:spPr>
          <a:xfrm>
            <a:off x="1783080" y="5882335"/>
            <a:ext cx="286206" cy="171906"/>
          </a:xfrm>
          <a:prstGeom prst="rect">
            <a:avLst/>
          </a:prstGeom>
          <a:ln/>
        </p:spPr>
      </p:pic>
      <p:sp>
        <p:nvSpPr>
          <p:cNvPr id="75" name="TextBox 74"/>
          <p:cNvSpPr txBox="1"/>
          <p:nvPr/>
        </p:nvSpPr>
        <p:spPr>
          <a:xfrm>
            <a:off x="1783080" y="5882335"/>
            <a:ext cx="286206" cy="171906"/>
          </a:xfrm>
          <a:prstGeom prst="rect">
            <a:avLst/>
          </a:prstGeom>
          <a:noFill/>
          <a:ln>
            <a:solidFill>
              <a:srgbClr val="FFFFFF"/>
            </a:solidFill>
          </a:ln>
        </p:spPr>
        <p:txBody>
          <a:bodyPr wrap="square" lIns="0" rIns="0" tIns="0" bIns="0">
            <a:noAutofit/>
          </a:bodyPr>
          <a:lstStyle/>
          <a:p>
            <a:r>
              <a:rPr sz="800">
                <a:solidFill>
                  <a:srgbClr val="6B7280"/>
                </a:solidFill>
                <a:latin typeface="Noto Sans JP"/>
              </a:rPr>
              <a:t>[33]</a:t>
            </a:r>
          </a:p>
        </p:txBody>
      </p:sp>
      <p:sp>
        <p:nvSpPr>
          <p:cNvPr id="76" name="Rectangle 75"/>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9" name="TextBox 78"/>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17 / 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3543300" cy="381305"/>
          </a:xfrm>
          <a:prstGeom prst="rect">
            <a:avLst/>
          </a:prstGeom>
          <a:noFill/>
          <a:ln/>
        </p:spPr>
        <p:txBody>
          <a:bodyPr wrap="square" lIns="0" rIns="0" tIns="0" bIns="0">
            <a:noAutofit/>
          </a:bodyPr>
          <a:lstStyle/>
          <a:p>
            <a:r>
              <a:rPr sz="2100" b="1">
                <a:solidFill>
                  <a:srgbClr val="FFFFFF"/>
                </a:solidFill>
                <a:latin typeface="Noto Sans JP"/>
              </a:rPr>
              <a:t>テキストLLM（完全版表1）</a:t>
            </a:r>
          </a:p>
        </p:txBody>
      </p:sp>
      <p:sp>
        <p:nvSpPr>
          <p:cNvPr id="8" name="TextBox 7"/>
          <p:cNvSpPr txBox="1"/>
          <p:nvPr/>
        </p:nvSpPr>
        <p:spPr>
          <a:xfrm>
            <a:off x="7297826" y="457200"/>
            <a:ext cx="5088636" cy="228600"/>
          </a:xfrm>
          <a:prstGeom prst="rect">
            <a:avLst/>
          </a:prstGeom>
          <a:noFill/>
          <a:ln/>
        </p:spPr>
        <p:txBody>
          <a:bodyPr wrap="square" lIns="0" rIns="0" tIns="0" bIns="0">
            <a:noAutofit/>
          </a:bodyPr>
          <a:lstStyle/>
          <a:p>
            <a:r>
              <a:rPr sz="1200">
                <a:solidFill>
                  <a:srgbClr val="A1A1A6"/>
                </a:solidFill>
                <a:latin typeface="Noto Sans JP"/>
              </a:rPr>
              <a:t>主要モデル詳細比較：Llama 3.1 / Qwen2.5 / Gemma 2 / Mixtral</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5824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11648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116482">
                <a:tc>
                  <a:txBody>
                    <a:bodyPr/>
                    <a:lstStyle/>
                    <a:p>
                      <a:r>
                        <a:t>Llama 3.1 Instruct</a:t>
                      </a:r>
                    </a:p>
                    <a:p>
                      <a:r>
                        <a:t>Meta[29-31]</a:t>
                      </a:r>
                    </a:p>
                  </a:txBody>
                  <a:tcPr/>
                </a:tc>
                <a:tc>
                  <a:txBody>
                    <a:bodyPr/>
                    <a:lstStyle/>
                    <a:p>
                      <a:r>
                        <a:t>8B</a:t>
                      </a:r>
                    </a:p>
                    <a:p>
                      <a:r>
                        <a:t>70B</a:t>
                      </a:r>
                    </a:p>
                    <a:p>
                      <a:r>
                        <a:t>405B</a:t>
                      </a:r>
                    </a:p>
                  </a:txBody>
                  <a:tcPr/>
                </a:tc>
                <a:tc>
                  <a:txBody>
                    <a:bodyPr/>
                    <a:lstStyle/>
                    <a:p>
                      <a:r>
                        <a:t>4bit中心</a:t>
                      </a:r>
                    </a:p>
                    <a:p>
                      <a:r>
                        <a:t>(GGUF等)</a:t>
                      </a:r>
                    </a:p>
                    <a:p>
                      <a:r>
                        <a:t>※方式は環境依存</a:t>
                      </a:r>
                    </a:p>
                  </a:txBody>
                  <a:tcPr/>
                </a:tc>
                <a:tc>
                  <a:txBody>
                    <a:bodyPr/>
                    <a:lstStyle/>
                    <a:p>
                      <a:r>
                        <a:t>得意多言語対話最適化を明記</a:t>
                      </a:r>
                    </a:p>
                    <a:p>
                      <a:r>
                        <a:t>得意大規模は品質が出るがローカルはハード制約</a:t>
                      </a:r>
                    </a:p>
                    <a:p>
                      <a:r>
                        <a:t>[30]</a:t>
                      </a:r>
                    </a:p>
                  </a:txBody>
                  <a:tcPr/>
                </a:tc>
                <a:tc>
                  <a:txBody>
                    <a:bodyPr/>
                    <a:lstStyle/>
                    <a:p>
                      <a:r>
                        <a:t>Mac: GGUF / MLX変換</a:t>
                      </a:r>
                    </a:p>
                    <a:p>
                      <a:r>
                        <a:t>Win: GGUF / 各GPUランタイム（形式依存）</a:t>
                      </a:r>
                    </a:p>
                  </a:txBody>
                  <a:tcPr/>
                </a:tc>
                <a:tc>
                  <a:txBody>
                    <a:bodyPr/>
                    <a:lstStyle/>
                    <a:p>
                      <a:r>
                        <a:t>Riskコミュニティライセンス系で用途制約の精査が必要[31]</a:t>
                      </a:r>
                    </a:p>
                  </a:txBody>
                  <a:tcPr/>
                </a:tc>
              </a:tr>
              <a:tr h="1116482">
                <a:tc>
                  <a:txBody>
                    <a:bodyPr/>
                    <a:lstStyle/>
                    <a:p>
                      <a:r>
                        <a:t>Qwen2.5 Instruct</a:t>
                      </a:r>
                    </a:p>
                    <a:p>
                      <a:r>
                        <a:t>Alibaba[32-33]</a:t>
                      </a:r>
                    </a:p>
                  </a:txBody>
                  <a:tcPr/>
                </a:tc>
                <a:tc>
                  <a:txBody>
                    <a:bodyPr/>
                    <a:lstStyle/>
                    <a:p>
                      <a:r>
                        <a:t>0.5B</a:t>
                      </a:r>
                    </a:p>
                    <a:p>
                      <a:r>
                        <a:t>〜</a:t>
                      </a:r>
                    </a:p>
                    <a:p>
                      <a:r>
                        <a:t>72B</a:t>
                      </a:r>
                    </a:p>
                  </a:txBody>
                  <a:tcPr/>
                </a:tc>
                <a:tc>
                  <a:txBody>
                    <a:bodyPr/>
                    <a:lstStyle/>
                    <a:p>
                      <a:r>
                        <a:t>小〜中は4bit</a:t>
                      </a:r>
                    </a:p>
                    <a:p>
                      <a:r>
                        <a:t>(GGUF/他)でローカル向き</a:t>
                      </a:r>
                    </a:p>
                    <a:p>
                      <a:r>
                        <a:t>72Bは上位ハード前提</a:t>
                      </a:r>
                    </a:p>
                  </a:txBody>
                  <a:tcPr/>
                </a:tc>
                <a:tc>
                  <a:txBody>
                    <a:bodyPr/>
                    <a:lstStyle/>
                    <a:p>
                      <a:r>
                        <a:t>得意幅広いサイズ展開を明記</a:t>
                      </a:r>
                    </a:p>
                    <a:p>
                      <a:r>
                        <a:t>得意ライセンスはサイズにより差がある旨を公式ブログで明記[33]</a:t>
                      </a:r>
                    </a:p>
                  </a:txBody>
                  <a:tcPr/>
                </a:tc>
                <a:tc>
                  <a:txBody>
                    <a:bodyPr/>
                    <a:lstStyle/>
                    <a:p>
                      <a:r>
                        <a:t>Mac: GGUF / MLX</a:t>
                      </a:r>
                    </a:p>
                    <a:p>
                      <a:r>
                        <a:t>Win: GGUF / ExLlama / vLLM等（形式依存）</a:t>
                      </a:r>
                    </a:p>
                  </a:txBody>
                  <a:tcPr/>
                </a:tc>
                <a:tc>
                  <a:txBody>
                    <a:bodyPr/>
                    <a:lstStyle/>
                    <a:p>
                      <a:r>
                        <a:t>Risk「3B/72BはApache 2.0例外」といった条件差があるためリポジトリ個別確認必須[33]</a:t>
                      </a:r>
                    </a:p>
                  </a:txBody>
                  <a:tcPr/>
                </a:tc>
              </a:tr>
              <a:tr h="1116482">
                <a:tc>
                  <a:txBody>
                    <a:bodyPr/>
                    <a:lstStyle/>
                    <a:p>
                      <a:r>
                        <a:t>Gemma 2</a:t>
                      </a:r>
                    </a:p>
                    <a:p>
                      <a:r>
                        <a:t>Google[35]</a:t>
                      </a:r>
                    </a:p>
                  </a:txBody>
                  <a:tcPr/>
                </a:tc>
                <a:tc>
                  <a:txBody>
                    <a:bodyPr/>
                    <a:lstStyle/>
                    <a:p>
                      <a:r>
                        <a:t>2B</a:t>
                      </a:r>
                    </a:p>
                    <a:p>
                      <a:r>
                        <a:t>9B</a:t>
                      </a:r>
                    </a:p>
                    <a:p>
                      <a:r>
                        <a:t>27B</a:t>
                      </a:r>
                    </a:p>
                  </a:txBody>
                  <a:tcPr/>
                </a:tc>
                <a:tc>
                  <a:txBody>
                    <a:bodyPr/>
                    <a:lstStyle/>
                    <a:p>
                      <a:r>
                        <a:t>2B/9Bはローカル向き</a:t>
                      </a:r>
                    </a:p>
                    <a:p>
                      <a:r>
                        <a:t>27BはVRAM/メモリ要求増</a:t>
                      </a:r>
                    </a:p>
                  </a:txBody>
                  <a:tcPr/>
                </a:tc>
                <a:tc>
                  <a:txBody>
                    <a:bodyPr/>
                    <a:lstStyle/>
                    <a:p>
                      <a:r>
                        <a:t>得意モデルカード更新日が明示されており、責任ある利用を前提に整理されている[35]</a:t>
                      </a:r>
                    </a:p>
                  </a:txBody>
                  <a:tcPr/>
                </a:tc>
                <a:tc>
                  <a:txBody>
                    <a:bodyPr/>
                    <a:lstStyle/>
                    <a:p>
                      <a:r>
                        <a:t>Mac: MLX / GGUF変換</a:t>
                      </a:r>
                    </a:p>
                    <a:p>
                      <a:r>
                        <a:t>Win: GGUF / 各GPU</a:t>
                      </a:r>
                    </a:p>
                  </a:txBody>
                  <a:tcPr/>
                </a:tc>
                <a:tc>
                  <a:txBody>
                    <a:bodyPr/>
                    <a:lstStyle/>
                    <a:p>
                      <a:r>
                        <a:t>Risk“事実質問用途での誤生成”は一般に起こり得る（モデル一般リスク）</a:t>
                      </a:r>
                    </a:p>
                  </a:txBody>
                  <a:tcPr/>
                </a:tc>
              </a:tr>
              <a:tr h="1116483">
                <a:tc>
                  <a:txBody>
                    <a:bodyPr/>
                    <a:lstStyle/>
                    <a:p>
                      <a:r>
                        <a:t>Mixtral 8x7B</a:t>
                      </a:r>
                    </a:p>
                    <a:p>
                      <a:r>
                        <a:t>Mistral[36-37]</a:t>
                      </a:r>
                    </a:p>
                  </a:txBody>
                  <a:tcPr/>
                </a:tc>
                <a:tc>
                  <a:txBody>
                    <a:bodyPr/>
                    <a:lstStyle/>
                    <a:p>
                      <a:r>
                        <a:t>MoE</a:t>
                      </a:r>
                    </a:p>
                    <a:p>
                      <a:r>
                        <a:t>(8×7B)</a:t>
                      </a:r>
                    </a:p>
                  </a:txBody>
                  <a:tcPr/>
                </a:tc>
                <a:tc>
                  <a:txBody>
                    <a:bodyPr/>
                    <a:lstStyle/>
                    <a:p>
                      <a:r>
                        <a:t>GPU向けで真価が出やすい</a:t>
                      </a:r>
                    </a:p>
                    <a:p>
                      <a:r>
                        <a:t>（量子化/実装依存）</a:t>
                      </a:r>
                    </a:p>
                  </a:txBody>
                  <a:tcPr/>
                </a:tc>
                <a:tc>
                  <a:txBody>
                    <a:bodyPr/>
                    <a:lstStyle/>
                    <a:p>
                      <a:r>
                        <a:t>得意「Llama2 70Bを多くのベンチで上回る」等をモデル説明で明記[37]</a:t>
                      </a:r>
                    </a:p>
                  </a:txBody>
                  <a:tcPr/>
                </a:tc>
                <a:tc>
                  <a:txBody>
                    <a:bodyPr/>
                    <a:lstStyle/>
                    <a:p>
                      <a:r>
                        <a:t>Win GPU: 適合ランタイム（vLLM等）前提</a:t>
                      </a:r>
                    </a:p>
                    <a:p>
                      <a:r>
                        <a:t>Mac: 難易度高め</a:t>
                      </a:r>
                    </a:p>
                  </a:txBody>
                  <a:tcPr/>
                </a:tc>
                <a:tc>
                  <a:txBody>
                    <a:bodyPr/>
                    <a:lstStyle/>
                    <a:p>
                      <a:r>
                        <a:t>RiskMoEは実装・VRAM・スループットのブレが大きい</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ローカル実務のボリュームゾーンは7B〜14B級（4bit）です。3B級はハード制約時、32B以上は高品質要件時（メモリ増設前提）に選択します。ライセンスはファミリー内でも異なる場合があるため、必ず最新のモデルカードを確認してください。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18 | ローカルAI 技術調査レポート 2026</a:t>
            </a:r>
          </a:p>
        </p:txBody>
      </p:sp>
      <p:sp>
        <p:nvSpPr>
          <p:cNvPr id="19" name="TextBox 18"/>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[29-37]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3543300" cy="381305"/>
          </a:xfrm>
          <a:prstGeom prst="rect">
            <a:avLst/>
          </a:prstGeom>
          <a:noFill/>
          <a:ln/>
        </p:spPr>
        <p:txBody>
          <a:bodyPr wrap="square" lIns="0" rIns="0" tIns="0" bIns="0">
            <a:noAutofit/>
          </a:bodyPr>
          <a:lstStyle/>
          <a:p>
            <a:r>
              <a:rPr sz="2100" b="1">
                <a:solidFill>
                  <a:srgbClr val="FFFFFF"/>
                </a:solidFill>
                <a:latin typeface="Noto Sans JP"/>
              </a:rPr>
              <a:t>テキストLLM（完全版表2）</a:t>
            </a:r>
          </a:p>
        </p:txBody>
      </p:sp>
      <p:sp>
        <p:nvSpPr>
          <p:cNvPr id="8" name="TextBox 7"/>
          <p:cNvSpPr txBox="1"/>
          <p:nvPr/>
        </p:nvSpPr>
        <p:spPr>
          <a:xfrm>
            <a:off x="8325611" y="457200"/>
            <a:ext cx="4036162" cy="228600"/>
          </a:xfrm>
          <a:prstGeom prst="rect">
            <a:avLst/>
          </a:prstGeom>
          <a:noFill/>
          <a:ln/>
        </p:spPr>
        <p:txBody>
          <a:bodyPr wrap="square" lIns="0" rIns="0" tIns="0" bIns="0">
            <a:noAutofit/>
          </a:bodyPr>
          <a:lstStyle/>
          <a:p>
            <a:r>
              <a:rPr sz="1200">
                <a:solidFill>
                  <a:srgbClr val="A1A1A6"/>
                </a:solidFill>
                <a:latin typeface="Noto Sans JP"/>
              </a:rPr>
              <a:t>主要モデル詳細比較：Phi-3 Mini / Phi-4 / gpt-oss</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438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9246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8115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81151">
                <a:tc>
                  <a:txBody>
                    <a:bodyPr/>
                    <a:lstStyle/>
                    <a:p>
                      <a:r>
                        <a:t>Phi-3 Mini</a:t>
                      </a:r>
                    </a:p>
                    <a:p>
                      <a:r>
                        <a:t>Microsoft[38]</a:t>
                      </a:r>
                    </a:p>
                  </a:txBody>
                  <a:tcPr/>
                </a:tc>
                <a:tc>
                  <a:txBody>
                    <a:bodyPr/>
                    <a:lstStyle/>
                    <a:p>
                      <a:r>
                        <a:t>3.8B</a:t>
                      </a:r>
                    </a:p>
                  </a:txBody>
                  <a:tcPr/>
                </a:tc>
                <a:tc>
                  <a:txBody>
                    <a:bodyPr/>
                    <a:lstStyle/>
                    <a:p>
                      <a:r>
                        <a:t>4bitでローカル適性高い</a:t>
                      </a:r>
                    </a:p>
                    <a:p>
                      <a:r>
                        <a:t>長文版(128K)運用はKVが支配</a:t>
                      </a:r>
                    </a:p>
                  </a:txBody>
                  <a:tcPr/>
                </a:tc>
                <a:tc>
                  <a:txBody>
                    <a:bodyPr/>
                    <a:lstStyle/>
                    <a:p>
                      <a:r>
                        <a:t>得意「128K文脈」をうたうが長文はメモリ設計前提[38]</a:t>
                      </a:r>
                    </a:p>
                  </a:txBody>
                  <a:tcPr/>
                </a:tc>
                <a:tc>
                  <a:txBody>
                    <a:bodyPr/>
                    <a:lstStyle/>
                    <a:p>
                      <a:r>
                        <a:t>Mac/Win: 比較的回しやすい（形式依存）</a:t>
                      </a:r>
                    </a:p>
                  </a:txBody>
                  <a:tcPr/>
                </a:tc>
                <a:tc>
                  <a:txBody>
                    <a:bodyPr/>
                    <a:lstStyle/>
                    <a:p>
                      <a:r>
                        <a:t>Risk“小さい＝万能”ではなく、専門領域はRAG前提で補う判断</a:t>
                      </a:r>
                    </a:p>
                  </a:txBody>
                  <a:tcPr/>
                </a:tc>
              </a:tr>
              <a:tr h="981151">
                <a:tc>
                  <a:txBody>
                    <a:bodyPr/>
                    <a:lstStyle/>
                    <a:p>
                      <a:r>
                        <a:t>Phi-4</a:t>
                      </a:r>
                    </a:p>
                    <a:p>
                      <a:r>
                        <a:t>Microsoft[39-40]</a:t>
                      </a:r>
                    </a:p>
                  </a:txBody>
                  <a:tcPr/>
                </a:tc>
                <a:tc>
                  <a:txBody>
                    <a:bodyPr/>
                    <a:lstStyle/>
                    <a:p>
                      <a:r>
                        <a:t>14B</a:t>
                      </a:r>
                    </a:p>
                  </a:txBody>
                  <a:tcPr/>
                </a:tc>
                <a:tc>
                  <a:txBody>
                    <a:bodyPr/>
                    <a:lstStyle/>
                    <a:p>
                      <a:r>
                        <a:t>4bitでローカル上位ライン</a:t>
                      </a:r>
                    </a:p>
                    <a:p>
                      <a:r>
                        <a:t>（32GB級以上推奨）</a:t>
                      </a:r>
                    </a:p>
                  </a:txBody>
                  <a:tcPr/>
                </a:tc>
                <a:tc>
                  <a:txBody>
                    <a:bodyPr/>
                    <a:lstStyle/>
                    <a:p>
                      <a:r>
                        <a:t>得意データ品質重視・合成データ活用を明示[40]</a:t>
                      </a:r>
                    </a:p>
                  </a:txBody>
                  <a:tcPr/>
                </a:tc>
                <a:tc>
                  <a:txBody>
                    <a:bodyPr/>
                    <a:lstStyle/>
                    <a:p>
                      <a:r>
                        <a:t>Win GPU: 最適化次第</a:t>
                      </a:r>
                    </a:p>
                    <a:p>
                      <a:r>
                        <a:t>Mac: MLX / 変換次第</a:t>
                      </a:r>
                    </a:p>
                  </a:txBody>
                  <a:tcPr/>
                </a:tc>
                <a:tc>
                  <a:txBody>
                    <a:bodyPr/>
                    <a:lstStyle/>
                    <a:p>
                      <a:r>
                        <a:t>Risk14Bは“重いが現実的”の境界。KV/長文設計が重要</a:t>
                      </a:r>
                    </a:p>
                  </a:txBody>
                  <a:tcPr/>
                </a:tc>
              </a:tr>
              <a:tr h="981152">
                <a:tc>
                  <a:txBody>
                    <a:bodyPr/>
                    <a:lstStyle/>
                    <a:p>
                      <a:r>
                        <a:t>gpt-oss</a:t>
                      </a:r>
                    </a:p>
                    <a:p>
                      <a:r>
                        <a:t>OpenAI[41]</a:t>
                      </a:r>
                    </a:p>
                  </a:txBody>
                  <a:tcPr/>
                </a:tc>
                <a:tc>
                  <a:txBody>
                    <a:bodyPr/>
                    <a:lstStyle/>
                    <a:p>
                      <a:r>
                        <a:t>20B</a:t>
                      </a:r>
                    </a:p>
                    <a:p>
                      <a:r>
                        <a:t>120B</a:t>
                      </a:r>
                    </a:p>
                  </a:txBody>
                  <a:tcPr/>
                </a:tc>
                <a:tc>
                  <a:txBody>
                    <a:bodyPr/>
                    <a:lstStyle/>
                    <a:p>
                      <a:r>
                        <a:t>MXFP4量子化で出荷を明記</a:t>
                      </a:r>
                    </a:p>
                    <a:p>
                      <a:r>
                        <a:t>（他量子化なし）</a:t>
                      </a:r>
                    </a:p>
                  </a:txBody>
                  <a:tcPr/>
                </a:tc>
                <a:tc>
                  <a:txBody>
                    <a:bodyPr/>
                    <a:lstStyle/>
                    <a:p>
                      <a:r>
                        <a:t>得意ツール呼び出し・ローカルAPI利用までガイドあり[27]</a:t>
                      </a:r>
                    </a:p>
                  </a:txBody>
                  <a:tcPr/>
                </a:tc>
                <a:tc>
                  <a:txBody>
                    <a:bodyPr/>
                    <a:lstStyle/>
                    <a:p>
                      <a:r>
                        <a:t>Mac/Win: LM Studio / Ollamaで手順が提示される[41]</a:t>
                      </a:r>
                    </a:p>
                  </a:txBody>
                  <a:tcPr/>
                </a:tc>
                <a:tc>
                  <a:txBody>
                    <a:bodyPr/>
                    <a:lstStyle/>
                    <a:p>
                      <a:r>
                        <a:t>Risk20Bは16GB以上、120Bは60GB以上推奨を明記[41]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14Bクラス（Phi-4等）はローカル運用の「上位実用ライン」であり、32GB以上のメモリ環境が推奨されます。長文コンテキスト（128K等）を活用する場合は、モデルサイズだけでなくKVキャッシュのメモリ消費が支配的になるため、メモリ設計（KV量子化やコンテキスト長制限）が不可欠で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19 | ローカルAI 技術調査レポート 2026</a:t>
            </a:r>
          </a:p>
        </p:txBody>
      </p:sp>
      <p:sp>
        <p:nvSpPr>
          <p:cNvPr id="19" name="TextBox 18"/>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[38-41]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p:spPr>
      </p:pic>
      <p:sp>
        <p:nvSpPr>
          <p:cNvPr id="8" name="TextBox 7"/>
          <p:cNvSpPr txBox="1"/>
          <p:nvPr/>
        </p:nvSpPr>
        <p:spPr>
          <a:xfrm>
            <a:off x="809244" y="176479"/>
            <a:ext cx="3924605" cy="400507"/>
          </a:xfrm>
          <a:prstGeom prst="rect">
            <a:avLst/>
          </a:prstGeom>
          <a:noFill/>
          <a:ln/>
        </p:spPr>
        <p:txBody>
          <a:bodyPr wrap="square" lIns="0" rIns="0" tIns="0" bIns="0">
            <a:noAutofit/>
          </a:bodyPr>
          <a:lstStyle/>
          <a:p>
            <a:r>
              <a:rPr sz="2100" b="1">
                <a:solidFill>
                  <a:srgbClr val="1D1D1F"/>
                </a:solidFill>
                <a:latin typeface="Noto Sans JP"/>
              </a:rPr>
              <a:t>採用判断基準（テキストLLM）</a:t>
            </a:r>
          </a:p>
        </p:txBody>
      </p:sp>
      <p:sp>
        <p:nvSpPr>
          <p:cNvPr id="9" name="TextBox 8"/>
          <p:cNvSpPr txBox="1"/>
          <p:nvPr/>
        </p:nvSpPr>
        <p:spPr>
          <a:xfrm>
            <a:off x="9296705" y="261518"/>
            <a:ext cx="2638958" cy="228600"/>
          </a:xfrm>
          <a:prstGeom prst="rect">
            <a:avLst/>
          </a:prstGeom>
          <a:noFill/>
          <a:ln/>
        </p:spPr>
        <p:txBody>
          <a:bodyPr wrap="square" lIns="0" rIns="0" tIns="0" bIns="0">
            <a:noAutofit/>
          </a:bodyPr>
          <a:lstStyle/>
          <a:p>
            <a:r>
              <a:rPr sz="1200">
                <a:solidFill>
                  <a:srgbClr val="86868B"/>
                </a:solidFill>
                <a:latin typeface="Noto Sans JP"/>
              </a:rPr>
              <a:t>選定フローと実務上の重要ポイント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結論：モデル選定は「必要品質→許容レイテンシ→許容メモリ→形式→ランタイム」の順に行うのが、実務上最も破綻しにくいフローです。</a:t>
            </a:r>
          </a:p>
        </p:txBody>
      </p:sp>
      <p:sp>
        <p:nvSpPr>
          <p:cNvPr id="13" name="Rectangle 12"/>
          <p:cNvSpPr/>
          <p:nvPr/>
        </p:nvSpPr>
        <p:spPr>
          <a:xfrm>
            <a:off x="457200" y="2095805"/>
            <a:ext cx="11277295" cy="16194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82850"/>
            <a:ext cx="105156" cy="171906"/>
          </a:xfrm>
          <a:prstGeom prst="rect">
            <a:avLst/>
          </a:prstGeom>
          <a:ln/>
        </p:spPr>
      </p:pic>
      <p:pic>
        <p:nvPicPr>
          <p:cNvPr id="15" name="Picture 14" descr="image.png"/>
          <p:cNvPicPr>
            <a:picLocks noChangeAspect="1"/>
          </p:cNvPicPr>
          <p:nvPr/>
        </p:nvPicPr>
        <p:blipFill>
          <a:blip r:embed="rId4"/>
          <a:stretch>
            <a:fillRect/>
          </a:stretch>
        </p:blipFill>
        <p:spPr>
          <a:xfrm>
            <a:off x="4926787" y="2682850"/>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7160666" y="2682850"/>
            <a:ext cx="105155" cy="171906"/>
          </a:xfrm>
          <a:prstGeom prst="rect">
            <a:avLst/>
          </a:prstGeom>
          <a:ln/>
        </p:spPr>
      </p:pic>
      <p:pic>
        <p:nvPicPr>
          <p:cNvPr id="17" name="Picture 16" descr="image.png"/>
          <p:cNvPicPr>
            <a:picLocks noChangeAspect="1"/>
          </p:cNvPicPr>
          <p:nvPr/>
        </p:nvPicPr>
        <p:blipFill>
          <a:blip r:embed="rId4"/>
          <a:stretch>
            <a:fillRect/>
          </a:stretch>
        </p:blipFill>
        <p:spPr>
          <a:xfrm>
            <a:off x="9395460" y="2682850"/>
            <a:ext cx="105155" cy="171906"/>
          </a:xfrm>
          <a:prstGeom prst="rect">
            <a:avLst/>
          </a:prstGeom>
          <a:ln/>
        </p:spPr>
      </p:pic>
      <p:sp>
        <p:nvSpPr>
          <p:cNvPr id="18" name="Rectangle 17"/>
          <p:cNvSpPr/>
          <p:nvPr/>
        </p:nvSpPr>
        <p:spPr>
          <a:xfrm>
            <a:off x="457200"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218127"/>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4304081"/>
            <a:ext cx="133501" cy="133501"/>
          </a:xfrm>
          <a:prstGeom prst="rect">
            <a:avLst/>
          </a:prstGeom>
          <a:ln/>
        </p:spPr>
      </p:pic>
      <p:sp>
        <p:nvSpPr>
          <p:cNvPr id="22" name="TextBox 21"/>
          <p:cNvSpPr txBox="1"/>
          <p:nvPr/>
        </p:nvSpPr>
        <p:spPr>
          <a:xfrm>
            <a:off x="1057046" y="4256532"/>
            <a:ext cx="1327709" cy="228600"/>
          </a:xfrm>
          <a:prstGeom prst="rect">
            <a:avLst/>
          </a:prstGeom>
          <a:noFill/>
          <a:ln/>
        </p:spPr>
        <p:txBody>
          <a:bodyPr wrap="square" lIns="0" rIns="0" tIns="0" bIns="0">
            <a:noAutofit/>
          </a:bodyPr>
          <a:lstStyle/>
          <a:p>
            <a:r>
              <a:rPr sz="1200" b="1">
                <a:solidFill>
                  <a:srgbClr val="1D1D1F"/>
                </a:solidFill>
                <a:latin typeface="Noto Sans JP"/>
              </a:rPr>
              <a:t>実務の現実ライン</a:t>
            </a:r>
          </a:p>
        </p:txBody>
      </p:sp>
      <p:pic>
        <p:nvPicPr>
          <p:cNvPr id="23" name="Picture 22" descr="image.png"/>
          <p:cNvPicPr>
            <a:picLocks noChangeAspect="1"/>
          </p:cNvPicPr>
          <p:nvPr/>
        </p:nvPicPr>
        <p:blipFill>
          <a:blip r:embed="rId6"/>
          <a:stretch>
            <a:fillRect/>
          </a:stretch>
        </p:blipFill>
        <p:spPr>
          <a:xfrm>
            <a:off x="657454" y="4783226"/>
            <a:ext cx="95098" cy="95098"/>
          </a:xfrm>
          <a:prstGeom prst="rect">
            <a:avLst/>
          </a:prstGeom>
          <a:ln/>
        </p:spPr>
      </p:pic>
      <p:sp>
        <p:nvSpPr>
          <p:cNvPr id="24" name="TextBox 23"/>
          <p:cNvSpPr txBox="1"/>
          <p:nvPr/>
        </p:nvSpPr>
        <p:spPr>
          <a:xfrm>
            <a:off x="752551" y="4909414"/>
            <a:ext cx="3219602" cy="562355"/>
          </a:xfrm>
          <a:prstGeom prst="rect">
            <a:avLst/>
          </a:prstGeom>
          <a:noFill/>
          <a:ln/>
        </p:spPr>
        <p:txBody>
          <a:bodyPr wrap="square" lIns="0" rIns="0" tIns="0" bIns="0">
            <a:noAutofit/>
          </a:bodyPr>
          <a:lstStyle/>
          <a:p>
            <a:r>
              <a:rPr sz="900" b="1">
                <a:solidFill>
                  <a:srgbClr val="1D1D1F"/>
                </a:solidFill>
                <a:latin typeface="Noto Sans JP"/>
              </a:rPr>
              <a:t>7B〜14Bがボリュームゾーン</a:t>
            </a:r>
          </a:p>
          <a:p>
            <a:r>
              <a:rPr sz="900">
                <a:solidFill>
                  <a:srgbClr val="424245"/>
                </a:solidFill>
                <a:latin typeface="Noto Sans JP"/>
              </a:rPr>
              <a:t> 一般業務やRAGにおいて、品質と速度のバランスが良いスイートスポット。 </a:t>
            </a:r>
          </a:p>
        </p:txBody>
      </p:sp>
      <p:pic>
        <p:nvPicPr>
          <p:cNvPr id="25" name="Picture 24" descr="image.png"/>
          <p:cNvPicPr>
            <a:picLocks noChangeAspect="1"/>
          </p:cNvPicPr>
          <p:nvPr/>
        </p:nvPicPr>
        <p:blipFill>
          <a:blip r:embed="rId6"/>
          <a:stretch>
            <a:fillRect/>
          </a:stretch>
        </p:blipFill>
        <p:spPr>
          <a:xfrm>
            <a:off x="657454" y="5620817"/>
            <a:ext cx="95098" cy="95098"/>
          </a:xfrm>
          <a:prstGeom prst="rect">
            <a:avLst/>
          </a:prstGeom>
          <a:ln/>
        </p:spPr>
      </p:pic>
      <p:sp>
        <p:nvSpPr>
          <p:cNvPr id="26" name="TextBox 25"/>
          <p:cNvSpPr txBox="1"/>
          <p:nvPr/>
        </p:nvSpPr>
        <p:spPr>
          <a:xfrm>
            <a:off x="752551" y="5747004"/>
            <a:ext cx="3219602" cy="562355"/>
          </a:xfrm>
          <a:prstGeom prst="rect">
            <a:avLst/>
          </a:prstGeom>
          <a:noFill/>
          <a:ln/>
        </p:spPr>
        <p:txBody>
          <a:bodyPr wrap="square" lIns="0" rIns="0" tIns="0" bIns="0">
            <a:noAutofit/>
          </a:bodyPr>
          <a:lstStyle/>
          <a:p>
            <a:r>
              <a:rPr sz="900" b="1">
                <a:solidFill>
                  <a:srgbClr val="1D1D1F"/>
                </a:solidFill>
                <a:latin typeface="Noto Sans JP"/>
              </a:rPr>
              <a:t>3B級はハード制約モード</a:t>
            </a:r>
          </a:p>
          <a:p>
            <a:r>
              <a:rPr sz="900">
                <a:solidFill>
                  <a:srgbClr val="424245"/>
                </a:solidFill>
                <a:latin typeface="Noto Sans JP"/>
              </a:rPr>
              <a:t> メモリ不足時のフォールバックや、抽出特化タスクで使い分ける。 </a:t>
            </a:r>
          </a:p>
        </p:txBody>
      </p:sp>
      <p:sp>
        <p:nvSpPr>
          <p:cNvPr id="27" name="Rectangle 26"/>
          <p:cNvSpPr/>
          <p:nvPr/>
        </p:nvSpPr>
        <p:spPr>
          <a:xfrm>
            <a:off x="4280306"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599432"/>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4218127"/>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80230" y="4304081"/>
            <a:ext cx="105155" cy="133501"/>
          </a:xfrm>
          <a:prstGeom prst="rect">
            <a:avLst/>
          </a:prstGeom>
          <a:ln/>
        </p:spPr>
      </p:pic>
      <p:sp>
        <p:nvSpPr>
          <p:cNvPr id="31" name="TextBox 30"/>
          <p:cNvSpPr txBox="1"/>
          <p:nvPr/>
        </p:nvSpPr>
        <p:spPr>
          <a:xfrm>
            <a:off x="4880153" y="4256532"/>
            <a:ext cx="1317650" cy="228600"/>
          </a:xfrm>
          <a:prstGeom prst="rect">
            <a:avLst/>
          </a:prstGeom>
          <a:noFill/>
          <a:ln/>
        </p:spPr>
        <p:txBody>
          <a:bodyPr wrap="square" lIns="0" rIns="0" tIns="0" bIns="0">
            <a:noAutofit/>
          </a:bodyPr>
          <a:lstStyle/>
          <a:p>
            <a:r>
              <a:rPr sz="1200" b="1">
                <a:solidFill>
                  <a:srgbClr val="1D1D1F"/>
                </a:solidFill>
                <a:latin typeface="Noto Sans JP"/>
              </a:rPr>
              <a:t>形式とライセンス</a:t>
            </a:r>
          </a:p>
        </p:txBody>
      </p:sp>
      <p:pic>
        <p:nvPicPr>
          <p:cNvPr id="32" name="Picture 31" descr="image.png"/>
          <p:cNvPicPr>
            <a:picLocks noChangeAspect="1"/>
          </p:cNvPicPr>
          <p:nvPr/>
        </p:nvPicPr>
        <p:blipFill>
          <a:blip r:embed="rId6"/>
          <a:stretch>
            <a:fillRect/>
          </a:stretch>
        </p:blipFill>
        <p:spPr>
          <a:xfrm>
            <a:off x="4479646" y="4783226"/>
            <a:ext cx="95098" cy="95098"/>
          </a:xfrm>
          <a:prstGeom prst="rect">
            <a:avLst/>
          </a:prstGeom>
          <a:ln/>
        </p:spPr>
      </p:pic>
      <p:sp>
        <p:nvSpPr>
          <p:cNvPr id="33" name="TextBox 32"/>
          <p:cNvSpPr txBox="1"/>
          <p:nvPr/>
        </p:nvSpPr>
        <p:spPr>
          <a:xfrm>
            <a:off x="4574743" y="4909414"/>
            <a:ext cx="3219602" cy="562355"/>
          </a:xfrm>
          <a:prstGeom prst="rect">
            <a:avLst/>
          </a:prstGeom>
          <a:noFill/>
          <a:ln/>
        </p:spPr>
        <p:txBody>
          <a:bodyPr wrap="square" lIns="0" rIns="0" tIns="0" bIns="0">
            <a:noAutofit/>
          </a:bodyPr>
          <a:lstStyle/>
          <a:p>
            <a:r>
              <a:rPr sz="900" b="1">
                <a:solidFill>
                  <a:srgbClr val="1D1D1F"/>
                </a:solidFill>
                <a:latin typeface="Noto Sans JP"/>
              </a:rPr>
              <a:t>形式先行は詰まりやすい</a:t>
            </a:r>
          </a:p>
          <a:p>
            <a:r>
              <a:rPr sz="900">
                <a:solidFill>
                  <a:srgbClr val="424245"/>
                </a:solidFill>
                <a:latin typeface="Noto Sans JP"/>
              </a:rPr>
              <a:t> ランタイム（例: LM Studio使いたい）から入ると形式制約で選択肢が狭まるため逆順推奨。 </a:t>
            </a:r>
          </a:p>
        </p:txBody>
      </p:sp>
      <p:pic>
        <p:nvPicPr>
          <p:cNvPr id="34" name="Picture 33" descr="image.png"/>
          <p:cNvPicPr>
            <a:picLocks noChangeAspect="1"/>
          </p:cNvPicPr>
          <p:nvPr/>
        </p:nvPicPr>
        <p:blipFill>
          <a:blip r:embed="rId6"/>
          <a:stretch>
            <a:fillRect/>
          </a:stretch>
        </p:blipFill>
        <p:spPr>
          <a:xfrm>
            <a:off x="4479646" y="5620817"/>
            <a:ext cx="95098" cy="95098"/>
          </a:xfrm>
          <a:prstGeom prst="rect">
            <a:avLst/>
          </a:prstGeom>
          <a:ln/>
        </p:spPr>
      </p:pic>
      <p:sp>
        <p:nvSpPr>
          <p:cNvPr id="35" name="TextBox 34"/>
          <p:cNvSpPr txBox="1"/>
          <p:nvPr/>
        </p:nvSpPr>
        <p:spPr>
          <a:xfrm>
            <a:off x="4574743" y="5747004"/>
            <a:ext cx="3219602" cy="562355"/>
          </a:xfrm>
          <a:prstGeom prst="rect">
            <a:avLst/>
          </a:prstGeom>
          <a:noFill/>
          <a:ln/>
        </p:spPr>
        <p:txBody>
          <a:bodyPr wrap="square" lIns="0" rIns="0" tIns="0" bIns="0">
            <a:noAutofit/>
          </a:bodyPr>
          <a:lstStyle/>
          <a:p>
            <a:r>
              <a:rPr sz="900" b="1">
                <a:solidFill>
                  <a:srgbClr val="1D1D1F"/>
                </a:solidFill>
                <a:latin typeface="Noto Sans JP"/>
              </a:rPr>
              <a:t>ライセンスの個別確認</a:t>
            </a:r>
          </a:p>
          <a:p>
            <a:r>
              <a:rPr sz="900">
                <a:solidFill>
                  <a:srgbClr val="424245"/>
                </a:solidFill>
                <a:latin typeface="Noto Sans JP"/>
              </a:rPr>
              <a:t> Qwen2.5等、同ファミリー内でもサイズにより条件が異なる例外あり</a:t>
            </a:r>
            <a:r>
              <a:rPr sz="900">
                <a:solidFill>
                  <a:srgbClr val="424245"/>
                </a:solidFill>
                <a:latin typeface="Noto Sans JP"/>
              </a:rPr>
              <a:t>。 </a:t>
            </a:r>
          </a:p>
        </p:txBody>
      </p:sp>
      <p:pic>
        <p:nvPicPr>
          <p:cNvPr id="36" name="Picture 35" descr="image.png"/>
          <p:cNvPicPr>
            <a:picLocks noChangeAspect="1"/>
          </p:cNvPicPr>
          <p:nvPr/>
        </p:nvPicPr>
        <p:blipFill>
          <a:blip r:embed="rId8"/>
          <a:stretch>
            <a:fillRect/>
          </a:stretch>
        </p:blipFill>
        <p:spPr>
          <a:xfrm>
            <a:off x="5137099" y="6137453"/>
            <a:ext cx="247801" cy="161848"/>
          </a:xfrm>
          <a:prstGeom prst="rect">
            <a:avLst/>
          </a:prstGeom>
          <a:ln/>
        </p:spPr>
      </p:pic>
      <p:sp>
        <p:nvSpPr>
          <p:cNvPr id="37" name="TextBox 36"/>
          <p:cNvSpPr txBox="1"/>
          <p:nvPr/>
        </p:nvSpPr>
        <p:spPr>
          <a:xfrm>
            <a:off x="5137099" y="6137453"/>
            <a:ext cx="247801"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[33]</a:t>
            </a:r>
          </a:p>
        </p:txBody>
      </p:sp>
      <p:sp>
        <p:nvSpPr>
          <p:cNvPr id="38" name="Rectangle 37"/>
          <p:cNvSpPr/>
          <p:nvPr/>
        </p:nvSpPr>
        <p:spPr>
          <a:xfrm>
            <a:off x="8102497" y="4018788"/>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599432"/>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218127"/>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388706" y="4304081"/>
            <a:ext cx="133502" cy="133501"/>
          </a:xfrm>
          <a:prstGeom prst="rect">
            <a:avLst/>
          </a:prstGeom>
          <a:ln/>
        </p:spPr>
      </p:pic>
      <p:sp>
        <p:nvSpPr>
          <p:cNvPr id="42" name="TextBox 41"/>
          <p:cNvSpPr txBox="1"/>
          <p:nvPr/>
        </p:nvSpPr>
        <p:spPr>
          <a:xfrm>
            <a:off x="8702345" y="4256532"/>
            <a:ext cx="1163116" cy="228600"/>
          </a:xfrm>
          <a:prstGeom prst="rect">
            <a:avLst/>
          </a:prstGeom>
          <a:noFill/>
          <a:ln/>
        </p:spPr>
        <p:txBody>
          <a:bodyPr wrap="square" lIns="0" rIns="0" tIns="0" bIns="0">
            <a:noAutofit/>
          </a:bodyPr>
          <a:lstStyle/>
          <a:p>
            <a:r>
              <a:rPr sz="1200" b="1">
                <a:solidFill>
                  <a:srgbClr val="1D1D1F"/>
                </a:solidFill>
                <a:latin typeface="Noto Sans JP"/>
              </a:rPr>
              <a:t>メモリ・最適化</a:t>
            </a:r>
          </a:p>
        </p:txBody>
      </p:sp>
      <p:pic>
        <p:nvPicPr>
          <p:cNvPr id="43" name="Picture 42" descr="image.png"/>
          <p:cNvPicPr>
            <a:picLocks noChangeAspect="1"/>
          </p:cNvPicPr>
          <p:nvPr/>
        </p:nvPicPr>
        <p:blipFill>
          <a:blip r:embed="rId6"/>
          <a:stretch>
            <a:fillRect/>
          </a:stretch>
        </p:blipFill>
        <p:spPr>
          <a:xfrm>
            <a:off x="8302752" y="4783226"/>
            <a:ext cx="95097" cy="95098"/>
          </a:xfrm>
          <a:prstGeom prst="rect">
            <a:avLst/>
          </a:prstGeom>
          <a:ln/>
        </p:spPr>
      </p:pic>
      <p:sp>
        <p:nvSpPr>
          <p:cNvPr id="44" name="TextBox 43"/>
          <p:cNvSpPr txBox="1"/>
          <p:nvPr/>
        </p:nvSpPr>
        <p:spPr>
          <a:xfrm>
            <a:off x="8397850" y="4909414"/>
            <a:ext cx="3219602" cy="372160"/>
          </a:xfrm>
          <a:prstGeom prst="rect">
            <a:avLst/>
          </a:prstGeom>
          <a:noFill/>
          <a:ln/>
        </p:spPr>
        <p:txBody>
          <a:bodyPr wrap="square" lIns="0" rIns="0" tIns="0" bIns="0">
            <a:noAutofit/>
          </a:bodyPr>
          <a:lstStyle/>
          <a:p>
            <a:r>
              <a:rPr sz="900" b="1">
                <a:solidFill>
                  <a:srgbClr val="1D1D1F"/>
                </a:solidFill>
                <a:latin typeface="Noto Sans JP"/>
              </a:rPr>
              <a:t>長文はKVキャッシュが支配</a:t>
            </a:r>
          </a:p>
          <a:p>
            <a:r>
              <a:rPr sz="900">
                <a:solidFill>
                  <a:srgbClr val="424245"/>
                </a:solidFill>
                <a:latin typeface="Noto Sans JP"/>
              </a:rPr>
              <a:t> コンテキスト長が増えるとKVメモリが急増する。 </a:t>
            </a:r>
          </a:p>
        </p:txBody>
      </p:sp>
      <p:pic>
        <p:nvPicPr>
          <p:cNvPr id="45" name="Picture 44" descr="image.png"/>
          <p:cNvPicPr>
            <a:picLocks noChangeAspect="1"/>
          </p:cNvPicPr>
          <p:nvPr/>
        </p:nvPicPr>
        <p:blipFill>
          <a:blip r:embed="rId6"/>
          <a:stretch>
            <a:fillRect/>
          </a:stretch>
        </p:blipFill>
        <p:spPr>
          <a:xfrm>
            <a:off x="8302752" y="5435194"/>
            <a:ext cx="95097" cy="95098"/>
          </a:xfrm>
          <a:prstGeom prst="rect">
            <a:avLst/>
          </a:prstGeom>
          <a:ln/>
        </p:spPr>
      </p:pic>
      <p:sp>
        <p:nvSpPr>
          <p:cNvPr id="46" name="TextBox 45"/>
          <p:cNvSpPr txBox="1"/>
          <p:nvPr/>
        </p:nvSpPr>
        <p:spPr>
          <a:xfrm>
            <a:off x="8397850" y="5561381"/>
            <a:ext cx="3219602" cy="562355"/>
          </a:xfrm>
          <a:prstGeom prst="rect">
            <a:avLst/>
          </a:prstGeom>
          <a:noFill/>
          <a:ln/>
        </p:spPr>
        <p:txBody>
          <a:bodyPr wrap="square" lIns="0" rIns="0" tIns="0" bIns="0">
            <a:noAutofit/>
          </a:bodyPr>
          <a:lstStyle/>
          <a:p>
            <a:r>
              <a:rPr sz="900" b="1">
                <a:solidFill>
                  <a:srgbClr val="1D1D1F"/>
                </a:solidFill>
                <a:latin typeface="Noto Sans JP"/>
              </a:rPr>
              <a:t>設計上の必須要件</a:t>
            </a:r>
          </a:p>
          <a:p>
            <a:r>
              <a:rPr sz="900">
                <a:solidFill>
                  <a:srgbClr val="424245"/>
                </a:solidFill>
                <a:latin typeface="Noto Sans JP"/>
              </a:rPr>
              <a:t> コンテキスト設計に加え、KV量子化(FP8/INT4)やKV再利用(Reuse)の併用を前提に見積もる。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p:spPr>
      </p:pic>
      <p:sp>
        <p:nvSpPr>
          <p:cNvPr id="48" name="TextBox 47"/>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20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p:spPr>
      </p:pic>
      <p:sp>
        <p:nvSpPr>
          <p:cNvPr id="50" name="TextBox 49"/>
          <p:cNvSpPr txBox="1"/>
          <p:nvPr/>
        </p:nvSpPr>
        <p:spPr>
          <a:xfrm>
            <a:off x="1398118"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1</a:t>
            </a:r>
          </a:p>
        </p:txBody>
      </p:sp>
      <p:sp>
        <p:nvSpPr>
          <p:cNvPr id="51" name="TextBox 50"/>
          <p:cNvSpPr txBox="1"/>
          <p:nvPr/>
        </p:nvSpPr>
        <p:spPr>
          <a:xfrm>
            <a:off x="1322222" y="2829154"/>
            <a:ext cx="609904" cy="200254"/>
          </a:xfrm>
          <a:prstGeom prst="rect">
            <a:avLst/>
          </a:prstGeom>
          <a:noFill/>
          <a:ln/>
        </p:spPr>
        <p:txBody>
          <a:bodyPr wrap="square" lIns="0" rIns="0" tIns="0" bIns="0">
            <a:noAutofit/>
          </a:bodyPr>
          <a:lstStyle/>
          <a:p>
            <a:r>
              <a:rPr sz="1000" b="1">
                <a:solidFill>
                  <a:srgbClr val="1D1D1F"/>
                </a:solidFill>
                <a:latin typeface="Noto Sans JP"/>
              </a:rPr>
              <a:t>必要品質</a:t>
            </a:r>
          </a:p>
        </p:txBody>
      </p:sp>
      <p:sp>
        <p:nvSpPr>
          <p:cNvPr id="52" name="TextBox 51"/>
          <p:cNvSpPr txBox="1"/>
          <p:nvPr/>
        </p:nvSpPr>
        <p:spPr>
          <a:xfrm>
            <a:off x="1026871" y="3105302"/>
            <a:ext cx="1200606" cy="409651"/>
          </a:xfrm>
          <a:prstGeom prst="rect">
            <a:avLst/>
          </a:prstGeom>
          <a:noFill/>
          <a:ln/>
        </p:spPr>
        <p:txBody>
          <a:bodyPr wrap="square" lIns="0" rIns="0" tIns="0" bIns="0">
            <a:noAutofit/>
          </a:bodyPr>
          <a:lstStyle/>
          <a:p>
            <a:r>
              <a:rPr sz="800">
                <a:solidFill>
                  <a:srgbClr val="6E6E73"/>
                </a:solidFill>
                <a:latin typeface="Noto Sans JP"/>
              </a:rPr>
              <a:t>タスク難易度でサイズ決定</a:t>
            </a:r>
          </a:p>
          <a:p>
            <a:r>
              <a:rPr sz="800">
                <a:solidFill>
                  <a:srgbClr val="6E6E73"/>
                </a:solidFill>
                <a:latin typeface="Noto Sans JP"/>
              </a:rPr>
              <a:t>(例: 70B vs 8B)</a:t>
            </a:r>
          </a:p>
        </p:txBody>
      </p:sp>
      <p:pic>
        <p:nvPicPr>
          <p:cNvPr id="53" name="Picture 52" descr="image.png"/>
          <p:cNvPicPr>
            <a:picLocks noChangeAspect="1"/>
          </p:cNvPicPr>
          <p:nvPr/>
        </p:nvPicPr>
        <p:blipFill>
          <a:blip r:embed="rId11"/>
          <a:stretch>
            <a:fillRect/>
          </a:stretch>
        </p:blipFill>
        <p:spPr>
          <a:xfrm>
            <a:off x="3632910" y="2363724"/>
            <a:ext cx="457200" cy="457200"/>
          </a:xfrm>
          <a:prstGeom prst="rect">
            <a:avLst/>
          </a:prstGeom>
          <a:ln/>
        </p:spPr>
      </p:pic>
      <p:sp>
        <p:nvSpPr>
          <p:cNvPr id="54" name="TextBox 53"/>
          <p:cNvSpPr txBox="1"/>
          <p:nvPr/>
        </p:nvSpPr>
        <p:spPr>
          <a:xfrm>
            <a:off x="3632910" y="236372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2</a:t>
            </a:r>
          </a:p>
        </p:txBody>
      </p:sp>
      <p:sp>
        <p:nvSpPr>
          <p:cNvPr id="55" name="TextBox 54"/>
          <p:cNvSpPr txBox="1"/>
          <p:nvPr/>
        </p:nvSpPr>
        <p:spPr>
          <a:xfrm>
            <a:off x="3357677" y="2896819"/>
            <a:ext cx="1010412" cy="200254"/>
          </a:xfrm>
          <a:prstGeom prst="rect">
            <a:avLst/>
          </a:prstGeom>
          <a:noFill/>
          <a:ln/>
        </p:spPr>
        <p:txBody>
          <a:bodyPr wrap="square" lIns="0" rIns="0" tIns="0" bIns="0">
            <a:noAutofit/>
          </a:bodyPr>
          <a:lstStyle/>
          <a:p>
            <a:r>
              <a:rPr sz="1000" b="1">
                <a:solidFill>
                  <a:srgbClr val="1D1D1F"/>
                </a:solidFill>
                <a:latin typeface="Noto Sans JP"/>
              </a:rPr>
              <a:t>許容レイテンシ</a:t>
            </a:r>
          </a:p>
        </p:txBody>
      </p:sp>
      <p:sp>
        <p:nvSpPr>
          <p:cNvPr id="56" name="TextBox 55"/>
          <p:cNvSpPr txBox="1"/>
          <p:nvPr/>
        </p:nvSpPr>
        <p:spPr>
          <a:xfrm>
            <a:off x="3415284" y="3172968"/>
            <a:ext cx="896112" cy="277062"/>
          </a:xfrm>
          <a:prstGeom prst="rect">
            <a:avLst/>
          </a:prstGeom>
          <a:noFill/>
          <a:ln/>
        </p:spPr>
        <p:txBody>
          <a:bodyPr wrap="square" lIns="0" rIns="0" tIns="0" bIns="0">
            <a:noAutofit/>
          </a:bodyPr>
          <a:lstStyle/>
          <a:p>
            <a:r>
              <a:rPr sz="800">
                <a:solidFill>
                  <a:srgbClr val="6E6E73"/>
                </a:solidFill>
                <a:latin typeface="Noto Sans JP"/>
              </a:rPr>
              <a:t>リアルタイム性か</a:t>
            </a:r>
          </a:p>
          <a:p>
            <a:r>
              <a:rPr sz="800">
                <a:solidFill>
                  <a:srgbClr val="6E6E73"/>
                </a:solidFill>
                <a:latin typeface="Noto Sans JP"/>
              </a:rPr>
              <a:t>バッチ処理か</a:t>
            </a:r>
          </a:p>
        </p:txBody>
      </p:sp>
      <p:pic>
        <p:nvPicPr>
          <p:cNvPr id="57" name="Picture 56" descr="image.png"/>
          <p:cNvPicPr>
            <a:picLocks noChangeAspect="1"/>
          </p:cNvPicPr>
          <p:nvPr/>
        </p:nvPicPr>
        <p:blipFill>
          <a:blip r:embed="rId11"/>
          <a:stretch>
            <a:fillRect/>
          </a:stretch>
        </p:blipFill>
        <p:spPr>
          <a:xfrm>
            <a:off x="5867705" y="2363724"/>
            <a:ext cx="457200" cy="457200"/>
          </a:xfrm>
          <a:prstGeom prst="rect">
            <a:avLst/>
          </a:prstGeom>
          <a:ln/>
        </p:spPr>
      </p:pic>
      <p:sp>
        <p:nvSpPr>
          <p:cNvPr id="58" name="TextBox 57"/>
          <p:cNvSpPr txBox="1"/>
          <p:nvPr/>
        </p:nvSpPr>
        <p:spPr>
          <a:xfrm>
            <a:off x="5867705" y="236372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3</a:t>
            </a:r>
          </a:p>
        </p:txBody>
      </p:sp>
      <p:sp>
        <p:nvSpPr>
          <p:cNvPr id="59" name="TextBox 58"/>
          <p:cNvSpPr txBox="1"/>
          <p:nvPr/>
        </p:nvSpPr>
        <p:spPr>
          <a:xfrm>
            <a:off x="5724144" y="2896819"/>
            <a:ext cx="743407" cy="200254"/>
          </a:xfrm>
          <a:prstGeom prst="rect">
            <a:avLst/>
          </a:prstGeom>
          <a:noFill/>
          <a:ln/>
        </p:spPr>
        <p:txBody>
          <a:bodyPr wrap="square" lIns="0" rIns="0" tIns="0" bIns="0">
            <a:noAutofit/>
          </a:bodyPr>
          <a:lstStyle/>
          <a:p>
            <a:r>
              <a:rPr sz="1000" b="1">
                <a:solidFill>
                  <a:srgbClr val="1D1D1F"/>
                </a:solidFill>
                <a:latin typeface="Noto Sans JP"/>
              </a:rPr>
              <a:t>許容メモリ</a:t>
            </a:r>
          </a:p>
        </p:txBody>
      </p:sp>
      <p:sp>
        <p:nvSpPr>
          <p:cNvPr id="60" name="TextBox 59"/>
          <p:cNvSpPr txBox="1"/>
          <p:nvPr/>
        </p:nvSpPr>
        <p:spPr>
          <a:xfrm>
            <a:off x="5540350" y="3172968"/>
            <a:ext cx="1114653" cy="277062"/>
          </a:xfrm>
          <a:prstGeom prst="rect">
            <a:avLst/>
          </a:prstGeom>
          <a:noFill/>
          <a:ln/>
        </p:spPr>
        <p:txBody>
          <a:bodyPr wrap="square" lIns="0" rIns="0" tIns="0" bIns="0">
            <a:noAutofit/>
          </a:bodyPr>
          <a:lstStyle/>
          <a:p>
            <a:r>
              <a:rPr sz="800">
                <a:solidFill>
                  <a:srgbClr val="6E6E73"/>
                </a:solidFill>
                <a:latin typeface="Noto Sans JP"/>
              </a:rPr>
              <a:t>4bit量子化前提で</a:t>
            </a:r>
          </a:p>
          <a:p>
            <a:r>
              <a:rPr sz="800">
                <a:solidFill>
                  <a:srgbClr val="6E6E73"/>
                </a:solidFill>
                <a:latin typeface="Noto Sans JP"/>
              </a:rPr>
              <a:t>VRAM/RAMに収まるか</a:t>
            </a:r>
          </a:p>
        </p:txBody>
      </p:sp>
      <p:pic>
        <p:nvPicPr>
          <p:cNvPr id="61" name="Picture 60" descr="image.png"/>
          <p:cNvPicPr>
            <a:picLocks noChangeAspect="1"/>
          </p:cNvPicPr>
          <p:nvPr/>
        </p:nvPicPr>
        <p:blipFill>
          <a:blip r:embed="rId12"/>
          <a:stretch>
            <a:fillRect/>
          </a:stretch>
        </p:blipFill>
        <p:spPr>
          <a:xfrm>
            <a:off x="8101583" y="2363724"/>
            <a:ext cx="457200" cy="457200"/>
          </a:xfrm>
          <a:prstGeom prst="rect">
            <a:avLst/>
          </a:prstGeom>
          <a:ln/>
        </p:spPr>
      </p:pic>
      <p:sp>
        <p:nvSpPr>
          <p:cNvPr id="62" name="TextBox 61"/>
          <p:cNvSpPr txBox="1"/>
          <p:nvPr/>
        </p:nvSpPr>
        <p:spPr>
          <a:xfrm>
            <a:off x="8101583" y="236372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4</a:t>
            </a:r>
          </a:p>
        </p:txBody>
      </p:sp>
      <p:sp>
        <p:nvSpPr>
          <p:cNvPr id="63" name="TextBox 62"/>
          <p:cNvSpPr txBox="1"/>
          <p:nvPr/>
        </p:nvSpPr>
        <p:spPr>
          <a:xfrm>
            <a:off x="8025689" y="2896819"/>
            <a:ext cx="609905" cy="200254"/>
          </a:xfrm>
          <a:prstGeom prst="rect">
            <a:avLst/>
          </a:prstGeom>
          <a:noFill/>
          <a:ln/>
        </p:spPr>
        <p:txBody>
          <a:bodyPr wrap="square" lIns="0" rIns="0" tIns="0" bIns="0">
            <a:noAutofit/>
          </a:bodyPr>
          <a:lstStyle/>
          <a:p>
            <a:r>
              <a:rPr sz="1000" b="1">
                <a:solidFill>
                  <a:srgbClr val="1D1D1F"/>
                </a:solidFill>
                <a:latin typeface="Noto Sans JP"/>
              </a:rPr>
              <a:t>形式選定</a:t>
            </a:r>
          </a:p>
        </p:txBody>
      </p:sp>
      <p:sp>
        <p:nvSpPr>
          <p:cNvPr id="64" name="TextBox 63"/>
          <p:cNvSpPr txBox="1"/>
          <p:nvPr/>
        </p:nvSpPr>
        <p:spPr>
          <a:xfrm>
            <a:off x="7818120" y="3172968"/>
            <a:ext cx="1028700" cy="277062"/>
          </a:xfrm>
          <a:prstGeom prst="rect">
            <a:avLst/>
          </a:prstGeom>
          <a:noFill/>
          <a:ln/>
        </p:spPr>
        <p:txBody>
          <a:bodyPr wrap="square" lIns="0" rIns="0" tIns="0" bIns="0">
            <a:noAutofit/>
          </a:bodyPr>
          <a:lstStyle/>
          <a:p>
            <a:r>
              <a:rPr sz="800">
                <a:solidFill>
                  <a:srgbClr val="6E6E73"/>
                </a:solidFill>
                <a:latin typeface="Noto Sans JP"/>
              </a:rPr>
              <a:t>GGUF or GPTQ/AWQ</a:t>
            </a:r>
          </a:p>
          <a:p>
            <a:r>
              <a:rPr sz="800">
                <a:solidFill>
                  <a:srgbClr val="6E6E73"/>
                </a:solidFill>
                <a:latin typeface="Noto Sans JP"/>
              </a:rPr>
              <a:t>要件先行で決定</a:t>
            </a:r>
          </a:p>
        </p:txBody>
      </p:sp>
      <p:pic>
        <p:nvPicPr>
          <p:cNvPr id="65" name="Picture 64" descr="image.png"/>
          <p:cNvPicPr>
            <a:picLocks noChangeAspect="1"/>
          </p:cNvPicPr>
          <p:nvPr/>
        </p:nvPicPr>
        <p:blipFill>
          <a:blip r:embed="rId13"/>
          <a:stretch>
            <a:fillRect/>
          </a:stretch>
        </p:blipFill>
        <p:spPr>
          <a:xfrm>
            <a:off x="10336378" y="2363724"/>
            <a:ext cx="457200" cy="457200"/>
          </a:xfrm>
          <a:prstGeom prst="rect">
            <a:avLst/>
          </a:prstGeom>
          <a:ln/>
        </p:spPr>
      </p:pic>
      <p:sp>
        <p:nvSpPr>
          <p:cNvPr id="66" name="TextBox 65"/>
          <p:cNvSpPr txBox="1"/>
          <p:nvPr/>
        </p:nvSpPr>
        <p:spPr>
          <a:xfrm>
            <a:off x="10336378" y="236372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5</a:t>
            </a:r>
          </a:p>
        </p:txBody>
      </p:sp>
      <p:sp>
        <p:nvSpPr>
          <p:cNvPr id="67" name="TextBox 66"/>
          <p:cNvSpPr txBox="1"/>
          <p:nvPr/>
        </p:nvSpPr>
        <p:spPr>
          <a:xfrm>
            <a:off x="10194646" y="2896819"/>
            <a:ext cx="743407" cy="200254"/>
          </a:xfrm>
          <a:prstGeom prst="rect">
            <a:avLst/>
          </a:prstGeom>
          <a:noFill/>
          <a:ln/>
        </p:spPr>
        <p:txBody>
          <a:bodyPr wrap="square" lIns="0" rIns="0" tIns="0" bIns="0">
            <a:noAutofit/>
          </a:bodyPr>
          <a:lstStyle/>
          <a:p>
            <a:r>
              <a:rPr sz="1000" b="1">
                <a:solidFill>
                  <a:srgbClr val="1D1D1F"/>
                </a:solidFill>
                <a:latin typeface="Noto Sans JP"/>
              </a:rPr>
              <a:t>ランタイム</a:t>
            </a:r>
          </a:p>
        </p:txBody>
      </p:sp>
      <p:sp>
        <p:nvSpPr>
          <p:cNvPr id="68" name="TextBox 67"/>
          <p:cNvSpPr txBox="1"/>
          <p:nvPr/>
        </p:nvSpPr>
        <p:spPr>
          <a:xfrm>
            <a:off x="10012680" y="3172968"/>
            <a:ext cx="1105510" cy="277062"/>
          </a:xfrm>
          <a:prstGeom prst="rect">
            <a:avLst/>
          </a:prstGeom>
          <a:noFill/>
          <a:ln/>
        </p:spPr>
        <p:txBody>
          <a:bodyPr wrap="square" lIns="0" rIns="0" tIns="0" bIns="0">
            <a:noAutofit/>
          </a:bodyPr>
          <a:lstStyle/>
          <a:p>
            <a:r>
              <a:rPr sz="800">
                <a:solidFill>
                  <a:srgbClr val="6E6E73"/>
                </a:solidFill>
                <a:latin typeface="Noto Sans JP"/>
              </a:rPr>
              <a:t>形式に合うものを選択</a:t>
            </a:r>
          </a:p>
          <a:p>
            <a:r>
              <a:rPr sz="800">
                <a:solidFill>
                  <a:srgbClr val="6E6E73"/>
                </a:solidFill>
                <a:latin typeface="Noto Sans JP"/>
              </a:rPr>
              <a:t>(llama.cpp / vLLM等)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6581851" cy="457200"/>
          </a:xfrm>
          <a:prstGeom prst="rect">
            <a:avLst/>
          </a:prstGeom>
          <a:noFill/>
          <a:ln/>
        </p:spPr>
        <p:txBody>
          <a:bodyPr wrap="square" lIns="0" rIns="0" tIns="0" bIns="0">
            <a:noAutofit/>
          </a:bodyPr>
          <a:lstStyle/>
          <a:p>
            <a:r>
              <a:rPr sz="2400" b="1">
                <a:solidFill>
                  <a:srgbClr val="1D1D1F"/>
                </a:solidFill>
                <a:latin typeface="Noto Sans JP"/>
              </a:rPr>
              <a:t>VLM/LMM 概要（画像理解・マルチモーダル）</a:t>
            </a:r>
          </a:p>
        </p:txBody>
      </p:sp>
      <p:sp>
        <p:nvSpPr>
          <p:cNvPr id="9" name="TextBox 8"/>
          <p:cNvSpPr txBox="1"/>
          <p:nvPr/>
        </p:nvSpPr>
        <p:spPr>
          <a:xfrm>
            <a:off x="9682582" y="328270"/>
            <a:ext cx="2221992" cy="257861"/>
          </a:xfrm>
          <a:prstGeom prst="rect">
            <a:avLst/>
          </a:prstGeom>
          <a:noFill/>
          <a:ln/>
        </p:spPr>
        <p:txBody>
          <a:bodyPr wrap="square" lIns="0" rIns="0" tIns="0" bIns="0">
            <a:noAutofit/>
          </a:bodyPr>
          <a:lstStyle/>
          <a:p>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28954"/>
            <a:ext cx="11277295" cy="967435"/>
          </a:xfrm>
          <a:prstGeom prst="rect">
            <a:avLst/>
          </a:prstGeom>
          <a:ln/>
        </p:spPr>
      </p:pic>
      <p:sp>
        <p:nvSpPr>
          <p:cNvPr id="11" name="TextBox 10"/>
          <p:cNvSpPr txBox="1"/>
          <p:nvPr/>
        </p:nvSpPr>
        <p:spPr>
          <a:xfrm>
            <a:off x="743407" y="1419149"/>
            <a:ext cx="10842041" cy="590701"/>
          </a:xfrm>
          <a:prstGeom prst="rect">
            <a:avLst/>
          </a:prstGeom>
          <a:noFill/>
          <a:ln/>
        </p:spPr>
        <p:txBody>
          <a:bodyPr wrap="square" lIns="0" rIns="0" tIns="0" bIns="0">
            <a:noAutofit/>
          </a:bodyPr>
          <a:lstStyle/>
          <a:p>
            <a:r>
              <a:rPr sz="1600" b="1">
                <a:solidFill>
                  <a:srgbClr val="1D1D1F"/>
                </a:solidFill>
                <a:latin typeface="Noto Sans JP"/>
              </a:rPr>
              <a:t> 結論：ローカル運用の現実ラインは</a:t>
            </a:r>
            <a:r>
              <a:rPr sz="1600" b="1">
                <a:solidFill>
                  <a:srgbClr val="2563EB"/>
                </a:solidFill>
                <a:latin typeface="Noto Sans JP"/>
              </a:rPr>
              <a:t>2B/7B級</a:t>
            </a:r>
            <a:r>
              <a:rPr sz="1600" b="1">
                <a:solidFill>
                  <a:srgbClr val="1D1D1F"/>
                </a:solidFill>
                <a:latin typeface="Noto Sans JP"/>
              </a:rPr>
              <a:t>が中心。 </a:t>
            </a:r>
          </a:p>
          <a:p>
            <a:r>
              <a:rPr sz="1600" b="1">
                <a:solidFill>
                  <a:srgbClr val="1D1D1F"/>
                </a:solidFill>
                <a:latin typeface="Noto Sans JP"/>
              </a:rPr>
              <a:t> 画像トークン化の前処理依存が強く、ランタイムの明示サポートが重要です。 </a:t>
            </a:r>
          </a:p>
        </p:txBody>
      </p:sp>
      <p:sp>
        <p:nvSpPr>
          <p:cNvPr id="12" name="Rectangle 11"/>
          <p:cNvSpPr/>
          <p:nvPr/>
        </p:nvSpPr>
        <p:spPr>
          <a:xfrm>
            <a:off x="457200"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190194" cy="171906"/>
          </a:xfrm>
          <a:prstGeom prst="rect">
            <a:avLst/>
          </a:prstGeom>
          <a:ln/>
        </p:spPr>
      </p:pic>
      <p:sp>
        <p:nvSpPr>
          <p:cNvPr id="15" name="TextBox 14"/>
          <p:cNvSpPr txBox="1"/>
          <p:nvPr/>
        </p:nvSpPr>
        <p:spPr>
          <a:xfrm>
            <a:off x="942746" y="2625242"/>
            <a:ext cx="1429207" cy="372161"/>
          </a:xfrm>
          <a:prstGeom prst="rect">
            <a:avLst/>
          </a:prstGeom>
          <a:noFill/>
          <a:ln/>
        </p:spPr>
        <p:txBody>
          <a:bodyPr wrap="square" lIns="0" rIns="0" tIns="0" bIns="0">
            <a:noAutofit/>
          </a:bodyPr>
          <a:lstStyle/>
          <a:p>
            <a:r>
              <a:rPr sz="1300" b="1">
                <a:solidFill>
                  <a:srgbClr val="1D1D1F"/>
                </a:solidFill>
                <a:latin typeface="Noto Sans JP"/>
              </a:rPr>
              <a:t>代表モデルと特徴</a:t>
            </a:r>
          </a:p>
        </p:txBody>
      </p:sp>
      <p:sp>
        <p:nvSpPr>
          <p:cNvPr id="16" name="Rectangle 15"/>
          <p:cNvSpPr/>
          <p:nvPr/>
        </p:nvSpPr>
        <p:spPr>
          <a:xfrm>
            <a:off x="65745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5"/>
          <a:stretch>
            <a:fillRect/>
          </a:stretch>
        </p:blipFill>
        <p:spPr>
          <a:xfrm>
            <a:off x="657454" y="3158338"/>
            <a:ext cx="152704" cy="133501"/>
          </a:xfrm>
          <a:prstGeom prst="rect">
            <a:avLst/>
          </a:prstGeom>
          <a:ln/>
        </p:spPr>
      </p:pic>
      <p:sp>
        <p:nvSpPr>
          <p:cNvPr id="18" name="TextBox 17"/>
          <p:cNvSpPr txBox="1"/>
          <p:nvPr/>
        </p:nvSpPr>
        <p:spPr>
          <a:xfrm>
            <a:off x="923544" y="3110789"/>
            <a:ext cx="1958645" cy="228599"/>
          </a:xfrm>
          <a:prstGeom prst="rect">
            <a:avLst/>
          </a:prstGeom>
          <a:noFill/>
          <a:ln/>
        </p:spPr>
        <p:txBody>
          <a:bodyPr wrap="square" lIns="0" rIns="0" tIns="0" bIns="0">
            <a:noAutofit/>
          </a:bodyPr>
          <a:lstStyle/>
          <a:p>
            <a:r>
              <a:rPr sz="1200" b="1">
                <a:solidFill>
                  <a:srgbClr val="1D1D1F"/>
                </a:solidFill>
                <a:latin typeface="Noto Sans JP"/>
              </a:rPr>
              <a:t>Qwen2-VL (2B/7B/72B)</a:t>
            </a:r>
          </a:p>
        </p:txBody>
      </p:sp>
      <p:pic>
        <p:nvPicPr>
          <p:cNvPr id="19" name="Picture 18" descr="image.png"/>
          <p:cNvPicPr>
            <a:picLocks noChangeAspect="1"/>
          </p:cNvPicPr>
          <p:nvPr/>
        </p:nvPicPr>
        <p:blipFill>
          <a:blip r:embed="rId6"/>
          <a:stretch>
            <a:fillRect/>
          </a:stretch>
        </p:blipFill>
        <p:spPr>
          <a:xfrm>
            <a:off x="2753258" y="3127248"/>
            <a:ext cx="286206" cy="200253"/>
          </a:xfrm>
          <a:prstGeom prst="rect">
            <a:avLst/>
          </a:prstGeom>
          <a:ln/>
        </p:spPr>
      </p:pic>
      <p:sp>
        <p:nvSpPr>
          <p:cNvPr id="20" name="TextBox 19"/>
          <p:cNvSpPr txBox="1"/>
          <p:nvPr/>
        </p:nvSpPr>
        <p:spPr>
          <a:xfrm>
            <a:off x="2753258" y="3127248"/>
            <a:ext cx="286206" cy="20025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[42]</a:t>
            </a:r>
          </a:p>
        </p:txBody>
      </p:sp>
      <p:sp>
        <p:nvSpPr>
          <p:cNvPr id="21" name="TextBox 20"/>
          <p:cNvSpPr txBox="1"/>
          <p:nvPr/>
        </p:nvSpPr>
        <p:spPr>
          <a:xfrm>
            <a:off x="923544" y="3377794"/>
            <a:ext cx="4934101" cy="400506"/>
          </a:xfrm>
          <a:prstGeom prst="rect">
            <a:avLst/>
          </a:prstGeom>
          <a:noFill/>
          <a:ln/>
        </p:spPr>
        <p:txBody>
          <a:bodyPr wrap="square" lIns="0" rIns="0" tIns="0" bIns="0">
            <a:noAutofit/>
          </a:bodyPr>
          <a:lstStyle/>
          <a:p>
            <a:r>
              <a:rPr sz="1000">
                <a:solidFill>
                  <a:srgbClr val="424245"/>
                </a:solidFill>
                <a:latin typeface="Noto Sans JP"/>
              </a:rPr>
              <a:t>ローカル現実ラインの主力。2B/7Bが実用的。72Bは上位ハード（96GB+）前提。</a:t>
            </a:r>
          </a:p>
        </p:txBody>
      </p:sp>
      <p:sp>
        <p:nvSpPr>
          <p:cNvPr id="22" name="Rectangle 21"/>
          <p:cNvSpPr/>
          <p:nvPr/>
        </p:nvSpPr>
        <p:spPr>
          <a:xfrm>
            <a:off x="657454" y="4520794"/>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657454" y="4025189"/>
            <a:ext cx="152704" cy="133501"/>
          </a:xfrm>
          <a:prstGeom prst="rect">
            <a:avLst/>
          </a:prstGeom>
          <a:ln/>
        </p:spPr>
      </p:pic>
      <p:sp>
        <p:nvSpPr>
          <p:cNvPr id="24" name="TextBox 23"/>
          <p:cNvSpPr txBox="1"/>
          <p:nvPr/>
        </p:nvSpPr>
        <p:spPr>
          <a:xfrm>
            <a:off x="923544" y="3977640"/>
            <a:ext cx="1700783" cy="228600"/>
          </a:xfrm>
          <a:prstGeom prst="rect">
            <a:avLst/>
          </a:prstGeom>
          <a:noFill/>
          <a:ln/>
        </p:spPr>
        <p:txBody>
          <a:bodyPr wrap="square" lIns="0" rIns="0" tIns="0" bIns="0">
            <a:noAutofit/>
          </a:bodyPr>
          <a:lstStyle/>
          <a:p>
            <a:r>
              <a:rPr sz="1200" b="1">
                <a:solidFill>
                  <a:srgbClr val="1D1D1F"/>
                </a:solidFill>
                <a:latin typeface="Noto Sans JP"/>
              </a:rPr>
              <a:t>Phi-3-Vision (128K)</a:t>
            </a:r>
          </a:p>
        </p:txBody>
      </p:sp>
      <p:pic>
        <p:nvPicPr>
          <p:cNvPr id="25" name="Picture 24" descr="image.png"/>
          <p:cNvPicPr>
            <a:picLocks noChangeAspect="1"/>
          </p:cNvPicPr>
          <p:nvPr/>
        </p:nvPicPr>
        <p:blipFill>
          <a:blip r:embed="rId6"/>
          <a:stretch>
            <a:fillRect/>
          </a:stretch>
        </p:blipFill>
        <p:spPr>
          <a:xfrm>
            <a:off x="2480767" y="3994098"/>
            <a:ext cx="286206" cy="200253"/>
          </a:xfrm>
          <a:prstGeom prst="rect">
            <a:avLst/>
          </a:prstGeom>
          <a:ln/>
        </p:spPr>
      </p:pic>
      <p:sp>
        <p:nvSpPr>
          <p:cNvPr id="26" name="TextBox 25"/>
          <p:cNvSpPr txBox="1"/>
          <p:nvPr/>
        </p:nvSpPr>
        <p:spPr>
          <a:xfrm>
            <a:off x="2480767" y="3994098"/>
            <a:ext cx="286206" cy="20025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[43]</a:t>
            </a:r>
          </a:p>
        </p:txBody>
      </p:sp>
      <p:sp>
        <p:nvSpPr>
          <p:cNvPr id="27" name="TextBox 26"/>
          <p:cNvSpPr txBox="1"/>
          <p:nvPr/>
        </p:nvSpPr>
        <p:spPr>
          <a:xfrm>
            <a:off x="923544" y="4244645"/>
            <a:ext cx="5048401" cy="200253"/>
          </a:xfrm>
          <a:prstGeom prst="rect">
            <a:avLst/>
          </a:prstGeom>
          <a:noFill/>
          <a:ln/>
        </p:spPr>
        <p:txBody>
          <a:bodyPr wrap="square" lIns="0" rIns="0" tIns="0" bIns="0">
            <a:noAutofit/>
          </a:bodyPr>
          <a:lstStyle/>
          <a:p>
            <a:r>
              <a:rPr sz="1000">
                <a:solidFill>
                  <a:srgbClr val="424245"/>
                </a:solidFill>
                <a:latin typeface="Noto Sans JP"/>
              </a:rPr>
              <a:t>軽量マルチモーダル＋長文対応を標榜。テキスト重視の画像理解に適正。</a:t>
            </a:r>
          </a:p>
        </p:txBody>
      </p:sp>
      <p:sp>
        <p:nvSpPr>
          <p:cNvPr id="28" name="Rectangle 27"/>
          <p:cNvSpPr/>
          <p:nvPr/>
        </p:nvSpPr>
        <p:spPr>
          <a:xfrm>
            <a:off x="657454" y="5187391"/>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657454" y="4691786"/>
            <a:ext cx="152704" cy="133501"/>
          </a:xfrm>
          <a:prstGeom prst="rect">
            <a:avLst/>
          </a:prstGeom>
          <a:ln/>
        </p:spPr>
      </p:pic>
      <p:sp>
        <p:nvSpPr>
          <p:cNvPr id="30" name="TextBox 29"/>
          <p:cNvSpPr txBox="1"/>
          <p:nvPr/>
        </p:nvSpPr>
        <p:spPr>
          <a:xfrm>
            <a:off x="923544" y="4644238"/>
            <a:ext cx="1463040" cy="228600"/>
          </a:xfrm>
          <a:prstGeom prst="rect">
            <a:avLst/>
          </a:prstGeom>
          <a:noFill/>
          <a:ln/>
        </p:spPr>
        <p:txBody>
          <a:bodyPr wrap="square" lIns="0" rIns="0" tIns="0" bIns="0">
            <a:noAutofit/>
          </a:bodyPr>
          <a:lstStyle/>
          <a:p>
            <a:r>
              <a:rPr sz="1200" b="1">
                <a:solidFill>
                  <a:srgbClr val="1D1D1F"/>
                </a:solidFill>
                <a:latin typeface="Noto Sans JP"/>
              </a:rPr>
              <a:t>InternVL2 (4B等)</a:t>
            </a:r>
          </a:p>
        </p:txBody>
      </p:sp>
      <p:pic>
        <p:nvPicPr>
          <p:cNvPr id="31" name="Picture 30" descr="image.png"/>
          <p:cNvPicPr>
            <a:picLocks noChangeAspect="1"/>
          </p:cNvPicPr>
          <p:nvPr/>
        </p:nvPicPr>
        <p:blipFill>
          <a:blip r:embed="rId7"/>
          <a:stretch>
            <a:fillRect/>
          </a:stretch>
        </p:blipFill>
        <p:spPr>
          <a:xfrm>
            <a:off x="2284171" y="4660697"/>
            <a:ext cx="437998" cy="200253"/>
          </a:xfrm>
          <a:prstGeom prst="rect">
            <a:avLst/>
          </a:prstGeom>
          <a:ln/>
        </p:spPr>
      </p:pic>
      <p:sp>
        <p:nvSpPr>
          <p:cNvPr id="32" name="TextBox 31"/>
          <p:cNvSpPr txBox="1"/>
          <p:nvPr/>
        </p:nvSpPr>
        <p:spPr>
          <a:xfrm>
            <a:off x="2284171" y="4660697"/>
            <a:ext cx="438912" cy="20025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[44-45]</a:t>
            </a:r>
          </a:p>
        </p:txBody>
      </p:sp>
      <p:sp>
        <p:nvSpPr>
          <p:cNvPr id="33" name="TextBox 32"/>
          <p:cNvSpPr txBox="1"/>
          <p:nvPr/>
        </p:nvSpPr>
        <p:spPr>
          <a:xfrm>
            <a:off x="923544" y="4911242"/>
            <a:ext cx="5048401" cy="200253"/>
          </a:xfrm>
          <a:prstGeom prst="rect">
            <a:avLst/>
          </a:prstGeom>
          <a:noFill/>
          <a:ln/>
        </p:spPr>
        <p:txBody>
          <a:bodyPr wrap="square" lIns="0" rIns="0" tIns="0" bIns="0">
            <a:noAutofit/>
          </a:bodyPr>
          <a:lstStyle/>
          <a:p>
            <a:r>
              <a:rPr sz="1000">
                <a:solidFill>
                  <a:srgbClr val="424245"/>
                </a:solidFill>
                <a:latin typeface="Noto Sans JP"/>
              </a:rPr>
              <a:t>画像理解の系列として設計。モデル群が複数サイズ展開。</a:t>
            </a:r>
          </a:p>
        </p:txBody>
      </p:sp>
      <p:pic>
        <p:nvPicPr>
          <p:cNvPr id="34" name="Picture 33" descr="image.png"/>
          <p:cNvPicPr>
            <a:picLocks noChangeAspect="1"/>
          </p:cNvPicPr>
          <p:nvPr/>
        </p:nvPicPr>
        <p:blipFill>
          <a:blip r:embed="rId5"/>
          <a:stretch>
            <a:fillRect/>
          </a:stretch>
        </p:blipFill>
        <p:spPr>
          <a:xfrm>
            <a:off x="657454" y="5358384"/>
            <a:ext cx="152704" cy="133501"/>
          </a:xfrm>
          <a:prstGeom prst="rect">
            <a:avLst/>
          </a:prstGeom>
          <a:ln/>
        </p:spPr>
      </p:pic>
      <p:sp>
        <p:nvSpPr>
          <p:cNvPr id="35" name="TextBox 34"/>
          <p:cNvSpPr txBox="1"/>
          <p:nvPr/>
        </p:nvSpPr>
        <p:spPr>
          <a:xfrm>
            <a:off x="923544" y="5310835"/>
            <a:ext cx="1526133" cy="228600"/>
          </a:xfrm>
          <a:prstGeom prst="rect">
            <a:avLst/>
          </a:prstGeom>
          <a:noFill/>
          <a:ln/>
        </p:spPr>
        <p:txBody>
          <a:bodyPr wrap="square" lIns="0" rIns="0" tIns="0" bIns="0">
            <a:noAutofit/>
          </a:bodyPr>
          <a:lstStyle/>
          <a:p>
            <a:r>
              <a:rPr sz="1200" b="1">
                <a:solidFill>
                  <a:srgbClr val="1D1D1F"/>
                </a:solidFill>
                <a:latin typeface="Noto Sans JP"/>
              </a:rPr>
              <a:t>LLaVA (7B/13B系)</a:t>
            </a:r>
          </a:p>
        </p:txBody>
      </p:sp>
      <p:pic>
        <p:nvPicPr>
          <p:cNvPr id="36" name="Picture 35" descr="image.png"/>
          <p:cNvPicPr>
            <a:picLocks noChangeAspect="1"/>
          </p:cNvPicPr>
          <p:nvPr/>
        </p:nvPicPr>
        <p:blipFill>
          <a:blip r:embed="rId7"/>
          <a:stretch>
            <a:fillRect/>
          </a:stretch>
        </p:blipFill>
        <p:spPr>
          <a:xfrm>
            <a:off x="2345436" y="5327294"/>
            <a:ext cx="437998" cy="200253"/>
          </a:xfrm>
          <a:prstGeom prst="rect">
            <a:avLst/>
          </a:prstGeom>
          <a:ln/>
        </p:spPr>
      </p:pic>
      <p:sp>
        <p:nvSpPr>
          <p:cNvPr id="37" name="TextBox 36"/>
          <p:cNvSpPr txBox="1"/>
          <p:nvPr/>
        </p:nvSpPr>
        <p:spPr>
          <a:xfrm>
            <a:off x="2345436" y="5327294"/>
            <a:ext cx="438912" cy="200253"/>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[46-47]</a:t>
            </a:r>
          </a:p>
        </p:txBody>
      </p:sp>
      <p:sp>
        <p:nvSpPr>
          <p:cNvPr id="38" name="TextBox 37"/>
          <p:cNvSpPr txBox="1"/>
          <p:nvPr/>
        </p:nvSpPr>
        <p:spPr>
          <a:xfrm>
            <a:off x="923544" y="5577840"/>
            <a:ext cx="5048401" cy="200253"/>
          </a:xfrm>
          <a:prstGeom prst="rect">
            <a:avLst/>
          </a:prstGeom>
          <a:noFill/>
          <a:ln/>
        </p:spPr>
        <p:txBody>
          <a:bodyPr wrap="square" lIns="0" rIns="0" tIns="0" bIns="0">
            <a:noAutofit/>
          </a:bodyPr>
          <a:lstStyle/>
          <a:p>
            <a:r>
              <a:rPr sz="1000">
                <a:solidFill>
                  <a:srgbClr val="424245"/>
                </a:solidFill>
                <a:latin typeface="Noto Sans JP"/>
              </a:rPr>
              <a:t>画像チャット用途の先駆者。4bit運用で12GB VRAMでも動作可能。</a:t>
            </a:r>
          </a:p>
        </p:txBody>
      </p:sp>
      <p:sp>
        <p:nvSpPr>
          <p:cNvPr id="39" name="Rectangle 38"/>
          <p:cNvSpPr/>
          <p:nvPr/>
        </p:nvSpPr>
        <p:spPr>
          <a:xfrm>
            <a:off x="6210605" y="2424989"/>
            <a:ext cx="5524805" cy="3800246"/>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9944" y="2977286"/>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6409944" y="2668219"/>
            <a:ext cx="219455" cy="171906"/>
          </a:xfrm>
          <a:prstGeom prst="rect">
            <a:avLst/>
          </a:prstGeom>
          <a:ln/>
        </p:spPr>
      </p:pic>
      <p:sp>
        <p:nvSpPr>
          <p:cNvPr id="42" name="TextBox 41"/>
          <p:cNvSpPr txBox="1"/>
          <p:nvPr/>
        </p:nvSpPr>
        <p:spPr>
          <a:xfrm>
            <a:off x="6724497" y="2625242"/>
            <a:ext cx="2134210" cy="372161"/>
          </a:xfrm>
          <a:prstGeom prst="rect">
            <a:avLst/>
          </a:prstGeom>
          <a:noFill/>
          <a:ln/>
        </p:spPr>
        <p:txBody>
          <a:bodyPr wrap="square" lIns="0" rIns="0" tIns="0" bIns="0">
            <a:noAutofit/>
          </a:bodyPr>
          <a:lstStyle/>
          <a:p>
            <a:r>
              <a:rPr sz="1300" b="1">
                <a:solidFill>
                  <a:srgbClr val="1D1D1F"/>
                </a:solidFill>
                <a:latin typeface="Noto Sans JP"/>
              </a:rPr>
              <a:t>ランタイム相性と技術課題</a:t>
            </a:r>
          </a:p>
        </p:txBody>
      </p:sp>
      <p:sp>
        <p:nvSpPr>
          <p:cNvPr id="43" name="Rectangle 42"/>
          <p:cNvSpPr/>
          <p:nvPr/>
        </p:nvSpPr>
        <p:spPr>
          <a:xfrm>
            <a:off x="6409944" y="3854196"/>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9"/>
          <a:stretch>
            <a:fillRect/>
          </a:stretch>
        </p:blipFill>
        <p:spPr>
          <a:xfrm>
            <a:off x="6409944" y="3158338"/>
            <a:ext cx="152705" cy="133501"/>
          </a:xfrm>
          <a:prstGeom prst="rect">
            <a:avLst/>
          </a:prstGeom>
          <a:ln/>
        </p:spPr>
      </p:pic>
      <p:sp>
        <p:nvSpPr>
          <p:cNvPr id="45" name="TextBox 44"/>
          <p:cNvSpPr txBox="1"/>
          <p:nvPr/>
        </p:nvSpPr>
        <p:spPr>
          <a:xfrm>
            <a:off x="6676949" y="3110789"/>
            <a:ext cx="4972506" cy="228599"/>
          </a:xfrm>
          <a:prstGeom prst="rect">
            <a:avLst/>
          </a:prstGeom>
          <a:noFill/>
          <a:ln/>
        </p:spPr>
        <p:txBody>
          <a:bodyPr wrap="square" lIns="0" rIns="0" tIns="0" bIns="0">
            <a:noAutofit/>
          </a:bodyPr>
          <a:lstStyle/>
          <a:p>
            <a:r>
              <a:rPr sz="1200" b="1">
                <a:solidFill>
                  <a:srgbClr val="1D1D1F"/>
                </a:solidFill>
                <a:latin typeface="Noto Sans JP"/>
              </a:rPr>
              <a:t>macOS / Apple Silicon</a:t>
            </a:r>
          </a:p>
        </p:txBody>
      </p:sp>
      <p:sp>
        <p:nvSpPr>
          <p:cNvPr id="46" name="TextBox 45"/>
          <p:cNvSpPr txBox="1"/>
          <p:nvPr/>
        </p:nvSpPr>
        <p:spPr>
          <a:xfrm>
            <a:off x="6676949" y="3377794"/>
            <a:ext cx="4934102" cy="400506"/>
          </a:xfrm>
          <a:prstGeom prst="rect">
            <a:avLst/>
          </a:prstGeom>
          <a:noFill/>
          <a:ln/>
        </p:spPr>
        <p:txBody>
          <a:bodyPr wrap="square" lIns="0" rIns="0" tIns="0" bIns="0">
            <a:noAutofit/>
          </a:bodyPr>
          <a:lstStyle/>
          <a:p>
            <a:r>
              <a:rPr sz="1000" b="1">
                <a:solidFill>
                  <a:srgbClr val="424245"/>
                </a:solidFill>
                <a:latin typeface="Noto Sans JP"/>
              </a:rPr>
              <a:t>MLX-VLM:</a:t>
            </a:r>
            <a:r>
              <a:rPr sz="1000">
                <a:solidFill>
                  <a:srgbClr val="424245"/>
                </a:solidFill>
                <a:latin typeface="Noto Sans JP"/>
              </a:rPr>
              <a:t> Qwen2-VL等の利用例を具体コマンドで提示</a:t>
            </a:r>
            <a:r>
              <a:rPr sz="1000">
                <a:solidFill>
                  <a:srgbClr val="424245"/>
                </a:solidFill>
                <a:latin typeface="Noto Sans JP"/>
              </a:rPr>
              <a:t>。</a:t>
            </a:r>
          </a:p>
          <a:p>
            <a:r>
              <a:rPr sz="1000">
                <a:solidFill>
                  <a:srgbClr val="424245"/>
                </a:solidFill>
                <a:latin typeface="Noto Sans JP"/>
              </a:rPr>
              <a:t> Unified Memoryを活用し、システムメモリで大型モデルを実行可能。 </a:t>
            </a:r>
          </a:p>
        </p:txBody>
      </p:sp>
      <p:pic>
        <p:nvPicPr>
          <p:cNvPr id="47" name="Picture 46" descr="image.png"/>
          <p:cNvPicPr>
            <a:picLocks noChangeAspect="1"/>
          </p:cNvPicPr>
          <p:nvPr/>
        </p:nvPicPr>
        <p:blipFill>
          <a:blip r:embed="rId10"/>
          <a:stretch>
            <a:fillRect/>
          </a:stretch>
        </p:blipFill>
        <p:spPr>
          <a:xfrm>
            <a:off x="10021824" y="3396082"/>
            <a:ext cx="286207" cy="190194"/>
          </a:xfrm>
          <a:prstGeom prst="rect">
            <a:avLst/>
          </a:prstGeom>
          <a:ln/>
        </p:spPr>
      </p:pic>
      <p:sp>
        <p:nvSpPr>
          <p:cNvPr id="48" name="TextBox 47"/>
          <p:cNvSpPr txBox="1"/>
          <p:nvPr/>
        </p:nvSpPr>
        <p:spPr>
          <a:xfrm>
            <a:off x="10021824" y="3396082"/>
            <a:ext cx="286207" cy="191110"/>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[28]</a:t>
            </a:r>
          </a:p>
        </p:txBody>
      </p:sp>
      <p:sp>
        <p:nvSpPr>
          <p:cNvPr id="49" name="Rectangle 48"/>
          <p:cNvSpPr/>
          <p:nvPr/>
        </p:nvSpPr>
        <p:spPr>
          <a:xfrm>
            <a:off x="6409944" y="4721047"/>
            <a:ext cx="5124298"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1"/>
          <a:stretch>
            <a:fillRect/>
          </a:stretch>
        </p:blipFill>
        <p:spPr>
          <a:xfrm>
            <a:off x="6409944" y="4025189"/>
            <a:ext cx="152705" cy="133501"/>
          </a:xfrm>
          <a:prstGeom prst="rect">
            <a:avLst/>
          </a:prstGeom>
          <a:ln/>
        </p:spPr>
      </p:pic>
      <p:sp>
        <p:nvSpPr>
          <p:cNvPr id="51" name="TextBox 50"/>
          <p:cNvSpPr txBox="1"/>
          <p:nvPr/>
        </p:nvSpPr>
        <p:spPr>
          <a:xfrm>
            <a:off x="6676949" y="3977640"/>
            <a:ext cx="4972506" cy="228600"/>
          </a:xfrm>
          <a:prstGeom prst="rect">
            <a:avLst/>
          </a:prstGeom>
          <a:noFill/>
          <a:ln/>
        </p:spPr>
        <p:txBody>
          <a:bodyPr wrap="square" lIns="0" rIns="0" tIns="0" bIns="0">
            <a:noAutofit/>
          </a:bodyPr>
          <a:lstStyle/>
          <a:p>
            <a:r>
              <a:rPr sz="1200" b="1">
                <a:solidFill>
                  <a:srgbClr val="1D1D1F"/>
                </a:solidFill>
                <a:latin typeface="Noto Sans JP"/>
              </a:rPr>
              <a:t>Windows / GPU</a:t>
            </a:r>
          </a:p>
        </p:txBody>
      </p:sp>
      <p:sp>
        <p:nvSpPr>
          <p:cNvPr id="52" name="TextBox 51"/>
          <p:cNvSpPr txBox="1"/>
          <p:nvPr/>
        </p:nvSpPr>
        <p:spPr>
          <a:xfrm>
            <a:off x="6676949" y="4244645"/>
            <a:ext cx="4934102" cy="400506"/>
          </a:xfrm>
          <a:prstGeom prst="rect">
            <a:avLst/>
          </a:prstGeom>
          <a:noFill/>
          <a:ln/>
        </p:spPr>
        <p:txBody>
          <a:bodyPr wrap="square" lIns="0" rIns="0" tIns="0" bIns="0">
            <a:noAutofit/>
          </a:bodyPr>
          <a:lstStyle/>
          <a:p>
            <a:r>
              <a:rPr sz="1000" b="1">
                <a:solidFill>
                  <a:srgbClr val="424245"/>
                </a:solidFill>
                <a:latin typeface="Noto Sans JP"/>
              </a:rPr>
              <a:t>transformers / vLLM:</a:t>
            </a:r>
            <a:r>
              <a:rPr sz="1000">
                <a:solidFill>
                  <a:srgbClr val="424245"/>
                </a:solidFill>
                <a:latin typeface="Noto Sans JP"/>
              </a:rPr>
              <a:t> GPU推論が主流。モデル形式（Safetensors/AWQ等）とランタイムの対応に依存。 </a:t>
            </a:r>
          </a:p>
        </p:txBody>
      </p:sp>
      <p:pic>
        <p:nvPicPr>
          <p:cNvPr id="53" name="Picture 52" descr="image.png"/>
          <p:cNvPicPr>
            <a:picLocks noChangeAspect="1"/>
          </p:cNvPicPr>
          <p:nvPr/>
        </p:nvPicPr>
        <p:blipFill>
          <a:blip r:embed="rId12"/>
          <a:stretch>
            <a:fillRect/>
          </a:stretch>
        </p:blipFill>
        <p:spPr>
          <a:xfrm>
            <a:off x="6409944" y="4892040"/>
            <a:ext cx="152705" cy="133501"/>
          </a:xfrm>
          <a:prstGeom prst="rect">
            <a:avLst/>
          </a:prstGeom>
          <a:ln/>
        </p:spPr>
      </p:pic>
      <p:sp>
        <p:nvSpPr>
          <p:cNvPr id="54" name="TextBox 53"/>
          <p:cNvSpPr txBox="1"/>
          <p:nvPr/>
        </p:nvSpPr>
        <p:spPr>
          <a:xfrm>
            <a:off x="6676949" y="4844491"/>
            <a:ext cx="5048402" cy="228600"/>
          </a:xfrm>
          <a:prstGeom prst="rect">
            <a:avLst/>
          </a:prstGeom>
          <a:noFill/>
          <a:ln/>
        </p:spPr>
        <p:txBody>
          <a:bodyPr wrap="square" lIns="0" rIns="0" tIns="0" bIns="0">
            <a:noAutofit/>
          </a:bodyPr>
          <a:lstStyle/>
          <a:p>
            <a:r>
              <a:rPr sz="1200" b="1">
                <a:solidFill>
                  <a:srgbClr val="1D1D1F"/>
                </a:solidFill>
                <a:latin typeface="Noto Sans JP"/>
              </a:rPr>
              <a:t>技術的ボトルネック</a:t>
            </a:r>
          </a:p>
        </p:txBody>
      </p:sp>
      <p:sp>
        <p:nvSpPr>
          <p:cNvPr id="55" name="TextBox 54"/>
          <p:cNvSpPr txBox="1"/>
          <p:nvPr/>
        </p:nvSpPr>
        <p:spPr>
          <a:xfrm>
            <a:off x="6676949" y="5111496"/>
            <a:ext cx="4934102" cy="400506"/>
          </a:xfrm>
          <a:prstGeom prst="rect">
            <a:avLst/>
          </a:prstGeom>
          <a:noFill/>
          <a:ln/>
        </p:spPr>
        <p:txBody>
          <a:bodyPr wrap="square" lIns="0" rIns="0" tIns="0" bIns="0">
            <a:noAutofit/>
          </a:bodyPr>
          <a:lstStyle/>
          <a:p>
            <a:r>
              <a:rPr sz="1000">
                <a:solidFill>
                  <a:srgbClr val="424245"/>
                </a:solidFill>
                <a:latin typeface="Noto Sans JP"/>
              </a:rPr>
              <a:t>画像トークンが増えるとメモリ/速度が急落。解像度制御やmax-pixels設定が運用の肝となる。</a:t>
            </a:r>
          </a:p>
        </p:txBody>
      </p:sp>
      <p:pic>
        <p:nvPicPr>
          <p:cNvPr id="56" name="Picture 55" descr="image.png"/>
          <p:cNvPicPr>
            <a:picLocks noChangeAspect="1"/>
          </p:cNvPicPr>
          <p:nvPr/>
        </p:nvPicPr>
        <p:blipFill>
          <a:blip r:embed="rId13"/>
          <a:stretch>
            <a:fillRect/>
          </a:stretch>
        </p:blipFill>
        <p:spPr>
          <a:xfrm>
            <a:off x="6409944" y="5797296"/>
            <a:ext cx="942745" cy="228600"/>
          </a:xfrm>
          <a:prstGeom prst="rect">
            <a:avLst/>
          </a:prstGeom>
          <a:ln/>
        </p:spPr>
      </p:pic>
      <p:sp>
        <p:nvSpPr>
          <p:cNvPr id="57" name="TextBox 56"/>
          <p:cNvSpPr txBox="1"/>
          <p:nvPr/>
        </p:nvSpPr>
        <p:spPr>
          <a:xfrm>
            <a:off x="6409944" y="5797296"/>
            <a:ext cx="943660"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Visual Tokens</a:t>
            </a:r>
          </a:p>
        </p:txBody>
      </p:sp>
      <p:pic>
        <p:nvPicPr>
          <p:cNvPr id="58" name="Picture 57" descr="image.png"/>
          <p:cNvPicPr>
            <a:picLocks noChangeAspect="1"/>
          </p:cNvPicPr>
          <p:nvPr/>
        </p:nvPicPr>
        <p:blipFill>
          <a:blip r:embed="rId14"/>
          <a:stretch>
            <a:fillRect/>
          </a:stretch>
        </p:blipFill>
        <p:spPr>
          <a:xfrm>
            <a:off x="7404811" y="5797296"/>
            <a:ext cx="1123797" cy="228600"/>
          </a:xfrm>
          <a:prstGeom prst="rect">
            <a:avLst/>
          </a:prstGeom>
          <a:ln/>
        </p:spPr>
      </p:pic>
      <p:sp>
        <p:nvSpPr>
          <p:cNvPr id="59" name="TextBox 58"/>
          <p:cNvSpPr txBox="1"/>
          <p:nvPr/>
        </p:nvSpPr>
        <p:spPr>
          <a:xfrm>
            <a:off x="7404811" y="5797296"/>
            <a:ext cx="1124711"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Multi-modal RAG</a:t>
            </a:r>
          </a:p>
        </p:txBody>
      </p:sp>
      <p:pic>
        <p:nvPicPr>
          <p:cNvPr id="60" name="Picture 59" descr="image.png"/>
          <p:cNvPicPr>
            <a:picLocks noChangeAspect="1"/>
          </p:cNvPicPr>
          <p:nvPr/>
        </p:nvPicPr>
        <p:blipFill>
          <a:blip r:embed="rId15"/>
          <a:stretch>
            <a:fillRect/>
          </a:stretch>
        </p:blipFill>
        <p:spPr>
          <a:xfrm>
            <a:off x="8584387" y="5797296"/>
            <a:ext cx="1238097" cy="228600"/>
          </a:xfrm>
          <a:prstGeom prst="rect">
            <a:avLst/>
          </a:prstGeom>
          <a:ln/>
        </p:spPr>
      </p:pic>
      <p:sp>
        <p:nvSpPr>
          <p:cNvPr id="61" name="TextBox 60"/>
          <p:cNvSpPr txBox="1"/>
          <p:nvPr/>
        </p:nvSpPr>
        <p:spPr>
          <a:xfrm>
            <a:off x="8584387" y="5797296"/>
            <a:ext cx="1239012"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Resolution Control</a:t>
            </a:r>
          </a:p>
        </p:txBody>
      </p:sp>
      <p:sp>
        <p:nvSpPr>
          <p:cNvPr id="62" name="Rectangle 61"/>
          <p:cNvSpPr/>
          <p:nvPr/>
        </p:nvSpPr>
        <p:spPr>
          <a:xfrm>
            <a:off x="457200" y="6453835"/>
            <a:ext cx="11277295" cy="981151"/>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mage.png"/>
          <p:cNvPicPr>
            <a:picLocks noChangeAspect="1"/>
          </p:cNvPicPr>
          <p:nvPr/>
        </p:nvPicPr>
        <p:blipFill>
          <a:blip r:embed="rId16"/>
          <a:stretch>
            <a:fillRect/>
          </a:stretch>
        </p:blipFill>
        <p:spPr>
          <a:xfrm>
            <a:off x="619049" y="6634886"/>
            <a:ext cx="133501" cy="171907"/>
          </a:xfrm>
          <a:prstGeom prst="rect">
            <a:avLst/>
          </a:prstGeom>
          <a:ln/>
        </p:spPr>
      </p:pic>
      <p:sp>
        <p:nvSpPr>
          <p:cNvPr id="64" name="TextBox 63"/>
          <p:cNvSpPr txBox="1"/>
          <p:nvPr/>
        </p:nvSpPr>
        <p:spPr>
          <a:xfrm>
            <a:off x="866850" y="6615683"/>
            <a:ext cx="10821010" cy="219455"/>
          </a:xfrm>
          <a:prstGeom prst="rect">
            <a:avLst/>
          </a:prstGeom>
          <a:noFill/>
          <a:ln/>
        </p:spPr>
        <p:txBody>
          <a:bodyPr wrap="square" lIns="0" rIns="0" tIns="0" bIns="0">
            <a:noAutofit/>
          </a:bodyPr>
          <a:lstStyle/>
          <a:p>
            <a:r>
              <a:rPr sz="1100" b="1">
                <a:solidFill>
                  <a:srgbClr val="78350F"/>
                </a:solidFill>
                <a:latin typeface="Noto Sans JP"/>
              </a:rPr>
              <a:t>設計含意（Design Implication）</a:t>
            </a:r>
          </a:p>
        </p:txBody>
      </p:sp>
      <p:sp>
        <p:nvSpPr>
          <p:cNvPr id="65" name="TextBox 64"/>
          <p:cNvSpPr txBox="1"/>
          <p:nvPr/>
        </p:nvSpPr>
        <p:spPr>
          <a:xfrm>
            <a:off x="866850" y="6868058"/>
            <a:ext cx="10782605" cy="400507"/>
          </a:xfrm>
          <a:prstGeom prst="rect">
            <a:avLst/>
          </a:prstGeom>
          <a:noFill/>
          <a:ln/>
        </p:spPr>
        <p:txBody>
          <a:bodyPr wrap="square" lIns="0" rIns="0" tIns="0" bIns="0">
            <a:noAutofit/>
          </a:bodyPr>
          <a:lstStyle/>
          <a:p>
            <a:r>
              <a:rPr sz="1000">
                <a:solidFill>
                  <a:srgbClr val="92400E"/>
                </a:solidFill>
                <a:latin typeface="Noto Sans JP"/>
              </a:rPr>
              <a:t>「画像理解」はテキストLLMよりも前処理・プロセッサ依存が強いため、モデル単体性能よりも「使用するランタイムがそのモデルを明示的にサポートしているか」を最優先で確認することが安全です。特にApple Silicon環境ではMLX-VLMの対応状況が鍵となります。</a:t>
            </a:r>
          </a:p>
        </p:txBody>
      </p:sp>
      <p:sp>
        <p:nvSpPr>
          <p:cNvPr id="66" name="Rectangle 65"/>
          <p:cNvSpPr/>
          <p:nvPr/>
        </p:nvSpPr>
        <p:spPr>
          <a:xfrm>
            <a:off x="0" y="7734910"/>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773491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774496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69" name="TextBox 68"/>
          <p:cNvSpPr txBox="1"/>
          <p:nvPr/>
        </p:nvSpPr>
        <p:spPr>
          <a:xfrm>
            <a:off x="11385194" y="7744968"/>
            <a:ext cx="428854" cy="171907"/>
          </a:xfrm>
          <a:prstGeom prst="rect">
            <a:avLst/>
          </a:prstGeom>
          <a:noFill/>
          <a:ln/>
        </p:spPr>
        <p:txBody>
          <a:bodyPr wrap="square" lIns="0" rIns="0" tIns="0" bIns="0">
            <a:noAutofit/>
          </a:bodyPr>
          <a:lstStyle/>
          <a:p>
            <a:r>
              <a:rPr sz="900">
                <a:solidFill>
                  <a:srgbClr val="86868B"/>
                </a:solidFill>
                <a:latin typeface="Noto Sans JP"/>
              </a:rPr>
              <a:t>21 / 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2981858" cy="381305"/>
          </a:xfrm>
          <a:prstGeom prst="rect">
            <a:avLst/>
          </a:prstGeom>
          <a:noFill/>
          <a:ln/>
        </p:spPr>
        <p:txBody>
          <a:bodyPr wrap="square" lIns="0" rIns="0" tIns="0" bIns="0">
            <a:noAutofit/>
          </a:bodyPr>
          <a:lstStyle/>
          <a:p>
            <a:r>
              <a:rPr sz="2100" b="1">
                <a:solidFill>
                  <a:srgbClr val="FFFFFF"/>
                </a:solidFill>
                <a:latin typeface="Noto Sans JP"/>
              </a:rPr>
              <a:t>VLM/LMM（完全版表）</a:t>
            </a:r>
          </a:p>
        </p:txBody>
      </p:sp>
      <p:sp>
        <p:nvSpPr>
          <p:cNvPr id="8" name="TextBox 7"/>
          <p:cNvSpPr txBox="1"/>
          <p:nvPr/>
        </p:nvSpPr>
        <p:spPr>
          <a:xfrm>
            <a:off x="7964424" y="457200"/>
            <a:ext cx="4452214" cy="228600"/>
          </a:xfrm>
          <a:prstGeom prst="rect">
            <a:avLst/>
          </a:prstGeom>
          <a:noFill/>
          <a:ln/>
        </p:spPr>
        <p:txBody>
          <a:bodyPr wrap="square" lIns="0" rIns="0" tIns="0" bIns="0">
            <a:noAutofit/>
          </a:bodyPr>
          <a:lstStyle/>
          <a:p>
            <a:r>
              <a:rPr sz="1200">
                <a:solidFill>
                  <a:srgbClr val="A1A1A6"/>
                </a:solidFill>
                <a:latin typeface="Noto Sans JP"/>
              </a:rPr>
              <a:t>Qwen2-VL / Phi-3-Vision / InternVL2 / LLaVA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181905"/>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36381">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36381">
                <a:tc>
                  <a:txBody>
                    <a:bodyPr/>
                    <a:lstStyle/>
                    <a:p>
                      <a:r>
                        <a:t>Qwen2-VL</a:t>
                      </a:r>
                    </a:p>
                    <a:p>
                      <a:r>
                        <a:t>Qwen[42]</a:t>
                      </a:r>
                    </a:p>
                  </a:txBody>
                  <a:tcPr/>
                </a:tc>
                <a:tc>
                  <a:txBody>
                    <a:bodyPr/>
                    <a:lstStyle/>
                    <a:p>
                      <a:r>
                        <a:t>2B</a:t>
                      </a:r>
                    </a:p>
                    <a:p>
                      <a:r>
                        <a:t>7B</a:t>
                      </a:r>
                    </a:p>
                    <a:p>
                      <a:r>
                        <a:t>72B</a:t>
                      </a:r>
                    </a:p>
                  </a:txBody>
                  <a:tcPr/>
                </a:tc>
                <a:tc>
                  <a:txBody>
                    <a:bodyPr/>
                    <a:lstStyle/>
                    <a:p>
                      <a:r>
                        <a:t>2B/7Bがローカル現実ライン</a:t>
                      </a:r>
                    </a:p>
                    <a:p>
                      <a:r>
                        <a:t>72Bは上位ハード前提</a:t>
                      </a:r>
                    </a:p>
                  </a:txBody>
                  <a:tcPr/>
                </a:tc>
                <a:tc>
                  <a:txBody>
                    <a:bodyPr/>
                    <a:lstStyle/>
                    <a:p>
                      <a:r>
                        <a:t>得意画像＋テキストの汎用</a:t>
                      </a:r>
                    </a:p>
                    <a:p>
                      <a:r>
                        <a:t>画像トークン増でメモリ/速度急落→解像度制御が肝</a:t>
                      </a:r>
                    </a:p>
                  </a:txBody>
                  <a:tcPr/>
                </a:tc>
                <a:tc>
                  <a:txBody>
                    <a:bodyPr/>
                    <a:lstStyle/>
                    <a:p>
                      <a:r>
                        <a:t>Mac: MLX-VLMが利用例を明示[28]</a:t>
                      </a:r>
                    </a:p>
                    <a:p>
                      <a:r>
                        <a:t>Win: transformers / vLLM</a:t>
                      </a:r>
                    </a:p>
                  </a:txBody>
                  <a:tcPr/>
                </a:tc>
                <a:tc>
                  <a:txBody>
                    <a:bodyPr/>
                    <a:lstStyle/>
                    <a:p>
                      <a:r>
                        <a:t>Risk視覚トークン肥大によるリソース枯渇</a:t>
                      </a:r>
                    </a:p>
                  </a:txBody>
                  <a:tcPr/>
                </a:tc>
              </a:tr>
              <a:tr h="1036381">
                <a:tc>
                  <a:txBody>
                    <a:bodyPr/>
                    <a:lstStyle/>
                    <a:p>
                      <a:r>
                        <a:t>Phi-3-Vision</a:t>
                      </a:r>
                    </a:p>
                    <a:p>
                      <a:r>
                        <a:t>Microsoft[43]</a:t>
                      </a:r>
                    </a:p>
                  </a:txBody>
                  <a:tcPr/>
                </a:tc>
                <a:tc>
                  <a:txBody>
                    <a:bodyPr/>
                    <a:lstStyle/>
                    <a:p>
                      <a:r>
                        <a:t>4.2B</a:t>
                      </a:r>
                    </a:p>
                    <a:p>
                      <a:r>
                        <a:t>(128K)</a:t>
                      </a:r>
                    </a:p>
                  </a:txBody>
                  <a:tcPr/>
                </a:tc>
                <a:tc>
                  <a:txBody>
                    <a:bodyPr/>
                    <a:lstStyle/>
                    <a:p>
                      <a:r>
                        <a:t>形式依存でローカル適性あり</a:t>
                      </a:r>
                    </a:p>
                    <a:p>
                      <a:r>
                        <a:t>128K長文対応</a:t>
                      </a:r>
                    </a:p>
                  </a:txBody>
                  <a:tcPr/>
                </a:tc>
                <a:tc>
                  <a:txBody>
                    <a:bodyPr/>
                    <a:lstStyle/>
                    <a:p>
                      <a:r>
                        <a:t>得意軽量マルチモーダル＋長文を標榜</a:t>
                      </a:r>
                    </a:p>
                    <a:p>
                      <a:r>
                        <a:t>“実務的なOCR読取”に強み</a:t>
                      </a:r>
                    </a:p>
                  </a:txBody>
                  <a:tcPr/>
                </a:tc>
                <a:tc>
                  <a:txBody>
                    <a:bodyPr/>
                    <a:lstStyle/>
                    <a:p>
                      <a:r>
                        <a:t>Mac: MLX変換次第</a:t>
                      </a:r>
                    </a:p>
                    <a:p>
                      <a:r>
                        <a:t>Win: GPU推論</a:t>
                      </a:r>
                    </a:p>
                  </a:txBody>
                  <a:tcPr/>
                </a:tc>
                <a:tc>
                  <a:txBody>
                    <a:bodyPr/>
                    <a:lstStyle/>
                    <a:p>
                      <a:r>
                        <a:t>Risk長文はKVが支配しやすく、メモリ管理が必須[43]</a:t>
                      </a:r>
                    </a:p>
                  </a:txBody>
                  <a:tcPr/>
                </a:tc>
              </a:tr>
              <a:tr h="1036381">
                <a:tc>
                  <a:txBody>
                    <a:bodyPr/>
                    <a:lstStyle/>
                    <a:p>
                      <a:r>
                        <a:t>InternVL2</a:t>
                      </a:r>
                    </a:p>
                    <a:p>
                      <a:r>
                        <a:t>OpenGVLab[44-45]</a:t>
                      </a:r>
                    </a:p>
                  </a:txBody>
                  <a:tcPr/>
                </a:tc>
                <a:tc>
                  <a:txBody>
                    <a:bodyPr/>
                    <a:lstStyle/>
                    <a:p>
                      <a:r>
                        <a:t>1B/2B</a:t>
                      </a:r>
                    </a:p>
                    <a:p>
                      <a:r>
                        <a:t>4B/8B等</a:t>
                      </a:r>
                    </a:p>
                  </a:txBody>
                  <a:tcPr/>
                </a:tc>
                <a:tc>
                  <a:txBody>
                    <a:bodyPr/>
                    <a:lstStyle/>
                    <a:p>
                      <a:r>
                        <a:t>4B等がローカル向き</a:t>
                      </a:r>
                    </a:p>
                    <a:p>
                      <a:r>
                        <a:t>モデル群が複数サイズ展開</a:t>
                      </a:r>
                    </a:p>
                  </a:txBody>
                  <a:tcPr/>
                </a:tc>
                <a:tc>
                  <a:txBody>
                    <a:bodyPr/>
                    <a:lstStyle/>
                    <a:p>
                      <a:r>
                        <a:t>得意画像理解の系列として設計</a:t>
                      </a:r>
                    </a:p>
                    <a:p>
                      <a:r>
                        <a:t>構成要素をモデルカードで詳細説明[45]</a:t>
                      </a:r>
                    </a:p>
                  </a:txBody>
                  <a:tcPr/>
                </a:tc>
                <a:tc>
                  <a:txBody>
                    <a:bodyPr/>
                    <a:lstStyle/>
                    <a:p>
                      <a:r>
                        <a:t>Win: GPU / 形式次第</a:t>
                      </a:r>
                    </a:p>
                    <a:p>
                      <a:r>
                        <a:t>Mac: 実装依存</a:t>
                      </a:r>
                    </a:p>
                  </a:txBody>
                  <a:tcPr/>
                </a:tc>
                <a:tc>
                  <a:txBody>
                    <a:bodyPr/>
                    <a:lstStyle/>
                    <a:p>
                      <a:r>
                        <a:t>Riskエコシステム差（変換・プロセッサ依存）が運用の難所</a:t>
                      </a:r>
                    </a:p>
                  </a:txBody>
                  <a:tcPr/>
                </a:tc>
              </a:tr>
              <a:tr h="1036381">
                <a:tc>
                  <a:txBody>
                    <a:bodyPr/>
                    <a:lstStyle/>
                    <a:p>
                      <a:r>
                        <a:t>LLaVA</a:t>
                      </a:r>
                    </a:p>
                    <a:p>
                      <a:r>
                        <a:t>Community[46-47]</a:t>
                      </a:r>
                    </a:p>
                  </a:txBody>
                  <a:tcPr/>
                </a:tc>
                <a:tc>
                  <a:txBody>
                    <a:bodyPr/>
                    <a:lstStyle/>
                    <a:p>
                      <a:r>
                        <a:t>7B</a:t>
                      </a:r>
                    </a:p>
                    <a:p>
                      <a:r>
                        <a:t>13B</a:t>
                      </a:r>
                    </a:p>
                  </a:txBody>
                  <a:tcPr/>
                </a:tc>
                <a:tc>
                  <a:txBody>
                    <a:bodyPr/>
                    <a:lstStyle/>
                    <a:p>
                      <a:r>
                        <a:t>4bitでの運用示唆</a:t>
                      </a:r>
                    </a:p>
                    <a:p>
                      <a:r>
                        <a:t>13Bで12GB VRAM動作可[47]</a:t>
                      </a:r>
                    </a:p>
                  </a:txBody>
                  <a:tcPr/>
                </a:tc>
                <a:tc>
                  <a:txBody>
                    <a:bodyPr/>
                    <a:lstStyle/>
                    <a:p>
                      <a:r>
                        <a:t>得意画像チャット用途</a:t>
                      </a:r>
                    </a:p>
                    <a:p>
                      <a:r>
                        <a:t>Win GPUで構築しやすい</a:t>
                      </a:r>
                    </a:p>
                  </a:txBody>
                  <a:tcPr/>
                </a:tc>
                <a:tc>
                  <a:txBody>
                    <a:bodyPr/>
                    <a:lstStyle/>
                    <a:p>
                      <a:r>
                        <a:t>Win: GPU推論で実績多</a:t>
                      </a:r>
                    </a:p>
                    <a:p>
                      <a:r>
                        <a:t>Mac: llama.cpp等</a:t>
                      </a:r>
                    </a:p>
                  </a:txBody>
                  <a:tcPr/>
                </a:tc>
                <a:tc>
                  <a:txBody>
                    <a:bodyPr/>
                    <a:lstStyle/>
                    <a:p>
                      <a:r>
                        <a:t>RiskベースLLMや実装差が大きく、モデルカードとの整合確認が必要</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画像理解はテキストLLMより前処理・プロセッサ依存が強いため、「ランタイムがそのモデルを明示サポートしているか」を一次確認してください（例：MLX-VLMがQwen2-VLのコマンド提示）。72B級はローカルでは上位機（96GB+等）が必要で、現実は2B/7B級で設計しま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22 | ローカルAI 技術調査レポート 2026</a:t>
            </a:r>
          </a:p>
        </p:txBody>
      </p:sp>
      <p:sp>
        <p:nvSpPr>
          <p:cNvPr id="19" name="TextBox 18"/>
          <p:cNvSpPr txBox="1"/>
          <p:nvPr/>
        </p:nvSpPr>
        <p:spPr>
          <a:xfrm>
            <a:off x="9172346" y="6586423"/>
            <a:ext cx="3049524" cy="162763"/>
          </a:xfrm>
          <a:prstGeom prst="rect">
            <a:avLst/>
          </a:prstGeom>
          <a:noFill/>
          <a:ln/>
        </p:spPr>
        <p:txBody>
          <a:bodyPr wrap="square" lIns="0" rIns="0" tIns="0" bIns="0">
            <a:noAutofit/>
          </a:bodyPr>
          <a:lstStyle/>
          <a:p>
            <a:r>
              <a:rPr sz="900">
                <a:solidFill>
                  <a:srgbClr val="86868B"/>
                </a:solidFill>
                <a:latin typeface="Noto Sans JP"/>
              </a:rPr>
              <a:t>Data Source: Technical Survey Report [28, 42-47]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p:spPr>
      </p:pic>
      <p:sp>
        <p:nvSpPr>
          <p:cNvPr id="8" name="TextBox 7"/>
          <p:cNvSpPr txBox="1"/>
          <p:nvPr/>
        </p:nvSpPr>
        <p:spPr>
          <a:xfrm>
            <a:off x="875994" y="176479"/>
            <a:ext cx="3514954" cy="400507"/>
          </a:xfrm>
          <a:prstGeom prst="rect">
            <a:avLst/>
          </a:prstGeom>
          <a:noFill/>
          <a:ln/>
        </p:spPr>
        <p:txBody>
          <a:bodyPr wrap="square" lIns="0" rIns="0" tIns="0" bIns="0">
            <a:noAutofit/>
          </a:bodyPr>
          <a:lstStyle/>
          <a:p>
            <a:r>
              <a:rPr sz="2100" b="1">
                <a:solidFill>
                  <a:srgbClr val="1D1D1F"/>
                </a:solidFill>
                <a:latin typeface="Noto Sans JP"/>
              </a:rPr>
              <a:t>採用判断基準（VLM/LMM）</a:t>
            </a:r>
          </a:p>
        </p:txBody>
      </p:sp>
      <p:sp>
        <p:nvSpPr>
          <p:cNvPr id="9" name="TextBox 8"/>
          <p:cNvSpPr txBox="1"/>
          <p:nvPr/>
        </p:nvSpPr>
        <p:spPr>
          <a:xfrm>
            <a:off x="9756648" y="261518"/>
            <a:ext cx="2139696" cy="228600"/>
          </a:xfrm>
          <a:prstGeom prst="rect">
            <a:avLst/>
          </a:prstGeom>
          <a:noFill/>
          <a:ln/>
        </p:spPr>
        <p:txBody>
          <a:bodyPr wrap="square" lIns="0" rIns="0" tIns="0" bIns="0">
            <a:noAutofit/>
          </a:bodyPr>
          <a:lstStyle/>
          <a:p>
            <a:r>
              <a:rPr sz="1200">
                <a:solidFill>
                  <a:srgbClr val="86868B"/>
                </a:solidFill>
                <a:latin typeface="Noto Sans JP"/>
              </a:rPr>
              <a:t>ランタイム適合性と運用設計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結論：画像理解は前処理・プロセッサ依存が強いため、「ランタイムの明示サポート確認」が最優先です。2B/7B級を基本とし、不足分をRAG/OCRで補うのが安全策です。</a:t>
            </a:r>
          </a:p>
        </p:txBody>
      </p:sp>
      <p:sp>
        <p:nvSpPr>
          <p:cNvPr id="13" name="Rectangle 12"/>
          <p:cNvSpPr/>
          <p:nvPr/>
        </p:nvSpPr>
        <p:spPr>
          <a:xfrm>
            <a:off x="457200" y="2095805"/>
            <a:ext cx="11277295" cy="1714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74466" y="2681021"/>
            <a:ext cx="105155" cy="171906"/>
          </a:xfrm>
          <a:prstGeom prst="rect">
            <a:avLst/>
          </a:prstGeom>
          <a:ln/>
        </p:spPr>
      </p:pic>
      <p:pic>
        <p:nvPicPr>
          <p:cNvPr id="15" name="Picture 14" descr="image.png"/>
          <p:cNvPicPr>
            <a:picLocks noChangeAspect="1"/>
          </p:cNvPicPr>
          <p:nvPr/>
        </p:nvPicPr>
        <p:blipFill>
          <a:blip r:embed="rId4"/>
          <a:stretch>
            <a:fillRect/>
          </a:stretch>
        </p:blipFill>
        <p:spPr>
          <a:xfrm>
            <a:off x="6043270" y="2681021"/>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8812987" y="2681021"/>
            <a:ext cx="105155" cy="171906"/>
          </a:xfrm>
          <a:prstGeom prst="rect">
            <a:avLst/>
          </a:prstGeom>
          <a:ln/>
        </p:spPr>
      </p:pic>
      <p:sp>
        <p:nvSpPr>
          <p:cNvPr id="17" name="Rectangle 16"/>
          <p:cNvSpPr/>
          <p:nvPr/>
        </p:nvSpPr>
        <p:spPr>
          <a:xfrm>
            <a:off x="457200"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308653"/>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94606"/>
            <a:ext cx="114299" cy="133501"/>
          </a:xfrm>
          <a:prstGeom prst="rect">
            <a:avLst/>
          </a:prstGeom>
          <a:ln/>
        </p:spPr>
      </p:pic>
      <p:sp>
        <p:nvSpPr>
          <p:cNvPr id="21" name="TextBox 20"/>
          <p:cNvSpPr txBox="1"/>
          <p:nvPr/>
        </p:nvSpPr>
        <p:spPr>
          <a:xfrm>
            <a:off x="1057046" y="4347058"/>
            <a:ext cx="1317650" cy="228600"/>
          </a:xfrm>
          <a:prstGeom prst="rect">
            <a:avLst/>
          </a:prstGeom>
          <a:noFill/>
          <a:ln/>
        </p:spPr>
        <p:txBody>
          <a:bodyPr wrap="square" lIns="0" rIns="0" tIns="0" bIns="0">
            <a:noAutofit/>
          </a:bodyPr>
          <a:lstStyle/>
          <a:p>
            <a:r>
              <a:rPr sz="1200" b="1">
                <a:solidFill>
                  <a:srgbClr val="1D1D1F"/>
                </a:solidFill>
                <a:latin typeface="Noto Sans JP"/>
              </a:rPr>
              <a:t>ランタイム適合性</a:t>
            </a:r>
          </a:p>
        </p:txBody>
      </p:sp>
      <p:pic>
        <p:nvPicPr>
          <p:cNvPr id="22" name="Picture 21" descr="image.png"/>
          <p:cNvPicPr>
            <a:picLocks noChangeAspect="1"/>
          </p:cNvPicPr>
          <p:nvPr/>
        </p:nvPicPr>
        <p:blipFill>
          <a:blip r:embed="rId6"/>
          <a:stretch>
            <a:fillRect/>
          </a:stretch>
        </p:blipFill>
        <p:spPr>
          <a:xfrm>
            <a:off x="657454" y="4873752"/>
            <a:ext cx="95098" cy="95098"/>
          </a:xfrm>
          <a:prstGeom prst="rect">
            <a:avLst/>
          </a:prstGeom>
          <a:ln/>
        </p:spPr>
      </p:pic>
      <p:sp>
        <p:nvSpPr>
          <p:cNvPr id="23" name="TextBox 22"/>
          <p:cNvSpPr txBox="1"/>
          <p:nvPr/>
        </p:nvSpPr>
        <p:spPr>
          <a:xfrm>
            <a:off x="752551" y="4999939"/>
            <a:ext cx="3219602" cy="562355"/>
          </a:xfrm>
          <a:prstGeom prst="rect">
            <a:avLst/>
          </a:prstGeom>
          <a:noFill/>
          <a:ln/>
        </p:spPr>
        <p:txBody>
          <a:bodyPr wrap="square" lIns="0" rIns="0" tIns="0" bIns="0">
            <a:noAutofit/>
          </a:bodyPr>
          <a:lstStyle/>
          <a:p>
            <a:r>
              <a:rPr sz="900" b="1">
                <a:solidFill>
                  <a:srgbClr val="1D1D1F"/>
                </a:solidFill>
                <a:latin typeface="Noto Sans JP"/>
              </a:rPr>
              <a:t>一次情報の確認</a:t>
            </a:r>
          </a:p>
          <a:p>
            <a:r>
              <a:rPr sz="900">
                <a:solidFill>
                  <a:srgbClr val="424245"/>
                </a:solidFill>
                <a:latin typeface="Noto Sans JP"/>
              </a:rPr>
              <a:t> ランタイムがモデルを明示サポートしているか確認が安全（例: MLX-VLMのQwen2-VL対応コマンド提示）。 </a:t>
            </a:r>
          </a:p>
        </p:txBody>
      </p:sp>
      <p:pic>
        <p:nvPicPr>
          <p:cNvPr id="24" name="Picture 23" descr="image.png"/>
          <p:cNvPicPr>
            <a:picLocks noChangeAspect="1"/>
          </p:cNvPicPr>
          <p:nvPr/>
        </p:nvPicPr>
        <p:blipFill>
          <a:blip r:embed="rId6"/>
          <a:stretch>
            <a:fillRect/>
          </a:stretch>
        </p:blipFill>
        <p:spPr>
          <a:xfrm>
            <a:off x="657454" y="5711342"/>
            <a:ext cx="95098" cy="95098"/>
          </a:xfrm>
          <a:prstGeom prst="rect">
            <a:avLst/>
          </a:prstGeom>
          <a:ln/>
        </p:spPr>
      </p:pic>
      <p:sp>
        <p:nvSpPr>
          <p:cNvPr id="25" name="TextBox 24"/>
          <p:cNvSpPr txBox="1"/>
          <p:nvPr/>
        </p:nvSpPr>
        <p:spPr>
          <a:xfrm>
            <a:off x="752551" y="5837530"/>
            <a:ext cx="3219602" cy="562356"/>
          </a:xfrm>
          <a:prstGeom prst="rect">
            <a:avLst/>
          </a:prstGeom>
          <a:noFill/>
          <a:ln/>
        </p:spPr>
        <p:txBody>
          <a:bodyPr wrap="square" lIns="0" rIns="0" tIns="0" bIns="0">
            <a:noAutofit/>
          </a:bodyPr>
          <a:lstStyle/>
          <a:p>
            <a:r>
              <a:rPr sz="900" b="1">
                <a:solidFill>
                  <a:srgbClr val="1D1D1F"/>
                </a:solidFill>
                <a:latin typeface="Noto Sans JP"/>
              </a:rPr>
              <a:t>プロセッサ依存性</a:t>
            </a:r>
          </a:p>
          <a:p>
            <a:r>
              <a:rPr sz="900">
                <a:solidFill>
                  <a:srgbClr val="424245"/>
                </a:solidFill>
                <a:latin typeface="Noto Sans JP"/>
              </a:rPr>
              <a:t> テキストLLMより前処理（画像トークン化）の依存が強く、変換ミスが起きやすい。 </a:t>
            </a:r>
          </a:p>
        </p:txBody>
      </p:sp>
      <p:sp>
        <p:nvSpPr>
          <p:cNvPr id="26" name="Rectangle 25"/>
          <p:cNvSpPr/>
          <p:nvPr/>
        </p:nvSpPr>
        <p:spPr>
          <a:xfrm>
            <a:off x="4280306"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89958"/>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308653"/>
            <a:ext cx="304494" cy="304494"/>
          </a:xfrm>
          <a:prstGeom prst="rect">
            <a:avLst/>
          </a:prstGeom>
          <a:solidFill>
            <a:srgbClr val="5856D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394606"/>
            <a:ext cx="171906" cy="133501"/>
          </a:xfrm>
          <a:prstGeom prst="rect">
            <a:avLst/>
          </a:prstGeom>
          <a:ln/>
        </p:spPr>
      </p:pic>
      <p:sp>
        <p:nvSpPr>
          <p:cNvPr id="30" name="TextBox 29"/>
          <p:cNvSpPr txBox="1"/>
          <p:nvPr/>
        </p:nvSpPr>
        <p:spPr>
          <a:xfrm>
            <a:off x="4880153" y="4347058"/>
            <a:ext cx="1591055" cy="228600"/>
          </a:xfrm>
          <a:prstGeom prst="rect">
            <a:avLst/>
          </a:prstGeom>
          <a:noFill/>
          <a:ln/>
        </p:spPr>
        <p:txBody>
          <a:bodyPr wrap="square" lIns="0" rIns="0" tIns="0" bIns="0">
            <a:noAutofit/>
          </a:bodyPr>
          <a:lstStyle/>
          <a:p>
            <a:r>
              <a:rPr sz="1200" b="1">
                <a:solidFill>
                  <a:srgbClr val="1D1D1F"/>
                </a:solidFill>
                <a:latin typeface="Noto Sans JP"/>
              </a:rPr>
              <a:t>運用設計（2B/7B級）</a:t>
            </a:r>
          </a:p>
        </p:txBody>
      </p:sp>
      <p:pic>
        <p:nvPicPr>
          <p:cNvPr id="31" name="Picture 30" descr="image.png"/>
          <p:cNvPicPr>
            <a:picLocks noChangeAspect="1"/>
          </p:cNvPicPr>
          <p:nvPr/>
        </p:nvPicPr>
        <p:blipFill>
          <a:blip r:embed="rId6"/>
          <a:stretch>
            <a:fillRect/>
          </a:stretch>
        </p:blipFill>
        <p:spPr>
          <a:xfrm>
            <a:off x="4479646" y="4873752"/>
            <a:ext cx="95098" cy="95098"/>
          </a:xfrm>
          <a:prstGeom prst="rect">
            <a:avLst/>
          </a:prstGeom>
          <a:ln/>
        </p:spPr>
      </p:pic>
      <p:sp>
        <p:nvSpPr>
          <p:cNvPr id="32" name="TextBox 31"/>
          <p:cNvSpPr txBox="1"/>
          <p:nvPr/>
        </p:nvSpPr>
        <p:spPr>
          <a:xfrm>
            <a:off x="4574743" y="4999939"/>
            <a:ext cx="3219602" cy="562355"/>
          </a:xfrm>
          <a:prstGeom prst="rect">
            <a:avLst/>
          </a:prstGeom>
          <a:noFill/>
          <a:ln/>
        </p:spPr>
        <p:txBody>
          <a:bodyPr wrap="square" lIns="0" rIns="0" tIns="0" bIns="0">
            <a:noAutofit/>
          </a:bodyPr>
          <a:lstStyle/>
          <a:p>
            <a:r>
              <a:rPr sz="900" b="1">
                <a:solidFill>
                  <a:srgbClr val="1D1D1F"/>
                </a:solidFill>
                <a:latin typeface="Noto Sans JP"/>
              </a:rPr>
              <a:t>現実的なライン</a:t>
            </a:r>
          </a:p>
          <a:p>
            <a:r>
              <a:rPr sz="900">
                <a:solidFill>
                  <a:srgbClr val="424245"/>
                </a:solidFill>
                <a:latin typeface="Noto Sans JP"/>
              </a:rPr>
              <a:t> 72B級は96GB+メモリや複数GPUが必要なため、実務では2B/7B級での運用設計に寄せる。 </a:t>
            </a:r>
          </a:p>
        </p:txBody>
      </p:sp>
      <p:pic>
        <p:nvPicPr>
          <p:cNvPr id="33" name="Picture 32" descr="image.png"/>
          <p:cNvPicPr>
            <a:picLocks noChangeAspect="1"/>
          </p:cNvPicPr>
          <p:nvPr/>
        </p:nvPicPr>
        <p:blipFill>
          <a:blip r:embed="rId6"/>
          <a:stretch>
            <a:fillRect/>
          </a:stretch>
        </p:blipFill>
        <p:spPr>
          <a:xfrm>
            <a:off x="4479646" y="5711342"/>
            <a:ext cx="95098" cy="95098"/>
          </a:xfrm>
          <a:prstGeom prst="rect">
            <a:avLst/>
          </a:prstGeom>
          <a:ln/>
        </p:spPr>
      </p:pic>
      <p:sp>
        <p:nvSpPr>
          <p:cNvPr id="34" name="TextBox 33"/>
          <p:cNvSpPr txBox="1"/>
          <p:nvPr/>
        </p:nvSpPr>
        <p:spPr>
          <a:xfrm>
            <a:off x="4574743" y="5837530"/>
            <a:ext cx="3219602" cy="562356"/>
          </a:xfrm>
          <a:prstGeom prst="rect">
            <a:avLst/>
          </a:prstGeom>
          <a:noFill/>
          <a:ln/>
        </p:spPr>
        <p:txBody>
          <a:bodyPr wrap="square" lIns="0" rIns="0" tIns="0" bIns="0">
            <a:noAutofit/>
          </a:bodyPr>
          <a:lstStyle/>
          <a:p>
            <a:r>
              <a:rPr sz="900" b="1">
                <a:solidFill>
                  <a:srgbClr val="1D1D1F"/>
                </a:solidFill>
                <a:latin typeface="Noto Sans JP"/>
              </a:rPr>
              <a:t>視覚トークン制御</a:t>
            </a:r>
          </a:p>
          <a:p>
            <a:r>
              <a:rPr sz="900">
                <a:solidFill>
                  <a:srgbClr val="424245"/>
                </a:solidFill>
                <a:latin typeface="Noto Sans JP"/>
              </a:rPr>
              <a:t> 長文・多画像時はKV支配とトークン肥大に注意。max-pixels/マルチ画像数を制御する。 </a:t>
            </a:r>
          </a:p>
        </p:txBody>
      </p:sp>
      <p:sp>
        <p:nvSpPr>
          <p:cNvPr id="35" name="Rectangle 34"/>
          <p:cNvSpPr/>
          <p:nvPr/>
        </p:nvSpPr>
        <p:spPr>
          <a:xfrm>
            <a:off x="8102497" y="4109314"/>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689958"/>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308653"/>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394606"/>
            <a:ext cx="133502" cy="133501"/>
          </a:xfrm>
          <a:prstGeom prst="rect">
            <a:avLst/>
          </a:prstGeom>
          <a:ln/>
        </p:spPr>
      </p:pic>
      <p:sp>
        <p:nvSpPr>
          <p:cNvPr id="39" name="TextBox 38"/>
          <p:cNvSpPr txBox="1"/>
          <p:nvPr/>
        </p:nvSpPr>
        <p:spPr>
          <a:xfrm>
            <a:off x="8702345" y="4347058"/>
            <a:ext cx="1686154" cy="228600"/>
          </a:xfrm>
          <a:prstGeom prst="rect">
            <a:avLst/>
          </a:prstGeom>
          <a:noFill/>
          <a:ln/>
        </p:spPr>
        <p:txBody>
          <a:bodyPr wrap="square" lIns="0" rIns="0" tIns="0" bIns="0">
            <a:noAutofit/>
          </a:bodyPr>
          <a:lstStyle/>
          <a:p>
            <a:r>
              <a:rPr sz="1200" b="1">
                <a:solidFill>
                  <a:srgbClr val="1D1D1F"/>
                </a:solidFill>
                <a:latin typeface="Noto Sans JP"/>
              </a:rPr>
              <a:t>補完戦略（OCR/RAG）</a:t>
            </a:r>
          </a:p>
        </p:txBody>
      </p:sp>
      <p:pic>
        <p:nvPicPr>
          <p:cNvPr id="40" name="Picture 39" descr="image.png"/>
          <p:cNvPicPr>
            <a:picLocks noChangeAspect="1"/>
          </p:cNvPicPr>
          <p:nvPr/>
        </p:nvPicPr>
        <p:blipFill>
          <a:blip r:embed="rId6"/>
          <a:stretch>
            <a:fillRect/>
          </a:stretch>
        </p:blipFill>
        <p:spPr>
          <a:xfrm>
            <a:off x="8302752" y="4873752"/>
            <a:ext cx="95097" cy="95098"/>
          </a:xfrm>
          <a:prstGeom prst="rect">
            <a:avLst/>
          </a:prstGeom>
          <a:ln/>
        </p:spPr>
      </p:pic>
      <p:sp>
        <p:nvSpPr>
          <p:cNvPr id="41" name="TextBox 40"/>
          <p:cNvSpPr txBox="1"/>
          <p:nvPr/>
        </p:nvSpPr>
        <p:spPr>
          <a:xfrm>
            <a:off x="8397850" y="4999939"/>
            <a:ext cx="3219602" cy="562355"/>
          </a:xfrm>
          <a:prstGeom prst="rect">
            <a:avLst/>
          </a:prstGeom>
          <a:noFill/>
          <a:ln/>
        </p:spPr>
        <p:txBody>
          <a:bodyPr wrap="square" lIns="0" rIns="0" tIns="0" bIns="0">
            <a:noAutofit/>
          </a:bodyPr>
          <a:lstStyle/>
          <a:p>
            <a:r>
              <a:rPr sz="900" b="1">
                <a:solidFill>
                  <a:srgbClr val="1D1D1F"/>
                </a:solidFill>
                <a:latin typeface="Noto Sans JP"/>
              </a:rPr>
              <a:t>不得意のカバー</a:t>
            </a:r>
          </a:p>
          <a:p>
            <a:r>
              <a:rPr sz="900">
                <a:solidFill>
                  <a:srgbClr val="424245"/>
                </a:solidFill>
                <a:latin typeface="Noto Sans JP"/>
              </a:rPr>
              <a:t> 微細な文字認識や構造化はOCR（PaddleOCR等）に任せ、VLMは「意味理解」に集中させる。 </a:t>
            </a:r>
          </a:p>
        </p:txBody>
      </p:sp>
      <p:pic>
        <p:nvPicPr>
          <p:cNvPr id="42" name="Picture 41" descr="image.png"/>
          <p:cNvPicPr>
            <a:picLocks noChangeAspect="1"/>
          </p:cNvPicPr>
          <p:nvPr/>
        </p:nvPicPr>
        <p:blipFill>
          <a:blip r:embed="rId6"/>
          <a:stretch>
            <a:fillRect/>
          </a:stretch>
        </p:blipFill>
        <p:spPr>
          <a:xfrm>
            <a:off x="8302752" y="5711342"/>
            <a:ext cx="95097" cy="95098"/>
          </a:xfrm>
          <a:prstGeom prst="rect">
            <a:avLst/>
          </a:prstGeom>
          <a:ln/>
        </p:spPr>
      </p:pic>
      <p:sp>
        <p:nvSpPr>
          <p:cNvPr id="43" name="TextBox 42"/>
          <p:cNvSpPr txBox="1"/>
          <p:nvPr/>
        </p:nvSpPr>
        <p:spPr>
          <a:xfrm>
            <a:off x="8397850" y="5837530"/>
            <a:ext cx="3219602" cy="562356"/>
          </a:xfrm>
          <a:prstGeom prst="rect">
            <a:avLst/>
          </a:prstGeom>
          <a:noFill/>
          <a:ln/>
        </p:spPr>
        <p:txBody>
          <a:bodyPr wrap="square" lIns="0" rIns="0" tIns="0" bIns="0">
            <a:noAutofit/>
          </a:bodyPr>
          <a:lstStyle/>
          <a:p>
            <a:r>
              <a:rPr sz="900" b="1">
                <a:solidFill>
                  <a:srgbClr val="1D1D1F"/>
                </a:solidFill>
                <a:latin typeface="Noto Sans JP"/>
              </a:rPr>
              <a:t>ハイブリッド構成</a:t>
            </a:r>
          </a:p>
          <a:p>
            <a:r>
              <a:rPr sz="900">
                <a:solidFill>
                  <a:srgbClr val="424245"/>
                </a:solidFill>
                <a:latin typeface="Noto Sans JP"/>
              </a:rPr>
              <a:t> 画像から情報をテキスト抽出し、Embedding化してRAGで検索可能にする設計が堅牢。 </a:t>
            </a:r>
          </a:p>
        </p:txBody>
      </p:sp>
      <p:pic>
        <p:nvPicPr>
          <p:cNvPr id="44" name="Picture 43" descr="image.png"/>
          <p:cNvPicPr>
            <a:picLocks noChangeAspect="1"/>
          </p:cNvPicPr>
          <p:nvPr/>
        </p:nvPicPr>
        <p:blipFill>
          <a:blip r:embed="rId9"/>
          <a:stretch>
            <a:fillRect/>
          </a:stretch>
        </p:blipFill>
        <p:spPr>
          <a:xfrm>
            <a:off x="0" y="6476695"/>
            <a:ext cx="12191695" cy="381305"/>
          </a:xfrm>
          <a:prstGeom prst="rect">
            <a:avLst/>
          </a:prstGeom>
          <a:ln/>
        </p:spPr>
      </p:pic>
      <p:sp>
        <p:nvSpPr>
          <p:cNvPr id="45" name="TextBox 44"/>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23 | ローカルAI 技術調査レポート</a:t>
            </a:r>
          </a:p>
        </p:txBody>
      </p:sp>
      <p:sp>
        <p:nvSpPr>
          <p:cNvPr id="46" name="Rectangle 45"/>
          <p:cNvSpPr/>
          <p:nvPr/>
        </p:nvSpPr>
        <p:spPr>
          <a:xfrm>
            <a:off x="1675181" y="229514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0"/>
          <a:stretch>
            <a:fillRect/>
          </a:stretch>
        </p:blipFill>
        <p:spPr>
          <a:xfrm>
            <a:off x="1827886" y="2447849"/>
            <a:ext cx="228600" cy="228600"/>
          </a:xfrm>
          <a:prstGeom prst="rect">
            <a:avLst/>
          </a:prstGeom>
          <a:ln/>
        </p:spPr>
      </p:pic>
      <p:sp>
        <p:nvSpPr>
          <p:cNvPr id="48" name="TextBox 47"/>
          <p:cNvSpPr txBox="1"/>
          <p:nvPr/>
        </p:nvSpPr>
        <p:spPr>
          <a:xfrm>
            <a:off x="1474927" y="2905049"/>
            <a:ext cx="943660" cy="219456"/>
          </a:xfrm>
          <a:prstGeom prst="rect">
            <a:avLst/>
          </a:prstGeom>
          <a:noFill/>
          <a:ln/>
        </p:spPr>
        <p:txBody>
          <a:bodyPr wrap="square" lIns="0" rIns="0" tIns="0" bIns="0">
            <a:noAutofit/>
          </a:bodyPr>
          <a:lstStyle/>
          <a:p>
            <a:r>
              <a:rPr sz="1100" b="1">
                <a:solidFill>
                  <a:srgbClr val="1D1D1F"/>
                </a:solidFill>
                <a:latin typeface="Noto Sans JP"/>
              </a:rPr>
              <a:t>サポート確認</a:t>
            </a:r>
          </a:p>
        </p:txBody>
      </p:sp>
      <p:sp>
        <p:nvSpPr>
          <p:cNvPr id="49" name="TextBox 48"/>
          <p:cNvSpPr txBox="1"/>
          <p:nvPr/>
        </p:nvSpPr>
        <p:spPr>
          <a:xfrm>
            <a:off x="1370686" y="3195828"/>
            <a:ext cx="1230781" cy="409651"/>
          </a:xfrm>
          <a:prstGeom prst="rect">
            <a:avLst/>
          </a:prstGeom>
          <a:noFill/>
          <a:ln/>
        </p:spPr>
        <p:txBody>
          <a:bodyPr wrap="square" lIns="0" rIns="0" tIns="0" bIns="0">
            <a:noAutofit/>
          </a:bodyPr>
          <a:lstStyle/>
          <a:p>
            <a:r>
              <a:rPr sz="800">
                <a:solidFill>
                  <a:srgbClr val="6E6E73"/>
                </a:solidFill>
                <a:latin typeface="Noto Sans JP"/>
              </a:rPr>
              <a:t>README等でランタイム</a:t>
            </a:r>
          </a:p>
          <a:p>
            <a:r>
              <a:rPr sz="800">
                <a:solidFill>
                  <a:srgbClr val="6E6E73"/>
                </a:solidFill>
                <a:latin typeface="Noto Sans JP"/>
              </a:rPr>
              <a:t>(MLX/vLLM)の対応を確認</a:t>
            </a:r>
          </a:p>
        </p:txBody>
      </p:sp>
      <p:pic>
        <p:nvPicPr>
          <p:cNvPr id="50" name="Picture 49" descr="image.png"/>
          <p:cNvPicPr>
            <a:picLocks noChangeAspect="1"/>
          </p:cNvPicPr>
          <p:nvPr/>
        </p:nvPicPr>
        <p:blipFill>
          <a:blip r:embed="rId11"/>
          <a:stretch>
            <a:fillRect/>
          </a:stretch>
        </p:blipFill>
        <p:spPr>
          <a:xfrm>
            <a:off x="1837944" y="3458260"/>
            <a:ext cx="247801" cy="161848"/>
          </a:xfrm>
          <a:prstGeom prst="rect">
            <a:avLst/>
          </a:prstGeom>
          <a:ln/>
        </p:spPr>
      </p:pic>
      <p:sp>
        <p:nvSpPr>
          <p:cNvPr id="51" name="TextBox 50"/>
          <p:cNvSpPr txBox="1"/>
          <p:nvPr/>
        </p:nvSpPr>
        <p:spPr>
          <a:xfrm>
            <a:off x="1837944" y="3458260"/>
            <a:ext cx="247801"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[28]</a:t>
            </a:r>
          </a:p>
        </p:txBody>
      </p:sp>
      <p:sp>
        <p:nvSpPr>
          <p:cNvPr id="52" name="Rectangle 51"/>
          <p:cNvSpPr/>
          <p:nvPr/>
        </p:nvSpPr>
        <p:spPr>
          <a:xfrm>
            <a:off x="4444898"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4582973" y="2515514"/>
            <a:ext cx="256946" cy="228600"/>
          </a:xfrm>
          <a:prstGeom prst="rect">
            <a:avLst/>
          </a:prstGeom>
          <a:ln/>
        </p:spPr>
      </p:pic>
      <p:sp>
        <p:nvSpPr>
          <p:cNvPr id="54" name="TextBox 53"/>
          <p:cNvSpPr txBox="1"/>
          <p:nvPr/>
        </p:nvSpPr>
        <p:spPr>
          <a:xfrm>
            <a:off x="4387291" y="2972714"/>
            <a:ext cx="657453" cy="219456"/>
          </a:xfrm>
          <a:prstGeom prst="rect">
            <a:avLst/>
          </a:prstGeom>
          <a:noFill/>
          <a:ln/>
        </p:spPr>
        <p:txBody>
          <a:bodyPr wrap="square" lIns="0" rIns="0" tIns="0" bIns="0">
            <a:noAutofit/>
          </a:bodyPr>
          <a:lstStyle/>
          <a:p>
            <a:r>
              <a:rPr sz="1100" b="1">
                <a:solidFill>
                  <a:srgbClr val="1D1D1F"/>
                </a:solidFill>
                <a:latin typeface="Noto Sans JP"/>
              </a:rPr>
              <a:t>規模選定</a:t>
            </a:r>
          </a:p>
        </p:txBody>
      </p:sp>
      <p:sp>
        <p:nvSpPr>
          <p:cNvPr id="55" name="TextBox 54"/>
          <p:cNvSpPr txBox="1"/>
          <p:nvPr/>
        </p:nvSpPr>
        <p:spPr>
          <a:xfrm>
            <a:off x="4155948" y="3263494"/>
            <a:ext cx="1114653" cy="277063"/>
          </a:xfrm>
          <a:prstGeom prst="rect">
            <a:avLst/>
          </a:prstGeom>
          <a:noFill/>
          <a:ln/>
        </p:spPr>
        <p:txBody>
          <a:bodyPr wrap="square" lIns="0" rIns="0" tIns="0" bIns="0">
            <a:noAutofit/>
          </a:bodyPr>
          <a:lstStyle/>
          <a:p>
            <a:r>
              <a:rPr sz="800">
                <a:solidFill>
                  <a:srgbClr val="6E6E73"/>
                </a:solidFill>
                <a:latin typeface="Noto Sans JP"/>
              </a:rPr>
              <a:t>2B/7B級で設計開始</a:t>
            </a:r>
          </a:p>
          <a:p>
            <a:r>
              <a:rPr sz="800">
                <a:solidFill>
                  <a:srgbClr val="6E6E73"/>
                </a:solidFill>
                <a:latin typeface="Noto Sans JP"/>
              </a:rPr>
              <a:t>(72B級は上位HW要件)</a:t>
            </a:r>
          </a:p>
        </p:txBody>
      </p:sp>
      <p:sp>
        <p:nvSpPr>
          <p:cNvPr id="56" name="Rectangle 55"/>
          <p:cNvSpPr/>
          <p:nvPr/>
        </p:nvSpPr>
        <p:spPr>
          <a:xfrm>
            <a:off x="7213702" y="2363724"/>
            <a:ext cx="533094" cy="533094"/>
          </a:xfrm>
          <a:prstGeom prst="rect">
            <a:avLst/>
          </a:prstGeom>
          <a:solidFill>
            <a:srgbClr val="E3F2FD"/>
          </a:solidFill>
          <a:ln w="1270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image.png"/>
          <p:cNvPicPr>
            <a:picLocks noChangeAspect="1"/>
          </p:cNvPicPr>
          <p:nvPr/>
        </p:nvPicPr>
        <p:blipFill>
          <a:blip r:embed="rId13"/>
          <a:stretch>
            <a:fillRect/>
          </a:stretch>
        </p:blipFill>
        <p:spPr>
          <a:xfrm>
            <a:off x="7366406" y="2515514"/>
            <a:ext cx="228600" cy="228600"/>
          </a:xfrm>
          <a:prstGeom prst="rect">
            <a:avLst/>
          </a:prstGeom>
          <a:ln/>
        </p:spPr>
      </p:pic>
      <p:sp>
        <p:nvSpPr>
          <p:cNvPr id="58" name="TextBox 57"/>
          <p:cNvSpPr txBox="1"/>
          <p:nvPr/>
        </p:nvSpPr>
        <p:spPr>
          <a:xfrm>
            <a:off x="7013448" y="2972714"/>
            <a:ext cx="943660" cy="219456"/>
          </a:xfrm>
          <a:prstGeom prst="rect">
            <a:avLst/>
          </a:prstGeom>
          <a:noFill/>
          <a:ln/>
        </p:spPr>
        <p:txBody>
          <a:bodyPr wrap="square" lIns="0" rIns="0" tIns="0" bIns="0">
            <a:noAutofit/>
          </a:bodyPr>
          <a:lstStyle/>
          <a:p>
            <a:r>
              <a:rPr sz="1100" b="1">
                <a:solidFill>
                  <a:srgbClr val="1D1D1F"/>
                </a:solidFill>
                <a:latin typeface="Noto Sans JP"/>
              </a:rPr>
              <a:t>トークン制御</a:t>
            </a:r>
          </a:p>
        </p:txBody>
      </p:sp>
      <p:sp>
        <p:nvSpPr>
          <p:cNvPr id="59" name="TextBox 58"/>
          <p:cNvSpPr txBox="1"/>
          <p:nvPr/>
        </p:nvSpPr>
        <p:spPr>
          <a:xfrm>
            <a:off x="6876288" y="3263494"/>
            <a:ext cx="1209750" cy="277063"/>
          </a:xfrm>
          <a:prstGeom prst="rect">
            <a:avLst/>
          </a:prstGeom>
          <a:noFill/>
          <a:ln/>
        </p:spPr>
        <p:txBody>
          <a:bodyPr wrap="square" lIns="0" rIns="0" tIns="0" bIns="0">
            <a:noAutofit/>
          </a:bodyPr>
          <a:lstStyle/>
          <a:p>
            <a:r>
              <a:rPr sz="800">
                <a:solidFill>
                  <a:srgbClr val="6E6E73"/>
                </a:solidFill>
                <a:latin typeface="Noto Sans JP"/>
              </a:rPr>
              <a:t>解像度・max-pixels制御</a:t>
            </a:r>
          </a:p>
          <a:p>
            <a:r>
              <a:rPr sz="800">
                <a:solidFill>
                  <a:srgbClr val="6E6E73"/>
                </a:solidFill>
                <a:latin typeface="Noto Sans JP"/>
              </a:rPr>
              <a:t>でメモリ爆発を防ぐ</a:t>
            </a:r>
          </a:p>
        </p:txBody>
      </p:sp>
      <p:sp>
        <p:nvSpPr>
          <p:cNvPr id="60" name="Rectangle 59"/>
          <p:cNvSpPr/>
          <p:nvPr/>
        </p:nvSpPr>
        <p:spPr>
          <a:xfrm>
            <a:off x="9983419" y="2363724"/>
            <a:ext cx="533094" cy="533094"/>
          </a:xfrm>
          <a:prstGeom prst="rect">
            <a:avLst/>
          </a:prstGeom>
          <a:solidFill>
            <a:srgbClr val="E8F5E9"/>
          </a:solidFill>
          <a:ln w="12700">
            <a:solidFill>
              <a:srgbClr val="C8E6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4"/>
          <a:stretch>
            <a:fillRect/>
          </a:stretch>
        </p:blipFill>
        <p:spPr>
          <a:xfrm>
            <a:off x="10136124" y="2515514"/>
            <a:ext cx="228600" cy="228600"/>
          </a:xfrm>
          <a:prstGeom prst="rect">
            <a:avLst/>
          </a:prstGeom>
          <a:ln/>
        </p:spPr>
      </p:pic>
      <p:sp>
        <p:nvSpPr>
          <p:cNvPr id="62" name="TextBox 61"/>
          <p:cNvSpPr txBox="1"/>
          <p:nvPr/>
        </p:nvSpPr>
        <p:spPr>
          <a:xfrm>
            <a:off x="9784994" y="2972714"/>
            <a:ext cx="933602" cy="219456"/>
          </a:xfrm>
          <a:prstGeom prst="rect">
            <a:avLst/>
          </a:prstGeom>
          <a:noFill/>
          <a:ln/>
        </p:spPr>
        <p:txBody>
          <a:bodyPr wrap="square" lIns="0" rIns="0" tIns="0" bIns="0">
            <a:noAutofit/>
          </a:bodyPr>
          <a:lstStyle/>
          <a:p>
            <a:r>
              <a:rPr sz="1100" b="1">
                <a:solidFill>
                  <a:srgbClr val="1D1D1F"/>
                </a:solidFill>
                <a:latin typeface="Noto Sans JP"/>
              </a:rPr>
              <a:t>ハイブリッド</a:t>
            </a:r>
          </a:p>
        </p:txBody>
      </p:sp>
      <p:sp>
        <p:nvSpPr>
          <p:cNvPr id="63" name="TextBox 62"/>
          <p:cNvSpPr txBox="1"/>
          <p:nvPr/>
        </p:nvSpPr>
        <p:spPr>
          <a:xfrm>
            <a:off x="9702698" y="3263494"/>
            <a:ext cx="1095450" cy="277063"/>
          </a:xfrm>
          <a:prstGeom prst="rect">
            <a:avLst/>
          </a:prstGeom>
          <a:noFill/>
          <a:ln/>
        </p:spPr>
        <p:txBody>
          <a:bodyPr wrap="square" lIns="0" rIns="0" tIns="0" bIns="0">
            <a:noAutofit/>
          </a:bodyPr>
          <a:lstStyle/>
          <a:p>
            <a:r>
              <a:rPr sz="800">
                <a:solidFill>
                  <a:srgbClr val="6E6E73"/>
                </a:solidFill>
                <a:latin typeface="Noto Sans JP"/>
              </a:rPr>
              <a:t>OCRやRAGを併用して</a:t>
            </a:r>
          </a:p>
          <a:p>
            <a:r>
              <a:rPr sz="800">
                <a:solidFill>
                  <a:srgbClr val="6E6E73"/>
                </a:solidFill>
                <a:latin typeface="Noto Sans JP"/>
              </a:rPr>
              <a:t>精度と速度を補完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p:spPr>
      </p:pic>
      <p:sp>
        <p:nvSpPr>
          <p:cNvPr id="8" name="TextBox 7"/>
          <p:cNvSpPr txBox="1"/>
          <p:nvPr/>
        </p:nvSpPr>
        <p:spPr>
          <a:xfrm>
            <a:off x="838505" y="228600"/>
            <a:ext cx="3229660" cy="457200"/>
          </a:xfrm>
          <a:prstGeom prst="rect">
            <a:avLst/>
          </a:prstGeom>
          <a:noFill/>
          <a:ln/>
        </p:spPr>
        <p:txBody>
          <a:bodyPr wrap="square" lIns="0" rIns="0" tIns="0" bIns="0">
            <a:noAutofit/>
          </a:bodyPr>
          <a:lstStyle/>
          <a:p>
            <a:r>
              <a:rPr sz="2400" b="1">
                <a:solidFill>
                  <a:srgbClr val="1D1D1F"/>
                </a:solidFill>
                <a:latin typeface="Noto Sans JP"/>
              </a:rPr>
              <a:t>ASR（音声認識）概要</a:t>
            </a:r>
          </a:p>
        </p:txBody>
      </p:sp>
      <p:sp>
        <p:nvSpPr>
          <p:cNvPr id="9" name="TextBox 8"/>
          <p:cNvSpPr txBox="1"/>
          <p:nvPr/>
        </p:nvSpPr>
        <p:spPr>
          <a:xfrm>
            <a:off x="9682582" y="328270"/>
            <a:ext cx="2221992" cy="257861"/>
          </a:xfrm>
          <a:prstGeom prst="rect">
            <a:avLst/>
          </a:prstGeom>
          <a:noFill/>
          <a:ln/>
        </p:spPr>
        <p:txBody>
          <a:bodyPr wrap="square" lIns="0" rIns="0" tIns="0" bIns="0">
            <a:noAutofit/>
          </a:bodyPr>
          <a:lstStyle/>
          <a:p>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p:spPr>
      </p:pic>
      <p:sp>
        <p:nvSpPr>
          <p:cNvPr id="11" name="TextBox 10"/>
          <p:cNvSpPr txBox="1"/>
          <p:nvPr/>
        </p:nvSpPr>
        <p:spPr>
          <a:xfrm>
            <a:off x="743407" y="1495044"/>
            <a:ext cx="10842041" cy="590701"/>
          </a:xfrm>
          <a:prstGeom prst="rect">
            <a:avLst/>
          </a:prstGeom>
          <a:noFill/>
          <a:ln/>
        </p:spPr>
        <p:txBody>
          <a:bodyPr wrap="square" lIns="0" rIns="0" tIns="0" bIns="0">
            <a:noAutofit/>
          </a:bodyPr>
          <a:lstStyle/>
          <a:p>
            <a:r>
              <a:rPr sz="1600" b="1">
                <a:solidFill>
                  <a:srgbClr val="1D1D1F"/>
                </a:solidFill>
                <a:latin typeface="Noto Sans JP"/>
              </a:rPr>
              <a:t> 結論：ローカルASRは「RTF・メモリ・誤転記」の同時最適化が必須。</a:t>
            </a:r>
          </a:p>
          <a:p>
            <a:r>
              <a:rPr sz="1600" b="1">
                <a:solidFill>
                  <a:srgbClr val="2563EB"/>
                </a:solidFill>
                <a:latin typeface="Noto Sans JP"/>
              </a:rPr>
              <a:t>faster-whisper</a:t>
            </a:r>
            <a:r>
              <a:rPr sz="1600" b="1">
                <a:solidFill>
                  <a:srgbClr val="1D1D1F"/>
                </a:solidFill>
                <a:latin typeface="Noto Sans JP"/>
              </a:rPr>
              <a:t>を基準実装とし、速度と精度（幻覚抑制）のバランスを図ります。 </a:t>
            </a:r>
          </a:p>
        </p:txBody>
      </p:sp>
      <p:sp>
        <p:nvSpPr>
          <p:cNvPr id="12" name="Rectangle 11"/>
          <p:cNvSpPr/>
          <p:nvPr/>
        </p:nvSpPr>
        <p:spPr>
          <a:xfrm>
            <a:off x="457200"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53182"/>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44114"/>
            <a:ext cx="190194" cy="171906"/>
          </a:xfrm>
          <a:prstGeom prst="rect">
            <a:avLst/>
          </a:prstGeom>
          <a:ln/>
        </p:spPr>
      </p:pic>
      <p:sp>
        <p:nvSpPr>
          <p:cNvPr id="15" name="TextBox 14"/>
          <p:cNvSpPr txBox="1"/>
          <p:nvPr/>
        </p:nvSpPr>
        <p:spPr>
          <a:xfrm>
            <a:off x="981150" y="2701138"/>
            <a:ext cx="1793138" cy="372161"/>
          </a:xfrm>
          <a:prstGeom prst="rect">
            <a:avLst/>
          </a:prstGeom>
          <a:noFill/>
          <a:ln/>
        </p:spPr>
        <p:txBody>
          <a:bodyPr wrap="square" lIns="0" rIns="0" tIns="0" bIns="0">
            <a:noAutofit/>
          </a:bodyPr>
          <a:lstStyle/>
          <a:p>
            <a:r>
              <a:rPr sz="1300" b="1">
                <a:solidFill>
                  <a:srgbClr val="1D1D1F"/>
                </a:solidFill>
                <a:latin typeface="Noto Sans JP"/>
              </a:rPr>
              <a:t>Whisper系実装の比較</a:t>
            </a:r>
          </a:p>
        </p:txBody>
      </p:sp>
      <p:graphicFrame>
        <p:nvGraphicFramePr>
          <p:cNvPr id="16" name="Table 15"/>
          <p:cNvGraphicFramePr>
            <a:graphicFrameLocks noGrp="1"/>
          </p:cNvGraphicFramePr>
          <p:nvPr/>
        </p:nvGraphicFramePr>
        <p:xfrm>
          <a:off x="694944" y="3263494"/>
          <a:ext cx="5048401" cy="1619401"/>
        </p:xfrm>
        <a:graphic>
          <a:graphicData uri="http://schemas.openxmlformats.org/drawingml/2006/table">
            <a:tbl>
              <a:tblPr firstRow="1" bandRow="1">
                <a:tableStyleId>{5C22544A-7EE6-4342-B048-85BDC9FD1C3A}</a:tableStyleId>
              </a:tblPr>
              <a:tblGrid>
                <a:gridCol w="1682800"/>
                <a:gridCol w="1682800"/>
                <a:gridCol w="1682801"/>
              </a:tblGrid>
              <a:tr h="404850">
                <a:tc>
                  <a:txBody>
                    <a:bodyPr/>
                    <a:lstStyle/>
                    <a:p>
                      <a:r>
                        <a:t>実装名</a:t>
                      </a:r>
                    </a:p>
                  </a:txBody>
                  <a:tcPr/>
                </a:tc>
                <a:tc>
                  <a:txBody>
                    <a:bodyPr/>
                    <a:lstStyle/>
                    <a:p>
                      <a:r>
                        <a:t>特徴・最適化</a:t>
                      </a:r>
                    </a:p>
                  </a:txBody>
                  <a:tcPr/>
                </a:tc>
                <a:tc>
                  <a:txBody>
                    <a:bodyPr/>
                    <a:lstStyle/>
                    <a:p>
                      <a:r>
                        <a:t>推奨用途</a:t>
                      </a:r>
                    </a:p>
                  </a:txBody>
                  <a:tcPr/>
                </a:tc>
              </a:tr>
              <a:tr h="404850">
                <a:tc>
                  <a:txBody>
                    <a:bodyPr/>
                    <a:lstStyle/>
                    <a:p>
                      <a:r>
                        <a:t>Whisper (Original)[48]</a:t>
                      </a:r>
                    </a:p>
                  </a:txBody>
                  <a:tcPr/>
                </a:tc>
                <a:tc>
                  <a:txBody>
                    <a:bodyPr/>
                    <a:lstStyle/>
                    <a:p>
                      <a:r>
                        <a:t>研究/公開ベース、PyTorch依存</a:t>
                      </a:r>
                    </a:p>
                  </a:txBody>
                  <a:tcPr/>
                </a:tc>
                <a:tc>
                  <a:txBody>
                    <a:bodyPr/>
                    <a:lstStyle/>
                    <a:p>
                      <a:r>
                        <a:t>精度検証・基準</a:t>
                      </a:r>
                    </a:p>
                  </a:txBody>
                  <a:tcPr/>
                </a:tc>
              </a:tr>
              <a:tr h="404850">
                <a:tc>
                  <a:txBody>
                    <a:bodyPr/>
                    <a:lstStyle/>
                    <a:p>
                      <a:r>
                        <a:t>faster-whisper[50]</a:t>
                      </a:r>
                    </a:p>
                  </a:txBody>
                  <a:tcPr/>
                </a:tc>
                <a:tc>
                  <a:txBody>
                    <a:bodyPr/>
                    <a:lstStyle/>
                    <a:p>
                      <a:r>
                        <a:t>CTranslate2、8bit量子化、最大4倍速</a:t>
                      </a:r>
                    </a:p>
                  </a:txBody>
                  <a:tcPr/>
                </a:tc>
                <a:tc>
                  <a:txBody>
                    <a:bodyPr/>
                    <a:lstStyle/>
                    <a:p>
                      <a:r>
                        <a:t>実務の第一選択</a:t>
                      </a:r>
                    </a:p>
                  </a:txBody>
                  <a:tcPr/>
                </a:tc>
              </a:tr>
              <a:tr h="404851">
                <a:tc>
                  <a:txBody>
                    <a:bodyPr/>
                    <a:lstStyle/>
                    <a:p>
                      <a:r>
                        <a:t>whisper.cpp[51]</a:t>
                      </a:r>
                    </a:p>
                  </a:txBody>
                  <a:tcPr/>
                </a:tc>
                <a:tc>
                  <a:txBody>
                    <a:bodyPr/>
                    <a:lstStyle/>
                    <a:p>
                      <a:r>
                        <a:t>C/C++軽量、ggml、Apple Silicon最適化</a:t>
                      </a:r>
                    </a:p>
                  </a:txBody>
                  <a:tcPr/>
                </a:tc>
                <a:tc>
                  <a:txBody>
                    <a:bodyPr/>
                    <a:lstStyle/>
                    <a:p>
                      <a:r>
                        <a:t>組込み・省メモリ</a:t>
                      </a:r>
                    </a:p>
                  </a:txBody>
                  <a:tcPr/>
                </a:tc>
              </a:tr>
            </a:tbl>
          </a:graphicData>
        </a:graphic>
      </p:graphicFrame>
      <p:sp>
        <p:nvSpPr>
          <p:cNvPr id="17" name="TextBox 16"/>
          <p:cNvSpPr txBox="1"/>
          <p:nvPr/>
        </p:nvSpPr>
        <p:spPr>
          <a:xfrm>
            <a:off x="694944" y="5067605"/>
            <a:ext cx="5239511" cy="152705"/>
          </a:xfrm>
          <a:prstGeom prst="rect">
            <a:avLst/>
          </a:prstGeom>
          <a:noFill/>
          <a:ln/>
        </p:spPr>
        <p:txBody>
          <a:bodyPr wrap="square" lIns="0" rIns="0" tIns="0" bIns="0">
            <a:noAutofit/>
          </a:bodyPr>
          <a:lstStyle/>
          <a:p>
            <a:r>
              <a:rPr sz="900">
                <a:solidFill>
                  <a:srgbClr val="6B7280"/>
                </a:solidFill>
                <a:latin typeface="Noto Sans JP"/>
              </a:rPr>
              <a:t>主な技術要素:</a:t>
            </a:r>
          </a:p>
        </p:txBody>
      </p:sp>
      <p:pic>
        <p:nvPicPr>
          <p:cNvPr id="18" name="Picture 17" descr="image.png"/>
          <p:cNvPicPr>
            <a:picLocks noChangeAspect="1"/>
          </p:cNvPicPr>
          <p:nvPr/>
        </p:nvPicPr>
        <p:blipFill>
          <a:blip r:embed="rId5"/>
          <a:stretch>
            <a:fillRect/>
          </a:stretch>
        </p:blipFill>
        <p:spPr>
          <a:xfrm>
            <a:off x="694944" y="5277002"/>
            <a:ext cx="847649" cy="228600"/>
          </a:xfrm>
          <a:prstGeom prst="rect">
            <a:avLst/>
          </a:prstGeom>
          <a:ln/>
        </p:spPr>
      </p:pic>
      <p:sp>
        <p:nvSpPr>
          <p:cNvPr id="19" name="TextBox 18"/>
          <p:cNvSpPr txBox="1"/>
          <p:nvPr/>
        </p:nvSpPr>
        <p:spPr>
          <a:xfrm>
            <a:off x="694944" y="5277002"/>
            <a:ext cx="848563"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CTranslate2</a:t>
            </a:r>
          </a:p>
        </p:txBody>
      </p:sp>
      <p:pic>
        <p:nvPicPr>
          <p:cNvPr id="20" name="Picture 19" descr="image.png"/>
          <p:cNvPicPr>
            <a:picLocks noChangeAspect="1"/>
          </p:cNvPicPr>
          <p:nvPr/>
        </p:nvPicPr>
        <p:blipFill>
          <a:blip r:embed="rId6"/>
          <a:stretch>
            <a:fillRect/>
          </a:stretch>
        </p:blipFill>
        <p:spPr>
          <a:xfrm>
            <a:off x="1592885" y="5277002"/>
            <a:ext cx="1057046" cy="228600"/>
          </a:xfrm>
          <a:prstGeom prst="rect">
            <a:avLst/>
          </a:prstGeom>
          <a:ln/>
        </p:spPr>
      </p:pic>
      <p:sp>
        <p:nvSpPr>
          <p:cNvPr id="21" name="TextBox 20"/>
          <p:cNvSpPr txBox="1"/>
          <p:nvPr/>
        </p:nvSpPr>
        <p:spPr>
          <a:xfrm>
            <a:off x="1592885" y="5277002"/>
            <a:ext cx="1057961"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VAD Integration</a:t>
            </a:r>
          </a:p>
        </p:txBody>
      </p:sp>
      <p:pic>
        <p:nvPicPr>
          <p:cNvPr id="22" name="Picture 21" descr="image.png"/>
          <p:cNvPicPr>
            <a:picLocks noChangeAspect="1"/>
          </p:cNvPicPr>
          <p:nvPr/>
        </p:nvPicPr>
        <p:blipFill>
          <a:blip r:embed="rId7"/>
          <a:stretch>
            <a:fillRect/>
          </a:stretch>
        </p:blipFill>
        <p:spPr>
          <a:xfrm>
            <a:off x="2702052" y="5277002"/>
            <a:ext cx="1200607" cy="228600"/>
          </a:xfrm>
          <a:prstGeom prst="rect">
            <a:avLst/>
          </a:prstGeom>
          <a:ln/>
        </p:spPr>
      </p:pic>
      <p:sp>
        <p:nvSpPr>
          <p:cNvPr id="23" name="TextBox 22"/>
          <p:cNvSpPr txBox="1"/>
          <p:nvPr/>
        </p:nvSpPr>
        <p:spPr>
          <a:xfrm>
            <a:off x="2702052" y="5277002"/>
            <a:ext cx="1200607"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INT8 Quantization</a:t>
            </a:r>
          </a:p>
        </p:txBody>
      </p:sp>
      <p:pic>
        <p:nvPicPr>
          <p:cNvPr id="24" name="Picture 23" descr="image.png"/>
          <p:cNvPicPr>
            <a:picLocks noChangeAspect="1"/>
          </p:cNvPicPr>
          <p:nvPr/>
        </p:nvPicPr>
        <p:blipFill>
          <a:blip r:embed="rId8"/>
          <a:stretch>
            <a:fillRect/>
          </a:stretch>
        </p:blipFill>
        <p:spPr>
          <a:xfrm>
            <a:off x="3953866" y="5277002"/>
            <a:ext cx="914400" cy="228600"/>
          </a:xfrm>
          <a:prstGeom prst="rect">
            <a:avLst/>
          </a:prstGeom>
          <a:ln/>
        </p:spPr>
      </p:pic>
      <p:sp>
        <p:nvSpPr>
          <p:cNvPr id="25" name="TextBox 24"/>
          <p:cNvSpPr txBox="1"/>
          <p:nvPr/>
        </p:nvSpPr>
        <p:spPr>
          <a:xfrm>
            <a:off x="3953866" y="5277002"/>
            <a:ext cx="914400"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Beam Search</a:t>
            </a:r>
          </a:p>
        </p:txBody>
      </p:sp>
      <p:sp>
        <p:nvSpPr>
          <p:cNvPr id="26" name="Rectangle 25"/>
          <p:cNvSpPr/>
          <p:nvPr/>
        </p:nvSpPr>
        <p:spPr>
          <a:xfrm>
            <a:off x="6210605" y="2500884"/>
            <a:ext cx="5524805" cy="32671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8349" y="3053182"/>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6448349" y="2744114"/>
            <a:ext cx="171906" cy="171906"/>
          </a:xfrm>
          <a:prstGeom prst="rect">
            <a:avLst/>
          </a:prstGeom>
          <a:ln/>
        </p:spPr>
      </p:pic>
      <p:sp>
        <p:nvSpPr>
          <p:cNvPr id="29" name="TextBox 28"/>
          <p:cNvSpPr txBox="1"/>
          <p:nvPr/>
        </p:nvSpPr>
        <p:spPr>
          <a:xfrm>
            <a:off x="6715354" y="2701138"/>
            <a:ext cx="1961388" cy="372161"/>
          </a:xfrm>
          <a:prstGeom prst="rect">
            <a:avLst/>
          </a:prstGeom>
          <a:noFill/>
          <a:ln/>
        </p:spPr>
        <p:txBody>
          <a:bodyPr wrap="square" lIns="0" rIns="0" tIns="0" bIns="0">
            <a:noAutofit/>
          </a:bodyPr>
          <a:lstStyle/>
          <a:p>
            <a:r>
              <a:rPr sz="1300" b="1">
                <a:solidFill>
                  <a:srgbClr val="1D1D1F"/>
                </a:solidFill>
                <a:latin typeface="Noto Sans JP"/>
              </a:rPr>
              <a:t>最適化戦略とリスク管理</a:t>
            </a:r>
          </a:p>
        </p:txBody>
      </p:sp>
      <p:pic>
        <p:nvPicPr>
          <p:cNvPr id="30" name="Picture 29" descr="image.png"/>
          <p:cNvPicPr>
            <a:picLocks noChangeAspect="1"/>
          </p:cNvPicPr>
          <p:nvPr/>
        </p:nvPicPr>
        <p:blipFill>
          <a:blip r:embed="rId10"/>
          <a:stretch>
            <a:fillRect/>
          </a:stretch>
        </p:blipFill>
        <p:spPr>
          <a:xfrm>
            <a:off x="6448349" y="3186684"/>
            <a:ext cx="95098" cy="95097"/>
          </a:xfrm>
          <a:prstGeom prst="rect">
            <a:avLst/>
          </a:prstGeom>
          <a:ln/>
        </p:spPr>
      </p:pic>
      <p:sp>
        <p:nvSpPr>
          <p:cNvPr id="31" name="TextBox 30"/>
          <p:cNvSpPr txBox="1"/>
          <p:nvPr/>
        </p:nvSpPr>
        <p:spPr>
          <a:xfrm>
            <a:off x="6620256" y="3401567"/>
            <a:ext cx="4953305" cy="428853"/>
          </a:xfrm>
          <a:prstGeom prst="rect">
            <a:avLst/>
          </a:prstGeom>
          <a:noFill/>
          <a:ln/>
        </p:spPr>
        <p:txBody>
          <a:bodyPr wrap="square" lIns="0" rIns="0" tIns="0" bIns="0">
            <a:noAutofit/>
          </a:bodyPr>
          <a:lstStyle/>
          <a:p>
            <a:r>
              <a:rPr sz="1100">
                <a:solidFill>
                  <a:srgbClr val="424245"/>
                </a:solidFill>
                <a:latin typeface="Noto Sans JP"/>
              </a:rPr>
              <a:t>faster-whisperは同等精度でメモリ消費を大幅削減。</a:t>
            </a:r>
            <a:r>
              <a:rPr sz="1100">
                <a:solidFill>
                  <a:srgbClr val="424245"/>
                </a:solidFill>
                <a:latin typeface="Noto Sans JP"/>
              </a:rPr>
              <a:t> RTF &lt; 1（実時間より速い）を目標にベンチマークを実施します。</a:t>
            </a:r>
          </a:p>
        </p:txBody>
      </p:sp>
      <p:pic>
        <p:nvPicPr>
          <p:cNvPr id="32" name="Picture 31" descr="image.png"/>
          <p:cNvPicPr>
            <a:picLocks noChangeAspect="1"/>
          </p:cNvPicPr>
          <p:nvPr/>
        </p:nvPicPr>
        <p:blipFill>
          <a:blip r:embed="rId11"/>
          <a:stretch>
            <a:fillRect/>
          </a:stretch>
        </p:blipFill>
        <p:spPr>
          <a:xfrm>
            <a:off x="10054742" y="3436315"/>
            <a:ext cx="295350" cy="171906"/>
          </a:xfrm>
          <a:prstGeom prst="rect">
            <a:avLst/>
          </a:prstGeom>
          <a:ln/>
        </p:spPr>
      </p:pic>
      <p:sp>
        <p:nvSpPr>
          <p:cNvPr id="33" name="TextBox 32"/>
          <p:cNvSpPr txBox="1"/>
          <p:nvPr/>
        </p:nvSpPr>
        <p:spPr>
          <a:xfrm>
            <a:off x="10054742" y="3436315"/>
            <a:ext cx="295350" cy="171906"/>
          </a:xfrm>
          <a:prstGeom prst="rect">
            <a:avLst/>
          </a:prstGeom>
          <a:noFill/>
          <a:ln>
            <a:solidFill>
              <a:srgbClr val="FFFFFF"/>
            </a:solidFill>
          </a:ln>
        </p:spPr>
        <p:txBody>
          <a:bodyPr wrap="square" lIns="0" rIns="0" tIns="0" bIns="0">
            <a:noAutofit/>
          </a:bodyPr>
          <a:lstStyle/>
          <a:p>
            <a:r>
              <a:rPr sz="800">
                <a:solidFill>
                  <a:srgbClr val="6B7280"/>
                </a:solidFill>
                <a:latin typeface="Noto Sans JP"/>
              </a:rPr>
              <a:t>[50]</a:t>
            </a:r>
          </a:p>
        </p:txBody>
      </p:sp>
      <p:pic>
        <p:nvPicPr>
          <p:cNvPr id="34" name="Picture 33" descr="image.png"/>
          <p:cNvPicPr>
            <a:picLocks noChangeAspect="1"/>
          </p:cNvPicPr>
          <p:nvPr/>
        </p:nvPicPr>
        <p:blipFill>
          <a:blip r:embed="rId12"/>
          <a:stretch>
            <a:fillRect/>
          </a:stretch>
        </p:blipFill>
        <p:spPr>
          <a:xfrm>
            <a:off x="6448349" y="3925519"/>
            <a:ext cx="95098" cy="95098"/>
          </a:xfrm>
          <a:prstGeom prst="rect">
            <a:avLst/>
          </a:prstGeom>
          <a:ln/>
        </p:spPr>
      </p:pic>
      <p:sp>
        <p:nvSpPr>
          <p:cNvPr id="35" name="TextBox 34"/>
          <p:cNvSpPr txBox="1"/>
          <p:nvPr/>
        </p:nvSpPr>
        <p:spPr>
          <a:xfrm>
            <a:off x="6620256" y="4139489"/>
            <a:ext cx="4953305" cy="428853"/>
          </a:xfrm>
          <a:prstGeom prst="rect">
            <a:avLst/>
          </a:prstGeom>
          <a:noFill/>
          <a:ln/>
        </p:spPr>
        <p:txBody>
          <a:bodyPr wrap="square" lIns="0" rIns="0" tIns="0" bIns="0">
            <a:noAutofit/>
          </a:bodyPr>
          <a:lstStyle/>
          <a:p>
            <a:r>
              <a:rPr sz="1100">
                <a:solidFill>
                  <a:srgbClr val="424245"/>
                </a:solidFill>
                <a:latin typeface="Noto Sans JP"/>
              </a:rPr>
              <a:t>高リスク領域では誤転記が実害になる可能性が指摘されています。</a:t>
            </a:r>
            <a:r>
              <a:rPr sz="1100">
                <a:solidFill>
                  <a:srgbClr val="424245"/>
                </a:solidFill>
                <a:latin typeface="Noto Sans JP"/>
              </a:rPr>
              <a:t> VAD（無音除去）や信頼度スコアによるフィルタリングが不可欠です。</a:t>
            </a:r>
          </a:p>
        </p:txBody>
      </p:sp>
      <p:pic>
        <p:nvPicPr>
          <p:cNvPr id="36" name="Picture 35" descr="image.png"/>
          <p:cNvPicPr>
            <a:picLocks noChangeAspect="1"/>
          </p:cNvPicPr>
          <p:nvPr/>
        </p:nvPicPr>
        <p:blipFill>
          <a:blip r:embed="rId11"/>
          <a:stretch>
            <a:fillRect/>
          </a:stretch>
        </p:blipFill>
        <p:spPr>
          <a:xfrm>
            <a:off x="10944454" y="4174236"/>
            <a:ext cx="295350" cy="171906"/>
          </a:xfrm>
          <a:prstGeom prst="rect">
            <a:avLst/>
          </a:prstGeom>
          <a:ln/>
        </p:spPr>
      </p:pic>
      <p:sp>
        <p:nvSpPr>
          <p:cNvPr id="37" name="TextBox 36"/>
          <p:cNvSpPr txBox="1"/>
          <p:nvPr/>
        </p:nvSpPr>
        <p:spPr>
          <a:xfrm>
            <a:off x="10944454" y="4174236"/>
            <a:ext cx="295350" cy="171906"/>
          </a:xfrm>
          <a:prstGeom prst="rect">
            <a:avLst/>
          </a:prstGeom>
          <a:noFill/>
          <a:ln>
            <a:solidFill>
              <a:srgbClr val="FFFFFF"/>
            </a:solidFill>
          </a:ln>
        </p:spPr>
        <p:txBody>
          <a:bodyPr wrap="square" lIns="0" rIns="0" tIns="0" bIns="0">
            <a:noAutofit/>
          </a:bodyPr>
          <a:lstStyle/>
          <a:p>
            <a:r>
              <a:rPr sz="800">
                <a:solidFill>
                  <a:srgbClr val="6B7280"/>
                </a:solidFill>
                <a:latin typeface="Noto Sans JP"/>
              </a:rPr>
              <a:t>[49]</a:t>
            </a:r>
          </a:p>
        </p:txBody>
      </p:sp>
      <p:pic>
        <p:nvPicPr>
          <p:cNvPr id="38" name="Picture 37" descr="image.png"/>
          <p:cNvPicPr>
            <a:picLocks noChangeAspect="1"/>
          </p:cNvPicPr>
          <p:nvPr/>
        </p:nvPicPr>
        <p:blipFill>
          <a:blip r:embed="rId13"/>
          <a:stretch>
            <a:fillRect/>
          </a:stretch>
        </p:blipFill>
        <p:spPr>
          <a:xfrm>
            <a:off x="6448349" y="4663440"/>
            <a:ext cx="123443" cy="95098"/>
          </a:xfrm>
          <a:prstGeom prst="rect">
            <a:avLst/>
          </a:prstGeom>
          <a:ln/>
        </p:spPr>
      </p:pic>
      <p:sp>
        <p:nvSpPr>
          <p:cNvPr id="39" name="TextBox 38"/>
          <p:cNvSpPr txBox="1"/>
          <p:nvPr/>
        </p:nvSpPr>
        <p:spPr>
          <a:xfrm>
            <a:off x="6648602" y="4877410"/>
            <a:ext cx="4924958" cy="428853"/>
          </a:xfrm>
          <a:prstGeom prst="rect">
            <a:avLst/>
          </a:prstGeom>
          <a:noFill/>
          <a:ln/>
        </p:spPr>
        <p:txBody>
          <a:bodyPr wrap="square" lIns="0" rIns="0" tIns="0" bIns="0">
            <a:noAutofit/>
          </a:bodyPr>
          <a:lstStyle/>
          <a:p>
            <a:r>
              <a:rPr sz="1100">
                <a:solidFill>
                  <a:srgbClr val="424245"/>
                </a:solidFill>
                <a:latin typeface="Noto Sans JP"/>
              </a:rPr>
              <a:t>文字起こし精度だけでなく、VAD・話者分離（Diarization）の品質が全体のUXを決定します。</a:t>
            </a:r>
          </a:p>
        </p:txBody>
      </p:sp>
      <p:sp>
        <p:nvSpPr>
          <p:cNvPr id="40" name="Rectangle 39"/>
          <p:cNvSpPr/>
          <p:nvPr/>
        </p:nvSpPr>
        <p:spPr>
          <a:xfrm>
            <a:off x="457200" y="5991149"/>
            <a:ext cx="11277295" cy="923543"/>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4"/>
          <a:stretch>
            <a:fillRect/>
          </a:stretch>
        </p:blipFill>
        <p:spPr>
          <a:xfrm>
            <a:off x="619049" y="6152998"/>
            <a:ext cx="152704" cy="152705"/>
          </a:xfrm>
          <a:prstGeom prst="rect">
            <a:avLst/>
          </a:prstGeom>
          <a:ln/>
        </p:spPr>
      </p:pic>
      <p:sp>
        <p:nvSpPr>
          <p:cNvPr id="42" name="TextBox 41"/>
          <p:cNvSpPr txBox="1"/>
          <p:nvPr/>
        </p:nvSpPr>
        <p:spPr>
          <a:xfrm>
            <a:off x="886054" y="6134710"/>
            <a:ext cx="10801807" cy="200253"/>
          </a:xfrm>
          <a:prstGeom prst="rect">
            <a:avLst/>
          </a:prstGeom>
          <a:noFill/>
          <a:ln/>
        </p:spPr>
        <p:txBody>
          <a:bodyPr wrap="square" lIns="0" rIns="0" tIns="0" bIns="0">
            <a:noAutofit/>
          </a:bodyPr>
          <a:lstStyle/>
          <a:p>
            <a:r>
              <a:rPr sz="1000" b="1">
                <a:solidFill>
                  <a:srgbClr val="78350F"/>
                </a:solidFill>
                <a:latin typeface="Noto Sans JP"/>
              </a:rPr>
              <a:t>設計のポイント（Key Takeaways）</a:t>
            </a:r>
          </a:p>
        </p:txBody>
      </p:sp>
      <p:sp>
        <p:nvSpPr>
          <p:cNvPr id="43" name="TextBox 42"/>
          <p:cNvSpPr txBox="1"/>
          <p:nvPr/>
        </p:nvSpPr>
        <p:spPr>
          <a:xfrm>
            <a:off x="886054" y="6372454"/>
            <a:ext cx="10763402" cy="400506"/>
          </a:xfrm>
          <a:prstGeom prst="rect">
            <a:avLst/>
          </a:prstGeom>
          <a:noFill/>
          <a:ln/>
        </p:spPr>
        <p:txBody>
          <a:bodyPr wrap="square" lIns="0" rIns="0" tIns="0" bIns="0">
            <a:noAutofit/>
          </a:bodyPr>
          <a:lstStyle/>
          <a:p>
            <a:r>
              <a:rPr sz="1000">
                <a:solidFill>
                  <a:srgbClr val="78350F"/>
                </a:solidFill>
                <a:latin typeface="Noto Sans JP"/>
              </a:rPr>
              <a:t>会議議事録などの長尺音声では、単にASRモデルを回すだけでなく、前処理（VADによる無音カット）と後処理（LLMによる整文）を組み合わせたパイプライン設計が品質を左右します。まずはfaster-whisperでベースラインを構築することを推奨します。</a:t>
            </a:r>
          </a:p>
        </p:txBody>
      </p:sp>
      <p:sp>
        <p:nvSpPr>
          <p:cNvPr id="44" name="Rectangle 43"/>
          <p:cNvSpPr/>
          <p:nvPr/>
        </p:nvSpPr>
        <p:spPr>
          <a:xfrm>
            <a:off x="0" y="7295997"/>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729599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7306056"/>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7" name="TextBox 46"/>
          <p:cNvSpPr txBox="1"/>
          <p:nvPr/>
        </p:nvSpPr>
        <p:spPr>
          <a:xfrm>
            <a:off x="11385194" y="7306056"/>
            <a:ext cx="428854" cy="171907"/>
          </a:xfrm>
          <a:prstGeom prst="rect">
            <a:avLst/>
          </a:prstGeom>
          <a:noFill/>
          <a:ln/>
        </p:spPr>
        <p:txBody>
          <a:bodyPr wrap="square" lIns="0" rIns="0" tIns="0" bIns="0">
            <a:noAutofit/>
          </a:bodyPr>
          <a:lstStyle/>
          <a:p>
            <a:r>
              <a:rPr sz="900">
                <a:solidFill>
                  <a:srgbClr val="86868B"/>
                </a:solidFill>
                <a:latin typeface="Noto Sans JP"/>
              </a:rPr>
              <a:t>24 / 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2209190" cy="381305"/>
          </a:xfrm>
          <a:prstGeom prst="rect">
            <a:avLst/>
          </a:prstGeom>
          <a:noFill/>
          <a:ln/>
        </p:spPr>
        <p:txBody>
          <a:bodyPr wrap="square" lIns="0" rIns="0" tIns="0" bIns="0">
            <a:noAutofit/>
          </a:bodyPr>
          <a:lstStyle/>
          <a:p>
            <a:r>
              <a:rPr sz="2100" b="1">
                <a:solidFill>
                  <a:srgbClr val="FFFFFF"/>
                </a:solidFill>
                <a:latin typeface="Noto Sans JP"/>
              </a:rPr>
              <a:t>ASR（完全版表）</a:t>
            </a:r>
          </a:p>
        </p:txBody>
      </p:sp>
      <p:sp>
        <p:nvSpPr>
          <p:cNvPr id="8" name="TextBox 7"/>
          <p:cNvSpPr txBox="1"/>
          <p:nvPr/>
        </p:nvSpPr>
        <p:spPr>
          <a:xfrm>
            <a:off x="7282282" y="457200"/>
            <a:ext cx="5143500" cy="228600"/>
          </a:xfrm>
          <a:prstGeom prst="rect">
            <a:avLst/>
          </a:prstGeom>
          <a:noFill/>
          <a:ln/>
        </p:spPr>
        <p:txBody>
          <a:bodyPr wrap="square" lIns="0" rIns="0" tIns="0" bIns="0">
            <a:noAutofit/>
          </a:bodyPr>
          <a:lstStyle/>
          <a:p>
            <a:r>
              <a:rPr sz="1200">
                <a:solidFill>
                  <a:srgbClr val="A1A1A6"/>
                </a:solidFill>
                <a:latin typeface="Noto Sans JP"/>
              </a:rPr>
              <a:t>主要モデル・方式比較：Whisper / faster-whisper / whisper.cpp</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340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11480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028700">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1028700">
                <a:tc>
                  <a:txBody>
                    <a:bodyPr/>
                    <a:lstStyle/>
                    <a:p>
                      <a:r>
                        <a:t>Whisper</a:t>
                      </a:r>
                    </a:p>
                    <a:p>
                      <a:r>
                        <a:t>OpenAI[48-49]</a:t>
                      </a:r>
                    </a:p>
                  </a:txBody>
                  <a:tcPr/>
                </a:tc>
                <a:tc>
                  <a:txBody>
                    <a:bodyPr/>
                    <a:lstStyle/>
                    <a:p>
                      <a:r>
                        <a:t>Tiny</a:t>
                      </a:r>
                    </a:p>
                    <a:p>
                      <a:r>
                        <a:t>〜</a:t>
                      </a:r>
                    </a:p>
                    <a:p>
                      <a:r>
                        <a:t>Large-v3</a:t>
                      </a:r>
                    </a:p>
                  </a:txBody>
                  <a:tcPr/>
                </a:tc>
                <a:tc>
                  <a:txBody>
                    <a:bodyPr/>
                    <a:lstStyle/>
                    <a:p>
                      <a:r>
                        <a:t>実装多数</a:t>
                      </a:r>
                    </a:p>
                    <a:p>
                      <a:r>
                        <a:t>（下記派生に分岐）</a:t>
                      </a:r>
                    </a:p>
                  </a:txBody>
                  <a:tcPr/>
                </a:tc>
                <a:tc>
                  <a:txBody>
                    <a:bodyPr/>
                    <a:lstStyle/>
                    <a:p>
                      <a:r>
                        <a:t>得意68万時間規模の多言語データで頑健性を示し、翻訳も可能[48]</a:t>
                      </a:r>
                    </a:p>
                  </a:txBody>
                  <a:tcPr/>
                </a:tc>
                <a:tc>
                  <a:txBody>
                    <a:bodyPr/>
                    <a:lstStyle/>
                    <a:p>
                      <a:r>
                        <a:t>汎用: 直接実装 / 各派生</a:t>
                      </a:r>
                    </a:p>
                  </a:txBody>
                  <a:tcPr/>
                </a:tc>
                <a:tc>
                  <a:txBody>
                    <a:bodyPr/>
                    <a:lstStyle/>
                    <a:p>
                      <a:r>
                        <a:t>Risk高リスク領域では“誤転記（幻覚）”が実害になる可能性が報道されており、検証プロセスが必須[49]</a:t>
                      </a:r>
                    </a:p>
                  </a:txBody>
                  <a:tcPr/>
                </a:tc>
              </a:tr>
              <a:tr h="1028700">
                <a:tc>
                  <a:txBody>
                    <a:bodyPr/>
                    <a:lstStyle/>
                    <a:p>
                      <a:r>
                        <a:t>faster-whisper</a:t>
                      </a:r>
                    </a:p>
                    <a:p>
                      <a:r>
                        <a:t>CTranslate2[50]</a:t>
                      </a:r>
                    </a:p>
                  </a:txBody>
                  <a:tcPr/>
                </a:tc>
                <a:tc>
                  <a:txBody>
                    <a:bodyPr/>
                    <a:lstStyle/>
                    <a:p>
                      <a:r>
                        <a:t>Whisper</a:t>
                      </a:r>
                    </a:p>
                    <a:p>
                      <a:r>
                        <a:t>互換</a:t>
                      </a:r>
                    </a:p>
                  </a:txBody>
                  <a:tcPr/>
                </a:tc>
                <a:tc>
                  <a:txBody>
                    <a:bodyPr/>
                    <a:lstStyle/>
                    <a:p>
                      <a:r>
                        <a:t>CPU/GPUで</a:t>
                      </a:r>
                    </a:p>
                    <a:p>
                      <a:r>
                        <a:t>8bit量子化を明記</a:t>
                      </a:r>
                    </a:p>
                  </a:txBody>
                  <a:tcPr/>
                </a:tc>
                <a:tc>
                  <a:txBody>
                    <a:bodyPr/>
                    <a:lstStyle/>
                    <a:p>
                      <a:r>
                        <a:t>得意同等精度で最大4倍速・低メモリを主張[50]</a:t>
                      </a:r>
                    </a:p>
                  </a:txBody>
                  <a:tcPr/>
                </a:tc>
                <a:tc>
                  <a:txBody>
                    <a:bodyPr/>
                    <a:lstStyle/>
                    <a:p>
                      <a:r>
                        <a:t>Win/Mac/Linux: Pythonで実装しやすい</a:t>
                      </a:r>
                    </a:p>
                  </a:txBody>
                  <a:tcPr/>
                </a:tc>
                <a:tc>
                  <a:txBody>
                    <a:bodyPr/>
                    <a:lstStyle/>
                    <a:p>
                      <a:r>
                        <a:t>Rec実時間（RTF）要件がある業務はまずこれでベンチし、足りなければGPU化</a:t>
                      </a:r>
                    </a:p>
                  </a:txBody>
                  <a:tcPr/>
                </a:tc>
              </a:tr>
              <a:tr h="1028700">
                <a:tc>
                  <a:txBody>
                    <a:bodyPr/>
                    <a:lstStyle/>
                    <a:p>
                      <a:r>
                        <a:t>whisper.cpp</a:t>
                      </a:r>
                    </a:p>
                    <a:p>
                      <a:r>
                        <a:t>ggml[51]</a:t>
                      </a:r>
                    </a:p>
                  </a:txBody>
                  <a:tcPr/>
                </a:tc>
                <a:tc>
                  <a:txBody>
                    <a:bodyPr/>
                    <a:lstStyle/>
                    <a:p>
                      <a:r>
                        <a:t>Whisper</a:t>
                      </a:r>
                    </a:p>
                    <a:p>
                      <a:r>
                        <a:t>互換</a:t>
                      </a:r>
                    </a:p>
                  </a:txBody>
                  <a:tcPr/>
                </a:tc>
                <a:tc>
                  <a:txBody>
                    <a:bodyPr/>
                    <a:lstStyle/>
                    <a:p>
                      <a:r>
                        <a:t>ggml系で</a:t>
                      </a:r>
                    </a:p>
                    <a:p>
                      <a:r>
                        <a:t>ローカル最適化</a:t>
                      </a:r>
                    </a:p>
                  </a:txBody>
                  <a:tcPr/>
                </a:tc>
                <a:tc>
                  <a:txBody>
                    <a:bodyPr/>
                    <a:lstStyle/>
                    <a:p>
                      <a:r>
                        <a:t>得意C/C++で軽量運用、各種最適化例が豊富</a:t>
                      </a:r>
                    </a:p>
                  </a:txBody>
                  <a:tcPr/>
                </a:tc>
                <a:tc>
                  <a:txBody>
                    <a:bodyPr/>
                    <a:lstStyle/>
                    <a:p>
                      <a:r>
                        <a:t>Mac/Win: 共に導入可能</a:t>
                      </a:r>
                    </a:p>
                  </a:txBody>
                  <a:tcPr/>
                </a:tc>
                <a:tc>
                  <a:txBody>
                    <a:bodyPr/>
                    <a:lstStyle/>
                    <a:p>
                      <a:r>
                        <a:t>Infoバッチ向きに設計し、ストリーミング要件は別設計が必要になるケースがある（一般論）[51]</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ローカルASRは「RTF（実時間比）」「メモリ」「誤転記リスク」の3要素を同時に満たす必要があります。faster-whisperは速度・メモリ面での利点を明示しているため、まずはこれを基準実装として検証し、要件に応じてGPU化やモデルサイズの調整を行うのが合理的で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25 | ローカルAI 技術調査レポート 2026</a:t>
            </a:r>
          </a:p>
        </p:txBody>
      </p:sp>
      <p:sp>
        <p:nvSpPr>
          <p:cNvPr id="19" name="TextBox 18"/>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[48-51]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p:spPr>
      </p:pic>
      <p:sp>
        <p:nvSpPr>
          <p:cNvPr id="8" name="TextBox 7"/>
          <p:cNvSpPr txBox="1"/>
          <p:nvPr/>
        </p:nvSpPr>
        <p:spPr>
          <a:xfrm>
            <a:off x="809244" y="176479"/>
            <a:ext cx="2848356" cy="400507"/>
          </a:xfrm>
          <a:prstGeom prst="rect">
            <a:avLst/>
          </a:prstGeom>
          <a:noFill/>
          <a:ln/>
        </p:spPr>
        <p:txBody>
          <a:bodyPr wrap="square" lIns="0" rIns="0" tIns="0" bIns="0">
            <a:noAutofit/>
          </a:bodyPr>
          <a:lstStyle/>
          <a:p>
            <a:r>
              <a:rPr sz="2100" b="1">
                <a:solidFill>
                  <a:srgbClr val="1D1D1F"/>
                </a:solidFill>
                <a:latin typeface="Noto Sans JP"/>
              </a:rPr>
              <a:t>採用判断基準（ASR）</a:t>
            </a:r>
          </a:p>
        </p:txBody>
      </p:sp>
      <p:sp>
        <p:nvSpPr>
          <p:cNvPr id="9" name="TextBox 8"/>
          <p:cNvSpPr txBox="1"/>
          <p:nvPr/>
        </p:nvSpPr>
        <p:spPr>
          <a:xfrm>
            <a:off x="8715146" y="261518"/>
            <a:ext cx="3210458" cy="228600"/>
          </a:xfrm>
          <a:prstGeom prst="rect">
            <a:avLst/>
          </a:prstGeom>
          <a:noFill/>
          <a:ln/>
        </p:spPr>
        <p:txBody>
          <a:bodyPr wrap="square" lIns="0" rIns="0" tIns="0" bIns="0">
            <a:noAutofit/>
          </a:bodyPr>
          <a:lstStyle/>
          <a:p>
            <a:r>
              <a:rPr sz="1200">
                <a:solidFill>
                  <a:srgbClr val="86868B"/>
                </a:solidFill>
                <a:latin typeface="Noto Sans JP"/>
              </a:rPr>
              <a:t>RTF要件と誤転記リスクに基づく選定フロー</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結論：faster-whisperを基準実装とし、RTF要件・誤転記リスクに応じてGPU化やモデル拡大を検討する段階的最適化が合理的です。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98241" y="2615184"/>
            <a:ext cx="105155" cy="171906"/>
          </a:xfrm>
          <a:prstGeom prst="rect">
            <a:avLst/>
          </a:prstGeom>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8789213" y="2615184"/>
            <a:ext cx="105155" cy="171906"/>
          </a:xfrm>
          <a:prstGeom prst="rect">
            <a:avLst/>
          </a:prstGeom>
          <a:ln/>
        </p:spPr>
      </p:pic>
      <p:sp>
        <p:nvSpPr>
          <p:cNvPr id="17" name="Rectangle 16"/>
          <p:cNvSpPr/>
          <p:nvPr/>
        </p:nvSpPr>
        <p:spPr>
          <a:xfrm>
            <a:off x="457200"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43407" y="4167835"/>
            <a:ext cx="133501" cy="133501"/>
          </a:xfrm>
          <a:prstGeom prst="rect">
            <a:avLst/>
          </a:prstGeom>
          <a:ln/>
        </p:spPr>
      </p:pic>
      <p:sp>
        <p:nvSpPr>
          <p:cNvPr id="21" name="TextBox 20"/>
          <p:cNvSpPr txBox="1"/>
          <p:nvPr/>
        </p:nvSpPr>
        <p:spPr>
          <a:xfrm>
            <a:off x="1057046" y="4120286"/>
            <a:ext cx="1000354" cy="228600"/>
          </a:xfrm>
          <a:prstGeom prst="rect">
            <a:avLst/>
          </a:prstGeom>
          <a:noFill/>
          <a:ln/>
        </p:spPr>
        <p:txBody>
          <a:bodyPr wrap="square" lIns="0" rIns="0" tIns="0" bIns="0">
            <a:noAutofit/>
          </a:bodyPr>
          <a:lstStyle/>
          <a:p>
            <a:r>
              <a:rPr sz="1200" b="1">
                <a:solidFill>
                  <a:srgbClr val="1D1D1F"/>
                </a:solidFill>
                <a:latin typeface="Noto Sans JP"/>
              </a:rPr>
              <a:t>前処理の固定</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p:spPr>
      </p:pic>
      <p:sp>
        <p:nvSpPr>
          <p:cNvPr id="23" name="TextBox 22"/>
          <p:cNvSpPr txBox="1"/>
          <p:nvPr/>
        </p:nvSpPr>
        <p:spPr>
          <a:xfrm>
            <a:off x="752551" y="4773168"/>
            <a:ext cx="3219602" cy="562356"/>
          </a:xfrm>
          <a:prstGeom prst="rect">
            <a:avLst/>
          </a:prstGeom>
          <a:noFill/>
          <a:ln/>
        </p:spPr>
        <p:txBody>
          <a:bodyPr wrap="square" lIns="0" rIns="0" tIns="0" bIns="0">
            <a:noAutofit/>
          </a:bodyPr>
          <a:lstStyle/>
          <a:p>
            <a:r>
              <a:rPr sz="900" b="1">
                <a:solidFill>
                  <a:srgbClr val="1D1D1F"/>
                </a:solidFill>
                <a:latin typeface="Noto Sans JP"/>
              </a:rPr>
              <a:t>VAD設定の統一</a:t>
            </a:r>
          </a:p>
          <a:p>
            <a:r>
              <a:rPr sz="900">
                <a:solidFill>
                  <a:srgbClr val="424245"/>
                </a:solidFill>
                <a:latin typeface="Noto Sans JP"/>
              </a:rPr>
              <a:t> 無音区間の除去は認識精度と速度に直結するため、Silero VAD等の設定を固定し再現性を担保する。 </a:t>
            </a:r>
          </a:p>
        </p:txBody>
      </p:sp>
      <p:pic>
        <p:nvPicPr>
          <p:cNvPr id="24" name="Picture 23" descr="image.png"/>
          <p:cNvPicPr>
            <a:picLocks noChangeAspect="1"/>
          </p:cNvPicPr>
          <p:nvPr/>
        </p:nvPicPr>
        <p:blipFill>
          <a:blip r:embed="rId6"/>
          <a:stretch>
            <a:fillRect/>
          </a:stretch>
        </p:blipFill>
        <p:spPr>
          <a:xfrm>
            <a:off x="657454" y="5503774"/>
            <a:ext cx="95098" cy="95098"/>
          </a:xfrm>
          <a:prstGeom prst="rect">
            <a:avLst/>
          </a:prstGeom>
          <a:ln/>
        </p:spPr>
      </p:pic>
      <p:sp>
        <p:nvSpPr>
          <p:cNvPr id="25" name="TextBox 24"/>
          <p:cNvSpPr txBox="1"/>
          <p:nvPr/>
        </p:nvSpPr>
        <p:spPr>
          <a:xfrm>
            <a:off x="752551" y="5629961"/>
            <a:ext cx="3219602" cy="562355"/>
          </a:xfrm>
          <a:prstGeom prst="rect">
            <a:avLst/>
          </a:prstGeom>
          <a:noFill/>
          <a:ln/>
        </p:spPr>
        <p:txBody>
          <a:bodyPr wrap="square" lIns="0" rIns="0" tIns="0" bIns="0">
            <a:noAutofit/>
          </a:bodyPr>
          <a:lstStyle/>
          <a:p>
            <a:r>
              <a:rPr sz="900" b="1">
                <a:solidFill>
                  <a:srgbClr val="1D1D1F"/>
                </a:solidFill>
                <a:latin typeface="Noto Sans JP"/>
              </a:rPr>
              <a:t>ベンチマーク条件</a:t>
            </a:r>
          </a:p>
          <a:p>
            <a:r>
              <a:rPr sz="900">
                <a:solidFill>
                  <a:srgbClr val="424245"/>
                </a:solidFill>
                <a:latin typeface="Noto Sans JP"/>
              </a:rPr>
              <a:t> 同一音声・同一前処理での比較が必須（後章のベンチ設計参照）。 </a:t>
            </a:r>
          </a:p>
        </p:txBody>
      </p:sp>
      <p:sp>
        <p:nvSpPr>
          <p:cNvPr id="26" name="Rectangle 25"/>
          <p:cNvSpPr/>
          <p:nvPr/>
        </p:nvSpPr>
        <p:spPr>
          <a:xfrm>
            <a:off x="4280306"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46397" y="4167835"/>
            <a:ext cx="171906" cy="133501"/>
          </a:xfrm>
          <a:prstGeom prst="rect">
            <a:avLst/>
          </a:prstGeom>
          <a:ln/>
        </p:spPr>
      </p:pic>
      <p:sp>
        <p:nvSpPr>
          <p:cNvPr id="30" name="TextBox 29"/>
          <p:cNvSpPr txBox="1"/>
          <p:nvPr/>
        </p:nvSpPr>
        <p:spPr>
          <a:xfrm>
            <a:off x="4880153" y="4120286"/>
            <a:ext cx="1163117" cy="228600"/>
          </a:xfrm>
          <a:prstGeom prst="rect">
            <a:avLst/>
          </a:prstGeom>
          <a:noFill/>
          <a:ln/>
        </p:spPr>
        <p:txBody>
          <a:bodyPr wrap="square" lIns="0" rIns="0" tIns="0" bIns="0">
            <a:noAutofit/>
          </a:bodyPr>
          <a:lstStyle/>
          <a:p>
            <a:r>
              <a:rPr sz="1200" b="1">
                <a:solidFill>
                  <a:srgbClr val="1D1D1F"/>
                </a:solidFill>
                <a:latin typeface="Noto Sans JP"/>
              </a:rPr>
              <a:t>会議用途の要点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p:spPr>
      </p:pic>
      <p:sp>
        <p:nvSpPr>
          <p:cNvPr id="32" name="TextBox 31"/>
          <p:cNvSpPr txBox="1"/>
          <p:nvPr/>
        </p:nvSpPr>
        <p:spPr>
          <a:xfrm>
            <a:off x="4574743" y="4773168"/>
            <a:ext cx="3219602" cy="562356"/>
          </a:xfrm>
          <a:prstGeom prst="rect">
            <a:avLst/>
          </a:prstGeom>
          <a:noFill/>
          <a:ln/>
        </p:spPr>
        <p:txBody>
          <a:bodyPr wrap="square" lIns="0" rIns="0" tIns="0" bIns="0">
            <a:noAutofit/>
          </a:bodyPr>
          <a:lstStyle/>
          <a:p>
            <a:r>
              <a:rPr sz="900" b="1">
                <a:solidFill>
                  <a:srgbClr val="1D1D1F"/>
                </a:solidFill>
                <a:latin typeface="Noto Sans JP"/>
              </a:rPr>
              <a:t>話者分離が品質の土台</a:t>
            </a:r>
          </a:p>
          <a:p>
            <a:r>
              <a:rPr sz="900">
                <a:solidFill>
                  <a:srgbClr val="424245"/>
                </a:solidFill>
                <a:latin typeface="Noto Sans JP"/>
              </a:rPr>
              <a:t> pyannote.audio等の話者分離（Diarization）精度が議事録の質を左右する。 </a:t>
            </a:r>
          </a:p>
        </p:txBody>
      </p:sp>
      <p:pic>
        <p:nvPicPr>
          <p:cNvPr id="33" name="Picture 32" descr="image.png"/>
          <p:cNvPicPr>
            <a:picLocks noChangeAspect="1"/>
          </p:cNvPicPr>
          <p:nvPr/>
        </p:nvPicPr>
        <p:blipFill>
          <a:blip r:embed="rId6"/>
          <a:stretch>
            <a:fillRect/>
          </a:stretch>
        </p:blipFill>
        <p:spPr>
          <a:xfrm>
            <a:off x="4479646" y="5503774"/>
            <a:ext cx="95098" cy="95098"/>
          </a:xfrm>
          <a:prstGeom prst="rect">
            <a:avLst/>
          </a:prstGeom>
          <a:ln/>
        </p:spPr>
      </p:pic>
      <p:sp>
        <p:nvSpPr>
          <p:cNvPr id="34" name="TextBox 33"/>
          <p:cNvSpPr txBox="1"/>
          <p:nvPr/>
        </p:nvSpPr>
        <p:spPr>
          <a:xfrm>
            <a:off x="4574743" y="5629961"/>
            <a:ext cx="3219602" cy="562355"/>
          </a:xfrm>
          <a:prstGeom prst="rect">
            <a:avLst/>
          </a:prstGeom>
          <a:noFill/>
          <a:ln/>
        </p:spPr>
        <p:txBody>
          <a:bodyPr wrap="square" lIns="0" rIns="0" tIns="0" bIns="0">
            <a:noAutofit/>
          </a:bodyPr>
          <a:lstStyle/>
          <a:p>
            <a:r>
              <a:rPr sz="900" b="1">
                <a:solidFill>
                  <a:srgbClr val="1D1D1F"/>
                </a:solidFill>
                <a:latin typeface="Noto Sans JP"/>
              </a:rPr>
              <a:t>無音除去の設計</a:t>
            </a:r>
          </a:p>
          <a:p>
            <a:r>
              <a:rPr sz="900">
                <a:solidFill>
                  <a:srgbClr val="424245"/>
                </a:solidFill>
                <a:latin typeface="Noto Sans JP"/>
              </a:rPr>
              <a:t> 幻覚（無音区間にテキストが入る現象）を防ぐため、VADによる無音区間の破棄を徹底する。 </a:t>
            </a:r>
          </a:p>
        </p:txBody>
      </p:sp>
      <p:sp>
        <p:nvSpPr>
          <p:cNvPr id="35" name="Rectangle 34"/>
          <p:cNvSpPr/>
          <p:nvPr/>
        </p:nvSpPr>
        <p:spPr>
          <a:xfrm>
            <a:off x="8102497" y="3882541"/>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8"/>
          <a:stretch>
            <a:fillRect/>
          </a:stretch>
        </p:blipFill>
        <p:spPr>
          <a:xfrm>
            <a:off x="8388706" y="4167835"/>
            <a:ext cx="133502" cy="133501"/>
          </a:xfrm>
          <a:prstGeom prst="rect">
            <a:avLst/>
          </a:prstGeom>
          <a:ln/>
        </p:spPr>
      </p:pic>
      <p:sp>
        <p:nvSpPr>
          <p:cNvPr id="39" name="TextBox 38"/>
          <p:cNvSpPr txBox="1"/>
          <p:nvPr/>
        </p:nvSpPr>
        <p:spPr>
          <a:xfrm>
            <a:off x="8702345" y="4120286"/>
            <a:ext cx="848563" cy="228600"/>
          </a:xfrm>
          <a:prstGeom prst="rect">
            <a:avLst/>
          </a:prstGeom>
          <a:noFill/>
          <a:ln/>
        </p:spPr>
        <p:txBody>
          <a:bodyPr wrap="square" lIns="0" rIns="0" tIns="0" bIns="0">
            <a:noAutofit/>
          </a:bodyPr>
          <a:lstStyle/>
          <a:p>
            <a:r>
              <a:rPr sz="1200" b="1">
                <a:solidFill>
                  <a:srgbClr val="1D1D1F"/>
                </a:solidFill>
                <a:latin typeface="Noto Sans JP"/>
              </a:rPr>
              <a:t>リスク管理</a:t>
            </a:r>
          </a:p>
        </p:txBody>
      </p:sp>
      <p:pic>
        <p:nvPicPr>
          <p:cNvPr id="40" name="Picture 39" descr="image.png"/>
          <p:cNvPicPr>
            <a:picLocks noChangeAspect="1"/>
          </p:cNvPicPr>
          <p:nvPr/>
        </p:nvPicPr>
        <p:blipFill>
          <a:blip r:embed="rId6"/>
          <a:stretch>
            <a:fillRect/>
          </a:stretch>
        </p:blipFill>
        <p:spPr>
          <a:xfrm>
            <a:off x="8302752" y="4646981"/>
            <a:ext cx="95097" cy="95098"/>
          </a:xfrm>
          <a:prstGeom prst="rect">
            <a:avLst/>
          </a:prstGeom>
          <a:ln/>
        </p:spPr>
      </p:pic>
      <p:sp>
        <p:nvSpPr>
          <p:cNvPr id="41" name="TextBox 40"/>
          <p:cNvSpPr txBox="1"/>
          <p:nvPr/>
        </p:nvSpPr>
        <p:spPr>
          <a:xfrm>
            <a:off x="8397850" y="4773168"/>
            <a:ext cx="3219602" cy="562356"/>
          </a:xfrm>
          <a:prstGeom prst="rect">
            <a:avLst/>
          </a:prstGeom>
          <a:noFill/>
          <a:ln/>
        </p:spPr>
        <p:txBody>
          <a:bodyPr wrap="square" lIns="0" rIns="0" tIns="0" bIns="0">
            <a:noAutofit/>
          </a:bodyPr>
          <a:lstStyle/>
          <a:p>
            <a:r>
              <a:rPr sz="900" b="1">
                <a:solidFill>
                  <a:srgbClr val="1D1D1F"/>
                </a:solidFill>
                <a:latin typeface="Noto Sans JP"/>
              </a:rPr>
              <a:t>誤転記（幻覚）への対処</a:t>
            </a:r>
          </a:p>
          <a:p>
            <a:r>
              <a:rPr sz="900">
                <a:solidFill>
                  <a:srgbClr val="424245"/>
                </a:solidFill>
                <a:latin typeface="Noto Sans JP"/>
              </a:rPr>
              <a:t> 医療や重要業務では誤転記が実害となる可能性があるため、検証プロセスを必須化</a:t>
            </a:r>
            <a:r>
              <a:rPr sz="900">
                <a:solidFill>
                  <a:srgbClr val="424245"/>
                </a:solidFill>
                <a:latin typeface="Noto Sans JP"/>
              </a:rPr>
              <a:t>。 </a:t>
            </a:r>
          </a:p>
        </p:txBody>
      </p:sp>
      <p:pic>
        <p:nvPicPr>
          <p:cNvPr id="42" name="Picture 41" descr="image.png"/>
          <p:cNvPicPr>
            <a:picLocks noChangeAspect="1"/>
          </p:cNvPicPr>
          <p:nvPr/>
        </p:nvPicPr>
        <p:blipFill>
          <a:blip r:embed="rId9"/>
          <a:stretch>
            <a:fillRect/>
          </a:stretch>
        </p:blipFill>
        <p:spPr>
          <a:xfrm>
            <a:off x="9827057" y="5163617"/>
            <a:ext cx="247802" cy="161848"/>
          </a:xfrm>
          <a:prstGeom prst="rect">
            <a:avLst/>
          </a:prstGeom>
          <a:ln/>
        </p:spPr>
      </p:pic>
      <p:sp>
        <p:nvSpPr>
          <p:cNvPr id="43" name="TextBox 42"/>
          <p:cNvSpPr txBox="1"/>
          <p:nvPr/>
        </p:nvSpPr>
        <p:spPr>
          <a:xfrm>
            <a:off x="9827057" y="5163617"/>
            <a:ext cx="247802"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[49]</a:t>
            </a:r>
          </a:p>
        </p:txBody>
      </p:sp>
      <p:pic>
        <p:nvPicPr>
          <p:cNvPr id="44" name="Picture 43" descr="image.png"/>
          <p:cNvPicPr>
            <a:picLocks noChangeAspect="1"/>
          </p:cNvPicPr>
          <p:nvPr/>
        </p:nvPicPr>
        <p:blipFill>
          <a:blip r:embed="rId6"/>
          <a:stretch>
            <a:fillRect/>
          </a:stretch>
        </p:blipFill>
        <p:spPr>
          <a:xfrm>
            <a:off x="8302752" y="5503774"/>
            <a:ext cx="95097" cy="95098"/>
          </a:xfrm>
          <a:prstGeom prst="rect">
            <a:avLst/>
          </a:prstGeom>
          <a:ln/>
        </p:spPr>
      </p:pic>
      <p:sp>
        <p:nvSpPr>
          <p:cNvPr id="45" name="TextBox 44"/>
          <p:cNvSpPr txBox="1"/>
          <p:nvPr/>
        </p:nvSpPr>
        <p:spPr>
          <a:xfrm>
            <a:off x="8397850" y="5629961"/>
            <a:ext cx="3219602" cy="562355"/>
          </a:xfrm>
          <a:prstGeom prst="rect">
            <a:avLst/>
          </a:prstGeom>
          <a:noFill/>
          <a:ln/>
        </p:spPr>
        <p:txBody>
          <a:bodyPr wrap="square" lIns="0" rIns="0" tIns="0" bIns="0">
            <a:noAutofit/>
          </a:bodyPr>
          <a:lstStyle/>
          <a:p>
            <a:r>
              <a:rPr sz="900" b="1">
                <a:solidFill>
                  <a:srgbClr val="1D1D1F"/>
                </a:solidFill>
                <a:latin typeface="Noto Sans JP"/>
              </a:rPr>
              <a:t>リソース監視</a:t>
            </a:r>
          </a:p>
          <a:p>
            <a:r>
              <a:rPr sz="900">
                <a:solidFill>
                  <a:srgbClr val="424245"/>
                </a:solidFill>
                <a:latin typeface="Noto Sans JP"/>
              </a:rPr>
              <a:t> ストリーミング用途ではRTFだけでなく、長時間稼働時のメモリリーク等も監視対象とする。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p:spPr>
      </p:pic>
      <p:sp>
        <p:nvSpPr>
          <p:cNvPr id="47" name="TextBox 46"/>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26 | ローカルAI 技術調査レポート</a:t>
            </a:r>
          </a:p>
        </p:txBody>
      </p:sp>
      <p:pic>
        <p:nvPicPr>
          <p:cNvPr id="48" name="Picture 47" descr="image.png"/>
          <p:cNvPicPr>
            <a:picLocks noChangeAspect="1"/>
          </p:cNvPicPr>
          <p:nvPr/>
        </p:nvPicPr>
        <p:blipFill>
          <a:blip r:embed="rId11"/>
          <a:stretch>
            <a:fillRect/>
          </a:stretch>
        </p:blipFill>
        <p:spPr>
          <a:xfrm>
            <a:off x="1749247" y="2295144"/>
            <a:ext cx="457200" cy="457200"/>
          </a:xfrm>
          <a:prstGeom prst="rect">
            <a:avLst/>
          </a:prstGeom>
          <a:ln/>
        </p:spPr>
      </p:pic>
      <p:sp>
        <p:nvSpPr>
          <p:cNvPr id="49" name="TextBox 48"/>
          <p:cNvSpPr txBox="1"/>
          <p:nvPr/>
        </p:nvSpPr>
        <p:spPr>
          <a:xfrm>
            <a:off x="1749247"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1</a:t>
            </a:r>
          </a:p>
        </p:txBody>
      </p:sp>
      <p:sp>
        <p:nvSpPr>
          <p:cNvPr id="50" name="TextBox 49"/>
          <p:cNvSpPr txBox="1"/>
          <p:nvPr/>
        </p:nvSpPr>
        <p:spPr>
          <a:xfrm>
            <a:off x="1672438" y="2829154"/>
            <a:ext cx="609905" cy="200254"/>
          </a:xfrm>
          <a:prstGeom prst="rect">
            <a:avLst/>
          </a:prstGeom>
          <a:noFill/>
          <a:ln/>
        </p:spPr>
        <p:txBody>
          <a:bodyPr wrap="square" lIns="0" rIns="0" tIns="0" bIns="0">
            <a:noAutofit/>
          </a:bodyPr>
          <a:lstStyle/>
          <a:p>
            <a:r>
              <a:rPr sz="1000" b="1">
                <a:solidFill>
                  <a:srgbClr val="1D1D1F"/>
                </a:solidFill>
                <a:latin typeface="Noto Sans JP"/>
              </a:rPr>
              <a:t>基準実装</a:t>
            </a:r>
          </a:p>
        </p:txBody>
      </p:sp>
      <p:sp>
        <p:nvSpPr>
          <p:cNvPr id="51" name="TextBox 50"/>
          <p:cNvSpPr txBox="1"/>
          <p:nvPr/>
        </p:nvSpPr>
        <p:spPr>
          <a:xfrm>
            <a:off x="1519733" y="3105302"/>
            <a:ext cx="924458" cy="277063"/>
          </a:xfrm>
          <a:prstGeom prst="rect">
            <a:avLst/>
          </a:prstGeom>
          <a:noFill/>
          <a:ln/>
        </p:spPr>
        <p:txBody>
          <a:bodyPr wrap="square" lIns="0" rIns="0" tIns="0" bIns="0">
            <a:noAutofit/>
          </a:bodyPr>
          <a:lstStyle/>
          <a:p>
            <a:r>
              <a:rPr sz="800">
                <a:solidFill>
                  <a:srgbClr val="6E6E73"/>
                </a:solidFill>
                <a:latin typeface="Noto Sans JP"/>
              </a:rPr>
              <a:t>faster-whisper</a:t>
            </a:r>
          </a:p>
          <a:p>
            <a:r>
              <a:rPr sz="800">
                <a:solidFill>
                  <a:srgbClr val="6E6E73"/>
                </a:solidFill>
                <a:latin typeface="Noto Sans JP"/>
              </a:rPr>
              <a:t>(CPU/INT8)で検証</a:t>
            </a:r>
          </a:p>
        </p:txBody>
      </p:sp>
      <p:pic>
        <p:nvPicPr>
          <p:cNvPr id="52" name="Picture 51" descr="image.png"/>
          <p:cNvPicPr>
            <a:picLocks noChangeAspect="1"/>
          </p:cNvPicPr>
          <p:nvPr/>
        </p:nvPicPr>
        <p:blipFill>
          <a:blip r:embed="rId11"/>
          <a:stretch>
            <a:fillRect/>
          </a:stretch>
        </p:blipFill>
        <p:spPr>
          <a:xfrm>
            <a:off x="4494276" y="2295144"/>
            <a:ext cx="457200" cy="457200"/>
          </a:xfrm>
          <a:prstGeom prst="rect">
            <a:avLst/>
          </a:prstGeom>
          <a:ln/>
        </p:spPr>
      </p:pic>
      <p:sp>
        <p:nvSpPr>
          <p:cNvPr id="53" name="TextBox 52"/>
          <p:cNvSpPr txBox="1"/>
          <p:nvPr/>
        </p:nvSpPr>
        <p:spPr>
          <a:xfrm>
            <a:off x="4494276"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2</a:t>
            </a:r>
          </a:p>
        </p:txBody>
      </p:sp>
      <p:sp>
        <p:nvSpPr>
          <p:cNvPr id="54" name="TextBox 53"/>
          <p:cNvSpPr txBox="1"/>
          <p:nvPr/>
        </p:nvSpPr>
        <p:spPr>
          <a:xfrm>
            <a:off x="4427525" y="2829154"/>
            <a:ext cx="600760" cy="200254"/>
          </a:xfrm>
          <a:prstGeom prst="rect">
            <a:avLst/>
          </a:prstGeom>
          <a:noFill/>
          <a:ln/>
        </p:spPr>
        <p:txBody>
          <a:bodyPr wrap="square" lIns="0" rIns="0" tIns="0" bIns="0">
            <a:noAutofit/>
          </a:bodyPr>
          <a:lstStyle/>
          <a:p>
            <a:r>
              <a:rPr sz="1000" b="1">
                <a:solidFill>
                  <a:srgbClr val="1D1D1F"/>
                </a:solidFill>
                <a:latin typeface="Noto Sans JP"/>
              </a:rPr>
              <a:t>RTF評価</a:t>
            </a:r>
          </a:p>
        </p:txBody>
      </p:sp>
      <p:sp>
        <p:nvSpPr>
          <p:cNvPr id="55" name="TextBox 54"/>
          <p:cNvSpPr txBox="1"/>
          <p:nvPr/>
        </p:nvSpPr>
        <p:spPr>
          <a:xfrm>
            <a:off x="4298594" y="3105302"/>
            <a:ext cx="857707" cy="277063"/>
          </a:xfrm>
          <a:prstGeom prst="rect">
            <a:avLst/>
          </a:prstGeom>
          <a:noFill/>
          <a:ln/>
        </p:spPr>
        <p:txBody>
          <a:bodyPr wrap="square" lIns="0" rIns="0" tIns="0" bIns="0">
            <a:noAutofit/>
          </a:bodyPr>
          <a:lstStyle/>
          <a:p>
            <a:r>
              <a:rPr sz="800">
                <a:solidFill>
                  <a:srgbClr val="6E6E73"/>
                </a:solidFill>
                <a:latin typeface="Noto Sans JP"/>
              </a:rPr>
              <a:t>実時間比(RTF)&lt;1</a:t>
            </a:r>
          </a:p>
          <a:p>
            <a:r>
              <a:rPr sz="800">
                <a:solidFill>
                  <a:srgbClr val="6E6E73"/>
                </a:solidFill>
                <a:latin typeface="Noto Sans JP"/>
              </a:rPr>
              <a:t>を満たすか確認</a:t>
            </a:r>
          </a:p>
        </p:txBody>
      </p:sp>
      <p:pic>
        <p:nvPicPr>
          <p:cNvPr id="56" name="Picture 55" descr="image.png"/>
          <p:cNvPicPr>
            <a:picLocks noChangeAspect="1"/>
          </p:cNvPicPr>
          <p:nvPr/>
        </p:nvPicPr>
        <p:blipFill>
          <a:blip r:embed="rId11"/>
          <a:stretch>
            <a:fillRect/>
          </a:stretch>
        </p:blipFill>
        <p:spPr>
          <a:xfrm>
            <a:off x="7240219" y="2295144"/>
            <a:ext cx="457200" cy="457200"/>
          </a:xfrm>
          <a:prstGeom prst="rect">
            <a:avLst/>
          </a:prstGeom>
          <a:ln/>
        </p:spPr>
      </p:pic>
      <p:sp>
        <p:nvSpPr>
          <p:cNvPr id="57" name="TextBox 56"/>
          <p:cNvSpPr txBox="1"/>
          <p:nvPr/>
        </p:nvSpPr>
        <p:spPr>
          <a:xfrm>
            <a:off x="7240219"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3</a:t>
            </a:r>
          </a:p>
        </p:txBody>
      </p:sp>
      <p:sp>
        <p:nvSpPr>
          <p:cNvPr id="58" name="TextBox 57"/>
          <p:cNvSpPr txBox="1"/>
          <p:nvPr/>
        </p:nvSpPr>
        <p:spPr>
          <a:xfrm>
            <a:off x="7164324" y="2829154"/>
            <a:ext cx="609905" cy="200254"/>
          </a:xfrm>
          <a:prstGeom prst="rect">
            <a:avLst/>
          </a:prstGeom>
          <a:noFill/>
          <a:ln/>
        </p:spPr>
        <p:txBody>
          <a:bodyPr wrap="square" lIns="0" rIns="0" tIns="0" bIns="0">
            <a:noAutofit/>
          </a:bodyPr>
          <a:lstStyle/>
          <a:p>
            <a:r>
              <a:rPr sz="1000" b="1">
                <a:solidFill>
                  <a:srgbClr val="1D1D1F"/>
                </a:solidFill>
                <a:latin typeface="Noto Sans JP"/>
              </a:rPr>
              <a:t>品質評価</a:t>
            </a:r>
          </a:p>
        </p:txBody>
      </p:sp>
      <p:sp>
        <p:nvSpPr>
          <p:cNvPr id="59" name="TextBox 58"/>
          <p:cNvSpPr txBox="1"/>
          <p:nvPr/>
        </p:nvSpPr>
        <p:spPr>
          <a:xfrm>
            <a:off x="7090258" y="3105302"/>
            <a:ext cx="762610" cy="277063"/>
          </a:xfrm>
          <a:prstGeom prst="rect">
            <a:avLst/>
          </a:prstGeom>
          <a:noFill/>
          <a:ln/>
        </p:spPr>
        <p:txBody>
          <a:bodyPr wrap="square" lIns="0" rIns="0" tIns="0" bIns="0">
            <a:noAutofit/>
          </a:bodyPr>
          <a:lstStyle/>
          <a:p>
            <a:r>
              <a:rPr sz="800">
                <a:solidFill>
                  <a:srgbClr val="6E6E73"/>
                </a:solidFill>
                <a:latin typeface="Noto Sans JP"/>
              </a:rPr>
              <a:t>誤転記(幻覚)の</a:t>
            </a:r>
          </a:p>
          <a:p>
            <a:r>
              <a:rPr sz="800">
                <a:solidFill>
                  <a:srgbClr val="6E6E73"/>
                </a:solidFill>
                <a:latin typeface="Noto Sans JP"/>
              </a:rPr>
              <a:t>許容範囲内か</a:t>
            </a:r>
          </a:p>
        </p:txBody>
      </p:sp>
      <p:pic>
        <p:nvPicPr>
          <p:cNvPr id="60" name="Picture 59" descr="image.png"/>
          <p:cNvPicPr>
            <a:picLocks noChangeAspect="1"/>
          </p:cNvPicPr>
          <p:nvPr/>
        </p:nvPicPr>
        <p:blipFill>
          <a:blip r:embed="rId12"/>
          <a:stretch>
            <a:fillRect/>
          </a:stretch>
        </p:blipFill>
        <p:spPr>
          <a:xfrm>
            <a:off x="9986162" y="2295144"/>
            <a:ext cx="457200" cy="457200"/>
          </a:xfrm>
          <a:prstGeom prst="rect">
            <a:avLst/>
          </a:prstGeom>
          <a:ln/>
        </p:spPr>
      </p:pic>
      <p:sp>
        <p:nvSpPr>
          <p:cNvPr id="61" name="TextBox 60"/>
          <p:cNvSpPr txBox="1"/>
          <p:nvPr/>
        </p:nvSpPr>
        <p:spPr>
          <a:xfrm>
            <a:off x="9986162"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4</a:t>
            </a:r>
          </a:p>
        </p:txBody>
      </p:sp>
      <p:sp>
        <p:nvSpPr>
          <p:cNvPr id="62" name="TextBox 61"/>
          <p:cNvSpPr txBox="1"/>
          <p:nvPr/>
        </p:nvSpPr>
        <p:spPr>
          <a:xfrm>
            <a:off x="9976104" y="2829154"/>
            <a:ext cx="476402" cy="200254"/>
          </a:xfrm>
          <a:prstGeom prst="rect">
            <a:avLst/>
          </a:prstGeom>
          <a:noFill/>
          <a:ln/>
        </p:spPr>
        <p:txBody>
          <a:bodyPr wrap="square" lIns="0" rIns="0" tIns="0" bIns="0">
            <a:noAutofit/>
          </a:bodyPr>
          <a:lstStyle/>
          <a:p>
            <a:r>
              <a:rPr sz="1000" b="1">
                <a:solidFill>
                  <a:srgbClr val="1D1D1F"/>
                </a:solidFill>
                <a:latin typeface="Noto Sans JP"/>
              </a:rPr>
              <a:t>最適化</a:t>
            </a:r>
          </a:p>
        </p:txBody>
      </p:sp>
      <p:sp>
        <p:nvSpPr>
          <p:cNvPr id="63" name="TextBox 62"/>
          <p:cNvSpPr txBox="1"/>
          <p:nvPr/>
        </p:nvSpPr>
        <p:spPr>
          <a:xfrm>
            <a:off x="9766706" y="3105302"/>
            <a:ext cx="896112" cy="277063"/>
          </a:xfrm>
          <a:prstGeom prst="rect">
            <a:avLst/>
          </a:prstGeom>
          <a:noFill/>
          <a:ln/>
        </p:spPr>
        <p:txBody>
          <a:bodyPr wrap="square" lIns="0" rIns="0" tIns="0" bIns="0">
            <a:noAutofit/>
          </a:bodyPr>
          <a:lstStyle/>
          <a:p>
            <a:r>
              <a:rPr sz="800">
                <a:solidFill>
                  <a:srgbClr val="6E6E73"/>
                </a:solidFill>
                <a:latin typeface="Noto Sans JP"/>
              </a:rPr>
              <a:t>不足ならGPU化</a:t>
            </a:r>
          </a:p>
          <a:p>
            <a:r>
              <a:rPr sz="800">
                <a:solidFill>
                  <a:srgbClr val="6E6E73"/>
                </a:solidFill>
                <a:latin typeface="Noto Sans JP"/>
              </a:rPr>
              <a:t>またはモデル拡大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p:spPr>
      </p:pic>
      <p:sp>
        <p:nvSpPr>
          <p:cNvPr id="8" name="TextBox 7"/>
          <p:cNvSpPr txBox="1"/>
          <p:nvPr/>
        </p:nvSpPr>
        <p:spPr>
          <a:xfrm>
            <a:off x="990294" y="228600"/>
            <a:ext cx="3191255" cy="457200"/>
          </a:xfrm>
          <a:prstGeom prst="rect">
            <a:avLst/>
          </a:prstGeom>
          <a:noFill/>
          <a:ln/>
        </p:spPr>
        <p:txBody>
          <a:bodyPr wrap="square" lIns="0" rIns="0" tIns="0" bIns="0">
            <a:noAutofit/>
          </a:bodyPr>
          <a:lstStyle/>
          <a:p>
            <a:r>
              <a:rPr sz="2400" b="1">
                <a:solidFill>
                  <a:srgbClr val="1D1D1F"/>
                </a:solidFill>
                <a:latin typeface="Noto Sans JP"/>
              </a:rPr>
              <a:t>TTS（音声合成）概要</a:t>
            </a:r>
          </a:p>
        </p:txBody>
      </p:sp>
      <p:sp>
        <p:nvSpPr>
          <p:cNvPr id="9" name="TextBox 8"/>
          <p:cNvSpPr txBox="1"/>
          <p:nvPr/>
        </p:nvSpPr>
        <p:spPr>
          <a:xfrm>
            <a:off x="9000439" y="328270"/>
            <a:ext cx="2934310" cy="257861"/>
          </a:xfrm>
          <a:prstGeom prst="rect">
            <a:avLst/>
          </a:prstGeom>
          <a:noFill/>
          <a:ln/>
        </p:spPr>
        <p:txBody>
          <a:bodyPr wrap="square" lIns="0" rIns="0" tIns="0" bIns="0">
            <a:noAutofit/>
          </a:bodyPr>
          <a:lstStyle/>
          <a:p>
            <a:r>
              <a:rPr sz="1300">
                <a:solidFill>
                  <a:srgbClr val="86868B"/>
                </a:solidFill>
                <a:latin typeface="Noto Sans JP"/>
              </a:rPr>
              <a:t>読み上げと音声クローンの分離設計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結論：「読み上げ」は</a:t>
            </a:r>
            <a:r>
              <a:rPr sz="1800" b="1">
                <a:solidFill>
                  <a:srgbClr val="2563EB"/>
                </a:solidFill>
                <a:latin typeface="Noto Sans JP"/>
              </a:rPr>
              <a:t>軽量モデル（Piper/Kokoro）</a:t>
            </a:r>
            <a:r>
              <a:rPr sz="1800" b="1">
                <a:solidFill>
                  <a:srgbClr val="1D1D1F"/>
                </a:solidFill>
                <a:latin typeface="Noto Sans JP"/>
              </a:rPr>
              <a:t>で常駐化し、 </a:t>
            </a:r>
          </a:p>
          <a:p>
            <a:r>
              <a:rPr sz="1800" b="1">
                <a:solidFill>
                  <a:srgbClr val="1D1D1F"/>
                </a:solidFill>
                <a:latin typeface="Noto Sans JP"/>
              </a:rPr>
              <a:t> 「音声クローン」は</a:t>
            </a:r>
            <a:r>
              <a:rPr sz="1800" b="1">
                <a:solidFill>
                  <a:srgbClr val="2563EB"/>
                </a:solidFill>
                <a:latin typeface="Noto Sans JP"/>
              </a:rPr>
              <a:t>高品質モデル（XTTS/StyleTTS2）</a:t>
            </a:r>
            <a:r>
              <a:rPr sz="1800" b="1">
                <a:solidFill>
                  <a:srgbClr val="1D1D1F"/>
                </a:solidFill>
                <a:latin typeface="Noto Sans JP"/>
              </a:rPr>
              <a:t>で分離設計します。 </a:t>
            </a:r>
          </a:p>
        </p:txBody>
      </p:sp>
      <p:sp>
        <p:nvSpPr>
          <p:cNvPr id="12" name="Rectangle 11"/>
          <p:cNvSpPr/>
          <p:nvPr/>
        </p:nvSpPr>
        <p:spPr>
          <a:xfrm>
            <a:off x="457200"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p:spPr>
      </p:pic>
      <p:sp>
        <p:nvSpPr>
          <p:cNvPr id="15" name="TextBox 14"/>
          <p:cNvSpPr txBox="1"/>
          <p:nvPr/>
        </p:nvSpPr>
        <p:spPr>
          <a:xfrm>
            <a:off x="1028700" y="2945282"/>
            <a:ext cx="1783080" cy="419709"/>
          </a:xfrm>
          <a:prstGeom prst="rect">
            <a:avLst/>
          </a:prstGeom>
          <a:noFill/>
          <a:ln/>
        </p:spPr>
        <p:txBody>
          <a:bodyPr wrap="square" lIns="0" rIns="0" tIns="0" bIns="0">
            <a:noAutofit/>
          </a:bodyPr>
          <a:lstStyle/>
          <a:p>
            <a:r>
              <a:rPr sz="1500" b="1">
                <a:solidFill>
                  <a:srgbClr val="1D1D1F"/>
                </a:solidFill>
                <a:latin typeface="Noto Sans JP"/>
              </a:rPr>
              <a:t>代表システムと特徴</a:t>
            </a:r>
          </a:p>
        </p:txBody>
      </p:sp>
      <p:pic>
        <p:nvPicPr>
          <p:cNvPr id="16" name="Picture 15" descr="image.png"/>
          <p:cNvPicPr>
            <a:picLocks noChangeAspect="1"/>
          </p:cNvPicPr>
          <p:nvPr/>
        </p:nvPicPr>
        <p:blipFill>
          <a:blip r:embed="rId5"/>
          <a:stretch>
            <a:fillRect/>
          </a:stretch>
        </p:blipFill>
        <p:spPr>
          <a:xfrm>
            <a:off x="694944" y="3516782"/>
            <a:ext cx="114300" cy="114300"/>
          </a:xfrm>
          <a:prstGeom prst="rect">
            <a:avLst/>
          </a:prstGeom>
          <a:ln/>
        </p:spPr>
      </p:pic>
      <p:sp>
        <p:nvSpPr>
          <p:cNvPr id="17" name="TextBox 16"/>
          <p:cNvSpPr txBox="1"/>
          <p:nvPr/>
        </p:nvSpPr>
        <p:spPr>
          <a:xfrm>
            <a:off x="1095451" y="3798417"/>
            <a:ext cx="4419295" cy="219455"/>
          </a:xfrm>
          <a:prstGeom prst="rect">
            <a:avLst/>
          </a:prstGeom>
          <a:noFill/>
          <a:ln/>
        </p:spPr>
        <p:txBody>
          <a:bodyPr wrap="square" lIns="0" rIns="0" tIns="0" bIns="0">
            <a:noAutofit/>
          </a:bodyPr>
          <a:lstStyle/>
          <a:p>
            <a:r>
              <a:rPr sz="1000" b="1">
                <a:solidFill>
                  <a:srgbClr val="4B5563"/>
                </a:solidFill>
                <a:latin typeface="Noto Sans JP"/>
              </a:rPr>
              <a:t>Piper:</a:t>
            </a:r>
            <a:r>
              <a:rPr sz="1000">
                <a:solidFill>
                  <a:srgbClr val="4B5563"/>
                </a:solidFill>
                <a:latin typeface="Noto Sans JP"/>
              </a:rPr>
              <a:t> "fast, local neural TTS"を標榜。省リソース・常駐向き。</a:t>
            </a:r>
          </a:p>
        </p:txBody>
      </p:sp>
      <p:pic>
        <p:nvPicPr>
          <p:cNvPr id="18" name="Picture 17" descr="image.png"/>
          <p:cNvPicPr>
            <a:picLocks noChangeAspect="1"/>
          </p:cNvPicPr>
          <p:nvPr/>
        </p:nvPicPr>
        <p:blipFill>
          <a:blip r:embed="rId6"/>
          <a:stretch>
            <a:fillRect/>
          </a:stretch>
        </p:blipFill>
        <p:spPr>
          <a:xfrm>
            <a:off x="4989881" y="3810305"/>
            <a:ext cx="323698" cy="200253"/>
          </a:xfrm>
          <a:prstGeom prst="rect">
            <a:avLst/>
          </a:prstGeom>
          <a:ln/>
        </p:spPr>
      </p:pic>
      <p:sp>
        <p:nvSpPr>
          <p:cNvPr id="19" name="TextBox 18"/>
          <p:cNvSpPr txBox="1"/>
          <p:nvPr/>
        </p:nvSpPr>
        <p:spPr>
          <a:xfrm>
            <a:off x="4989881" y="3810305"/>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[52]</a:t>
            </a:r>
          </a:p>
        </p:txBody>
      </p:sp>
      <p:sp>
        <p:nvSpPr>
          <p:cNvPr id="20" name="TextBox 19"/>
          <p:cNvSpPr txBox="1"/>
          <p:nvPr/>
        </p:nvSpPr>
        <p:spPr>
          <a:xfrm>
            <a:off x="1095451" y="4009644"/>
            <a:ext cx="4410151" cy="219455"/>
          </a:xfrm>
          <a:prstGeom prst="rect">
            <a:avLst/>
          </a:prstGeom>
          <a:noFill/>
          <a:ln/>
        </p:spPr>
        <p:txBody>
          <a:bodyPr wrap="square" lIns="0" rIns="0" tIns="0" bIns="0">
            <a:noAutofit/>
          </a:bodyPr>
          <a:lstStyle/>
          <a:p>
            <a:r>
              <a:rPr sz="1000" b="1">
                <a:solidFill>
                  <a:srgbClr val="4B5563"/>
                </a:solidFill>
                <a:latin typeface="Noto Sans JP"/>
              </a:rPr>
              <a:t>Kokoro:</a:t>
            </a:r>
            <a:r>
              <a:rPr sz="1000">
                <a:solidFill>
                  <a:srgbClr val="4B5563"/>
                </a:solidFill>
                <a:latin typeface="Noto Sans JP"/>
              </a:rPr>
              <a:t> 82Mパラメータで高品質・高効率。</a:t>
            </a:r>
          </a:p>
        </p:txBody>
      </p:sp>
      <p:pic>
        <p:nvPicPr>
          <p:cNvPr id="21" name="Picture 20" descr="image.png"/>
          <p:cNvPicPr>
            <a:picLocks noChangeAspect="1"/>
          </p:cNvPicPr>
          <p:nvPr/>
        </p:nvPicPr>
        <p:blipFill>
          <a:blip r:embed="rId6"/>
          <a:stretch>
            <a:fillRect/>
          </a:stretch>
        </p:blipFill>
        <p:spPr>
          <a:xfrm>
            <a:off x="3834994" y="4021531"/>
            <a:ext cx="323698" cy="200253"/>
          </a:xfrm>
          <a:prstGeom prst="rect">
            <a:avLst/>
          </a:prstGeom>
          <a:ln/>
        </p:spPr>
      </p:pic>
      <p:sp>
        <p:nvSpPr>
          <p:cNvPr id="22" name="TextBox 21"/>
          <p:cNvSpPr txBox="1"/>
          <p:nvPr/>
        </p:nvSpPr>
        <p:spPr>
          <a:xfrm>
            <a:off x="3834994" y="4021531"/>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[53]</a:t>
            </a:r>
          </a:p>
        </p:txBody>
      </p:sp>
      <p:pic>
        <p:nvPicPr>
          <p:cNvPr id="23" name="Picture 22" descr="image.png"/>
          <p:cNvPicPr>
            <a:picLocks noChangeAspect="1"/>
          </p:cNvPicPr>
          <p:nvPr/>
        </p:nvPicPr>
        <p:blipFill>
          <a:blip r:embed="rId7"/>
          <a:stretch>
            <a:fillRect/>
          </a:stretch>
        </p:blipFill>
        <p:spPr>
          <a:xfrm>
            <a:off x="694944" y="4336085"/>
            <a:ext cx="133502" cy="114300"/>
          </a:xfrm>
          <a:prstGeom prst="rect">
            <a:avLst/>
          </a:prstGeom>
          <a:ln/>
        </p:spPr>
      </p:pic>
      <p:sp>
        <p:nvSpPr>
          <p:cNvPr id="24" name="TextBox 23"/>
          <p:cNvSpPr txBox="1"/>
          <p:nvPr/>
        </p:nvSpPr>
        <p:spPr>
          <a:xfrm>
            <a:off x="1114654" y="4617720"/>
            <a:ext cx="3715207" cy="219455"/>
          </a:xfrm>
          <a:prstGeom prst="rect">
            <a:avLst/>
          </a:prstGeom>
          <a:noFill/>
          <a:ln/>
        </p:spPr>
        <p:txBody>
          <a:bodyPr wrap="square" lIns="0" rIns="0" tIns="0" bIns="0">
            <a:noAutofit/>
          </a:bodyPr>
          <a:lstStyle/>
          <a:p>
            <a:r>
              <a:rPr sz="1000" b="1">
                <a:solidFill>
                  <a:srgbClr val="4B5563"/>
                </a:solidFill>
                <a:latin typeface="Noto Sans JP"/>
              </a:rPr>
              <a:t>XTTS-v2:</a:t>
            </a:r>
            <a:r>
              <a:rPr sz="1000">
                <a:solidFill>
                  <a:srgbClr val="4B5563"/>
                </a:solidFill>
                <a:latin typeface="Noto Sans JP"/>
              </a:rPr>
              <a:t> 数秒の参照音声で多言語クローンが可能。</a:t>
            </a:r>
          </a:p>
        </p:txBody>
      </p:sp>
      <p:pic>
        <p:nvPicPr>
          <p:cNvPr id="25" name="Picture 24" descr="image.png"/>
          <p:cNvPicPr>
            <a:picLocks noChangeAspect="1"/>
          </p:cNvPicPr>
          <p:nvPr/>
        </p:nvPicPr>
        <p:blipFill>
          <a:blip r:embed="rId6"/>
          <a:stretch>
            <a:fillRect/>
          </a:stretch>
        </p:blipFill>
        <p:spPr>
          <a:xfrm>
            <a:off x="4318711" y="4628693"/>
            <a:ext cx="323698" cy="200253"/>
          </a:xfrm>
          <a:prstGeom prst="rect">
            <a:avLst/>
          </a:prstGeom>
          <a:ln/>
        </p:spPr>
      </p:pic>
      <p:sp>
        <p:nvSpPr>
          <p:cNvPr id="26" name="TextBox 25"/>
          <p:cNvSpPr txBox="1"/>
          <p:nvPr/>
        </p:nvSpPr>
        <p:spPr>
          <a:xfrm>
            <a:off x="4318711" y="4628693"/>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[54]</a:t>
            </a:r>
          </a:p>
        </p:txBody>
      </p:sp>
      <p:sp>
        <p:nvSpPr>
          <p:cNvPr id="27" name="TextBox 26"/>
          <p:cNvSpPr txBox="1"/>
          <p:nvPr/>
        </p:nvSpPr>
        <p:spPr>
          <a:xfrm>
            <a:off x="1114654" y="4828946"/>
            <a:ext cx="3715207" cy="219456"/>
          </a:xfrm>
          <a:prstGeom prst="rect">
            <a:avLst/>
          </a:prstGeom>
          <a:noFill/>
          <a:ln/>
        </p:spPr>
        <p:txBody>
          <a:bodyPr wrap="square" lIns="0" rIns="0" tIns="0" bIns="0">
            <a:noAutofit/>
          </a:bodyPr>
          <a:lstStyle/>
          <a:p>
            <a:r>
              <a:rPr sz="1000" b="1">
                <a:solidFill>
                  <a:srgbClr val="4B5563"/>
                </a:solidFill>
                <a:latin typeface="Noto Sans JP"/>
              </a:rPr>
              <a:t>StyleTTS2:</a:t>
            </a:r>
            <a:r>
              <a:rPr sz="1000">
                <a:solidFill>
                  <a:srgbClr val="4B5563"/>
                </a:solidFill>
                <a:latin typeface="Noto Sans JP"/>
              </a:rPr>
              <a:t> 研究系で人間レベルの自然さを追求。</a:t>
            </a:r>
          </a:p>
        </p:txBody>
      </p:sp>
      <p:pic>
        <p:nvPicPr>
          <p:cNvPr id="28" name="Picture 27" descr="image.png"/>
          <p:cNvPicPr>
            <a:picLocks noChangeAspect="1"/>
          </p:cNvPicPr>
          <p:nvPr/>
        </p:nvPicPr>
        <p:blipFill>
          <a:blip r:embed="rId6"/>
          <a:stretch>
            <a:fillRect/>
          </a:stretch>
        </p:blipFill>
        <p:spPr>
          <a:xfrm>
            <a:off x="4179722" y="4840834"/>
            <a:ext cx="323698" cy="200253"/>
          </a:xfrm>
          <a:prstGeom prst="rect">
            <a:avLst/>
          </a:prstGeom>
          <a:ln/>
        </p:spPr>
      </p:pic>
      <p:sp>
        <p:nvSpPr>
          <p:cNvPr id="29" name="TextBox 28"/>
          <p:cNvSpPr txBox="1"/>
          <p:nvPr/>
        </p:nvSpPr>
        <p:spPr>
          <a:xfrm>
            <a:off x="4179722" y="4840834"/>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[55]</a:t>
            </a:r>
          </a:p>
        </p:txBody>
      </p:sp>
      <p:pic>
        <p:nvPicPr>
          <p:cNvPr id="30" name="Picture 29" descr="image.png"/>
          <p:cNvPicPr>
            <a:picLocks noChangeAspect="1"/>
          </p:cNvPicPr>
          <p:nvPr/>
        </p:nvPicPr>
        <p:blipFill>
          <a:blip r:embed="rId8"/>
          <a:stretch>
            <a:fillRect/>
          </a:stretch>
        </p:blipFill>
        <p:spPr>
          <a:xfrm>
            <a:off x="694944" y="5245913"/>
            <a:ext cx="1190549" cy="276148"/>
          </a:xfrm>
          <a:prstGeom prst="rect">
            <a:avLst/>
          </a:prstGeom>
          <a:ln/>
        </p:spPr>
      </p:pic>
      <p:sp>
        <p:nvSpPr>
          <p:cNvPr id="31" name="TextBox 30"/>
          <p:cNvSpPr txBox="1"/>
          <p:nvPr/>
        </p:nvSpPr>
        <p:spPr>
          <a:xfrm>
            <a:off x="694944" y="5245913"/>
            <a:ext cx="1191463"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Text-to-Speech</a:t>
            </a:r>
          </a:p>
        </p:txBody>
      </p:sp>
      <p:pic>
        <p:nvPicPr>
          <p:cNvPr id="32" name="Picture 31" descr="image.png"/>
          <p:cNvPicPr>
            <a:picLocks noChangeAspect="1"/>
          </p:cNvPicPr>
          <p:nvPr/>
        </p:nvPicPr>
        <p:blipFill>
          <a:blip r:embed="rId9"/>
          <a:stretch>
            <a:fillRect/>
          </a:stretch>
        </p:blipFill>
        <p:spPr>
          <a:xfrm>
            <a:off x="1958645" y="5245913"/>
            <a:ext cx="1104595" cy="276148"/>
          </a:xfrm>
          <a:prstGeom prst="rect">
            <a:avLst/>
          </a:prstGeom>
          <a:ln/>
        </p:spPr>
      </p:pic>
      <p:sp>
        <p:nvSpPr>
          <p:cNvPr id="33" name="TextBox 32"/>
          <p:cNvSpPr txBox="1"/>
          <p:nvPr/>
        </p:nvSpPr>
        <p:spPr>
          <a:xfrm>
            <a:off x="1958645" y="5245913"/>
            <a:ext cx="1105510"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Voice Cloning</a:t>
            </a:r>
          </a:p>
        </p:txBody>
      </p:sp>
      <p:sp>
        <p:nvSpPr>
          <p:cNvPr id="34" name="Rectangle 33"/>
          <p:cNvSpPr/>
          <p:nvPr/>
        </p:nvSpPr>
        <p:spPr>
          <a:xfrm>
            <a:off x="6248095" y="2706624"/>
            <a:ext cx="5486400" cy="31336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486754" y="2992831"/>
            <a:ext cx="190195" cy="190194"/>
          </a:xfrm>
          <a:prstGeom prst="rect">
            <a:avLst/>
          </a:prstGeom>
          <a:ln/>
        </p:spPr>
      </p:pic>
      <p:sp>
        <p:nvSpPr>
          <p:cNvPr id="37" name="TextBox 36"/>
          <p:cNvSpPr txBox="1"/>
          <p:nvPr/>
        </p:nvSpPr>
        <p:spPr>
          <a:xfrm>
            <a:off x="6791249" y="2945282"/>
            <a:ext cx="2171700" cy="419709"/>
          </a:xfrm>
          <a:prstGeom prst="rect">
            <a:avLst/>
          </a:prstGeom>
          <a:noFill/>
          <a:ln/>
        </p:spPr>
        <p:txBody>
          <a:bodyPr wrap="square" lIns="0" rIns="0" tIns="0" bIns="0">
            <a:noAutofit/>
          </a:bodyPr>
          <a:lstStyle/>
          <a:p>
            <a:r>
              <a:rPr sz="1500" b="1">
                <a:solidFill>
                  <a:srgbClr val="1D1D1F"/>
                </a:solidFill>
                <a:latin typeface="Noto Sans JP"/>
              </a:rPr>
              <a:t>運用の分離とリスク管理</a:t>
            </a:r>
          </a:p>
        </p:txBody>
      </p:sp>
      <p:pic>
        <p:nvPicPr>
          <p:cNvPr id="38" name="Picture 37" descr="image.png"/>
          <p:cNvPicPr>
            <a:picLocks noChangeAspect="1"/>
          </p:cNvPicPr>
          <p:nvPr/>
        </p:nvPicPr>
        <p:blipFill>
          <a:blip r:embed="rId11"/>
          <a:stretch>
            <a:fillRect/>
          </a:stretch>
        </p:blipFill>
        <p:spPr>
          <a:xfrm>
            <a:off x="6486754" y="3516782"/>
            <a:ext cx="105156" cy="114300"/>
          </a:xfrm>
          <a:prstGeom prst="rect">
            <a:avLst/>
          </a:prstGeom>
          <a:ln/>
        </p:spPr>
      </p:pic>
      <p:sp>
        <p:nvSpPr>
          <p:cNvPr id="39" name="TextBox 38"/>
          <p:cNvSpPr txBox="1"/>
          <p:nvPr/>
        </p:nvSpPr>
        <p:spPr>
          <a:xfrm>
            <a:off x="6687007" y="3760013"/>
            <a:ext cx="4886554" cy="495605"/>
          </a:xfrm>
          <a:prstGeom prst="rect">
            <a:avLst/>
          </a:prstGeom>
          <a:noFill/>
          <a:ln/>
        </p:spPr>
        <p:txBody>
          <a:bodyPr wrap="square" lIns="0" rIns="0" tIns="0" bIns="0">
            <a:noAutofit/>
          </a:bodyPr>
          <a:lstStyle/>
          <a:p>
            <a:r>
              <a:rPr sz="1200">
                <a:solidFill>
                  <a:srgbClr val="424245"/>
                </a:solidFill>
                <a:latin typeface="Noto Sans JP"/>
              </a:rPr>
              <a:t>軽量TTSを採用し、システム負荷を最小化。バックグラウンドでの安定動作を優先。</a:t>
            </a:r>
          </a:p>
        </p:txBody>
      </p:sp>
      <p:pic>
        <p:nvPicPr>
          <p:cNvPr id="40" name="Picture 39" descr="image.png"/>
          <p:cNvPicPr>
            <a:picLocks noChangeAspect="1"/>
          </p:cNvPicPr>
          <p:nvPr/>
        </p:nvPicPr>
        <p:blipFill>
          <a:blip r:embed="rId12"/>
          <a:stretch>
            <a:fillRect/>
          </a:stretch>
        </p:blipFill>
        <p:spPr>
          <a:xfrm>
            <a:off x="6486754" y="4362602"/>
            <a:ext cx="114300" cy="114300"/>
          </a:xfrm>
          <a:prstGeom prst="rect">
            <a:avLst/>
          </a:prstGeom>
          <a:ln/>
        </p:spPr>
      </p:pic>
      <p:sp>
        <p:nvSpPr>
          <p:cNvPr id="41" name="TextBox 40"/>
          <p:cNvSpPr txBox="1"/>
          <p:nvPr/>
        </p:nvSpPr>
        <p:spPr>
          <a:xfrm>
            <a:off x="6696151" y="4605833"/>
            <a:ext cx="4877410" cy="495605"/>
          </a:xfrm>
          <a:prstGeom prst="rect">
            <a:avLst/>
          </a:prstGeom>
          <a:noFill/>
          <a:ln/>
        </p:spPr>
        <p:txBody>
          <a:bodyPr wrap="square" lIns="0" rIns="0" tIns="0" bIns="0">
            <a:noAutofit/>
          </a:bodyPr>
          <a:lstStyle/>
          <a:p>
            <a:r>
              <a:rPr sz="1200">
                <a:solidFill>
                  <a:srgbClr val="424245"/>
                </a:solidFill>
                <a:latin typeface="Noto Sans JP"/>
              </a:rPr>
              <a:t>GPUリソースを割り当て品質を最大化。ただし、法務・権利リスク管理（許諾・ログ監査）を必須要件とします。</a:t>
            </a:r>
          </a:p>
        </p:txBody>
      </p:sp>
      <p:pic>
        <p:nvPicPr>
          <p:cNvPr id="42" name="Picture 41" descr="image.png"/>
          <p:cNvPicPr>
            <a:picLocks noChangeAspect="1"/>
          </p:cNvPicPr>
          <p:nvPr/>
        </p:nvPicPr>
        <p:blipFill>
          <a:blip r:embed="rId6"/>
          <a:stretch>
            <a:fillRect/>
          </a:stretch>
        </p:blipFill>
        <p:spPr>
          <a:xfrm>
            <a:off x="9805111" y="4888382"/>
            <a:ext cx="323697" cy="200253"/>
          </a:xfrm>
          <a:prstGeom prst="rect">
            <a:avLst/>
          </a:prstGeom>
          <a:ln/>
        </p:spPr>
      </p:pic>
      <p:sp>
        <p:nvSpPr>
          <p:cNvPr id="43" name="TextBox 42"/>
          <p:cNvSpPr txBox="1"/>
          <p:nvPr/>
        </p:nvSpPr>
        <p:spPr>
          <a:xfrm>
            <a:off x="9805111" y="4888382"/>
            <a:ext cx="32461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[56]</a:t>
            </a:r>
          </a:p>
        </p:txBody>
      </p:sp>
      <p:pic>
        <p:nvPicPr>
          <p:cNvPr id="44" name="Picture 43" descr="image.png"/>
          <p:cNvPicPr>
            <a:picLocks noChangeAspect="1"/>
          </p:cNvPicPr>
          <p:nvPr/>
        </p:nvPicPr>
        <p:blipFill>
          <a:blip r:embed="rId13"/>
          <a:stretch>
            <a:fillRect/>
          </a:stretch>
        </p:blipFill>
        <p:spPr>
          <a:xfrm>
            <a:off x="6486754" y="5245913"/>
            <a:ext cx="1380743" cy="276148"/>
          </a:xfrm>
          <a:prstGeom prst="rect">
            <a:avLst/>
          </a:prstGeom>
          <a:ln/>
        </p:spPr>
      </p:pic>
      <p:sp>
        <p:nvSpPr>
          <p:cNvPr id="45" name="TextBox 44"/>
          <p:cNvSpPr txBox="1"/>
          <p:nvPr/>
        </p:nvSpPr>
        <p:spPr>
          <a:xfrm>
            <a:off x="6486754" y="5245913"/>
            <a:ext cx="1381657"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Risk Management</a:t>
            </a:r>
          </a:p>
        </p:txBody>
      </p:sp>
      <p:pic>
        <p:nvPicPr>
          <p:cNvPr id="46" name="Picture 45" descr="image.png"/>
          <p:cNvPicPr>
            <a:picLocks noChangeAspect="1"/>
          </p:cNvPicPr>
          <p:nvPr/>
        </p:nvPicPr>
        <p:blipFill>
          <a:blip r:embed="rId14"/>
          <a:stretch>
            <a:fillRect/>
          </a:stretch>
        </p:blipFill>
        <p:spPr>
          <a:xfrm>
            <a:off x="7939735" y="5245913"/>
            <a:ext cx="1695297" cy="276148"/>
          </a:xfrm>
          <a:prstGeom prst="rect">
            <a:avLst/>
          </a:prstGeom>
          <a:ln/>
        </p:spPr>
      </p:pic>
      <p:sp>
        <p:nvSpPr>
          <p:cNvPr id="47" name="TextBox 46"/>
          <p:cNvSpPr txBox="1"/>
          <p:nvPr/>
        </p:nvSpPr>
        <p:spPr>
          <a:xfrm>
            <a:off x="7939735" y="5245913"/>
            <a:ext cx="1696212"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Resource Optimization</a:t>
            </a:r>
          </a:p>
        </p:txBody>
      </p:sp>
      <p:sp>
        <p:nvSpPr>
          <p:cNvPr id="48" name="Rectangle 47"/>
          <p:cNvSpPr/>
          <p:nvPr/>
        </p:nvSpPr>
        <p:spPr>
          <a:xfrm>
            <a:off x="457200" y="6141110"/>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5"/>
          <a:stretch>
            <a:fillRect/>
          </a:stretch>
        </p:blipFill>
        <p:spPr>
          <a:xfrm>
            <a:off x="619049" y="6322162"/>
            <a:ext cx="171907" cy="171906"/>
          </a:xfrm>
          <a:prstGeom prst="rect">
            <a:avLst/>
          </a:prstGeom>
          <a:ln/>
        </p:spPr>
      </p:pic>
      <p:sp>
        <p:nvSpPr>
          <p:cNvPr id="50" name="TextBox 49"/>
          <p:cNvSpPr txBox="1"/>
          <p:nvPr/>
        </p:nvSpPr>
        <p:spPr>
          <a:xfrm>
            <a:off x="905256" y="6302959"/>
            <a:ext cx="10782605" cy="200253"/>
          </a:xfrm>
          <a:prstGeom prst="rect">
            <a:avLst/>
          </a:prstGeom>
          <a:noFill/>
          <a:ln/>
        </p:spPr>
        <p:txBody>
          <a:bodyPr wrap="square" lIns="0" rIns="0" tIns="0" bIns="0">
            <a:noAutofit/>
          </a:bodyPr>
          <a:lstStyle/>
          <a:p>
            <a:r>
              <a:rPr sz="1000" b="1">
                <a:solidFill>
                  <a:srgbClr val="78350F"/>
                </a:solidFill>
                <a:latin typeface="Noto Sans JP"/>
              </a:rPr>
              <a:t>日本語品質への注意（Quality Assurance）</a:t>
            </a:r>
          </a:p>
        </p:txBody>
      </p:sp>
      <p:sp>
        <p:nvSpPr>
          <p:cNvPr id="51" name="TextBox 50"/>
          <p:cNvSpPr txBox="1"/>
          <p:nvPr/>
        </p:nvSpPr>
        <p:spPr>
          <a:xfrm>
            <a:off x="905256" y="6541618"/>
            <a:ext cx="10744200" cy="400507"/>
          </a:xfrm>
          <a:prstGeom prst="rect">
            <a:avLst/>
          </a:prstGeom>
          <a:noFill/>
          <a:ln/>
        </p:spPr>
        <p:txBody>
          <a:bodyPr wrap="square" lIns="0" rIns="0" tIns="0" bIns="0">
            <a:noAutofit/>
          </a:bodyPr>
          <a:lstStyle/>
          <a:p>
            <a:r>
              <a:rPr sz="1000">
                <a:solidFill>
                  <a:srgbClr val="78350F"/>
                </a:solidFill>
                <a:latin typeface="Noto Sans JP"/>
              </a:rPr>
              <a:t>日本語の品質（アクセント、抑揚）は、モデルだけでなく「辞書」や「テキスト前処理」に強く依存します。業務投入前には、特定のドメイン用語を用いた事前検証が不可欠です。</a:t>
            </a:r>
          </a:p>
        </p:txBody>
      </p:sp>
      <p:sp>
        <p:nvSpPr>
          <p:cNvPr id="52" name="Rectangle 51"/>
          <p:cNvSpPr/>
          <p:nvPr/>
        </p:nvSpPr>
        <p:spPr>
          <a:xfrm>
            <a:off x="0" y="7484364"/>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8436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9350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5" name="TextBox 54"/>
          <p:cNvSpPr txBox="1"/>
          <p:nvPr/>
        </p:nvSpPr>
        <p:spPr>
          <a:xfrm>
            <a:off x="11385194" y="7493508"/>
            <a:ext cx="428854" cy="171907"/>
          </a:xfrm>
          <a:prstGeom prst="rect">
            <a:avLst/>
          </a:prstGeom>
          <a:noFill/>
          <a:ln/>
        </p:spPr>
        <p:txBody>
          <a:bodyPr wrap="square" lIns="0" rIns="0" tIns="0" bIns="0">
            <a:noAutofit/>
          </a:bodyPr>
          <a:lstStyle/>
          <a:p>
            <a:r>
              <a:rPr sz="900">
                <a:solidFill>
                  <a:srgbClr val="86868B"/>
                </a:solidFill>
                <a:latin typeface="Noto Sans JP"/>
              </a:rPr>
              <a:t>27 / 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p:spPr>
      </p:pic>
      <p:sp>
        <p:nvSpPr>
          <p:cNvPr id="7" name="TextBox 6"/>
          <p:cNvSpPr txBox="1"/>
          <p:nvPr/>
        </p:nvSpPr>
        <p:spPr>
          <a:xfrm>
            <a:off x="905256" y="381305"/>
            <a:ext cx="2179930" cy="381305"/>
          </a:xfrm>
          <a:prstGeom prst="rect">
            <a:avLst/>
          </a:prstGeom>
          <a:noFill/>
          <a:ln/>
        </p:spPr>
        <p:txBody>
          <a:bodyPr wrap="square" lIns="0" rIns="0" tIns="0" bIns="0">
            <a:noAutofit/>
          </a:bodyPr>
          <a:lstStyle/>
          <a:p>
            <a:r>
              <a:rPr sz="2100" b="1">
                <a:solidFill>
                  <a:srgbClr val="FFFFFF"/>
                </a:solidFill>
                <a:latin typeface="Noto Sans JP"/>
              </a:rPr>
              <a:t>TTS（完全版表）</a:t>
            </a:r>
          </a:p>
        </p:txBody>
      </p:sp>
      <p:sp>
        <p:nvSpPr>
          <p:cNvPr id="8" name="TextBox 7"/>
          <p:cNvSpPr txBox="1"/>
          <p:nvPr/>
        </p:nvSpPr>
        <p:spPr>
          <a:xfrm>
            <a:off x="7616038" y="457200"/>
            <a:ext cx="4810658" cy="228600"/>
          </a:xfrm>
          <a:prstGeom prst="rect">
            <a:avLst/>
          </a:prstGeom>
          <a:noFill/>
          <a:ln/>
        </p:spPr>
        <p:txBody>
          <a:bodyPr wrap="square" lIns="0" rIns="0" tIns="0" bIns="0">
            <a:noAutofit/>
          </a:bodyPr>
          <a:lstStyle/>
          <a:p>
            <a:r>
              <a:rPr sz="1200">
                <a:solidFill>
                  <a:srgbClr val="A1A1A6"/>
                </a:solidFill>
                <a:latin typeface="Noto Sans JP"/>
              </a:rPr>
              <a:t>主要モデル詳細比較：Piper / Kokoro / XTTS-v2 / StyleTTS2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58206"/>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71641">
                <a:tc>
                  <a:txBody>
                    <a:bodyPr/>
                    <a:lstStyle/>
                    <a:p>
                      <a:r>
                        <a:t>代表モデル/方式</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71641">
                <a:tc>
                  <a:txBody>
                    <a:bodyPr/>
                    <a:lstStyle/>
                    <a:p>
                      <a:r>
                        <a:t>Piper</a:t>
                      </a:r>
                    </a:p>
                    <a:p>
                      <a:r>
                        <a:t>Fast/Local[52]</a:t>
                      </a:r>
                    </a:p>
                  </a:txBody>
                  <a:tcPr/>
                </a:tc>
                <a:tc>
                  <a:txBody>
                    <a:bodyPr/>
                    <a:lstStyle/>
                    <a:p>
                      <a:r>
                        <a:t>軽量</a:t>
                      </a:r>
                    </a:p>
                  </a:txBody>
                  <a:tcPr/>
                </a:tc>
                <a:tc>
                  <a:txBody>
                    <a:bodyPr/>
                    <a:lstStyle/>
                    <a:p>
                      <a:r>
                        <a:t>ローカル常駐</a:t>
                      </a:r>
                    </a:p>
                    <a:p>
                      <a:r>
                        <a:t>TTS向き</a:t>
                      </a:r>
                    </a:p>
                  </a:txBody>
                  <a:tcPr/>
                </a:tc>
                <a:tc>
                  <a:txBody>
                    <a:bodyPr/>
                    <a:lstStyle/>
                    <a:p>
                      <a:r>
                        <a:t>得意"fast, local neural TTS"を明示</a:t>
                      </a:r>
                    </a:p>
                    <a:p>
                      <a:r>
                        <a:t>得意省リソース環境で有利</a:t>
                      </a:r>
                    </a:p>
                  </a:txBody>
                  <a:tcPr/>
                </a:tc>
                <a:tc>
                  <a:txBody>
                    <a:bodyPr/>
                    <a:lstStyle/>
                    <a:p>
                      <a:r>
                        <a:t>Win/Mac: 導入容易</a:t>
                      </a:r>
                    </a:p>
                  </a:txBody>
                  <a:tcPr/>
                </a:tc>
                <a:tc>
                  <a:txBody>
                    <a:bodyPr/>
                    <a:lstStyle/>
                    <a:p>
                      <a:r>
                        <a:t>Riskリポジトリ移転あり（運用はフォーク/移転先を確認）[52]</a:t>
                      </a:r>
                    </a:p>
                  </a:txBody>
                  <a:tcPr/>
                </a:tc>
              </a:tr>
              <a:tr h="971641">
                <a:tc>
                  <a:txBody>
                    <a:bodyPr/>
                    <a:lstStyle/>
                    <a:p>
                      <a:r>
                        <a:t>Kokoro</a:t>
                      </a:r>
                    </a:p>
                    <a:p>
                      <a:r>
                        <a:t>Open Weight[53]</a:t>
                      </a:r>
                    </a:p>
                  </a:txBody>
                  <a:tcPr/>
                </a:tc>
                <a:tc>
                  <a:txBody>
                    <a:bodyPr/>
                    <a:lstStyle/>
                    <a:p>
                      <a:r>
                        <a:t>82M</a:t>
                      </a:r>
                    </a:p>
                  </a:txBody>
                  <a:tcPr/>
                </a:tc>
                <a:tc>
                  <a:txBody>
                    <a:bodyPr/>
                    <a:lstStyle/>
                    <a:p>
                      <a:r>
                        <a:t>軽量TTSとして</a:t>
                      </a:r>
                    </a:p>
                    <a:p>
                      <a:r>
                        <a:t>使い分け</a:t>
                      </a:r>
                    </a:p>
                  </a:txBody>
                  <a:tcPr/>
                </a:tc>
                <a:tc>
                  <a:txBody>
                    <a:bodyPr/>
                    <a:lstStyle/>
                    <a:p>
                      <a:r>
                        <a:t>得意82Mで高速・コスト効率を主張</a:t>
                      </a:r>
                    </a:p>
                    <a:p>
                      <a:r>
                        <a:t>得意Apacheライセンス重みをうたう[53]</a:t>
                      </a:r>
                    </a:p>
                  </a:txBody>
                  <a:tcPr/>
                </a:tc>
                <a:tc>
                  <a:txBody>
                    <a:bodyPr/>
                    <a:lstStyle/>
                    <a:p>
                      <a:r>
                        <a:t>CPU: 成立しやすい</a:t>
                      </a:r>
                    </a:p>
                  </a:txBody>
                  <a:tcPr/>
                </a:tc>
                <a:tc>
                  <a:txBody>
                    <a:bodyPr/>
                    <a:lstStyle/>
                    <a:p>
                      <a:r>
                        <a:t>Note日本語品質は声・辞書・前処理に依存（事前確認必須）</a:t>
                      </a:r>
                    </a:p>
                  </a:txBody>
                  <a:tcPr/>
                </a:tc>
              </a:tr>
              <a:tr h="971641">
                <a:tc>
                  <a:txBody>
                    <a:bodyPr/>
                    <a:lstStyle/>
                    <a:p>
                      <a:r>
                        <a:t>Coqui XTTS-v2</a:t>
                      </a:r>
                    </a:p>
                    <a:p>
                      <a:r>
                        <a:t>Clone[54]</a:t>
                      </a:r>
                    </a:p>
                  </a:txBody>
                  <a:tcPr/>
                </a:tc>
                <a:tc>
                  <a:txBody>
                    <a:bodyPr/>
                    <a:lstStyle/>
                    <a:p>
                      <a:r>
                        <a:t>大きめ</a:t>
                      </a:r>
                    </a:p>
                  </a:txBody>
                  <a:tcPr/>
                </a:tc>
                <a:tc>
                  <a:txBody>
                    <a:bodyPr/>
                    <a:lstStyle/>
                    <a:p>
                      <a:r>
                        <a:t>GPU推奨</a:t>
                      </a:r>
                    </a:p>
                    <a:p>
                      <a:r>
                        <a:t>音声クローン寄り</a:t>
                      </a:r>
                    </a:p>
                  </a:txBody>
                  <a:tcPr/>
                </a:tc>
                <a:tc>
                  <a:txBody>
                    <a:bodyPr/>
                    <a:lstStyle/>
                    <a:p>
                      <a:r>
                        <a:t>得意数秒の参照音声で多言語クローンをうたう[54]</a:t>
                      </a:r>
                    </a:p>
                  </a:txBody>
                  <a:tcPr/>
                </a:tc>
                <a:tc>
                  <a:txBody>
                    <a:bodyPr/>
                    <a:lstStyle/>
                    <a:p>
                      <a:r>
                        <a:t>GPU環境: 実務的</a:t>
                      </a:r>
                    </a:p>
                  </a:txBody>
                  <a:tcPr/>
                </a:tc>
                <a:tc>
                  <a:txBody>
                    <a:bodyPr/>
                    <a:lstStyle/>
                    <a:p>
                      <a:r>
                        <a:t>Risk法務・倫理・権利リスク大（同意・監査が必須）[54,56]</a:t>
                      </a:r>
                    </a:p>
                  </a:txBody>
                  <a:tcPr/>
                </a:tc>
              </a:tr>
              <a:tr h="971642">
                <a:tc>
                  <a:txBody>
                    <a:bodyPr/>
                    <a:lstStyle/>
                    <a:p>
                      <a:r>
                        <a:t>StyleTTS2</a:t>
                      </a:r>
                    </a:p>
                    <a:p>
                      <a:r>
                        <a:t>Research[55]</a:t>
                      </a:r>
                    </a:p>
                  </a:txBody>
                  <a:tcPr/>
                </a:tc>
                <a:tc>
                  <a:txBody>
                    <a:bodyPr/>
                    <a:lstStyle/>
                    <a:p>
                      <a:r>
                        <a:t>研究系</a:t>
                      </a:r>
                    </a:p>
                  </a:txBody>
                  <a:tcPr/>
                </a:tc>
                <a:tc>
                  <a:txBody>
                    <a:bodyPr/>
                    <a:lstStyle/>
                    <a:p>
                      <a:r>
                        <a:t>高品質TTS志向</a:t>
                      </a:r>
                    </a:p>
                  </a:txBody>
                  <a:tcPr/>
                </a:tc>
                <a:tc>
                  <a:txBody>
                    <a:bodyPr/>
                    <a:lstStyle/>
                    <a:p>
                      <a:r>
                        <a:t>得意"human-level"を目標とする研究系[55]</a:t>
                      </a:r>
                    </a:p>
                  </a:txBody>
                  <a:tcPr/>
                </a:tc>
                <a:tc>
                  <a:txBody>
                    <a:bodyPr/>
                    <a:lstStyle/>
                    <a:p>
                      <a:r>
                        <a:t>GPU: 望ましい</a:t>
                      </a:r>
                    </a:p>
                  </a:txBody>
                  <a:tcPr/>
                </a:tc>
                <a:tc>
                  <a:txBody>
                    <a:bodyPr/>
                    <a:lstStyle/>
                    <a:p>
                      <a:r>
                        <a:t>Risk実運用は依存関係・再現性の確認が必須</a:t>
                      </a:r>
                    </a:p>
                  </a:txBody>
                  <a:tcPr/>
                </a:tc>
              </a:tr>
            </a:tbl>
          </a:graphicData>
        </a:graphic>
      </p:graphicFrame>
      <p:sp>
        <p:nvSpPr>
          <p:cNvPr id="12" name="Rectangle 11"/>
          <p:cNvSpPr/>
          <p:nvPr/>
        </p:nvSpPr>
        <p:spPr>
          <a:xfrm>
            <a:off x="457200" y="5661965"/>
            <a:ext cx="11277295" cy="580643"/>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p:spPr>
      </p:pic>
      <p:sp>
        <p:nvSpPr>
          <p:cNvPr id="15" name="TextBox 14"/>
          <p:cNvSpPr txBox="1"/>
          <p:nvPr/>
        </p:nvSpPr>
        <p:spPr>
          <a:xfrm>
            <a:off x="914400" y="5776265"/>
            <a:ext cx="10744200" cy="352958"/>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「読み上げ（通知・要約）」と「クローン（本人声）」は別物として分離設計します。前者はPiper/Kokoroのような軽量系、後者はXTTS等で、法務・倫理リスク管理を別レイヤに置きます。</a:t>
            </a:r>
          </a:p>
        </p:txBody>
      </p:sp>
      <p:pic>
        <p:nvPicPr>
          <p:cNvPr id="16" name="Picture 15" descr="image.png"/>
          <p:cNvPicPr>
            <a:picLocks noChangeAspect="1"/>
          </p:cNvPicPr>
          <p:nvPr/>
        </p:nvPicPr>
        <p:blipFill>
          <a:blip r:embed="rId4"/>
          <a:stretch>
            <a:fillRect/>
          </a:stretch>
        </p:blipFill>
        <p:spPr>
          <a:xfrm>
            <a:off x="933602" y="5917082"/>
            <a:ext cx="247802" cy="161848"/>
          </a:xfrm>
          <a:prstGeom prst="rect">
            <a:avLst/>
          </a:prstGeom>
          <a:ln/>
        </p:spPr>
      </p:pic>
      <p:sp>
        <p:nvSpPr>
          <p:cNvPr id="17" name="TextBox 16"/>
          <p:cNvSpPr txBox="1"/>
          <p:nvPr/>
        </p:nvSpPr>
        <p:spPr>
          <a:xfrm>
            <a:off x="933602" y="5917082"/>
            <a:ext cx="247802" cy="162763"/>
          </a:xfrm>
          <a:prstGeom prst="rect">
            <a:avLst/>
          </a:prstGeom>
          <a:noFill/>
          <a:ln>
            <a:solidFill>
              <a:srgbClr val="FFFFFF"/>
            </a:solidFill>
          </a:ln>
        </p:spPr>
        <p:txBody>
          <a:bodyPr wrap="square" lIns="0" rIns="0" tIns="0" bIns="0">
            <a:noAutofit/>
          </a:bodyPr>
          <a:lstStyle/>
          <a:p>
            <a:r>
              <a:rPr sz="800">
                <a:solidFill>
                  <a:srgbClr val="86868B"/>
                </a:solidFill>
                <a:latin typeface="Noto Sans JP"/>
              </a:rPr>
              <a:t>[56]</a:t>
            </a:r>
          </a:p>
        </p:txBody>
      </p:sp>
      <p:sp>
        <p:nvSpPr>
          <p:cNvPr id="18" name="Rectangle 17"/>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28 | ローカルAI 技術調査レポート 2026</a:t>
            </a:r>
          </a:p>
        </p:txBody>
      </p:sp>
      <p:sp>
        <p:nvSpPr>
          <p:cNvPr id="21" name="TextBox 20"/>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[52-56]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p:spPr>
      </p:pic>
      <p:sp>
        <p:nvSpPr>
          <p:cNvPr id="8" name="TextBox 7"/>
          <p:cNvSpPr txBox="1"/>
          <p:nvPr/>
        </p:nvSpPr>
        <p:spPr>
          <a:xfrm>
            <a:off x="942746" y="176479"/>
            <a:ext cx="2820010" cy="400507"/>
          </a:xfrm>
          <a:prstGeom prst="rect">
            <a:avLst/>
          </a:prstGeom>
          <a:noFill/>
          <a:ln/>
        </p:spPr>
        <p:txBody>
          <a:bodyPr wrap="square" lIns="0" rIns="0" tIns="0" bIns="0">
            <a:noAutofit/>
          </a:bodyPr>
          <a:lstStyle/>
          <a:p>
            <a:r>
              <a:rPr sz="2100" b="1">
                <a:solidFill>
                  <a:srgbClr val="1D1D1F"/>
                </a:solidFill>
                <a:latin typeface="Noto Sans JP"/>
              </a:rPr>
              <a:t>採用判断基準（TTS）</a:t>
            </a:r>
          </a:p>
        </p:txBody>
      </p:sp>
      <p:sp>
        <p:nvSpPr>
          <p:cNvPr id="9" name="TextBox 8"/>
          <p:cNvSpPr txBox="1"/>
          <p:nvPr/>
        </p:nvSpPr>
        <p:spPr>
          <a:xfrm>
            <a:off x="9448495" y="261518"/>
            <a:ext cx="2479853" cy="228600"/>
          </a:xfrm>
          <a:prstGeom prst="rect">
            <a:avLst/>
          </a:prstGeom>
          <a:noFill/>
          <a:ln/>
        </p:spPr>
        <p:txBody>
          <a:bodyPr wrap="square" lIns="0" rIns="0" tIns="0" bIns="0">
            <a:noAutofit/>
          </a:bodyPr>
          <a:lstStyle/>
          <a:p>
            <a:r>
              <a:rPr sz="1200">
                <a:solidFill>
                  <a:srgbClr val="86868B"/>
                </a:solidFill>
                <a:latin typeface="Noto Sans JP"/>
              </a:rPr>
              <a:t>品質・コスト・リスクの分離管理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結論：「読み上げ（通知・要約）」と「クローン（本人声）」は別レイヤで運用すべきです。前者は軽量化し、後者は法務・倫理リスクを管理します。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250692" y="2615184"/>
            <a:ext cx="105156" cy="171906"/>
          </a:xfrm>
          <a:prstGeom prst="rect">
            <a:avLst/>
          </a:prstGeom>
          <a:ln/>
        </p:spPr>
      </p:pic>
      <p:pic>
        <p:nvPicPr>
          <p:cNvPr id="15" name="Picture 14" descr="image.png"/>
          <p:cNvPicPr>
            <a:picLocks noChangeAspect="1"/>
          </p:cNvPicPr>
          <p:nvPr/>
        </p:nvPicPr>
        <p:blipFill>
          <a:blip r:embed="rId4"/>
          <a:stretch>
            <a:fillRect/>
          </a:stretch>
        </p:blipFill>
        <p:spPr>
          <a:xfrm>
            <a:off x="6043270" y="2615184"/>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8836762" y="2615184"/>
            <a:ext cx="105155" cy="171906"/>
          </a:xfrm>
          <a:prstGeom prst="rect">
            <a:avLst/>
          </a:prstGeom>
          <a:ln/>
        </p:spPr>
      </p:pic>
      <p:sp>
        <p:nvSpPr>
          <p:cNvPr id="17" name="Rectangle 16"/>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33349" y="4167835"/>
            <a:ext cx="152704" cy="133501"/>
          </a:xfrm>
          <a:prstGeom prst="rect">
            <a:avLst/>
          </a:prstGeom>
          <a:ln/>
        </p:spPr>
      </p:pic>
      <p:sp>
        <p:nvSpPr>
          <p:cNvPr id="21" name="TextBox 20"/>
          <p:cNvSpPr txBox="1"/>
          <p:nvPr/>
        </p:nvSpPr>
        <p:spPr>
          <a:xfrm>
            <a:off x="1057046" y="4120286"/>
            <a:ext cx="1600200" cy="228600"/>
          </a:xfrm>
          <a:prstGeom prst="rect">
            <a:avLst/>
          </a:prstGeom>
          <a:noFill/>
          <a:ln/>
        </p:spPr>
        <p:txBody>
          <a:bodyPr wrap="square" lIns="0" rIns="0" tIns="0" bIns="0">
            <a:noAutofit/>
          </a:bodyPr>
          <a:lstStyle/>
          <a:p>
            <a:r>
              <a:rPr sz="1200" b="1">
                <a:solidFill>
                  <a:srgbClr val="1D1D1F"/>
                </a:solidFill>
                <a:latin typeface="Noto Sans JP"/>
              </a:rPr>
              <a:t>分離運用（Layered）</a:t>
            </a:r>
          </a:p>
        </p:txBody>
      </p:sp>
      <p:pic>
        <p:nvPicPr>
          <p:cNvPr id="22" name="Picture 21" descr="image.png"/>
          <p:cNvPicPr>
            <a:picLocks noChangeAspect="1"/>
          </p:cNvPicPr>
          <p:nvPr/>
        </p:nvPicPr>
        <p:blipFill>
          <a:blip r:embed="rId6"/>
          <a:stretch>
            <a:fillRect/>
          </a:stretch>
        </p:blipFill>
        <p:spPr>
          <a:xfrm>
            <a:off x="657454" y="4646981"/>
            <a:ext cx="95098" cy="95098"/>
          </a:xfrm>
          <a:prstGeom prst="rect">
            <a:avLst/>
          </a:prstGeom>
          <a:ln/>
        </p:spPr>
      </p:pic>
      <p:sp>
        <p:nvSpPr>
          <p:cNvPr id="23" name="TextBox 22"/>
          <p:cNvSpPr txBox="1"/>
          <p:nvPr/>
        </p:nvSpPr>
        <p:spPr>
          <a:xfrm>
            <a:off x="752551" y="4773168"/>
            <a:ext cx="3219602" cy="562356"/>
          </a:xfrm>
          <a:prstGeom prst="rect">
            <a:avLst/>
          </a:prstGeom>
          <a:noFill/>
          <a:ln/>
        </p:spPr>
        <p:txBody>
          <a:bodyPr wrap="square" lIns="0" rIns="0" tIns="0" bIns="0">
            <a:noAutofit/>
          </a:bodyPr>
          <a:lstStyle/>
          <a:p>
            <a:r>
              <a:rPr sz="900" b="1">
                <a:solidFill>
                  <a:srgbClr val="1D1D1F"/>
                </a:solidFill>
                <a:latin typeface="Noto Sans JP"/>
              </a:rPr>
              <a:t>軽量TTSの常駐</a:t>
            </a:r>
          </a:p>
          <a:p>
            <a:r>
              <a:rPr sz="900">
                <a:solidFill>
                  <a:srgbClr val="424245"/>
                </a:solidFill>
                <a:latin typeface="Noto Sans JP"/>
              </a:rPr>
              <a:t> 通知・要約読み上げはPiper/Kokoro等で省リソース化し、システムに常駐させる。 </a:t>
            </a:r>
          </a:p>
        </p:txBody>
      </p:sp>
      <p:pic>
        <p:nvPicPr>
          <p:cNvPr id="24" name="Picture 23" descr="image.png"/>
          <p:cNvPicPr>
            <a:picLocks noChangeAspect="1"/>
          </p:cNvPicPr>
          <p:nvPr/>
        </p:nvPicPr>
        <p:blipFill>
          <a:blip r:embed="rId6"/>
          <a:stretch>
            <a:fillRect/>
          </a:stretch>
        </p:blipFill>
        <p:spPr>
          <a:xfrm>
            <a:off x="657454" y="5484571"/>
            <a:ext cx="95098" cy="95098"/>
          </a:xfrm>
          <a:prstGeom prst="rect">
            <a:avLst/>
          </a:prstGeom>
          <a:ln/>
        </p:spPr>
      </p:pic>
      <p:sp>
        <p:nvSpPr>
          <p:cNvPr id="25" name="TextBox 24"/>
          <p:cNvSpPr txBox="1"/>
          <p:nvPr/>
        </p:nvSpPr>
        <p:spPr>
          <a:xfrm>
            <a:off x="752551" y="5610758"/>
            <a:ext cx="3219602" cy="562355"/>
          </a:xfrm>
          <a:prstGeom prst="rect">
            <a:avLst/>
          </a:prstGeom>
          <a:noFill/>
          <a:ln/>
        </p:spPr>
        <p:txBody>
          <a:bodyPr wrap="square" lIns="0" rIns="0" tIns="0" bIns="0">
            <a:noAutofit/>
          </a:bodyPr>
          <a:lstStyle/>
          <a:p>
            <a:r>
              <a:rPr sz="900" b="1">
                <a:solidFill>
                  <a:srgbClr val="1D1D1F"/>
                </a:solidFill>
                <a:latin typeface="Noto Sans JP"/>
              </a:rPr>
              <a:t>クローンは別系統</a:t>
            </a:r>
          </a:p>
          <a:p>
            <a:r>
              <a:rPr sz="900">
                <a:solidFill>
                  <a:srgbClr val="424245"/>
                </a:solidFill>
                <a:latin typeface="Noto Sans JP"/>
              </a:rPr>
              <a:t> XTTS等はGPUリソースを消費するため、必要な時のみ呼び出す別サービスとして切り出す。 </a:t>
            </a:r>
          </a:p>
        </p:txBody>
      </p:sp>
      <p:sp>
        <p:nvSpPr>
          <p:cNvPr id="26" name="Rectangle 25"/>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082796"/>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167835"/>
            <a:ext cx="133501" cy="133501"/>
          </a:xfrm>
          <a:prstGeom prst="rect">
            <a:avLst/>
          </a:prstGeom>
          <a:ln/>
        </p:spPr>
      </p:pic>
      <p:sp>
        <p:nvSpPr>
          <p:cNvPr id="30" name="TextBox 29"/>
          <p:cNvSpPr txBox="1"/>
          <p:nvPr/>
        </p:nvSpPr>
        <p:spPr>
          <a:xfrm>
            <a:off x="4880153" y="4120286"/>
            <a:ext cx="1965045" cy="228600"/>
          </a:xfrm>
          <a:prstGeom prst="rect">
            <a:avLst/>
          </a:prstGeom>
          <a:noFill/>
          <a:ln/>
        </p:spPr>
        <p:txBody>
          <a:bodyPr wrap="square" lIns="0" rIns="0" tIns="0" bIns="0">
            <a:noAutofit/>
          </a:bodyPr>
          <a:lstStyle/>
          <a:p>
            <a:r>
              <a:rPr sz="1200" b="1">
                <a:solidFill>
                  <a:srgbClr val="1D1D1F"/>
                </a:solidFill>
                <a:latin typeface="Noto Sans JP"/>
              </a:rPr>
              <a:t>リスク・コンプライアンス</a:t>
            </a:r>
          </a:p>
        </p:txBody>
      </p:sp>
      <p:pic>
        <p:nvPicPr>
          <p:cNvPr id="31" name="Picture 30" descr="image.png"/>
          <p:cNvPicPr>
            <a:picLocks noChangeAspect="1"/>
          </p:cNvPicPr>
          <p:nvPr/>
        </p:nvPicPr>
        <p:blipFill>
          <a:blip r:embed="rId6"/>
          <a:stretch>
            <a:fillRect/>
          </a:stretch>
        </p:blipFill>
        <p:spPr>
          <a:xfrm>
            <a:off x="4479646" y="4646981"/>
            <a:ext cx="95098" cy="95098"/>
          </a:xfrm>
          <a:prstGeom prst="rect">
            <a:avLst/>
          </a:prstGeom>
          <a:ln/>
        </p:spPr>
      </p:pic>
      <p:sp>
        <p:nvSpPr>
          <p:cNvPr id="32" name="TextBox 31"/>
          <p:cNvSpPr txBox="1"/>
          <p:nvPr/>
        </p:nvSpPr>
        <p:spPr>
          <a:xfrm>
            <a:off x="4574743" y="4773168"/>
            <a:ext cx="3219602" cy="562356"/>
          </a:xfrm>
          <a:prstGeom prst="rect">
            <a:avLst/>
          </a:prstGeom>
          <a:noFill/>
          <a:ln/>
        </p:spPr>
        <p:txBody>
          <a:bodyPr wrap="square" lIns="0" rIns="0" tIns="0" bIns="0">
            <a:noAutofit/>
          </a:bodyPr>
          <a:lstStyle/>
          <a:p>
            <a:r>
              <a:rPr sz="900" b="1">
                <a:solidFill>
                  <a:srgbClr val="1D1D1F"/>
                </a:solidFill>
                <a:latin typeface="Noto Sans JP"/>
              </a:rPr>
              <a:t>権利同意の必須化</a:t>
            </a:r>
          </a:p>
          <a:p>
            <a:r>
              <a:rPr sz="900">
                <a:solidFill>
                  <a:srgbClr val="424245"/>
                </a:solidFill>
                <a:latin typeface="Noto Sans JP"/>
              </a:rPr>
              <a:t> 音声クローンは法務・倫理リスクが高い。業務利用時は対象者の書面同意をプロセス化する。 </a:t>
            </a:r>
          </a:p>
        </p:txBody>
      </p:sp>
      <p:pic>
        <p:nvPicPr>
          <p:cNvPr id="33" name="Picture 32" descr="image.png"/>
          <p:cNvPicPr>
            <a:picLocks noChangeAspect="1"/>
          </p:cNvPicPr>
          <p:nvPr/>
        </p:nvPicPr>
        <p:blipFill>
          <a:blip r:embed="rId6"/>
          <a:stretch>
            <a:fillRect/>
          </a:stretch>
        </p:blipFill>
        <p:spPr>
          <a:xfrm>
            <a:off x="4479646" y="5484571"/>
            <a:ext cx="95098" cy="95098"/>
          </a:xfrm>
          <a:prstGeom prst="rect">
            <a:avLst/>
          </a:prstGeom>
          <a:ln/>
        </p:spPr>
      </p:pic>
      <p:sp>
        <p:nvSpPr>
          <p:cNvPr id="34" name="TextBox 33"/>
          <p:cNvSpPr txBox="1"/>
          <p:nvPr/>
        </p:nvSpPr>
        <p:spPr>
          <a:xfrm>
            <a:off x="4574743" y="5610758"/>
            <a:ext cx="3219602" cy="562355"/>
          </a:xfrm>
          <a:prstGeom prst="rect">
            <a:avLst/>
          </a:prstGeom>
          <a:noFill/>
          <a:ln/>
        </p:spPr>
        <p:txBody>
          <a:bodyPr wrap="square" lIns="0" rIns="0" tIns="0" bIns="0">
            <a:noAutofit/>
          </a:bodyPr>
          <a:lstStyle/>
          <a:p>
            <a:r>
              <a:rPr sz="900" b="1">
                <a:solidFill>
                  <a:srgbClr val="1D1D1F"/>
                </a:solidFill>
                <a:latin typeface="Noto Sans JP"/>
              </a:rPr>
              <a:t>ログ監査</a:t>
            </a:r>
          </a:p>
          <a:p>
            <a:r>
              <a:rPr sz="900">
                <a:solidFill>
                  <a:srgbClr val="424245"/>
                </a:solidFill>
                <a:latin typeface="Noto Sans JP"/>
              </a:rPr>
              <a:t> 「誰が・いつ・何を」生成したかのログを保存し、不正利用を追跡可能にする</a:t>
            </a:r>
            <a:r>
              <a:rPr sz="900">
                <a:solidFill>
                  <a:srgbClr val="424245"/>
                </a:solidFill>
                <a:latin typeface="Noto Sans JP"/>
              </a:rPr>
              <a:t>。 </a:t>
            </a:r>
          </a:p>
        </p:txBody>
      </p:sp>
      <p:pic>
        <p:nvPicPr>
          <p:cNvPr id="35" name="Picture 34" descr="image.png"/>
          <p:cNvPicPr>
            <a:picLocks noChangeAspect="1"/>
          </p:cNvPicPr>
          <p:nvPr/>
        </p:nvPicPr>
        <p:blipFill>
          <a:blip r:embed="rId8"/>
          <a:stretch>
            <a:fillRect/>
          </a:stretch>
        </p:blipFill>
        <p:spPr>
          <a:xfrm>
            <a:off x="5633618" y="6001207"/>
            <a:ext cx="247801" cy="161848"/>
          </a:xfrm>
          <a:prstGeom prst="rect">
            <a:avLst/>
          </a:prstGeom>
          <a:ln/>
        </p:spPr>
      </p:pic>
      <p:sp>
        <p:nvSpPr>
          <p:cNvPr id="36" name="TextBox 35"/>
          <p:cNvSpPr txBox="1"/>
          <p:nvPr/>
        </p:nvSpPr>
        <p:spPr>
          <a:xfrm>
            <a:off x="5633618" y="6001207"/>
            <a:ext cx="247801"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[56]</a:t>
            </a:r>
          </a:p>
        </p:txBody>
      </p:sp>
      <p:sp>
        <p:nvSpPr>
          <p:cNvPr id="37" name="Rectangle 36"/>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9"/>
          <a:stretch>
            <a:fillRect/>
          </a:stretch>
        </p:blipFill>
        <p:spPr>
          <a:xfrm>
            <a:off x="8402422" y="4167835"/>
            <a:ext cx="105155" cy="133501"/>
          </a:xfrm>
          <a:prstGeom prst="rect">
            <a:avLst/>
          </a:prstGeom>
          <a:ln/>
        </p:spPr>
      </p:pic>
      <p:sp>
        <p:nvSpPr>
          <p:cNvPr id="41" name="TextBox 40"/>
          <p:cNvSpPr txBox="1"/>
          <p:nvPr/>
        </p:nvSpPr>
        <p:spPr>
          <a:xfrm>
            <a:off x="8702345" y="4120286"/>
            <a:ext cx="1209750" cy="228600"/>
          </a:xfrm>
          <a:prstGeom prst="rect">
            <a:avLst/>
          </a:prstGeom>
          <a:noFill/>
          <a:ln/>
        </p:spPr>
        <p:txBody>
          <a:bodyPr wrap="square" lIns="0" rIns="0" tIns="0" bIns="0">
            <a:noAutofit/>
          </a:bodyPr>
          <a:lstStyle/>
          <a:p>
            <a:r>
              <a:rPr sz="1200" b="1">
                <a:solidFill>
                  <a:srgbClr val="1D1D1F"/>
                </a:solidFill>
                <a:latin typeface="Noto Sans JP"/>
              </a:rPr>
              <a:t>品質保証（QA）</a:t>
            </a:r>
          </a:p>
        </p:txBody>
      </p:sp>
      <p:pic>
        <p:nvPicPr>
          <p:cNvPr id="42" name="Picture 41" descr="image.png"/>
          <p:cNvPicPr>
            <a:picLocks noChangeAspect="1"/>
          </p:cNvPicPr>
          <p:nvPr/>
        </p:nvPicPr>
        <p:blipFill>
          <a:blip r:embed="rId6"/>
          <a:stretch>
            <a:fillRect/>
          </a:stretch>
        </p:blipFill>
        <p:spPr>
          <a:xfrm>
            <a:off x="8302752" y="4646981"/>
            <a:ext cx="95097" cy="95098"/>
          </a:xfrm>
          <a:prstGeom prst="rect">
            <a:avLst/>
          </a:prstGeom>
          <a:ln/>
        </p:spPr>
      </p:pic>
      <p:sp>
        <p:nvSpPr>
          <p:cNvPr id="43" name="TextBox 42"/>
          <p:cNvSpPr txBox="1"/>
          <p:nvPr/>
        </p:nvSpPr>
        <p:spPr>
          <a:xfrm>
            <a:off x="8397850" y="4773168"/>
            <a:ext cx="3219602" cy="562356"/>
          </a:xfrm>
          <a:prstGeom prst="rect">
            <a:avLst/>
          </a:prstGeom>
          <a:noFill/>
          <a:ln/>
        </p:spPr>
        <p:txBody>
          <a:bodyPr wrap="square" lIns="0" rIns="0" tIns="0" bIns="0">
            <a:noAutofit/>
          </a:bodyPr>
          <a:lstStyle/>
          <a:p>
            <a:r>
              <a:rPr sz="900" b="1">
                <a:solidFill>
                  <a:srgbClr val="1D1D1F"/>
                </a:solidFill>
                <a:latin typeface="Noto Sans JP"/>
              </a:rPr>
              <a:t>日本語品質の事前試験</a:t>
            </a:r>
          </a:p>
          <a:p>
            <a:r>
              <a:rPr sz="900">
                <a:solidFill>
                  <a:srgbClr val="424245"/>
                </a:solidFill>
                <a:latin typeface="Noto Sans JP"/>
              </a:rPr>
              <a:t> モデルによりアクセントや読み間違い（数値・固有名詞）の差が大きい。 </a:t>
            </a:r>
          </a:p>
        </p:txBody>
      </p:sp>
      <p:pic>
        <p:nvPicPr>
          <p:cNvPr id="44" name="Picture 43" descr="image.png"/>
          <p:cNvPicPr>
            <a:picLocks noChangeAspect="1"/>
          </p:cNvPicPr>
          <p:nvPr/>
        </p:nvPicPr>
        <p:blipFill>
          <a:blip r:embed="rId6"/>
          <a:stretch>
            <a:fillRect/>
          </a:stretch>
        </p:blipFill>
        <p:spPr>
          <a:xfrm>
            <a:off x="8302752" y="5484571"/>
            <a:ext cx="95097" cy="95098"/>
          </a:xfrm>
          <a:prstGeom prst="rect">
            <a:avLst/>
          </a:prstGeom>
          <a:ln/>
        </p:spPr>
      </p:pic>
      <p:sp>
        <p:nvSpPr>
          <p:cNvPr id="45" name="TextBox 44"/>
          <p:cNvSpPr txBox="1"/>
          <p:nvPr/>
        </p:nvSpPr>
        <p:spPr>
          <a:xfrm>
            <a:off x="8397850" y="5610758"/>
            <a:ext cx="3219602" cy="562355"/>
          </a:xfrm>
          <a:prstGeom prst="rect">
            <a:avLst/>
          </a:prstGeom>
          <a:noFill/>
          <a:ln/>
        </p:spPr>
        <p:txBody>
          <a:bodyPr wrap="square" lIns="0" rIns="0" tIns="0" bIns="0">
            <a:noAutofit/>
          </a:bodyPr>
          <a:lstStyle/>
          <a:p>
            <a:r>
              <a:rPr sz="900" b="1">
                <a:solidFill>
                  <a:srgbClr val="1D1D1F"/>
                </a:solidFill>
                <a:latin typeface="Noto Sans JP"/>
              </a:rPr>
              <a:t>辞書・前処理の標準化</a:t>
            </a:r>
          </a:p>
          <a:p>
            <a:r>
              <a:rPr sz="900">
                <a:solidFill>
                  <a:srgbClr val="424245"/>
                </a:solidFill>
                <a:latin typeface="Noto Sans JP"/>
              </a:rPr>
              <a:t> 業務特有の用語はユーザー辞書や前処理ルール（正規化）でカバーする義務を課す。 </a:t>
            </a:r>
          </a:p>
        </p:txBody>
      </p:sp>
      <p:pic>
        <p:nvPicPr>
          <p:cNvPr id="46" name="Picture 45" descr="image.png"/>
          <p:cNvPicPr>
            <a:picLocks noChangeAspect="1"/>
          </p:cNvPicPr>
          <p:nvPr/>
        </p:nvPicPr>
        <p:blipFill>
          <a:blip r:embed="rId10"/>
          <a:stretch>
            <a:fillRect/>
          </a:stretch>
        </p:blipFill>
        <p:spPr>
          <a:xfrm>
            <a:off x="0" y="6476695"/>
            <a:ext cx="12191695" cy="381305"/>
          </a:xfrm>
          <a:prstGeom prst="rect">
            <a:avLst/>
          </a:prstGeom>
          <a:ln/>
        </p:spPr>
      </p:pic>
      <p:sp>
        <p:nvSpPr>
          <p:cNvPr id="47" name="TextBox 46"/>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29 | ローカルAI 技術調査レポート</a:t>
            </a:r>
          </a:p>
        </p:txBody>
      </p:sp>
      <p:pic>
        <p:nvPicPr>
          <p:cNvPr id="48" name="Picture 47" descr="image.png"/>
          <p:cNvPicPr>
            <a:picLocks noChangeAspect="1"/>
          </p:cNvPicPr>
          <p:nvPr/>
        </p:nvPicPr>
        <p:blipFill>
          <a:blip r:embed="rId11"/>
          <a:stretch>
            <a:fillRect/>
          </a:stretch>
        </p:blipFill>
        <p:spPr>
          <a:xfrm>
            <a:off x="1677924" y="2295144"/>
            <a:ext cx="457200" cy="457200"/>
          </a:xfrm>
          <a:prstGeom prst="rect">
            <a:avLst/>
          </a:prstGeom>
          <a:ln/>
        </p:spPr>
      </p:pic>
      <p:sp>
        <p:nvSpPr>
          <p:cNvPr id="49" name="TextBox 48"/>
          <p:cNvSpPr txBox="1"/>
          <p:nvPr/>
        </p:nvSpPr>
        <p:spPr>
          <a:xfrm>
            <a:off x="1677924"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1</a:t>
            </a:r>
          </a:p>
        </p:txBody>
      </p:sp>
      <p:sp>
        <p:nvSpPr>
          <p:cNvPr id="50" name="TextBox 49"/>
          <p:cNvSpPr txBox="1"/>
          <p:nvPr/>
        </p:nvSpPr>
        <p:spPr>
          <a:xfrm>
            <a:off x="1601114" y="2829154"/>
            <a:ext cx="609904" cy="200254"/>
          </a:xfrm>
          <a:prstGeom prst="rect">
            <a:avLst/>
          </a:prstGeom>
          <a:noFill/>
          <a:ln/>
        </p:spPr>
        <p:txBody>
          <a:bodyPr wrap="square" lIns="0" rIns="0" tIns="0" bIns="0">
            <a:noAutofit/>
          </a:bodyPr>
          <a:lstStyle/>
          <a:p>
            <a:r>
              <a:rPr sz="1000" b="1">
                <a:solidFill>
                  <a:srgbClr val="1D1D1F"/>
                </a:solidFill>
                <a:latin typeface="Noto Sans JP"/>
              </a:rPr>
              <a:t>用途定義</a:t>
            </a:r>
          </a:p>
        </p:txBody>
      </p:sp>
      <p:sp>
        <p:nvSpPr>
          <p:cNvPr id="51" name="TextBox 50"/>
          <p:cNvSpPr txBox="1"/>
          <p:nvPr/>
        </p:nvSpPr>
        <p:spPr>
          <a:xfrm>
            <a:off x="1458468" y="3105302"/>
            <a:ext cx="896112" cy="277063"/>
          </a:xfrm>
          <a:prstGeom prst="rect">
            <a:avLst/>
          </a:prstGeom>
          <a:noFill/>
          <a:ln/>
        </p:spPr>
        <p:txBody>
          <a:bodyPr wrap="square" lIns="0" rIns="0" tIns="0" bIns="0">
            <a:noAutofit/>
          </a:bodyPr>
          <a:lstStyle/>
          <a:p>
            <a:r>
              <a:rPr sz="800">
                <a:solidFill>
                  <a:srgbClr val="6E6E73"/>
                </a:solidFill>
                <a:latin typeface="Noto Sans JP"/>
              </a:rPr>
              <a:t>単なる読み上げか</a:t>
            </a:r>
          </a:p>
          <a:p>
            <a:r>
              <a:rPr sz="800">
                <a:solidFill>
                  <a:srgbClr val="6E6E73"/>
                </a:solidFill>
                <a:latin typeface="Noto Sans JP"/>
              </a:rPr>
              <a:t>本人性の再現か</a:t>
            </a:r>
          </a:p>
        </p:txBody>
      </p:sp>
      <p:pic>
        <p:nvPicPr>
          <p:cNvPr id="52" name="Picture 51" descr="image.png"/>
          <p:cNvPicPr>
            <a:picLocks noChangeAspect="1"/>
          </p:cNvPicPr>
          <p:nvPr/>
        </p:nvPicPr>
        <p:blipFill>
          <a:blip r:embed="rId11"/>
          <a:stretch>
            <a:fillRect/>
          </a:stretch>
        </p:blipFill>
        <p:spPr>
          <a:xfrm>
            <a:off x="4470502" y="2295144"/>
            <a:ext cx="457200" cy="457200"/>
          </a:xfrm>
          <a:prstGeom prst="rect">
            <a:avLst/>
          </a:prstGeom>
          <a:ln/>
        </p:spPr>
      </p:pic>
      <p:sp>
        <p:nvSpPr>
          <p:cNvPr id="53" name="TextBox 52"/>
          <p:cNvSpPr txBox="1"/>
          <p:nvPr/>
        </p:nvSpPr>
        <p:spPr>
          <a:xfrm>
            <a:off x="4470502"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2</a:t>
            </a:r>
          </a:p>
        </p:txBody>
      </p:sp>
      <p:sp>
        <p:nvSpPr>
          <p:cNvPr id="54" name="TextBox 53"/>
          <p:cNvSpPr txBox="1"/>
          <p:nvPr/>
        </p:nvSpPr>
        <p:spPr>
          <a:xfrm>
            <a:off x="4327855" y="2829154"/>
            <a:ext cx="743407" cy="200254"/>
          </a:xfrm>
          <a:prstGeom prst="rect">
            <a:avLst/>
          </a:prstGeom>
          <a:noFill/>
          <a:ln/>
        </p:spPr>
        <p:txBody>
          <a:bodyPr wrap="square" lIns="0" rIns="0" tIns="0" bIns="0">
            <a:noAutofit/>
          </a:bodyPr>
          <a:lstStyle/>
          <a:p>
            <a:r>
              <a:rPr sz="1000" b="1">
                <a:solidFill>
                  <a:srgbClr val="1D1D1F"/>
                </a:solidFill>
                <a:latin typeface="Noto Sans JP"/>
              </a:rPr>
              <a:t>モデル選定</a:t>
            </a:r>
          </a:p>
        </p:txBody>
      </p:sp>
      <p:sp>
        <p:nvSpPr>
          <p:cNvPr id="55" name="TextBox 54"/>
          <p:cNvSpPr txBox="1"/>
          <p:nvPr/>
        </p:nvSpPr>
        <p:spPr>
          <a:xfrm>
            <a:off x="4337914" y="3105302"/>
            <a:ext cx="724205" cy="277063"/>
          </a:xfrm>
          <a:prstGeom prst="rect">
            <a:avLst/>
          </a:prstGeom>
          <a:noFill/>
          <a:ln/>
        </p:spPr>
        <p:txBody>
          <a:bodyPr wrap="square" lIns="0" rIns="0" tIns="0" bIns="0">
            <a:noAutofit/>
          </a:bodyPr>
          <a:lstStyle/>
          <a:p>
            <a:r>
              <a:rPr sz="800">
                <a:solidFill>
                  <a:srgbClr val="6E6E73"/>
                </a:solidFill>
                <a:latin typeface="Noto Sans JP"/>
              </a:rPr>
              <a:t>軽量(Piper) vs</a:t>
            </a:r>
          </a:p>
          <a:p>
            <a:r>
              <a:rPr sz="800">
                <a:solidFill>
                  <a:srgbClr val="6E6E73"/>
                </a:solidFill>
                <a:latin typeface="Noto Sans JP"/>
              </a:rPr>
              <a:t>高品質(XTTS)</a:t>
            </a:r>
          </a:p>
        </p:txBody>
      </p:sp>
      <p:pic>
        <p:nvPicPr>
          <p:cNvPr id="56" name="Picture 55" descr="image.png"/>
          <p:cNvPicPr>
            <a:picLocks noChangeAspect="1"/>
          </p:cNvPicPr>
          <p:nvPr/>
        </p:nvPicPr>
        <p:blipFill>
          <a:blip r:embed="rId11"/>
          <a:stretch>
            <a:fillRect/>
          </a:stretch>
        </p:blipFill>
        <p:spPr>
          <a:xfrm>
            <a:off x="7263994" y="2295144"/>
            <a:ext cx="457200" cy="457200"/>
          </a:xfrm>
          <a:prstGeom prst="rect">
            <a:avLst/>
          </a:prstGeom>
          <a:ln/>
        </p:spPr>
      </p:pic>
      <p:sp>
        <p:nvSpPr>
          <p:cNvPr id="57" name="TextBox 56"/>
          <p:cNvSpPr txBox="1"/>
          <p:nvPr/>
        </p:nvSpPr>
        <p:spPr>
          <a:xfrm>
            <a:off x="7263994"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3</a:t>
            </a:r>
          </a:p>
        </p:txBody>
      </p:sp>
      <p:sp>
        <p:nvSpPr>
          <p:cNvPr id="58" name="TextBox 57"/>
          <p:cNvSpPr txBox="1"/>
          <p:nvPr/>
        </p:nvSpPr>
        <p:spPr>
          <a:xfrm>
            <a:off x="7121347" y="2829154"/>
            <a:ext cx="743407" cy="200254"/>
          </a:xfrm>
          <a:prstGeom prst="rect">
            <a:avLst/>
          </a:prstGeom>
          <a:noFill/>
          <a:ln/>
        </p:spPr>
        <p:txBody>
          <a:bodyPr wrap="square" lIns="0" rIns="0" tIns="0" bIns="0">
            <a:noAutofit/>
          </a:bodyPr>
          <a:lstStyle/>
          <a:p>
            <a:r>
              <a:rPr sz="1000" b="1">
                <a:solidFill>
                  <a:srgbClr val="1D1D1F"/>
                </a:solidFill>
                <a:latin typeface="Noto Sans JP"/>
              </a:rPr>
              <a:t>リスク判定</a:t>
            </a:r>
          </a:p>
        </p:txBody>
      </p:sp>
      <p:sp>
        <p:nvSpPr>
          <p:cNvPr id="59" name="TextBox 58"/>
          <p:cNvSpPr txBox="1"/>
          <p:nvPr/>
        </p:nvSpPr>
        <p:spPr>
          <a:xfrm>
            <a:off x="7097573" y="3105302"/>
            <a:ext cx="790955" cy="277063"/>
          </a:xfrm>
          <a:prstGeom prst="rect">
            <a:avLst/>
          </a:prstGeom>
          <a:noFill/>
          <a:ln/>
        </p:spPr>
        <p:txBody>
          <a:bodyPr wrap="square" lIns="0" rIns="0" tIns="0" bIns="0">
            <a:noAutofit/>
          </a:bodyPr>
          <a:lstStyle/>
          <a:p>
            <a:r>
              <a:rPr sz="800">
                <a:solidFill>
                  <a:srgbClr val="6E6E73"/>
                </a:solidFill>
                <a:latin typeface="Noto Sans JP"/>
              </a:rPr>
              <a:t>声の権利許諾と</a:t>
            </a:r>
          </a:p>
          <a:p>
            <a:r>
              <a:rPr sz="800">
                <a:solidFill>
                  <a:srgbClr val="6E6E73"/>
                </a:solidFill>
                <a:latin typeface="Noto Sans JP"/>
              </a:rPr>
              <a:t>ログ監査設計</a:t>
            </a:r>
          </a:p>
        </p:txBody>
      </p:sp>
      <p:pic>
        <p:nvPicPr>
          <p:cNvPr id="60" name="Picture 59" descr="image.png"/>
          <p:cNvPicPr>
            <a:picLocks noChangeAspect="1"/>
          </p:cNvPicPr>
          <p:nvPr/>
        </p:nvPicPr>
        <p:blipFill>
          <a:blip r:embed="rId12"/>
          <a:stretch>
            <a:fillRect/>
          </a:stretch>
        </p:blipFill>
        <p:spPr>
          <a:xfrm>
            <a:off x="10057486" y="2295144"/>
            <a:ext cx="457200" cy="457200"/>
          </a:xfrm>
          <a:prstGeom prst="rect">
            <a:avLst/>
          </a:prstGeom>
          <a:ln/>
        </p:spPr>
      </p:pic>
      <p:sp>
        <p:nvSpPr>
          <p:cNvPr id="61" name="TextBox 60"/>
          <p:cNvSpPr txBox="1"/>
          <p:nvPr/>
        </p:nvSpPr>
        <p:spPr>
          <a:xfrm>
            <a:off x="10057486" y="229514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4</a:t>
            </a:r>
          </a:p>
        </p:txBody>
      </p:sp>
      <p:sp>
        <p:nvSpPr>
          <p:cNvPr id="62" name="TextBox 61"/>
          <p:cNvSpPr txBox="1"/>
          <p:nvPr/>
        </p:nvSpPr>
        <p:spPr>
          <a:xfrm>
            <a:off x="9913925" y="2829154"/>
            <a:ext cx="743407" cy="200254"/>
          </a:xfrm>
          <a:prstGeom prst="rect">
            <a:avLst/>
          </a:prstGeom>
          <a:noFill/>
          <a:ln/>
        </p:spPr>
        <p:txBody>
          <a:bodyPr wrap="square" lIns="0" rIns="0" tIns="0" bIns="0">
            <a:noAutofit/>
          </a:bodyPr>
          <a:lstStyle/>
          <a:p>
            <a:r>
              <a:rPr sz="1000" b="1">
                <a:solidFill>
                  <a:srgbClr val="1D1D1F"/>
                </a:solidFill>
                <a:latin typeface="Noto Sans JP"/>
              </a:rPr>
              <a:t>実装・運用</a:t>
            </a:r>
          </a:p>
        </p:txBody>
      </p:sp>
      <p:sp>
        <p:nvSpPr>
          <p:cNvPr id="63" name="TextBox 62"/>
          <p:cNvSpPr txBox="1"/>
          <p:nvPr/>
        </p:nvSpPr>
        <p:spPr>
          <a:xfrm>
            <a:off x="9800539" y="3105302"/>
            <a:ext cx="972006" cy="277063"/>
          </a:xfrm>
          <a:prstGeom prst="rect">
            <a:avLst/>
          </a:prstGeom>
          <a:noFill/>
          <a:ln/>
        </p:spPr>
        <p:txBody>
          <a:bodyPr wrap="square" lIns="0" rIns="0" tIns="0" bIns="0">
            <a:noAutofit/>
          </a:bodyPr>
          <a:lstStyle/>
          <a:p>
            <a:r>
              <a:rPr sz="800">
                <a:solidFill>
                  <a:srgbClr val="6E6E73"/>
                </a:solidFill>
                <a:latin typeface="Noto Sans JP"/>
              </a:rPr>
              <a:t>常駐(CPU) or</a:t>
            </a:r>
          </a:p>
          <a:p>
            <a:r>
              <a:rPr sz="800">
                <a:solidFill>
                  <a:srgbClr val="6E6E73"/>
                </a:solidFill>
                <a:latin typeface="Noto Sans JP"/>
              </a:rPr>
              <a:t>オンデマンド(GPU)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42900" cy="304495"/>
          </a:xfrm>
          <a:prstGeom prst="rect">
            <a:avLst/>
          </a:prstGeom>
          <a:ln/>
        </p:spPr>
      </p:pic>
      <p:sp>
        <p:nvSpPr>
          <p:cNvPr id="8" name="TextBox 7"/>
          <p:cNvSpPr txBox="1"/>
          <p:nvPr/>
        </p:nvSpPr>
        <p:spPr>
          <a:xfrm>
            <a:off x="952805" y="228600"/>
            <a:ext cx="4688129" cy="457200"/>
          </a:xfrm>
          <a:prstGeom prst="rect">
            <a:avLst/>
          </a:prstGeom>
          <a:noFill/>
          <a:ln/>
        </p:spPr>
        <p:txBody>
          <a:bodyPr wrap="square" lIns="0" rIns="0" tIns="0" bIns="0">
            <a:noAutofit/>
          </a:bodyPr>
          <a:lstStyle/>
          <a:p>
            <a:r>
              <a:rPr sz="2400" b="1">
                <a:solidFill>
                  <a:srgbClr val="1D1D1F"/>
                </a:solidFill>
                <a:latin typeface="Noto Sans JP"/>
              </a:rPr>
              <a:t>Embedding / Reranker 概要</a:t>
            </a:r>
          </a:p>
        </p:txBody>
      </p:sp>
      <p:sp>
        <p:nvSpPr>
          <p:cNvPr id="9" name="TextBox 8"/>
          <p:cNvSpPr txBox="1"/>
          <p:nvPr/>
        </p:nvSpPr>
        <p:spPr>
          <a:xfrm>
            <a:off x="10028225" y="328270"/>
            <a:ext cx="1851659" cy="257861"/>
          </a:xfrm>
          <a:prstGeom prst="rect">
            <a:avLst/>
          </a:prstGeom>
          <a:noFill/>
          <a:ln/>
        </p:spPr>
        <p:txBody>
          <a:bodyPr wrap="square" lIns="0" rIns="0" tIns="0" bIns="0">
            <a:noAutofit/>
          </a:bodyPr>
          <a:lstStyle/>
          <a:p>
            <a:r>
              <a:rPr sz="1300">
                <a:solidFill>
                  <a:srgbClr val="86868B"/>
                </a:solidFill>
                <a:latin typeface="Noto Sans JP"/>
              </a:rPr>
              <a:t>検索・RAG基盤モデル</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p:spPr>
      </p:pic>
      <p:sp>
        <p:nvSpPr>
          <p:cNvPr id="11" name="TextBox 10"/>
          <p:cNvSpPr txBox="1"/>
          <p:nvPr/>
        </p:nvSpPr>
        <p:spPr>
          <a:xfrm>
            <a:off x="743407" y="1495044"/>
            <a:ext cx="10842041" cy="590701"/>
          </a:xfrm>
          <a:prstGeom prst="rect">
            <a:avLst/>
          </a:prstGeom>
          <a:noFill/>
          <a:ln/>
        </p:spPr>
        <p:txBody>
          <a:bodyPr wrap="square" lIns="0" rIns="0" tIns="0" bIns="0">
            <a:noAutofit/>
          </a:bodyPr>
          <a:lstStyle/>
          <a:p>
            <a:r>
              <a:rPr sz="1600" b="1">
                <a:solidFill>
                  <a:srgbClr val="1D1D1F"/>
                </a:solidFill>
                <a:latin typeface="Noto Sans JP"/>
              </a:rPr>
              <a:t> 結論：RAGシステムの品質上限は</a:t>
            </a:r>
            <a:r>
              <a:rPr sz="1600" b="1">
                <a:solidFill>
                  <a:srgbClr val="2563EB"/>
                </a:solidFill>
                <a:latin typeface="Noto Sans JP"/>
              </a:rPr>
              <a:t>Embeddingの検索精度</a:t>
            </a:r>
            <a:r>
              <a:rPr sz="1600" b="1">
                <a:solidFill>
                  <a:srgbClr val="1D1D1F"/>
                </a:solidFill>
                <a:latin typeface="Noto Sans JP"/>
              </a:rPr>
              <a:t>で決まります。 </a:t>
            </a:r>
          </a:p>
          <a:p>
            <a:r>
              <a:rPr sz="1600" b="1">
                <a:solidFill>
                  <a:srgbClr val="1D1D1F"/>
                </a:solidFill>
                <a:latin typeface="Noto Sans JP"/>
              </a:rPr>
              <a:t> まずBGE-M3等でRecallを確保し、RerankerでPrecisionを向上させる二段構えが定石です。 </a:t>
            </a:r>
          </a:p>
        </p:txBody>
      </p:sp>
      <p:sp>
        <p:nvSpPr>
          <p:cNvPr id="12" name="Rectangle 11"/>
          <p:cNvSpPr/>
          <p:nvPr/>
        </p:nvSpPr>
        <p:spPr>
          <a:xfrm>
            <a:off x="457200"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3913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87091"/>
            <a:ext cx="171906" cy="190194"/>
          </a:xfrm>
          <a:prstGeom prst="rect">
            <a:avLst/>
          </a:prstGeom>
          <a:ln/>
        </p:spPr>
      </p:pic>
      <p:sp>
        <p:nvSpPr>
          <p:cNvPr id="15" name="TextBox 14"/>
          <p:cNvSpPr txBox="1"/>
          <p:nvPr/>
        </p:nvSpPr>
        <p:spPr>
          <a:xfrm>
            <a:off x="981150" y="2739542"/>
            <a:ext cx="2486254" cy="419709"/>
          </a:xfrm>
          <a:prstGeom prst="rect">
            <a:avLst/>
          </a:prstGeom>
          <a:noFill/>
          <a:ln/>
        </p:spPr>
        <p:txBody>
          <a:bodyPr wrap="square" lIns="0" rIns="0" tIns="0" bIns="0">
            <a:noAutofit/>
          </a:bodyPr>
          <a:lstStyle/>
          <a:p>
            <a:r>
              <a:rPr sz="1500" b="1">
                <a:solidFill>
                  <a:srgbClr val="1D1D1F"/>
                </a:solidFill>
                <a:latin typeface="Noto Sans JP"/>
              </a:rPr>
              <a:t>Embedding (ベクトル検索)</a:t>
            </a:r>
          </a:p>
        </p:txBody>
      </p:sp>
      <p:pic>
        <p:nvPicPr>
          <p:cNvPr id="16" name="Picture 15" descr="image.png"/>
          <p:cNvPicPr>
            <a:picLocks noChangeAspect="1"/>
          </p:cNvPicPr>
          <p:nvPr/>
        </p:nvPicPr>
        <p:blipFill>
          <a:blip r:embed="rId5"/>
          <a:stretch>
            <a:fillRect/>
          </a:stretch>
        </p:blipFill>
        <p:spPr>
          <a:xfrm>
            <a:off x="694944" y="3311041"/>
            <a:ext cx="771754" cy="267005"/>
          </a:xfrm>
          <a:prstGeom prst="rect">
            <a:avLst/>
          </a:prstGeom>
          <a:ln/>
        </p:spPr>
      </p:pic>
      <p:sp>
        <p:nvSpPr>
          <p:cNvPr id="17" name="TextBox 16"/>
          <p:cNvSpPr txBox="1"/>
          <p:nvPr/>
        </p:nvSpPr>
        <p:spPr>
          <a:xfrm>
            <a:off x="694944" y="3311041"/>
            <a:ext cx="771754"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Retrieval</a:t>
            </a:r>
          </a:p>
        </p:txBody>
      </p:sp>
      <p:pic>
        <p:nvPicPr>
          <p:cNvPr id="18" name="Picture 17" descr="image.png"/>
          <p:cNvPicPr>
            <a:picLocks noChangeAspect="1"/>
          </p:cNvPicPr>
          <p:nvPr/>
        </p:nvPicPr>
        <p:blipFill>
          <a:blip r:embed="rId6"/>
          <a:stretch>
            <a:fillRect/>
          </a:stretch>
        </p:blipFill>
        <p:spPr>
          <a:xfrm>
            <a:off x="1516990" y="3311041"/>
            <a:ext cx="819302" cy="267005"/>
          </a:xfrm>
          <a:prstGeom prst="rect">
            <a:avLst/>
          </a:prstGeom>
          <a:ln/>
        </p:spPr>
      </p:pic>
      <p:sp>
        <p:nvSpPr>
          <p:cNvPr id="19" name="TextBox 18"/>
          <p:cNvSpPr txBox="1"/>
          <p:nvPr/>
        </p:nvSpPr>
        <p:spPr>
          <a:xfrm>
            <a:off x="1516990" y="3311041"/>
            <a:ext cx="819302"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Vector DB</a:t>
            </a:r>
          </a:p>
        </p:txBody>
      </p:sp>
      <p:pic>
        <p:nvPicPr>
          <p:cNvPr id="20" name="Picture 19" descr="image.png"/>
          <p:cNvPicPr>
            <a:picLocks noChangeAspect="1"/>
          </p:cNvPicPr>
          <p:nvPr/>
        </p:nvPicPr>
        <p:blipFill>
          <a:blip r:embed="rId7"/>
          <a:stretch>
            <a:fillRect/>
          </a:stretch>
        </p:blipFill>
        <p:spPr>
          <a:xfrm>
            <a:off x="694944" y="3858767"/>
            <a:ext cx="105156" cy="114300"/>
          </a:xfrm>
          <a:prstGeom prst="rect">
            <a:avLst/>
          </a:prstGeom>
          <a:ln/>
        </p:spPr>
      </p:pic>
      <p:sp>
        <p:nvSpPr>
          <p:cNvPr id="21" name="TextBox 20"/>
          <p:cNvSpPr txBox="1"/>
          <p:nvPr/>
        </p:nvSpPr>
        <p:spPr>
          <a:xfrm>
            <a:off x="895197" y="4101998"/>
            <a:ext cx="4886554" cy="495605"/>
          </a:xfrm>
          <a:prstGeom prst="rect">
            <a:avLst/>
          </a:prstGeom>
          <a:noFill/>
          <a:ln/>
        </p:spPr>
        <p:txBody>
          <a:bodyPr wrap="square" lIns="0" rIns="0" tIns="0" bIns="0">
            <a:noAutofit/>
          </a:bodyPr>
          <a:lstStyle/>
          <a:p>
            <a:r>
              <a:rPr sz="1200">
                <a:solidFill>
                  <a:srgbClr val="424245"/>
                </a:solidFill>
                <a:latin typeface="Noto Sans JP"/>
              </a:rPr>
              <a:t>Multi-Functionality / Multi-Linguality / Multi-Granularityを特徴とし、多言語・多用途で強力なベースラインとなります。</a:t>
            </a:r>
          </a:p>
        </p:txBody>
      </p:sp>
      <p:pic>
        <p:nvPicPr>
          <p:cNvPr id="22" name="Picture 21" descr="image.png"/>
          <p:cNvPicPr>
            <a:picLocks noChangeAspect="1"/>
          </p:cNvPicPr>
          <p:nvPr/>
        </p:nvPicPr>
        <p:blipFill>
          <a:blip r:embed="rId8"/>
          <a:stretch>
            <a:fillRect/>
          </a:stretch>
        </p:blipFill>
        <p:spPr>
          <a:xfrm>
            <a:off x="4734763" y="4384548"/>
            <a:ext cx="323698" cy="200253"/>
          </a:xfrm>
          <a:prstGeom prst="rect">
            <a:avLst/>
          </a:prstGeom>
          <a:ln/>
        </p:spPr>
      </p:pic>
      <p:sp>
        <p:nvSpPr>
          <p:cNvPr id="23" name="TextBox 22"/>
          <p:cNvSpPr txBox="1"/>
          <p:nvPr/>
        </p:nvSpPr>
        <p:spPr>
          <a:xfrm>
            <a:off x="4734763" y="4384548"/>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[58]</a:t>
            </a:r>
          </a:p>
        </p:txBody>
      </p:sp>
      <p:pic>
        <p:nvPicPr>
          <p:cNvPr id="24" name="Picture 23" descr="image.png"/>
          <p:cNvPicPr>
            <a:picLocks noChangeAspect="1"/>
          </p:cNvPicPr>
          <p:nvPr/>
        </p:nvPicPr>
        <p:blipFill>
          <a:blip r:embed="rId7"/>
          <a:stretch>
            <a:fillRect/>
          </a:stretch>
        </p:blipFill>
        <p:spPr>
          <a:xfrm>
            <a:off x="694944" y="4722876"/>
            <a:ext cx="105156" cy="114300"/>
          </a:xfrm>
          <a:prstGeom prst="rect">
            <a:avLst/>
          </a:prstGeom>
          <a:ln/>
        </p:spPr>
      </p:pic>
      <p:sp>
        <p:nvSpPr>
          <p:cNvPr id="25" name="TextBox 24"/>
          <p:cNvSpPr txBox="1"/>
          <p:nvPr/>
        </p:nvSpPr>
        <p:spPr>
          <a:xfrm>
            <a:off x="895197" y="4967021"/>
            <a:ext cx="4886554" cy="495605"/>
          </a:xfrm>
          <a:prstGeom prst="rect">
            <a:avLst/>
          </a:prstGeom>
          <a:noFill/>
          <a:ln/>
        </p:spPr>
        <p:txBody>
          <a:bodyPr wrap="square" lIns="0" rIns="0" tIns="0" bIns="0">
            <a:noAutofit/>
          </a:bodyPr>
          <a:lstStyle/>
          <a:p>
            <a:r>
              <a:rPr sz="1200">
                <a:solidFill>
                  <a:srgbClr val="424245"/>
                </a:solidFill>
                <a:latin typeface="Noto Sans JP"/>
              </a:rPr>
              <a:t>多言語検索の定番モデル。日本語を含む多言語環境での実績が豊富です。</a:t>
            </a:r>
          </a:p>
        </p:txBody>
      </p:sp>
      <p:pic>
        <p:nvPicPr>
          <p:cNvPr id="26" name="Picture 25" descr="image.png"/>
          <p:cNvPicPr>
            <a:picLocks noChangeAspect="1"/>
          </p:cNvPicPr>
          <p:nvPr/>
        </p:nvPicPr>
        <p:blipFill>
          <a:blip r:embed="rId9"/>
          <a:stretch>
            <a:fillRect/>
          </a:stretch>
        </p:blipFill>
        <p:spPr>
          <a:xfrm>
            <a:off x="1241755" y="5249570"/>
            <a:ext cx="523950" cy="200253"/>
          </a:xfrm>
          <a:prstGeom prst="rect">
            <a:avLst/>
          </a:prstGeom>
          <a:ln/>
        </p:spPr>
      </p:pic>
      <p:sp>
        <p:nvSpPr>
          <p:cNvPr id="27" name="TextBox 26"/>
          <p:cNvSpPr txBox="1"/>
          <p:nvPr/>
        </p:nvSpPr>
        <p:spPr>
          <a:xfrm>
            <a:off x="1241755" y="5249570"/>
            <a:ext cx="52395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[59][60]</a:t>
            </a:r>
          </a:p>
        </p:txBody>
      </p:sp>
      <p:sp>
        <p:nvSpPr>
          <p:cNvPr id="28" name="Rectangle 27"/>
          <p:cNvSpPr/>
          <p:nvPr/>
        </p:nvSpPr>
        <p:spPr>
          <a:xfrm>
            <a:off x="6248095" y="2500884"/>
            <a:ext cx="5486400" cy="320039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13913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6486754" y="2787091"/>
            <a:ext cx="190195" cy="190194"/>
          </a:xfrm>
          <a:prstGeom prst="rect">
            <a:avLst/>
          </a:prstGeom>
          <a:ln/>
        </p:spPr>
      </p:pic>
      <p:sp>
        <p:nvSpPr>
          <p:cNvPr id="31" name="TextBox 30"/>
          <p:cNvSpPr txBox="1"/>
          <p:nvPr/>
        </p:nvSpPr>
        <p:spPr>
          <a:xfrm>
            <a:off x="6791249" y="2739542"/>
            <a:ext cx="2067458" cy="419709"/>
          </a:xfrm>
          <a:prstGeom prst="rect">
            <a:avLst/>
          </a:prstGeom>
          <a:noFill/>
          <a:ln/>
        </p:spPr>
        <p:txBody>
          <a:bodyPr wrap="square" lIns="0" rIns="0" tIns="0" bIns="0">
            <a:noAutofit/>
          </a:bodyPr>
          <a:lstStyle/>
          <a:p>
            <a:r>
              <a:rPr sz="1500" b="1">
                <a:solidFill>
                  <a:srgbClr val="1D1D1F"/>
                </a:solidFill>
                <a:latin typeface="Noto Sans JP"/>
              </a:rPr>
              <a:t>Reranker (再順位付け)</a:t>
            </a:r>
          </a:p>
        </p:txBody>
      </p:sp>
      <p:pic>
        <p:nvPicPr>
          <p:cNvPr id="32" name="Picture 31" descr="image.png"/>
          <p:cNvPicPr>
            <a:picLocks noChangeAspect="1"/>
          </p:cNvPicPr>
          <p:nvPr/>
        </p:nvPicPr>
        <p:blipFill>
          <a:blip r:embed="rId11"/>
          <a:stretch>
            <a:fillRect/>
          </a:stretch>
        </p:blipFill>
        <p:spPr>
          <a:xfrm>
            <a:off x="6486754" y="3311041"/>
            <a:ext cx="790956" cy="267005"/>
          </a:xfrm>
          <a:prstGeom prst="rect">
            <a:avLst/>
          </a:prstGeom>
          <a:ln/>
        </p:spPr>
      </p:pic>
      <p:sp>
        <p:nvSpPr>
          <p:cNvPr id="33" name="TextBox 32"/>
          <p:cNvSpPr txBox="1"/>
          <p:nvPr/>
        </p:nvSpPr>
        <p:spPr>
          <a:xfrm>
            <a:off x="6486754" y="3311041"/>
            <a:ext cx="790956"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Precision</a:t>
            </a:r>
          </a:p>
        </p:txBody>
      </p:sp>
      <p:pic>
        <p:nvPicPr>
          <p:cNvPr id="34" name="Picture 33" descr="image.png"/>
          <p:cNvPicPr>
            <a:picLocks noChangeAspect="1"/>
          </p:cNvPicPr>
          <p:nvPr/>
        </p:nvPicPr>
        <p:blipFill>
          <a:blip r:embed="rId12"/>
          <a:stretch>
            <a:fillRect/>
          </a:stretch>
        </p:blipFill>
        <p:spPr>
          <a:xfrm>
            <a:off x="7328002" y="3311041"/>
            <a:ext cx="1095450" cy="267005"/>
          </a:xfrm>
          <a:prstGeom prst="rect">
            <a:avLst/>
          </a:prstGeom>
          <a:ln/>
        </p:spPr>
      </p:pic>
      <p:sp>
        <p:nvSpPr>
          <p:cNvPr id="35" name="TextBox 34"/>
          <p:cNvSpPr txBox="1"/>
          <p:nvPr/>
        </p:nvSpPr>
        <p:spPr>
          <a:xfrm>
            <a:off x="7328002" y="3311041"/>
            <a:ext cx="1095450"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Cross-Encoder</a:t>
            </a:r>
          </a:p>
        </p:txBody>
      </p:sp>
      <p:pic>
        <p:nvPicPr>
          <p:cNvPr id="36" name="Picture 35" descr="image.png"/>
          <p:cNvPicPr>
            <a:picLocks noChangeAspect="1"/>
          </p:cNvPicPr>
          <p:nvPr/>
        </p:nvPicPr>
        <p:blipFill>
          <a:blip r:embed="rId7"/>
          <a:stretch>
            <a:fillRect/>
          </a:stretch>
        </p:blipFill>
        <p:spPr>
          <a:xfrm>
            <a:off x="6486754" y="3858767"/>
            <a:ext cx="105156" cy="114300"/>
          </a:xfrm>
          <a:prstGeom prst="rect">
            <a:avLst/>
          </a:prstGeom>
          <a:ln/>
        </p:spPr>
      </p:pic>
      <p:sp>
        <p:nvSpPr>
          <p:cNvPr id="37" name="TextBox 36"/>
          <p:cNvSpPr txBox="1"/>
          <p:nvPr/>
        </p:nvSpPr>
        <p:spPr>
          <a:xfrm>
            <a:off x="6687007" y="4101998"/>
            <a:ext cx="4886554" cy="495605"/>
          </a:xfrm>
          <a:prstGeom prst="rect">
            <a:avLst/>
          </a:prstGeom>
          <a:noFill/>
          <a:ln/>
        </p:spPr>
        <p:txBody>
          <a:bodyPr wrap="square" lIns="0" rIns="0" tIns="0" bIns="0">
            <a:noAutofit/>
          </a:bodyPr>
          <a:lstStyle/>
          <a:p>
            <a:r>
              <a:rPr sz="1200">
                <a:solidFill>
                  <a:srgbClr val="424245"/>
                </a:solidFill>
                <a:latin typeface="Noto Sans JP"/>
              </a:rPr>
              <a:t>クエリと文書をペアで入力し、関連度スコアを直接出力します。計算コストは高いですが、検索精度を大幅に引き上げます。</a:t>
            </a:r>
          </a:p>
        </p:txBody>
      </p:sp>
      <p:pic>
        <p:nvPicPr>
          <p:cNvPr id="38" name="Picture 37" descr="image.png"/>
          <p:cNvPicPr>
            <a:picLocks noChangeAspect="1"/>
          </p:cNvPicPr>
          <p:nvPr/>
        </p:nvPicPr>
        <p:blipFill>
          <a:blip r:embed="rId9"/>
          <a:stretch>
            <a:fillRect/>
          </a:stretch>
        </p:blipFill>
        <p:spPr>
          <a:xfrm>
            <a:off x="10531145" y="4384548"/>
            <a:ext cx="523950" cy="200253"/>
          </a:xfrm>
          <a:prstGeom prst="rect">
            <a:avLst/>
          </a:prstGeom>
          <a:ln/>
        </p:spPr>
      </p:pic>
      <p:sp>
        <p:nvSpPr>
          <p:cNvPr id="39" name="TextBox 38"/>
          <p:cNvSpPr txBox="1"/>
          <p:nvPr/>
        </p:nvSpPr>
        <p:spPr>
          <a:xfrm>
            <a:off x="10531145" y="4384548"/>
            <a:ext cx="52395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[61][62]</a:t>
            </a:r>
          </a:p>
        </p:txBody>
      </p:sp>
      <p:pic>
        <p:nvPicPr>
          <p:cNvPr id="40" name="Picture 39" descr="image.png"/>
          <p:cNvPicPr>
            <a:picLocks noChangeAspect="1"/>
          </p:cNvPicPr>
          <p:nvPr/>
        </p:nvPicPr>
        <p:blipFill>
          <a:blip r:embed="rId7"/>
          <a:stretch>
            <a:fillRect/>
          </a:stretch>
        </p:blipFill>
        <p:spPr>
          <a:xfrm>
            <a:off x="6486754" y="4722876"/>
            <a:ext cx="105156" cy="114300"/>
          </a:xfrm>
          <a:prstGeom prst="rect">
            <a:avLst/>
          </a:prstGeom>
          <a:ln/>
        </p:spPr>
      </p:pic>
      <p:sp>
        <p:nvSpPr>
          <p:cNvPr id="41" name="TextBox 40"/>
          <p:cNvSpPr txBox="1"/>
          <p:nvPr/>
        </p:nvSpPr>
        <p:spPr>
          <a:xfrm>
            <a:off x="6687007" y="4967021"/>
            <a:ext cx="4886554" cy="495605"/>
          </a:xfrm>
          <a:prstGeom prst="rect">
            <a:avLst/>
          </a:prstGeom>
          <a:noFill/>
          <a:ln/>
        </p:spPr>
        <p:txBody>
          <a:bodyPr wrap="square" lIns="0" rIns="0" tIns="0" bIns="0">
            <a:noAutofit/>
          </a:bodyPr>
          <a:lstStyle/>
          <a:p>
            <a:r>
              <a:rPr sz="1200">
                <a:solidFill>
                  <a:srgbClr val="424245"/>
                </a:solidFill>
                <a:latin typeface="Noto Sans JP"/>
              </a:rPr>
              <a:t>Embedding検索で広めに取得した候補（Top-K）を絞り込み、LLMへのコンテキスト汚染を防ぎます。</a:t>
            </a:r>
          </a:p>
        </p:txBody>
      </p:sp>
      <p:sp>
        <p:nvSpPr>
          <p:cNvPr id="42" name="Rectangle 41"/>
          <p:cNvSpPr/>
          <p:nvPr/>
        </p:nvSpPr>
        <p:spPr>
          <a:xfrm>
            <a:off x="457200" y="5921654"/>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13"/>
          <a:stretch>
            <a:fillRect/>
          </a:stretch>
        </p:blipFill>
        <p:spPr>
          <a:xfrm>
            <a:off x="619049" y="6102706"/>
            <a:ext cx="171907" cy="171906"/>
          </a:xfrm>
          <a:prstGeom prst="rect">
            <a:avLst/>
          </a:prstGeom>
          <a:ln/>
        </p:spPr>
      </p:pic>
      <p:sp>
        <p:nvSpPr>
          <p:cNvPr id="44" name="TextBox 43"/>
          <p:cNvSpPr txBox="1"/>
          <p:nvPr/>
        </p:nvSpPr>
        <p:spPr>
          <a:xfrm>
            <a:off x="905256" y="6083503"/>
            <a:ext cx="10782605" cy="200253"/>
          </a:xfrm>
          <a:prstGeom prst="rect">
            <a:avLst/>
          </a:prstGeom>
          <a:noFill/>
          <a:ln/>
        </p:spPr>
        <p:txBody>
          <a:bodyPr wrap="square" lIns="0" rIns="0" tIns="0" bIns="0">
            <a:noAutofit/>
          </a:bodyPr>
          <a:lstStyle/>
          <a:p>
            <a:r>
              <a:rPr sz="1000" b="1">
                <a:solidFill>
                  <a:srgbClr val="78350F"/>
                </a:solidFill>
                <a:latin typeface="Noto Sans JP"/>
              </a:rPr>
              <a:t>運用上の設計含意（Operational Design）</a:t>
            </a:r>
          </a:p>
        </p:txBody>
      </p:sp>
      <p:sp>
        <p:nvSpPr>
          <p:cNvPr id="45" name="TextBox 44"/>
          <p:cNvSpPr txBox="1"/>
          <p:nvPr/>
        </p:nvSpPr>
        <p:spPr>
          <a:xfrm>
            <a:off x="905256" y="6321247"/>
            <a:ext cx="10744200" cy="400507"/>
          </a:xfrm>
          <a:prstGeom prst="rect">
            <a:avLst/>
          </a:prstGeom>
          <a:noFill/>
          <a:ln/>
        </p:spPr>
        <p:txBody>
          <a:bodyPr wrap="square" lIns="0" rIns="0" tIns="0" bIns="0">
            <a:noAutofit/>
          </a:bodyPr>
          <a:lstStyle/>
          <a:p>
            <a:r>
              <a:rPr sz="1000">
                <a:solidFill>
                  <a:srgbClr val="78350F"/>
                </a:solidFill>
                <a:latin typeface="Noto Sans JP"/>
              </a:rPr>
              <a:t>ローカル運用では、リソース競合を避けるため「Embedding化（前計算）」を夜間バッチ等で済ませておくことが推奨されます。これにより、日中の推論時には実時間負荷をLLMの応答生成に集中させることが可能になります。</a:t>
            </a:r>
          </a:p>
        </p:txBody>
      </p:sp>
      <p:sp>
        <p:nvSpPr>
          <p:cNvPr id="46" name="Rectangle 45"/>
          <p:cNvSpPr/>
          <p:nvPr/>
        </p:nvSpPr>
        <p:spPr>
          <a:xfrm>
            <a:off x="0" y="7263994"/>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7274052"/>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9" name="TextBox 48"/>
          <p:cNvSpPr txBox="1"/>
          <p:nvPr/>
        </p:nvSpPr>
        <p:spPr>
          <a:xfrm>
            <a:off x="11385194" y="7274052"/>
            <a:ext cx="428854" cy="171907"/>
          </a:xfrm>
          <a:prstGeom prst="rect">
            <a:avLst/>
          </a:prstGeom>
          <a:noFill/>
          <a:ln/>
        </p:spPr>
        <p:txBody>
          <a:bodyPr wrap="square" lIns="0" rIns="0" tIns="0" bIns="0">
            <a:noAutofit/>
          </a:bodyPr>
          <a:lstStyle/>
          <a:p>
            <a:r>
              <a:rPr sz="900">
                <a:solidFill>
                  <a:srgbClr val="86868B"/>
                </a:solidFill>
                <a:latin typeface="Noto Sans JP"/>
              </a:rPr>
              <a:t>30 / 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4524451" cy="381305"/>
          </a:xfrm>
          <a:prstGeom prst="rect">
            <a:avLst/>
          </a:prstGeom>
          <a:noFill/>
          <a:ln/>
        </p:spPr>
        <p:txBody>
          <a:bodyPr wrap="square" lIns="0" rIns="0" tIns="0" bIns="0">
            <a:noAutofit/>
          </a:bodyPr>
          <a:lstStyle/>
          <a:p>
            <a:r>
              <a:rPr sz="2100" b="1">
                <a:solidFill>
                  <a:srgbClr val="FFFFFF"/>
                </a:solidFill>
                <a:latin typeface="Noto Sans JP"/>
              </a:rPr>
              <a:t>Embedding/Reranker（完全版表）</a:t>
            </a:r>
          </a:p>
        </p:txBody>
      </p:sp>
      <p:sp>
        <p:nvSpPr>
          <p:cNvPr id="8" name="TextBox 7"/>
          <p:cNvSpPr txBox="1"/>
          <p:nvPr/>
        </p:nvSpPr>
        <p:spPr>
          <a:xfrm>
            <a:off x="7642554" y="457200"/>
            <a:ext cx="4777739" cy="228600"/>
          </a:xfrm>
          <a:prstGeom prst="rect">
            <a:avLst/>
          </a:prstGeom>
          <a:noFill/>
          <a:ln/>
        </p:spPr>
        <p:txBody>
          <a:bodyPr wrap="square" lIns="0" rIns="0" tIns="0" bIns="0">
            <a:noAutofit/>
          </a:bodyPr>
          <a:lstStyle/>
          <a:p>
            <a:r>
              <a:rPr sz="1200">
                <a:solidFill>
                  <a:srgbClr val="A1A1A6"/>
                </a:solidFill>
                <a:latin typeface="Noto Sans JP"/>
              </a:rPr>
              <a:t>検索・RAG基盤：BGE-M3 / multilingual-e5 / bge-reranker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5269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734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33602">
                <a:tc>
                  <a:txBody>
                    <a:bodyPr/>
                    <a:lstStyle/>
                    <a:p>
                      <a:r>
                        <a:t>代表モデル</a:t>
                      </a:r>
                    </a:p>
                  </a:txBody>
                  <a:tcPr/>
                </a:tc>
                <a:tc>
                  <a:txBody>
                    <a:bodyPr/>
                    <a:lstStyle/>
                    <a:p>
                      <a:r>
                        <a:t>規模</a:t>
                      </a:r>
                    </a:p>
                  </a:txBody>
                  <a:tcPr/>
                </a:tc>
                <a:tc>
                  <a:txBody>
                    <a:bodyPr/>
                    <a:lstStyle/>
                    <a:p>
                      <a:r>
                        <a:t>推奨量子化/形式</a:t>
                      </a:r>
                    </a:p>
                  </a:txBody>
                  <a:tcPr/>
                </a:tc>
                <a:tc>
                  <a:txBody>
                    <a:bodyPr/>
                    <a:lstStyle/>
                    <a:p>
                      <a:r>
                        <a:t>得意/不得意（要点）</a:t>
                      </a:r>
                    </a:p>
                  </a:txBody>
                  <a:tcPr/>
                </a:tc>
                <a:tc>
                  <a:txBody>
                    <a:bodyPr/>
                    <a:lstStyle/>
                    <a:p>
                      <a:r>
                        <a:t>ランタイム相性</a:t>
                      </a:r>
                    </a:p>
                  </a:txBody>
                  <a:tcPr/>
                </a:tc>
                <a:tc>
                  <a:txBody>
                    <a:bodyPr/>
                    <a:lstStyle/>
                    <a:p>
                      <a:r>
                        <a:t>リスク/採用判断</a:t>
                      </a:r>
                    </a:p>
                  </a:txBody>
                  <a:tcPr/>
                </a:tc>
              </a:tr>
              <a:tr h="933602">
                <a:tc>
                  <a:txBody>
                    <a:bodyPr/>
                    <a:lstStyle/>
                    <a:p>
                      <a:r>
                        <a:t>BGE-M3</a:t>
                      </a:r>
                    </a:p>
                    <a:p>
                      <a:r>
                        <a:t>BAAI[58]</a:t>
                      </a:r>
                    </a:p>
                  </a:txBody>
                  <a:tcPr/>
                </a:tc>
                <a:tc>
                  <a:txBody>
                    <a:bodyPr/>
                    <a:lstStyle/>
                    <a:p>
                      <a:r>
                        <a:t>Model Card</a:t>
                      </a:r>
                    </a:p>
                    <a:p>
                      <a:r>
                        <a:t>参照</a:t>
                      </a:r>
                    </a:p>
                  </a:txBody>
                  <a:tcPr/>
                </a:tc>
                <a:tc>
                  <a:txBody>
                    <a:bodyPr/>
                    <a:lstStyle/>
                    <a:p>
                      <a:r>
                        <a:t>FP16/INT8で安定運用</a:t>
                      </a:r>
                    </a:p>
                    <a:p>
                      <a:r>
                        <a:t>必要なら量子化</a:t>
                      </a:r>
                    </a:p>
                  </a:txBody>
                  <a:tcPr/>
                </a:tc>
                <a:tc>
                  <a:txBody>
                    <a:bodyPr/>
                    <a:lstStyle/>
                    <a:p>
                      <a:r>
                        <a:t>特徴Multi-Functionality</a:t>
                      </a:r>
                    </a:p>
                    <a:p>
                      <a:r>
                        <a:t>Multi-Linguality</a:t>
                      </a:r>
                    </a:p>
                    <a:p>
                      <a:r>
                        <a:t>Multi-Granularityを明示[58]</a:t>
                      </a:r>
                    </a:p>
                  </a:txBody>
                  <a:tcPr/>
                </a:tc>
                <a:tc>
                  <a:txBody>
                    <a:bodyPr/>
                    <a:lstStyle/>
                    <a:p>
                      <a:r>
                        <a:t>CPU/GPU/ONNX</a:t>
                      </a:r>
                    </a:p>
                    <a:p>
                      <a:r>
                        <a:t>等で運用可能</a:t>
                      </a:r>
                    </a:p>
                    <a:p>
                      <a:r>
                        <a:t>（環境依存）</a:t>
                      </a:r>
                    </a:p>
                  </a:txBody>
                  <a:tcPr/>
                </a:tc>
                <a:tc>
                  <a:txBody>
                    <a:bodyPr/>
                    <a:lstStyle/>
                    <a:p>
                      <a:r>
                        <a:t>推奨RAGはEmbedding品質が上限を決めるため、まずここを堅くする</a:t>
                      </a:r>
                    </a:p>
                  </a:txBody>
                  <a:tcPr/>
                </a:tc>
              </a:tr>
              <a:tr h="933602">
                <a:tc>
                  <a:txBody>
                    <a:bodyPr/>
                    <a:lstStyle/>
                    <a:p>
                      <a:r>
                        <a:t>multilingual-e5</a:t>
                      </a:r>
                    </a:p>
                    <a:p>
                      <a:r>
                        <a:t>Intfloat[59-60]</a:t>
                      </a:r>
                    </a:p>
                  </a:txBody>
                  <a:tcPr/>
                </a:tc>
                <a:tc>
                  <a:txBody>
                    <a:bodyPr/>
                    <a:lstStyle/>
                    <a:p>
                      <a:r>
                        <a:t>large</a:t>
                      </a:r>
                    </a:p>
                    <a:p>
                      <a:r>
                        <a:t>large-instruct</a:t>
                      </a:r>
                    </a:p>
                  </a:txBody>
                  <a:tcPr/>
                </a:tc>
                <a:tc>
                  <a:txBody>
                    <a:bodyPr/>
                    <a:lstStyle/>
                    <a:p>
                      <a:r>
                        <a:t>large</a:t>
                      </a:r>
                    </a:p>
                    <a:p>
                      <a:r>
                        <a:t>多言語検索用途で定番</a:t>
                      </a:r>
                    </a:p>
                  </a:txBody>
                  <a:tcPr/>
                </a:tc>
                <a:tc>
                  <a:txBody>
                    <a:bodyPr/>
                    <a:lstStyle/>
                    <a:p>
                      <a:r>
                        <a:t>実績技術報告が示され、使用例が明確[60]</a:t>
                      </a:r>
                    </a:p>
                  </a:txBody>
                  <a:tcPr/>
                </a:tc>
                <a:tc>
                  <a:txBody>
                    <a:bodyPr/>
                    <a:lstStyle/>
                    <a:p>
                      <a:r>
                        <a:t>transformers / ONNX</a:t>
                      </a:r>
                    </a:p>
                  </a:txBody>
                  <a:tcPr/>
                </a:tc>
                <a:tc>
                  <a:txBody>
                    <a:bodyPr/>
                    <a:lstStyle/>
                    <a:p>
                      <a:r>
                        <a:t>候補日本語含む多言語を要するなら有力候補</a:t>
                      </a:r>
                    </a:p>
                  </a:txBody>
                  <a:tcPr/>
                </a:tc>
              </a:tr>
              <a:tr h="933604">
                <a:tc>
                  <a:txBody>
                    <a:bodyPr/>
                    <a:lstStyle/>
                    <a:p>
                      <a:r>
                        <a:t>bge-reranker</a:t>
                      </a:r>
                    </a:p>
                    <a:p>
                      <a:r>
                        <a:t>BAAI[61-62]</a:t>
                      </a:r>
                    </a:p>
                  </a:txBody>
                  <a:tcPr/>
                </a:tc>
                <a:tc>
                  <a:txBody>
                    <a:bodyPr/>
                    <a:lstStyle/>
                    <a:p>
                      <a:r>
                        <a:t>278M</a:t>
                      </a:r>
                    </a:p>
                    <a:p>
                      <a:r>
                        <a:t>〜</a:t>
                      </a:r>
                    </a:p>
                    <a:p>
                      <a:r>
                        <a:t>560M等</a:t>
                      </a:r>
                    </a:p>
                  </a:txBody>
                  <a:tcPr/>
                </a:tc>
                <a:tc>
                  <a:txBody>
                    <a:bodyPr/>
                    <a:lstStyle/>
                    <a:p>
                      <a:r>
                        <a:t>large/v2等</a:t>
                      </a:r>
                    </a:p>
                    <a:p>
                      <a:r>
                        <a:t>RAGの“再ランキング”で精度向上</a:t>
                      </a:r>
                    </a:p>
                  </a:txBody>
                  <a:tcPr/>
                </a:tc>
                <a:tc>
                  <a:txBody>
                    <a:bodyPr/>
                    <a:lstStyle/>
                    <a:p>
                      <a:r>
                        <a:t>機能「クエリ＋文書を入力しスコアを直接出す」とモデルカードで説明[62]</a:t>
                      </a:r>
                    </a:p>
                  </a:txBody>
                  <a:tcPr/>
                </a:tc>
                <a:tc>
                  <a:txBody>
                    <a:bodyPr/>
                    <a:lstStyle/>
                    <a:p>
                      <a:r>
                        <a:t>CPU/GPU</a:t>
                      </a:r>
                    </a:p>
                    <a:p>
                      <a:r>
                        <a:t>（遅延要件次第）</a:t>
                      </a:r>
                    </a:p>
                  </a:txBody>
                  <a:tcPr/>
                </a:tc>
                <a:tc>
                  <a:txBody>
                    <a:bodyPr/>
                    <a:lstStyle/>
                    <a:p>
                      <a:r>
                        <a:t>Riskrerankerはレイテンシを増やすため、p95要件で採否を判断</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RAGの失敗の多くは「検索外れ」「上位が弱い」「文脈過多」です。EmbeddingでRecallを確保し、rerankerでPrecisionを上げる二段構えが実務的推奨です。ローカル運用では、Embeddingの前計算（夜間バッチ）により実時間の負荷をLLM応答に集中させる設計が有効で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31 | ローカルAI 技術調査レポート 2026</a:t>
            </a:r>
          </a:p>
        </p:txBody>
      </p:sp>
      <p:sp>
        <p:nvSpPr>
          <p:cNvPr id="19" name="TextBox 18"/>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[58-62]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p:spPr>
      </p:pic>
      <p:sp>
        <p:nvSpPr>
          <p:cNvPr id="8" name="TextBox 7"/>
          <p:cNvSpPr txBox="1"/>
          <p:nvPr/>
        </p:nvSpPr>
        <p:spPr>
          <a:xfrm>
            <a:off x="875994" y="176479"/>
            <a:ext cx="5340096" cy="400507"/>
          </a:xfrm>
          <a:prstGeom prst="rect">
            <a:avLst/>
          </a:prstGeom>
          <a:noFill/>
          <a:ln/>
        </p:spPr>
        <p:txBody>
          <a:bodyPr wrap="square" lIns="0" rIns="0" tIns="0" bIns="0">
            <a:noAutofit/>
          </a:bodyPr>
          <a:lstStyle/>
          <a:p>
            <a:r>
              <a:rPr sz="2100" b="1">
                <a:solidFill>
                  <a:srgbClr val="1D1D1F"/>
                </a:solidFill>
                <a:latin typeface="Noto Sans JP"/>
              </a:rPr>
              <a:t>採用判断基準（Embedding / Reranker）</a:t>
            </a:r>
          </a:p>
        </p:txBody>
      </p:sp>
      <p:sp>
        <p:nvSpPr>
          <p:cNvPr id="9" name="TextBox 8"/>
          <p:cNvSpPr txBox="1"/>
          <p:nvPr/>
        </p:nvSpPr>
        <p:spPr>
          <a:xfrm>
            <a:off x="8686800" y="261518"/>
            <a:ext cx="3248863" cy="228600"/>
          </a:xfrm>
          <a:prstGeom prst="rect">
            <a:avLst/>
          </a:prstGeom>
          <a:noFill/>
          <a:ln/>
        </p:spPr>
        <p:txBody>
          <a:bodyPr wrap="square" lIns="0" rIns="0" tIns="0" bIns="0">
            <a:noAutofit/>
          </a:bodyPr>
          <a:lstStyle/>
          <a:p>
            <a:r>
              <a:rPr sz="1200">
                <a:solidFill>
                  <a:srgbClr val="86868B"/>
                </a:solidFill>
                <a:latin typeface="Noto Sans JP"/>
              </a:rPr>
              <a:t>検索精度と運用安定化のための二段構え設計</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p:spPr>
      </p:pic>
      <p:sp>
        <p:nvSpPr>
          <p:cNvPr id="12" name="TextBox 11"/>
          <p:cNvSpPr txBox="1"/>
          <p:nvPr/>
        </p:nvSpPr>
        <p:spPr>
          <a:xfrm>
            <a:off x="743407" y="1143000"/>
            <a:ext cx="10877702" cy="267005"/>
          </a:xfrm>
          <a:prstGeom prst="rect">
            <a:avLst/>
          </a:prstGeom>
          <a:noFill/>
          <a:ln/>
        </p:spPr>
        <p:txBody>
          <a:bodyPr wrap="square" lIns="0" rIns="0" tIns="0" bIns="0">
            <a:noAutofit/>
          </a:bodyPr>
          <a:lstStyle/>
          <a:p>
            <a:r>
              <a:rPr sz="1500" b="1">
                <a:solidFill>
                  <a:srgbClr val="1D1D1F"/>
                </a:solidFill>
                <a:latin typeface="Noto Sans JP"/>
              </a:rPr>
              <a:t>結論：Embeddingで網羅性(Recall)を確保し、Rerankerで精度(Precision)を上げる「二段構え」が実務的な最適解です。</a:t>
            </a:r>
          </a:p>
        </p:txBody>
      </p:sp>
      <p:sp>
        <p:nvSpPr>
          <p:cNvPr id="13" name="Rectangle 12"/>
          <p:cNvSpPr/>
          <p:nvPr/>
        </p:nvSpPr>
        <p:spPr>
          <a:xfrm>
            <a:off x="457200" y="1828800"/>
            <a:ext cx="11277295" cy="17620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200754" y="2446934"/>
            <a:ext cx="123444" cy="190194"/>
          </a:xfrm>
          <a:prstGeom prst="rect">
            <a:avLst/>
          </a:prstGeom>
          <a:ln/>
        </p:spPr>
      </p:pic>
      <p:pic>
        <p:nvPicPr>
          <p:cNvPr id="15" name="Picture 14" descr="image.png"/>
          <p:cNvPicPr>
            <a:picLocks noChangeAspect="1"/>
          </p:cNvPicPr>
          <p:nvPr/>
        </p:nvPicPr>
        <p:blipFill>
          <a:blip r:embed="rId4"/>
          <a:stretch>
            <a:fillRect/>
          </a:stretch>
        </p:blipFill>
        <p:spPr>
          <a:xfrm>
            <a:off x="7867497" y="2446934"/>
            <a:ext cx="123444" cy="190194"/>
          </a:xfrm>
          <a:prstGeom prst="rect">
            <a:avLst/>
          </a:prstGeom>
          <a:ln/>
        </p:spPr>
      </p:pic>
      <p:sp>
        <p:nvSpPr>
          <p:cNvPr id="16" name="Rectangle 15"/>
          <p:cNvSpPr/>
          <p:nvPr/>
        </p:nvSpPr>
        <p:spPr>
          <a:xfrm>
            <a:off x="457200"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7454"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093769"/>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5"/>
          <a:stretch>
            <a:fillRect/>
          </a:stretch>
        </p:blipFill>
        <p:spPr>
          <a:xfrm>
            <a:off x="743407" y="4179722"/>
            <a:ext cx="133501" cy="133501"/>
          </a:xfrm>
          <a:prstGeom prst="rect">
            <a:avLst/>
          </a:prstGeom>
          <a:ln/>
        </p:spPr>
      </p:pic>
      <p:sp>
        <p:nvSpPr>
          <p:cNvPr id="20" name="TextBox 19"/>
          <p:cNvSpPr txBox="1"/>
          <p:nvPr/>
        </p:nvSpPr>
        <p:spPr>
          <a:xfrm>
            <a:off x="1057046" y="4132174"/>
            <a:ext cx="1000354" cy="228600"/>
          </a:xfrm>
          <a:prstGeom prst="rect">
            <a:avLst/>
          </a:prstGeom>
          <a:noFill/>
          <a:ln/>
        </p:spPr>
        <p:txBody>
          <a:bodyPr wrap="square" lIns="0" rIns="0" tIns="0" bIns="0">
            <a:noAutofit/>
          </a:bodyPr>
          <a:lstStyle/>
          <a:p>
            <a:r>
              <a:rPr sz="1200" b="1">
                <a:solidFill>
                  <a:srgbClr val="1D1D1F"/>
                </a:solidFill>
                <a:latin typeface="Noto Sans JP"/>
              </a:rPr>
              <a:t>運用の安定化</a:t>
            </a:r>
          </a:p>
        </p:txBody>
      </p:sp>
      <p:pic>
        <p:nvPicPr>
          <p:cNvPr id="21" name="Picture 20" descr="image.png"/>
          <p:cNvPicPr>
            <a:picLocks noChangeAspect="1"/>
          </p:cNvPicPr>
          <p:nvPr/>
        </p:nvPicPr>
        <p:blipFill>
          <a:blip r:embed="rId6"/>
          <a:stretch>
            <a:fillRect/>
          </a:stretch>
        </p:blipFill>
        <p:spPr>
          <a:xfrm>
            <a:off x="657454" y="4657954"/>
            <a:ext cx="95098" cy="95098"/>
          </a:xfrm>
          <a:prstGeom prst="rect">
            <a:avLst/>
          </a:prstGeom>
          <a:ln/>
        </p:spPr>
      </p:pic>
      <p:sp>
        <p:nvSpPr>
          <p:cNvPr id="22" name="TextBox 21"/>
          <p:cNvSpPr txBox="1"/>
          <p:nvPr/>
        </p:nvSpPr>
        <p:spPr>
          <a:xfrm>
            <a:off x="752551" y="4784141"/>
            <a:ext cx="3219602" cy="562356"/>
          </a:xfrm>
          <a:prstGeom prst="rect">
            <a:avLst/>
          </a:prstGeom>
          <a:noFill/>
          <a:ln/>
        </p:spPr>
        <p:txBody>
          <a:bodyPr wrap="square" lIns="0" rIns="0" tIns="0" bIns="0">
            <a:noAutofit/>
          </a:bodyPr>
          <a:lstStyle/>
          <a:p>
            <a:r>
              <a:rPr sz="900" b="1">
                <a:solidFill>
                  <a:srgbClr val="1D1D1F"/>
                </a:solidFill>
                <a:latin typeface="Noto Sans JP"/>
              </a:rPr>
              <a:t>前計算（夜間バッチ）</a:t>
            </a:r>
          </a:p>
          <a:p>
            <a:r>
              <a:rPr sz="900">
                <a:solidFill>
                  <a:srgbClr val="424245"/>
                </a:solidFill>
                <a:latin typeface="Noto Sans JP"/>
              </a:rPr>
              <a:t> 検索対象文書のEmbedding化やOCR処理は夜間にバッチ実行し、日中の計算資源をLLMの応答生成に集中させる。 </a:t>
            </a:r>
          </a:p>
        </p:txBody>
      </p:sp>
      <p:pic>
        <p:nvPicPr>
          <p:cNvPr id="23" name="Picture 22" descr="image.png"/>
          <p:cNvPicPr>
            <a:picLocks noChangeAspect="1"/>
          </p:cNvPicPr>
          <p:nvPr/>
        </p:nvPicPr>
        <p:blipFill>
          <a:blip r:embed="rId6"/>
          <a:stretch>
            <a:fillRect/>
          </a:stretch>
        </p:blipFill>
        <p:spPr>
          <a:xfrm>
            <a:off x="657454" y="5515661"/>
            <a:ext cx="95098" cy="95098"/>
          </a:xfrm>
          <a:prstGeom prst="rect">
            <a:avLst/>
          </a:prstGeom>
          <a:ln/>
        </p:spPr>
      </p:pic>
      <p:sp>
        <p:nvSpPr>
          <p:cNvPr id="24" name="TextBox 23"/>
          <p:cNvSpPr txBox="1"/>
          <p:nvPr/>
        </p:nvSpPr>
        <p:spPr>
          <a:xfrm>
            <a:off x="752551" y="5641848"/>
            <a:ext cx="3219602" cy="562355"/>
          </a:xfrm>
          <a:prstGeom prst="rect">
            <a:avLst/>
          </a:prstGeom>
          <a:noFill/>
          <a:ln/>
        </p:spPr>
        <p:txBody>
          <a:bodyPr wrap="square" lIns="0" rIns="0" tIns="0" bIns="0">
            <a:noAutofit/>
          </a:bodyPr>
          <a:lstStyle/>
          <a:p>
            <a:r>
              <a:rPr sz="900" b="1">
                <a:solidFill>
                  <a:srgbClr val="1D1D1F"/>
                </a:solidFill>
                <a:latin typeface="Noto Sans JP"/>
              </a:rPr>
              <a:t>インデックス更新</a:t>
            </a:r>
          </a:p>
          <a:p>
            <a:r>
              <a:rPr sz="900">
                <a:solidFill>
                  <a:srgbClr val="424245"/>
                </a:solidFill>
                <a:latin typeface="Noto Sans JP"/>
              </a:rPr>
              <a:t> 頻繁な更新が必要ない場合は、静的インデックスとして管理し、運用負荷を下げる。 </a:t>
            </a:r>
          </a:p>
        </p:txBody>
      </p:sp>
      <p:sp>
        <p:nvSpPr>
          <p:cNvPr id="25" name="Rectangle 24"/>
          <p:cNvSpPr/>
          <p:nvPr/>
        </p:nvSpPr>
        <p:spPr>
          <a:xfrm>
            <a:off x="4280306"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79646" y="4475074"/>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093769"/>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7"/>
          <a:stretch>
            <a:fillRect/>
          </a:stretch>
        </p:blipFill>
        <p:spPr>
          <a:xfrm>
            <a:off x="4565599" y="4179722"/>
            <a:ext cx="133501" cy="133501"/>
          </a:xfrm>
          <a:prstGeom prst="rect">
            <a:avLst/>
          </a:prstGeom>
          <a:ln/>
        </p:spPr>
      </p:pic>
      <p:sp>
        <p:nvSpPr>
          <p:cNvPr id="29" name="TextBox 28"/>
          <p:cNvSpPr txBox="1"/>
          <p:nvPr/>
        </p:nvSpPr>
        <p:spPr>
          <a:xfrm>
            <a:off x="4880153" y="4132174"/>
            <a:ext cx="1645920" cy="228600"/>
          </a:xfrm>
          <a:prstGeom prst="rect">
            <a:avLst/>
          </a:prstGeom>
          <a:noFill/>
          <a:ln/>
        </p:spPr>
        <p:txBody>
          <a:bodyPr wrap="square" lIns="0" rIns="0" tIns="0" bIns="0">
            <a:noAutofit/>
          </a:bodyPr>
          <a:lstStyle/>
          <a:p>
            <a:r>
              <a:rPr sz="1200" b="1">
                <a:solidFill>
                  <a:srgbClr val="1D1D1F"/>
                </a:solidFill>
                <a:latin typeface="Noto Sans JP"/>
              </a:rPr>
              <a:t>失敗パターンと回避策</a:t>
            </a:r>
          </a:p>
        </p:txBody>
      </p:sp>
      <p:pic>
        <p:nvPicPr>
          <p:cNvPr id="30" name="Picture 29" descr="image.png"/>
          <p:cNvPicPr>
            <a:picLocks noChangeAspect="1"/>
          </p:cNvPicPr>
          <p:nvPr/>
        </p:nvPicPr>
        <p:blipFill>
          <a:blip r:embed="rId6"/>
          <a:stretch>
            <a:fillRect/>
          </a:stretch>
        </p:blipFill>
        <p:spPr>
          <a:xfrm>
            <a:off x="4479646" y="4657954"/>
            <a:ext cx="95098" cy="95098"/>
          </a:xfrm>
          <a:prstGeom prst="rect">
            <a:avLst/>
          </a:prstGeom>
          <a:ln/>
        </p:spPr>
      </p:pic>
      <p:sp>
        <p:nvSpPr>
          <p:cNvPr id="31" name="TextBox 30"/>
          <p:cNvSpPr txBox="1"/>
          <p:nvPr/>
        </p:nvSpPr>
        <p:spPr>
          <a:xfrm>
            <a:off x="4574743" y="4784141"/>
            <a:ext cx="3219602" cy="562356"/>
          </a:xfrm>
          <a:prstGeom prst="rect">
            <a:avLst/>
          </a:prstGeom>
          <a:noFill/>
          <a:ln/>
        </p:spPr>
        <p:txBody>
          <a:bodyPr wrap="square" lIns="0" rIns="0" tIns="0" bIns="0">
            <a:noAutofit/>
          </a:bodyPr>
          <a:lstStyle/>
          <a:p>
            <a:r>
              <a:rPr sz="900" b="1">
                <a:solidFill>
                  <a:srgbClr val="1D1D1F"/>
                </a:solidFill>
                <a:latin typeface="Noto Sans JP"/>
              </a:rPr>
              <a:t>検索が外れる（Recall不足）</a:t>
            </a:r>
          </a:p>
          <a:p>
            <a:r>
              <a:rPr sz="900">
                <a:solidFill>
                  <a:srgbClr val="424245"/>
                </a:solidFill>
                <a:latin typeface="Noto Sans JP"/>
              </a:rPr>
              <a:t> 回避策：文書の前処理（チャンク分割）を見直す、またはHybrid検索（キーワード検索併用）を導入する。 </a:t>
            </a:r>
          </a:p>
        </p:txBody>
      </p:sp>
      <p:pic>
        <p:nvPicPr>
          <p:cNvPr id="32" name="Picture 31" descr="image.png"/>
          <p:cNvPicPr>
            <a:picLocks noChangeAspect="1"/>
          </p:cNvPicPr>
          <p:nvPr/>
        </p:nvPicPr>
        <p:blipFill>
          <a:blip r:embed="rId6"/>
          <a:stretch>
            <a:fillRect/>
          </a:stretch>
        </p:blipFill>
        <p:spPr>
          <a:xfrm>
            <a:off x="4479646" y="5515661"/>
            <a:ext cx="95098" cy="95098"/>
          </a:xfrm>
          <a:prstGeom prst="rect">
            <a:avLst/>
          </a:prstGeom>
          <a:ln/>
        </p:spPr>
      </p:pic>
      <p:sp>
        <p:nvSpPr>
          <p:cNvPr id="33" name="TextBox 32"/>
          <p:cNvSpPr txBox="1"/>
          <p:nvPr/>
        </p:nvSpPr>
        <p:spPr>
          <a:xfrm>
            <a:off x="4574743" y="5641848"/>
            <a:ext cx="3219602" cy="562355"/>
          </a:xfrm>
          <a:prstGeom prst="rect">
            <a:avLst/>
          </a:prstGeom>
          <a:noFill/>
          <a:ln/>
        </p:spPr>
        <p:txBody>
          <a:bodyPr wrap="square" lIns="0" rIns="0" tIns="0" bIns="0">
            <a:noAutofit/>
          </a:bodyPr>
          <a:lstStyle/>
          <a:p>
            <a:r>
              <a:rPr sz="900" b="1">
                <a:solidFill>
                  <a:srgbClr val="1D1D1F"/>
                </a:solidFill>
                <a:latin typeface="Noto Sans JP"/>
              </a:rPr>
              <a:t>上位文書の関連度が弱い</a:t>
            </a:r>
          </a:p>
          <a:p>
            <a:r>
              <a:rPr sz="900">
                <a:solidFill>
                  <a:srgbClr val="424245"/>
                </a:solidFill>
                <a:latin typeface="Noto Sans JP"/>
              </a:rPr>
              <a:t> 回避策：Rerankerを導入して上位の並び順を補正し、LLMに渡すノイズを減らす。 </a:t>
            </a:r>
          </a:p>
        </p:txBody>
      </p:sp>
      <p:sp>
        <p:nvSpPr>
          <p:cNvPr id="34" name="Rectangle 33"/>
          <p:cNvSpPr/>
          <p:nvPr/>
        </p:nvSpPr>
        <p:spPr>
          <a:xfrm>
            <a:off x="8102497" y="3893515"/>
            <a:ext cx="3638398" cy="250545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02752" y="4475074"/>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02752" y="4093769"/>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8388706" y="4179722"/>
            <a:ext cx="133502" cy="133501"/>
          </a:xfrm>
          <a:prstGeom prst="rect">
            <a:avLst/>
          </a:prstGeom>
          <a:ln/>
        </p:spPr>
      </p:pic>
      <p:sp>
        <p:nvSpPr>
          <p:cNvPr id="38" name="TextBox 37"/>
          <p:cNvSpPr txBox="1"/>
          <p:nvPr/>
        </p:nvSpPr>
        <p:spPr>
          <a:xfrm>
            <a:off x="8702345" y="4132174"/>
            <a:ext cx="848563" cy="228600"/>
          </a:xfrm>
          <a:prstGeom prst="rect">
            <a:avLst/>
          </a:prstGeom>
          <a:noFill/>
          <a:ln/>
        </p:spPr>
        <p:txBody>
          <a:bodyPr wrap="square" lIns="0" rIns="0" tIns="0" bIns="0">
            <a:noAutofit/>
          </a:bodyPr>
          <a:lstStyle/>
          <a:p>
            <a:r>
              <a:rPr sz="1200" b="1">
                <a:solidFill>
                  <a:srgbClr val="1D1D1F"/>
                </a:solidFill>
                <a:latin typeface="Noto Sans JP"/>
              </a:rPr>
              <a:t>文脈長対策</a:t>
            </a:r>
          </a:p>
        </p:txBody>
      </p:sp>
      <p:pic>
        <p:nvPicPr>
          <p:cNvPr id="39" name="Picture 38" descr="image.png"/>
          <p:cNvPicPr>
            <a:picLocks noChangeAspect="1"/>
          </p:cNvPicPr>
          <p:nvPr/>
        </p:nvPicPr>
        <p:blipFill>
          <a:blip r:embed="rId6"/>
          <a:stretch>
            <a:fillRect/>
          </a:stretch>
        </p:blipFill>
        <p:spPr>
          <a:xfrm>
            <a:off x="8302752" y="4657954"/>
            <a:ext cx="95097" cy="95098"/>
          </a:xfrm>
          <a:prstGeom prst="rect">
            <a:avLst/>
          </a:prstGeom>
          <a:ln/>
        </p:spPr>
      </p:pic>
      <p:sp>
        <p:nvSpPr>
          <p:cNvPr id="40" name="TextBox 39"/>
          <p:cNvSpPr txBox="1"/>
          <p:nvPr/>
        </p:nvSpPr>
        <p:spPr>
          <a:xfrm>
            <a:off x="8397850" y="4784141"/>
            <a:ext cx="3219602" cy="562356"/>
          </a:xfrm>
          <a:prstGeom prst="rect">
            <a:avLst/>
          </a:prstGeom>
          <a:noFill/>
          <a:ln/>
        </p:spPr>
        <p:txBody>
          <a:bodyPr wrap="square" lIns="0" rIns="0" tIns="0" bIns="0">
            <a:noAutofit/>
          </a:bodyPr>
          <a:lstStyle/>
          <a:p>
            <a:r>
              <a:rPr sz="900" b="1">
                <a:solidFill>
                  <a:srgbClr val="1D1D1F"/>
                </a:solidFill>
                <a:latin typeface="Noto Sans JP"/>
              </a:rPr>
              <a:t>文脈が長すぎる失敗</a:t>
            </a:r>
          </a:p>
          <a:p>
            <a:r>
              <a:rPr sz="900">
                <a:solidFill>
                  <a:srgbClr val="424245"/>
                </a:solidFill>
                <a:latin typeface="Noto Sans JP"/>
              </a:rPr>
              <a:t> 検索結果を詰め込みすぎるとLLMの「Lost in the Middle」現象やメモリ枯渇を招く。 </a:t>
            </a:r>
          </a:p>
        </p:txBody>
      </p:sp>
      <p:pic>
        <p:nvPicPr>
          <p:cNvPr id="41" name="Picture 40" descr="image.png"/>
          <p:cNvPicPr>
            <a:picLocks noChangeAspect="1"/>
          </p:cNvPicPr>
          <p:nvPr/>
        </p:nvPicPr>
        <p:blipFill>
          <a:blip r:embed="rId6"/>
          <a:stretch>
            <a:fillRect/>
          </a:stretch>
        </p:blipFill>
        <p:spPr>
          <a:xfrm>
            <a:off x="8302752" y="5515661"/>
            <a:ext cx="95097" cy="95098"/>
          </a:xfrm>
          <a:prstGeom prst="rect">
            <a:avLst/>
          </a:prstGeom>
          <a:ln/>
        </p:spPr>
      </p:pic>
      <p:sp>
        <p:nvSpPr>
          <p:cNvPr id="42" name="TextBox 41"/>
          <p:cNvSpPr txBox="1"/>
          <p:nvPr/>
        </p:nvSpPr>
        <p:spPr>
          <a:xfrm>
            <a:off x="8397850" y="5641848"/>
            <a:ext cx="3219602" cy="562355"/>
          </a:xfrm>
          <a:prstGeom prst="rect">
            <a:avLst/>
          </a:prstGeom>
          <a:noFill/>
          <a:ln/>
        </p:spPr>
        <p:txBody>
          <a:bodyPr wrap="square" lIns="0" rIns="0" tIns="0" bIns="0">
            <a:noAutofit/>
          </a:bodyPr>
          <a:lstStyle/>
          <a:p>
            <a:r>
              <a:rPr sz="900" b="1">
                <a:solidFill>
                  <a:srgbClr val="1D1D1F"/>
                </a:solidFill>
                <a:latin typeface="Noto Sans JP"/>
              </a:rPr>
              <a:t>Rerankerでの絞り込み</a:t>
            </a:r>
          </a:p>
          <a:p>
            <a:r>
              <a:rPr sz="900">
                <a:solidFill>
                  <a:srgbClr val="424245"/>
                </a:solidFill>
                <a:latin typeface="Noto Sans JP"/>
              </a:rPr>
              <a:t> Rerankerでスコアの低い文書を大胆にカットし、LLMには「確度の高い少数精鋭」のコンテキストを渡す。 </a:t>
            </a:r>
          </a:p>
        </p:txBody>
      </p:sp>
      <p:pic>
        <p:nvPicPr>
          <p:cNvPr id="43" name="Picture 42" descr="image.png"/>
          <p:cNvPicPr>
            <a:picLocks noChangeAspect="1"/>
          </p:cNvPicPr>
          <p:nvPr/>
        </p:nvPicPr>
        <p:blipFill>
          <a:blip r:embed="rId9"/>
          <a:stretch>
            <a:fillRect/>
          </a:stretch>
        </p:blipFill>
        <p:spPr>
          <a:xfrm>
            <a:off x="0" y="6476695"/>
            <a:ext cx="12191695" cy="381305"/>
          </a:xfrm>
          <a:prstGeom prst="rect">
            <a:avLst/>
          </a:prstGeom>
          <a:ln/>
        </p:spPr>
      </p:pic>
      <p:sp>
        <p:nvSpPr>
          <p:cNvPr id="44" name="TextBox 43"/>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32 | ローカルAI 技術調査レポート</a:t>
            </a:r>
          </a:p>
        </p:txBody>
      </p:sp>
      <p:pic>
        <p:nvPicPr>
          <p:cNvPr id="45" name="Picture 44" descr="image.png"/>
          <p:cNvPicPr>
            <a:picLocks noChangeAspect="1"/>
          </p:cNvPicPr>
          <p:nvPr/>
        </p:nvPicPr>
        <p:blipFill>
          <a:blip r:embed="rId10"/>
          <a:stretch>
            <a:fillRect/>
          </a:stretch>
        </p:blipFill>
        <p:spPr>
          <a:xfrm>
            <a:off x="2162556" y="2029054"/>
            <a:ext cx="533094" cy="533094"/>
          </a:xfrm>
          <a:prstGeom prst="rect">
            <a:avLst/>
          </a:prstGeom>
          <a:ln/>
        </p:spPr>
      </p:pic>
      <p:sp>
        <p:nvSpPr>
          <p:cNvPr id="46" name="TextBox 45"/>
          <p:cNvSpPr txBox="1"/>
          <p:nvPr/>
        </p:nvSpPr>
        <p:spPr>
          <a:xfrm>
            <a:off x="2162556" y="2029054"/>
            <a:ext cx="534009" cy="534009"/>
          </a:xfrm>
          <a:prstGeom prst="rect">
            <a:avLst/>
          </a:prstGeom>
          <a:noFill/>
          <a:ln>
            <a:solidFill>
              <a:srgbClr val="FFFFFF"/>
            </a:solidFill>
          </a:ln>
        </p:spPr>
        <p:txBody>
          <a:bodyPr wrap="square" lIns="0" rIns="0" tIns="0" bIns="0">
            <a:noAutofit/>
          </a:bodyPr>
          <a:lstStyle/>
          <a:p>
            <a:r>
              <a:rPr sz="1800" b="1">
                <a:solidFill>
                  <a:srgbClr val="FFFFFF"/>
                </a:solidFill>
                <a:latin typeface="Noto Sans JP"/>
              </a:rPr>
              <a:t>1</a:t>
            </a:r>
          </a:p>
        </p:txBody>
      </p:sp>
      <p:sp>
        <p:nvSpPr>
          <p:cNvPr id="47" name="TextBox 46"/>
          <p:cNvSpPr txBox="1"/>
          <p:nvPr/>
        </p:nvSpPr>
        <p:spPr>
          <a:xfrm>
            <a:off x="1961388" y="2638044"/>
            <a:ext cx="943661" cy="228600"/>
          </a:xfrm>
          <a:prstGeom prst="rect">
            <a:avLst/>
          </a:prstGeom>
          <a:noFill/>
          <a:ln/>
        </p:spPr>
        <p:txBody>
          <a:bodyPr wrap="square" lIns="0" rIns="0" tIns="0" bIns="0">
            <a:noAutofit/>
          </a:bodyPr>
          <a:lstStyle/>
          <a:p>
            <a:r>
              <a:rPr sz="1200" b="1">
                <a:solidFill>
                  <a:srgbClr val="1D1D1F"/>
                </a:solidFill>
                <a:latin typeface="Noto Sans JP"/>
              </a:rPr>
              <a:t>Embedding</a:t>
            </a:r>
          </a:p>
        </p:txBody>
      </p:sp>
      <p:sp>
        <p:nvSpPr>
          <p:cNvPr id="48" name="TextBox 47"/>
          <p:cNvSpPr txBox="1"/>
          <p:nvPr/>
        </p:nvSpPr>
        <p:spPr>
          <a:xfrm>
            <a:off x="1733701" y="2943454"/>
            <a:ext cx="1390801" cy="448056"/>
          </a:xfrm>
          <a:prstGeom prst="rect">
            <a:avLst/>
          </a:prstGeom>
          <a:noFill/>
          <a:ln/>
        </p:spPr>
        <p:txBody>
          <a:bodyPr wrap="square" lIns="0" rIns="0" tIns="0" bIns="0">
            <a:noAutofit/>
          </a:bodyPr>
          <a:lstStyle/>
          <a:p>
            <a:r>
              <a:rPr sz="900">
                <a:solidFill>
                  <a:srgbClr val="6E6E73"/>
                </a:solidFill>
                <a:latin typeface="Noto Sans JP"/>
              </a:rPr>
              <a:t>広く候補を取得 (Recall重視)</a:t>
            </a:r>
          </a:p>
          <a:p>
            <a:r>
              <a:rPr sz="900">
                <a:solidFill>
                  <a:srgbClr val="6E6E73"/>
                </a:solidFill>
                <a:latin typeface="Noto Sans JP"/>
              </a:rPr>
              <a:t>BGE-M3 / E5</a:t>
            </a:r>
          </a:p>
        </p:txBody>
      </p:sp>
      <p:pic>
        <p:nvPicPr>
          <p:cNvPr id="49" name="Picture 48" descr="image.png"/>
          <p:cNvPicPr>
            <a:picLocks noChangeAspect="1"/>
          </p:cNvPicPr>
          <p:nvPr/>
        </p:nvPicPr>
        <p:blipFill>
          <a:blip r:embed="rId11"/>
          <a:stretch>
            <a:fillRect/>
          </a:stretch>
        </p:blipFill>
        <p:spPr>
          <a:xfrm>
            <a:off x="5829300" y="2029054"/>
            <a:ext cx="533094" cy="533094"/>
          </a:xfrm>
          <a:prstGeom prst="rect">
            <a:avLst/>
          </a:prstGeom>
          <a:ln/>
        </p:spPr>
      </p:pic>
      <p:sp>
        <p:nvSpPr>
          <p:cNvPr id="50" name="TextBox 49"/>
          <p:cNvSpPr txBox="1"/>
          <p:nvPr/>
        </p:nvSpPr>
        <p:spPr>
          <a:xfrm>
            <a:off x="5829300" y="2029054"/>
            <a:ext cx="534010" cy="534009"/>
          </a:xfrm>
          <a:prstGeom prst="rect">
            <a:avLst/>
          </a:prstGeom>
          <a:noFill/>
          <a:ln>
            <a:solidFill>
              <a:srgbClr val="FFFFFF"/>
            </a:solidFill>
          </a:ln>
        </p:spPr>
        <p:txBody>
          <a:bodyPr wrap="square" lIns="0" rIns="0" tIns="0" bIns="0">
            <a:noAutofit/>
          </a:bodyPr>
          <a:lstStyle/>
          <a:p>
            <a:r>
              <a:rPr sz="1800" b="1">
                <a:solidFill>
                  <a:srgbClr val="FFFFFF"/>
                </a:solidFill>
                <a:latin typeface="Noto Sans JP"/>
              </a:rPr>
              <a:t>2</a:t>
            </a:r>
          </a:p>
        </p:txBody>
      </p:sp>
      <p:sp>
        <p:nvSpPr>
          <p:cNvPr id="51" name="TextBox 50"/>
          <p:cNvSpPr txBox="1"/>
          <p:nvPr/>
        </p:nvSpPr>
        <p:spPr>
          <a:xfrm>
            <a:off x="5706770" y="2638044"/>
            <a:ext cx="783641" cy="228600"/>
          </a:xfrm>
          <a:prstGeom prst="rect">
            <a:avLst/>
          </a:prstGeom>
          <a:noFill/>
          <a:ln/>
        </p:spPr>
        <p:txBody>
          <a:bodyPr wrap="square" lIns="0" rIns="0" tIns="0" bIns="0">
            <a:noAutofit/>
          </a:bodyPr>
          <a:lstStyle/>
          <a:p>
            <a:r>
              <a:rPr sz="1200" b="1">
                <a:solidFill>
                  <a:srgbClr val="1D1D1F"/>
                </a:solidFill>
                <a:latin typeface="Noto Sans JP"/>
              </a:rPr>
              <a:t>Reranker</a:t>
            </a:r>
          </a:p>
        </p:txBody>
      </p:sp>
      <p:sp>
        <p:nvSpPr>
          <p:cNvPr id="52" name="TextBox 51"/>
          <p:cNvSpPr txBox="1"/>
          <p:nvPr/>
        </p:nvSpPr>
        <p:spPr>
          <a:xfrm>
            <a:off x="5400446" y="2943454"/>
            <a:ext cx="1390801" cy="448056"/>
          </a:xfrm>
          <a:prstGeom prst="rect">
            <a:avLst/>
          </a:prstGeom>
          <a:noFill/>
          <a:ln/>
        </p:spPr>
        <p:txBody>
          <a:bodyPr wrap="square" lIns="0" rIns="0" tIns="0" bIns="0">
            <a:noAutofit/>
          </a:bodyPr>
          <a:lstStyle/>
          <a:p>
            <a:r>
              <a:rPr sz="900">
                <a:solidFill>
                  <a:srgbClr val="6E6E73"/>
                </a:solidFill>
                <a:latin typeface="Noto Sans JP"/>
              </a:rPr>
              <a:t>上位を厳選 (Precision重視)</a:t>
            </a:r>
          </a:p>
          <a:p>
            <a:r>
              <a:rPr sz="900">
                <a:solidFill>
                  <a:srgbClr val="6E6E73"/>
                </a:solidFill>
                <a:latin typeface="Noto Sans JP"/>
              </a:rPr>
              <a:t>bge-reranker</a:t>
            </a:r>
          </a:p>
        </p:txBody>
      </p:sp>
      <p:pic>
        <p:nvPicPr>
          <p:cNvPr id="53" name="Picture 52" descr="image.png"/>
          <p:cNvPicPr>
            <a:picLocks noChangeAspect="1"/>
          </p:cNvPicPr>
          <p:nvPr/>
        </p:nvPicPr>
        <p:blipFill>
          <a:blip r:embed="rId12"/>
          <a:stretch>
            <a:fillRect/>
          </a:stretch>
        </p:blipFill>
        <p:spPr>
          <a:xfrm>
            <a:off x="9496044" y="2103120"/>
            <a:ext cx="533094" cy="533094"/>
          </a:xfrm>
          <a:prstGeom prst="rect">
            <a:avLst/>
          </a:prstGeom>
          <a:ln/>
        </p:spPr>
      </p:pic>
      <p:sp>
        <p:nvSpPr>
          <p:cNvPr id="54" name="TextBox 53"/>
          <p:cNvSpPr txBox="1"/>
          <p:nvPr/>
        </p:nvSpPr>
        <p:spPr>
          <a:xfrm>
            <a:off x="9496044" y="2103120"/>
            <a:ext cx="534010" cy="534009"/>
          </a:xfrm>
          <a:prstGeom prst="rect">
            <a:avLst/>
          </a:prstGeom>
          <a:noFill/>
          <a:ln>
            <a:solidFill>
              <a:srgbClr val="FFFFFF"/>
            </a:solidFill>
          </a:ln>
        </p:spPr>
        <p:txBody>
          <a:bodyPr wrap="square" lIns="0" rIns="0" tIns="0" bIns="0">
            <a:noAutofit/>
          </a:bodyPr>
          <a:lstStyle/>
          <a:p>
            <a:r>
              <a:rPr sz="1800" b="1">
                <a:solidFill>
                  <a:srgbClr val="FFFFFF"/>
                </a:solidFill>
                <a:latin typeface="Noto Sans JP"/>
              </a:rPr>
              <a:t>3</a:t>
            </a:r>
          </a:p>
        </p:txBody>
      </p:sp>
      <p:sp>
        <p:nvSpPr>
          <p:cNvPr id="55" name="TextBox 54"/>
          <p:cNvSpPr txBox="1"/>
          <p:nvPr/>
        </p:nvSpPr>
        <p:spPr>
          <a:xfrm>
            <a:off x="9419234" y="2713025"/>
            <a:ext cx="695858" cy="228600"/>
          </a:xfrm>
          <a:prstGeom prst="rect">
            <a:avLst/>
          </a:prstGeom>
          <a:noFill/>
          <a:ln/>
        </p:spPr>
        <p:txBody>
          <a:bodyPr wrap="square" lIns="0" rIns="0" tIns="0" bIns="0">
            <a:noAutofit/>
          </a:bodyPr>
          <a:lstStyle/>
          <a:p>
            <a:r>
              <a:rPr sz="1200" b="1">
                <a:solidFill>
                  <a:srgbClr val="1D1D1F"/>
                </a:solidFill>
                <a:latin typeface="Noto Sans JP"/>
              </a:rPr>
              <a:t>LLM生成</a:t>
            </a:r>
          </a:p>
        </p:txBody>
      </p:sp>
      <p:sp>
        <p:nvSpPr>
          <p:cNvPr id="56" name="TextBox 55"/>
          <p:cNvSpPr txBox="1"/>
          <p:nvPr/>
        </p:nvSpPr>
        <p:spPr>
          <a:xfrm>
            <a:off x="9163202" y="3017520"/>
            <a:ext cx="1209750" cy="305409"/>
          </a:xfrm>
          <a:prstGeom prst="rect">
            <a:avLst/>
          </a:prstGeom>
          <a:noFill/>
          <a:ln/>
        </p:spPr>
        <p:txBody>
          <a:bodyPr wrap="square" lIns="0" rIns="0" tIns="0" bIns="0">
            <a:noAutofit/>
          </a:bodyPr>
          <a:lstStyle/>
          <a:p>
            <a:r>
              <a:rPr sz="900">
                <a:solidFill>
                  <a:srgbClr val="6E6E73"/>
                </a:solidFill>
                <a:latin typeface="Noto Sans JP"/>
              </a:rPr>
              <a:t>精度の高い文脈で回答</a:t>
            </a:r>
          </a:p>
          <a:p>
            <a:r>
              <a:rPr sz="900">
                <a:solidFill>
                  <a:srgbClr val="6E6E73"/>
                </a:solidFill>
                <a:latin typeface="Noto Sans JP"/>
              </a:rPr>
              <a:t>(幻覚抑制)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228600" cy="304495"/>
          </a:xfrm>
          <a:prstGeom prst="rect">
            <a:avLst/>
          </a:prstGeom>
          <a:ln/>
        </p:spPr>
      </p:pic>
      <p:sp>
        <p:nvSpPr>
          <p:cNvPr id="8" name="TextBox 7"/>
          <p:cNvSpPr txBox="1"/>
          <p:nvPr/>
        </p:nvSpPr>
        <p:spPr>
          <a:xfrm>
            <a:off x="838505" y="228600"/>
            <a:ext cx="4121201" cy="457200"/>
          </a:xfrm>
          <a:prstGeom prst="rect">
            <a:avLst/>
          </a:prstGeom>
          <a:noFill/>
          <a:ln/>
        </p:spPr>
        <p:txBody>
          <a:bodyPr wrap="square" lIns="0" rIns="0" tIns="0" bIns="0">
            <a:noAutofit/>
          </a:bodyPr>
          <a:lstStyle/>
          <a:p>
            <a:r>
              <a:rPr sz="2400" b="1">
                <a:solidFill>
                  <a:srgbClr val="1D1D1F"/>
                </a:solidFill>
                <a:latin typeface="Noto Sans JP"/>
              </a:rPr>
              <a:t>OCR / Document AI 概要</a:t>
            </a:r>
          </a:p>
        </p:txBody>
      </p:sp>
      <p:sp>
        <p:nvSpPr>
          <p:cNvPr id="9" name="TextBox 8"/>
          <p:cNvSpPr txBox="1"/>
          <p:nvPr/>
        </p:nvSpPr>
        <p:spPr>
          <a:xfrm>
            <a:off x="8305495" y="328270"/>
            <a:ext cx="3620110" cy="257861"/>
          </a:xfrm>
          <a:prstGeom prst="rect">
            <a:avLst/>
          </a:prstGeom>
          <a:noFill/>
          <a:ln/>
        </p:spPr>
        <p:txBody>
          <a:bodyPr wrap="square" lIns="0" rIns="0" tIns="0" bIns="0">
            <a:noAutofit/>
          </a:bodyPr>
          <a:lstStyle/>
          <a:p>
            <a:r>
              <a:rPr sz="1300">
                <a:solidFill>
                  <a:srgbClr val="86868B"/>
                </a:solidFill>
                <a:latin typeface="Noto Sans JP"/>
              </a:rPr>
              <a:t>スキャン品質と構造化要件に基づく手法選択</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結論：スキャン品質やレイアウトの複雑度に応じて、 </a:t>
            </a:r>
          </a:p>
          <a:p>
            <a:r>
              <a:rPr sz="1800" b="1">
                <a:solidFill>
                  <a:srgbClr val="2563EB"/>
                </a:solidFill>
                <a:latin typeface="Noto Sans JP"/>
              </a:rPr>
              <a:t>古典的OCR</a:t>
            </a:r>
            <a:r>
              <a:rPr sz="1800" b="1">
                <a:solidFill>
                  <a:srgbClr val="1D1D1F"/>
                </a:solidFill>
                <a:latin typeface="Noto Sans JP"/>
              </a:rPr>
              <a:t>と</a:t>
            </a:r>
            <a:r>
              <a:rPr sz="1800" b="1">
                <a:solidFill>
                  <a:srgbClr val="2563EB"/>
                </a:solidFill>
                <a:latin typeface="Noto Sans JP"/>
              </a:rPr>
              <a:t>OCR-free（Doc理解）</a:t>
            </a:r>
            <a:r>
              <a:rPr sz="1800" b="1">
                <a:solidFill>
                  <a:srgbClr val="1D1D1F"/>
                </a:solidFill>
                <a:latin typeface="Noto Sans JP"/>
              </a:rPr>
              <a:t>を使い分けるハイブリッド戦略が推奨されます。 </a:t>
            </a:r>
          </a:p>
        </p:txBody>
      </p:sp>
      <p:sp>
        <p:nvSpPr>
          <p:cNvPr id="12" name="Rectangle 11"/>
          <p:cNvSpPr/>
          <p:nvPr/>
        </p:nvSpPr>
        <p:spPr>
          <a:xfrm>
            <a:off x="457200"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p:spPr>
      </p:pic>
      <p:sp>
        <p:nvSpPr>
          <p:cNvPr id="15" name="TextBox 14"/>
          <p:cNvSpPr txBox="1"/>
          <p:nvPr/>
        </p:nvSpPr>
        <p:spPr>
          <a:xfrm>
            <a:off x="1028700" y="2945282"/>
            <a:ext cx="2362810" cy="419709"/>
          </a:xfrm>
          <a:prstGeom prst="rect">
            <a:avLst/>
          </a:prstGeom>
          <a:noFill/>
          <a:ln/>
        </p:spPr>
        <p:txBody>
          <a:bodyPr wrap="square" lIns="0" rIns="0" tIns="0" bIns="0">
            <a:noAutofit/>
          </a:bodyPr>
          <a:lstStyle/>
          <a:p>
            <a:r>
              <a:rPr sz="1500" b="1">
                <a:solidFill>
                  <a:srgbClr val="1D1D1F"/>
                </a:solidFill>
                <a:latin typeface="Noto Sans JP"/>
              </a:rPr>
              <a:t>代表的なシステム・モデル</a:t>
            </a:r>
          </a:p>
        </p:txBody>
      </p:sp>
      <p:pic>
        <p:nvPicPr>
          <p:cNvPr id="16" name="Picture 15" descr="image.png"/>
          <p:cNvPicPr>
            <a:picLocks noChangeAspect="1"/>
          </p:cNvPicPr>
          <p:nvPr/>
        </p:nvPicPr>
        <p:blipFill>
          <a:blip r:embed="rId5"/>
          <a:stretch>
            <a:fillRect/>
          </a:stretch>
        </p:blipFill>
        <p:spPr>
          <a:xfrm>
            <a:off x="694944" y="3516782"/>
            <a:ext cx="133502" cy="133501"/>
          </a:xfrm>
          <a:prstGeom prst="rect">
            <a:avLst/>
          </a:prstGeom>
          <a:ln/>
        </p:spPr>
      </p:pic>
      <p:sp>
        <p:nvSpPr>
          <p:cNvPr id="17" name="TextBox 16"/>
          <p:cNvSpPr txBox="1"/>
          <p:nvPr/>
        </p:nvSpPr>
        <p:spPr>
          <a:xfrm>
            <a:off x="923544" y="3516782"/>
            <a:ext cx="4181550" cy="247801"/>
          </a:xfrm>
          <a:prstGeom prst="rect">
            <a:avLst/>
          </a:prstGeom>
          <a:noFill/>
          <a:ln/>
        </p:spPr>
        <p:txBody>
          <a:bodyPr wrap="square" lIns="0" rIns="0" tIns="0" bIns="0">
            <a:noAutofit/>
          </a:bodyPr>
          <a:lstStyle/>
          <a:p>
            <a:r>
              <a:rPr sz="1200" b="1">
                <a:solidFill>
                  <a:srgbClr val="1D1D1F"/>
                </a:solidFill>
                <a:latin typeface="Noto Sans JP"/>
              </a:rPr>
              <a:t>Tesseract OCR</a:t>
            </a:r>
          </a:p>
        </p:txBody>
      </p:sp>
      <p:pic>
        <p:nvPicPr>
          <p:cNvPr id="18" name="Picture 17" descr="image.png"/>
          <p:cNvPicPr>
            <a:picLocks noChangeAspect="1"/>
          </p:cNvPicPr>
          <p:nvPr/>
        </p:nvPicPr>
        <p:blipFill>
          <a:blip r:embed="rId6"/>
          <a:stretch>
            <a:fillRect/>
          </a:stretch>
        </p:blipFill>
        <p:spPr>
          <a:xfrm>
            <a:off x="2040026" y="3555186"/>
            <a:ext cx="333756" cy="200253"/>
          </a:xfrm>
          <a:prstGeom prst="rect">
            <a:avLst/>
          </a:prstGeom>
          <a:ln/>
        </p:spPr>
      </p:pic>
      <p:sp>
        <p:nvSpPr>
          <p:cNvPr id="19" name="TextBox 18"/>
          <p:cNvSpPr txBox="1"/>
          <p:nvPr/>
        </p:nvSpPr>
        <p:spPr>
          <a:xfrm>
            <a:off x="2040026" y="3555186"/>
            <a:ext cx="333756"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[64]</a:t>
            </a:r>
          </a:p>
        </p:txBody>
      </p:sp>
      <p:sp>
        <p:nvSpPr>
          <p:cNvPr id="20" name="TextBox 19"/>
          <p:cNvSpPr txBox="1"/>
          <p:nvPr/>
        </p:nvSpPr>
        <p:spPr>
          <a:xfrm>
            <a:off x="923544" y="3798417"/>
            <a:ext cx="4258361" cy="191110"/>
          </a:xfrm>
          <a:prstGeom prst="rect">
            <a:avLst/>
          </a:prstGeom>
          <a:noFill/>
          <a:ln/>
        </p:spPr>
        <p:txBody>
          <a:bodyPr wrap="square" lIns="0" rIns="0" tIns="0" bIns="0">
            <a:noAutofit/>
          </a:bodyPr>
          <a:lstStyle/>
          <a:p>
            <a:r>
              <a:rPr sz="1000">
                <a:solidFill>
                  <a:srgbClr val="4B5563"/>
                </a:solidFill>
                <a:latin typeface="Noto Sans JP"/>
              </a:rPr>
              <a:t>古典的OCR＋LSTM。単純なテキスト化のデファクトスタンダード。</a:t>
            </a:r>
          </a:p>
        </p:txBody>
      </p:sp>
      <p:pic>
        <p:nvPicPr>
          <p:cNvPr id="21" name="Picture 20" descr="image.png"/>
          <p:cNvPicPr>
            <a:picLocks noChangeAspect="1"/>
          </p:cNvPicPr>
          <p:nvPr/>
        </p:nvPicPr>
        <p:blipFill>
          <a:blip r:embed="rId5"/>
          <a:stretch>
            <a:fillRect/>
          </a:stretch>
        </p:blipFill>
        <p:spPr>
          <a:xfrm>
            <a:off x="694944" y="4141317"/>
            <a:ext cx="133502" cy="133501"/>
          </a:xfrm>
          <a:prstGeom prst="rect">
            <a:avLst/>
          </a:prstGeom>
          <a:ln/>
        </p:spPr>
      </p:pic>
      <p:sp>
        <p:nvSpPr>
          <p:cNvPr id="22" name="TextBox 21"/>
          <p:cNvSpPr txBox="1"/>
          <p:nvPr/>
        </p:nvSpPr>
        <p:spPr>
          <a:xfrm>
            <a:off x="923544" y="4141317"/>
            <a:ext cx="4114800" cy="247801"/>
          </a:xfrm>
          <a:prstGeom prst="rect">
            <a:avLst/>
          </a:prstGeom>
          <a:noFill/>
          <a:ln/>
        </p:spPr>
        <p:txBody>
          <a:bodyPr wrap="square" lIns="0" rIns="0" tIns="0" bIns="0">
            <a:noAutofit/>
          </a:bodyPr>
          <a:lstStyle/>
          <a:p>
            <a:r>
              <a:rPr sz="1200" b="1">
                <a:solidFill>
                  <a:srgbClr val="1D1D1F"/>
                </a:solidFill>
                <a:latin typeface="Noto Sans JP"/>
              </a:rPr>
              <a:t>PaddleOCR</a:t>
            </a:r>
          </a:p>
        </p:txBody>
      </p:sp>
      <p:pic>
        <p:nvPicPr>
          <p:cNvPr id="23" name="Picture 22" descr="image.png"/>
          <p:cNvPicPr>
            <a:picLocks noChangeAspect="1"/>
          </p:cNvPicPr>
          <p:nvPr/>
        </p:nvPicPr>
        <p:blipFill>
          <a:blip r:embed="rId6"/>
          <a:stretch>
            <a:fillRect/>
          </a:stretch>
        </p:blipFill>
        <p:spPr>
          <a:xfrm>
            <a:off x="1819656" y="4179722"/>
            <a:ext cx="333756" cy="200253"/>
          </a:xfrm>
          <a:prstGeom prst="rect">
            <a:avLst/>
          </a:prstGeom>
          <a:ln/>
        </p:spPr>
      </p:pic>
      <p:sp>
        <p:nvSpPr>
          <p:cNvPr id="24" name="TextBox 23"/>
          <p:cNvSpPr txBox="1"/>
          <p:nvPr/>
        </p:nvSpPr>
        <p:spPr>
          <a:xfrm>
            <a:off x="1819656" y="4179722"/>
            <a:ext cx="333756"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[66]</a:t>
            </a:r>
          </a:p>
        </p:txBody>
      </p:sp>
      <p:sp>
        <p:nvSpPr>
          <p:cNvPr id="25" name="TextBox 24"/>
          <p:cNvSpPr txBox="1"/>
          <p:nvPr/>
        </p:nvSpPr>
        <p:spPr>
          <a:xfrm>
            <a:off x="923544" y="4422953"/>
            <a:ext cx="4191610" cy="191110"/>
          </a:xfrm>
          <a:prstGeom prst="rect">
            <a:avLst/>
          </a:prstGeom>
          <a:noFill/>
          <a:ln/>
        </p:spPr>
        <p:txBody>
          <a:bodyPr wrap="square" lIns="0" rIns="0" tIns="0" bIns="0">
            <a:noAutofit/>
          </a:bodyPr>
          <a:lstStyle/>
          <a:p>
            <a:r>
              <a:rPr sz="1000">
                <a:solidFill>
                  <a:srgbClr val="4B5563"/>
                </a:solidFill>
                <a:latin typeface="Noto Sans JP"/>
              </a:rPr>
              <a:t>高精度かつ多機能。表構造や縦書きなど複雑なレイアウトに強い。</a:t>
            </a:r>
          </a:p>
        </p:txBody>
      </p:sp>
      <p:pic>
        <p:nvPicPr>
          <p:cNvPr id="26" name="Picture 25" descr="image.png"/>
          <p:cNvPicPr>
            <a:picLocks noChangeAspect="1"/>
          </p:cNvPicPr>
          <p:nvPr/>
        </p:nvPicPr>
        <p:blipFill>
          <a:blip r:embed="rId5"/>
          <a:stretch>
            <a:fillRect/>
          </a:stretch>
        </p:blipFill>
        <p:spPr>
          <a:xfrm>
            <a:off x="694944" y="4765853"/>
            <a:ext cx="133502" cy="133501"/>
          </a:xfrm>
          <a:prstGeom prst="rect">
            <a:avLst/>
          </a:prstGeom>
          <a:ln/>
        </p:spPr>
      </p:pic>
      <p:sp>
        <p:nvSpPr>
          <p:cNvPr id="27" name="TextBox 26"/>
          <p:cNvSpPr txBox="1"/>
          <p:nvPr/>
        </p:nvSpPr>
        <p:spPr>
          <a:xfrm>
            <a:off x="923544" y="4765853"/>
            <a:ext cx="3553358" cy="247801"/>
          </a:xfrm>
          <a:prstGeom prst="rect">
            <a:avLst/>
          </a:prstGeom>
          <a:noFill/>
          <a:ln/>
        </p:spPr>
        <p:txBody>
          <a:bodyPr wrap="square" lIns="0" rIns="0" tIns="0" bIns="0">
            <a:noAutofit/>
          </a:bodyPr>
          <a:lstStyle/>
          <a:p>
            <a:r>
              <a:rPr sz="1200" b="1">
                <a:solidFill>
                  <a:srgbClr val="1D1D1F"/>
                </a:solidFill>
                <a:latin typeface="Noto Sans JP"/>
              </a:rPr>
              <a:t>Donut (OCR-free)</a:t>
            </a:r>
          </a:p>
        </p:txBody>
      </p:sp>
      <p:pic>
        <p:nvPicPr>
          <p:cNvPr id="28" name="Picture 27" descr="image.png"/>
          <p:cNvPicPr>
            <a:picLocks noChangeAspect="1"/>
          </p:cNvPicPr>
          <p:nvPr/>
        </p:nvPicPr>
        <p:blipFill>
          <a:blip r:embed="rId6"/>
          <a:stretch>
            <a:fillRect/>
          </a:stretch>
        </p:blipFill>
        <p:spPr>
          <a:xfrm>
            <a:off x="2264054" y="4804258"/>
            <a:ext cx="333756" cy="200253"/>
          </a:xfrm>
          <a:prstGeom prst="rect">
            <a:avLst/>
          </a:prstGeom>
          <a:ln/>
        </p:spPr>
      </p:pic>
      <p:sp>
        <p:nvSpPr>
          <p:cNvPr id="29" name="TextBox 28"/>
          <p:cNvSpPr txBox="1"/>
          <p:nvPr/>
        </p:nvSpPr>
        <p:spPr>
          <a:xfrm>
            <a:off x="2264054" y="4804258"/>
            <a:ext cx="333756"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[68]</a:t>
            </a:r>
          </a:p>
        </p:txBody>
      </p:sp>
      <p:sp>
        <p:nvSpPr>
          <p:cNvPr id="30" name="TextBox 29"/>
          <p:cNvSpPr txBox="1"/>
          <p:nvPr/>
        </p:nvSpPr>
        <p:spPr>
          <a:xfrm>
            <a:off x="923544" y="5048402"/>
            <a:ext cx="3629253" cy="191110"/>
          </a:xfrm>
          <a:prstGeom prst="rect">
            <a:avLst/>
          </a:prstGeom>
          <a:noFill/>
          <a:ln/>
        </p:spPr>
        <p:txBody>
          <a:bodyPr wrap="square" lIns="0" rIns="0" tIns="0" bIns="0">
            <a:noAutofit/>
          </a:bodyPr>
          <a:lstStyle/>
          <a:p>
            <a:r>
              <a:rPr sz="1000">
                <a:solidFill>
                  <a:srgbClr val="4B5563"/>
                </a:solidFill>
                <a:latin typeface="Noto Sans JP"/>
              </a:rPr>
              <a:t>画像を直接Transformerで処理し、構造化データを抽出。</a:t>
            </a:r>
          </a:p>
        </p:txBody>
      </p:sp>
      <p:pic>
        <p:nvPicPr>
          <p:cNvPr id="31" name="Picture 30" descr="image.png"/>
          <p:cNvPicPr>
            <a:picLocks noChangeAspect="1"/>
          </p:cNvPicPr>
          <p:nvPr/>
        </p:nvPicPr>
        <p:blipFill>
          <a:blip r:embed="rId5"/>
          <a:stretch>
            <a:fillRect/>
          </a:stretch>
        </p:blipFill>
        <p:spPr>
          <a:xfrm>
            <a:off x="694944" y="5391302"/>
            <a:ext cx="133502" cy="133501"/>
          </a:xfrm>
          <a:prstGeom prst="rect">
            <a:avLst/>
          </a:prstGeom>
          <a:ln/>
        </p:spPr>
      </p:pic>
      <p:sp>
        <p:nvSpPr>
          <p:cNvPr id="32" name="TextBox 31"/>
          <p:cNvSpPr txBox="1"/>
          <p:nvPr/>
        </p:nvSpPr>
        <p:spPr>
          <a:xfrm>
            <a:off x="923544" y="5391302"/>
            <a:ext cx="3838650" cy="247801"/>
          </a:xfrm>
          <a:prstGeom prst="rect">
            <a:avLst/>
          </a:prstGeom>
          <a:noFill/>
          <a:ln/>
        </p:spPr>
        <p:txBody>
          <a:bodyPr wrap="square" lIns="0" rIns="0" tIns="0" bIns="0">
            <a:noAutofit/>
          </a:bodyPr>
          <a:lstStyle/>
          <a:p>
            <a:r>
              <a:rPr sz="1200" b="1">
                <a:solidFill>
                  <a:srgbClr val="1D1D1F"/>
                </a:solidFill>
                <a:latin typeface="Noto Sans JP"/>
              </a:rPr>
              <a:t>LayoutLMv3</a:t>
            </a:r>
          </a:p>
        </p:txBody>
      </p:sp>
      <p:pic>
        <p:nvPicPr>
          <p:cNvPr id="33" name="Picture 32" descr="image.png"/>
          <p:cNvPicPr>
            <a:picLocks noChangeAspect="1"/>
          </p:cNvPicPr>
          <p:nvPr/>
        </p:nvPicPr>
        <p:blipFill>
          <a:blip r:embed="rId6"/>
          <a:stretch>
            <a:fillRect/>
          </a:stretch>
        </p:blipFill>
        <p:spPr>
          <a:xfrm>
            <a:off x="1897380" y="5429707"/>
            <a:ext cx="333756" cy="200253"/>
          </a:xfrm>
          <a:prstGeom prst="rect">
            <a:avLst/>
          </a:prstGeom>
          <a:ln/>
        </p:spPr>
      </p:pic>
      <p:sp>
        <p:nvSpPr>
          <p:cNvPr id="34" name="TextBox 33"/>
          <p:cNvSpPr txBox="1"/>
          <p:nvPr/>
        </p:nvSpPr>
        <p:spPr>
          <a:xfrm>
            <a:off x="1897380" y="5429707"/>
            <a:ext cx="333756"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[69]</a:t>
            </a:r>
          </a:p>
        </p:txBody>
      </p:sp>
      <p:sp>
        <p:nvSpPr>
          <p:cNvPr id="35" name="TextBox 34"/>
          <p:cNvSpPr txBox="1"/>
          <p:nvPr/>
        </p:nvSpPr>
        <p:spPr>
          <a:xfrm>
            <a:off x="923544" y="5672938"/>
            <a:ext cx="3915460" cy="191110"/>
          </a:xfrm>
          <a:prstGeom prst="rect">
            <a:avLst/>
          </a:prstGeom>
          <a:noFill/>
          <a:ln/>
        </p:spPr>
        <p:txBody>
          <a:bodyPr wrap="square" lIns="0" rIns="0" tIns="0" bIns="0">
            <a:noAutofit/>
          </a:bodyPr>
          <a:lstStyle/>
          <a:p>
            <a:r>
              <a:rPr sz="1000">
                <a:solidFill>
                  <a:srgbClr val="4B5563"/>
                </a:solidFill>
                <a:latin typeface="Noto Sans JP"/>
              </a:rPr>
              <a:t>テキスト、画像、レイアウト情報を統合して文書理解を行う。</a:t>
            </a:r>
          </a:p>
        </p:txBody>
      </p:sp>
      <p:sp>
        <p:nvSpPr>
          <p:cNvPr id="36" name="Rectangle 35"/>
          <p:cNvSpPr/>
          <p:nvPr/>
        </p:nvSpPr>
        <p:spPr>
          <a:xfrm>
            <a:off x="6248095" y="2706624"/>
            <a:ext cx="5486400" cy="34006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86754" y="2992831"/>
            <a:ext cx="190195" cy="190194"/>
          </a:xfrm>
          <a:prstGeom prst="rect">
            <a:avLst/>
          </a:prstGeom>
          <a:ln/>
        </p:spPr>
      </p:pic>
      <p:sp>
        <p:nvSpPr>
          <p:cNvPr id="39" name="TextBox 38"/>
          <p:cNvSpPr txBox="1"/>
          <p:nvPr/>
        </p:nvSpPr>
        <p:spPr>
          <a:xfrm>
            <a:off x="6791249" y="2945282"/>
            <a:ext cx="1783079" cy="419709"/>
          </a:xfrm>
          <a:prstGeom prst="rect">
            <a:avLst/>
          </a:prstGeom>
          <a:noFill/>
          <a:ln/>
        </p:spPr>
        <p:txBody>
          <a:bodyPr wrap="square" lIns="0" rIns="0" tIns="0" bIns="0">
            <a:noAutofit/>
          </a:bodyPr>
          <a:lstStyle/>
          <a:p>
            <a:r>
              <a:rPr sz="1500" b="1">
                <a:solidFill>
                  <a:srgbClr val="1D1D1F"/>
                </a:solidFill>
                <a:latin typeface="Noto Sans JP"/>
              </a:rPr>
              <a:t>運用指針と使い分け</a:t>
            </a:r>
          </a:p>
        </p:txBody>
      </p:sp>
      <p:pic>
        <p:nvPicPr>
          <p:cNvPr id="40" name="Picture 39" descr="image.png"/>
          <p:cNvPicPr>
            <a:picLocks noChangeAspect="1"/>
          </p:cNvPicPr>
          <p:nvPr/>
        </p:nvPicPr>
        <p:blipFill>
          <a:blip r:embed="rId8"/>
          <a:stretch>
            <a:fillRect/>
          </a:stretch>
        </p:blipFill>
        <p:spPr>
          <a:xfrm>
            <a:off x="6486754" y="3516782"/>
            <a:ext cx="133501" cy="133501"/>
          </a:xfrm>
          <a:prstGeom prst="rect">
            <a:avLst/>
          </a:prstGeom>
          <a:ln/>
        </p:spPr>
      </p:pic>
      <p:sp>
        <p:nvSpPr>
          <p:cNvPr id="41" name="TextBox 40"/>
          <p:cNvSpPr txBox="1"/>
          <p:nvPr/>
        </p:nvSpPr>
        <p:spPr>
          <a:xfrm>
            <a:off x="6715354" y="3516782"/>
            <a:ext cx="3972154" cy="247801"/>
          </a:xfrm>
          <a:prstGeom prst="rect">
            <a:avLst/>
          </a:prstGeom>
          <a:noFill/>
          <a:ln/>
        </p:spPr>
        <p:txBody>
          <a:bodyPr wrap="square" lIns="0" rIns="0" tIns="0" bIns="0">
            <a:noAutofit/>
          </a:bodyPr>
          <a:lstStyle/>
          <a:p>
            <a:r>
              <a:rPr sz="1200" b="1">
                <a:solidFill>
                  <a:srgbClr val="1D1D1F"/>
                </a:solidFill>
                <a:latin typeface="Noto Sans JP"/>
              </a:rPr>
              <a:t>高品質スキャン・単純文書：</a:t>
            </a:r>
          </a:p>
        </p:txBody>
      </p:sp>
      <p:sp>
        <p:nvSpPr>
          <p:cNvPr id="42" name="TextBox 41"/>
          <p:cNvSpPr txBox="1"/>
          <p:nvPr/>
        </p:nvSpPr>
        <p:spPr>
          <a:xfrm>
            <a:off x="6715354" y="3798417"/>
            <a:ext cx="3972154" cy="191110"/>
          </a:xfrm>
          <a:prstGeom prst="rect">
            <a:avLst/>
          </a:prstGeom>
          <a:noFill/>
          <a:ln/>
        </p:spPr>
        <p:txBody>
          <a:bodyPr wrap="square" lIns="0" rIns="0" tIns="0" bIns="0">
            <a:noAutofit/>
          </a:bodyPr>
          <a:lstStyle/>
          <a:p>
            <a:r>
              <a:rPr sz="1000">
                <a:solidFill>
                  <a:srgbClr val="4B5563"/>
                </a:solidFill>
                <a:latin typeface="Noto Sans JP"/>
              </a:rPr>
              <a:t>Tesseractを採用。高速かつ軽量で、単純なテキスト化に最適。</a:t>
            </a:r>
          </a:p>
        </p:txBody>
      </p:sp>
      <p:pic>
        <p:nvPicPr>
          <p:cNvPr id="43" name="Picture 42" descr="image.png"/>
          <p:cNvPicPr>
            <a:picLocks noChangeAspect="1"/>
          </p:cNvPicPr>
          <p:nvPr/>
        </p:nvPicPr>
        <p:blipFill>
          <a:blip r:embed="rId8"/>
          <a:stretch>
            <a:fillRect/>
          </a:stretch>
        </p:blipFill>
        <p:spPr>
          <a:xfrm>
            <a:off x="6486754" y="4141317"/>
            <a:ext cx="133501" cy="133501"/>
          </a:xfrm>
          <a:prstGeom prst="rect">
            <a:avLst/>
          </a:prstGeom>
          <a:ln/>
        </p:spPr>
      </p:pic>
      <p:sp>
        <p:nvSpPr>
          <p:cNvPr id="44" name="TextBox 43"/>
          <p:cNvSpPr txBox="1"/>
          <p:nvPr/>
        </p:nvSpPr>
        <p:spPr>
          <a:xfrm>
            <a:off x="6715354" y="4141317"/>
            <a:ext cx="4972507" cy="247801"/>
          </a:xfrm>
          <a:prstGeom prst="rect">
            <a:avLst/>
          </a:prstGeom>
          <a:noFill/>
          <a:ln/>
        </p:spPr>
        <p:txBody>
          <a:bodyPr wrap="square" lIns="0" rIns="0" tIns="0" bIns="0">
            <a:noAutofit/>
          </a:bodyPr>
          <a:lstStyle/>
          <a:p>
            <a:r>
              <a:rPr sz="1200" b="1">
                <a:solidFill>
                  <a:srgbClr val="1D1D1F"/>
                </a:solidFill>
                <a:latin typeface="Noto Sans JP"/>
              </a:rPr>
              <a:t>低品質・複雑レイアウト・構造化：</a:t>
            </a:r>
          </a:p>
        </p:txBody>
      </p:sp>
      <p:sp>
        <p:nvSpPr>
          <p:cNvPr id="45" name="TextBox 44"/>
          <p:cNvSpPr txBox="1"/>
          <p:nvPr/>
        </p:nvSpPr>
        <p:spPr>
          <a:xfrm>
            <a:off x="6715354" y="4422953"/>
            <a:ext cx="4858207" cy="381305"/>
          </a:xfrm>
          <a:prstGeom prst="rect">
            <a:avLst/>
          </a:prstGeom>
          <a:noFill/>
          <a:ln/>
        </p:spPr>
        <p:txBody>
          <a:bodyPr wrap="square" lIns="0" rIns="0" tIns="0" bIns="0">
            <a:noAutofit/>
          </a:bodyPr>
          <a:lstStyle/>
          <a:p>
            <a:r>
              <a:rPr sz="1000">
                <a:solidFill>
                  <a:srgbClr val="4B5563"/>
                </a:solidFill>
                <a:latin typeface="Noto Sans JP"/>
              </a:rPr>
              <a:t>PaddleOCR、Donut、LayoutLMv3を採用。傾きやノイズに強く、フォームや表の理解が可能。</a:t>
            </a:r>
          </a:p>
        </p:txBody>
      </p:sp>
      <p:pic>
        <p:nvPicPr>
          <p:cNvPr id="46" name="Picture 45" descr="image.png"/>
          <p:cNvPicPr>
            <a:picLocks noChangeAspect="1"/>
          </p:cNvPicPr>
          <p:nvPr/>
        </p:nvPicPr>
        <p:blipFill>
          <a:blip r:embed="rId9"/>
          <a:stretch>
            <a:fillRect/>
          </a:stretch>
        </p:blipFill>
        <p:spPr>
          <a:xfrm>
            <a:off x="6486754" y="5563210"/>
            <a:ext cx="1171346" cy="267005"/>
          </a:xfrm>
          <a:prstGeom prst="rect">
            <a:avLst/>
          </a:prstGeom>
          <a:ln/>
        </p:spPr>
      </p:pic>
      <p:sp>
        <p:nvSpPr>
          <p:cNvPr id="47" name="TextBox 46"/>
          <p:cNvSpPr txBox="1"/>
          <p:nvPr/>
        </p:nvSpPr>
        <p:spPr>
          <a:xfrm>
            <a:off x="6486754" y="5563210"/>
            <a:ext cx="1172261"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Hybrid Strategy</a:t>
            </a:r>
          </a:p>
        </p:txBody>
      </p:sp>
      <p:pic>
        <p:nvPicPr>
          <p:cNvPr id="48" name="Picture 47" descr="image.png"/>
          <p:cNvPicPr>
            <a:picLocks noChangeAspect="1"/>
          </p:cNvPicPr>
          <p:nvPr/>
        </p:nvPicPr>
        <p:blipFill>
          <a:blip r:embed="rId10"/>
          <a:stretch>
            <a:fillRect/>
          </a:stretch>
        </p:blipFill>
        <p:spPr>
          <a:xfrm>
            <a:off x="7727594" y="5563210"/>
            <a:ext cx="1047902" cy="267005"/>
          </a:xfrm>
          <a:prstGeom prst="rect">
            <a:avLst/>
          </a:prstGeom>
          <a:ln/>
        </p:spPr>
      </p:pic>
      <p:sp>
        <p:nvSpPr>
          <p:cNvPr id="49" name="TextBox 48"/>
          <p:cNvSpPr txBox="1"/>
          <p:nvPr/>
        </p:nvSpPr>
        <p:spPr>
          <a:xfrm>
            <a:off x="7727594" y="5563210"/>
            <a:ext cx="1047902"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Layout Aware</a:t>
            </a:r>
          </a:p>
        </p:txBody>
      </p:sp>
      <p:pic>
        <p:nvPicPr>
          <p:cNvPr id="50" name="Picture 49" descr="image.png"/>
          <p:cNvPicPr>
            <a:picLocks noChangeAspect="1"/>
          </p:cNvPicPr>
          <p:nvPr/>
        </p:nvPicPr>
        <p:blipFill>
          <a:blip r:embed="rId11"/>
          <a:stretch>
            <a:fillRect/>
          </a:stretch>
        </p:blipFill>
        <p:spPr>
          <a:xfrm>
            <a:off x="8848649" y="5563210"/>
            <a:ext cx="1438350" cy="267005"/>
          </a:xfrm>
          <a:prstGeom prst="rect">
            <a:avLst/>
          </a:prstGeom>
          <a:ln/>
        </p:spPr>
      </p:pic>
      <p:sp>
        <p:nvSpPr>
          <p:cNvPr id="51" name="TextBox 50"/>
          <p:cNvSpPr txBox="1"/>
          <p:nvPr/>
        </p:nvSpPr>
        <p:spPr>
          <a:xfrm>
            <a:off x="8848649" y="5563210"/>
            <a:ext cx="1438350" cy="267005"/>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Structure Extraction</a:t>
            </a:r>
          </a:p>
        </p:txBody>
      </p:sp>
      <p:sp>
        <p:nvSpPr>
          <p:cNvPr id="52" name="Rectangle 51"/>
          <p:cNvSpPr/>
          <p:nvPr/>
        </p:nvSpPr>
        <p:spPr>
          <a:xfrm>
            <a:off x="457200" y="64062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mage.png"/>
          <p:cNvPicPr>
            <a:picLocks noChangeAspect="1"/>
          </p:cNvPicPr>
          <p:nvPr/>
        </p:nvPicPr>
        <p:blipFill>
          <a:blip r:embed="rId12"/>
          <a:stretch>
            <a:fillRect/>
          </a:stretch>
        </p:blipFill>
        <p:spPr>
          <a:xfrm>
            <a:off x="619049" y="6587338"/>
            <a:ext cx="133501" cy="171907"/>
          </a:xfrm>
          <a:prstGeom prst="rect">
            <a:avLst/>
          </a:prstGeom>
          <a:ln/>
        </p:spPr>
      </p:pic>
      <p:sp>
        <p:nvSpPr>
          <p:cNvPr id="54" name="TextBox 53"/>
          <p:cNvSpPr txBox="1"/>
          <p:nvPr/>
        </p:nvSpPr>
        <p:spPr>
          <a:xfrm>
            <a:off x="866850" y="6568135"/>
            <a:ext cx="10821010" cy="200254"/>
          </a:xfrm>
          <a:prstGeom prst="rect">
            <a:avLst/>
          </a:prstGeom>
          <a:noFill/>
          <a:ln/>
        </p:spPr>
        <p:txBody>
          <a:bodyPr wrap="square" lIns="0" rIns="0" tIns="0" bIns="0">
            <a:noAutofit/>
          </a:bodyPr>
          <a:lstStyle/>
          <a:p>
            <a:r>
              <a:rPr sz="1000" b="1">
                <a:solidFill>
                  <a:srgbClr val="78350F"/>
                </a:solidFill>
                <a:latin typeface="Noto Sans JP"/>
              </a:rPr>
              <a:t>RAG精度への影響（Key Takeaway）</a:t>
            </a:r>
          </a:p>
        </p:txBody>
      </p:sp>
      <p:sp>
        <p:nvSpPr>
          <p:cNvPr id="55" name="TextBox 54"/>
          <p:cNvSpPr txBox="1"/>
          <p:nvPr/>
        </p:nvSpPr>
        <p:spPr>
          <a:xfrm>
            <a:off x="866850" y="6805878"/>
            <a:ext cx="10782605" cy="400507"/>
          </a:xfrm>
          <a:prstGeom prst="rect">
            <a:avLst/>
          </a:prstGeom>
          <a:noFill/>
          <a:ln/>
        </p:spPr>
        <p:txBody>
          <a:bodyPr wrap="square" lIns="0" rIns="0" tIns="0" bIns="0">
            <a:noAutofit/>
          </a:bodyPr>
          <a:lstStyle/>
          <a:p>
            <a:r>
              <a:rPr sz="1000">
                <a:solidFill>
                  <a:srgbClr val="78350F"/>
                </a:solidFill>
                <a:latin typeface="Noto Sans JP"/>
              </a:rPr>
              <a:t>レイアウト情報の保持はRAGの回答精度に直結します。単なるテキスト抽出では表や図表の意味関係が失われるため、LayoutLMv3やDonutによる構造的理解が、特に業務文書RAGにおいて重要となります。</a:t>
            </a:r>
          </a:p>
        </p:txBody>
      </p:sp>
      <p:sp>
        <p:nvSpPr>
          <p:cNvPr id="56" name="Rectangle 55"/>
          <p:cNvSpPr/>
          <p:nvPr/>
        </p:nvSpPr>
        <p:spPr>
          <a:xfrm>
            <a:off x="0" y="7749540"/>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774954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775868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9" name="TextBox 58"/>
          <p:cNvSpPr txBox="1"/>
          <p:nvPr/>
        </p:nvSpPr>
        <p:spPr>
          <a:xfrm>
            <a:off x="11385194" y="7758683"/>
            <a:ext cx="428854" cy="171907"/>
          </a:xfrm>
          <a:prstGeom prst="rect">
            <a:avLst/>
          </a:prstGeom>
          <a:noFill/>
          <a:ln/>
        </p:spPr>
        <p:txBody>
          <a:bodyPr wrap="square" lIns="0" rIns="0" tIns="0" bIns="0">
            <a:noAutofit/>
          </a:bodyPr>
          <a:lstStyle/>
          <a:p>
            <a:r>
              <a:rPr sz="900">
                <a:solidFill>
                  <a:srgbClr val="86868B"/>
                </a:solidFill>
                <a:latin typeface="Noto Sans JP"/>
              </a:rPr>
              <a:t>33 / 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4315054" cy="381305"/>
          </a:xfrm>
          <a:prstGeom prst="rect">
            <a:avLst/>
          </a:prstGeom>
          <a:noFill/>
          <a:ln/>
        </p:spPr>
        <p:txBody>
          <a:bodyPr wrap="square" lIns="0" rIns="0" tIns="0" bIns="0">
            <a:noAutofit/>
          </a:bodyPr>
          <a:lstStyle/>
          <a:p>
            <a:r>
              <a:rPr sz="2100" b="1">
                <a:solidFill>
                  <a:srgbClr val="FFFFFF"/>
                </a:solidFill>
                <a:latin typeface="Noto Sans JP"/>
              </a:rPr>
              <a:t>OCR / Document AI（完全版表）</a:t>
            </a:r>
          </a:p>
        </p:txBody>
      </p:sp>
      <p:sp>
        <p:nvSpPr>
          <p:cNvPr id="8" name="TextBox 7"/>
          <p:cNvSpPr txBox="1"/>
          <p:nvPr/>
        </p:nvSpPr>
        <p:spPr>
          <a:xfrm>
            <a:off x="6995159" y="457200"/>
            <a:ext cx="5362956" cy="228600"/>
          </a:xfrm>
          <a:prstGeom prst="rect">
            <a:avLst/>
          </a:prstGeom>
          <a:noFill/>
          <a:ln/>
        </p:spPr>
        <p:txBody>
          <a:bodyPr wrap="square" lIns="0" rIns="0" tIns="0" bIns="0">
            <a:noAutofit/>
          </a:bodyPr>
          <a:lstStyle/>
          <a:p>
            <a:r>
              <a:rPr sz="1200">
                <a:solidFill>
                  <a:srgbClr val="A1A1A6"/>
                </a:solidFill>
                <a:latin typeface="Noto Sans JP"/>
              </a:rPr>
              <a:t>主要モデル詳細比較：Tesseract / PaddleOCR / Donut / LayoutLMv3</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93410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86820">
                <a:tc>
                  <a:txBody>
                    <a:bodyPr/>
                    <a:lstStyle/>
                    <a:p>
                      <a:r>
                        <a:t>代表モデル/方式</a:t>
                      </a:r>
                    </a:p>
                  </a:txBody>
                  <a:tcPr/>
                </a:tc>
                <a:tc>
                  <a:txBody>
                    <a:bodyPr/>
                    <a:lstStyle/>
                    <a:p>
                      <a:r>
                        <a:t>方式</a:t>
                      </a:r>
                    </a:p>
                  </a:txBody>
                  <a:tcPr/>
                </a:tc>
                <a:tc>
                  <a:txBody>
                    <a:bodyPr/>
                    <a:lstStyle/>
                    <a:p>
                      <a:r>
                        <a:t>推奨実行形態</a:t>
                      </a:r>
                    </a:p>
                  </a:txBody>
                  <a:tcPr/>
                </a:tc>
                <a:tc>
                  <a:txBody>
                    <a:bodyPr/>
                    <a:lstStyle/>
                    <a:p>
                      <a:r>
                        <a:t>得意/不得意（要点）</a:t>
                      </a:r>
                    </a:p>
                  </a:txBody>
                  <a:tcPr/>
                </a:tc>
                <a:tc>
                  <a:txBody>
                    <a:bodyPr/>
                    <a:lstStyle/>
                    <a:p>
                      <a:r>
                        <a:t>ランタイム相性</a:t>
                      </a:r>
                    </a:p>
                  </a:txBody>
                  <a:tcPr/>
                </a:tc>
              </a:tr>
              <a:tr h="986820">
                <a:tc>
                  <a:txBody>
                    <a:bodyPr/>
                    <a:lstStyle/>
                    <a:p>
                      <a:r>
                        <a:t>Tesseract OCR</a:t>
                      </a:r>
                    </a:p>
                    <a:p>
                      <a:r>
                        <a:t>Google[64]</a:t>
                      </a:r>
                    </a:p>
                  </a:txBody>
                  <a:tcPr/>
                </a:tc>
                <a:tc>
                  <a:txBody>
                    <a:bodyPr/>
                    <a:lstStyle/>
                    <a:p>
                      <a:r>
                        <a:t>古典OCR</a:t>
                      </a:r>
                    </a:p>
                    <a:p>
                      <a:r>
                        <a:t>+ LSTM</a:t>
                      </a:r>
                    </a:p>
                  </a:txBody>
                  <a:tcPr/>
                </a:tc>
                <a:tc>
                  <a:txBody>
                    <a:bodyPr/>
                    <a:lstStyle/>
                    <a:p>
                      <a:r>
                        <a:t>テキスト化基盤</a:t>
                      </a:r>
                    </a:p>
                    <a:p>
                      <a:r>
                        <a:t>スキャン品質高なら</a:t>
                      </a:r>
                    </a:p>
                    <a:p>
                      <a:r>
                        <a:t>CPUで十分</a:t>
                      </a:r>
                    </a:p>
                  </a:txBody>
                  <a:tcPr/>
                </a:tc>
                <a:tc>
                  <a:txBody>
                    <a:bodyPr/>
                    <a:lstStyle/>
                    <a:p>
                      <a:r>
                        <a:t>得意長年の実績と安定性</a:t>
                      </a:r>
                    </a:p>
                    <a:p>
                      <a:r>
                        <a:t>不得意複雑レイアウトや手書き文字は苦手</a:t>
                      </a:r>
                    </a:p>
                  </a:txBody>
                  <a:tcPr/>
                </a:tc>
                <a:tc>
                  <a:txBody>
                    <a:bodyPr/>
                    <a:lstStyle/>
                    <a:p>
                      <a:r>
                        <a:t>Cross-Platform:</a:t>
                      </a:r>
                    </a:p>
                    <a:p>
                      <a:r>
                        <a:t>Win/Mac/Linux問わず導入容易</a:t>
                      </a:r>
                    </a:p>
                  </a:txBody>
                  <a:tcPr/>
                </a:tc>
              </a:tr>
              <a:tr h="986820">
                <a:tc>
                  <a:txBody>
                    <a:bodyPr/>
                    <a:lstStyle/>
                    <a:p>
                      <a:r>
                        <a:t>PaddleOCR</a:t>
                      </a:r>
                    </a:p>
                    <a:p>
                      <a:r>
                        <a:t>Baidu[66]</a:t>
                      </a:r>
                    </a:p>
                  </a:txBody>
                  <a:tcPr/>
                </a:tc>
                <a:tc>
                  <a:txBody>
                    <a:bodyPr/>
                    <a:lstStyle/>
                    <a:p>
                      <a:r>
                        <a:t>Deep Learning</a:t>
                      </a:r>
                    </a:p>
                    <a:p>
                      <a:r>
                        <a:t>OCR</a:t>
                      </a:r>
                    </a:p>
                  </a:txBody>
                  <a:tcPr/>
                </a:tc>
                <a:tc>
                  <a:txBody>
                    <a:bodyPr/>
                    <a:lstStyle/>
                    <a:p>
                      <a:r>
                        <a:t>高精度・多機能</a:t>
                      </a:r>
                    </a:p>
                    <a:p>
                      <a:r>
                        <a:t>構造化出力向け</a:t>
                      </a:r>
                    </a:p>
                  </a:txBody>
                  <a:tcPr/>
                </a:tc>
                <a:tc>
                  <a:txBody>
                    <a:bodyPr/>
                    <a:lstStyle/>
                    <a:p>
                      <a:r>
                        <a:t>得意軽量かつ高精度な認識</a:t>
                      </a:r>
                    </a:p>
                    <a:p>
                      <a:r>
                        <a:t>特徴表認識やレイアウト解析機能も充実</a:t>
                      </a:r>
                    </a:p>
                  </a:txBody>
                  <a:tcPr/>
                </a:tc>
                <a:tc>
                  <a:txBody>
                    <a:bodyPr/>
                    <a:lstStyle/>
                    <a:p>
                      <a:r>
                        <a:t>Python / ONNX:</a:t>
                      </a:r>
                    </a:p>
                    <a:p>
                      <a:r>
                        <a:t>Python環境で容易に実装可能</a:t>
                      </a:r>
                    </a:p>
                  </a:txBody>
                  <a:tcPr/>
                </a:tc>
              </a:tr>
              <a:tr h="986820">
                <a:tc>
                  <a:txBody>
                    <a:bodyPr/>
                    <a:lstStyle/>
                    <a:p>
                      <a:r>
                        <a:t>Donut</a:t>
                      </a:r>
                    </a:p>
                    <a:p>
                      <a:r>
                        <a:t>Clova AI[68]</a:t>
                      </a:r>
                    </a:p>
                  </a:txBody>
                  <a:tcPr/>
                </a:tc>
                <a:tc>
                  <a:txBody>
                    <a:bodyPr/>
                    <a:lstStyle/>
                    <a:p>
                      <a:r>
                        <a:t>OCR-free</a:t>
                      </a:r>
                    </a:p>
                    <a:p>
                      <a:r>
                        <a:t>Transformer</a:t>
                      </a:r>
                    </a:p>
                  </a:txBody>
                  <a:tcPr/>
                </a:tc>
                <a:tc>
                  <a:txBody>
                    <a:bodyPr/>
                    <a:lstStyle/>
                    <a:p>
                      <a:r>
                        <a:t>Doc理解・抽出</a:t>
                      </a:r>
                    </a:p>
                    <a:p>
                      <a:r>
                        <a:t>画像から直接</a:t>
                      </a:r>
                    </a:p>
                    <a:p>
                      <a:r>
                        <a:t>JSON等へ</a:t>
                      </a:r>
                    </a:p>
                  </a:txBody>
                  <a:tcPr/>
                </a:tc>
                <a:tc>
                  <a:txBody>
                    <a:bodyPr/>
                    <a:lstStyle/>
                    <a:p>
                      <a:r>
                        <a:t>得意OCR誤りを経由せず直接情報抽出</a:t>
                      </a:r>
                    </a:p>
                    <a:p>
                      <a:r>
                        <a:t>特徴フォームや請求書等の定型文書に強み</a:t>
                      </a:r>
                    </a:p>
                  </a:txBody>
                  <a:tcPr/>
                </a:tc>
                <a:tc>
                  <a:txBody>
                    <a:bodyPr/>
                    <a:lstStyle/>
                    <a:p>
                      <a:r>
                        <a:t>Transformers:</a:t>
                      </a:r>
                    </a:p>
                    <a:p>
                      <a:r>
                        <a:t>Hugging Face Transformers対応</a:t>
                      </a:r>
                    </a:p>
                  </a:txBody>
                  <a:tcPr/>
                </a:tc>
              </a:tr>
              <a:tr h="986821">
                <a:tc>
                  <a:txBody>
                    <a:bodyPr/>
                    <a:lstStyle/>
                    <a:p>
                      <a:r>
                        <a:t>LayoutLMv3</a:t>
                      </a:r>
                    </a:p>
                    <a:p>
                      <a:r>
                        <a:t>Microsoft[69]</a:t>
                      </a:r>
                    </a:p>
                  </a:txBody>
                  <a:tcPr/>
                </a:tc>
                <a:tc>
                  <a:txBody>
                    <a:bodyPr/>
                    <a:lstStyle/>
                    <a:p>
                      <a:r>
                        <a:t>Multimodal</a:t>
                      </a:r>
                    </a:p>
                    <a:p>
                      <a:r>
                        <a:t>Transformer</a:t>
                      </a:r>
                    </a:p>
                  </a:txBody>
                  <a:tcPr/>
                </a:tc>
                <a:tc>
                  <a:txBody>
                    <a:bodyPr/>
                    <a:lstStyle/>
                    <a:p>
                      <a:r>
                        <a:t>レイアウト保持</a:t>
                      </a:r>
                    </a:p>
                    <a:p>
                      <a:r>
                        <a:t>文脈理解統合</a:t>
                      </a:r>
                    </a:p>
                  </a:txBody>
                  <a:tcPr/>
                </a:tc>
                <a:tc>
                  <a:txBody>
                    <a:bodyPr/>
                    <a:lstStyle/>
                    <a:p>
                      <a:r>
                        <a:t>得意視覚情報とテキスト情報を統合して理解</a:t>
                      </a:r>
                    </a:p>
                    <a:p>
                      <a:r>
                        <a:t>特徴表/図/レイアウト由来の欠落を補完[69]</a:t>
                      </a:r>
                    </a:p>
                  </a:txBody>
                  <a:tcPr/>
                </a:tc>
                <a:tc>
                  <a:txBody>
                    <a:bodyPr/>
                    <a:lstStyle/>
                    <a:p>
                      <a:r>
                        <a:t>Transformers / ONNX:</a:t>
                      </a:r>
                    </a:p>
                    <a:p>
                      <a:r>
                        <a:t>推論エンジンでの最適化が可能</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レイアウト保持の重要性：</a:t>
            </a:r>
            <a:r>
              <a:rPr sz="900">
                <a:solidFill>
                  <a:srgbClr val="5D4037"/>
                </a:solidFill>
                <a:latin typeface="Noto Sans JP"/>
              </a:rPr>
              <a:t>RAGにおいて、単なるテキスト化では図表やレイアウト構造に含まれる情報が欠落しがちです。PaddleOCRの構造化出力や、Donut/LayoutLMv3のようなDocument AIモデルを活用し、レイアウト情報を保持することが検索精度の向上に直結します。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34 | ローカルAI 技術調査レポート 2026</a:t>
            </a:r>
          </a:p>
        </p:txBody>
      </p:sp>
      <p:sp>
        <p:nvSpPr>
          <p:cNvPr id="19" name="TextBox 18"/>
          <p:cNvSpPr txBox="1"/>
          <p:nvPr/>
        </p:nvSpPr>
        <p:spPr>
          <a:xfrm>
            <a:off x="8970264" y="6586423"/>
            <a:ext cx="3299154" cy="162763"/>
          </a:xfrm>
          <a:prstGeom prst="rect">
            <a:avLst/>
          </a:prstGeom>
          <a:noFill/>
          <a:ln/>
        </p:spPr>
        <p:txBody>
          <a:bodyPr wrap="square" lIns="0" rIns="0" tIns="0" bIns="0">
            <a:noAutofit/>
          </a:bodyPr>
          <a:lstStyle/>
          <a:p>
            <a:r>
              <a:rPr sz="900">
                <a:solidFill>
                  <a:srgbClr val="86868B"/>
                </a:solidFill>
                <a:latin typeface="Noto Sans JP"/>
              </a:rPr>
              <a:t>Data Source: Technical Survey Report [64, 66, 68, 69]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p:spPr>
      </p:pic>
      <p:sp>
        <p:nvSpPr>
          <p:cNvPr id="8" name="TextBox 7"/>
          <p:cNvSpPr txBox="1"/>
          <p:nvPr/>
        </p:nvSpPr>
        <p:spPr>
          <a:xfrm>
            <a:off x="809244" y="176479"/>
            <a:ext cx="4182466" cy="400507"/>
          </a:xfrm>
          <a:prstGeom prst="rect">
            <a:avLst/>
          </a:prstGeom>
          <a:noFill/>
          <a:ln/>
        </p:spPr>
        <p:txBody>
          <a:bodyPr wrap="square" lIns="0" rIns="0" tIns="0" bIns="0">
            <a:noAutofit/>
          </a:bodyPr>
          <a:lstStyle/>
          <a:p>
            <a:r>
              <a:rPr sz="2100" b="1">
                <a:solidFill>
                  <a:srgbClr val="1D1D1F"/>
                </a:solidFill>
                <a:latin typeface="Noto Sans JP"/>
              </a:rPr>
              <a:t>OCR/Document AI採用判断基準</a:t>
            </a:r>
          </a:p>
        </p:txBody>
      </p:sp>
      <p:sp>
        <p:nvSpPr>
          <p:cNvPr id="9" name="TextBox 8"/>
          <p:cNvSpPr txBox="1"/>
          <p:nvPr/>
        </p:nvSpPr>
        <p:spPr>
          <a:xfrm>
            <a:off x="8489290" y="261518"/>
            <a:ext cx="3439058" cy="228600"/>
          </a:xfrm>
          <a:prstGeom prst="rect">
            <a:avLst/>
          </a:prstGeom>
          <a:noFill/>
          <a:ln/>
        </p:spPr>
        <p:txBody>
          <a:bodyPr wrap="square" lIns="0" rIns="0" tIns="0" bIns="0">
            <a:noAutofit/>
          </a:bodyPr>
          <a:lstStyle/>
          <a:p>
            <a:r>
              <a:rPr sz="1200">
                <a:solidFill>
                  <a:srgbClr val="86868B"/>
                </a:solidFill>
                <a:latin typeface="Noto Sans JP"/>
              </a:rPr>
              <a:t>リスク緩和のためのUX要件とハイブリッド構成</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p:spPr>
      </p:pic>
      <p:sp>
        <p:nvSpPr>
          <p:cNvPr id="12" name="TextBox 11"/>
          <p:cNvSpPr txBox="1"/>
          <p:nvPr/>
        </p:nvSpPr>
        <p:spPr>
          <a:xfrm>
            <a:off x="743407" y="1143000"/>
            <a:ext cx="10954512" cy="267005"/>
          </a:xfrm>
          <a:prstGeom prst="rect">
            <a:avLst/>
          </a:prstGeom>
          <a:noFill/>
          <a:ln/>
        </p:spPr>
        <p:txBody>
          <a:bodyPr wrap="square" lIns="0" rIns="0" tIns="0" bIns="0">
            <a:noAutofit/>
          </a:bodyPr>
          <a:lstStyle/>
          <a:p>
            <a:r>
              <a:rPr sz="1500" b="1">
                <a:solidFill>
                  <a:srgbClr val="1D1D1F"/>
                </a:solidFill>
                <a:latin typeface="Noto Sans JP"/>
              </a:rPr>
              <a:t>結論：誤読リスクをゼロにはできない前提で、前処理の標準化と「原文引用」による人間系確認のUXを要件化します。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p:spPr>
      </p:pic>
      <p:sp>
        <p:nvSpPr>
          <p:cNvPr id="18" name="Rectangle 17"/>
          <p:cNvSpPr/>
          <p:nvPr/>
        </p:nvSpPr>
        <p:spPr>
          <a:xfrm>
            <a:off x="457200"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p:spPr>
      </p:pic>
      <p:sp>
        <p:nvSpPr>
          <p:cNvPr id="22" name="TextBox 21"/>
          <p:cNvSpPr txBox="1"/>
          <p:nvPr/>
        </p:nvSpPr>
        <p:spPr>
          <a:xfrm>
            <a:off x="1057046" y="3854196"/>
            <a:ext cx="1163117" cy="228600"/>
          </a:xfrm>
          <a:prstGeom prst="rect">
            <a:avLst/>
          </a:prstGeom>
          <a:noFill/>
          <a:ln/>
        </p:spPr>
        <p:txBody>
          <a:bodyPr wrap="square" lIns="0" rIns="0" tIns="0" bIns="0">
            <a:noAutofit/>
          </a:bodyPr>
          <a:lstStyle/>
          <a:p>
            <a:r>
              <a:rPr sz="1200" b="1">
                <a:solidFill>
                  <a:srgbClr val="1D1D1F"/>
                </a:solidFill>
                <a:latin typeface="Noto Sans JP"/>
              </a:rPr>
              <a:t>前処理の標準化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p:spPr>
      </p:pic>
      <p:sp>
        <p:nvSpPr>
          <p:cNvPr id="24" name="TextBox 23"/>
          <p:cNvSpPr txBox="1"/>
          <p:nvPr/>
        </p:nvSpPr>
        <p:spPr>
          <a:xfrm>
            <a:off x="752551" y="4506163"/>
            <a:ext cx="3219602" cy="562355"/>
          </a:xfrm>
          <a:prstGeom prst="rect">
            <a:avLst/>
          </a:prstGeom>
          <a:noFill/>
          <a:ln/>
        </p:spPr>
        <p:txBody>
          <a:bodyPr wrap="square" lIns="0" rIns="0" tIns="0" bIns="0">
            <a:noAutofit/>
          </a:bodyPr>
          <a:lstStyle/>
          <a:p>
            <a:r>
              <a:rPr sz="900" b="1">
                <a:solidFill>
                  <a:srgbClr val="1D1D1F"/>
                </a:solidFill>
                <a:latin typeface="Noto Sans JP"/>
              </a:rPr>
              <a:t>品質の下限を担保</a:t>
            </a:r>
          </a:p>
          <a:p>
            <a:r>
              <a:rPr sz="900">
                <a:solidFill>
                  <a:srgbClr val="424245"/>
                </a:solidFill>
                <a:latin typeface="Noto Sans JP"/>
              </a:rPr>
              <a:t> 傾き補正、ノイズ除去、二値化をOCR前段に固定的に組み込むことで、認識精度のベースラインを確保。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p:spPr>
      </p:pic>
      <p:sp>
        <p:nvSpPr>
          <p:cNvPr id="26" name="TextBox 25"/>
          <p:cNvSpPr txBox="1"/>
          <p:nvPr/>
        </p:nvSpPr>
        <p:spPr>
          <a:xfrm>
            <a:off x="752551" y="5344668"/>
            <a:ext cx="3219602" cy="562356"/>
          </a:xfrm>
          <a:prstGeom prst="rect">
            <a:avLst/>
          </a:prstGeom>
          <a:noFill/>
          <a:ln/>
        </p:spPr>
        <p:txBody>
          <a:bodyPr wrap="square" lIns="0" rIns="0" tIns="0" bIns="0">
            <a:noAutofit/>
          </a:bodyPr>
          <a:lstStyle/>
          <a:p>
            <a:r>
              <a:rPr sz="900" b="1">
                <a:solidFill>
                  <a:srgbClr val="1D1D1F"/>
                </a:solidFill>
                <a:latin typeface="Noto Sans JP"/>
              </a:rPr>
              <a:t>画像の正規化</a:t>
            </a:r>
          </a:p>
          <a:p>
            <a:r>
              <a:rPr sz="900">
                <a:solidFill>
                  <a:srgbClr val="424245"/>
                </a:solidFill>
                <a:latin typeface="Noto Sans JP"/>
              </a:rPr>
              <a:t> 解像度やコントラストのバラつきを抑え、モデルの得意な入力形式に合わせる。 </a:t>
            </a:r>
          </a:p>
        </p:txBody>
      </p:sp>
      <p:sp>
        <p:nvSpPr>
          <p:cNvPr id="27" name="Rectangle 26"/>
          <p:cNvSpPr/>
          <p:nvPr/>
        </p:nvSpPr>
        <p:spPr>
          <a:xfrm>
            <a:off x="4280306"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56455" y="3901745"/>
            <a:ext cx="152705" cy="133501"/>
          </a:xfrm>
          <a:prstGeom prst="rect">
            <a:avLst/>
          </a:prstGeom>
          <a:ln/>
        </p:spPr>
      </p:pic>
      <p:sp>
        <p:nvSpPr>
          <p:cNvPr id="31" name="TextBox 30"/>
          <p:cNvSpPr txBox="1"/>
          <p:nvPr/>
        </p:nvSpPr>
        <p:spPr>
          <a:xfrm>
            <a:off x="4880153" y="3854196"/>
            <a:ext cx="1975103" cy="228600"/>
          </a:xfrm>
          <a:prstGeom prst="rect">
            <a:avLst/>
          </a:prstGeom>
          <a:noFill/>
          <a:ln/>
        </p:spPr>
        <p:txBody>
          <a:bodyPr wrap="square" lIns="0" rIns="0" tIns="0" bIns="0">
            <a:noAutofit/>
          </a:bodyPr>
          <a:lstStyle/>
          <a:p>
            <a:r>
              <a:rPr sz="1200" b="1">
                <a:solidFill>
                  <a:srgbClr val="1D1D1F"/>
                </a:solidFill>
                <a:latin typeface="Noto Sans JP"/>
              </a:rPr>
              <a:t>高品質方針：ハイブリッド</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p:spPr>
      </p:pic>
      <p:sp>
        <p:nvSpPr>
          <p:cNvPr id="33" name="TextBox 32"/>
          <p:cNvSpPr txBox="1"/>
          <p:nvPr/>
        </p:nvSpPr>
        <p:spPr>
          <a:xfrm>
            <a:off x="4574743" y="4506163"/>
            <a:ext cx="3219602" cy="743407"/>
          </a:xfrm>
          <a:prstGeom prst="rect">
            <a:avLst/>
          </a:prstGeom>
          <a:noFill/>
          <a:ln/>
        </p:spPr>
        <p:txBody>
          <a:bodyPr wrap="square" lIns="0" rIns="0" tIns="0" bIns="0">
            <a:noAutofit/>
          </a:bodyPr>
          <a:lstStyle/>
          <a:p>
            <a:r>
              <a:rPr sz="900" b="1">
                <a:solidFill>
                  <a:srgbClr val="1D1D1F"/>
                </a:solidFill>
                <a:latin typeface="Noto Sans JP"/>
              </a:rPr>
              <a:t>構造化とレイアウト保持</a:t>
            </a:r>
          </a:p>
          <a:p>
            <a:r>
              <a:rPr sz="900">
                <a:solidFill>
                  <a:srgbClr val="424245"/>
                </a:solidFill>
                <a:latin typeface="Noto Sans JP"/>
              </a:rPr>
              <a:t> PaddleOCRでテキスト構造化を行い、Donut/LayoutLMv3でレイアウト情報を保持してRAG連携精度を高める。 </a:t>
            </a:r>
          </a:p>
        </p:txBody>
      </p:sp>
      <p:pic>
        <p:nvPicPr>
          <p:cNvPr id="34" name="Picture 33" descr="image.png"/>
          <p:cNvPicPr>
            <a:picLocks noChangeAspect="1"/>
          </p:cNvPicPr>
          <p:nvPr/>
        </p:nvPicPr>
        <p:blipFill>
          <a:blip r:embed="rId6"/>
          <a:stretch>
            <a:fillRect/>
          </a:stretch>
        </p:blipFill>
        <p:spPr>
          <a:xfrm>
            <a:off x="4479646" y="5404104"/>
            <a:ext cx="95098" cy="95098"/>
          </a:xfrm>
          <a:prstGeom prst="rect">
            <a:avLst/>
          </a:prstGeom>
          <a:ln/>
        </p:spPr>
      </p:pic>
      <p:sp>
        <p:nvSpPr>
          <p:cNvPr id="35" name="TextBox 34"/>
          <p:cNvSpPr txBox="1"/>
          <p:nvPr/>
        </p:nvSpPr>
        <p:spPr>
          <a:xfrm>
            <a:off x="4574743" y="5530291"/>
            <a:ext cx="3219602" cy="562355"/>
          </a:xfrm>
          <a:prstGeom prst="rect">
            <a:avLst/>
          </a:prstGeom>
          <a:noFill/>
          <a:ln/>
        </p:spPr>
        <p:txBody>
          <a:bodyPr wrap="square" lIns="0" rIns="0" tIns="0" bIns="0">
            <a:noAutofit/>
          </a:bodyPr>
          <a:lstStyle/>
          <a:p>
            <a:r>
              <a:rPr sz="900" b="1">
                <a:solidFill>
                  <a:srgbClr val="1D1D1F"/>
                </a:solidFill>
                <a:latin typeface="Noto Sans JP"/>
              </a:rPr>
              <a:t>図表・UIへの対応</a:t>
            </a:r>
          </a:p>
          <a:p>
            <a:r>
              <a:rPr sz="900">
                <a:solidFill>
                  <a:srgbClr val="424245"/>
                </a:solidFill>
                <a:latin typeface="Noto Sans JP"/>
              </a:rPr>
              <a:t> 複雑な図表やUIスクショはVLMとOCRを併用し、視覚情報と文字情報を相互補完させて堅牢化する。 </a:t>
            </a:r>
          </a:p>
        </p:txBody>
      </p:sp>
      <p:sp>
        <p:nvSpPr>
          <p:cNvPr id="36" name="Rectangle 35"/>
          <p:cNvSpPr/>
          <p:nvPr/>
        </p:nvSpPr>
        <p:spPr>
          <a:xfrm>
            <a:off x="8102497" y="3615538"/>
            <a:ext cx="3638398" cy="2676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69502" y="3901745"/>
            <a:ext cx="171907" cy="133501"/>
          </a:xfrm>
          <a:prstGeom prst="rect">
            <a:avLst/>
          </a:prstGeom>
          <a:ln/>
        </p:spPr>
      </p:pic>
      <p:sp>
        <p:nvSpPr>
          <p:cNvPr id="40" name="TextBox 39"/>
          <p:cNvSpPr txBox="1"/>
          <p:nvPr/>
        </p:nvSpPr>
        <p:spPr>
          <a:xfrm>
            <a:off x="8702345" y="3854196"/>
            <a:ext cx="1049731" cy="228600"/>
          </a:xfrm>
          <a:prstGeom prst="rect">
            <a:avLst/>
          </a:prstGeom>
          <a:noFill/>
          <a:ln/>
        </p:spPr>
        <p:txBody>
          <a:bodyPr wrap="square" lIns="0" rIns="0" tIns="0" bIns="0">
            <a:noAutofit/>
          </a:bodyPr>
          <a:lstStyle/>
          <a:p>
            <a:r>
              <a:rPr sz="1200" b="1">
                <a:solidFill>
                  <a:srgbClr val="1D1D1F"/>
                </a:solidFill>
                <a:latin typeface="Noto Sans JP"/>
              </a:rPr>
              <a:t>UX要件と運用</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p:spPr>
      </p:pic>
      <p:sp>
        <p:nvSpPr>
          <p:cNvPr id="42" name="TextBox 41"/>
          <p:cNvSpPr txBox="1"/>
          <p:nvPr/>
        </p:nvSpPr>
        <p:spPr>
          <a:xfrm>
            <a:off x="8397850" y="4506163"/>
            <a:ext cx="3219602" cy="562355"/>
          </a:xfrm>
          <a:prstGeom prst="rect">
            <a:avLst/>
          </a:prstGeom>
          <a:noFill/>
          <a:ln/>
        </p:spPr>
        <p:txBody>
          <a:bodyPr wrap="square" lIns="0" rIns="0" tIns="0" bIns="0">
            <a:noAutofit/>
          </a:bodyPr>
          <a:lstStyle/>
          <a:p>
            <a:r>
              <a:rPr sz="900" b="1">
                <a:solidFill>
                  <a:srgbClr val="1D1D1F"/>
                </a:solidFill>
                <a:latin typeface="Noto Sans JP"/>
              </a:rPr>
              <a:t>原文スニペット引用</a:t>
            </a:r>
          </a:p>
          <a:p>
            <a:r>
              <a:rPr sz="900">
                <a:solidFill>
                  <a:srgbClr val="424245"/>
                </a:solidFill>
                <a:latin typeface="Noto Sans JP"/>
              </a:rPr>
              <a:t> AI回答の根拠となった原文箇所（画像切り出し等）を提示し、ユーザーが誤読を検証できるUXを必須化。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p:spPr>
      </p:pic>
      <p:sp>
        <p:nvSpPr>
          <p:cNvPr id="44" name="TextBox 43"/>
          <p:cNvSpPr txBox="1"/>
          <p:nvPr/>
        </p:nvSpPr>
        <p:spPr>
          <a:xfrm>
            <a:off x="8397850" y="5344668"/>
            <a:ext cx="3219602" cy="562356"/>
          </a:xfrm>
          <a:prstGeom prst="rect">
            <a:avLst/>
          </a:prstGeom>
          <a:noFill/>
          <a:ln/>
        </p:spPr>
        <p:txBody>
          <a:bodyPr wrap="square" lIns="0" rIns="0" tIns="0" bIns="0">
            <a:noAutofit/>
          </a:bodyPr>
          <a:lstStyle/>
          <a:p>
            <a:r>
              <a:rPr sz="900" b="1">
                <a:solidFill>
                  <a:srgbClr val="1D1D1F"/>
                </a:solidFill>
                <a:latin typeface="Noto Sans JP"/>
              </a:rPr>
              <a:t>夜間バッチへのオフロード</a:t>
            </a:r>
          </a:p>
          <a:p>
            <a:r>
              <a:rPr sz="900">
                <a:solidFill>
                  <a:srgbClr val="424245"/>
                </a:solidFill>
                <a:latin typeface="Noto Sans JP"/>
              </a:rPr>
              <a:t> 重いOCR/Embedding処理は夜間に回し、日中のリソースは検索と短い回答生成に集中させる。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p:spPr>
      </p:pic>
      <p:sp>
        <p:nvSpPr>
          <p:cNvPr id="46" name="TextBox 45"/>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35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p:spPr>
      </p:pic>
      <p:sp>
        <p:nvSpPr>
          <p:cNvPr id="48" name="TextBox 47"/>
          <p:cNvSpPr txBox="1"/>
          <p:nvPr/>
        </p:nvSpPr>
        <p:spPr>
          <a:xfrm>
            <a:off x="1398118"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1</a:t>
            </a:r>
          </a:p>
        </p:txBody>
      </p:sp>
      <p:sp>
        <p:nvSpPr>
          <p:cNvPr id="49" name="TextBox 48"/>
          <p:cNvSpPr txBox="1"/>
          <p:nvPr/>
        </p:nvSpPr>
        <p:spPr>
          <a:xfrm>
            <a:off x="1322222" y="2562149"/>
            <a:ext cx="609904" cy="200254"/>
          </a:xfrm>
          <a:prstGeom prst="rect">
            <a:avLst/>
          </a:prstGeom>
          <a:noFill/>
          <a:ln/>
        </p:spPr>
        <p:txBody>
          <a:bodyPr wrap="square" lIns="0" rIns="0" tIns="0" bIns="0">
            <a:noAutofit/>
          </a:bodyPr>
          <a:lstStyle/>
          <a:p>
            <a:r>
              <a:rPr sz="1000" b="1">
                <a:solidFill>
                  <a:srgbClr val="1D1D1F"/>
                </a:solidFill>
                <a:latin typeface="Noto Sans JP"/>
              </a:rPr>
              <a:t>品質評価</a:t>
            </a:r>
          </a:p>
        </p:txBody>
      </p:sp>
      <p:sp>
        <p:nvSpPr>
          <p:cNvPr id="50" name="TextBox 49"/>
          <p:cNvSpPr txBox="1"/>
          <p:nvPr/>
        </p:nvSpPr>
        <p:spPr>
          <a:xfrm>
            <a:off x="1022299" y="2838298"/>
            <a:ext cx="1209751" cy="277062"/>
          </a:xfrm>
          <a:prstGeom prst="rect">
            <a:avLst/>
          </a:prstGeom>
          <a:noFill/>
          <a:ln/>
        </p:spPr>
        <p:txBody>
          <a:bodyPr wrap="square" lIns="0" rIns="0" tIns="0" bIns="0">
            <a:noAutofit/>
          </a:bodyPr>
          <a:lstStyle/>
          <a:p>
            <a:r>
              <a:rPr sz="800">
                <a:solidFill>
                  <a:srgbClr val="6E6E73"/>
                </a:solidFill>
                <a:latin typeface="Noto Sans JP"/>
              </a:rPr>
              <a:t>スキャン品質と</a:t>
            </a:r>
          </a:p>
          <a:p>
            <a:r>
              <a:rPr sz="800">
                <a:solidFill>
                  <a:srgbClr val="6E6E73"/>
                </a:solidFill>
                <a:latin typeface="Noto Sans JP"/>
              </a:rPr>
              <a:t>レイアウト複雑度を確認</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p:spPr>
      </p:pic>
      <p:sp>
        <p:nvSpPr>
          <p:cNvPr id="52" name="TextBox 51"/>
          <p:cNvSpPr txBox="1"/>
          <p:nvPr/>
        </p:nvSpPr>
        <p:spPr>
          <a:xfrm>
            <a:off x="3632910"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2</a:t>
            </a:r>
          </a:p>
        </p:txBody>
      </p:sp>
      <p:sp>
        <p:nvSpPr>
          <p:cNvPr id="53" name="TextBox 52"/>
          <p:cNvSpPr txBox="1"/>
          <p:nvPr/>
        </p:nvSpPr>
        <p:spPr>
          <a:xfrm>
            <a:off x="3622853" y="2562149"/>
            <a:ext cx="476401" cy="200254"/>
          </a:xfrm>
          <a:prstGeom prst="rect">
            <a:avLst/>
          </a:prstGeom>
          <a:noFill/>
          <a:ln/>
        </p:spPr>
        <p:txBody>
          <a:bodyPr wrap="square" lIns="0" rIns="0" tIns="0" bIns="0">
            <a:noAutofit/>
          </a:bodyPr>
          <a:lstStyle/>
          <a:p>
            <a:r>
              <a:rPr sz="1000" b="1">
                <a:solidFill>
                  <a:srgbClr val="1D1D1F"/>
                </a:solidFill>
                <a:latin typeface="Noto Sans JP"/>
              </a:rPr>
              <a:t>前処理</a:t>
            </a:r>
          </a:p>
        </p:txBody>
      </p:sp>
      <p:sp>
        <p:nvSpPr>
          <p:cNvPr id="54" name="TextBox 53"/>
          <p:cNvSpPr txBox="1"/>
          <p:nvPr/>
        </p:nvSpPr>
        <p:spPr>
          <a:xfrm>
            <a:off x="3361334" y="2838298"/>
            <a:ext cx="1000353" cy="277062"/>
          </a:xfrm>
          <a:prstGeom prst="rect">
            <a:avLst/>
          </a:prstGeom>
          <a:noFill/>
          <a:ln/>
        </p:spPr>
        <p:txBody>
          <a:bodyPr wrap="square" lIns="0" rIns="0" tIns="0" bIns="0">
            <a:noAutofit/>
          </a:bodyPr>
          <a:lstStyle/>
          <a:p>
            <a:r>
              <a:rPr sz="800">
                <a:solidFill>
                  <a:srgbClr val="6E6E73"/>
                </a:solidFill>
                <a:latin typeface="Noto Sans JP"/>
              </a:rPr>
              <a:t>傾き補正・二値化の</a:t>
            </a:r>
          </a:p>
          <a:p>
            <a:r>
              <a:rPr sz="800">
                <a:solidFill>
                  <a:srgbClr val="6E6E73"/>
                </a:solidFill>
                <a:latin typeface="Noto Sans JP"/>
              </a:rPr>
              <a:t>標準パイプライン化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p:spPr>
      </p:pic>
      <p:sp>
        <p:nvSpPr>
          <p:cNvPr id="56" name="TextBox 55"/>
          <p:cNvSpPr txBox="1"/>
          <p:nvPr/>
        </p:nvSpPr>
        <p:spPr>
          <a:xfrm>
            <a:off x="5867705"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3</a:t>
            </a:r>
          </a:p>
        </p:txBody>
      </p:sp>
      <p:sp>
        <p:nvSpPr>
          <p:cNvPr id="57" name="TextBox 56"/>
          <p:cNvSpPr txBox="1"/>
          <p:nvPr/>
        </p:nvSpPr>
        <p:spPr>
          <a:xfrm>
            <a:off x="5724144" y="2562149"/>
            <a:ext cx="743407" cy="200254"/>
          </a:xfrm>
          <a:prstGeom prst="rect">
            <a:avLst/>
          </a:prstGeom>
          <a:noFill/>
          <a:ln/>
        </p:spPr>
        <p:txBody>
          <a:bodyPr wrap="square" lIns="0" rIns="0" tIns="0" bIns="0">
            <a:noAutofit/>
          </a:bodyPr>
          <a:lstStyle/>
          <a:p>
            <a:r>
              <a:rPr sz="1000" b="1">
                <a:solidFill>
                  <a:srgbClr val="1D1D1F"/>
                </a:solidFill>
                <a:latin typeface="Noto Sans JP"/>
              </a:rPr>
              <a:t>モデル選択</a:t>
            </a:r>
          </a:p>
        </p:txBody>
      </p:sp>
      <p:sp>
        <p:nvSpPr>
          <p:cNvPr id="58" name="TextBox 57"/>
          <p:cNvSpPr txBox="1"/>
          <p:nvPr/>
        </p:nvSpPr>
        <p:spPr>
          <a:xfrm>
            <a:off x="5589727" y="2838298"/>
            <a:ext cx="1019556" cy="277062"/>
          </a:xfrm>
          <a:prstGeom prst="rect">
            <a:avLst/>
          </a:prstGeom>
          <a:noFill/>
          <a:ln/>
        </p:spPr>
        <p:txBody>
          <a:bodyPr wrap="square" lIns="0" rIns="0" tIns="0" bIns="0">
            <a:noAutofit/>
          </a:bodyPr>
          <a:lstStyle/>
          <a:p>
            <a:r>
              <a:rPr sz="800">
                <a:solidFill>
                  <a:srgbClr val="6E6E73"/>
                </a:solidFill>
                <a:latin typeface="Noto Sans JP"/>
              </a:rPr>
              <a:t>PaddleOCR(構造化)</a:t>
            </a:r>
          </a:p>
          <a:p>
            <a:r>
              <a:rPr sz="800">
                <a:solidFill>
                  <a:srgbClr val="6E6E73"/>
                </a:solidFill>
                <a:latin typeface="Noto Sans JP"/>
              </a:rPr>
              <a:t>+Donut(レイアウト)</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p:spPr>
      </p:pic>
      <p:sp>
        <p:nvSpPr>
          <p:cNvPr id="60" name="TextBox 59"/>
          <p:cNvSpPr txBox="1"/>
          <p:nvPr/>
        </p:nvSpPr>
        <p:spPr>
          <a:xfrm>
            <a:off x="8101583"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4</a:t>
            </a:r>
          </a:p>
        </p:txBody>
      </p:sp>
      <p:sp>
        <p:nvSpPr>
          <p:cNvPr id="61" name="TextBox 60"/>
          <p:cNvSpPr txBox="1"/>
          <p:nvPr/>
        </p:nvSpPr>
        <p:spPr>
          <a:xfrm>
            <a:off x="8001914" y="2562149"/>
            <a:ext cx="667512" cy="200254"/>
          </a:xfrm>
          <a:prstGeom prst="rect">
            <a:avLst/>
          </a:prstGeom>
          <a:noFill/>
          <a:ln/>
        </p:spPr>
        <p:txBody>
          <a:bodyPr wrap="square" lIns="0" rIns="0" tIns="0" bIns="0">
            <a:noAutofit/>
          </a:bodyPr>
          <a:lstStyle/>
          <a:p>
            <a:r>
              <a:rPr sz="1000" b="1">
                <a:solidFill>
                  <a:srgbClr val="1D1D1F"/>
                </a:solidFill>
                <a:latin typeface="Noto Sans JP"/>
              </a:rPr>
              <a:t>UX要件化</a:t>
            </a:r>
          </a:p>
        </p:txBody>
      </p:sp>
      <p:sp>
        <p:nvSpPr>
          <p:cNvPr id="62" name="TextBox 61"/>
          <p:cNvSpPr txBox="1"/>
          <p:nvPr/>
        </p:nvSpPr>
        <p:spPr>
          <a:xfrm>
            <a:off x="7777886" y="2838298"/>
            <a:ext cx="1105510" cy="277062"/>
          </a:xfrm>
          <a:prstGeom prst="rect">
            <a:avLst/>
          </a:prstGeom>
          <a:noFill/>
          <a:ln/>
        </p:spPr>
        <p:txBody>
          <a:bodyPr wrap="square" lIns="0" rIns="0" tIns="0" bIns="0">
            <a:noAutofit/>
          </a:bodyPr>
          <a:lstStyle/>
          <a:p>
            <a:r>
              <a:rPr sz="800">
                <a:solidFill>
                  <a:srgbClr val="6E6E73"/>
                </a:solidFill>
                <a:latin typeface="Noto Sans JP"/>
              </a:rPr>
              <a:t>原文スニペット表示で</a:t>
            </a:r>
          </a:p>
          <a:p>
            <a:r>
              <a:rPr sz="800">
                <a:solidFill>
                  <a:srgbClr val="6E6E73"/>
                </a:solidFill>
                <a:latin typeface="Noto Sans JP"/>
              </a:rPr>
              <a:t>誤読リスクを緩和</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p:spPr>
      </p:pic>
      <p:sp>
        <p:nvSpPr>
          <p:cNvPr id="64" name="TextBox 63"/>
          <p:cNvSpPr txBox="1"/>
          <p:nvPr/>
        </p:nvSpPr>
        <p:spPr>
          <a:xfrm>
            <a:off x="10336378"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noFill/>
          <a:ln/>
        </p:spPr>
        <p:txBody>
          <a:bodyPr wrap="square" lIns="0" rIns="0" tIns="0" bIns="0">
            <a:noAutofit/>
          </a:bodyPr>
          <a:lstStyle/>
          <a:p>
            <a:r>
              <a:rPr sz="1000" b="1">
                <a:solidFill>
                  <a:srgbClr val="1D1D1F"/>
                </a:solidFill>
                <a:latin typeface="Noto Sans JP"/>
              </a:rPr>
              <a:t>運用設計</a:t>
            </a:r>
          </a:p>
        </p:txBody>
      </p:sp>
      <p:sp>
        <p:nvSpPr>
          <p:cNvPr id="66" name="TextBox 65"/>
          <p:cNvSpPr txBox="1"/>
          <p:nvPr/>
        </p:nvSpPr>
        <p:spPr>
          <a:xfrm>
            <a:off x="10076688" y="2838298"/>
            <a:ext cx="981150" cy="277062"/>
          </a:xfrm>
          <a:prstGeom prst="rect">
            <a:avLst/>
          </a:prstGeom>
          <a:noFill/>
          <a:ln/>
        </p:spPr>
        <p:txBody>
          <a:bodyPr wrap="square" lIns="0" rIns="0" tIns="0" bIns="0">
            <a:noAutofit/>
          </a:bodyPr>
          <a:lstStyle/>
          <a:p>
            <a:r>
              <a:rPr sz="800">
                <a:solidFill>
                  <a:srgbClr val="6E6E73"/>
                </a:solidFill>
                <a:latin typeface="Noto Sans JP"/>
              </a:rPr>
              <a:t>OCR/Embeddingは</a:t>
            </a:r>
          </a:p>
          <a:p>
            <a:r>
              <a:rPr sz="800">
                <a:solidFill>
                  <a:srgbClr val="6E6E73"/>
                </a:solidFill>
                <a:latin typeface="Noto Sans JP"/>
              </a:rPr>
              <a:t>夜間バッチ処理へ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4007815" cy="457200"/>
          </a:xfrm>
          <a:prstGeom prst="rect">
            <a:avLst/>
          </a:prstGeom>
          <a:noFill/>
          <a:ln/>
        </p:spPr>
        <p:txBody>
          <a:bodyPr wrap="square" lIns="0" rIns="0" tIns="0" bIns="0">
            <a:noAutofit/>
          </a:bodyPr>
          <a:lstStyle/>
          <a:p>
            <a:r>
              <a:rPr sz="2400" b="1">
                <a:solidFill>
                  <a:srgbClr val="1D1D1F"/>
                </a:solidFill>
                <a:latin typeface="Noto Sans JP"/>
              </a:rPr>
              <a:t>画像生成（Diffusion）概要</a:t>
            </a:r>
          </a:p>
        </p:txBody>
      </p:sp>
      <p:sp>
        <p:nvSpPr>
          <p:cNvPr id="9" name="TextBox 8"/>
          <p:cNvSpPr txBox="1"/>
          <p:nvPr/>
        </p:nvSpPr>
        <p:spPr>
          <a:xfrm>
            <a:off x="8994953" y="328270"/>
            <a:ext cx="2934310" cy="257861"/>
          </a:xfrm>
          <a:prstGeom prst="rect">
            <a:avLst/>
          </a:prstGeom>
          <a:noFill/>
          <a:ln/>
        </p:spPr>
        <p:txBody>
          <a:bodyPr wrap="square" lIns="0" rIns="0" tIns="0" bIns="0">
            <a:noAutofit/>
          </a:bodyPr>
          <a:lstStyle/>
          <a:p>
            <a:r>
              <a:rPr sz="1300">
                <a:solidFill>
                  <a:srgbClr val="86868B"/>
                </a:solidFill>
                <a:latin typeface="Noto Sans JP"/>
              </a:rPr>
              <a:t>モデル・ランタイム・実務ポイント</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結論：画像生成は</a:t>
            </a:r>
            <a:r>
              <a:rPr sz="1800" b="1">
                <a:solidFill>
                  <a:srgbClr val="2563EB"/>
                </a:solidFill>
                <a:latin typeface="Noto Sans JP"/>
              </a:rPr>
              <a:t>SDXL</a:t>
            </a:r>
            <a:r>
              <a:rPr sz="1800" b="1">
                <a:solidFill>
                  <a:srgbClr val="1D1D1F"/>
                </a:solidFill>
                <a:latin typeface="Noto Sans JP"/>
              </a:rPr>
              <a:t>を軸に、ComfyUI/SD WebUIで運用。</a:t>
            </a:r>
          </a:p>
          <a:p>
            <a:r>
              <a:rPr sz="1800" b="1">
                <a:solidFill>
                  <a:srgbClr val="1D1D1F"/>
                </a:solidFill>
                <a:latin typeface="Noto Sans JP"/>
              </a:rPr>
              <a:t> FLUX等はライセンス精査が必須であり、VRAM要件はワークフローに依存します。 </a:t>
            </a:r>
          </a:p>
        </p:txBody>
      </p:sp>
      <p:sp>
        <p:nvSpPr>
          <p:cNvPr id="12" name="Rectangle 11"/>
          <p:cNvSpPr/>
          <p:nvPr/>
        </p:nvSpPr>
        <p:spPr>
          <a:xfrm>
            <a:off x="457200"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219456" cy="190194"/>
          </a:xfrm>
          <a:prstGeom prst="rect">
            <a:avLst/>
          </a:prstGeom>
          <a:ln/>
        </p:spPr>
      </p:pic>
      <p:sp>
        <p:nvSpPr>
          <p:cNvPr id="15" name="TextBox 14"/>
          <p:cNvSpPr txBox="1"/>
          <p:nvPr/>
        </p:nvSpPr>
        <p:spPr>
          <a:xfrm>
            <a:off x="1028700" y="2945282"/>
            <a:ext cx="2619755" cy="419709"/>
          </a:xfrm>
          <a:prstGeom prst="rect">
            <a:avLst/>
          </a:prstGeom>
          <a:noFill/>
          <a:ln/>
        </p:spPr>
        <p:txBody>
          <a:bodyPr wrap="square" lIns="0" rIns="0" tIns="0" bIns="0">
            <a:noAutofit/>
          </a:bodyPr>
          <a:lstStyle/>
          <a:p>
            <a:r>
              <a:rPr sz="1500" b="1">
                <a:solidFill>
                  <a:srgbClr val="1D1D1F"/>
                </a:solidFill>
                <a:latin typeface="Noto Sans JP"/>
              </a:rPr>
              <a:t>主要モデルとUI（Runtime）</a:t>
            </a:r>
          </a:p>
        </p:txBody>
      </p:sp>
      <p:pic>
        <p:nvPicPr>
          <p:cNvPr id="16" name="Picture 15" descr="image.png"/>
          <p:cNvPicPr>
            <a:picLocks noChangeAspect="1"/>
          </p:cNvPicPr>
          <p:nvPr/>
        </p:nvPicPr>
        <p:blipFill>
          <a:blip r:embed="rId5"/>
          <a:stretch>
            <a:fillRect/>
          </a:stretch>
        </p:blipFill>
        <p:spPr>
          <a:xfrm>
            <a:off x="694944" y="3516782"/>
            <a:ext cx="105156" cy="114300"/>
          </a:xfrm>
          <a:prstGeom prst="rect">
            <a:avLst/>
          </a:prstGeom>
          <a:ln/>
        </p:spPr>
      </p:pic>
      <p:sp>
        <p:nvSpPr>
          <p:cNvPr id="17" name="TextBox 16"/>
          <p:cNvSpPr txBox="1"/>
          <p:nvPr/>
        </p:nvSpPr>
        <p:spPr>
          <a:xfrm>
            <a:off x="895197" y="3760013"/>
            <a:ext cx="4886554" cy="495605"/>
          </a:xfrm>
          <a:prstGeom prst="rect">
            <a:avLst/>
          </a:prstGeom>
          <a:noFill/>
          <a:ln/>
        </p:spPr>
        <p:txBody>
          <a:bodyPr wrap="square" lIns="0" rIns="0" tIns="0" bIns="0">
            <a:noAutofit/>
          </a:bodyPr>
          <a:lstStyle/>
          <a:p>
            <a:r>
              <a:rPr sz="1200">
                <a:solidFill>
                  <a:srgbClr val="424245"/>
                </a:solidFill>
                <a:latin typeface="Noto Sans JP"/>
              </a:rPr>
              <a:t>高品質生成の標準モデル。ライセンス確認の上、低コスト構成の軸に。</a:t>
            </a:r>
          </a:p>
        </p:txBody>
      </p:sp>
      <p:pic>
        <p:nvPicPr>
          <p:cNvPr id="18" name="Picture 17" descr="image.png"/>
          <p:cNvPicPr>
            <a:picLocks noChangeAspect="1"/>
          </p:cNvPicPr>
          <p:nvPr/>
        </p:nvPicPr>
        <p:blipFill>
          <a:blip r:embed="rId6"/>
          <a:stretch>
            <a:fillRect/>
          </a:stretch>
        </p:blipFill>
        <p:spPr>
          <a:xfrm>
            <a:off x="1276502" y="4042562"/>
            <a:ext cx="323697" cy="200253"/>
          </a:xfrm>
          <a:prstGeom prst="rect">
            <a:avLst/>
          </a:prstGeom>
          <a:ln/>
        </p:spPr>
      </p:pic>
      <p:sp>
        <p:nvSpPr>
          <p:cNvPr id="19" name="TextBox 18"/>
          <p:cNvSpPr txBox="1"/>
          <p:nvPr/>
        </p:nvSpPr>
        <p:spPr>
          <a:xfrm>
            <a:off x="1276502" y="4042562"/>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[71]</a:t>
            </a:r>
          </a:p>
        </p:txBody>
      </p:sp>
      <p:pic>
        <p:nvPicPr>
          <p:cNvPr id="20" name="Picture 19" descr="image.png"/>
          <p:cNvPicPr>
            <a:picLocks noChangeAspect="1"/>
          </p:cNvPicPr>
          <p:nvPr/>
        </p:nvPicPr>
        <p:blipFill>
          <a:blip r:embed="rId5"/>
          <a:stretch>
            <a:fillRect/>
          </a:stretch>
        </p:blipFill>
        <p:spPr>
          <a:xfrm>
            <a:off x="694944" y="4362602"/>
            <a:ext cx="105156" cy="114300"/>
          </a:xfrm>
          <a:prstGeom prst="rect">
            <a:avLst/>
          </a:prstGeom>
          <a:ln/>
        </p:spPr>
      </p:pic>
      <p:sp>
        <p:nvSpPr>
          <p:cNvPr id="21" name="TextBox 20"/>
          <p:cNvSpPr txBox="1"/>
          <p:nvPr/>
        </p:nvSpPr>
        <p:spPr>
          <a:xfrm>
            <a:off x="895197" y="4605833"/>
            <a:ext cx="4886554" cy="495605"/>
          </a:xfrm>
          <a:prstGeom prst="rect">
            <a:avLst/>
          </a:prstGeom>
          <a:noFill/>
          <a:ln/>
        </p:spPr>
        <p:txBody>
          <a:bodyPr wrap="square" lIns="0" rIns="0" tIns="0" bIns="0">
            <a:noAutofit/>
          </a:bodyPr>
          <a:lstStyle/>
          <a:p>
            <a:r>
              <a:rPr sz="1200">
                <a:solidFill>
                  <a:srgbClr val="424245"/>
                </a:solidFill>
                <a:latin typeface="Noto Sans JP"/>
              </a:rPr>
              <a:t>ノードベースUI。Windows/Linux/macOS対応を明示し、ワークフローの再利用性が高い。</a:t>
            </a:r>
          </a:p>
        </p:txBody>
      </p:sp>
      <p:pic>
        <p:nvPicPr>
          <p:cNvPr id="22" name="Picture 21" descr="image.png"/>
          <p:cNvPicPr>
            <a:picLocks noChangeAspect="1"/>
          </p:cNvPicPr>
          <p:nvPr/>
        </p:nvPicPr>
        <p:blipFill>
          <a:blip r:embed="rId6"/>
          <a:stretch>
            <a:fillRect/>
          </a:stretch>
        </p:blipFill>
        <p:spPr>
          <a:xfrm>
            <a:off x="2495398" y="4888382"/>
            <a:ext cx="323698" cy="200253"/>
          </a:xfrm>
          <a:prstGeom prst="rect">
            <a:avLst/>
          </a:prstGeom>
          <a:ln/>
        </p:spPr>
      </p:pic>
      <p:sp>
        <p:nvSpPr>
          <p:cNvPr id="23" name="TextBox 22"/>
          <p:cNvSpPr txBox="1"/>
          <p:nvPr/>
        </p:nvSpPr>
        <p:spPr>
          <a:xfrm>
            <a:off x="2495398" y="4888382"/>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[72]</a:t>
            </a:r>
          </a:p>
        </p:txBody>
      </p:sp>
      <p:pic>
        <p:nvPicPr>
          <p:cNvPr id="24" name="Picture 23" descr="image.png"/>
          <p:cNvPicPr>
            <a:picLocks noChangeAspect="1"/>
          </p:cNvPicPr>
          <p:nvPr/>
        </p:nvPicPr>
        <p:blipFill>
          <a:blip r:embed="rId5"/>
          <a:stretch>
            <a:fillRect/>
          </a:stretch>
        </p:blipFill>
        <p:spPr>
          <a:xfrm>
            <a:off x="694944" y="5207508"/>
            <a:ext cx="105156" cy="114300"/>
          </a:xfrm>
          <a:prstGeom prst="rect">
            <a:avLst/>
          </a:prstGeom>
          <a:ln/>
        </p:spPr>
      </p:pic>
      <p:sp>
        <p:nvSpPr>
          <p:cNvPr id="25" name="TextBox 24"/>
          <p:cNvSpPr txBox="1"/>
          <p:nvPr/>
        </p:nvSpPr>
        <p:spPr>
          <a:xfrm>
            <a:off x="895197" y="5451653"/>
            <a:ext cx="3791102" cy="247801"/>
          </a:xfrm>
          <a:prstGeom prst="rect">
            <a:avLst/>
          </a:prstGeom>
          <a:noFill/>
          <a:ln/>
        </p:spPr>
        <p:txBody>
          <a:bodyPr wrap="square" lIns="0" rIns="0" tIns="0" bIns="0">
            <a:noAutofit/>
          </a:bodyPr>
          <a:lstStyle/>
          <a:p>
            <a:r>
              <a:rPr sz="1200">
                <a:solidFill>
                  <a:srgbClr val="424245"/>
                </a:solidFill>
                <a:latin typeface="Noto Sans JP"/>
              </a:rPr>
              <a:t>豊富なプラグインエコシステムを持つ定番UI。</a:t>
            </a:r>
          </a:p>
        </p:txBody>
      </p:sp>
      <p:pic>
        <p:nvPicPr>
          <p:cNvPr id="26" name="Picture 25" descr="image.png"/>
          <p:cNvPicPr>
            <a:picLocks noChangeAspect="1"/>
          </p:cNvPicPr>
          <p:nvPr/>
        </p:nvPicPr>
        <p:blipFill>
          <a:blip r:embed="rId6"/>
          <a:stretch>
            <a:fillRect/>
          </a:stretch>
        </p:blipFill>
        <p:spPr>
          <a:xfrm>
            <a:off x="4169664" y="5490058"/>
            <a:ext cx="323698" cy="200253"/>
          </a:xfrm>
          <a:prstGeom prst="rect">
            <a:avLst/>
          </a:prstGeom>
          <a:ln/>
        </p:spPr>
      </p:pic>
      <p:sp>
        <p:nvSpPr>
          <p:cNvPr id="27" name="TextBox 26"/>
          <p:cNvSpPr txBox="1"/>
          <p:nvPr/>
        </p:nvSpPr>
        <p:spPr>
          <a:xfrm>
            <a:off x="4169664" y="5490058"/>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[73]</a:t>
            </a:r>
          </a:p>
        </p:txBody>
      </p:sp>
      <p:pic>
        <p:nvPicPr>
          <p:cNvPr id="28" name="Picture 27" descr="image.png"/>
          <p:cNvPicPr>
            <a:picLocks noChangeAspect="1"/>
          </p:cNvPicPr>
          <p:nvPr/>
        </p:nvPicPr>
        <p:blipFill>
          <a:blip r:embed="rId5"/>
          <a:stretch>
            <a:fillRect/>
          </a:stretch>
        </p:blipFill>
        <p:spPr>
          <a:xfrm>
            <a:off x="694944" y="5810098"/>
            <a:ext cx="105156" cy="114300"/>
          </a:xfrm>
          <a:prstGeom prst="rect">
            <a:avLst/>
          </a:prstGeom>
          <a:ln/>
        </p:spPr>
      </p:pic>
      <p:sp>
        <p:nvSpPr>
          <p:cNvPr id="29" name="TextBox 28"/>
          <p:cNvSpPr txBox="1"/>
          <p:nvPr/>
        </p:nvSpPr>
        <p:spPr>
          <a:xfrm>
            <a:off x="895197" y="6053328"/>
            <a:ext cx="4886554" cy="495605"/>
          </a:xfrm>
          <a:prstGeom prst="rect">
            <a:avLst/>
          </a:prstGeom>
          <a:noFill/>
          <a:ln/>
        </p:spPr>
        <p:txBody>
          <a:bodyPr wrap="square" lIns="0" rIns="0" tIns="0" bIns="0">
            <a:noAutofit/>
          </a:bodyPr>
          <a:lstStyle/>
          <a:p>
            <a:r>
              <a:rPr sz="1200">
                <a:solidFill>
                  <a:srgbClr val="424245"/>
                </a:solidFill>
                <a:latin typeface="Noto Sans JP"/>
              </a:rPr>
              <a:t>最新の上位モデル。高い品質ポテンシャルを持つが、商用利用等のライセンス条件（dev版等）に注意。</a:t>
            </a:r>
          </a:p>
        </p:txBody>
      </p:sp>
      <p:pic>
        <p:nvPicPr>
          <p:cNvPr id="30" name="Picture 29" descr="image.png"/>
          <p:cNvPicPr>
            <a:picLocks noChangeAspect="1"/>
          </p:cNvPicPr>
          <p:nvPr/>
        </p:nvPicPr>
        <p:blipFill>
          <a:blip r:embed="rId7"/>
          <a:stretch>
            <a:fillRect/>
          </a:stretch>
        </p:blipFill>
        <p:spPr>
          <a:xfrm>
            <a:off x="3361334" y="6335878"/>
            <a:ext cx="523951" cy="200253"/>
          </a:xfrm>
          <a:prstGeom prst="rect">
            <a:avLst/>
          </a:prstGeom>
          <a:ln/>
        </p:spPr>
      </p:pic>
      <p:sp>
        <p:nvSpPr>
          <p:cNvPr id="31" name="TextBox 30"/>
          <p:cNvSpPr txBox="1"/>
          <p:nvPr/>
        </p:nvSpPr>
        <p:spPr>
          <a:xfrm>
            <a:off x="3361334" y="6335878"/>
            <a:ext cx="52395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[75][76]</a:t>
            </a:r>
          </a:p>
        </p:txBody>
      </p:sp>
      <p:pic>
        <p:nvPicPr>
          <p:cNvPr id="32" name="Picture 31" descr="image.png"/>
          <p:cNvPicPr>
            <a:picLocks noChangeAspect="1"/>
          </p:cNvPicPr>
          <p:nvPr/>
        </p:nvPicPr>
        <p:blipFill>
          <a:blip r:embed="rId8"/>
          <a:stretch>
            <a:fillRect/>
          </a:stretch>
        </p:blipFill>
        <p:spPr>
          <a:xfrm>
            <a:off x="694944" y="6693408"/>
            <a:ext cx="819302" cy="276149"/>
          </a:xfrm>
          <a:prstGeom prst="rect">
            <a:avLst/>
          </a:prstGeom>
          <a:ln/>
        </p:spPr>
      </p:pic>
      <p:sp>
        <p:nvSpPr>
          <p:cNvPr id="33" name="TextBox 32"/>
          <p:cNvSpPr txBox="1"/>
          <p:nvPr/>
        </p:nvSpPr>
        <p:spPr>
          <a:xfrm>
            <a:off x="694944" y="6693408"/>
            <a:ext cx="819302"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Diffusion</a:t>
            </a:r>
          </a:p>
        </p:txBody>
      </p:sp>
      <p:pic>
        <p:nvPicPr>
          <p:cNvPr id="34" name="Picture 33" descr="image.png"/>
          <p:cNvPicPr>
            <a:picLocks noChangeAspect="1"/>
          </p:cNvPicPr>
          <p:nvPr/>
        </p:nvPicPr>
        <p:blipFill>
          <a:blip r:embed="rId9"/>
          <a:stretch>
            <a:fillRect/>
          </a:stretch>
        </p:blipFill>
        <p:spPr>
          <a:xfrm>
            <a:off x="1581912" y="6693408"/>
            <a:ext cx="790956" cy="276149"/>
          </a:xfrm>
          <a:prstGeom prst="rect">
            <a:avLst/>
          </a:prstGeom>
          <a:ln/>
        </p:spPr>
      </p:pic>
      <p:sp>
        <p:nvSpPr>
          <p:cNvPr id="35" name="TextBox 34"/>
          <p:cNvSpPr txBox="1"/>
          <p:nvPr/>
        </p:nvSpPr>
        <p:spPr>
          <a:xfrm>
            <a:off x="1581912" y="6693408"/>
            <a:ext cx="790956"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ComfyUI</a:t>
            </a:r>
          </a:p>
        </p:txBody>
      </p:sp>
      <p:pic>
        <p:nvPicPr>
          <p:cNvPr id="36" name="Picture 35" descr="image.png"/>
          <p:cNvPicPr>
            <a:picLocks noChangeAspect="1"/>
          </p:cNvPicPr>
          <p:nvPr/>
        </p:nvPicPr>
        <p:blipFill>
          <a:blip r:embed="rId10"/>
          <a:stretch>
            <a:fillRect/>
          </a:stretch>
        </p:blipFill>
        <p:spPr>
          <a:xfrm>
            <a:off x="2447849" y="6693408"/>
            <a:ext cx="1466697" cy="276149"/>
          </a:xfrm>
          <a:prstGeom prst="rect">
            <a:avLst/>
          </a:prstGeom>
          <a:ln/>
        </p:spPr>
      </p:pic>
      <p:sp>
        <p:nvSpPr>
          <p:cNvPr id="37" name="TextBox 36"/>
          <p:cNvSpPr txBox="1"/>
          <p:nvPr/>
        </p:nvSpPr>
        <p:spPr>
          <a:xfrm>
            <a:off x="2447849" y="6693408"/>
            <a:ext cx="1467611"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VRAM Optimization</a:t>
            </a:r>
          </a:p>
        </p:txBody>
      </p:sp>
      <p:sp>
        <p:nvSpPr>
          <p:cNvPr id="38" name="Rectangle 37"/>
          <p:cNvSpPr/>
          <p:nvPr/>
        </p:nvSpPr>
        <p:spPr>
          <a:xfrm>
            <a:off x="6248095" y="2706624"/>
            <a:ext cx="5486400" cy="45811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11"/>
          <a:stretch>
            <a:fillRect/>
          </a:stretch>
        </p:blipFill>
        <p:spPr>
          <a:xfrm>
            <a:off x="6486754" y="2992831"/>
            <a:ext cx="190195" cy="190194"/>
          </a:xfrm>
          <a:prstGeom prst="rect">
            <a:avLst/>
          </a:prstGeom>
          <a:ln/>
        </p:spPr>
      </p:pic>
      <p:sp>
        <p:nvSpPr>
          <p:cNvPr id="41" name="TextBox 40"/>
          <p:cNvSpPr txBox="1"/>
          <p:nvPr/>
        </p:nvSpPr>
        <p:spPr>
          <a:xfrm>
            <a:off x="6791249" y="2945282"/>
            <a:ext cx="2362810" cy="419709"/>
          </a:xfrm>
          <a:prstGeom prst="rect">
            <a:avLst/>
          </a:prstGeom>
          <a:noFill/>
          <a:ln/>
        </p:spPr>
        <p:txBody>
          <a:bodyPr wrap="square" lIns="0" rIns="0" tIns="0" bIns="0">
            <a:noAutofit/>
          </a:bodyPr>
          <a:lstStyle/>
          <a:p>
            <a:r>
              <a:rPr sz="1500" b="1">
                <a:solidFill>
                  <a:srgbClr val="1D1D1F"/>
                </a:solidFill>
                <a:latin typeface="Noto Sans JP"/>
              </a:rPr>
              <a:t>実務運用ポイントとリスク</a:t>
            </a:r>
          </a:p>
        </p:txBody>
      </p:sp>
      <p:pic>
        <p:nvPicPr>
          <p:cNvPr id="42" name="Picture 41" descr="image.png"/>
          <p:cNvPicPr>
            <a:picLocks noChangeAspect="1"/>
          </p:cNvPicPr>
          <p:nvPr/>
        </p:nvPicPr>
        <p:blipFill>
          <a:blip r:embed="rId12"/>
          <a:stretch>
            <a:fillRect/>
          </a:stretch>
        </p:blipFill>
        <p:spPr>
          <a:xfrm>
            <a:off x="6486754" y="3516782"/>
            <a:ext cx="114300" cy="114300"/>
          </a:xfrm>
          <a:prstGeom prst="rect">
            <a:avLst/>
          </a:prstGeom>
          <a:ln/>
        </p:spPr>
      </p:pic>
      <p:sp>
        <p:nvSpPr>
          <p:cNvPr id="43" name="TextBox 42"/>
          <p:cNvSpPr txBox="1"/>
          <p:nvPr/>
        </p:nvSpPr>
        <p:spPr>
          <a:xfrm>
            <a:off x="6696151" y="3760013"/>
            <a:ext cx="4877410" cy="495605"/>
          </a:xfrm>
          <a:prstGeom prst="rect">
            <a:avLst/>
          </a:prstGeom>
          <a:noFill/>
          <a:ln/>
        </p:spPr>
        <p:txBody>
          <a:bodyPr wrap="square" lIns="0" rIns="0" tIns="0" bIns="0">
            <a:noAutofit/>
          </a:bodyPr>
          <a:lstStyle/>
          <a:p>
            <a:r>
              <a:rPr sz="1200">
                <a:solidFill>
                  <a:srgbClr val="424245"/>
                </a:solidFill>
                <a:latin typeface="Noto Sans JP"/>
              </a:rPr>
              <a:t>解像度・ステップ数・バッチサイズによりVRAM消費が激増します。attention slicing等の最適化適用が必須。</a:t>
            </a:r>
          </a:p>
        </p:txBody>
      </p:sp>
      <p:pic>
        <p:nvPicPr>
          <p:cNvPr id="44" name="Picture 43" descr="image.png"/>
          <p:cNvPicPr>
            <a:picLocks noChangeAspect="1"/>
          </p:cNvPicPr>
          <p:nvPr/>
        </p:nvPicPr>
        <p:blipFill>
          <a:blip r:embed="rId13"/>
          <a:stretch>
            <a:fillRect/>
          </a:stretch>
        </p:blipFill>
        <p:spPr>
          <a:xfrm>
            <a:off x="6486754" y="4362602"/>
            <a:ext cx="85953" cy="114300"/>
          </a:xfrm>
          <a:prstGeom prst="rect">
            <a:avLst/>
          </a:prstGeom>
          <a:ln/>
        </p:spPr>
      </p:pic>
      <p:sp>
        <p:nvSpPr>
          <p:cNvPr id="45" name="TextBox 44"/>
          <p:cNvSpPr txBox="1"/>
          <p:nvPr/>
        </p:nvSpPr>
        <p:spPr>
          <a:xfrm>
            <a:off x="6667805" y="4605833"/>
            <a:ext cx="4905756" cy="495605"/>
          </a:xfrm>
          <a:prstGeom prst="rect">
            <a:avLst/>
          </a:prstGeom>
          <a:noFill/>
          <a:ln/>
        </p:spPr>
        <p:txBody>
          <a:bodyPr wrap="square" lIns="0" rIns="0" tIns="0" bIns="0">
            <a:noAutofit/>
          </a:bodyPr>
          <a:lstStyle/>
          <a:p>
            <a:r>
              <a:rPr sz="1200">
                <a:solidFill>
                  <a:srgbClr val="424245"/>
                </a:solidFill>
                <a:latin typeface="Noto Sans JP"/>
              </a:rPr>
              <a:t>特にFLUX.1-dev等はライセンス条件が異なる場合があるため、採用前に必ず確認してください。</a:t>
            </a:r>
          </a:p>
        </p:txBody>
      </p:sp>
      <p:pic>
        <p:nvPicPr>
          <p:cNvPr id="46" name="Picture 45" descr="image.png"/>
          <p:cNvPicPr>
            <a:picLocks noChangeAspect="1"/>
          </p:cNvPicPr>
          <p:nvPr/>
        </p:nvPicPr>
        <p:blipFill>
          <a:blip r:embed="rId6"/>
          <a:stretch>
            <a:fillRect/>
          </a:stretch>
        </p:blipFill>
        <p:spPr>
          <a:xfrm>
            <a:off x="8563356" y="4888382"/>
            <a:ext cx="323697" cy="200253"/>
          </a:xfrm>
          <a:prstGeom prst="rect">
            <a:avLst/>
          </a:prstGeom>
          <a:ln/>
        </p:spPr>
      </p:pic>
      <p:sp>
        <p:nvSpPr>
          <p:cNvPr id="47" name="TextBox 46"/>
          <p:cNvSpPr txBox="1"/>
          <p:nvPr/>
        </p:nvSpPr>
        <p:spPr>
          <a:xfrm>
            <a:off x="8563356" y="4888382"/>
            <a:ext cx="32461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[76]</a:t>
            </a:r>
          </a:p>
        </p:txBody>
      </p:sp>
      <p:pic>
        <p:nvPicPr>
          <p:cNvPr id="48" name="Picture 47" descr="image.png"/>
          <p:cNvPicPr>
            <a:picLocks noChangeAspect="1"/>
          </p:cNvPicPr>
          <p:nvPr/>
        </p:nvPicPr>
        <p:blipFill>
          <a:blip r:embed="rId14"/>
          <a:stretch>
            <a:fillRect/>
          </a:stretch>
        </p:blipFill>
        <p:spPr>
          <a:xfrm>
            <a:off x="6486754" y="5207508"/>
            <a:ext cx="114300" cy="114300"/>
          </a:xfrm>
          <a:prstGeom prst="rect">
            <a:avLst/>
          </a:prstGeom>
          <a:ln/>
        </p:spPr>
      </p:pic>
      <p:sp>
        <p:nvSpPr>
          <p:cNvPr id="49" name="TextBox 48"/>
          <p:cNvSpPr txBox="1"/>
          <p:nvPr/>
        </p:nvSpPr>
        <p:spPr>
          <a:xfrm>
            <a:off x="6696151" y="5451653"/>
            <a:ext cx="4877410" cy="495605"/>
          </a:xfrm>
          <a:prstGeom prst="rect">
            <a:avLst/>
          </a:prstGeom>
          <a:noFill/>
          <a:ln/>
        </p:spPr>
        <p:txBody>
          <a:bodyPr wrap="square" lIns="0" rIns="0" tIns="0" bIns="0">
            <a:noAutofit/>
          </a:bodyPr>
          <a:lstStyle/>
          <a:p>
            <a:r>
              <a:rPr sz="1200">
                <a:solidFill>
                  <a:srgbClr val="424245"/>
                </a:solidFill>
                <a:latin typeface="Noto Sans JP"/>
              </a:rPr>
              <a:t>業務利用では「seed固定」と「ワークフロー固定（ComfyUI json）」で出力を安定させます。</a:t>
            </a:r>
          </a:p>
        </p:txBody>
      </p:sp>
      <p:sp>
        <p:nvSpPr>
          <p:cNvPr id="50" name="Rectangle 49"/>
          <p:cNvSpPr/>
          <p:nvPr/>
        </p:nvSpPr>
        <p:spPr>
          <a:xfrm>
            <a:off x="457200" y="758860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5"/>
          <a:stretch>
            <a:fillRect/>
          </a:stretch>
        </p:blipFill>
        <p:spPr>
          <a:xfrm>
            <a:off x="619049" y="7769657"/>
            <a:ext cx="171907" cy="171907"/>
          </a:xfrm>
          <a:prstGeom prst="rect">
            <a:avLst/>
          </a:prstGeom>
          <a:ln/>
        </p:spPr>
      </p:pic>
      <p:sp>
        <p:nvSpPr>
          <p:cNvPr id="52" name="TextBox 51"/>
          <p:cNvSpPr txBox="1"/>
          <p:nvPr/>
        </p:nvSpPr>
        <p:spPr>
          <a:xfrm>
            <a:off x="905256" y="7750454"/>
            <a:ext cx="10782605" cy="200254"/>
          </a:xfrm>
          <a:prstGeom prst="rect">
            <a:avLst/>
          </a:prstGeom>
          <a:noFill/>
          <a:ln/>
        </p:spPr>
        <p:txBody>
          <a:bodyPr wrap="square" lIns="0" rIns="0" tIns="0" bIns="0">
            <a:noAutofit/>
          </a:bodyPr>
          <a:lstStyle/>
          <a:p>
            <a:r>
              <a:rPr sz="1000" b="1">
                <a:solidFill>
                  <a:srgbClr val="78350F"/>
                </a:solidFill>
                <a:latin typeface="Noto Sans JP"/>
              </a:rPr>
              <a:t>VRAM不足時の回避策（Workaround）</a:t>
            </a:r>
          </a:p>
        </p:txBody>
      </p:sp>
      <p:sp>
        <p:nvSpPr>
          <p:cNvPr id="53" name="TextBox 52"/>
          <p:cNvSpPr txBox="1"/>
          <p:nvPr/>
        </p:nvSpPr>
        <p:spPr>
          <a:xfrm>
            <a:off x="905256" y="7989113"/>
            <a:ext cx="10744200" cy="400507"/>
          </a:xfrm>
          <a:prstGeom prst="rect">
            <a:avLst/>
          </a:prstGeom>
          <a:noFill/>
          <a:ln/>
        </p:spPr>
        <p:txBody>
          <a:bodyPr wrap="square" lIns="0" rIns="0" tIns="0" bIns="0">
            <a:noAutofit/>
          </a:bodyPr>
          <a:lstStyle/>
          <a:p>
            <a:r>
              <a:rPr sz="1000">
                <a:solidFill>
                  <a:srgbClr val="78350F"/>
                </a:solidFill>
                <a:latin typeface="Noto Sans JP"/>
              </a:rPr>
              <a:t>VRAM不足が発生する場合は、解像度/バッチ/ステップ数を固定した「低負荷プロファイル」を作成して運用するか、夜間バッチ処理またはローカルLAN内の別筐体（GPUサーバー）へのオフロードを検討してください。</a:t>
            </a:r>
          </a:p>
        </p:txBody>
      </p:sp>
      <p:sp>
        <p:nvSpPr>
          <p:cNvPr id="54" name="Rectangle 53"/>
          <p:cNvSpPr/>
          <p:nvPr/>
        </p:nvSpPr>
        <p:spPr>
          <a:xfrm>
            <a:off x="0" y="8931859"/>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893185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894100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7" name="TextBox 56"/>
          <p:cNvSpPr txBox="1"/>
          <p:nvPr/>
        </p:nvSpPr>
        <p:spPr>
          <a:xfrm>
            <a:off x="11385194" y="8941003"/>
            <a:ext cx="428854" cy="171907"/>
          </a:xfrm>
          <a:prstGeom prst="rect">
            <a:avLst/>
          </a:prstGeom>
          <a:noFill/>
          <a:ln/>
        </p:spPr>
        <p:txBody>
          <a:bodyPr wrap="square" lIns="0" rIns="0" tIns="0" bIns="0">
            <a:noAutofit/>
          </a:bodyPr>
          <a:lstStyle/>
          <a:p>
            <a:r>
              <a:rPr sz="900">
                <a:solidFill>
                  <a:srgbClr val="86868B"/>
                </a:solidFill>
                <a:latin typeface="Noto Sans JP"/>
              </a:rPr>
              <a:t>36 / 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2867558" cy="381305"/>
          </a:xfrm>
          <a:prstGeom prst="rect">
            <a:avLst/>
          </a:prstGeom>
          <a:noFill/>
          <a:ln/>
        </p:spPr>
        <p:txBody>
          <a:bodyPr wrap="square" lIns="0" rIns="0" tIns="0" bIns="0">
            <a:noAutofit/>
          </a:bodyPr>
          <a:lstStyle/>
          <a:p>
            <a:r>
              <a:rPr sz="2100" b="1">
                <a:solidFill>
                  <a:srgbClr val="FFFFFF"/>
                </a:solidFill>
                <a:latin typeface="Noto Sans JP"/>
              </a:rPr>
              <a:t>画像生成（完全版表）</a:t>
            </a:r>
          </a:p>
        </p:txBody>
      </p:sp>
      <p:sp>
        <p:nvSpPr>
          <p:cNvPr id="8" name="TextBox 7"/>
          <p:cNvSpPr txBox="1"/>
          <p:nvPr/>
        </p:nvSpPr>
        <p:spPr>
          <a:xfrm>
            <a:off x="7437730" y="457200"/>
            <a:ext cx="4777739" cy="228600"/>
          </a:xfrm>
          <a:prstGeom prst="rect">
            <a:avLst/>
          </a:prstGeom>
          <a:noFill/>
          <a:ln/>
        </p:spPr>
        <p:txBody>
          <a:bodyPr wrap="square" lIns="0" rIns="0" tIns="0" bIns="0">
            <a:noAutofit/>
          </a:bodyPr>
          <a:lstStyle/>
          <a:p>
            <a:r>
              <a:rPr sz="1200">
                <a:solidFill>
                  <a:srgbClr val="A1A1A6"/>
                </a:solidFill>
                <a:latin typeface="Noto Sans JP"/>
              </a:rPr>
              <a:t>主要モデル・UI詳細比較：SDXL / ComfyUI / SD WebUI / FLUX</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629961"/>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125992">
                <a:tc>
                  <a:txBody>
                    <a:bodyPr/>
                    <a:lstStyle/>
                    <a:p>
                      <a:r>
                        <a:t>モデル / UI</a:t>
                      </a:r>
                    </a:p>
                  </a:txBody>
                  <a:tcPr/>
                </a:tc>
                <a:tc>
                  <a:txBody>
                    <a:bodyPr/>
                    <a:lstStyle/>
                    <a:p>
                      <a:r>
                        <a:t>方式 / 特徴</a:t>
                      </a:r>
                    </a:p>
                  </a:txBody>
                  <a:tcPr/>
                </a:tc>
                <a:tc>
                  <a:txBody>
                    <a:bodyPr/>
                    <a:lstStyle/>
                    <a:p>
                      <a:r>
                        <a:t>VRAM要件</a:t>
                      </a:r>
                    </a:p>
                  </a:txBody>
                  <a:tcPr/>
                </a:tc>
                <a:tc>
                  <a:txBody>
                    <a:bodyPr/>
                    <a:lstStyle/>
                    <a:p>
                      <a:r>
                        <a:t>得意/不得意（要点）</a:t>
                      </a:r>
                    </a:p>
                  </a:txBody>
                  <a:tcPr/>
                </a:tc>
                <a:tc>
                  <a:txBody>
                    <a:bodyPr/>
                    <a:lstStyle/>
                    <a:p>
                      <a:r>
                        <a:t>リスク/採用判断</a:t>
                      </a:r>
                    </a:p>
                  </a:txBody>
                  <a:tcPr/>
                </a:tc>
              </a:tr>
              <a:tr h="1125992">
                <a:tc>
                  <a:txBody>
                    <a:bodyPr/>
                    <a:lstStyle/>
                    <a:p>
                      <a:r>
                        <a:t>SDXL base 1.0</a:t>
                      </a:r>
                    </a:p>
                    <a:p>
                      <a:r>
                        <a:t>Stability AI[71]</a:t>
                      </a:r>
                    </a:p>
                  </a:txBody>
                  <a:tcPr/>
                </a:tc>
                <a:tc>
                  <a:txBody>
                    <a:bodyPr/>
                    <a:lstStyle/>
                    <a:p>
                      <a:r>
                        <a:t>Diffusion</a:t>
                      </a:r>
                    </a:p>
                  </a:txBody>
                  <a:tcPr/>
                </a:tc>
                <a:tc>
                  <a:txBody>
                    <a:bodyPr/>
                    <a:lstStyle/>
                    <a:p>
                      <a:r>
                        <a:t>ワークフロー依存</a:t>
                      </a:r>
                    </a:p>
                    <a:p>
                      <a:r>
                        <a:t>（解像度・バッチ・ステップ数に大きく左右される）</a:t>
                      </a:r>
                    </a:p>
                  </a:txBody>
                  <a:tcPr/>
                </a:tc>
                <a:tc>
                  <a:txBody>
                    <a:bodyPr/>
                    <a:lstStyle/>
                    <a:p>
                      <a:r>
                        <a:t>得意高品質生成（ベースモデルとして標準的）</a:t>
                      </a:r>
                    </a:p>
                    <a:p>
                      <a:r>
                        <a:t>注意解像度・バッチ設定で負荷が大幅変動</a:t>
                      </a:r>
                    </a:p>
                  </a:txBody>
                  <a:tcPr/>
                </a:tc>
                <a:tc>
                  <a:txBody>
                    <a:bodyPr/>
                    <a:lstStyle/>
                    <a:p>
                      <a:r>
                        <a:t>判断attention slicing等の最適化を前提にプロファイルを固定化</a:t>
                      </a:r>
                    </a:p>
                  </a:txBody>
                  <a:tcPr/>
                </a:tc>
              </a:tr>
              <a:tr h="1125992">
                <a:tc>
                  <a:txBody>
                    <a:bodyPr/>
                    <a:lstStyle/>
                    <a:p>
                      <a:r>
                        <a:t>ComfyUI</a:t>
                      </a:r>
                    </a:p>
                    <a:p>
                      <a:r>
                        <a:t>UI[72]</a:t>
                      </a:r>
                    </a:p>
                  </a:txBody>
                  <a:tcPr/>
                </a:tc>
                <a:tc>
                  <a:txBody>
                    <a:bodyPr/>
                    <a:lstStyle/>
                    <a:p>
                      <a:r>
                        <a:t>ノード型UI</a:t>
                      </a:r>
                    </a:p>
                    <a:p>
                      <a:r>
                        <a:t>Win/Linux/macOS対応</a:t>
                      </a:r>
                    </a:p>
                  </a:txBody>
                  <a:tcPr/>
                </a:tc>
                <a:tc>
                  <a:txBody>
                    <a:bodyPr/>
                    <a:lstStyle/>
                    <a:p>
                      <a:r>
                        <a:t>構成次第</a:t>
                      </a:r>
                    </a:p>
                    <a:p>
                      <a:r>
                        <a:t>（効率的なメモリ管理が可能）</a:t>
                      </a:r>
                    </a:p>
                  </a:txBody>
                  <a:tcPr/>
                </a:tc>
                <a:tc>
                  <a:txBody>
                    <a:bodyPr/>
                    <a:lstStyle/>
                    <a:p>
                      <a:r>
                        <a:t>得意再利用性・資産化（ワークフロー保存）</a:t>
                      </a:r>
                    </a:p>
                    <a:p>
                      <a:r>
                        <a:t>得意seed固定による再現性担保</a:t>
                      </a:r>
                    </a:p>
                  </a:txBody>
                  <a:tcPr/>
                </a:tc>
                <a:tc>
                  <a:txBody>
                    <a:bodyPr/>
                    <a:lstStyle/>
                    <a:p>
                      <a:r>
                        <a:t>判断ワークフローのブラックボックス化を防ぐため管理が必要</a:t>
                      </a:r>
                    </a:p>
                  </a:txBody>
                  <a:tcPr/>
                </a:tc>
              </a:tr>
              <a:tr h="1125992">
                <a:tc>
                  <a:txBody>
                    <a:bodyPr/>
                    <a:lstStyle/>
                    <a:p>
                      <a:r>
                        <a:t>Stable Diffusion WebUI</a:t>
                      </a:r>
                    </a:p>
                    <a:p>
                      <a:r>
                        <a:t>UI[73]</a:t>
                      </a:r>
                    </a:p>
                  </a:txBody>
                  <a:tcPr/>
                </a:tc>
                <a:tc>
                  <a:txBody>
                    <a:bodyPr/>
                    <a:lstStyle/>
                    <a:p>
                      <a:r>
                        <a:t>プラグイン豊富</a:t>
                      </a:r>
                    </a:p>
                  </a:txBody>
                  <a:tcPr/>
                </a:tc>
                <a:tc>
                  <a:txBody>
                    <a:bodyPr/>
                    <a:lstStyle/>
                    <a:p>
                      <a:r>
                        <a:t>設定・拡張依存</a:t>
                      </a:r>
                    </a:p>
                  </a:txBody>
                  <a:tcPr/>
                </a:tc>
                <a:tc>
                  <a:txBody>
                    <a:bodyPr/>
                    <a:lstStyle/>
                    <a:p>
                      <a:r>
                        <a:t>得意導入が比較的容易</a:t>
                      </a:r>
                    </a:p>
                    <a:p>
                      <a:r>
                        <a:t>注意設定差による品質ブレが発生しやすい</a:t>
                      </a:r>
                    </a:p>
                  </a:txBody>
                  <a:tcPr/>
                </a:tc>
                <a:tc>
                  <a:txBody>
                    <a:bodyPr/>
                    <a:lstStyle/>
                    <a:p>
                      <a:r>
                        <a:t>判断簡易利用には適するが、厳密な再現性には注意</a:t>
                      </a:r>
                    </a:p>
                  </a:txBody>
                  <a:tcPr/>
                </a:tc>
              </a:tr>
              <a:tr h="1125993">
                <a:tc>
                  <a:txBody>
                    <a:bodyPr/>
                    <a:lstStyle/>
                    <a:p>
                      <a:r>
                        <a:t>FLUX.1</a:t>
                      </a:r>
                    </a:p>
                    <a:p>
                      <a:r>
                        <a:t>Black Forest Labs[75]</a:t>
                      </a:r>
                    </a:p>
                  </a:txBody>
                  <a:tcPr/>
                </a:tc>
                <a:tc>
                  <a:txBody>
                    <a:bodyPr/>
                    <a:lstStyle/>
                    <a:p>
                      <a:r>
                        <a:t>上位モデル系</a:t>
                      </a:r>
                    </a:p>
                  </a:txBody>
                  <a:tcPr/>
                </a:tc>
                <a:tc>
                  <a:txBody>
                    <a:bodyPr/>
                    <a:lstStyle/>
                    <a:p>
                      <a:r>
                        <a:t>高め</a:t>
                      </a:r>
                    </a:p>
                    <a:p>
                      <a:r>
                        <a:t>（高品質ゆえのリソース要求）</a:t>
                      </a:r>
                    </a:p>
                  </a:txBody>
                  <a:tcPr/>
                </a:tc>
                <a:tc>
                  <a:txBody>
                    <a:bodyPr/>
                    <a:lstStyle/>
                    <a:p>
                      <a:r>
                        <a:t>得意高い品質ポテンシャル</a:t>
                      </a:r>
                    </a:p>
                  </a:txBody>
                  <a:tcPr/>
                </a:tc>
                <a:tc>
                  <a:txBody>
                    <a:bodyPr/>
                    <a:lstStyle/>
                    <a:p>
                      <a:r>
                        <a:t>Riskライセンス（特にdev版の条件）の精査が必須[76]</a:t>
                      </a:r>
                    </a:p>
                    <a:p>
                      <a:r>
                        <a:t>商用利用可否を必ず確認</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5D4037"/>
                </a:solidFill>
                <a:latin typeface="Noto Sans JP"/>
              </a:rPr>
              <a:t>採用判断の要点：</a:t>
            </a:r>
            <a:r>
              <a:rPr sz="900">
                <a:solidFill>
                  <a:srgbClr val="5D4037"/>
                </a:solidFill>
                <a:latin typeface="Noto Sans JP"/>
              </a:rPr>
              <a:t>VRAM容量が最大の制約となります。解像度、バッチサイズ、ステップ数を固定したプロファイルを作成し、VRAM不足を防ぐ運用設計が重要です。特にFLUX等の最新・上位モデルを採用する場合は、ライセンス条件（商用利用制限など）を事前に入念に確認してください。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37 | ローカルAI 技術調査レポート 2026</a:t>
            </a:r>
          </a:p>
        </p:txBody>
      </p:sp>
      <p:sp>
        <p:nvSpPr>
          <p:cNvPr id="19" name="TextBox 18"/>
          <p:cNvSpPr txBox="1"/>
          <p:nvPr/>
        </p:nvSpPr>
        <p:spPr>
          <a:xfrm>
            <a:off x="9357055" y="6586423"/>
            <a:ext cx="283372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[71-76]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 y="590702"/>
            <a:ext cx="12154205" cy="200254"/>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\\n</a:t>
            </a:r>
            <a:r>
              <a:rPr sz="1200">
                <a:solidFill>
                  <a:srgbClr val="000000"/>
                </a:solidFill>
                <a:latin typeface="Times New Roman"/>
              </a:rPr>
              <a:t>採用判断基準（画像生成）</a:t>
            </a:r>
            <a:r>
              <a:rPr sz="1200">
                <a:solidFill>
                  <a:srgbClr val="000000"/>
                </a:solidFill>
                <a:latin typeface="Times New Roman"/>
              </a:rPr>
              <a:t>\\n</a:t>
            </a:r>
          </a:p>
        </p:txBody>
      </p:sp>
      <p:sp>
        <p:nvSpPr>
          <p:cNvPr id="4" name="TextBox 3"/>
          <p:cNvSpPr txBox="1"/>
          <p:nvPr/>
        </p:nvSpPr>
        <p:spPr>
          <a:xfrm>
            <a:off x="75895" y="961949"/>
            <a:ext cx="12230100" cy="200253"/>
          </a:xfrm>
          <a:prstGeom prst="rect">
            <a:avLst/>
          </a:prstGeom>
          <a:noFill/>
          <a:ln/>
        </p:spPr>
        <p:txBody>
          <a:bodyPr wrap="square" lIns="0" rIns="0" tIns="0" bIns="0">
            <a:noAutofit/>
          </a:bodyPr>
          <a:lstStyle/>
          <a:p>
            <a:r>
              <a:rPr sz="1200">
                <a:solidFill>
                  <a:srgbClr val="000000"/>
                </a:solidFill>
                <a:latin typeface="Times New Roman"/>
              </a:rPr>
              <a:t>VRAM制約と再現性の担保</a:t>
            </a:r>
          </a:p>
        </p:txBody>
      </p:sp>
      <p:sp>
        <p:nvSpPr>
          <p:cNvPr id="5" name="TextBox 4"/>
          <p:cNvSpPr txBox="1"/>
          <p:nvPr/>
        </p:nvSpPr>
        <p:spPr>
          <a:xfrm>
            <a:off x="75895" y="2000707"/>
            <a:ext cx="12230100" cy="200254"/>
          </a:xfrm>
          <a:prstGeom prst="rect">
            <a:avLst/>
          </a:prstGeom>
          <a:noFill/>
          <a:ln/>
        </p:spPr>
        <p:txBody>
          <a:bodyPr wrap="square" lIns="0" rIns="0" tIns="0" bIns="0">
            <a:noAutofit/>
          </a:bodyPr>
          <a:lstStyle/>
          <a:p>
            <a:r>
              <a:rPr sz="1200">
                <a:solidFill>
                  <a:srgbClr val="000000"/>
                </a:solidFill>
                <a:latin typeface="Times New Roman"/>
              </a:rPr>
              <a:t>\\n 結論：VRAM制約に合わせて解像度/バッチ/ステップを固定し、ワークフローを資産化して再現性を担保します。\\n</a:t>
            </a:r>
          </a:p>
        </p:txBody>
      </p:sp>
      <p:sp>
        <p:nvSpPr>
          <p:cNvPr id="6" name="TextBox 5"/>
          <p:cNvSpPr txBox="1"/>
          <p:nvPr/>
        </p:nvSpPr>
        <p:spPr>
          <a:xfrm>
            <a:off x="75895" y="3038551"/>
            <a:ext cx="12154205" cy="171906"/>
          </a:xfrm>
          <a:prstGeom prst="rect">
            <a:avLst/>
          </a:prstGeom>
          <a:noFill/>
          <a:ln/>
        </p:spPr>
        <p:txBody>
          <a:bodyPr wrap="square" lIns="0" rIns="0" tIns="0" bIns="0">
            <a:noAutofit/>
          </a:bodyPr>
          <a:lstStyle/>
          <a:p>
            <a:r>
              <a:rPr sz="1200">
                <a:solidFill>
                  <a:srgbClr val="000000"/>
                </a:solidFill>
                <a:latin typeface="Times New Roman"/>
              </a:rPr>
              <a:t>1</a:t>
            </a:r>
          </a:p>
        </p:txBody>
      </p:sp>
      <p:sp>
        <p:nvSpPr>
          <p:cNvPr id="7" name="TextBox 6"/>
          <p:cNvSpPr txBox="1"/>
          <p:nvPr/>
        </p:nvSpPr>
        <p:spPr>
          <a:xfrm>
            <a:off x="75895" y="3381451"/>
            <a:ext cx="12154205" cy="200253"/>
          </a:xfrm>
          <a:prstGeom prst="rect">
            <a:avLst/>
          </a:prstGeom>
          <a:noFill/>
          <a:ln/>
        </p:spPr>
        <p:txBody>
          <a:bodyPr wrap="square" lIns="0" rIns="0" tIns="0" bIns="0">
            <a:noAutofit/>
          </a:bodyPr>
          <a:lstStyle/>
          <a:p>
            <a:r>
              <a:rPr sz="1200">
                <a:solidFill>
                  <a:srgbClr val="000000"/>
                </a:solidFill>
                <a:latin typeface="Times New Roman"/>
              </a:rPr>
              <a:t>VRAM制約</a:t>
            </a:r>
          </a:p>
        </p:txBody>
      </p:sp>
      <p:sp>
        <p:nvSpPr>
          <p:cNvPr id="8" name="TextBox 7"/>
          <p:cNvSpPr txBox="1"/>
          <p:nvPr/>
        </p:nvSpPr>
        <p:spPr>
          <a:xfrm>
            <a:off x="75895" y="3752698"/>
            <a:ext cx="12115800" cy="400506"/>
          </a:xfrm>
          <a:prstGeom prst="rect">
            <a:avLst/>
          </a:prstGeom>
          <a:noFill/>
          <a:ln/>
        </p:spPr>
        <p:txBody>
          <a:bodyPr wrap="square" lIns="0" rIns="0" tIns="0" bIns="0">
            <a:noAutofit/>
          </a:bodyPr>
          <a:lstStyle/>
          <a:p>
            <a:r>
              <a:rPr sz="1200">
                <a:solidFill>
                  <a:srgbClr val="000000"/>
                </a:solidFill>
                <a:latin typeface="Times New Roman"/>
              </a:rPr>
              <a:t>ハードウェア上限を</a:t>
            </a:r>
          </a:p>
          <a:p>
            <a:r>
              <a:rPr sz="1200">
                <a:solidFill>
                  <a:srgbClr val="000000"/>
                </a:solidFill>
                <a:latin typeface="Times New Roman"/>
              </a:rPr>
              <a:t>まず確認</a:t>
            </a:r>
          </a:p>
        </p:txBody>
      </p:sp>
      <p:sp>
        <p:nvSpPr>
          <p:cNvPr id="9" name="TextBox 8"/>
          <p:cNvSpPr txBox="1"/>
          <p:nvPr/>
        </p:nvSpPr>
        <p:spPr>
          <a:xfrm>
            <a:off x="75895" y="4839005"/>
            <a:ext cx="12154205" cy="171906"/>
          </a:xfrm>
          <a:prstGeom prst="rect">
            <a:avLst/>
          </a:prstGeom>
          <a:noFill/>
          <a:ln/>
        </p:spPr>
        <p:txBody>
          <a:bodyPr wrap="square" lIns="0" rIns="0" tIns="0" bIns="0">
            <a:noAutofit/>
          </a:bodyPr>
          <a:lstStyle/>
          <a:p>
            <a:r>
              <a:rPr sz="1200">
                <a:solidFill>
                  <a:srgbClr val="000000"/>
                </a:solidFill>
                <a:latin typeface="Times New Roman"/>
              </a:rPr>
              <a:t>2</a:t>
            </a:r>
          </a:p>
        </p:txBody>
      </p:sp>
      <p:sp>
        <p:nvSpPr>
          <p:cNvPr id="10" name="TextBox 9"/>
          <p:cNvSpPr txBox="1"/>
          <p:nvPr/>
        </p:nvSpPr>
        <p:spPr>
          <a:xfrm>
            <a:off x="75895" y="5181905"/>
            <a:ext cx="12230100" cy="200253"/>
          </a:xfrm>
          <a:prstGeom prst="rect">
            <a:avLst/>
          </a:prstGeom>
          <a:noFill/>
          <a:ln/>
        </p:spPr>
        <p:txBody>
          <a:bodyPr wrap="square" lIns="0" rIns="0" tIns="0" bIns="0">
            <a:noAutofit/>
          </a:bodyPr>
          <a:lstStyle/>
          <a:p>
            <a:r>
              <a:rPr sz="1200">
                <a:solidFill>
                  <a:srgbClr val="000000"/>
                </a:solidFill>
                <a:latin typeface="Times New Roman"/>
              </a:rPr>
              <a:t>解像度固定</a:t>
            </a:r>
          </a:p>
        </p:txBody>
      </p:sp>
      <p:sp>
        <p:nvSpPr>
          <p:cNvPr id="11" name="TextBox 10"/>
          <p:cNvSpPr txBox="1"/>
          <p:nvPr/>
        </p:nvSpPr>
        <p:spPr>
          <a:xfrm>
            <a:off x="75895" y="5553151"/>
            <a:ext cx="12115800" cy="400506"/>
          </a:xfrm>
          <a:prstGeom prst="rect">
            <a:avLst/>
          </a:prstGeom>
          <a:noFill/>
          <a:ln/>
        </p:spPr>
        <p:txBody>
          <a:bodyPr wrap="square" lIns="0" rIns="0" tIns="0" bIns="0">
            <a:noAutofit/>
          </a:bodyPr>
          <a:lstStyle/>
          <a:p>
            <a:r>
              <a:rPr sz="1200">
                <a:solidFill>
                  <a:srgbClr val="000000"/>
                </a:solidFill>
                <a:latin typeface="Times New Roman"/>
              </a:rPr>
              <a:t>VRAMに収まる</a:t>
            </a:r>
          </a:p>
          <a:p>
            <a:r>
              <a:rPr sz="1200">
                <a:solidFill>
                  <a:srgbClr val="000000"/>
                </a:solidFill>
                <a:latin typeface="Times New Roman"/>
              </a:rPr>
              <a:t>最大サイズを決定</a:t>
            </a:r>
          </a:p>
        </p:txBody>
      </p:sp>
      <p:sp>
        <p:nvSpPr>
          <p:cNvPr id="12" name="TextBox 11"/>
          <p:cNvSpPr txBox="1"/>
          <p:nvPr/>
        </p:nvSpPr>
        <p:spPr>
          <a:xfrm>
            <a:off x="75895" y="6638544"/>
            <a:ext cx="12154205" cy="171907"/>
          </a:xfrm>
          <a:prstGeom prst="rect">
            <a:avLst/>
          </a:prstGeom>
          <a:noFill/>
          <a:ln/>
        </p:spPr>
        <p:txBody>
          <a:bodyPr wrap="square" lIns="0" rIns="0" tIns="0" bIns="0">
            <a:noAutofit/>
          </a:bodyPr>
          <a:lstStyle/>
          <a:p>
            <a:r>
              <a:rPr sz="1200">
                <a:solidFill>
                  <a:srgbClr val="000000"/>
                </a:solidFill>
                <a:latin typeface="Times New Roman"/>
              </a:rPr>
              <a:t>3</a:t>
            </a:r>
          </a:p>
        </p:txBody>
      </p:sp>
      <p:sp>
        <p:nvSpPr>
          <p:cNvPr id="13" name="TextBox 12"/>
          <p:cNvSpPr txBox="1"/>
          <p:nvPr/>
        </p:nvSpPr>
        <p:spPr>
          <a:xfrm>
            <a:off x="75895" y="6981444"/>
            <a:ext cx="12230100" cy="200254"/>
          </a:xfrm>
          <a:prstGeom prst="rect">
            <a:avLst/>
          </a:prstGeom>
          <a:noFill/>
          <a:ln/>
        </p:spPr>
        <p:txBody>
          <a:bodyPr wrap="square" lIns="0" rIns="0" tIns="0" bIns="0">
            <a:noAutofit/>
          </a:bodyPr>
          <a:lstStyle/>
          <a:p>
            <a:r>
              <a:rPr sz="1200">
                <a:solidFill>
                  <a:srgbClr val="000000"/>
                </a:solidFill>
                <a:latin typeface="Times New Roman"/>
              </a:rPr>
              <a:t>バッチ/ステップ</a:t>
            </a:r>
          </a:p>
        </p:txBody>
      </p:sp>
      <p:sp>
        <p:nvSpPr>
          <p:cNvPr id="14" name="TextBox 13"/>
          <p:cNvSpPr txBox="1"/>
          <p:nvPr/>
        </p:nvSpPr>
        <p:spPr>
          <a:xfrm>
            <a:off x="75895" y="7353605"/>
            <a:ext cx="12115800" cy="400507"/>
          </a:xfrm>
          <a:prstGeom prst="rect">
            <a:avLst/>
          </a:prstGeom>
          <a:noFill/>
          <a:ln/>
        </p:spPr>
        <p:txBody>
          <a:bodyPr wrap="square" lIns="0" rIns="0" tIns="0" bIns="0">
            <a:noAutofit/>
          </a:bodyPr>
          <a:lstStyle/>
          <a:p>
            <a:r>
              <a:rPr sz="1200">
                <a:solidFill>
                  <a:srgbClr val="000000"/>
                </a:solidFill>
                <a:latin typeface="Times New Roman"/>
              </a:rPr>
              <a:t>生成数と品質の</a:t>
            </a:r>
          </a:p>
          <a:p>
            <a:r>
              <a:rPr sz="1200">
                <a:solidFill>
                  <a:srgbClr val="000000"/>
                </a:solidFill>
                <a:latin typeface="Times New Roman"/>
              </a:rPr>
              <a:t>トレードオフ調整</a:t>
            </a:r>
          </a:p>
        </p:txBody>
      </p:sp>
      <p:sp>
        <p:nvSpPr>
          <p:cNvPr id="15" name="TextBox 14"/>
          <p:cNvSpPr txBox="1"/>
          <p:nvPr/>
        </p:nvSpPr>
        <p:spPr>
          <a:xfrm>
            <a:off x="75895" y="8438998"/>
            <a:ext cx="12154205" cy="171907"/>
          </a:xfrm>
          <a:prstGeom prst="rect">
            <a:avLst/>
          </a:prstGeom>
          <a:noFill/>
          <a:ln/>
        </p:spPr>
        <p:txBody>
          <a:bodyPr wrap="square" lIns="0" rIns="0" tIns="0" bIns="0">
            <a:noAutofit/>
          </a:bodyPr>
          <a:lstStyle/>
          <a:p>
            <a:r>
              <a:rPr sz="1200">
                <a:solidFill>
                  <a:srgbClr val="000000"/>
                </a:solidFill>
                <a:latin typeface="Times New Roman"/>
              </a:rPr>
              <a:t>4</a:t>
            </a:r>
          </a:p>
        </p:txBody>
      </p:sp>
      <p:sp>
        <p:nvSpPr>
          <p:cNvPr id="16" name="TextBox 15"/>
          <p:cNvSpPr txBox="1"/>
          <p:nvPr/>
        </p:nvSpPr>
        <p:spPr>
          <a:xfrm>
            <a:off x="75895" y="8781898"/>
            <a:ext cx="12230100" cy="200254"/>
          </a:xfrm>
          <a:prstGeom prst="rect">
            <a:avLst/>
          </a:prstGeom>
          <a:noFill/>
          <a:ln/>
        </p:spPr>
        <p:txBody>
          <a:bodyPr wrap="square" lIns="0" rIns="0" tIns="0" bIns="0">
            <a:noAutofit/>
          </a:bodyPr>
          <a:lstStyle/>
          <a:p>
            <a:r>
              <a:rPr sz="1200">
                <a:solidFill>
                  <a:srgbClr val="000000"/>
                </a:solidFill>
                <a:latin typeface="Times New Roman"/>
              </a:rPr>
              <a:t>最適化</a:t>
            </a:r>
          </a:p>
        </p:txBody>
      </p:sp>
      <p:sp>
        <p:nvSpPr>
          <p:cNvPr id="17" name="TextBox 16"/>
          <p:cNvSpPr txBox="1"/>
          <p:nvPr/>
        </p:nvSpPr>
        <p:spPr>
          <a:xfrm>
            <a:off x="75895" y="9153144"/>
            <a:ext cx="12115800" cy="400507"/>
          </a:xfrm>
          <a:prstGeom prst="rect">
            <a:avLst/>
          </a:prstGeom>
          <a:noFill/>
          <a:ln/>
        </p:spPr>
        <p:txBody>
          <a:bodyPr wrap="square" lIns="0" rIns="0" tIns="0" bIns="0">
            <a:noAutofit/>
          </a:bodyPr>
          <a:lstStyle/>
          <a:p>
            <a:r>
              <a:rPr sz="1200">
                <a:solidFill>
                  <a:srgbClr val="000000"/>
                </a:solidFill>
                <a:latin typeface="Times New Roman"/>
              </a:rPr>
              <a:t>Attention Slicing等</a:t>
            </a:r>
          </a:p>
          <a:p>
            <a:r>
              <a:rPr sz="1200">
                <a:solidFill>
                  <a:srgbClr val="000000"/>
                </a:solidFill>
                <a:latin typeface="Times New Roman"/>
              </a:rPr>
              <a:t>プロファイル適用</a:t>
            </a:r>
          </a:p>
        </p:txBody>
      </p:sp>
      <p:sp>
        <p:nvSpPr>
          <p:cNvPr id="18" name="TextBox 17"/>
          <p:cNvSpPr txBox="1"/>
          <p:nvPr/>
        </p:nvSpPr>
        <p:spPr>
          <a:xfrm>
            <a:off x="75895" y="10239451"/>
            <a:ext cx="12154205" cy="171907"/>
          </a:xfrm>
          <a:prstGeom prst="rect">
            <a:avLst/>
          </a:prstGeom>
          <a:noFill/>
          <a:ln/>
        </p:spPr>
        <p:txBody>
          <a:bodyPr wrap="square" lIns="0" rIns="0" tIns="0" bIns="0">
            <a:noAutofit/>
          </a:bodyPr>
          <a:lstStyle/>
          <a:p>
            <a:r>
              <a:rPr sz="1200">
                <a:solidFill>
                  <a:srgbClr val="000000"/>
                </a:solidFill>
                <a:latin typeface="Times New Roman"/>
              </a:rPr>
              <a:t>5</a:t>
            </a:r>
          </a:p>
        </p:txBody>
      </p:sp>
      <p:sp>
        <p:nvSpPr>
          <p:cNvPr id="19" name="TextBox 18"/>
          <p:cNvSpPr txBox="1"/>
          <p:nvPr/>
        </p:nvSpPr>
        <p:spPr>
          <a:xfrm>
            <a:off x="75895" y="10582351"/>
            <a:ext cx="12230100" cy="200254"/>
          </a:xfrm>
          <a:prstGeom prst="rect">
            <a:avLst/>
          </a:prstGeom>
          <a:noFill/>
          <a:ln/>
        </p:spPr>
        <p:txBody>
          <a:bodyPr wrap="square" lIns="0" rIns="0" tIns="0" bIns="0">
            <a:noAutofit/>
          </a:bodyPr>
          <a:lstStyle/>
          <a:p>
            <a:r>
              <a:rPr sz="1200">
                <a:solidFill>
                  <a:srgbClr val="000000"/>
                </a:solidFill>
                <a:latin typeface="Times New Roman"/>
              </a:rPr>
              <a:t>資産化</a:t>
            </a:r>
          </a:p>
        </p:txBody>
      </p:sp>
      <p:sp>
        <p:nvSpPr>
          <p:cNvPr id="20" name="TextBox 19"/>
          <p:cNvSpPr txBox="1"/>
          <p:nvPr/>
        </p:nvSpPr>
        <p:spPr>
          <a:xfrm>
            <a:off x="75895" y="10953598"/>
            <a:ext cx="12115800" cy="400507"/>
          </a:xfrm>
          <a:prstGeom prst="rect">
            <a:avLst/>
          </a:prstGeom>
          <a:noFill/>
          <a:ln/>
        </p:spPr>
        <p:txBody>
          <a:bodyPr wrap="square" lIns="0" rIns="0" tIns="0" bIns="0">
            <a:noAutofit/>
          </a:bodyPr>
          <a:lstStyle/>
          <a:p>
            <a:r>
              <a:rPr sz="1200">
                <a:solidFill>
                  <a:srgbClr val="000000"/>
                </a:solidFill>
                <a:latin typeface="Times New Roman"/>
              </a:rPr>
              <a:t>ワークフロー保存</a:t>
            </a:r>
          </a:p>
          <a:p>
            <a:r>
              <a:rPr sz="1200">
                <a:solidFill>
                  <a:srgbClr val="000000"/>
                </a:solidFill>
                <a:latin typeface="Times New Roman"/>
              </a:rPr>
              <a:t>(ComfyUI等)</a:t>
            </a:r>
          </a:p>
        </p:txBody>
      </p:sp>
      <p:sp>
        <p:nvSpPr>
          <p:cNvPr id="21" name="TextBox 20"/>
          <p:cNvSpPr txBox="1"/>
          <p:nvPr/>
        </p:nvSpPr>
        <p:spPr>
          <a:xfrm>
            <a:off x="75895" y="12553798"/>
            <a:ext cx="12230100" cy="200254"/>
          </a:xfrm>
          <a:prstGeom prst="rect">
            <a:avLst/>
          </a:prstGeom>
          <a:noFill/>
          <a:ln/>
        </p:spPr>
        <p:txBody>
          <a:bodyPr wrap="square" lIns="0" rIns="0" tIns="0" bIns="0">
            <a:noAutofit/>
          </a:bodyPr>
          <a:lstStyle/>
          <a:p>
            <a:r>
              <a:rPr sz="1200">
                <a:solidFill>
                  <a:srgbClr val="000000"/>
                </a:solidFill>
                <a:latin typeface="Times New Roman"/>
              </a:rPr>
              <a:t>設定の固定化</a:t>
            </a:r>
          </a:p>
        </p:txBody>
      </p:sp>
      <p:sp>
        <p:nvSpPr>
          <p:cNvPr id="22" name="TextBox 21"/>
          <p:cNvSpPr txBox="1"/>
          <p:nvPr/>
        </p:nvSpPr>
        <p:spPr>
          <a:xfrm>
            <a:off x="457200" y="13744346"/>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優先順位の明確化</a:t>
            </a:r>
          </a:p>
          <a:p>
            <a:r>
              <a:rPr sz="1200">
                <a:solidFill>
                  <a:srgbClr val="000000"/>
                </a:solidFill>
                <a:latin typeface="Times New Roman"/>
              </a:rPr>
              <a:t>\\n VRAM→解像度→バッチ→ステップ→最適化の順で設定し、VRAM溢れを防ぐ。\\n </a:t>
            </a:r>
          </a:p>
        </p:txBody>
      </p:sp>
      <p:sp>
        <p:nvSpPr>
          <p:cNvPr id="23" name="TextBox 22"/>
          <p:cNvSpPr txBox="1"/>
          <p:nvPr/>
        </p:nvSpPr>
        <p:spPr>
          <a:xfrm>
            <a:off x="457200" y="14964156"/>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プロファイルの適用</a:t>
            </a:r>
          </a:p>
          <a:p>
            <a:r>
              <a:rPr sz="1200">
                <a:solidFill>
                  <a:srgbClr val="000000"/>
                </a:solidFill>
                <a:latin typeface="Times New Roman"/>
              </a:rPr>
              <a:t>\\n attention slicing等のメモリ最適化手法を固定プロファイルとして適用する。\\n </a:t>
            </a:r>
          </a:p>
        </p:txBody>
      </p:sp>
      <p:sp>
        <p:nvSpPr>
          <p:cNvPr id="24" name="TextBox 23"/>
          <p:cNvSpPr txBox="1"/>
          <p:nvPr/>
        </p:nvSpPr>
        <p:spPr>
          <a:xfrm>
            <a:off x="75895" y="16868851"/>
            <a:ext cx="12230100" cy="200254"/>
          </a:xfrm>
          <a:prstGeom prst="rect">
            <a:avLst/>
          </a:prstGeom>
          <a:noFill/>
          <a:ln/>
        </p:spPr>
        <p:txBody>
          <a:bodyPr wrap="square" lIns="0" rIns="0" tIns="0" bIns="0">
            <a:noAutofit/>
          </a:bodyPr>
          <a:lstStyle/>
          <a:p>
            <a:r>
              <a:rPr sz="1200">
                <a:solidFill>
                  <a:srgbClr val="000000"/>
                </a:solidFill>
                <a:latin typeface="Times New Roman"/>
              </a:rPr>
              <a:t>再現性の担保</a:t>
            </a:r>
          </a:p>
        </p:txBody>
      </p:sp>
      <p:sp>
        <p:nvSpPr>
          <p:cNvPr id="25" name="TextBox 24"/>
          <p:cNvSpPr txBox="1"/>
          <p:nvPr/>
        </p:nvSpPr>
        <p:spPr>
          <a:xfrm>
            <a:off x="457200" y="18059400"/>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Seedとワークフロー固定</a:t>
            </a:r>
          </a:p>
          <a:p>
            <a:r>
              <a:rPr sz="1200">
                <a:solidFill>
                  <a:srgbClr val="000000"/>
                </a:solidFill>
                <a:latin typeface="Times New Roman"/>
              </a:rPr>
              <a:t>\\n Seed値とComfyUIのワークフロー</a:t>
            </a:r>
            <a:r>
              <a:rPr sz="1200">
                <a:solidFill>
                  <a:srgbClr val="000000"/>
                </a:solidFill>
                <a:latin typeface="Times New Roman"/>
              </a:rPr>
              <a:t>[72]</a:t>
            </a:r>
            <a:r>
              <a:rPr sz="1200">
                <a:solidFill>
                  <a:srgbClr val="000000"/>
                </a:solidFill>
                <a:latin typeface="Times New Roman"/>
              </a:rPr>
              <a:t>を固定し、結果を担保する。\\n </a:t>
            </a:r>
          </a:p>
        </p:txBody>
      </p:sp>
      <p:sp>
        <p:nvSpPr>
          <p:cNvPr id="26" name="TextBox 25"/>
          <p:cNvSpPr txBox="1"/>
          <p:nvPr/>
        </p:nvSpPr>
        <p:spPr>
          <a:xfrm>
            <a:off x="457200" y="19278295"/>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ライセンス確認</a:t>
            </a:r>
          </a:p>
          <a:p>
            <a:r>
              <a:rPr sz="1200">
                <a:solidFill>
                  <a:srgbClr val="000000"/>
                </a:solidFill>
                <a:latin typeface="Times New Roman"/>
              </a:rPr>
              <a:t>\\n FLUX等はライセンス文書</a:t>
            </a:r>
            <a:r>
              <a:rPr sz="1200">
                <a:solidFill>
                  <a:srgbClr val="000000"/>
                </a:solidFill>
                <a:latin typeface="Times New Roman"/>
              </a:rPr>
              <a:t>[76]</a:t>
            </a:r>
            <a:r>
              <a:rPr sz="1200">
                <a:solidFill>
                  <a:srgbClr val="000000"/>
                </a:solidFill>
                <a:latin typeface="Times New Roman"/>
              </a:rPr>
              <a:t>を確認し、商用利用可否を厳密に精査する。\\n </a:t>
            </a:r>
          </a:p>
        </p:txBody>
      </p:sp>
      <p:sp>
        <p:nvSpPr>
          <p:cNvPr id="27" name="TextBox 26"/>
          <p:cNvSpPr txBox="1"/>
          <p:nvPr/>
        </p:nvSpPr>
        <p:spPr>
          <a:xfrm>
            <a:off x="75895" y="21183905"/>
            <a:ext cx="12230100" cy="200254"/>
          </a:xfrm>
          <a:prstGeom prst="rect">
            <a:avLst/>
          </a:prstGeom>
          <a:noFill/>
          <a:ln/>
        </p:spPr>
        <p:txBody>
          <a:bodyPr wrap="square" lIns="0" rIns="0" tIns="0" bIns="0">
            <a:noAutofit/>
          </a:bodyPr>
          <a:lstStyle/>
          <a:p>
            <a:r>
              <a:rPr sz="1200">
                <a:solidFill>
                  <a:srgbClr val="000000"/>
                </a:solidFill>
                <a:latin typeface="Times New Roman"/>
              </a:rPr>
              <a:t>オフロード戦略</a:t>
            </a:r>
          </a:p>
        </p:txBody>
      </p:sp>
      <p:sp>
        <p:nvSpPr>
          <p:cNvPr id="28" name="TextBox 27"/>
          <p:cNvSpPr txBox="1"/>
          <p:nvPr/>
        </p:nvSpPr>
        <p:spPr>
          <a:xfrm>
            <a:off x="457200" y="22374454"/>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夜間バッチ処理</a:t>
            </a:r>
          </a:p>
          <a:p>
            <a:r>
              <a:rPr sz="1200">
                <a:solidFill>
                  <a:srgbClr val="000000"/>
                </a:solidFill>
                <a:latin typeface="Times New Roman"/>
              </a:rPr>
              <a:t>\\n VRAMが厳しい場合は、生成処理を夜間バッチに回しリソースを分散させる。\\n </a:t>
            </a:r>
          </a:p>
        </p:txBody>
      </p:sp>
      <p:sp>
        <p:nvSpPr>
          <p:cNvPr id="29" name="TextBox 28"/>
          <p:cNvSpPr txBox="1"/>
          <p:nvPr/>
        </p:nvSpPr>
        <p:spPr>
          <a:xfrm>
            <a:off x="457200" y="23593349"/>
            <a:ext cx="11735410" cy="400507"/>
          </a:xfrm>
          <a:prstGeom prst="rect">
            <a:avLst/>
          </a:prstGeom>
          <a:noFill/>
          <a:ln/>
        </p:spPr>
        <p:txBody>
          <a:bodyPr wrap="square" lIns="0" rIns="0" tIns="0" bIns="0">
            <a:noAutofit/>
          </a:bodyPr>
          <a:lstStyle/>
          <a:p>
            <a:r>
              <a:rPr sz="1200">
                <a:solidFill>
                  <a:srgbClr val="000000"/>
                </a:solidFill>
                <a:latin typeface="Times New Roman"/>
              </a:rPr>
              <a:t>\\n</a:t>
            </a:r>
            <a:r>
              <a:rPr sz="1200">
                <a:solidFill>
                  <a:srgbClr val="000000"/>
                </a:solidFill>
                <a:latin typeface="Times New Roman"/>
              </a:rPr>
              <a:t>別筐体への逃がし</a:t>
            </a:r>
          </a:p>
          <a:p>
            <a:r>
              <a:rPr sz="1200">
                <a:solidFill>
                  <a:srgbClr val="000000"/>
                </a:solidFill>
                <a:latin typeface="Times New Roman"/>
              </a:rPr>
              <a:t>\\n 可能な場合、ローカルLAN内の別端末に生成処理をオフロードする設計も検討。\\n </a:t>
            </a:r>
          </a:p>
        </p:txBody>
      </p:sp>
      <p:sp>
        <p:nvSpPr>
          <p:cNvPr id="30" name="TextBox 29"/>
          <p:cNvSpPr txBox="1"/>
          <p:nvPr/>
        </p:nvSpPr>
        <p:spPr>
          <a:xfrm>
            <a:off x="75895" y="25327051"/>
            <a:ext cx="12154205" cy="200254"/>
          </a:xfrm>
          <a:prstGeom prst="rect">
            <a:avLst/>
          </a:prstGeom>
          <a:noFill/>
          <a:ln/>
        </p:spPr>
        <p:txBody>
          <a:bodyPr wrap="square" lIns="0" rIns="0" tIns="0" bIns="0">
            <a:noAutofit/>
          </a:bodyPr>
          <a:lstStyle/>
          <a:p>
            <a:r>
              <a:rPr sz="1200">
                <a:solidFill>
                  <a:srgbClr val="000000"/>
                </a:solidFill>
                <a:latin typeface="Times New Roman"/>
              </a:rPr>
              <a:t>\\n Page 38 | ローカルAI 技術調査レポート\\n</a:t>
            </a:r>
          </a:p>
        </p:txBody>
      </p:sp>
      <p:sp>
        <p:nvSpPr>
          <p:cNvPr id="31" name="TextBox 30"/>
          <p:cNvSpPr txBox="1"/>
          <p:nvPr/>
        </p:nvSpPr>
        <p:spPr>
          <a:xfrm>
            <a:off x="75895" y="75895"/>
            <a:ext cx="578815" cy="162762"/>
          </a:xfrm>
          <a:prstGeom prst="rect">
            <a:avLst/>
          </a:prstGeom>
          <a:noFill/>
          <a:ln/>
        </p:spPr>
        <p:txBody>
          <a:bodyPr wrap="square" lIns="0" rIns="0" tIns="0" bIns="0">
            <a:noAutofit/>
          </a:bodyPr>
          <a:lstStyle/>
          <a:p>
            <a:r>
              <a:rPr sz="1200">
                <a:solidFill>
                  <a:srgbClr val="000000"/>
                </a:solidFill>
                <a:latin typeface="Times New Roman"/>
              </a:rPr>
              <a:t>\\n\\n\\n</a:t>
            </a:r>
          </a:p>
        </p:txBody>
      </p:sp>
      <p:sp>
        <p:nvSpPr>
          <p:cNvPr id="32" name="TextBox 31"/>
          <p:cNvSpPr txBox="1"/>
          <p:nvPr/>
        </p:nvSpPr>
        <p:spPr>
          <a:xfrm>
            <a:off x="558698" y="758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3" name="TextBox 32"/>
          <p:cNvSpPr txBox="1"/>
          <p:nvPr/>
        </p:nvSpPr>
        <p:spPr>
          <a:xfrm>
            <a:off x="719633" y="758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4" name="TextBox 33"/>
          <p:cNvSpPr txBox="1"/>
          <p:nvPr/>
        </p:nvSpPr>
        <p:spPr>
          <a:xfrm>
            <a:off x="880566" y="75895"/>
            <a:ext cx="238658"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5" name="TextBox 34"/>
          <p:cNvSpPr txBox="1"/>
          <p:nvPr/>
        </p:nvSpPr>
        <p:spPr>
          <a:xfrm>
            <a:off x="1041502" y="75895"/>
            <a:ext cx="238658"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6" name="TextBox 35"/>
          <p:cNvSpPr txBox="1"/>
          <p:nvPr/>
        </p:nvSpPr>
        <p:spPr>
          <a:xfrm>
            <a:off x="1202436" y="758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7" name="TextBox 36"/>
          <p:cNvSpPr txBox="1"/>
          <p:nvPr/>
        </p:nvSpPr>
        <p:spPr>
          <a:xfrm>
            <a:off x="1363370" y="758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38" name="TextBox 37"/>
          <p:cNvSpPr txBox="1"/>
          <p:nvPr/>
        </p:nvSpPr>
        <p:spPr>
          <a:xfrm>
            <a:off x="1524305" y="75895"/>
            <a:ext cx="578815" cy="162762"/>
          </a:xfrm>
          <a:prstGeom prst="rect">
            <a:avLst/>
          </a:prstGeom>
          <a:noFill/>
          <a:ln/>
        </p:spPr>
        <p:txBody>
          <a:bodyPr wrap="square" lIns="0" rIns="0" tIns="0" bIns="0">
            <a:noAutofit/>
          </a:bodyPr>
          <a:lstStyle/>
          <a:p>
            <a:r>
              <a:rPr sz="1200">
                <a:solidFill>
                  <a:srgbClr val="000000"/>
                </a:solidFill>
                <a:latin typeface="Times New Roman"/>
              </a:rPr>
              <a:t>\\n\\n\\n</a:t>
            </a:r>
          </a:p>
        </p:txBody>
      </p:sp>
      <p:sp>
        <p:nvSpPr>
          <p:cNvPr id="39" name="TextBox 38"/>
          <p:cNvSpPr txBox="1"/>
          <p:nvPr/>
        </p:nvSpPr>
        <p:spPr>
          <a:xfrm>
            <a:off x="75895" y="247802"/>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0" name="TextBox 39"/>
          <p:cNvSpPr txBox="1"/>
          <p:nvPr/>
        </p:nvSpPr>
        <p:spPr>
          <a:xfrm>
            <a:off x="75895" y="4187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1" name="TextBox 40"/>
          <p:cNvSpPr txBox="1"/>
          <p:nvPr/>
        </p:nvSpPr>
        <p:spPr>
          <a:xfrm>
            <a:off x="397764" y="599846"/>
            <a:ext cx="1975104" cy="162762"/>
          </a:xfrm>
          <a:prstGeom prst="rect">
            <a:avLst/>
          </a:prstGeom>
          <a:noFill/>
          <a:ln/>
        </p:spPr>
        <p:txBody>
          <a:bodyPr wrap="square" lIns="0" rIns="0" tIns="0" bIns="0">
            <a:noAutofit/>
          </a:bodyPr>
          <a:lstStyle/>
          <a:p>
            <a:r>
              <a:rPr sz="1200">
                <a:solidFill>
                  <a:srgbClr val="000000"/>
                </a:solidFill>
                <a:latin typeface="Times New Roman"/>
              </a:rPr>
              <a:t>採用判断基準（画像生成）</a:t>
            </a:r>
          </a:p>
        </p:txBody>
      </p:sp>
      <p:sp>
        <p:nvSpPr>
          <p:cNvPr id="42" name="TextBox 41"/>
          <p:cNvSpPr txBox="1"/>
          <p:nvPr/>
        </p:nvSpPr>
        <p:spPr>
          <a:xfrm>
            <a:off x="75895" y="790956"/>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3" name="TextBox 42"/>
          <p:cNvSpPr txBox="1"/>
          <p:nvPr/>
        </p:nvSpPr>
        <p:spPr>
          <a:xfrm>
            <a:off x="75895" y="1162202"/>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4" name="TextBox 43"/>
          <p:cNvSpPr txBox="1"/>
          <p:nvPr/>
        </p:nvSpPr>
        <p:spPr>
          <a:xfrm>
            <a:off x="75895" y="13331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5" name="TextBox 44"/>
          <p:cNvSpPr txBox="1"/>
          <p:nvPr/>
        </p:nvSpPr>
        <p:spPr>
          <a:xfrm>
            <a:off x="75895" y="1505102"/>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6" name="TextBox 45"/>
          <p:cNvSpPr txBox="1"/>
          <p:nvPr/>
        </p:nvSpPr>
        <p:spPr>
          <a:xfrm>
            <a:off x="236830" y="1505102"/>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7" name="TextBox 46"/>
          <p:cNvSpPr txBox="1"/>
          <p:nvPr/>
        </p:nvSpPr>
        <p:spPr>
          <a:xfrm>
            <a:off x="75895" y="1676095"/>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8" name="TextBox 47"/>
          <p:cNvSpPr txBox="1"/>
          <p:nvPr/>
        </p:nvSpPr>
        <p:spPr>
          <a:xfrm>
            <a:off x="75895" y="2352751"/>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49" name="TextBox 48"/>
          <p:cNvSpPr txBox="1"/>
          <p:nvPr/>
        </p:nvSpPr>
        <p:spPr>
          <a:xfrm>
            <a:off x="75895" y="2523744"/>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0" name="TextBox 49"/>
          <p:cNvSpPr txBox="1"/>
          <p:nvPr/>
        </p:nvSpPr>
        <p:spPr>
          <a:xfrm>
            <a:off x="236830" y="2523744"/>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1" name="TextBox 50"/>
          <p:cNvSpPr txBox="1"/>
          <p:nvPr/>
        </p:nvSpPr>
        <p:spPr>
          <a:xfrm>
            <a:off x="75895" y="2695651"/>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2" name="TextBox 51"/>
          <p:cNvSpPr txBox="1"/>
          <p:nvPr/>
        </p:nvSpPr>
        <p:spPr>
          <a:xfrm>
            <a:off x="75895" y="2866644"/>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3" name="TextBox 52"/>
          <p:cNvSpPr txBox="1"/>
          <p:nvPr/>
        </p:nvSpPr>
        <p:spPr>
          <a:xfrm>
            <a:off x="75895" y="3209544"/>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4" name="TextBox 53"/>
          <p:cNvSpPr txBox="1"/>
          <p:nvPr/>
        </p:nvSpPr>
        <p:spPr>
          <a:xfrm>
            <a:off x="75895" y="35817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5" name="TextBox 54"/>
          <p:cNvSpPr txBox="1"/>
          <p:nvPr/>
        </p:nvSpPr>
        <p:spPr>
          <a:xfrm>
            <a:off x="75895" y="41532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6" name="TextBox 55"/>
          <p:cNvSpPr txBox="1"/>
          <p:nvPr/>
        </p:nvSpPr>
        <p:spPr>
          <a:xfrm>
            <a:off x="75895" y="43241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7" name="TextBox 56"/>
          <p:cNvSpPr txBox="1"/>
          <p:nvPr/>
        </p:nvSpPr>
        <p:spPr>
          <a:xfrm>
            <a:off x="75895" y="4496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8" name="TextBox 57"/>
          <p:cNvSpPr txBox="1"/>
          <p:nvPr/>
        </p:nvSpPr>
        <p:spPr>
          <a:xfrm>
            <a:off x="75895" y="46670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59" name="TextBox 58"/>
          <p:cNvSpPr txBox="1"/>
          <p:nvPr/>
        </p:nvSpPr>
        <p:spPr>
          <a:xfrm>
            <a:off x="75895" y="50099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0" name="TextBox 59"/>
          <p:cNvSpPr txBox="1"/>
          <p:nvPr/>
        </p:nvSpPr>
        <p:spPr>
          <a:xfrm>
            <a:off x="75895" y="53812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1" name="TextBox 60"/>
          <p:cNvSpPr txBox="1"/>
          <p:nvPr/>
        </p:nvSpPr>
        <p:spPr>
          <a:xfrm>
            <a:off x="75895" y="59527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2" name="TextBox 61"/>
          <p:cNvSpPr txBox="1"/>
          <p:nvPr/>
        </p:nvSpPr>
        <p:spPr>
          <a:xfrm>
            <a:off x="75895" y="61246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3" name="TextBox 62"/>
          <p:cNvSpPr txBox="1"/>
          <p:nvPr/>
        </p:nvSpPr>
        <p:spPr>
          <a:xfrm>
            <a:off x="75895" y="62956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4" name="TextBox 63"/>
          <p:cNvSpPr txBox="1"/>
          <p:nvPr/>
        </p:nvSpPr>
        <p:spPr>
          <a:xfrm>
            <a:off x="75895" y="6467551"/>
            <a:ext cx="238657" cy="162762"/>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5" name="TextBox 64"/>
          <p:cNvSpPr txBox="1"/>
          <p:nvPr/>
        </p:nvSpPr>
        <p:spPr>
          <a:xfrm>
            <a:off x="75895" y="68104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6" name="TextBox 65"/>
          <p:cNvSpPr txBox="1"/>
          <p:nvPr/>
        </p:nvSpPr>
        <p:spPr>
          <a:xfrm>
            <a:off x="75895" y="7181697"/>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7" name="TextBox 66"/>
          <p:cNvSpPr txBox="1"/>
          <p:nvPr/>
        </p:nvSpPr>
        <p:spPr>
          <a:xfrm>
            <a:off x="75895" y="7753197"/>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8" name="TextBox 67"/>
          <p:cNvSpPr txBox="1"/>
          <p:nvPr/>
        </p:nvSpPr>
        <p:spPr>
          <a:xfrm>
            <a:off x="75895" y="7925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69" name="TextBox 68"/>
          <p:cNvSpPr txBox="1"/>
          <p:nvPr/>
        </p:nvSpPr>
        <p:spPr>
          <a:xfrm>
            <a:off x="75895" y="8096097"/>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0" name="TextBox 69"/>
          <p:cNvSpPr txBox="1"/>
          <p:nvPr/>
        </p:nvSpPr>
        <p:spPr>
          <a:xfrm>
            <a:off x="75895" y="82680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1" name="TextBox 70"/>
          <p:cNvSpPr txBox="1"/>
          <p:nvPr/>
        </p:nvSpPr>
        <p:spPr>
          <a:xfrm>
            <a:off x="75895" y="86109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2" name="TextBox 71"/>
          <p:cNvSpPr txBox="1"/>
          <p:nvPr/>
        </p:nvSpPr>
        <p:spPr>
          <a:xfrm>
            <a:off x="75895" y="89821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3" name="TextBox 72"/>
          <p:cNvSpPr txBox="1"/>
          <p:nvPr/>
        </p:nvSpPr>
        <p:spPr>
          <a:xfrm>
            <a:off x="75895" y="95536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4" name="TextBox 73"/>
          <p:cNvSpPr txBox="1"/>
          <p:nvPr/>
        </p:nvSpPr>
        <p:spPr>
          <a:xfrm>
            <a:off x="75895" y="97246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5" name="TextBox 74"/>
          <p:cNvSpPr txBox="1"/>
          <p:nvPr/>
        </p:nvSpPr>
        <p:spPr>
          <a:xfrm>
            <a:off x="75895" y="98965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6" name="TextBox 75"/>
          <p:cNvSpPr txBox="1"/>
          <p:nvPr/>
        </p:nvSpPr>
        <p:spPr>
          <a:xfrm>
            <a:off x="75895" y="100675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7" name="TextBox 76"/>
          <p:cNvSpPr txBox="1"/>
          <p:nvPr/>
        </p:nvSpPr>
        <p:spPr>
          <a:xfrm>
            <a:off x="75895" y="104104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8" name="TextBox 77"/>
          <p:cNvSpPr txBox="1"/>
          <p:nvPr/>
        </p:nvSpPr>
        <p:spPr>
          <a:xfrm>
            <a:off x="75895" y="107826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79" name="TextBox 78"/>
          <p:cNvSpPr txBox="1"/>
          <p:nvPr/>
        </p:nvSpPr>
        <p:spPr>
          <a:xfrm>
            <a:off x="75895" y="11354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0" name="TextBox 79"/>
          <p:cNvSpPr txBox="1"/>
          <p:nvPr/>
        </p:nvSpPr>
        <p:spPr>
          <a:xfrm>
            <a:off x="75895" y="115250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1" name="TextBox 80"/>
          <p:cNvSpPr txBox="1"/>
          <p:nvPr/>
        </p:nvSpPr>
        <p:spPr>
          <a:xfrm>
            <a:off x="75895" y="116970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2" name="TextBox 81"/>
          <p:cNvSpPr txBox="1"/>
          <p:nvPr/>
        </p:nvSpPr>
        <p:spPr>
          <a:xfrm>
            <a:off x="236830" y="116970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3" name="TextBox 82"/>
          <p:cNvSpPr txBox="1"/>
          <p:nvPr/>
        </p:nvSpPr>
        <p:spPr>
          <a:xfrm>
            <a:off x="75895" y="118679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4" name="TextBox 83"/>
          <p:cNvSpPr txBox="1"/>
          <p:nvPr/>
        </p:nvSpPr>
        <p:spPr>
          <a:xfrm>
            <a:off x="236830" y="118679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5" name="TextBox 84"/>
          <p:cNvSpPr txBox="1"/>
          <p:nvPr/>
        </p:nvSpPr>
        <p:spPr>
          <a:xfrm>
            <a:off x="75895" y="120399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6" name="TextBox 85"/>
          <p:cNvSpPr txBox="1"/>
          <p:nvPr/>
        </p:nvSpPr>
        <p:spPr>
          <a:xfrm>
            <a:off x="75895" y="122108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7" name="TextBox 86"/>
          <p:cNvSpPr txBox="1"/>
          <p:nvPr/>
        </p:nvSpPr>
        <p:spPr>
          <a:xfrm>
            <a:off x="75895" y="123828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8" name="TextBox 87"/>
          <p:cNvSpPr txBox="1"/>
          <p:nvPr/>
        </p:nvSpPr>
        <p:spPr>
          <a:xfrm>
            <a:off x="75895" y="127540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89" name="TextBox 88"/>
          <p:cNvSpPr txBox="1"/>
          <p:nvPr/>
        </p:nvSpPr>
        <p:spPr>
          <a:xfrm>
            <a:off x="75895" y="129250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0" name="TextBox 89"/>
          <p:cNvSpPr txBox="1"/>
          <p:nvPr/>
        </p:nvSpPr>
        <p:spPr>
          <a:xfrm>
            <a:off x="457200" y="13249656"/>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1" name="TextBox 90"/>
          <p:cNvSpPr txBox="1"/>
          <p:nvPr/>
        </p:nvSpPr>
        <p:spPr>
          <a:xfrm>
            <a:off x="457200" y="144685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2" name="TextBox 91"/>
          <p:cNvSpPr txBox="1"/>
          <p:nvPr/>
        </p:nvSpPr>
        <p:spPr>
          <a:xfrm>
            <a:off x="457200" y="15687446"/>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3" name="TextBox 92"/>
          <p:cNvSpPr txBox="1"/>
          <p:nvPr/>
        </p:nvSpPr>
        <p:spPr>
          <a:xfrm>
            <a:off x="75895" y="160111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4" name="TextBox 93"/>
          <p:cNvSpPr txBox="1"/>
          <p:nvPr/>
        </p:nvSpPr>
        <p:spPr>
          <a:xfrm>
            <a:off x="75895" y="161830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5" name="TextBox 94"/>
          <p:cNvSpPr txBox="1"/>
          <p:nvPr/>
        </p:nvSpPr>
        <p:spPr>
          <a:xfrm>
            <a:off x="236830" y="161830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6" name="TextBox 95"/>
          <p:cNvSpPr txBox="1"/>
          <p:nvPr/>
        </p:nvSpPr>
        <p:spPr>
          <a:xfrm>
            <a:off x="75895" y="163540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7" name="TextBox 96"/>
          <p:cNvSpPr txBox="1"/>
          <p:nvPr/>
        </p:nvSpPr>
        <p:spPr>
          <a:xfrm>
            <a:off x="75895" y="165259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8" name="TextBox 97"/>
          <p:cNvSpPr txBox="1"/>
          <p:nvPr/>
        </p:nvSpPr>
        <p:spPr>
          <a:xfrm>
            <a:off x="75895" y="166969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99" name="TextBox 98"/>
          <p:cNvSpPr txBox="1"/>
          <p:nvPr/>
        </p:nvSpPr>
        <p:spPr>
          <a:xfrm>
            <a:off x="75895" y="17069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0" name="TextBox 99"/>
          <p:cNvSpPr txBox="1"/>
          <p:nvPr/>
        </p:nvSpPr>
        <p:spPr>
          <a:xfrm>
            <a:off x="75895" y="172400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1" name="TextBox 100"/>
          <p:cNvSpPr txBox="1"/>
          <p:nvPr/>
        </p:nvSpPr>
        <p:spPr>
          <a:xfrm>
            <a:off x="457200" y="1756379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2" name="TextBox 101"/>
          <p:cNvSpPr txBox="1"/>
          <p:nvPr/>
        </p:nvSpPr>
        <p:spPr>
          <a:xfrm>
            <a:off x="457200" y="187836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3" name="TextBox 102"/>
          <p:cNvSpPr txBox="1"/>
          <p:nvPr/>
        </p:nvSpPr>
        <p:spPr>
          <a:xfrm>
            <a:off x="457200" y="20002500"/>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4" name="TextBox 103"/>
          <p:cNvSpPr txBox="1"/>
          <p:nvPr/>
        </p:nvSpPr>
        <p:spPr>
          <a:xfrm>
            <a:off x="75895" y="203261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5" name="TextBox 104"/>
          <p:cNvSpPr txBox="1"/>
          <p:nvPr/>
        </p:nvSpPr>
        <p:spPr>
          <a:xfrm>
            <a:off x="75895" y="20498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6" name="TextBox 105"/>
          <p:cNvSpPr txBox="1"/>
          <p:nvPr/>
        </p:nvSpPr>
        <p:spPr>
          <a:xfrm>
            <a:off x="236830" y="204981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7" name="TextBox 106"/>
          <p:cNvSpPr txBox="1"/>
          <p:nvPr/>
        </p:nvSpPr>
        <p:spPr>
          <a:xfrm>
            <a:off x="75895" y="206690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8" name="TextBox 107"/>
          <p:cNvSpPr txBox="1"/>
          <p:nvPr/>
        </p:nvSpPr>
        <p:spPr>
          <a:xfrm>
            <a:off x="75895" y="208410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09" name="TextBox 108"/>
          <p:cNvSpPr txBox="1"/>
          <p:nvPr/>
        </p:nvSpPr>
        <p:spPr>
          <a:xfrm>
            <a:off x="75895" y="210119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0" name="TextBox 109"/>
          <p:cNvSpPr txBox="1"/>
          <p:nvPr/>
        </p:nvSpPr>
        <p:spPr>
          <a:xfrm>
            <a:off x="75895" y="213832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1" name="TextBox 110"/>
          <p:cNvSpPr txBox="1"/>
          <p:nvPr/>
        </p:nvSpPr>
        <p:spPr>
          <a:xfrm>
            <a:off x="75895" y="215551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2" name="TextBox 111"/>
          <p:cNvSpPr txBox="1"/>
          <p:nvPr/>
        </p:nvSpPr>
        <p:spPr>
          <a:xfrm>
            <a:off x="457200" y="21878849"/>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3" name="TextBox 112"/>
          <p:cNvSpPr txBox="1"/>
          <p:nvPr/>
        </p:nvSpPr>
        <p:spPr>
          <a:xfrm>
            <a:off x="457200" y="230977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4" name="TextBox 113"/>
          <p:cNvSpPr txBox="1"/>
          <p:nvPr/>
        </p:nvSpPr>
        <p:spPr>
          <a:xfrm>
            <a:off x="457200" y="2431755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5" name="TextBox 114"/>
          <p:cNvSpPr txBox="1"/>
          <p:nvPr/>
        </p:nvSpPr>
        <p:spPr>
          <a:xfrm>
            <a:off x="75895" y="246412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6" name="TextBox 115"/>
          <p:cNvSpPr txBox="1"/>
          <p:nvPr/>
        </p:nvSpPr>
        <p:spPr>
          <a:xfrm>
            <a:off x="75895" y="248122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7" name="TextBox 116"/>
          <p:cNvSpPr txBox="1"/>
          <p:nvPr/>
        </p:nvSpPr>
        <p:spPr>
          <a:xfrm>
            <a:off x="75895" y="24984151"/>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8" name="TextBox 117"/>
          <p:cNvSpPr txBox="1"/>
          <p:nvPr/>
        </p:nvSpPr>
        <p:spPr>
          <a:xfrm>
            <a:off x="75895" y="25155144"/>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19" name="TextBox 118"/>
          <p:cNvSpPr txBox="1"/>
          <p:nvPr/>
        </p:nvSpPr>
        <p:spPr>
          <a:xfrm>
            <a:off x="75895" y="25527305"/>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20" name="TextBox 119"/>
          <p:cNvSpPr txBox="1"/>
          <p:nvPr/>
        </p:nvSpPr>
        <p:spPr>
          <a:xfrm>
            <a:off x="75895" y="25698298"/>
            <a:ext cx="238657" cy="162763"/>
          </a:xfrm>
          <a:prstGeom prst="rect">
            <a:avLst/>
          </a:prstGeom>
          <a:noFill/>
          <a:ln/>
        </p:spPr>
        <p:txBody>
          <a:bodyPr wrap="square" lIns="0" rIns="0" tIns="0" bIns="0">
            <a:noAutofit/>
          </a:bodyPr>
          <a:lstStyle/>
          <a:p>
            <a:r>
              <a:rPr sz="1200">
                <a:solidFill>
                  <a:srgbClr val="000000"/>
                </a:solidFill>
                <a:latin typeface="Times New Roman"/>
              </a:rPr>
              <a:t>\\n</a:t>
            </a:r>
          </a:p>
        </p:txBody>
      </p:sp>
      <p:sp>
        <p:nvSpPr>
          <p:cNvPr id="121" name="TextBox 120"/>
          <p:cNvSpPr txBox="1"/>
          <p:nvPr/>
        </p:nvSpPr>
        <p:spPr>
          <a:xfrm>
            <a:off x="236830" y="25698298"/>
            <a:ext cx="277063" cy="162763"/>
          </a:xfrm>
          <a:prstGeom prst="rect">
            <a:avLst/>
          </a:prstGeom>
          <a:noFill/>
          <a:ln/>
        </p:spPr>
        <p:txBody>
          <a:bodyPr wrap="square" lIns="0" rIns="0" tIns="0" bIns="0">
            <a:noAutofit/>
          </a:bodyPr>
          <a:lstStyle/>
          <a:p>
            <a:r>
              <a:rPr sz="1200">
                <a:solidFill>
                  <a:srgbClr val="000000"/>
                </a:solidFill>
                <a:latin typeface="Times New Roman"/>
              </a:rPr>
              <a:t>\\n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p:spPr>
      </p:pic>
      <p:sp>
        <p:nvSpPr>
          <p:cNvPr id="8" name="TextBox 7"/>
          <p:cNvSpPr txBox="1"/>
          <p:nvPr/>
        </p:nvSpPr>
        <p:spPr>
          <a:xfrm>
            <a:off x="990294" y="243230"/>
            <a:ext cx="3664001" cy="457200"/>
          </a:xfrm>
          <a:prstGeom prst="rect">
            <a:avLst/>
          </a:prstGeom>
          <a:noFill/>
          <a:ln/>
        </p:spPr>
        <p:txBody>
          <a:bodyPr wrap="square" lIns="0" rIns="0" tIns="0" bIns="0">
            <a:noAutofit/>
          </a:bodyPr>
          <a:lstStyle/>
          <a:p>
            <a:r>
              <a:rPr sz="2400" b="1">
                <a:solidFill>
                  <a:srgbClr val="1D1D1F"/>
                </a:solidFill>
                <a:latin typeface="Noto Sans JP"/>
              </a:rPr>
              <a:t>Agent / Tool-use 概要</a:t>
            </a:r>
          </a:p>
        </p:txBody>
      </p:sp>
      <p:sp>
        <p:nvSpPr>
          <p:cNvPr id="9" name="TextBox 8"/>
          <p:cNvSpPr txBox="1"/>
          <p:nvPr/>
        </p:nvSpPr>
        <p:spPr>
          <a:xfrm>
            <a:off x="8481060" y="342900"/>
            <a:ext cx="3448201" cy="257861"/>
          </a:xfrm>
          <a:prstGeom prst="rect">
            <a:avLst/>
          </a:prstGeom>
          <a:noFill/>
          <a:ln/>
        </p:spPr>
        <p:txBody>
          <a:bodyPr wrap="square" lIns="0" rIns="0" tIns="0" bIns="0">
            <a:noAutofit/>
          </a:bodyPr>
          <a:lstStyle/>
          <a:p>
            <a:r>
              <a:rPr sz="1300">
                <a:solidFill>
                  <a:srgbClr val="86868B"/>
                </a:solidFill>
                <a:latin typeface="Noto Sans JP"/>
              </a:rPr>
              <a:t>ローカル環境でのエージェント構築と実行</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p:spPr>
      </p:pic>
      <p:sp>
        <p:nvSpPr>
          <p:cNvPr id="11" name="TextBox 10"/>
          <p:cNvSpPr txBox="1"/>
          <p:nvPr/>
        </p:nvSpPr>
        <p:spPr>
          <a:xfrm>
            <a:off x="743407" y="1447495"/>
            <a:ext cx="10842041" cy="590701"/>
          </a:xfrm>
          <a:prstGeom prst="rect">
            <a:avLst/>
          </a:prstGeom>
          <a:noFill/>
          <a:ln/>
        </p:spPr>
        <p:txBody>
          <a:bodyPr wrap="square" lIns="0" rIns="0" tIns="0" bIns="0">
            <a:noAutofit/>
          </a:bodyPr>
          <a:lstStyle/>
          <a:p>
            <a:r>
              <a:rPr sz="1600" b="1">
                <a:solidFill>
                  <a:srgbClr val="1D1D1F"/>
                </a:solidFill>
                <a:latin typeface="Noto Sans JP"/>
              </a:rPr>
              <a:t> 結論：Agentは「</a:t>
            </a:r>
            <a:r>
              <a:rPr sz="1600" b="1">
                <a:solidFill>
                  <a:srgbClr val="2563EB"/>
                </a:solidFill>
                <a:latin typeface="Noto Sans JP"/>
              </a:rPr>
              <a:t>LLM＋ツール呼び出し（関数）＋実行環境</a:t>
            </a:r>
            <a:r>
              <a:rPr sz="1600" b="1">
                <a:solidFill>
                  <a:srgbClr val="1D1D1F"/>
                </a:solidFill>
                <a:latin typeface="Noto Sans JP"/>
              </a:rPr>
              <a:t>」で構成され、Ollama/LM StudioのOpenAI互換APIを用いることで、ローカルでの実務的な構築が現実化しています。 </a:t>
            </a:r>
          </a:p>
        </p:txBody>
      </p:sp>
      <p:sp>
        <p:nvSpPr>
          <p:cNvPr id="12" name="Rectangle 11"/>
          <p:cNvSpPr/>
          <p:nvPr/>
        </p:nvSpPr>
        <p:spPr>
          <a:xfrm>
            <a:off x="457200"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09158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739542"/>
            <a:ext cx="219456" cy="190194"/>
          </a:xfrm>
          <a:prstGeom prst="rect">
            <a:avLst/>
          </a:prstGeom>
          <a:ln/>
        </p:spPr>
      </p:pic>
      <p:sp>
        <p:nvSpPr>
          <p:cNvPr id="15" name="TextBox 14"/>
          <p:cNvSpPr txBox="1"/>
          <p:nvPr/>
        </p:nvSpPr>
        <p:spPr>
          <a:xfrm>
            <a:off x="1028700" y="2691994"/>
            <a:ext cx="1714500" cy="419709"/>
          </a:xfrm>
          <a:prstGeom prst="rect">
            <a:avLst/>
          </a:prstGeom>
          <a:noFill/>
          <a:ln/>
        </p:spPr>
        <p:txBody>
          <a:bodyPr wrap="square" lIns="0" rIns="0" tIns="0" bIns="0">
            <a:noAutofit/>
          </a:bodyPr>
          <a:lstStyle/>
          <a:p>
            <a:r>
              <a:rPr sz="1500" b="1">
                <a:solidFill>
                  <a:srgbClr val="1D1D1F"/>
                </a:solidFill>
                <a:latin typeface="Noto Sans JP"/>
              </a:rPr>
              <a:t>構成要素とAPI基盤</a:t>
            </a:r>
          </a:p>
        </p:txBody>
      </p:sp>
      <p:pic>
        <p:nvPicPr>
          <p:cNvPr id="16" name="Picture 15" descr="image.png"/>
          <p:cNvPicPr>
            <a:picLocks noChangeAspect="1"/>
          </p:cNvPicPr>
          <p:nvPr/>
        </p:nvPicPr>
        <p:blipFill>
          <a:blip r:embed="rId5"/>
          <a:stretch>
            <a:fillRect/>
          </a:stretch>
        </p:blipFill>
        <p:spPr>
          <a:xfrm>
            <a:off x="694944" y="3263494"/>
            <a:ext cx="105156" cy="114300"/>
          </a:xfrm>
          <a:prstGeom prst="rect">
            <a:avLst/>
          </a:prstGeom>
          <a:ln/>
        </p:spPr>
      </p:pic>
      <p:sp>
        <p:nvSpPr>
          <p:cNvPr id="17" name="TextBox 16"/>
          <p:cNvSpPr txBox="1"/>
          <p:nvPr/>
        </p:nvSpPr>
        <p:spPr>
          <a:xfrm>
            <a:off x="895197" y="3492094"/>
            <a:ext cx="4924958" cy="457200"/>
          </a:xfrm>
          <a:prstGeom prst="rect">
            <a:avLst/>
          </a:prstGeom>
          <a:noFill/>
          <a:ln/>
        </p:spPr>
        <p:txBody>
          <a:bodyPr wrap="square" lIns="0" rIns="0" tIns="0" bIns="0">
            <a:noAutofit/>
          </a:bodyPr>
          <a:lstStyle/>
          <a:p>
            <a:r>
              <a:rPr sz="1200">
                <a:solidFill>
                  <a:srgbClr val="424245"/>
                </a:solidFill>
                <a:latin typeface="Noto Sans JP"/>
              </a:rPr>
              <a:t>エージェントの基本構成。LLMが判断し、定義されたツール（関数）を呼び出し、ローカル環境で実行して結果を返すループ構造。</a:t>
            </a:r>
          </a:p>
        </p:txBody>
      </p:sp>
      <p:pic>
        <p:nvPicPr>
          <p:cNvPr id="18" name="Picture 17" descr="image.png"/>
          <p:cNvPicPr>
            <a:picLocks noChangeAspect="1"/>
          </p:cNvPicPr>
          <p:nvPr/>
        </p:nvPicPr>
        <p:blipFill>
          <a:blip r:embed="rId5"/>
          <a:stretch>
            <a:fillRect/>
          </a:stretch>
        </p:blipFill>
        <p:spPr>
          <a:xfrm>
            <a:off x="694944" y="4082796"/>
            <a:ext cx="105156" cy="114300"/>
          </a:xfrm>
          <a:prstGeom prst="rect">
            <a:avLst/>
          </a:prstGeom>
          <a:ln/>
        </p:spPr>
      </p:pic>
      <p:sp>
        <p:nvSpPr>
          <p:cNvPr id="19" name="TextBox 18"/>
          <p:cNvSpPr txBox="1"/>
          <p:nvPr/>
        </p:nvSpPr>
        <p:spPr>
          <a:xfrm>
            <a:off x="895197" y="4311396"/>
            <a:ext cx="4924958" cy="685800"/>
          </a:xfrm>
          <a:prstGeom prst="rect">
            <a:avLst/>
          </a:prstGeom>
          <a:noFill/>
          <a:ln/>
        </p:spPr>
        <p:txBody>
          <a:bodyPr wrap="square" lIns="0" rIns="0" tIns="0" bIns="0">
            <a:noAutofit/>
          </a:bodyPr>
          <a:lstStyle/>
          <a:p>
            <a:r>
              <a:rPr sz="1200">
                <a:solidFill>
                  <a:srgbClr val="424245"/>
                </a:solidFill>
                <a:latin typeface="Noto Sans JP"/>
              </a:rPr>
              <a:t>OllamaやLM Studioは、ローカルで動作しながらOpenAI互換のエンドポイントを提供。</a:t>
            </a:r>
            <a:r>
              <a:rPr sz="1200">
                <a:solidFill>
                  <a:srgbClr val="424245"/>
                </a:solidFill>
                <a:latin typeface="Noto Sans JP"/>
              </a:rPr>
              <a:t>これにより、既存のAgentフレームワークやクライアントツールをそのまま利用可能。</a:t>
            </a:r>
          </a:p>
        </p:txBody>
      </p:sp>
      <p:pic>
        <p:nvPicPr>
          <p:cNvPr id="20" name="Picture 19" descr="image.png"/>
          <p:cNvPicPr>
            <a:picLocks noChangeAspect="1"/>
          </p:cNvPicPr>
          <p:nvPr/>
        </p:nvPicPr>
        <p:blipFill>
          <a:blip r:embed="rId6"/>
          <a:stretch>
            <a:fillRect/>
          </a:stretch>
        </p:blipFill>
        <p:spPr>
          <a:xfrm>
            <a:off x="2171700" y="4591202"/>
            <a:ext cx="657453" cy="181051"/>
          </a:xfrm>
          <a:prstGeom prst="rect">
            <a:avLst/>
          </a:prstGeom>
          <a:ln/>
        </p:spPr>
      </p:pic>
      <p:sp>
        <p:nvSpPr>
          <p:cNvPr id="21" name="TextBox 20"/>
          <p:cNvSpPr txBox="1"/>
          <p:nvPr/>
        </p:nvSpPr>
        <p:spPr>
          <a:xfrm>
            <a:off x="2171700" y="4591202"/>
            <a:ext cx="657453"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[23][24][41]</a:t>
            </a:r>
          </a:p>
        </p:txBody>
      </p:sp>
      <p:pic>
        <p:nvPicPr>
          <p:cNvPr id="22" name="Picture 21" descr="image.png"/>
          <p:cNvPicPr>
            <a:picLocks noChangeAspect="1"/>
          </p:cNvPicPr>
          <p:nvPr/>
        </p:nvPicPr>
        <p:blipFill>
          <a:blip r:embed="rId5"/>
          <a:stretch>
            <a:fillRect/>
          </a:stretch>
        </p:blipFill>
        <p:spPr>
          <a:xfrm>
            <a:off x="694944" y="5129784"/>
            <a:ext cx="105156" cy="114300"/>
          </a:xfrm>
          <a:prstGeom prst="rect">
            <a:avLst/>
          </a:prstGeom>
          <a:ln/>
        </p:spPr>
      </p:pic>
      <p:sp>
        <p:nvSpPr>
          <p:cNvPr id="23" name="TextBox 22"/>
          <p:cNvSpPr txBox="1"/>
          <p:nvPr/>
        </p:nvSpPr>
        <p:spPr>
          <a:xfrm>
            <a:off x="895197" y="5358384"/>
            <a:ext cx="4924958" cy="457200"/>
          </a:xfrm>
          <a:prstGeom prst="rect">
            <a:avLst/>
          </a:prstGeom>
          <a:noFill/>
          <a:ln/>
        </p:spPr>
        <p:txBody>
          <a:bodyPr wrap="square" lIns="0" rIns="0" tIns="0" bIns="0">
            <a:noAutofit/>
          </a:bodyPr>
          <a:lstStyle/>
          <a:p>
            <a:r>
              <a:rPr sz="1200">
                <a:solidFill>
                  <a:srgbClr val="424245"/>
                </a:solidFill>
                <a:latin typeface="Noto Sans JP"/>
              </a:rPr>
              <a:t>OpenHands等の自律エージェントツールでも、ローカルLLMを利用するガイドが整備されています。</a:t>
            </a:r>
          </a:p>
        </p:txBody>
      </p:sp>
      <p:pic>
        <p:nvPicPr>
          <p:cNvPr id="24" name="Picture 23" descr="image.png"/>
          <p:cNvPicPr>
            <a:picLocks noChangeAspect="1"/>
          </p:cNvPicPr>
          <p:nvPr/>
        </p:nvPicPr>
        <p:blipFill>
          <a:blip r:embed="rId7"/>
          <a:stretch>
            <a:fillRect/>
          </a:stretch>
        </p:blipFill>
        <p:spPr>
          <a:xfrm>
            <a:off x="3065983" y="5639105"/>
            <a:ext cx="228600" cy="181051"/>
          </a:xfrm>
          <a:prstGeom prst="rect">
            <a:avLst/>
          </a:prstGeom>
          <a:ln/>
        </p:spPr>
      </p:pic>
      <p:sp>
        <p:nvSpPr>
          <p:cNvPr id="25" name="TextBox 24"/>
          <p:cNvSpPr txBox="1"/>
          <p:nvPr/>
        </p:nvSpPr>
        <p:spPr>
          <a:xfrm>
            <a:off x="3065983" y="5639105"/>
            <a:ext cx="228600"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a:t>
            </a:r>
          </a:p>
        </p:txBody>
      </p:sp>
      <p:pic>
        <p:nvPicPr>
          <p:cNvPr id="26" name="Picture 25" descr="image.png"/>
          <p:cNvPicPr>
            <a:picLocks noChangeAspect="1"/>
          </p:cNvPicPr>
          <p:nvPr/>
        </p:nvPicPr>
        <p:blipFill>
          <a:blip r:embed="rId8"/>
          <a:stretch>
            <a:fillRect/>
          </a:stretch>
        </p:blipFill>
        <p:spPr>
          <a:xfrm>
            <a:off x="694944" y="6339535"/>
            <a:ext cx="1476756" cy="247801"/>
          </a:xfrm>
          <a:prstGeom prst="rect">
            <a:avLst/>
          </a:prstGeom>
          <a:ln/>
        </p:spPr>
      </p:pic>
      <p:sp>
        <p:nvSpPr>
          <p:cNvPr id="27" name="TextBox 26"/>
          <p:cNvSpPr txBox="1"/>
          <p:nvPr/>
        </p:nvSpPr>
        <p:spPr>
          <a:xfrm>
            <a:off x="694944" y="6339535"/>
            <a:ext cx="1476756" cy="247801"/>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OpenAI API Compatible</a:t>
            </a:r>
          </a:p>
        </p:txBody>
      </p:sp>
      <p:pic>
        <p:nvPicPr>
          <p:cNvPr id="28" name="Picture 27" descr="image.png"/>
          <p:cNvPicPr>
            <a:picLocks noChangeAspect="1"/>
          </p:cNvPicPr>
          <p:nvPr/>
        </p:nvPicPr>
        <p:blipFill>
          <a:blip r:embed="rId9"/>
          <a:stretch>
            <a:fillRect/>
          </a:stretch>
        </p:blipFill>
        <p:spPr>
          <a:xfrm>
            <a:off x="2227478" y="6339535"/>
            <a:ext cx="1057046" cy="247801"/>
          </a:xfrm>
          <a:prstGeom prst="rect">
            <a:avLst/>
          </a:prstGeom>
          <a:ln/>
        </p:spPr>
      </p:pic>
      <p:sp>
        <p:nvSpPr>
          <p:cNvPr id="29" name="TextBox 28"/>
          <p:cNvSpPr txBox="1"/>
          <p:nvPr/>
        </p:nvSpPr>
        <p:spPr>
          <a:xfrm>
            <a:off x="2227478" y="6339535"/>
            <a:ext cx="1057961" cy="247801"/>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Local Execution</a:t>
            </a:r>
          </a:p>
        </p:txBody>
      </p:sp>
      <p:sp>
        <p:nvSpPr>
          <p:cNvPr id="30" name="Rectangle 29"/>
          <p:cNvSpPr/>
          <p:nvPr/>
        </p:nvSpPr>
        <p:spPr>
          <a:xfrm>
            <a:off x="6210605" y="2453335"/>
            <a:ext cx="5524805" cy="43717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8349" y="309158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48349" y="2739542"/>
            <a:ext cx="171906" cy="190194"/>
          </a:xfrm>
          <a:prstGeom prst="rect">
            <a:avLst/>
          </a:prstGeom>
          <a:ln/>
        </p:spPr>
      </p:pic>
      <p:sp>
        <p:nvSpPr>
          <p:cNvPr id="33" name="TextBox 32"/>
          <p:cNvSpPr txBox="1"/>
          <p:nvPr/>
        </p:nvSpPr>
        <p:spPr>
          <a:xfrm>
            <a:off x="6734556" y="2691994"/>
            <a:ext cx="2581350" cy="419709"/>
          </a:xfrm>
          <a:prstGeom prst="rect">
            <a:avLst/>
          </a:prstGeom>
          <a:noFill/>
          <a:ln/>
        </p:spPr>
        <p:txBody>
          <a:bodyPr wrap="square" lIns="0" rIns="0" tIns="0" bIns="0">
            <a:noAutofit/>
          </a:bodyPr>
          <a:lstStyle/>
          <a:p>
            <a:r>
              <a:rPr sz="1500" b="1">
                <a:solidFill>
                  <a:srgbClr val="1D1D1F"/>
                </a:solidFill>
                <a:latin typeface="Noto Sans JP"/>
              </a:rPr>
              <a:t>Function Calling (Tool Use)</a:t>
            </a:r>
          </a:p>
        </p:txBody>
      </p:sp>
      <p:pic>
        <p:nvPicPr>
          <p:cNvPr id="34" name="Picture 33" descr="image.png"/>
          <p:cNvPicPr>
            <a:picLocks noChangeAspect="1"/>
          </p:cNvPicPr>
          <p:nvPr/>
        </p:nvPicPr>
        <p:blipFill>
          <a:blip r:embed="rId11"/>
          <a:stretch>
            <a:fillRect/>
          </a:stretch>
        </p:blipFill>
        <p:spPr>
          <a:xfrm>
            <a:off x="6448349" y="3263494"/>
            <a:ext cx="114299" cy="114300"/>
          </a:xfrm>
          <a:prstGeom prst="rect">
            <a:avLst/>
          </a:prstGeom>
          <a:ln/>
        </p:spPr>
      </p:pic>
      <p:sp>
        <p:nvSpPr>
          <p:cNvPr id="35" name="TextBox 34"/>
          <p:cNvSpPr txBox="1"/>
          <p:nvPr/>
        </p:nvSpPr>
        <p:spPr>
          <a:xfrm>
            <a:off x="6657745" y="3492094"/>
            <a:ext cx="4914900" cy="715060"/>
          </a:xfrm>
          <a:prstGeom prst="rect">
            <a:avLst/>
          </a:prstGeom>
          <a:noFill/>
          <a:ln/>
        </p:spPr>
        <p:txBody>
          <a:bodyPr wrap="square" lIns="0" rIns="0" tIns="0" bIns="0">
            <a:noAutofit/>
          </a:bodyPr>
          <a:lstStyle/>
          <a:p>
            <a:r>
              <a:rPr sz="1200">
                <a:solidFill>
                  <a:srgbClr val="424245"/>
                </a:solidFill>
                <a:latin typeface="Noto Sans JP"/>
              </a:rPr>
              <a:t>ローカルAPIでも </a:t>
            </a:r>
            <a:r>
              <a:rPr sz="1200">
                <a:solidFill>
                  <a:srgbClr val="424245"/>
                </a:solidFill>
                <a:latin typeface="ui-monospace"/>
              </a:rPr>
              <a:t>tool_choice</a:t>
            </a:r>
            <a:r>
              <a:rPr sz="1200">
                <a:solidFill>
                  <a:srgbClr val="424245"/>
                </a:solidFill>
                <a:latin typeface="Noto Sans JP"/>
              </a:rPr>
              <a:t> や </a:t>
            </a:r>
            <a:r>
              <a:rPr sz="1200">
                <a:solidFill>
                  <a:srgbClr val="424245"/>
                </a:solidFill>
                <a:latin typeface="ui-monospace"/>
              </a:rPr>
              <a:t>functions</a:t>
            </a:r>
            <a:r>
              <a:rPr sz="1200">
                <a:solidFill>
                  <a:srgbClr val="424245"/>
                </a:solidFill>
                <a:latin typeface="Noto Sans JP"/>
              </a:rPr>
              <a:t> パラメータを利用可能。モデルがJSON形式で引数を生成し、システム側で実行します。</a:t>
            </a:r>
          </a:p>
        </p:txBody>
      </p:sp>
      <p:pic>
        <p:nvPicPr>
          <p:cNvPr id="36" name="Picture 35" descr="image.png"/>
          <p:cNvPicPr>
            <a:picLocks noChangeAspect="1"/>
          </p:cNvPicPr>
          <p:nvPr/>
        </p:nvPicPr>
        <p:blipFill>
          <a:blip r:embed="rId12"/>
          <a:stretch>
            <a:fillRect/>
          </a:stretch>
        </p:blipFill>
        <p:spPr>
          <a:xfrm>
            <a:off x="6715354" y="4028846"/>
            <a:ext cx="476402" cy="181051"/>
          </a:xfrm>
          <a:prstGeom prst="rect">
            <a:avLst/>
          </a:prstGeom>
          <a:ln/>
        </p:spPr>
      </p:pic>
      <p:sp>
        <p:nvSpPr>
          <p:cNvPr id="37" name="TextBox 36"/>
          <p:cNvSpPr txBox="1"/>
          <p:nvPr/>
        </p:nvSpPr>
        <p:spPr>
          <a:xfrm>
            <a:off x="6715354" y="4028846"/>
            <a:ext cx="476402" cy="181051"/>
          </a:xfrm>
          <a:prstGeom prst="rect">
            <a:avLst/>
          </a:prstGeom>
          <a:noFill/>
          <a:ln>
            <a:solidFill>
              <a:srgbClr val="FFFFFF"/>
            </a:solidFill>
          </a:ln>
        </p:spPr>
        <p:txBody>
          <a:bodyPr wrap="square" lIns="0" rIns="0" tIns="0" bIns="0">
            <a:noAutofit/>
          </a:bodyPr>
          <a:lstStyle/>
          <a:p>
            <a:r>
              <a:rPr sz="800">
                <a:solidFill>
                  <a:srgbClr val="6B7280"/>
                </a:solidFill>
                <a:latin typeface="Noto Sans JP"/>
              </a:rPr>
              <a:t>[24][27]</a:t>
            </a:r>
          </a:p>
        </p:txBody>
      </p:sp>
      <p:pic>
        <p:nvPicPr>
          <p:cNvPr id="38" name="Picture 37" descr="image.png"/>
          <p:cNvPicPr>
            <a:picLocks noChangeAspect="1"/>
          </p:cNvPicPr>
          <p:nvPr/>
        </p:nvPicPr>
        <p:blipFill>
          <a:blip r:embed="rId13"/>
          <a:stretch>
            <a:fillRect/>
          </a:stretch>
        </p:blipFill>
        <p:spPr>
          <a:xfrm>
            <a:off x="6448349" y="4339742"/>
            <a:ext cx="114299" cy="114300"/>
          </a:xfrm>
          <a:prstGeom prst="rect">
            <a:avLst/>
          </a:prstGeom>
          <a:ln/>
        </p:spPr>
      </p:pic>
      <p:sp>
        <p:nvSpPr>
          <p:cNvPr id="39" name="TextBox 38"/>
          <p:cNvSpPr txBox="1"/>
          <p:nvPr/>
        </p:nvSpPr>
        <p:spPr>
          <a:xfrm>
            <a:off x="6657745" y="4568342"/>
            <a:ext cx="4914900" cy="685800"/>
          </a:xfrm>
          <a:prstGeom prst="rect">
            <a:avLst/>
          </a:prstGeom>
          <a:noFill/>
          <a:ln/>
        </p:spPr>
        <p:txBody>
          <a:bodyPr wrap="square" lIns="0" rIns="0" tIns="0" bIns="0">
            <a:noAutofit/>
          </a:bodyPr>
          <a:lstStyle/>
          <a:p>
            <a:r>
              <a:rPr sz="1200">
                <a:solidFill>
                  <a:srgbClr val="424245"/>
                </a:solidFill>
                <a:latin typeface="Noto Sans JP"/>
              </a:rPr>
              <a:t>ローカルモデル（特に小型）ではJSONスキーマの破壊が発生しやすいため、型定義の厳格化と、パース失敗時の再試行ロジックが不可欠です。</a:t>
            </a:r>
          </a:p>
        </p:txBody>
      </p:sp>
      <p:pic>
        <p:nvPicPr>
          <p:cNvPr id="40" name="Picture 39" descr="image.png"/>
          <p:cNvPicPr>
            <a:picLocks noChangeAspect="1"/>
          </p:cNvPicPr>
          <p:nvPr/>
        </p:nvPicPr>
        <p:blipFill>
          <a:blip r:embed="rId14"/>
          <a:stretch>
            <a:fillRect/>
          </a:stretch>
        </p:blipFill>
        <p:spPr>
          <a:xfrm>
            <a:off x="6448349" y="5387645"/>
            <a:ext cx="114299" cy="114300"/>
          </a:xfrm>
          <a:prstGeom prst="rect">
            <a:avLst/>
          </a:prstGeom>
          <a:ln/>
        </p:spPr>
      </p:pic>
      <p:sp>
        <p:nvSpPr>
          <p:cNvPr id="41" name="TextBox 40"/>
          <p:cNvSpPr txBox="1"/>
          <p:nvPr/>
        </p:nvSpPr>
        <p:spPr>
          <a:xfrm>
            <a:off x="6657745" y="5616245"/>
            <a:ext cx="4914900" cy="457200"/>
          </a:xfrm>
          <a:prstGeom prst="rect">
            <a:avLst/>
          </a:prstGeom>
          <a:noFill/>
          <a:ln/>
        </p:spPr>
        <p:txBody>
          <a:bodyPr wrap="square" lIns="0" rIns="0" tIns="0" bIns="0">
            <a:noAutofit/>
          </a:bodyPr>
          <a:lstStyle/>
          <a:p>
            <a:r>
              <a:rPr sz="1200">
                <a:solidFill>
                  <a:srgbClr val="424245"/>
                </a:solidFill>
                <a:latin typeface="Noto Sans JP"/>
              </a:rPr>
              <a:t>生成されたコードやコマンドを盲目的に実行せず、サンドボックス内での検証や、構文チェックを挟む設計が推奨されます。</a:t>
            </a:r>
          </a:p>
        </p:txBody>
      </p:sp>
      <p:pic>
        <p:nvPicPr>
          <p:cNvPr id="42" name="Picture 41" descr="image.png"/>
          <p:cNvPicPr>
            <a:picLocks noChangeAspect="1"/>
          </p:cNvPicPr>
          <p:nvPr/>
        </p:nvPicPr>
        <p:blipFill>
          <a:blip r:embed="rId15"/>
          <a:stretch>
            <a:fillRect/>
          </a:stretch>
        </p:blipFill>
        <p:spPr>
          <a:xfrm>
            <a:off x="6448349" y="6339535"/>
            <a:ext cx="972007" cy="247801"/>
          </a:xfrm>
          <a:prstGeom prst="rect">
            <a:avLst/>
          </a:prstGeom>
          <a:ln/>
        </p:spPr>
      </p:pic>
      <p:sp>
        <p:nvSpPr>
          <p:cNvPr id="43" name="TextBox 42"/>
          <p:cNvSpPr txBox="1"/>
          <p:nvPr/>
        </p:nvSpPr>
        <p:spPr>
          <a:xfrm>
            <a:off x="6448349" y="6339535"/>
            <a:ext cx="972007" cy="247801"/>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JSON Schema</a:t>
            </a:r>
          </a:p>
        </p:txBody>
      </p:sp>
      <p:pic>
        <p:nvPicPr>
          <p:cNvPr id="44" name="Picture 43" descr="image.png"/>
          <p:cNvPicPr>
            <a:picLocks noChangeAspect="1"/>
          </p:cNvPicPr>
          <p:nvPr/>
        </p:nvPicPr>
        <p:blipFill>
          <a:blip r:embed="rId16"/>
          <a:stretch>
            <a:fillRect/>
          </a:stretch>
        </p:blipFill>
        <p:spPr>
          <a:xfrm>
            <a:off x="7471562" y="6339535"/>
            <a:ext cx="1133855" cy="247801"/>
          </a:xfrm>
          <a:prstGeom prst="rect">
            <a:avLst/>
          </a:prstGeom>
          <a:ln/>
        </p:spPr>
      </p:pic>
      <p:sp>
        <p:nvSpPr>
          <p:cNvPr id="45" name="TextBox 44"/>
          <p:cNvSpPr txBox="1"/>
          <p:nvPr/>
        </p:nvSpPr>
        <p:spPr>
          <a:xfrm>
            <a:off x="7471562" y="6339535"/>
            <a:ext cx="1133855" cy="247801"/>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Verification Loop</a:t>
            </a:r>
          </a:p>
        </p:txBody>
      </p:sp>
      <p:sp>
        <p:nvSpPr>
          <p:cNvPr id="46" name="Rectangle 45"/>
          <p:cNvSpPr/>
          <p:nvPr/>
        </p:nvSpPr>
        <p:spPr>
          <a:xfrm>
            <a:off x="457200" y="5210251"/>
            <a:ext cx="11277295" cy="961948"/>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17"/>
          <a:stretch>
            <a:fillRect/>
          </a:stretch>
        </p:blipFill>
        <p:spPr>
          <a:xfrm>
            <a:off x="619049" y="5391302"/>
            <a:ext cx="171907" cy="171906"/>
          </a:xfrm>
          <a:prstGeom prst="rect">
            <a:avLst/>
          </a:prstGeom>
          <a:ln/>
        </p:spPr>
      </p:pic>
      <p:sp>
        <p:nvSpPr>
          <p:cNvPr id="48" name="TextBox 47"/>
          <p:cNvSpPr txBox="1"/>
          <p:nvPr/>
        </p:nvSpPr>
        <p:spPr>
          <a:xfrm>
            <a:off x="905256" y="5372100"/>
            <a:ext cx="10782605" cy="200253"/>
          </a:xfrm>
          <a:prstGeom prst="rect">
            <a:avLst/>
          </a:prstGeom>
          <a:noFill/>
          <a:ln/>
        </p:spPr>
        <p:txBody>
          <a:bodyPr wrap="square" lIns="0" rIns="0" tIns="0" bIns="0">
            <a:noAutofit/>
          </a:bodyPr>
          <a:lstStyle/>
          <a:p>
            <a:r>
              <a:rPr sz="1000" b="1">
                <a:solidFill>
                  <a:srgbClr val="78350F"/>
                </a:solidFill>
                <a:latin typeface="Noto Sans JP"/>
              </a:rPr>
              <a:t>設計含意（Design Implication）</a:t>
            </a:r>
          </a:p>
        </p:txBody>
      </p:sp>
      <p:sp>
        <p:nvSpPr>
          <p:cNvPr id="49" name="TextBox 48"/>
          <p:cNvSpPr txBox="1"/>
          <p:nvPr/>
        </p:nvSpPr>
        <p:spPr>
          <a:xfrm>
            <a:off x="905256" y="5609844"/>
            <a:ext cx="10744200" cy="400506"/>
          </a:xfrm>
          <a:prstGeom prst="rect">
            <a:avLst/>
          </a:prstGeom>
          <a:noFill/>
          <a:ln/>
        </p:spPr>
        <p:txBody>
          <a:bodyPr wrap="square" lIns="0" rIns="0" tIns="0" bIns="0">
            <a:noAutofit/>
          </a:bodyPr>
          <a:lstStyle/>
          <a:p>
            <a:r>
              <a:rPr sz="1000">
                <a:solidFill>
                  <a:srgbClr val="78350F"/>
                </a:solidFill>
                <a:latin typeface="Noto Sans JP"/>
              </a:rPr>
              <a:t>JSONスキーマ遵守と検証ループ設計（失敗時のリトライ/フォールバック）がローカルAgentの成否を分けます。特に「幻覚API（存在しない関数呼び出し）」への対策として、実行可能な関数リストのホワイトリスト化が必要です。</a:t>
            </a:r>
          </a:p>
        </p:txBody>
      </p:sp>
      <p:sp>
        <p:nvSpPr>
          <p:cNvPr id="50" name="Rectangle 49"/>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39 /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p:spPr>
      </p:pic>
      <p:sp>
        <p:nvSpPr>
          <p:cNvPr id="7" name="TextBox 6"/>
          <p:cNvSpPr txBox="1"/>
          <p:nvPr/>
        </p:nvSpPr>
        <p:spPr>
          <a:xfrm>
            <a:off x="905256" y="381305"/>
            <a:ext cx="3818534" cy="381305"/>
          </a:xfrm>
          <a:prstGeom prst="rect">
            <a:avLst/>
          </a:prstGeom>
          <a:noFill/>
          <a:ln/>
        </p:spPr>
        <p:txBody>
          <a:bodyPr wrap="square" lIns="0" rIns="0" tIns="0" bIns="0">
            <a:noAutofit/>
          </a:bodyPr>
          <a:lstStyle/>
          <a:p>
            <a:r>
              <a:rPr sz="2100" b="1">
                <a:solidFill>
                  <a:srgbClr val="FFFFFF"/>
                </a:solidFill>
                <a:latin typeface="Noto Sans JP"/>
              </a:rPr>
              <a:t>Agent/Tool-use（完全版表）</a:t>
            </a:r>
          </a:p>
        </p:txBody>
      </p:sp>
      <p:sp>
        <p:nvSpPr>
          <p:cNvPr id="8" name="TextBox 7"/>
          <p:cNvSpPr txBox="1"/>
          <p:nvPr/>
        </p:nvSpPr>
        <p:spPr>
          <a:xfrm>
            <a:off x="7847381" y="457200"/>
            <a:ext cx="4558284" cy="228600"/>
          </a:xfrm>
          <a:prstGeom prst="rect">
            <a:avLst/>
          </a:prstGeom>
          <a:noFill/>
          <a:ln/>
        </p:spPr>
        <p:txBody>
          <a:bodyPr wrap="square" lIns="0" rIns="0" tIns="0" bIns="0">
            <a:noAutofit/>
          </a:bodyPr>
          <a:lstStyle/>
          <a:p>
            <a:r>
              <a:rPr sz="1200">
                <a:solidFill>
                  <a:srgbClr val="A1A1A6"/>
                </a:solidFill>
                <a:latin typeface="Noto Sans JP"/>
              </a:rPr>
              <a:t>OpenAI互換API / Function Calling / 実装基盤の詳細比較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14800"/>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6249010"/>
        </p:xfrm>
        <a:graphic>
          <a:graphicData uri="http://schemas.openxmlformats.org/drawingml/2006/table">
            <a:tbl>
              <a:tblPr firstRow="1" bandRow="1">
                <a:tableStyleId>{5C22544A-7EE6-4342-B048-85BDC9FD1C3A}</a:tableStyleId>
              </a:tblPr>
              <a:tblGrid>
                <a:gridCol w="2819552"/>
                <a:gridCol w="2819552"/>
                <a:gridCol w="2819552"/>
                <a:gridCol w="2819554"/>
              </a:tblGrid>
              <a:tr h="1249802">
                <a:tc>
                  <a:txBody>
                    <a:bodyPr/>
                    <a:lstStyle/>
                    <a:p>
                      <a:r>
                        <a:t>項目・方式</a:t>
                      </a:r>
                    </a:p>
                  </a:txBody>
                  <a:tcPr/>
                </a:tc>
                <a:tc>
                  <a:txBody>
                    <a:bodyPr/>
                    <a:lstStyle/>
                    <a:p>
                      <a:r>
                        <a:t>詳細仕様・提供形態</a:t>
                      </a:r>
                    </a:p>
                  </a:txBody>
                  <a:tcPr/>
                </a:tc>
                <a:tc>
                  <a:txBody>
                    <a:bodyPr/>
                    <a:lstStyle/>
                    <a:p>
                      <a:r>
                        <a:t>利点・特徴</a:t>
                      </a:r>
                    </a:p>
                  </a:txBody>
                  <a:tcPr/>
                </a:tc>
                <a:tc>
                  <a:txBody>
                    <a:bodyPr/>
                    <a:lstStyle/>
                    <a:p>
                      <a:r>
                        <a:t>注意点・リスク</a:t>
                      </a:r>
                    </a:p>
                  </a:txBody>
                  <a:tcPr/>
                </a:tc>
              </a:tr>
              <a:tr h="1249802">
                <a:tc>
                  <a:txBody>
                    <a:bodyPr/>
                    <a:lstStyle/>
                    <a:p>
                      <a:r>
                        <a:t>OpenAI互換API</a:t>
                      </a:r>
                    </a:p>
                    <a:p>
                      <a:r>
                        <a:t>インターフェース[24,41]</a:t>
                      </a:r>
                    </a:p>
                  </a:txBody>
                  <a:tcPr/>
                </a:tc>
                <a:tc>
                  <a:txBody>
                    <a:bodyPr/>
                    <a:lstStyle/>
                    <a:p>
                      <a:r>
                        <a:t>提供：Ollama / LM Studio</a:t>
                      </a:r>
                    </a:p>
                    <a:p>
                      <a:r>
                        <a:t>ローカルLLMを標準的なREST APIとして公開</a:t>
                      </a:r>
                    </a:p>
                    <a:p>
                      <a:r>
                        <a:t>Chat Completions API互換</a:t>
                      </a:r>
                    </a:p>
                  </a:txBody>
                  <a:tcPr/>
                </a:tc>
                <a:tc>
                  <a:txBody>
                    <a:bodyPr/>
                    <a:lstStyle/>
                    <a:p>
                      <a:r>
                        <a:t>互換性既存のエージェントフレームワークやクライアントツールをそのまま接続可能</a:t>
                      </a:r>
                    </a:p>
                  </a:txBody>
                  <a:tcPr/>
                </a:tc>
                <a:tc>
                  <a:txBody>
                    <a:bodyPr/>
                    <a:lstStyle/>
                    <a:p>
                      <a:r>
                        <a:t>仕様差一部機能（Stateful等）が完全互換ではない場合があるため検証が必要</a:t>
                      </a:r>
                    </a:p>
                  </a:txBody>
                  <a:tcPr/>
                </a:tc>
              </a:tr>
              <a:tr h="1249802">
                <a:tc>
                  <a:txBody>
                    <a:bodyPr/>
                    <a:lstStyle/>
                    <a:p>
                      <a:r>
                        <a:t>Function Calling</a:t>
                      </a:r>
                    </a:p>
                    <a:p>
                      <a:r>
                        <a:t>Tool Use[24,27]</a:t>
                      </a:r>
                    </a:p>
                  </a:txBody>
                  <a:tcPr/>
                </a:tc>
                <a:tc>
                  <a:txBody>
                    <a:bodyPr/>
                    <a:lstStyle/>
                    <a:p>
                      <a:r>
                        <a:t>出力形式：構造化JSON</a:t>
                      </a:r>
                    </a:p>
                    <a:p>
                      <a:r>
                        <a:t>LLMがツール実行を判断し、引数をJSONで生成</a:t>
                      </a:r>
                    </a:p>
                  </a:txBody>
                  <a:tcPr/>
                </a:tc>
                <a:tc>
                  <a:txBody>
                    <a:bodyPr/>
                    <a:lstStyle/>
                    <a:p>
                      <a:r>
                        <a:t>構造化自然言語ではなく実行可能なデータ構造で出力</a:t>
                      </a:r>
                    </a:p>
                    <a:p>
                      <a:r>
                        <a:t>実務的業務システム連携の核</a:t>
                      </a:r>
                    </a:p>
                  </a:txBody>
                  <a:tcPr/>
                </a:tc>
                <a:tc>
                  <a:txBody>
                    <a:bodyPr/>
                    <a:lstStyle/>
                    <a:p>
                      <a:r>
                        <a:t>JSON破壊スキーマ遵守率（破壊率）はモデル性能と量子化に依存</a:t>
                      </a:r>
                    </a:p>
                  </a:txBody>
                  <a:tcPr/>
                </a:tc>
              </a:tr>
              <a:tr h="1249802">
                <a:tc>
                  <a:txBody>
                    <a:bodyPr/>
                    <a:lstStyle/>
                    <a:p>
                      <a:r>
                        <a:t>実装基盤: Ollama / LM Studio</a:t>
                      </a:r>
                    </a:p>
                    <a:p>
                      <a:r>
                        <a:t>Runtime[3,19,23]</a:t>
                      </a:r>
                    </a:p>
                  </a:txBody>
                  <a:tcPr/>
                </a:tc>
                <a:tc>
                  <a:txBody>
                    <a:bodyPr/>
                    <a:lstStyle/>
                    <a:p>
                      <a:r>
                        <a:t>Ollama：CLI/API中心、Modelfile管理</a:t>
                      </a:r>
                    </a:p>
                    <a:p>
                      <a:r>
                        <a:t>LM Studio：GUI中心、サーバー機能内蔵</a:t>
                      </a:r>
                    </a:p>
                  </a:txBody>
                  <a:tcPr/>
                </a:tc>
                <a:tc>
                  <a:txBody>
                    <a:bodyPr/>
                    <a:lstStyle/>
                    <a:p>
                      <a:r>
                        <a:t>導入容易複雑な環境構築なしでAPIサーバー化</a:t>
                      </a:r>
                    </a:p>
                    <a:p>
                      <a:r>
                        <a:t>ローカル完全オフライン実行が可能</a:t>
                      </a:r>
                    </a:p>
                  </a:txBody>
                  <a:tcPr/>
                </a:tc>
                <a:tc>
                  <a:txBody>
                    <a:bodyPr/>
                    <a:lstStyle/>
                    <a:p>
                      <a:r>
                        <a:t>設定コンテキスト長やGPUオフロード設定の最適化が必要</a:t>
                      </a:r>
                    </a:p>
                  </a:txBody>
                  <a:tcPr/>
                </a:tc>
              </a:tr>
              <a:tr h="1249802">
                <a:tc>
                  <a:txBody>
                    <a:bodyPr/>
                    <a:lstStyle/>
                    <a:p>
                      <a:r>
                        <a:t>参考実装: OpenHands</a:t>
                      </a:r>
                    </a:p>
                    <a:p>
                      <a:r>
                        <a:t>Framework[2]</a:t>
                      </a:r>
                    </a:p>
                  </a:txBody>
                  <a:tcPr/>
                </a:tc>
                <a:tc>
                  <a:txBody>
                    <a:bodyPr/>
                    <a:lstStyle/>
                    <a:p>
                      <a:r>
                        <a:t>構成：ローカルLLM利用ガイドあり</a:t>
                      </a:r>
                    </a:p>
                    <a:p>
                      <a:r>
                        <a:t>自律型エージェント開発のフレームワーク</a:t>
                      </a:r>
                    </a:p>
                  </a:txBody>
                  <a:tcPr/>
                </a:tc>
                <a:tc>
                  <a:txBody>
                    <a:bodyPr/>
                    <a:lstStyle/>
                    <a:p>
                      <a:r>
                        <a:t>実践例ローカルLLMでのエージェント構築のベストプラクティスを参照可能</a:t>
                      </a:r>
                    </a:p>
                  </a:txBody>
                  <a:tcPr/>
                </a:tc>
                <a:tc>
                  <a:txBody>
                    <a:bodyPr/>
                    <a:lstStyle/>
                    <a:p>
                      <a:r>
                        <a:t>リソースエージェント実行は推論回数が多くなりがちで負荷が高い</a:t>
                      </a:r>
                    </a:p>
                  </a:txBody>
                  <a:tcPr/>
                </a:tc>
              </a:tr>
            </a:tbl>
          </a:graphicData>
        </a:graphic>
      </p:graphicFrame>
      <p:sp>
        <p:nvSpPr>
          <p:cNvPr id="12" name="Rectangle 11"/>
          <p:cNvSpPr/>
          <p:nvPr/>
        </p:nvSpPr>
        <p:spPr>
          <a:xfrm>
            <a:off x="457200" y="5639105"/>
            <a:ext cx="11277295" cy="599846"/>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39105"/>
            <a:ext cx="38404" cy="5998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0895"/>
            <a:ext cx="114300" cy="152705"/>
          </a:xfrm>
          <a:prstGeom prst="rect">
            <a:avLst/>
          </a:prstGeom>
          <a:ln/>
        </p:spPr>
      </p:pic>
      <p:sp>
        <p:nvSpPr>
          <p:cNvPr id="15" name="TextBox 14"/>
          <p:cNvSpPr txBox="1"/>
          <p:nvPr/>
        </p:nvSpPr>
        <p:spPr>
          <a:xfrm>
            <a:off x="875994" y="5753405"/>
            <a:ext cx="10782605" cy="372160"/>
          </a:xfrm>
          <a:prstGeom prst="rect">
            <a:avLst/>
          </a:prstGeom>
          <a:noFill/>
          <a:ln/>
        </p:spPr>
        <p:txBody>
          <a:bodyPr wrap="square" lIns="0" rIns="0" tIns="0" bIns="0">
            <a:noAutofit/>
          </a:bodyPr>
          <a:lstStyle/>
          <a:p>
            <a:r>
              <a:rPr sz="900" b="1">
                <a:solidFill>
                  <a:srgbClr val="5D4037"/>
                </a:solidFill>
                <a:latin typeface="Noto Sans JP"/>
              </a:rPr>
              <a:t>実装のポイント：</a:t>
            </a:r>
            <a:r>
              <a:rPr sz="900">
                <a:solidFill>
                  <a:srgbClr val="5D4037"/>
                </a:solidFill>
                <a:latin typeface="Noto Sans JP"/>
              </a:rPr>
              <a:t>安定運用の鍵は「JSONスキーマの固定」と「パラメータ（温度/top_p）の固定」です。幻覚（Hallucination）による不正な関数呼び出しを防ぐため、実行前に許可された関数リストと照合するホワイトリスト方式を推奨します。また、トラブルシューティング用にAPIの要求・応答ログを必ず保存してください。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40 | ローカルAI 技術調査レポート 2026</a:t>
            </a:r>
          </a:p>
        </p:txBody>
      </p:sp>
      <p:sp>
        <p:nvSpPr>
          <p:cNvPr id="19" name="TextBox 18"/>
          <p:cNvSpPr txBox="1"/>
          <p:nvPr/>
        </p:nvSpPr>
        <p:spPr>
          <a:xfrm>
            <a:off x="8698687" y="6586423"/>
            <a:ext cx="360913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[2,3,19,23,24,27,41]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33756" cy="267004"/>
          </a:xfrm>
          <a:prstGeom prst="rect">
            <a:avLst/>
          </a:prstGeom>
          <a:ln/>
        </p:spPr>
      </p:pic>
      <p:sp>
        <p:nvSpPr>
          <p:cNvPr id="8" name="TextBox 7"/>
          <p:cNvSpPr txBox="1"/>
          <p:nvPr/>
        </p:nvSpPr>
        <p:spPr>
          <a:xfrm>
            <a:off x="942746" y="176479"/>
            <a:ext cx="4678985" cy="400507"/>
          </a:xfrm>
          <a:prstGeom prst="rect">
            <a:avLst/>
          </a:prstGeom>
          <a:noFill/>
          <a:ln/>
        </p:spPr>
        <p:txBody>
          <a:bodyPr wrap="square" lIns="0" rIns="0" tIns="0" bIns="0">
            <a:noAutofit/>
          </a:bodyPr>
          <a:lstStyle/>
          <a:p>
            <a:r>
              <a:rPr sz="2100" b="1">
                <a:solidFill>
                  <a:srgbClr val="1D1D1F"/>
                </a:solidFill>
                <a:latin typeface="Noto Sans JP"/>
              </a:rPr>
              <a:t>採用判断基準（Agent / Tool-use）</a:t>
            </a:r>
          </a:p>
        </p:txBody>
      </p:sp>
      <p:sp>
        <p:nvSpPr>
          <p:cNvPr id="9" name="TextBox 8"/>
          <p:cNvSpPr txBox="1"/>
          <p:nvPr/>
        </p:nvSpPr>
        <p:spPr>
          <a:xfrm>
            <a:off x="8449970" y="261518"/>
            <a:ext cx="3477463" cy="228600"/>
          </a:xfrm>
          <a:prstGeom prst="rect">
            <a:avLst/>
          </a:prstGeom>
          <a:noFill/>
          <a:ln/>
        </p:spPr>
        <p:txBody>
          <a:bodyPr wrap="square" lIns="0" rIns="0" tIns="0" bIns="0">
            <a:noAutofit/>
          </a:bodyPr>
          <a:lstStyle/>
          <a:p>
            <a:r>
              <a:rPr sz="1200">
                <a:solidFill>
                  <a:srgbClr val="86868B"/>
                </a:solidFill>
                <a:latin typeface="Noto Sans JP"/>
              </a:rPr>
              <a:t>JSONスキーマ固定と検証ループによる安全運用</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結論：JSONスキーマ固定＋検証ループ（自動チェック）による安全運用を基本とし、Ollama/LM StudioのOpenAI互換APIで実装を統一します。</a:t>
            </a:r>
          </a:p>
        </p:txBody>
      </p:sp>
      <p:sp>
        <p:nvSpPr>
          <p:cNvPr id="13" name="Rectangle 12"/>
          <p:cNvSpPr/>
          <p:nvPr/>
        </p:nvSpPr>
        <p:spPr>
          <a:xfrm>
            <a:off x="457200" y="2095805"/>
            <a:ext cx="11277295" cy="16386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3307385" y="2632558"/>
            <a:ext cx="123444" cy="190194"/>
          </a:xfrm>
          <a:prstGeom prst="rect">
            <a:avLst/>
          </a:prstGeom>
          <a:ln/>
        </p:spPr>
      </p:pic>
      <p:pic>
        <p:nvPicPr>
          <p:cNvPr id="15" name="Picture 14" descr="image.png"/>
          <p:cNvPicPr>
            <a:picLocks noChangeAspect="1"/>
          </p:cNvPicPr>
          <p:nvPr/>
        </p:nvPicPr>
        <p:blipFill>
          <a:blip r:embed="rId4"/>
          <a:stretch>
            <a:fillRect/>
          </a:stretch>
        </p:blipFill>
        <p:spPr>
          <a:xfrm>
            <a:off x="6034126" y="2632558"/>
            <a:ext cx="123444" cy="190194"/>
          </a:xfrm>
          <a:prstGeom prst="rect">
            <a:avLst/>
          </a:prstGeom>
          <a:ln/>
        </p:spPr>
      </p:pic>
      <p:pic>
        <p:nvPicPr>
          <p:cNvPr id="16" name="Picture 15" descr="image.png"/>
          <p:cNvPicPr>
            <a:picLocks noChangeAspect="1"/>
          </p:cNvPicPr>
          <p:nvPr/>
        </p:nvPicPr>
        <p:blipFill>
          <a:blip r:embed="rId4"/>
          <a:stretch>
            <a:fillRect/>
          </a:stretch>
        </p:blipFill>
        <p:spPr>
          <a:xfrm>
            <a:off x="8760866" y="2632558"/>
            <a:ext cx="123444" cy="190194"/>
          </a:xfrm>
          <a:prstGeom prst="rect">
            <a:avLst/>
          </a:prstGeom>
          <a:ln/>
        </p:spPr>
      </p:pic>
      <p:sp>
        <p:nvSpPr>
          <p:cNvPr id="17" name="Rectangle 16"/>
          <p:cNvSpPr/>
          <p:nvPr/>
        </p:nvSpPr>
        <p:spPr>
          <a:xfrm>
            <a:off x="457200"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7454"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235501"/>
            <a:ext cx="342900" cy="342900"/>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52551" y="4330598"/>
            <a:ext cx="152704" cy="152705"/>
          </a:xfrm>
          <a:prstGeom prst="rect">
            <a:avLst/>
          </a:prstGeom>
          <a:ln/>
        </p:spPr>
      </p:pic>
      <p:sp>
        <p:nvSpPr>
          <p:cNvPr id="21" name="TextBox 20"/>
          <p:cNvSpPr txBox="1"/>
          <p:nvPr/>
        </p:nvSpPr>
        <p:spPr>
          <a:xfrm>
            <a:off x="1095451" y="4285793"/>
            <a:ext cx="1224382" cy="247801"/>
          </a:xfrm>
          <a:prstGeom prst="rect">
            <a:avLst/>
          </a:prstGeom>
          <a:noFill/>
          <a:ln/>
        </p:spPr>
        <p:txBody>
          <a:bodyPr wrap="square" lIns="0" rIns="0" tIns="0" bIns="0">
            <a:noAutofit/>
          </a:bodyPr>
          <a:lstStyle/>
          <a:p>
            <a:r>
              <a:rPr sz="1200" b="1">
                <a:solidFill>
                  <a:srgbClr val="1D1D1F"/>
                </a:solidFill>
                <a:latin typeface="Noto Sans JP"/>
              </a:rPr>
              <a:t>スキーマと検証</a:t>
            </a:r>
          </a:p>
        </p:txBody>
      </p:sp>
      <p:pic>
        <p:nvPicPr>
          <p:cNvPr id="22" name="Picture 21" descr="image.png"/>
          <p:cNvPicPr>
            <a:picLocks noChangeAspect="1"/>
          </p:cNvPicPr>
          <p:nvPr/>
        </p:nvPicPr>
        <p:blipFill>
          <a:blip r:embed="rId6"/>
          <a:stretch>
            <a:fillRect/>
          </a:stretch>
        </p:blipFill>
        <p:spPr>
          <a:xfrm>
            <a:off x="657454" y="4838090"/>
            <a:ext cx="95098" cy="95098"/>
          </a:xfrm>
          <a:prstGeom prst="rect">
            <a:avLst/>
          </a:prstGeom>
          <a:ln/>
        </p:spPr>
      </p:pic>
      <p:sp>
        <p:nvSpPr>
          <p:cNvPr id="23" name="TextBox 22"/>
          <p:cNvSpPr txBox="1"/>
          <p:nvPr/>
        </p:nvSpPr>
        <p:spPr>
          <a:xfrm>
            <a:off x="752551" y="4964278"/>
            <a:ext cx="3219602" cy="581558"/>
          </a:xfrm>
          <a:prstGeom prst="rect">
            <a:avLst/>
          </a:prstGeom>
          <a:noFill/>
          <a:ln/>
        </p:spPr>
        <p:txBody>
          <a:bodyPr wrap="square" lIns="0" rIns="0" tIns="0" bIns="0">
            <a:noAutofit/>
          </a:bodyPr>
          <a:lstStyle/>
          <a:p>
            <a:r>
              <a:rPr sz="900" b="1">
                <a:solidFill>
                  <a:srgbClr val="1D1D1F"/>
                </a:solidFill>
                <a:latin typeface="Noto Sans JP"/>
              </a:rPr>
              <a:t>JSONスキーマの厳格化</a:t>
            </a:r>
            <a:r>
              <a:rPr sz="900">
                <a:solidFill>
                  <a:srgbClr val="424245"/>
                </a:solidFill>
                <a:latin typeface="Noto Sans JP"/>
              </a:rPr>
              <a:t> 必須引数、型定義、Enum制約を厳密に記述し、モデルの構造化出力能力を最大限に活用。破壊時は即時再生成へ。 </a:t>
            </a:r>
          </a:p>
        </p:txBody>
      </p:sp>
      <p:pic>
        <p:nvPicPr>
          <p:cNvPr id="24" name="Picture 23" descr="image.png"/>
          <p:cNvPicPr>
            <a:picLocks noChangeAspect="1"/>
          </p:cNvPicPr>
          <p:nvPr/>
        </p:nvPicPr>
        <p:blipFill>
          <a:blip r:embed="rId6"/>
          <a:stretch>
            <a:fillRect/>
          </a:stretch>
        </p:blipFill>
        <p:spPr>
          <a:xfrm>
            <a:off x="657454" y="5714086"/>
            <a:ext cx="95098" cy="95098"/>
          </a:xfrm>
          <a:prstGeom prst="rect">
            <a:avLst/>
          </a:prstGeom>
          <a:ln/>
        </p:spPr>
      </p:pic>
      <p:sp>
        <p:nvSpPr>
          <p:cNvPr id="25" name="TextBox 24"/>
          <p:cNvSpPr txBox="1"/>
          <p:nvPr/>
        </p:nvSpPr>
        <p:spPr>
          <a:xfrm>
            <a:off x="752551" y="5840273"/>
            <a:ext cx="3219602" cy="762609"/>
          </a:xfrm>
          <a:prstGeom prst="rect">
            <a:avLst/>
          </a:prstGeom>
          <a:noFill/>
          <a:ln/>
        </p:spPr>
        <p:txBody>
          <a:bodyPr wrap="square" lIns="0" rIns="0" tIns="0" bIns="0">
            <a:noAutofit/>
          </a:bodyPr>
          <a:lstStyle/>
          <a:p>
            <a:r>
              <a:rPr sz="900" b="1">
                <a:solidFill>
                  <a:srgbClr val="1D1D1F"/>
                </a:solidFill>
                <a:latin typeface="Noto Sans JP"/>
              </a:rPr>
              <a:t>検証ループの実装</a:t>
            </a:r>
            <a:r>
              <a:rPr sz="900">
                <a:solidFill>
                  <a:srgbClr val="424245"/>
                </a:solidFill>
                <a:latin typeface="Noto Sans JP"/>
              </a:rPr>
              <a:t> 「コード生成→コンパイル/テスト実行」自体をツールとして組み込み、LLM自身に結果をフィードバックするループを構築。 </a:t>
            </a:r>
          </a:p>
        </p:txBody>
      </p:sp>
      <p:sp>
        <p:nvSpPr>
          <p:cNvPr id="26" name="Rectangle 25"/>
          <p:cNvSpPr/>
          <p:nvPr/>
        </p:nvSpPr>
        <p:spPr>
          <a:xfrm>
            <a:off x="4280306"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79646" y="4655210"/>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235501"/>
            <a:ext cx="342900" cy="342900"/>
          </a:xfrm>
          <a:prstGeom prst="rect">
            <a:avLst/>
          </a:prstGeom>
          <a:solidFill>
            <a:srgbClr val="AF52D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565599" y="4330598"/>
            <a:ext cx="171906" cy="152705"/>
          </a:xfrm>
          <a:prstGeom prst="rect">
            <a:avLst/>
          </a:prstGeom>
          <a:ln/>
        </p:spPr>
      </p:pic>
      <p:sp>
        <p:nvSpPr>
          <p:cNvPr id="30" name="TextBox 29"/>
          <p:cNvSpPr txBox="1"/>
          <p:nvPr/>
        </p:nvSpPr>
        <p:spPr>
          <a:xfrm>
            <a:off x="4917643" y="4285793"/>
            <a:ext cx="1224382" cy="247801"/>
          </a:xfrm>
          <a:prstGeom prst="rect">
            <a:avLst/>
          </a:prstGeom>
          <a:noFill/>
          <a:ln/>
        </p:spPr>
        <p:txBody>
          <a:bodyPr wrap="square" lIns="0" rIns="0" tIns="0" bIns="0">
            <a:noAutofit/>
          </a:bodyPr>
          <a:lstStyle/>
          <a:p>
            <a:r>
              <a:rPr sz="1200" b="1">
                <a:solidFill>
                  <a:srgbClr val="1D1D1F"/>
                </a:solidFill>
                <a:latin typeface="Noto Sans JP"/>
              </a:rPr>
              <a:t>実装基盤の統一</a:t>
            </a:r>
          </a:p>
        </p:txBody>
      </p:sp>
      <p:pic>
        <p:nvPicPr>
          <p:cNvPr id="31" name="Picture 30" descr="image.png"/>
          <p:cNvPicPr>
            <a:picLocks noChangeAspect="1"/>
          </p:cNvPicPr>
          <p:nvPr/>
        </p:nvPicPr>
        <p:blipFill>
          <a:blip r:embed="rId6"/>
          <a:stretch>
            <a:fillRect/>
          </a:stretch>
        </p:blipFill>
        <p:spPr>
          <a:xfrm>
            <a:off x="4479646" y="4838090"/>
            <a:ext cx="95098" cy="95098"/>
          </a:xfrm>
          <a:prstGeom prst="rect">
            <a:avLst/>
          </a:prstGeom>
          <a:ln/>
        </p:spPr>
      </p:pic>
      <p:sp>
        <p:nvSpPr>
          <p:cNvPr id="32" name="TextBox 31"/>
          <p:cNvSpPr txBox="1"/>
          <p:nvPr/>
        </p:nvSpPr>
        <p:spPr>
          <a:xfrm>
            <a:off x="4574743" y="4964278"/>
            <a:ext cx="3219602" cy="581558"/>
          </a:xfrm>
          <a:prstGeom prst="rect">
            <a:avLst/>
          </a:prstGeom>
          <a:noFill/>
          <a:ln/>
        </p:spPr>
        <p:txBody>
          <a:bodyPr wrap="square" lIns="0" rIns="0" tIns="0" bIns="0">
            <a:noAutofit/>
          </a:bodyPr>
          <a:lstStyle/>
          <a:p>
            <a:r>
              <a:rPr sz="900" b="1">
                <a:solidFill>
                  <a:srgbClr val="1D1D1F"/>
                </a:solidFill>
                <a:latin typeface="Noto Sans JP"/>
              </a:rPr>
              <a:t>OpenAI互換APIで統一</a:t>
            </a:r>
            <a:r>
              <a:rPr sz="900">
                <a:solidFill>
                  <a:srgbClr val="424245"/>
                </a:solidFill>
                <a:latin typeface="Noto Sans JP"/>
              </a:rPr>
              <a:t> Ollama/LM Studio等の互換APIを採用し、クライアントコードを標準化。移行性・保守性を確保。 </a:t>
            </a:r>
          </a:p>
        </p:txBody>
      </p:sp>
      <p:pic>
        <p:nvPicPr>
          <p:cNvPr id="33" name="Picture 32" descr="image.png"/>
          <p:cNvPicPr>
            <a:picLocks noChangeAspect="1"/>
          </p:cNvPicPr>
          <p:nvPr/>
        </p:nvPicPr>
        <p:blipFill>
          <a:blip r:embed="rId8"/>
          <a:stretch>
            <a:fillRect/>
          </a:stretch>
        </p:blipFill>
        <p:spPr>
          <a:xfrm>
            <a:off x="5776265" y="4992624"/>
            <a:ext cx="400506" cy="161848"/>
          </a:xfrm>
          <a:prstGeom prst="rect">
            <a:avLst/>
          </a:prstGeom>
          <a:ln/>
        </p:spPr>
      </p:pic>
      <p:sp>
        <p:nvSpPr>
          <p:cNvPr id="34" name="TextBox 33"/>
          <p:cNvSpPr txBox="1"/>
          <p:nvPr/>
        </p:nvSpPr>
        <p:spPr>
          <a:xfrm>
            <a:off x="5776265" y="4992624"/>
            <a:ext cx="400506" cy="162763"/>
          </a:xfrm>
          <a:prstGeom prst="rect">
            <a:avLst/>
          </a:prstGeom>
          <a:noFill/>
          <a:ln>
            <a:solidFill>
              <a:srgbClr val="FFFFFF"/>
            </a:solidFill>
          </a:ln>
        </p:spPr>
        <p:txBody>
          <a:bodyPr wrap="square" lIns="0" rIns="0" tIns="0" bIns="0">
            <a:noAutofit/>
          </a:bodyPr>
          <a:lstStyle/>
          <a:p>
            <a:r>
              <a:rPr sz="800" b="1">
                <a:solidFill>
                  <a:srgbClr val="636366"/>
                </a:solidFill>
                <a:latin typeface="Noto Sans JP"/>
              </a:rPr>
              <a:t>[24,41]</a:t>
            </a:r>
          </a:p>
        </p:txBody>
      </p:sp>
      <p:pic>
        <p:nvPicPr>
          <p:cNvPr id="35" name="Picture 34" descr="image.png"/>
          <p:cNvPicPr>
            <a:picLocks noChangeAspect="1"/>
          </p:cNvPicPr>
          <p:nvPr/>
        </p:nvPicPr>
        <p:blipFill>
          <a:blip r:embed="rId6"/>
          <a:stretch>
            <a:fillRect/>
          </a:stretch>
        </p:blipFill>
        <p:spPr>
          <a:xfrm>
            <a:off x="4479646" y="5714086"/>
            <a:ext cx="95098" cy="95098"/>
          </a:xfrm>
          <a:prstGeom prst="rect">
            <a:avLst/>
          </a:prstGeom>
          <a:ln/>
        </p:spPr>
      </p:pic>
      <p:sp>
        <p:nvSpPr>
          <p:cNvPr id="36" name="TextBox 35"/>
          <p:cNvSpPr txBox="1"/>
          <p:nvPr/>
        </p:nvSpPr>
        <p:spPr>
          <a:xfrm>
            <a:off x="4574743" y="5840273"/>
            <a:ext cx="3219602" cy="581558"/>
          </a:xfrm>
          <a:prstGeom prst="rect">
            <a:avLst/>
          </a:prstGeom>
          <a:noFill/>
          <a:ln/>
        </p:spPr>
        <p:txBody>
          <a:bodyPr wrap="square" lIns="0" rIns="0" tIns="0" bIns="0">
            <a:noAutofit/>
          </a:bodyPr>
          <a:lstStyle/>
          <a:p>
            <a:r>
              <a:rPr sz="900" b="1">
                <a:solidFill>
                  <a:srgbClr val="1D1D1F"/>
                </a:solidFill>
                <a:latin typeface="Noto Sans JP"/>
              </a:rPr>
              <a:t>ランタイム機能の活用</a:t>
            </a:r>
            <a:r>
              <a:rPr sz="900">
                <a:solidFill>
                  <a:srgbClr val="424245"/>
                </a:solidFill>
                <a:latin typeface="Noto Sans JP"/>
              </a:rPr>
              <a:t> 必要に応じて、llama-cpp-python等のランタイム固有機能（文法制約機能など）</a:t>
            </a:r>
            <a:r>
              <a:rPr sz="900">
                <a:solidFill>
                  <a:srgbClr val="424245"/>
                </a:solidFill>
                <a:latin typeface="Noto Sans JP"/>
              </a:rPr>
              <a:t>を補助的に活用。 </a:t>
            </a:r>
          </a:p>
        </p:txBody>
      </p:sp>
      <p:pic>
        <p:nvPicPr>
          <p:cNvPr id="37" name="Picture 36" descr="image.png"/>
          <p:cNvPicPr>
            <a:picLocks noChangeAspect="1"/>
          </p:cNvPicPr>
          <p:nvPr/>
        </p:nvPicPr>
        <p:blipFill>
          <a:blip r:embed="rId9"/>
          <a:stretch>
            <a:fillRect/>
          </a:stretch>
        </p:blipFill>
        <p:spPr>
          <a:xfrm>
            <a:off x="5880506" y="6259068"/>
            <a:ext cx="247801" cy="161848"/>
          </a:xfrm>
          <a:prstGeom prst="rect">
            <a:avLst/>
          </a:prstGeom>
          <a:ln/>
        </p:spPr>
      </p:pic>
      <p:sp>
        <p:nvSpPr>
          <p:cNvPr id="38" name="TextBox 37"/>
          <p:cNvSpPr txBox="1"/>
          <p:nvPr/>
        </p:nvSpPr>
        <p:spPr>
          <a:xfrm>
            <a:off x="5880506" y="6259068"/>
            <a:ext cx="247801"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[25]</a:t>
            </a:r>
          </a:p>
        </p:txBody>
      </p:sp>
      <p:sp>
        <p:nvSpPr>
          <p:cNvPr id="39" name="Rectangle 38"/>
          <p:cNvSpPr/>
          <p:nvPr/>
        </p:nvSpPr>
        <p:spPr>
          <a:xfrm>
            <a:off x="8102497" y="4035247"/>
            <a:ext cx="3638398" cy="277154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655210"/>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02752" y="4235501"/>
            <a:ext cx="342900" cy="342900"/>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8397850" y="4330598"/>
            <a:ext cx="152705" cy="152705"/>
          </a:xfrm>
          <a:prstGeom prst="rect">
            <a:avLst/>
          </a:prstGeom>
          <a:ln/>
        </p:spPr>
      </p:pic>
      <p:sp>
        <p:nvSpPr>
          <p:cNvPr id="43" name="TextBox 42"/>
          <p:cNvSpPr txBox="1"/>
          <p:nvPr/>
        </p:nvSpPr>
        <p:spPr>
          <a:xfrm>
            <a:off x="8740750" y="4285793"/>
            <a:ext cx="1017726" cy="247801"/>
          </a:xfrm>
          <a:prstGeom prst="rect">
            <a:avLst/>
          </a:prstGeom>
          <a:noFill/>
          <a:ln/>
        </p:spPr>
        <p:txBody>
          <a:bodyPr wrap="square" lIns="0" rIns="0" tIns="0" bIns="0">
            <a:noAutofit/>
          </a:bodyPr>
          <a:lstStyle/>
          <a:p>
            <a:r>
              <a:rPr sz="1200" b="1">
                <a:solidFill>
                  <a:srgbClr val="1D1D1F"/>
                </a:solidFill>
                <a:latin typeface="Noto Sans JP"/>
              </a:rPr>
              <a:t>幻覚API対策</a:t>
            </a:r>
          </a:p>
        </p:txBody>
      </p:sp>
      <p:pic>
        <p:nvPicPr>
          <p:cNvPr id="44" name="Picture 43" descr="image.png"/>
          <p:cNvPicPr>
            <a:picLocks noChangeAspect="1"/>
          </p:cNvPicPr>
          <p:nvPr/>
        </p:nvPicPr>
        <p:blipFill>
          <a:blip r:embed="rId6"/>
          <a:stretch>
            <a:fillRect/>
          </a:stretch>
        </p:blipFill>
        <p:spPr>
          <a:xfrm>
            <a:off x="8302752" y="4838090"/>
            <a:ext cx="95097" cy="95098"/>
          </a:xfrm>
          <a:prstGeom prst="rect">
            <a:avLst/>
          </a:prstGeom>
          <a:ln/>
        </p:spPr>
      </p:pic>
      <p:sp>
        <p:nvSpPr>
          <p:cNvPr id="45" name="TextBox 44"/>
          <p:cNvSpPr txBox="1"/>
          <p:nvPr/>
        </p:nvSpPr>
        <p:spPr>
          <a:xfrm>
            <a:off x="8397850" y="4964278"/>
            <a:ext cx="3219602" cy="581558"/>
          </a:xfrm>
          <a:prstGeom prst="rect">
            <a:avLst/>
          </a:prstGeom>
          <a:noFill/>
          <a:ln/>
        </p:spPr>
        <p:txBody>
          <a:bodyPr wrap="square" lIns="0" rIns="0" tIns="0" bIns="0">
            <a:noAutofit/>
          </a:bodyPr>
          <a:lstStyle/>
          <a:p>
            <a:r>
              <a:rPr sz="900" b="1">
                <a:solidFill>
                  <a:srgbClr val="1D1D1F"/>
                </a:solidFill>
                <a:latin typeface="Noto Sans JP"/>
              </a:rPr>
              <a:t>ホワイトリスト化</a:t>
            </a:r>
            <a:r>
              <a:rPr sz="900">
                <a:solidFill>
                  <a:srgbClr val="424245"/>
                </a:solidFill>
                <a:latin typeface="Noto Sans JP"/>
              </a:rPr>
              <a:t> 実行可能な関数セットを厳密にホワイトリスト化し、存在しないAPIの呼び出し（幻覚）をシステム側で遮断。 </a:t>
            </a:r>
          </a:p>
        </p:txBody>
      </p:sp>
      <p:pic>
        <p:nvPicPr>
          <p:cNvPr id="46" name="Picture 45" descr="image.png"/>
          <p:cNvPicPr>
            <a:picLocks noChangeAspect="1"/>
          </p:cNvPicPr>
          <p:nvPr/>
        </p:nvPicPr>
        <p:blipFill>
          <a:blip r:embed="rId6"/>
          <a:stretch>
            <a:fillRect/>
          </a:stretch>
        </p:blipFill>
        <p:spPr>
          <a:xfrm>
            <a:off x="8302752" y="5714086"/>
            <a:ext cx="95097" cy="95098"/>
          </a:xfrm>
          <a:prstGeom prst="rect">
            <a:avLst/>
          </a:prstGeom>
          <a:ln/>
        </p:spPr>
      </p:pic>
      <p:sp>
        <p:nvSpPr>
          <p:cNvPr id="47" name="TextBox 46"/>
          <p:cNvSpPr txBox="1"/>
          <p:nvPr/>
        </p:nvSpPr>
        <p:spPr>
          <a:xfrm>
            <a:off x="8397850" y="5840273"/>
            <a:ext cx="3219602" cy="581558"/>
          </a:xfrm>
          <a:prstGeom prst="rect">
            <a:avLst/>
          </a:prstGeom>
          <a:noFill/>
          <a:ln/>
        </p:spPr>
        <p:txBody>
          <a:bodyPr wrap="square" lIns="0" rIns="0" tIns="0" bIns="0">
            <a:noAutofit/>
          </a:bodyPr>
          <a:lstStyle/>
          <a:p>
            <a:r>
              <a:rPr sz="900" b="1">
                <a:solidFill>
                  <a:srgbClr val="1D1D1F"/>
                </a:solidFill>
                <a:latin typeface="Noto Sans JP"/>
              </a:rPr>
              <a:t>タイムアウトとリトライ</a:t>
            </a:r>
            <a:r>
              <a:rPr sz="900">
                <a:solidFill>
                  <a:srgbClr val="424245"/>
                </a:solidFill>
                <a:latin typeface="Noto Sans JP"/>
              </a:rPr>
              <a:t> 無限ループや応答遅延を防ぐため、標準でタイムアウト設定とリトライ上限を設ける設計を義務化。 </a:t>
            </a:r>
          </a:p>
        </p:txBody>
      </p:sp>
      <p:pic>
        <p:nvPicPr>
          <p:cNvPr id="48" name="Picture 47" descr="image.png"/>
          <p:cNvPicPr>
            <a:picLocks noChangeAspect="1"/>
          </p:cNvPicPr>
          <p:nvPr/>
        </p:nvPicPr>
        <p:blipFill>
          <a:blip r:embed="rId11"/>
          <a:stretch>
            <a:fillRect/>
          </a:stretch>
        </p:blipFill>
        <p:spPr>
          <a:xfrm>
            <a:off x="0" y="6476695"/>
            <a:ext cx="12191695" cy="381305"/>
          </a:xfrm>
          <a:prstGeom prst="rect">
            <a:avLst/>
          </a:prstGeom>
          <a:ln/>
        </p:spPr>
      </p:pic>
      <p:sp>
        <p:nvSpPr>
          <p:cNvPr id="49" name="TextBox 48"/>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41 | ローカルAI 技術調査レポート</a:t>
            </a:r>
          </a:p>
        </p:txBody>
      </p:sp>
      <p:pic>
        <p:nvPicPr>
          <p:cNvPr id="50" name="Picture 49" descr="image.png"/>
          <p:cNvPicPr>
            <a:picLocks noChangeAspect="1"/>
          </p:cNvPicPr>
          <p:nvPr/>
        </p:nvPicPr>
        <p:blipFill>
          <a:blip r:embed="rId12"/>
          <a:stretch>
            <a:fillRect/>
          </a:stretch>
        </p:blipFill>
        <p:spPr>
          <a:xfrm>
            <a:off x="1739189" y="2295144"/>
            <a:ext cx="533094" cy="533094"/>
          </a:xfrm>
          <a:prstGeom prst="rect">
            <a:avLst/>
          </a:prstGeom>
          <a:ln/>
        </p:spPr>
      </p:pic>
      <p:pic>
        <p:nvPicPr>
          <p:cNvPr id="51" name="Picture 50" descr="image.png"/>
          <p:cNvPicPr>
            <a:picLocks noChangeAspect="1"/>
          </p:cNvPicPr>
          <p:nvPr/>
        </p:nvPicPr>
        <p:blipFill>
          <a:blip r:embed="rId13"/>
          <a:stretch>
            <a:fillRect/>
          </a:stretch>
        </p:blipFill>
        <p:spPr>
          <a:xfrm>
            <a:off x="1863547" y="2447849"/>
            <a:ext cx="286206" cy="228600"/>
          </a:xfrm>
          <a:prstGeom prst="rect">
            <a:avLst/>
          </a:prstGeom>
          <a:ln/>
        </p:spPr>
      </p:pic>
      <p:sp>
        <p:nvSpPr>
          <p:cNvPr id="52" name="TextBox 51"/>
          <p:cNvSpPr txBox="1"/>
          <p:nvPr/>
        </p:nvSpPr>
        <p:spPr>
          <a:xfrm>
            <a:off x="1538935" y="2943454"/>
            <a:ext cx="943661" cy="219456"/>
          </a:xfrm>
          <a:prstGeom prst="rect">
            <a:avLst/>
          </a:prstGeom>
          <a:noFill/>
          <a:ln/>
        </p:spPr>
        <p:txBody>
          <a:bodyPr wrap="square" lIns="0" rIns="0" tIns="0" bIns="0">
            <a:noAutofit/>
          </a:bodyPr>
          <a:lstStyle/>
          <a:p>
            <a:r>
              <a:rPr sz="1100" b="1">
                <a:solidFill>
                  <a:srgbClr val="1D1D1F"/>
                </a:solidFill>
                <a:latin typeface="Noto Sans JP"/>
              </a:rPr>
              <a:t>スキーマ定義</a:t>
            </a:r>
          </a:p>
        </p:txBody>
      </p:sp>
      <p:sp>
        <p:nvSpPr>
          <p:cNvPr id="53" name="TextBox 52"/>
          <p:cNvSpPr txBox="1"/>
          <p:nvPr/>
        </p:nvSpPr>
        <p:spPr>
          <a:xfrm>
            <a:off x="1406347" y="3233318"/>
            <a:ext cx="1209751" cy="305409"/>
          </a:xfrm>
          <a:prstGeom prst="rect">
            <a:avLst/>
          </a:prstGeom>
          <a:noFill/>
          <a:ln/>
        </p:spPr>
        <p:txBody>
          <a:bodyPr wrap="square" lIns="0" rIns="0" tIns="0" bIns="0">
            <a:noAutofit/>
          </a:bodyPr>
          <a:lstStyle/>
          <a:p>
            <a:r>
              <a:rPr sz="900">
                <a:solidFill>
                  <a:srgbClr val="6E6E73"/>
                </a:solidFill>
                <a:latin typeface="Noto Sans JP"/>
              </a:rPr>
              <a:t>必須引数・型・制約を</a:t>
            </a:r>
          </a:p>
          <a:p>
            <a:r>
              <a:rPr sz="900">
                <a:solidFill>
                  <a:srgbClr val="6E6E73"/>
                </a:solidFill>
                <a:latin typeface="Noto Sans JP"/>
              </a:rPr>
              <a:t>厳格化して固定</a:t>
            </a:r>
          </a:p>
        </p:txBody>
      </p:sp>
      <p:pic>
        <p:nvPicPr>
          <p:cNvPr id="54" name="Picture 53" descr="image.png"/>
          <p:cNvPicPr>
            <a:picLocks noChangeAspect="1"/>
          </p:cNvPicPr>
          <p:nvPr/>
        </p:nvPicPr>
        <p:blipFill>
          <a:blip r:embed="rId14"/>
          <a:stretch>
            <a:fillRect/>
          </a:stretch>
        </p:blipFill>
        <p:spPr>
          <a:xfrm>
            <a:off x="4465930" y="2295144"/>
            <a:ext cx="533094" cy="533094"/>
          </a:xfrm>
          <a:prstGeom prst="rect">
            <a:avLst/>
          </a:prstGeom>
          <a:ln/>
        </p:spPr>
      </p:pic>
      <p:pic>
        <p:nvPicPr>
          <p:cNvPr id="55" name="Picture 54" descr="image.png"/>
          <p:cNvPicPr>
            <a:picLocks noChangeAspect="1"/>
          </p:cNvPicPr>
          <p:nvPr/>
        </p:nvPicPr>
        <p:blipFill>
          <a:blip r:embed="rId15"/>
          <a:stretch>
            <a:fillRect/>
          </a:stretch>
        </p:blipFill>
        <p:spPr>
          <a:xfrm>
            <a:off x="4604004" y="2447849"/>
            <a:ext cx="256946" cy="228600"/>
          </a:xfrm>
          <a:prstGeom prst="rect">
            <a:avLst/>
          </a:prstGeom>
          <a:ln/>
        </p:spPr>
      </p:pic>
      <p:sp>
        <p:nvSpPr>
          <p:cNvPr id="56" name="TextBox 55"/>
          <p:cNvSpPr txBox="1"/>
          <p:nvPr/>
        </p:nvSpPr>
        <p:spPr>
          <a:xfrm>
            <a:off x="4336999" y="2943454"/>
            <a:ext cx="800100" cy="219456"/>
          </a:xfrm>
          <a:prstGeom prst="rect">
            <a:avLst/>
          </a:prstGeom>
          <a:noFill/>
          <a:ln/>
        </p:spPr>
        <p:txBody>
          <a:bodyPr wrap="square" lIns="0" rIns="0" tIns="0" bIns="0">
            <a:noAutofit/>
          </a:bodyPr>
          <a:lstStyle/>
          <a:p>
            <a:r>
              <a:rPr sz="1100" b="1">
                <a:solidFill>
                  <a:srgbClr val="1D1D1F"/>
                </a:solidFill>
                <a:latin typeface="Noto Sans JP"/>
              </a:rPr>
              <a:t>ツール実行</a:t>
            </a:r>
          </a:p>
        </p:txBody>
      </p:sp>
      <p:sp>
        <p:nvSpPr>
          <p:cNvPr id="57" name="TextBox 56"/>
          <p:cNvSpPr txBox="1"/>
          <p:nvPr/>
        </p:nvSpPr>
        <p:spPr>
          <a:xfrm>
            <a:off x="4110228" y="3233318"/>
            <a:ext cx="1248155" cy="305409"/>
          </a:xfrm>
          <a:prstGeom prst="rect">
            <a:avLst/>
          </a:prstGeom>
          <a:noFill/>
          <a:ln/>
        </p:spPr>
        <p:txBody>
          <a:bodyPr wrap="square" lIns="0" rIns="0" tIns="0" bIns="0">
            <a:noAutofit/>
          </a:bodyPr>
          <a:lstStyle/>
          <a:p>
            <a:r>
              <a:rPr sz="900">
                <a:solidFill>
                  <a:srgbClr val="6E6E73"/>
                </a:solidFill>
                <a:latin typeface="Noto Sans JP"/>
              </a:rPr>
              <a:t>Ollama/LM Studio経由</a:t>
            </a:r>
          </a:p>
          <a:p>
            <a:r>
              <a:rPr sz="900">
                <a:solidFill>
                  <a:srgbClr val="6E6E73"/>
                </a:solidFill>
                <a:latin typeface="Noto Sans JP"/>
              </a:rPr>
              <a:t>OpenAI互換API</a:t>
            </a:r>
          </a:p>
        </p:txBody>
      </p:sp>
      <p:pic>
        <p:nvPicPr>
          <p:cNvPr id="58" name="Picture 57" descr="image.png"/>
          <p:cNvPicPr>
            <a:picLocks noChangeAspect="1"/>
          </p:cNvPicPr>
          <p:nvPr/>
        </p:nvPicPr>
        <p:blipFill>
          <a:blip r:embed="rId16"/>
          <a:stretch>
            <a:fillRect/>
          </a:stretch>
        </p:blipFill>
        <p:spPr>
          <a:xfrm>
            <a:off x="7192670" y="2295144"/>
            <a:ext cx="533094" cy="533094"/>
          </a:xfrm>
          <a:prstGeom prst="rect">
            <a:avLst/>
          </a:prstGeom>
          <a:ln/>
        </p:spPr>
      </p:pic>
      <p:pic>
        <p:nvPicPr>
          <p:cNvPr id="59" name="Picture 58" descr="image.png"/>
          <p:cNvPicPr>
            <a:picLocks noChangeAspect="1"/>
          </p:cNvPicPr>
          <p:nvPr/>
        </p:nvPicPr>
        <p:blipFill>
          <a:blip r:embed="rId17"/>
          <a:stretch>
            <a:fillRect/>
          </a:stretch>
        </p:blipFill>
        <p:spPr>
          <a:xfrm>
            <a:off x="7345375" y="2447849"/>
            <a:ext cx="228600" cy="228600"/>
          </a:xfrm>
          <a:prstGeom prst="rect">
            <a:avLst/>
          </a:prstGeom>
          <a:ln/>
        </p:spPr>
      </p:pic>
      <p:sp>
        <p:nvSpPr>
          <p:cNvPr id="60" name="TextBox 59"/>
          <p:cNvSpPr txBox="1"/>
          <p:nvPr/>
        </p:nvSpPr>
        <p:spPr>
          <a:xfrm>
            <a:off x="7068311" y="2943454"/>
            <a:ext cx="790955" cy="219456"/>
          </a:xfrm>
          <a:prstGeom prst="rect">
            <a:avLst/>
          </a:prstGeom>
          <a:noFill/>
          <a:ln/>
        </p:spPr>
        <p:txBody>
          <a:bodyPr wrap="square" lIns="0" rIns="0" tIns="0" bIns="0">
            <a:noAutofit/>
          </a:bodyPr>
          <a:lstStyle/>
          <a:p>
            <a:r>
              <a:rPr sz="1100" b="1">
                <a:solidFill>
                  <a:srgbClr val="1D1D1F"/>
                </a:solidFill>
                <a:latin typeface="Noto Sans JP"/>
              </a:rPr>
              <a:t>検証ループ</a:t>
            </a:r>
          </a:p>
        </p:txBody>
      </p:sp>
      <p:sp>
        <p:nvSpPr>
          <p:cNvPr id="61" name="TextBox 60"/>
          <p:cNvSpPr txBox="1"/>
          <p:nvPr/>
        </p:nvSpPr>
        <p:spPr>
          <a:xfrm>
            <a:off x="6836969" y="3233318"/>
            <a:ext cx="1248155" cy="305409"/>
          </a:xfrm>
          <a:prstGeom prst="rect">
            <a:avLst/>
          </a:prstGeom>
          <a:noFill/>
          <a:ln/>
        </p:spPr>
        <p:txBody>
          <a:bodyPr wrap="square" lIns="0" rIns="0" tIns="0" bIns="0">
            <a:noAutofit/>
          </a:bodyPr>
          <a:lstStyle/>
          <a:p>
            <a:r>
              <a:rPr sz="900">
                <a:solidFill>
                  <a:srgbClr val="6E6E73"/>
                </a:solidFill>
                <a:latin typeface="Noto Sans JP"/>
              </a:rPr>
              <a:t>コンパイル/テスト実行</a:t>
            </a:r>
          </a:p>
          <a:p>
            <a:r>
              <a:rPr sz="900">
                <a:solidFill>
                  <a:srgbClr val="6E6E73"/>
                </a:solidFill>
                <a:latin typeface="Noto Sans JP"/>
              </a:rPr>
              <a:t>失敗時は再生成</a:t>
            </a:r>
          </a:p>
        </p:txBody>
      </p:sp>
      <p:pic>
        <p:nvPicPr>
          <p:cNvPr id="62" name="Picture 61" descr="image.png"/>
          <p:cNvPicPr>
            <a:picLocks noChangeAspect="1"/>
          </p:cNvPicPr>
          <p:nvPr/>
        </p:nvPicPr>
        <p:blipFill>
          <a:blip r:embed="rId18"/>
          <a:stretch>
            <a:fillRect/>
          </a:stretch>
        </p:blipFill>
        <p:spPr>
          <a:xfrm>
            <a:off x="9919411" y="2295144"/>
            <a:ext cx="533094" cy="533094"/>
          </a:xfrm>
          <a:prstGeom prst="rect">
            <a:avLst/>
          </a:prstGeom>
          <a:ln/>
        </p:spPr>
      </p:pic>
      <p:pic>
        <p:nvPicPr>
          <p:cNvPr id="63" name="Picture 62" descr="image.png"/>
          <p:cNvPicPr>
            <a:picLocks noChangeAspect="1"/>
          </p:cNvPicPr>
          <p:nvPr/>
        </p:nvPicPr>
        <p:blipFill>
          <a:blip r:embed="rId19"/>
          <a:stretch>
            <a:fillRect/>
          </a:stretch>
        </p:blipFill>
        <p:spPr>
          <a:xfrm>
            <a:off x="10071202" y="2447849"/>
            <a:ext cx="228600" cy="228600"/>
          </a:xfrm>
          <a:prstGeom prst="rect">
            <a:avLst/>
          </a:prstGeom>
          <a:ln/>
        </p:spPr>
      </p:pic>
      <p:sp>
        <p:nvSpPr>
          <p:cNvPr id="64" name="TextBox 63"/>
          <p:cNvSpPr txBox="1"/>
          <p:nvPr/>
        </p:nvSpPr>
        <p:spPr>
          <a:xfrm>
            <a:off x="9680753" y="2943454"/>
            <a:ext cx="1012240" cy="219456"/>
          </a:xfrm>
          <a:prstGeom prst="rect">
            <a:avLst/>
          </a:prstGeom>
          <a:noFill/>
          <a:ln/>
        </p:spPr>
        <p:txBody>
          <a:bodyPr wrap="square" lIns="0" rIns="0" tIns="0" bIns="0">
            <a:noAutofit/>
          </a:bodyPr>
          <a:lstStyle/>
          <a:p>
            <a:r>
              <a:rPr sz="1100" b="1">
                <a:solidFill>
                  <a:srgbClr val="1D1D1F"/>
                </a:solidFill>
                <a:latin typeface="Noto Sans JP"/>
              </a:rPr>
              <a:t>完了/リトライ</a:t>
            </a:r>
          </a:p>
        </p:txBody>
      </p:sp>
      <p:sp>
        <p:nvSpPr>
          <p:cNvPr id="65" name="TextBox 64"/>
          <p:cNvSpPr txBox="1"/>
          <p:nvPr/>
        </p:nvSpPr>
        <p:spPr>
          <a:xfrm>
            <a:off x="9756648" y="3233318"/>
            <a:ext cx="866850" cy="305409"/>
          </a:xfrm>
          <a:prstGeom prst="rect">
            <a:avLst/>
          </a:prstGeom>
          <a:noFill/>
          <a:ln/>
        </p:spPr>
        <p:txBody>
          <a:bodyPr wrap="square" lIns="0" rIns="0" tIns="0" bIns="0">
            <a:noAutofit/>
          </a:bodyPr>
          <a:lstStyle/>
          <a:p>
            <a:r>
              <a:rPr sz="900">
                <a:solidFill>
                  <a:srgbClr val="6E6E73"/>
                </a:solidFill>
                <a:latin typeface="Noto Sans JP"/>
              </a:rPr>
              <a:t>結果確認または</a:t>
            </a:r>
          </a:p>
          <a:p>
            <a:r>
              <a:rPr sz="900">
                <a:solidFill>
                  <a:srgbClr val="6E6E73"/>
                </a:solidFill>
                <a:latin typeface="Noto Sans JP"/>
              </a:rPr>
              <a:t>フォールバック</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81305" cy="304495"/>
          </a:xfrm>
          <a:prstGeom prst="rect">
            <a:avLst/>
          </a:prstGeom>
          <a:ln/>
        </p:spPr>
      </p:pic>
      <p:sp>
        <p:nvSpPr>
          <p:cNvPr id="8" name="TextBox 7"/>
          <p:cNvSpPr txBox="1"/>
          <p:nvPr/>
        </p:nvSpPr>
        <p:spPr>
          <a:xfrm>
            <a:off x="990294" y="243230"/>
            <a:ext cx="8439912" cy="457200"/>
          </a:xfrm>
          <a:prstGeom prst="rect">
            <a:avLst/>
          </a:prstGeom>
          <a:noFill/>
          <a:ln/>
        </p:spPr>
        <p:txBody>
          <a:bodyPr wrap="square" lIns="0" rIns="0" tIns="0" bIns="0">
            <a:noAutofit/>
          </a:bodyPr>
          <a:lstStyle/>
          <a:p>
            <a:r>
              <a:rPr sz="2400" b="1">
                <a:solidFill>
                  <a:srgbClr val="1D1D1F"/>
                </a:solidFill>
                <a:latin typeface="Noto Sans JP"/>
              </a:rPr>
              <a:t>音声周辺（VAD/話者分離/ウェイクワード/ノイズ除去）概要</a:t>
            </a:r>
          </a:p>
        </p:txBody>
      </p:sp>
      <p:sp>
        <p:nvSpPr>
          <p:cNvPr id="9" name="TextBox 8"/>
          <p:cNvSpPr txBox="1"/>
          <p:nvPr/>
        </p:nvSpPr>
        <p:spPr>
          <a:xfrm>
            <a:off x="9682582" y="342900"/>
            <a:ext cx="2221992" cy="257861"/>
          </a:xfrm>
          <a:prstGeom prst="rect">
            <a:avLst/>
          </a:prstGeom>
          <a:noFill/>
          <a:ln/>
        </p:spPr>
        <p:txBody>
          <a:bodyPr wrap="square" lIns="0" rIns="0" tIns="0" bIns="0">
            <a:noAutofit/>
          </a:bodyPr>
          <a:lstStyle/>
          <a:p>
            <a:r>
              <a:rPr sz="1300">
                <a:solidFill>
                  <a:srgbClr val="86868B"/>
                </a:solidFill>
                <a:latin typeface="Noto Sans JP"/>
              </a:rPr>
              <a:t>カテゴリ別モデルカタログ</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p:spPr>
      </p:pic>
      <p:sp>
        <p:nvSpPr>
          <p:cNvPr id="11" name="TextBox 10"/>
          <p:cNvSpPr txBox="1"/>
          <p:nvPr/>
        </p:nvSpPr>
        <p:spPr>
          <a:xfrm>
            <a:off x="743407" y="1447495"/>
            <a:ext cx="10842041" cy="590701"/>
          </a:xfrm>
          <a:prstGeom prst="rect">
            <a:avLst/>
          </a:prstGeom>
          <a:noFill/>
          <a:ln/>
        </p:spPr>
        <p:txBody>
          <a:bodyPr wrap="square" lIns="0" rIns="0" tIns="0" bIns="0">
            <a:noAutofit/>
          </a:bodyPr>
          <a:lstStyle/>
          <a:p>
            <a:r>
              <a:rPr sz="1600" b="1">
                <a:solidFill>
                  <a:srgbClr val="1D1D1F"/>
                </a:solidFill>
                <a:latin typeface="Noto Sans JP"/>
              </a:rPr>
              <a:t> 結論：前処理（VAD/話者分離/ウェイクワード/ノイズ除去）が音声UXの品質下限を決定します。</a:t>
            </a:r>
          </a:p>
          <a:p>
            <a:r>
              <a:rPr sz="1600" b="1">
                <a:solidFill>
                  <a:srgbClr val="2563EB"/>
                </a:solidFill>
                <a:latin typeface="Noto Sans JP"/>
              </a:rPr>
              <a:t>Silero VAD</a:t>
            </a:r>
            <a:r>
              <a:rPr sz="1600" b="1">
                <a:solidFill>
                  <a:srgbClr val="1D1D1F"/>
                </a:solidFill>
                <a:latin typeface="Noto Sans JP"/>
              </a:rPr>
              <a:t>による無音除去と</a:t>
            </a:r>
            <a:r>
              <a:rPr sz="1600" b="1">
                <a:solidFill>
                  <a:srgbClr val="2563EB"/>
                </a:solidFill>
                <a:latin typeface="Noto Sans JP"/>
              </a:rPr>
              <a:t>pyannote.audio</a:t>
            </a:r>
            <a:r>
              <a:rPr sz="1600" b="1">
                <a:solidFill>
                  <a:srgbClr val="1D1D1F"/>
                </a:solidFill>
                <a:latin typeface="Noto Sans JP"/>
              </a:rPr>
              <a:t>による話者分離が実務上の標準構成です。 </a:t>
            </a:r>
          </a:p>
        </p:txBody>
      </p:sp>
      <p:sp>
        <p:nvSpPr>
          <p:cNvPr id="12" name="Rectangle 11"/>
          <p:cNvSpPr/>
          <p:nvPr/>
        </p:nvSpPr>
        <p:spPr>
          <a:xfrm>
            <a:off x="457200"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96566"/>
            <a:ext cx="190194" cy="171906"/>
          </a:xfrm>
          <a:prstGeom prst="rect">
            <a:avLst/>
          </a:prstGeom>
          <a:ln/>
        </p:spPr>
      </p:pic>
      <p:sp>
        <p:nvSpPr>
          <p:cNvPr id="15" name="TextBox 14"/>
          <p:cNvSpPr txBox="1"/>
          <p:nvPr/>
        </p:nvSpPr>
        <p:spPr>
          <a:xfrm>
            <a:off x="942746" y="2653589"/>
            <a:ext cx="2648102" cy="352957"/>
          </a:xfrm>
          <a:prstGeom prst="rect">
            <a:avLst/>
          </a:prstGeom>
          <a:noFill/>
          <a:ln/>
        </p:spPr>
        <p:txBody>
          <a:bodyPr wrap="square" lIns="0" rIns="0" tIns="0" bIns="0">
            <a:noAutofit/>
          </a:bodyPr>
          <a:lstStyle/>
          <a:p>
            <a:r>
              <a:rPr sz="1300" b="1">
                <a:solidFill>
                  <a:srgbClr val="1D1D1F"/>
                </a:solidFill>
                <a:latin typeface="Noto Sans JP"/>
              </a:rPr>
              <a:t>主要コンポーネント（Primary）</a:t>
            </a:r>
          </a:p>
        </p:txBody>
      </p:sp>
      <p:pic>
        <p:nvPicPr>
          <p:cNvPr id="16" name="Picture 15" descr="image.png"/>
          <p:cNvPicPr>
            <a:picLocks noChangeAspect="1"/>
          </p:cNvPicPr>
          <p:nvPr/>
        </p:nvPicPr>
        <p:blipFill>
          <a:blip r:embed="rId5"/>
          <a:stretch>
            <a:fillRect/>
          </a:stretch>
        </p:blipFill>
        <p:spPr>
          <a:xfrm>
            <a:off x="657454" y="3158338"/>
            <a:ext cx="114300" cy="114300"/>
          </a:xfrm>
          <a:prstGeom prst="rect">
            <a:avLst/>
          </a:prstGeom>
          <a:ln/>
        </p:spPr>
      </p:pic>
      <p:sp>
        <p:nvSpPr>
          <p:cNvPr id="17" name="TextBox 16"/>
          <p:cNvSpPr txBox="1"/>
          <p:nvPr/>
        </p:nvSpPr>
        <p:spPr>
          <a:xfrm>
            <a:off x="847649" y="3158338"/>
            <a:ext cx="5048401" cy="219455"/>
          </a:xfrm>
          <a:prstGeom prst="rect">
            <a:avLst/>
          </a:prstGeom>
          <a:noFill/>
          <a:ln/>
        </p:spPr>
        <p:txBody>
          <a:bodyPr wrap="square" lIns="0" rIns="0" tIns="0" bIns="0">
            <a:noAutofit/>
          </a:bodyPr>
          <a:lstStyle/>
          <a:p>
            <a:r>
              <a:rPr sz="1100" b="1">
                <a:solidFill>
                  <a:srgbClr val="424245"/>
                </a:solidFill>
                <a:latin typeface="Noto Sans JP"/>
              </a:rPr>
              <a:t>VAD（Voice Activity Detection）：Silero VAD</a:t>
            </a:r>
          </a:p>
        </p:txBody>
      </p:sp>
      <p:pic>
        <p:nvPicPr>
          <p:cNvPr id="18" name="Picture 17" descr="image.png"/>
          <p:cNvPicPr>
            <a:picLocks noChangeAspect="1"/>
          </p:cNvPicPr>
          <p:nvPr/>
        </p:nvPicPr>
        <p:blipFill>
          <a:blip r:embed="rId6"/>
          <a:stretch>
            <a:fillRect/>
          </a:stretch>
        </p:blipFill>
        <p:spPr>
          <a:xfrm>
            <a:off x="3984041" y="3193085"/>
            <a:ext cx="286206" cy="171907"/>
          </a:xfrm>
          <a:prstGeom prst="rect">
            <a:avLst/>
          </a:prstGeom>
          <a:ln/>
        </p:spPr>
      </p:pic>
      <p:sp>
        <p:nvSpPr>
          <p:cNvPr id="19" name="TextBox 18"/>
          <p:cNvSpPr txBox="1"/>
          <p:nvPr/>
        </p:nvSpPr>
        <p:spPr>
          <a:xfrm>
            <a:off x="3984041" y="3193085"/>
            <a:ext cx="286206" cy="171907"/>
          </a:xfrm>
          <a:prstGeom prst="rect">
            <a:avLst/>
          </a:prstGeom>
          <a:noFill/>
          <a:ln>
            <a:solidFill>
              <a:srgbClr val="FFFFFF"/>
            </a:solidFill>
          </a:ln>
        </p:spPr>
        <p:txBody>
          <a:bodyPr wrap="square" lIns="0" rIns="0" tIns="0" bIns="0">
            <a:noAutofit/>
          </a:bodyPr>
          <a:lstStyle/>
          <a:p>
            <a:r>
              <a:rPr sz="800">
                <a:solidFill>
                  <a:srgbClr val="6B7280"/>
                </a:solidFill>
                <a:latin typeface="Noto Sans JP"/>
              </a:rPr>
              <a:t>[82]</a:t>
            </a:r>
          </a:p>
        </p:txBody>
      </p:sp>
      <p:sp>
        <p:nvSpPr>
          <p:cNvPr id="20" name="TextBox 19"/>
          <p:cNvSpPr txBox="1"/>
          <p:nvPr/>
        </p:nvSpPr>
        <p:spPr>
          <a:xfrm>
            <a:off x="847649" y="3410712"/>
            <a:ext cx="5010911" cy="381305"/>
          </a:xfrm>
          <a:prstGeom prst="rect">
            <a:avLst/>
          </a:prstGeom>
          <a:noFill/>
          <a:ln/>
        </p:spPr>
        <p:txBody>
          <a:bodyPr wrap="square" lIns="0" rIns="0" tIns="0" bIns="0">
            <a:noAutofit/>
          </a:bodyPr>
          <a:lstStyle/>
          <a:p>
            <a:r>
              <a:rPr sz="1000">
                <a:solidFill>
                  <a:srgbClr val="4B5563"/>
                </a:solidFill>
                <a:latin typeface="Noto Sans JP"/>
              </a:rPr>
              <a:t>無音・雑音区間を事前除去し、ASRの幻覚（Hallucination）を抑制。軽量・高精度でデファクトスタンダード。</a:t>
            </a:r>
          </a:p>
        </p:txBody>
      </p:sp>
      <p:pic>
        <p:nvPicPr>
          <p:cNvPr id="21" name="Picture 20" descr="image.png"/>
          <p:cNvPicPr>
            <a:picLocks noChangeAspect="1"/>
          </p:cNvPicPr>
          <p:nvPr/>
        </p:nvPicPr>
        <p:blipFill>
          <a:blip r:embed="rId7"/>
          <a:stretch>
            <a:fillRect/>
          </a:stretch>
        </p:blipFill>
        <p:spPr>
          <a:xfrm>
            <a:off x="657454" y="3867912"/>
            <a:ext cx="142646" cy="114300"/>
          </a:xfrm>
          <a:prstGeom prst="rect">
            <a:avLst/>
          </a:prstGeom>
          <a:ln/>
        </p:spPr>
      </p:pic>
      <p:sp>
        <p:nvSpPr>
          <p:cNvPr id="22" name="TextBox 21"/>
          <p:cNvSpPr txBox="1"/>
          <p:nvPr/>
        </p:nvSpPr>
        <p:spPr>
          <a:xfrm>
            <a:off x="875994" y="3867912"/>
            <a:ext cx="5020056" cy="219456"/>
          </a:xfrm>
          <a:prstGeom prst="rect">
            <a:avLst/>
          </a:prstGeom>
          <a:noFill/>
          <a:ln/>
        </p:spPr>
        <p:txBody>
          <a:bodyPr wrap="square" lIns="0" rIns="0" tIns="0" bIns="0">
            <a:noAutofit/>
          </a:bodyPr>
          <a:lstStyle/>
          <a:p>
            <a:r>
              <a:rPr sz="1100" b="1">
                <a:solidFill>
                  <a:srgbClr val="424245"/>
                </a:solidFill>
                <a:latin typeface="Noto Sans JP"/>
              </a:rPr>
              <a:t>話者分離（Diarization）：pyannote.audio</a:t>
            </a:r>
          </a:p>
        </p:txBody>
      </p:sp>
      <p:pic>
        <p:nvPicPr>
          <p:cNvPr id="23" name="Picture 22" descr="image.png"/>
          <p:cNvPicPr>
            <a:picLocks noChangeAspect="1"/>
          </p:cNvPicPr>
          <p:nvPr/>
        </p:nvPicPr>
        <p:blipFill>
          <a:blip r:embed="rId6"/>
          <a:stretch>
            <a:fillRect/>
          </a:stretch>
        </p:blipFill>
        <p:spPr>
          <a:xfrm>
            <a:off x="3811219" y="3902659"/>
            <a:ext cx="286206" cy="171906"/>
          </a:xfrm>
          <a:prstGeom prst="rect">
            <a:avLst/>
          </a:prstGeom>
          <a:ln/>
        </p:spPr>
      </p:pic>
      <p:sp>
        <p:nvSpPr>
          <p:cNvPr id="24" name="TextBox 23"/>
          <p:cNvSpPr txBox="1"/>
          <p:nvPr/>
        </p:nvSpPr>
        <p:spPr>
          <a:xfrm>
            <a:off x="3811219" y="3902659"/>
            <a:ext cx="286206" cy="171906"/>
          </a:xfrm>
          <a:prstGeom prst="rect">
            <a:avLst/>
          </a:prstGeom>
          <a:noFill/>
          <a:ln>
            <a:solidFill>
              <a:srgbClr val="FFFFFF"/>
            </a:solidFill>
          </a:ln>
        </p:spPr>
        <p:txBody>
          <a:bodyPr wrap="square" lIns="0" rIns="0" tIns="0" bIns="0">
            <a:noAutofit/>
          </a:bodyPr>
          <a:lstStyle/>
          <a:p>
            <a:r>
              <a:rPr sz="800">
                <a:solidFill>
                  <a:srgbClr val="6B7280"/>
                </a:solidFill>
                <a:latin typeface="Noto Sans JP"/>
              </a:rPr>
              <a:t>[84]</a:t>
            </a:r>
          </a:p>
        </p:txBody>
      </p:sp>
      <p:sp>
        <p:nvSpPr>
          <p:cNvPr id="25" name="TextBox 24"/>
          <p:cNvSpPr txBox="1"/>
          <p:nvPr/>
        </p:nvSpPr>
        <p:spPr>
          <a:xfrm>
            <a:off x="875994" y="4120286"/>
            <a:ext cx="4981651" cy="381305"/>
          </a:xfrm>
          <a:prstGeom prst="rect">
            <a:avLst/>
          </a:prstGeom>
          <a:noFill/>
          <a:ln/>
        </p:spPr>
        <p:txBody>
          <a:bodyPr wrap="square" lIns="0" rIns="0" tIns="0" bIns="0">
            <a:noAutofit/>
          </a:bodyPr>
          <a:lstStyle/>
          <a:p>
            <a:r>
              <a:rPr sz="1000">
                <a:solidFill>
                  <a:srgbClr val="4B5563"/>
                </a:solidFill>
                <a:latin typeface="Noto Sans JP"/>
              </a:rPr>
              <a:t>「誰が話したか」を特定。会議議事録の品質に直結するが、依存関係が重く計算コストも高い。</a:t>
            </a:r>
          </a:p>
        </p:txBody>
      </p:sp>
      <p:pic>
        <p:nvPicPr>
          <p:cNvPr id="26" name="Picture 25" descr="image.png"/>
          <p:cNvPicPr>
            <a:picLocks noChangeAspect="1"/>
          </p:cNvPicPr>
          <p:nvPr/>
        </p:nvPicPr>
        <p:blipFill>
          <a:blip r:embed="rId8"/>
          <a:stretch>
            <a:fillRect/>
          </a:stretch>
        </p:blipFill>
        <p:spPr>
          <a:xfrm>
            <a:off x="657454" y="4710989"/>
            <a:ext cx="761695" cy="228600"/>
          </a:xfrm>
          <a:prstGeom prst="rect">
            <a:avLst/>
          </a:prstGeom>
          <a:ln/>
        </p:spPr>
      </p:pic>
      <p:sp>
        <p:nvSpPr>
          <p:cNvPr id="27" name="TextBox 26"/>
          <p:cNvSpPr txBox="1"/>
          <p:nvPr/>
        </p:nvSpPr>
        <p:spPr>
          <a:xfrm>
            <a:off x="657454" y="4710989"/>
            <a:ext cx="762610"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Silero VAD</a:t>
            </a:r>
          </a:p>
        </p:txBody>
      </p:sp>
      <p:pic>
        <p:nvPicPr>
          <p:cNvPr id="28" name="Picture 27" descr="image.png"/>
          <p:cNvPicPr>
            <a:picLocks noChangeAspect="1"/>
          </p:cNvPicPr>
          <p:nvPr/>
        </p:nvPicPr>
        <p:blipFill>
          <a:blip r:embed="rId9"/>
          <a:stretch>
            <a:fillRect/>
          </a:stretch>
        </p:blipFill>
        <p:spPr>
          <a:xfrm>
            <a:off x="1472184" y="4710989"/>
            <a:ext cx="1067105" cy="228600"/>
          </a:xfrm>
          <a:prstGeom prst="rect">
            <a:avLst/>
          </a:prstGeom>
          <a:ln/>
        </p:spPr>
      </p:pic>
      <p:sp>
        <p:nvSpPr>
          <p:cNvPr id="29" name="TextBox 28"/>
          <p:cNvSpPr txBox="1"/>
          <p:nvPr/>
        </p:nvSpPr>
        <p:spPr>
          <a:xfrm>
            <a:off x="1472184" y="4710989"/>
            <a:ext cx="1067105"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pyannote.audio</a:t>
            </a:r>
          </a:p>
        </p:txBody>
      </p:sp>
      <p:sp>
        <p:nvSpPr>
          <p:cNvPr id="30" name="Rectangle 29"/>
          <p:cNvSpPr/>
          <p:nvPr/>
        </p:nvSpPr>
        <p:spPr>
          <a:xfrm>
            <a:off x="6210605" y="2453335"/>
            <a:ext cx="5524805" cy="27432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2986430"/>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0"/>
          <a:stretch>
            <a:fillRect/>
          </a:stretch>
        </p:blipFill>
        <p:spPr>
          <a:xfrm>
            <a:off x="6409944" y="2696566"/>
            <a:ext cx="190194" cy="171906"/>
          </a:xfrm>
          <a:prstGeom prst="rect">
            <a:avLst/>
          </a:prstGeom>
          <a:ln/>
        </p:spPr>
      </p:pic>
      <p:sp>
        <p:nvSpPr>
          <p:cNvPr id="33" name="TextBox 32"/>
          <p:cNvSpPr txBox="1"/>
          <p:nvPr/>
        </p:nvSpPr>
        <p:spPr>
          <a:xfrm>
            <a:off x="6696151" y="2653589"/>
            <a:ext cx="2857500" cy="352957"/>
          </a:xfrm>
          <a:prstGeom prst="rect">
            <a:avLst/>
          </a:prstGeom>
          <a:noFill/>
          <a:ln/>
        </p:spPr>
        <p:txBody>
          <a:bodyPr wrap="square" lIns="0" rIns="0" tIns="0" bIns="0">
            <a:noAutofit/>
          </a:bodyPr>
          <a:lstStyle/>
          <a:p>
            <a:r>
              <a:rPr sz="1300" b="1">
                <a:solidFill>
                  <a:srgbClr val="1D1D1F"/>
                </a:solidFill>
                <a:latin typeface="Noto Sans JP"/>
              </a:rPr>
              <a:t>補助コンポーネント（Secondary）</a:t>
            </a:r>
          </a:p>
        </p:txBody>
      </p:sp>
      <p:pic>
        <p:nvPicPr>
          <p:cNvPr id="34" name="Picture 33" descr="image.png"/>
          <p:cNvPicPr>
            <a:picLocks noChangeAspect="1"/>
          </p:cNvPicPr>
          <p:nvPr/>
        </p:nvPicPr>
        <p:blipFill>
          <a:blip r:embed="rId11"/>
          <a:stretch>
            <a:fillRect/>
          </a:stretch>
        </p:blipFill>
        <p:spPr>
          <a:xfrm>
            <a:off x="6409944" y="3158338"/>
            <a:ext cx="85953" cy="114300"/>
          </a:xfrm>
          <a:prstGeom prst="rect">
            <a:avLst/>
          </a:prstGeom>
          <a:ln/>
        </p:spPr>
      </p:pic>
      <p:sp>
        <p:nvSpPr>
          <p:cNvPr id="35" name="TextBox 34"/>
          <p:cNvSpPr txBox="1"/>
          <p:nvPr/>
        </p:nvSpPr>
        <p:spPr>
          <a:xfrm>
            <a:off x="6572707" y="3158338"/>
            <a:ext cx="5077663" cy="219455"/>
          </a:xfrm>
          <a:prstGeom prst="rect">
            <a:avLst/>
          </a:prstGeom>
          <a:noFill/>
          <a:ln/>
        </p:spPr>
        <p:txBody>
          <a:bodyPr wrap="square" lIns="0" rIns="0" tIns="0" bIns="0">
            <a:noAutofit/>
          </a:bodyPr>
          <a:lstStyle/>
          <a:p>
            <a:r>
              <a:rPr sz="1100" b="1">
                <a:solidFill>
                  <a:srgbClr val="424245"/>
                </a:solidFill>
                <a:latin typeface="Noto Sans JP"/>
              </a:rPr>
              <a:t>ウェイクワード（Wake Word）：openWakeWord</a:t>
            </a:r>
          </a:p>
        </p:txBody>
      </p:sp>
      <p:pic>
        <p:nvPicPr>
          <p:cNvPr id="36" name="Picture 35" descr="image.png"/>
          <p:cNvPicPr>
            <a:picLocks noChangeAspect="1"/>
          </p:cNvPicPr>
          <p:nvPr/>
        </p:nvPicPr>
        <p:blipFill>
          <a:blip r:embed="rId6"/>
          <a:stretch>
            <a:fillRect/>
          </a:stretch>
        </p:blipFill>
        <p:spPr>
          <a:xfrm>
            <a:off x="9938614" y="3193085"/>
            <a:ext cx="286207" cy="171907"/>
          </a:xfrm>
          <a:prstGeom prst="rect">
            <a:avLst/>
          </a:prstGeom>
          <a:ln/>
        </p:spPr>
      </p:pic>
      <p:sp>
        <p:nvSpPr>
          <p:cNvPr id="37" name="TextBox 36"/>
          <p:cNvSpPr txBox="1"/>
          <p:nvPr/>
        </p:nvSpPr>
        <p:spPr>
          <a:xfrm>
            <a:off x="9938614" y="3193085"/>
            <a:ext cx="286207" cy="171907"/>
          </a:xfrm>
          <a:prstGeom prst="rect">
            <a:avLst/>
          </a:prstGeom>
          <a:noFill/>
          <a:ln>
            <a:solidFill>
              <a:srgbClr val="FFFFFF"/>
            </a:solidFill>
          </a:ln>
        </p:spPr>
        <p:txBody>
          <a:bodyPr wrap="square" lIns="0" rIns="0" tIns="0" bIns="0">
            <a:noAutofit/>
          </a:bodyPr>
          <a:lstStyle/>
          <a:p>
            <a:r>
              <a:rPr sz="800">
                <a:solidFill>
                  <a:srgbClr val="6B7280"/>
                </a:solidFill>
                <a:latin typeface="Noto Sans JP"/>
              </a:rPr>
              <a:t>[85]</a:t>
            </a:r>
          </a:p>
        </p:txBody>
      </p:sp>
      <p:sp>
        <p:nvSpPr>
          <p:cNvPr id="38" name="TextBox 37"/>
          <p:cNvSpPr txBox="1"/>
          <p:nvPr/>
        </p:nvSpPr>
        <p:spPr>
          <a:xfrm>
            <a:off x="6572707" y="3410712"/>
            <a:ext cx="5039258" cy="381305"/>
          </a:xfrm>
          <a:prstGeom prst="rect">
            <a:avLst/>
          </a:prstGeom>
          <a:noFill/>
          <a:ln/>
        </p:spPr>
        <p:txBody>
          <a:bodyPr wrap="square" lIns="0" rIns="0" tIns="0" bIns="0">
            <a:noAutofit/>
          </a:bodyPr>
          <a:lstStyle/>
          <a:p>
            <a:r>
              <a:rPr sz="1000">
                <a:solidFill>
                  <a:srgbClr val="4B5563"/>
                </a:solidFill>
                <a:latin typeface="Noto Sans JP"/>
              </a:rPr>
              <a:t>「Hey Siri」等の起動語検出。オンデバイスで動作し、誤検知（False Positive）とのトレードオフ設計が鍵。</a:t>
            </a:r>
          </a:p>
        </p:txBody>
      </p:sp>
      <p:pic>
        <p:nvPicPr>
          <p:cNvPr id="39" name="Picture 38" descr="image.png"/>
          <p:cNvPicPr>
            <a:picLocks noChangeAspect="1"/>
          </p:cNvPicPr>
          <p:nvPr/>
        </p:nvPicPr>
        <p:blipFill>
          <a:blip r:embed="rId12"/>
          <a:stretch>
            <a:fillRect/>
          </a:stretch>
        </p:blipFill>
        <p:spPr>
          <a:xfrm>
            <a:off x="6409944" y="3867912"/>
            <a:ext cx="114300" cy="114300"/>
          </a:xfrm>
          <a:prstGeom prst="rect">
            <a:avLst/>
          </a:prstGeom>
          <a:ln/>
        </p:spPr>
      </p:pic>
      <p:sp>
        <p:nvSpPr>
          <p:cNvPr id="40" name="TextBox 39"/>
          <p:cNvSpPr txBox="1"/>
          <p:nvPr/>
        </p:nvSpPr>
        <p:spPr>
          <a:xfrm>
            <a:off x="6601054" y="3867912"/>
            <a:ext cx="5048401" cy="219456"/>
          </a:xfrm>
          <a:prstGeom prst="rect">
            <a:avLst/>
          </a:prstGeom>
          <a:noFill/>
          <a:ln/>
        </p:spPr>
        <p:txBody>
          <a:bodyPr wrap="square" lIns="0" rIns="0" tIns="0" bIns="0">
            <a:noAutofit/>
          </a:bodyPr>
          <a:lstStyle/>
          <a:p>
            <a:r>
              <a:rPr sz="1100" b="1">
                <a:solidFill>
                  <a:srgbClr val="424245"/>
                </a:solidFill>
                <a:latin typeface="Noto Sans JP"/>
              </a:rPr>
              <a:t>ノイズ除去（Noise Suppression）：RNNoise</a:t>
            </a:r>
          </a:p>
        </p:txBody>
      </p:sp>
      <p:pic>
        <p:nvPicPr>
          <p:cNvPr id="41" name="Picture 40" descr="image.png"/>
          <p:cNvPicPr>
            <a:picLocks noChangeAspect="1"/>
          </p:cNvPicPr>
          <p:nvPr/>
        </p:nvPicPr>
        <p:blipFill>
          <a:blip r:embed="rId6"/>
          <a:stretch>
            <a:fillRect/>
          </a:stretch>
        </p:blipFill>
        <p:spPr>
          <a:xfrm>
            <a:off x="9693554" y="3902659"/>
            <a:ext cx="286207" cy="171906"/>
          </a:xfrm>
          <a:prstGeom prst="rect">
            <a:avLst/>
          </a:prstGeom>
          <a:ln/>
        </p:spPr>
      </p:pic>
      <p:sp>
        <p:nvSpPr>
          <p:cNvPr id="42" name="TextBox 41"/>
          <p:cNvSpPr txBox="1"/>
          <p:nvPr/>
        </p:nvSpPr>
        <p:spPr>
          <a:xfrm>
            <a:off x="9693554" y="3902659"/>
            <a:ext cx="286207" cy="171906"/>
          </a:xfrm>
          <a:prstGeom prst="rect">
            <a:avLst/>
          </a:prstGeom>
          <a:noFill/>
          <a:ln>
            <a:solidFill>
              <a:srgbClr val="FFFFFF"/>
            </a:solidFill>
          </a:ln>
        </p:spPr>
        <p:txBody>
          <a:bodyPr wrap="square" lIns="0" rIns="0" tIns="0" bIns="0">
            <a:noAutofit/>
          </a:bodyPr>
          <a:lstStyle/>
          <a:p>
            <a:r>
              <a:rPr sz="800">
                <a:solidFill>
                  <a:srgbClr val="6B7280"/>
                </a:solidFill>
                <a:latin typeface="Noto Sans JP"/>
              </a:rPr>
              <a:t>[14]</a:t>
            </a:r>
          </a:p>
        </p:txBody>
      </p:sp>
      <p:sp>
        <p:nvSpPr>
          <p:cNvPr id="43" name="TextBox 42"/>
          <p:cNvSpPr txBox="1"/>
          <p:nvPr/>
        </p:nvSpPr>
        <p:spPr>
          <a:xfrm>
            <a:off x="6601054" y="4120286"/>
            <a:ext cx="5010911" cy="381305"/>
          </a:xfrm>
          <a:prstGeom prst="rect">
            <a:avLst/>
          </a:prstGeom>
          <a:noFill/>
          <a:ln/>
        </p:spPr>
        <p:txBody>
          <a:bodyPr wrap="square" lIns="0" rIns="0" tIns="0" bIns="0">
            <a:noAutofit/>
          </a:bodyPr>
          <a:lstStyle/>
          <a:p>
            <a:r>
              <a:rPr sz="1000">
                <a:solidFill>
                  <a:srgbClr val="4B5563"/>
                </a:solidFill>
                <a:latin typeface="Noto Sans JP"/>
              </a:rPr>
              <a:t>RNNベースの軽量ノイズ抑制。実用十分な性能だが、過度な適用は音質劣化を招くためチューニングが必要。</a:t>
            </a:r>
          </a:p>
        </p:txBody>
      </p:sp>
      <p:pic>
        <p:nvPicPr>
          <p:cNvPr id="44" name="Picture 43" descr="image.png"/>
          <p:cNvPicPr>
            <a:picLocks noChangeAspect="1"/>
          </p:cNvPicPr>
          <p:nvPr/>
        </p:nvPicPr>
        <p:blipFill>
          <a:blip r:embed="rId9"/>
          <a:stretch>
            <a:fillRect/>
          </a:stretch>
        </p:blipFill>
        <p:spPr>
          <a:xfrm>
            <a:off x="6409944" y="4710989"/>
            <a:ext cx="1067105" cy="228600"/>
          </a:xfrm>
          <a:prstGeom prst="rect">
            <a:avLst/>
          </a:prstGeom>
          <a:ln/>
        </p:spPr>
      </p:pic>
      <p:sp>
        <p:nvSpPr>
          <p:cNvPr id="45" name="TextBox 44"/>
          <p:cNvSpPr txBox="1"/>
          <p:nvPr/>
        </p:nvSpPr>
        <p:spPr>
          <a:xfrm>
            <a:off x="6409944" y="4710989"/>
            <a:ext cx="1067105"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openWakeWord</a:t>
            </a:r>
          </a:p>
        </p:txBody>
      </p:sp>
      <p:pic>
        <p:nvPicPr>
          <p:cNvPr id="46" name="Picture 45" descr="image.png"/>
          <p:cNvPicPr>
            <a:picLocks noChangeAspect="1"/>
          </p:cNvPicPr>
          <p:nvPr/>
        </p:nvPicPr>
        <p:blipFill>
          <a:blip r:embed="rId13"/>
          <a:stretch>
            <a:fillRect/>
          </a:stretch>
        </p:blipFill>
        <p:spPr>
          <a:xfrm>
            <a:off x="7528254" y="4710989"/>
            <a:ext cx="666597" cy="228600"/>
          </a:xfrm>
          <a:prstGeom prst="rect">
            <a:avLst/>
          </a:prstGeom>
          <a:ln/>
        </p:spPr>
      </p:pic>
      <p:sp>
        <p:nvSpPr>
          <p:cNvPr id="47" name="TextBox 46"/>
          <p:cNvSpPr txBox="1"/>
          <p:nvPr/>
        </p:nvSpPr>
        <p:spPr>
          <a:xfrm>
            <a:off x="7528254" y="4710989"/>
            <a:ext cx="667512" cy="228600"/>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RNNoise</a:t>
            </a:r>
          </a:p>
        </p:txBody>
      </p:sp>
      <p:sp>
        <p:nvSpPr>
          <p:cNvPr id="48" name="Rectangle 47"/>
          <p:cNvSpPr/>
          <p:nvPr/>
        </p:nvSpPr>
        <p:spPr>
          <a:xfrm>
            <a:off x="457200" y="5410505"/>
            <a:ext cx="11277295" cy="76169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4"/>
          <a:stretch>
            <a:fillRect/>
          </a:stretch>
        </p:blipFill>
        <p:spPr>
          <a:xfrm>
            <a:off x="619049" y="5591556"/>
            <a:ext cx="171907" cy="171906"/>
          </a:xfrm>
          <a:prstGeom prst="rect">
            <a:avLst/>
          </a:prstGeom>
          <a:ln/>
        </p:spPr>
      </p:pic>
      <p:sp>
        <p:nvSpPr>
          <p:cNvPr id="50" name="TextBox 49"/>
          <p:cNvSpPr txBox="1"/>
          <p:nvPr/>
        </p:nvSpPr>
        <p:spPr>
          <a:xfrm>
            <a:off x="905256" y="5572354"/>
            <a:ext cx="10754258" cy="200253"/>
          </a:xfrm>
          <a:prstGeom prst="rect">
            <a:avLst/>
          </a:prstGeom>
          <a:noFill/>
          <a:ln/>
        </p:spPr>
        <p:txBody>
          <a:bodyPr wrap="square" lIns="0" rIns="0" tIns="0" bIns="0">
            <a:noAutofit/>
          </a:bodyPr>
          <a:lstStyle/>
          <a:p>
            <a:r>
              <a:rPr sz="1000" b="1">
                <a:solidFill>
                  <a:srgbClr val="78350F"/>
                </a:solidFill>
                <a:latin typeface="Noto Sans JP"/>
              </a:rPr>
              <a:t>設計含意（Design Implication）</a:t>
            </a:r>
          </a:p>
        </p:txBody>
      </p:sp>
      <p:sp>
        <p:nvSpPr>
          <p:cNvPr id="51" name="TextBox 50"/>
          <p:cNvSpPr txBox="1"/>
          <p:nvPr/>
        </p:nvSpPr>
        <p:spPr>
          <a:xfrm>
            <a:off x="905256" y="5810098"/>
            <a:ext cx="10830154" cy="200253"/>
          </a:xfrm>
          <a:prstGeom prst="rect">
            <a:avLst/>
          </a:prstGeom>
          <a:noFill/>
          <a:ln/>
        </p:spPr>
        <p:txBody>
          <a:bodyPr wrap="square" lIns="0" rIns="0" tIns="0" bIns="0">
            <a:noAutofit/>
          </a:bodyPr>
          <a:lstStyle/>
          <a:p>
            <a:r>
              <a:rPr sz="1000">
                <a:solidFill>
                  <a:srgbClr val="78350F"/>
                </a:solidFill>
                <a:latin typeface="Noto Sans JP"/>
              </a:rPr>
              <a:t>これら前処理の設定差（閾値、モデルバージョン）で最終的な認識精度が大きく変動します。ベンチマーク時は「同一前処理条件」を固定することが再現性の担保に不可欠です。</a:t>
            </a:r>
          </a:p>
        </p:txBody>
      </p:sp>
      <p:sp>
        <p:nvSpPr>
          <p:cNvPr id="52" name="Rectangle 51"/>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5" name="TextBox 54"/>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42 / 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33756" cy="267005"/>
          </a:xfrm>
          <a:prstGeom prst="rect">
            <a:avLst/>
          </a:prstGeom>
          <a:ln/>
        </p:spPr>
      </p:pic>
      <p:sp>
        <p:nvSpPr>
          <p:cNvPr id="7" name="TextBox 6"/>
          <p:cNvSpPr txBox="1"/>
          <p:nvPr/>
        </p:nvSpPr>
        <p:spPr>
          <a:xfrm>
            <a:off x="905256" y="381305"/>
            <a:ext cx="2867558" cy="381305"/>
          </a:xfrm>
          <a:prstGeom prst="rect">
            <a:avLst/>
          </a:prstGeom>
          <a:noFill/>
          <a:ln/>
        </p:spPr>
        <p:txBody>
          <a:bodyPr wrap="square" lIns="0" rIns="0" tIns="0" bIns="0">
            <a:noAutofit/>
          </a:bodyPr>
          <a:lstStyle/>
          <a:p>
            <a:r>
              <a:rPr sz="2100" b="1">
                <a:solidFill>
                  <a:srgbClr val="FFFFFF"/>
                </a:solidFill>
                <a:latin typeface="Noto Sans JP"/>
              </a:rPr>
              <a:t>音声周辺（完全版表）</a:t>
            </a:r>
          </a:p>
        </p:txBody>
      </p:sp>
      <p:sp>
        <p:nvSpPr>
          <p:cNvPr id="8" name="TextBox 7"/>
          <p:cNvSpPr txBox="1"/>
          <p:nvPr/>
        </p:nvSpPr>
        <p:spPr>
          <a:xfrm>
            <a:off x="7511796" y="457200"/>
            <a:ext cx="4914900" cy="228600"/>
          </a:xfrm>
          <a:prstGeom prst="rect">
            <a:avLst/>
          </a:prstGeom>
          <a:noFill/>
          <a:ln/>
        </p:spPr>
        <p:txBody>
          <a:bodyPr wrap="square" lIns="0" rIns="0" tIns="0" bIns="0">
            <a:noAutofit/>
          </a:bodyPr>
          <a:lstStyle/>
          <a:p>
            <a:r>
              <a:rPr sz="1200">
                <a:solidFill>
                  <a:srgbClr val="A1A1A6"/>
                </a:solidFill>
                <a:latin typeface="Noto Sans JP"/>
              </a:rPr>
              <a:t>Silero VAD / pyannote / openWakeWord / RNNoise 詳細比較</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724705"/>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944941">
                <a:tc>
                  <a:txBody>
                    <a:bodyPr/>
                    <a:lstStyle/>
                    <a:p>
                      <a:r>
                        <a:t>代表モデル/ツール</a:t>
                      </a:r>
                    </a:p>
                  </a:txBody>
                  <a:tcPr/>
                </a:tc>
                <a:tc>
                  <a:txBody>
                    <a:bodyPr/>
                    <a:lstStyle/>
                    <a:p>
                      <a:r>
                        <a:t>役割</a:t>
                      </a:r>
                    </a:p>
                  </a:txBody>
                  <a:tcPr/>
                </a:tc>
                <a:tc>
                  <a:txBody>
                    <a:bodyPr/>
                    <a:lstStyle/>
                    <a:p>
                      <a:r>
                        <a:t>実行要件/形式</a:t>
                      </a:r>
                    </a:p>
                  </a:txBody>
                  <a:tcPr/>
                </a:tc>
                <a:tc>
                  <a:txBody>
                    <a:bodyPr/>
                    <a:lstStyle/>
                    <a:p>
                      <a:r>
                        <a:t>利点/特徴</a:t>
                      </a:r>
                    </a:p>
                  </a:txBody>
                  <a:tcPr/>
                </a:tc>
                <a:tc>
                  <a:txBody>
                    <a:bodyPr/>
                    <a:lstStyle/>
                    <a:p>
                      <a:r>
                        <a:t>リスク/注意点</a:t>
                      </a:r>
                    </a:p>
                  </a:txBody>
                  <a:tcPr/>
                </a:tc>
              </a:tr>
              <a:tr h="944941">
                <a:tc>
                  <a:txBody>
                    <a:bodyPr/>
                    <a:lstStyle/>
                    <a:p>
                      <a:r>
                        <a:t>Silero VAD</a:t>
                      </a:r>
                    </a:p>
                    <a:p>
                      <a:r>
                        <a:t>Snakers4[82]</a:t>
                      </a:r>
                    </a:p>
                  </a:txBody>
                  <a:tcPr/>
                </a:tc>
                <a:tc>
                  <a:txBody>
                    <a:bodyPr/>
                    <a:lstStyle/>
                    <a:p>
                      <a:r>
                        <a:t>無音/雑音除去</a:t>
                      </a:r>
                    </a:p>
                    <a:p>
                      <a:r>
                        <a:t>(Voice Activity Detection)</a:t>
                      </a:r>
                    </a:p>
                  </a:txBody>
                  <a:tcPr/>
                </a:tc>
                <a:tc>
                  <a:txBody>
                    <a:bodyPr/>
                    <a:lstStyle/>
                    <a:p>
                      <a:r>
                        <a:t>軽量・CPU動作可</a:t>
                      </a:r>
                    </a:p>
                    <a:p>
                      <a:r>
                        <a:t>ONNX / PyTorch</a:t>
                      </a:r>
                    </a:p>
                  </a:txBody>
                  <a:tcPr/>
                </a:tc>
                <a:tc>
                  <a:txBody>
                    <a:bodyPr/>
                    <a:lstStyle/>
                    <a:p>
                      <a:r>
                        <a:t>標準前処理のデファクト</a:t>
                      </a:r>
                    </a:p>
                    <a:p>
                      <a:r>
                        <a:t>ASR負荷を大幅に削減</a:t>
                      </a:r>
                    </a:p>
                  </a:txBody>
                  <a:tcPr/>
                </a:tc>
                <a:tc>
                  <a:txBody>
                    <a:bodyPr/>
                    <a:lstStyle/>
                    <a:p>
                      <a:r>
                        <a:t>Attention閾値設定に依存（誤って語頭を切るリスクあり）</a:t>
                      </a:r>
                    </a:p>
                  </a:txBody>
                  <a:tcPr/>
                </a:tc>
              </a:tr>
              <a:tr h="944941">
                <a:tc>
                  <a:txBody>
                    <a:bodyPr/>
                    <a:lstStyle/>
                    <a:p>
                      <a:r>
                        <a:t>pyannote.audio</a:t>
                      </a:r>
                    </a:p>
                    <a:p>
                      <a:r>
                        <a:t>HuggingFace[84]</a:t>
                      </a:r>
                    </a:p>
                  </a:txBody>
                  <a:tcPr/>
                </a:tc>
                <a:tc>
                  <a:txBody>
                    <a:bodyPr/>
                    <a:lstStyle/>
                    <a:p>
                      <a:r>
                        <a:t>話者分離</a:t>
                      </a:r>
                    </a:p>
                    <a:p>
                      <a:r>
                        <a:t>(Speaker Diarization)</a:t>
                      </a:r>
                    </a:p>
                  </a:txBody>
                  <a:tcPr/>
                </a:tc>
                <a:tc>
                  <a:txBody>
                    <a:bodyPr/>
                    <a:lstStyle/>
                    <a:p>
                      <a:r>
                        <a:t>GPU推奨</a:t>
                      </a:r>
                    </a:p>
                    <a:p>
                      <a:r>
                        <a:t>依存関係が重め</a:t>
                      </a:r>
                    </a:p>
                  </a:txBody>
                  <a:tcPr/>
                </a:tc>
                <a:tc>
                  <a:txBody>
                    <a:bodyPr/>
                    <a:lstStyle/>
                    <a:p>
                      <a:r>
                        <a:t>高精度会議録で「誰が話したか」を特定するのに必須</a:t>
                      </a:r>
                    </a:p>
                  </a:txBody>
                  <a:tcPr/>
                </a:tc>
                <a:tc>
                  <a:txBody>
                    <a:bodyPr/>
                    <a:lstStyle/>
                    <a:p>
                      <a:r>
                        <a:t>Risk処理負荷が高い</a:t>
                      </a:r>
                    </a:p>
                    <a:p>
                      <a:r>
                        <a:t>環境構築の難易度がやや高い</a:t>
                      </a:r>
                    </a:p>
                  </a:txBody>
                  <a:tcPr/>
                </a:tc>
              </a:tr>
              <a:tr h="944941">
                <a:tc>
                  <a:txBody>
                    <a:bodyPr/>
                    <a:lstStyle/>
                    <a:p>
                      <a:r>
                        <a:t>openWakeWord</a:t>
                      </a:r>
                    </a:p>
                    <a:p>
                      <a:r>
                        <a:t>dscripka[85]</a:t>
                      </a:r>
                    </a:p>
                  </a:txBody>
                  <a:tcPr/>
                </a:tc>
                <a:tc>
                  <a:txBody>
                    <a:bodyPr/>
                    <a:lstStyle/>
                    <a:p>
                      <a:r>
                        <a:t>ウェイクワード検出</a:t>
                      </a:r>
                    </a:p>
                    <a:p>
                      <a:r>
                        <a:t>(Wake Word Detection)</a:t>
                      </a:r>
                    </a:p>
                  </a:txBody>
                  <a:tcPr/>
                </a:tc>
                <a:tc>
                  <a:txBody>
                    <a:bodyPr/>
                    <a:lstStyle/>
                    <a:p>
                      <a:r>
                        <a:t>ローカル動作</a:t>
                      </a:r>
                    </a:p>
                    <a:p>
                      <a:r>
                        <a:t>CPU / tflite等</a:t>
                      </a:r>
                    </a:p>
                  </a:txBody>
                  <a:tcPr/>
                </a:tc>
                <a:tc>
                  <a:txBody>
                    <a:bodyPr/>
                    <a:lstStyle/>
                    <a:p>
                      <a:r>
                        <a:t>実用カスタムウェイクワード作成が可能</a:t>
                      </a:r>
                    </a:p>
                    <a:p>
                      <a:r>
                        <a:t>非常に軽量</a:t>
                      </a:r>
                    </a:p>
                  </a:txBody>
                  <a:tcPr/>
                </a:tc>
                <a:tc>
                  <a:txBody>
                    <a:bodyPr/>
                    <a:lstStyle/>
                    <a:p>
                      <a:r>
                        <a:t>Attention誤検知（False Positive）の調整が必要</a:t>
                      </a:r>
                    </a:p>
                  </a:txBody>
                  <a:tcPr/>
                </a:tc>
              </a:tr>
              <a:tr h="944941">
                <a:tc>
                  <a:txBody>
                    <a:bodyPr/>
                    <a:lstStyle/>
                    <a:p>
                      <a:r>
                        <a:t>RNNoise</a:t>
                      </a:r>
                    </a:p>
                    <a:p>
                      <a:r>
                        <a:t>Xiph.Org[14]</a:t>
                      </a:r>
                    </a:p>
                  </a:txBody>
                  <a:tcPr/>
                </a:tc>
                <a:tc>
                  <a:txBody>
                    <a:bodyPr/>
                    <a:lstStyle/>
                    <a:p>
                      <a:r>
                        <a:t>ノイズ除去</a:t>
                      </a:r>
                    </a:p>
                    <a:p>
                      <a:r>
                        <a:t>(Noise Suppression)</a:t>
                      </a:r>
                    </a:p>
                  </a:txBody>
                  <a:tcPr/>
                </a:tc>
                <a:tc>
                  <a:txBody>
                    <a:bodyPr/>
                    <a:lstStyle/>
                    <a:p>
                      <a:r>
                        <a:t>極めて軽量</a:t>
                      </a:r>
                    </a:p>
                    <a:p>
                      <a:r>
                        <a:t>C/C++ / WebAssembly</a:t>
                      </a:r>
                    </a:p>
                  </a:txBody>
                  <a:tcPr/>
                </a:tc>
                <a:tc>
                  <a:txBody>
                    <a:bodyPr/>
                    <a:lstStyle/>
                    <a:p>
                      <a:r>
                        <a:t>高速リアルタイム処理向き</a:t>
                      </a:r>
                    </a:p>
                    <a:p>
                      <a:r>
                        <a:t>RNNベースで背景雑音を抑制</a:t>
                      </a:r>
                    </a:p>
                  </a:txBody>
                  <a:tcPr/>
                </a:tc>
                <a:tc>
                  <a:txBody>
                    <a:bodyPr/>
                    <a:lstStyle/>
                    <a:p>
                      <a:r>
                        <a:t>Risk音質変化（声がロボットっぽくなる等）のリスク</a:t>
                      </a:r>
                    </a:p>
                  </a:txBody>
                  <a:tcPr/>
                </a:tc>
              </a:tr>
            </a:tbl>
          </a:graphicData>
        </a:graphic>
      </p:graphicFrame>
      <p:sp>
        <p:nvSpPr>
          <p:cNvPr id="12" name="Rectangle 11"/>
          <p:cNvSpPr/>
          <p:nvPr/>
        </p:nvSpPr>
        <p:spPr>
          <a:xfrm>
            <a:off x="457200" y="5690311"/>
            <a:ext cx="11277295" cy="5522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71907" cy="152705"/>
          </a:xfrm>
          <a:prstGeom prst="rect">
            <a:avLst/>
          </a:prstGeom>
          <a:ln/>
        </p:spPr>
      </p:pic>
      <p:sp>
        <p:nvSpPr>
          <p:cNvPr id="15" name="TextBox 14"/>
          <p:cNvSpPr txBox="1"/>
          <p:nvPr/>
        </p:nvSpPr>
        <p:spPr>
          <a:xfrm>
            <a:off x="933602" y="5804611"/>
            <a:ext cx="10725912" cy="324612"/>
          </a:xfrm>
          <a:prstGeom prst="rect">
            <a:avLst/>
          </a:prstGeom>
          <a:noFill/>
          <a:ln/>
        </p:spPr>
        <p:txBody>
          <a:bodyPr wrap="square" lIns="0" rIns="0" tIns="0" bIns="0">
            <a:noAutofit/>
          </a:bodyPr>
          <a:lstStyle/>
          <a:p>
            <a:r>
              <a:rPr sz="900" b="1">
                <a:solidFill>
                  <a:srgbClr val="5D4037"/>
                </a:solidFill>
                <a:latin typeface="Noto Sans JP"/>
              </a:rPr>
              <a:t>設計の推奨：</a:t>
            </a:r>
            <a:r>
              <a:rPr sz="900">
                <a:solidFill>
                  <a:srgbClr val="5D4037"/>
                </a:solidFill>
                <a:latin typeface="Noto Sans JP"/>
              </a:rPr>
              <a:t>会議系ワークフローでは「VAD → ASR → 要約」の直列処理を基本とし、負荷の高い話者分離（pyannote等）は必要時のみ追加する設計が実用的です。すべての音声に一律で話者分離を適用すると、処理時間（RTF）が大幅に悪化する可能性があります。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43 | ローカルAI 技術調査レポート 2026</a:t>
            </a:r>
          </a:p>
        </p:txBody>
      </p:sp>
      <p:sp>
        <p:nvSpPr>
          <p:cNvPr id="19" name="TextBox 18"/>
          <p:cNvSpPr txBox="1"/>
          <p:nvPr/>
        </p:nvSpPr>
        <p:spPr>
          <a:xfrm>
            <a:off x="8970264" y="6586423"/>
            <a:ext cx="3299154" cy="162763"/>
          </a:xfrm>
          <a:prstGeom prst="rect">
            <a:avLst/>
          </a:prstGeom>
          <a:noFill/>
          <a:ln/>
        </p:spPr>
        <p:txBody>
          <a:bodyPr wrap="square" lIns="0" rIns="0" tIns="0" bIns="0">
            <a:noAutofit/>
          </a:bodyPr>
          <a:lstStyle/>
          <a:p>
            <a:r>
              <a:rPr sz="900">
                <a:solidFill>
                  <a:srgbClr val="86868B"/>
                </a:solidFill>
                <a:latin typeface="Noto Sans JP"/>
              </a:rPr>
              <a:t>Data Source: Technical Survey Report [14, 82, 84, 85]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00253" cy="267004"/>
          </a:xfrm>
          <a:prstGeom prst="rect">
            <a:avLst/>
          </a:prstGeom>
          <a:ln/>
        </p:spPr>
      </p:pic>
      <p:sp>
        <p:nvSpPr>
          <p:cNvPr id="8" name="TextBox 7"/>
          <p:cNvSpPr txBox="1"/>
          <p:nvPr/>
        </p:nvSpPr>
        <p:spPr>
          <a:xfrm>
            <a:off x="809244" y="176479"/>
            <a:ext cx="3400653" cy="400507"/>
          </a:xfrm>
          <a:prstGeom prst="rect">
            <a:avLst/>
          </a:prstGeom>
          <a:noFill/>
          <a:ln/>
        </p:spPr>
        <p:txBody>
          <a:bodyPr wrap="square" lIns="0" rIns="0" tIns="0" bIns="0">
            <a:noAutofit/>
          </a:bodyPr>
          <a:lstStyle/>
          <a:p>
            <a:r>
              <a:rPr sz="2100" b="1">
                <a:solidFill>
                  <a:srgbClr val="1D1D1F"/>
                </a:solidFill>
                <a:latin typeface="Noto Sans JP"/>
              </a:rPr>
              <a:t>採用判断基準（音声周辺）</a:t>
            </a:r>
          </a:p>
        </p:txBody>
      </p:sp>
      <p:sp>
        <p:nvSpPr>
          <p:cNvPr id="9" name="TextBox 8"/>
          <p:cNvSpPr txBox="1"/>
          <p:nvPr/>
        </p:nvSpPr>
        <p:spPr>
          <a:xfrm>
            <a:off x="9144000" y="261518"/>
            <a:ext cx="2791663" cy="228600"/>
          </a:xfrm>
          <a:prstGeom prst="rect">
            <a:avLst/>
          </a:prstGeom>
          <a:noFill/>
          <a:ln/>
        </p:spPr>
        <p:txBody>
          <a:bodyPr wrap="square" lIns="0" rIns="0" tIns="0" bIns="0">
            <a:noAutofit/>
          </a:bodyPr>
          <a:lstStyle/>
          <a:p>
            <a:r>
              <a:rPr sz="1200">
                <a:solidFill>
                  <a:srgbClr val="86868B"/>
                </a:solidFill>
                <a:latin typeface="Noto Sans JP"/>
              </a:rPr>
              <a:t>前処理パイプライン標準化と品質管理</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571500"/>
          </a:xfrm>
          <a:prstGeom prst="rect">
            <a:avLst/>
          </a:prstGeom>
          <a:ln/>
        </p:spPr>
      </p:pic>
      <p:sp>
        <p:nvSpPr>
          <p:cNvPr id="12" name="TextBox 11"/>
          <p:cNvSpPr txBox="1"/>
          <p:nvPr/>
        </p:nvSpPr>
        <p:spPr>
          <a:xfrm>
            <a:off x="743407" y="1143000"/>
            <a:ext cx="10954512" cy="267005"/>
          </a:xfrm>
          <a:prstGeom prst="rect">
            <a:avLst/>
          </a:prstGeom>
          <a:noFill/>
          <a:ln/>
        </p:spPr>
        <p:txBody>
          <a:bodyPr wrap="square" lIns="0" rIns="0" tIns="0" bIns="0">
            <a:noAutofit/>
          </a:bodyPr>
          <a:lstStyle/>
          <a:p>
            <a:r>
              <a:rPr sz="1500" b="1">
                <a:solidFill>
                  <a:srgbClr val="1D1D1F"/>
                </a:solidFill>
                <a:latin typeface="Noto Sans JP"/>
              </a:rPr>
              <a:t>結論：前処理パイプラインを標準化し、閾値・モデルバージョン・RTF目標を固定することで、UXの品質下限を担保します。</a:t>
            </a:r>
          </a:p>
        </p:txBody>
      </p:sp>
      <p:sp>
        <p:nvSpPr>
          <p:cNvPr id="13" name="Rectangle 12"/>
          <p:cNvSpPr/>
          <p:nvPr/>
        </p:nvSpPr>
        <p:spPr>
          <a:xfrm>
            <a:off x="457200" y="1828800"/>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348179"/>
            <a:ext cx="105156" cy="171906"/>
          </a:xfrm>
          <a:prstGeom prst="rect">
            <a:avLst/>
          </a:prstGeom>
          <a:ln/>
        </p:spPr>
      </p:pic>
      <p:pic>
        <p:nvPicPr>
          <p:cNvPr id="15" name="Picture 14" descr="image.png"/>
          <p:cNvPicPr>
            <a:picLocks noChangeAspect="1"/>
          </p:cNvPicPr>
          <p:nvPr/>
        </p:nvPicPr>
        <p:blipFill>
          <a:blip r:embed="rId4"/>
          <a:stretch>
            <a:fillRect/>
          </a:stretch>
        </p:blipFill>
        <p:spPr>
          <a:xfrm>
            <a:off x="4926787" y="2348179"/>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7160666" y="2348179"/>
            <a:ext cx="105155" cy="171906"/>
          </a:xfrm>
          <a:prstGeom prst="rect">
            <a:avLst/>
          </a:prstGeom>
          <a:ln/>
        </p:spPr>
      </p:pic>
      <p:pic>
        <p:nvPicPr>
          <p:cNvPr id="17" name="Picture 16" descr="image.png"/>
          <p:cNvPicPr>
            <a:picLocks noChangeAspect="1"/>
          </p:cNvPicPr>
          <p:nvPr/>
        </p:nvPicPr>
        <p:blipFill>
          <a:blip r:embed="rId4"/>
          <a:stretch>
            <a:fillRect/>
          </a:stretch>
        </p:blipFill>
        <p:spPr>
          <a:xfrm>
            <a:off x="9395460" y="2348179"/>
            <a:ext cx="105155" cy="171906"/>
          </a:xfrm>
          <a:prstGeom prst="rect">
            <a:avLst/>
          </a:prstGeom>
          <a:ln/>
        </p:spPr>
      </p:pic>
      <p:sp>
        <p:nvSpPr>
          <p:cNvPr id="18" name="Rectangle 17"/>
          <p:cNvSpPr/>
          <p:nvPr/>
        </p:nvSpPr>
        <p:spPr>
          <a:xfrm>
            <a:off x="457200"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3815791"/>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43407" y="3901745"/>
            <a:ext cx="133501" cy="133501"/>
          </a:xfrm>
          <a:prstGeom prst="rect">
            <a:avLst/>
          </a:prstGeom>
          <a:ln/>
        </p:spPr>
      </p:pic>
      <p:sp>
        <p:nvSpPr>
          <p:cNvPr id="22" name="TextBox 21"/>
          <p:cNvSpPr txBox="1"/>
          <p:nvPr/>
        </p:nvSpPr>
        <p:spPr>
          <a:xfrm>
            <a:off x="1057046" y="3854196"/>
            <a:ext cx="1656893" cy="228600"/>
          </a:xfrm>
          <a:prstGeom prst="rect">
            <a:avLst/>
          </a:prstGeom>
          <a:noFill/>
          <a:ln/>
        </p:spPr>
        <p:txBody>
          <a:bodyPr wrap="square" lIns="0" rIns="0" tIns="0" bIns="0">
            <a:noAutofit/>
          </a:bodyPr>
          <a:lstStyle/>
          <a:p>
            <a:r>
              <a:rPr sz="1200" b="1">
                <a:solidFill>
                  <a:srgbClr val="1D1D1F"/>
                </a:solidFill>
                <a:latin typeface="Noto Sans JP"/>
              </a:rPr>
              <a:t>パイプラインの標準化</a:t>
            </a:r>
          </a:p>
        </p:txBody>
      </p:sp>
      <p:pic>
        <p:nvPicPr>
          <p:cNvPr id="23" name="Picture 22" descr="image.png"/>
          <p:cNvPicPr>
            <a:picLocks noChangeAspect="1"/>
          </p:cNvPicPr>
          <p:nvPr/>
        </p:nvPicPr>
        <p:blipFill>
          <a:blip r:embed="rId6"/>
          <a:stretch>
            <a:fillRect/>
          </a:stretch>
        </p:blipFill>
        <p:spPr>
          <a:xfrm>
            <a:off x="657454" y="4379976"/>
            <a:ext cx="95098" cy="95098"/>
          </a:xfrm>
          <a:prstGeom prst="rect">
            <a:avLst/>
          </a:prstGeom>
          <a:ln/>
        </p:spPr>
      </p:pic>
      <p:sp>
        <p:nvSpPr>
          <p:cNvPr id="24" name="TextBox 23"/>
          <p:cNvSpPr txBox="1"/>
          <p:nvPr/>
        </p:nvSpPr>
        <p:spPr>
          <a:xfrm>
            <a:off x="752551" y="4506163"/>
            <a:ext cx="3219602" cy="562355"/>
          </a:xfrm>
          <a:prstGeom prst="rect">
            <a:avLst/>
          </a:prstGeom>
          <a:noFill/>
          <a:ln/>
        </p:spPr>
        <p:txBody>
          <a:bodyPr wrap="square" lIns="0" rIns="0" tIns="0" bIns="0">
            <a:noAutofit/>
          </a:bodyPr>
          <a:lstStyle/>
          <a:p>
            <a:r>
              <a:rPr sz="900" b="1">
                <a:solidFill>
                  <a:srgbClr val="1D1D1F"/>
                </a:solidFill>
                <a:latin typeface="Noto Sans JP"/>
              </a:rPr>
              <a:t>基準設定のプリセット化</a:t>
            </a:r>
          </a:p>
          <a:p>
            <a:r>
              <a:rPr sz="900">
                <a:solidFill>
                  <a:srgbClr val="424245"/>
                </a:solidFill>
                <a:latin typeface="Noto Sans JP"/>
              </a:rPr>
              <a:t> VAD閾値、話者分離の有無、ノイズ除去の有無をユースケースごとに固定セットとして定義。 </a:t>
            </a:r>
          </a:p>
        </p:txBody>
      </p:sp>
      <p:pic>
        <p:nvPicPr>
          <p:cNvPr id="25" name="Picture 24" descr="image.png"/>
          <p:cNvPicPr>
            <a:picLocks noChangeAspect="1"/>
          </p:cNvPicPr>
          <p:nvPr/>
        </p:nvPicPr>
        <p:blipFill>
          <a:blip r:embed="rId6"/>
          <a:stretch>
            <a:fillRect/>
          </a:stretch>
        </p:blipFill>
        <p:spPr>
          <a:xfrm>
            <a:off x="657454" y="5218481"/>
            <a:ext cx="95098" cy="95098"/>
          </a:xfrm>
          <a:prstGeom prst="rect">
            <a:avLst/>
          </a:prstGeom>
          <a:ln/>
        </p:spPr>
      </p:pic>
      <p:sp>
        <p:nvSpPr>
          <p:cNvPr id="26" name="TextBox 25"/>
          <p:cNvSpPr txBox="1"/>
          <p:nvPr/>
        </p:nvSpPr>
        <p:spPr>
          <a:xfrm>
            <a:off x="752551" y="5344668"/>
            <a:ext cx="3219602" cy="562356"/>
          </a:xfrm>
          <a:prstGeom prst="rect">
            <a:avLst/>
          </a:prstGeom>
          <a:noFill/>
          <a:ln/>
        </p:spPr>
        <p:txBody>
          <a:bodyPr wrap="square" lIns="0" rIns="0" tIns="0" bIns="0">
            <a:noAutofit/>
          </a:bodyPr>
          <a:lstStyle/>
          <a:p>
            <a:r>
              <a:rPr sz="900" b="1">
                <a:solidFill>
                  <a:srgbClr val="1D1D1F"/>
                </a:solidFill>
                <a:latin typeface="Noto Sans JP"/>
              </a:rPr>
              <a:t>再現性の担保</a:t>
            </a:r>
          </a:p>
          <a:p>
            <a:r>
              <a:rPr sz="900">
                <a:solidFill>
                  <a:srgbClr val="424245"/>
                </a:solidFill>
                <a:latin typeface="Noto Sans JP"/>
              </a:rPr>
              <a:t> モデルバージョンとパラメータをコードで固定し、環境による挙動差を排除。 </a:t>
            </a:r>
          </a:p>
        </p:txBody>
      </p:sp>
      <p:sp>
        <p:nvSpPr>
          <p:cNvPr id="27" name="Rectangle 26"/>
          <p:cNvSpPr/>
          <p:nvPr/>
        </p:nvSpPr>
        <p:spPr>
          <a:xfrm>
            <a:off x="4280306"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79646" y="4197096"/>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79646" y="3815791"/>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565599" y="3901745"/>
            <a:ext cx="133501" cy="133501"/>
          </a:xfrm>
          <a:prstGeom prst="rect">
            <a:avLst/>
          </a:prstGeom>
          <a:ln/>
        </p:spPr>
      </p:pic>
      <p:sp>
        <p:nvSpPr>
          <p:cNvPr id="31" name="TextBox 30"/>
          <p:cNvSpPr txBox="1"/>
          <p:nvPr/>
        </p:nvSpPr>
        <p:spPr>
          <a:xfrm>
            <a:off x="4880153" y="3854196"/>
            <a:ext cx="1163117" cy="228600"/>
          </a:xfrm>
          <a:prstGeom prst="rect">
            <a:avLst/>
          </a:prstGeom>
          <a:noFill/>
          <a:ln/>
        </p:spPr>
        <p:txBody>
          <a:bodyPr wrap="square" lIns="0" rIns="0" tIns="0" bIns="0">
            <a:noAutofit/>
          </a:bodyPr>
          <a:lstStyle/>
          <a:p>
            <a:r>
              <a:rPr sz="1200" b="1">
                <a:solidFill>
                  <a:srgbClr val="1D1D1F"/>
                </a:solidFill>
                <a:latin typeface="Noto Sans JP"/>
              </a:rPr>
              <a:t>ログ管理・監査</a:t>
            </a:r>
          </a:p>
        </p:txBody>
      </p:sp>
      <p:pic>
        <p:nvPicPr>
          <p:cNvPr id="32" name="Picture 31" descr="image.png"/>
          <p:cNvPicPr>
            <a:picLocks noChangeAspect="1"/>
          </p:cNvPicPr>
          <p:nvPr/>
        </p:nvPicPr>
        <p:blipFill>
          <a:blip r:embed="rId6"/>
          <a:stretch>
            <a:fillRect/>
          </a:stretch>
        </p:blipFill>
        <p:spPr>
          <a:xfrm>
            <a:off x="4479646" y="4379976"/>
            <a:ext cx="95098" cy="95098"/>
          </a:xfrm>
          <a:prstGeom prst="rect">
            <a:avLst/>
          </a:prstGeom>
          <a:ln/>
        </p:spPr>
      </p:pic>
      <p:sp>
        <p:nvSpPr>
          <p:cNvPr id="33" name="TextBox 32"/>
          <p:cNvSpPr txBox="1"/>
          <p:nvPr/>
        </p:nvSpPr>
        <p:spPr>
          <a:xfrm>
            <a:off x="4574743" y="4506163"/>
            <a:ext cx="3219602" cy="562355"/>
          </a:xfrm>
          <a:prstGeom prst="rect">
            <a:avLst/>
          </a:prstGeom>
          <a:noFill/>
          <a:ln/>
        </p:spPr>
        <p:txBody>
          <a:bodyPr wrap="square" lIns="0" rIns="0" tIns="0" bIns="0">
            <a:noAutofit/>
          </a:bodyPr>
          <a:lstStyle/>
          <a:p>
            <a:r>
              <a:rPr sz="900" b="1">
                <a:solidFill>
                  <a:srgbClr val="1D1D1F"/>
                </a:solidFill>
                <a:latin typeface="Noto Sans JP"/>
              </a:rPr>
              <a:t>パフォーマンス監視</a:t>
            </a:r>
          </a:p>
          <a:p>
            <a:r>
              <a:rPr sz="900">
                <a:solidFill>
                  <a:srgbClr val="424245"/>
                </a:solidFill>
                <a:latin typeface="Noto Sans JP"/>
              </a:rPr>
              <a:t> RTF（実時間係数）とエラー率をログに保存し、処理遅延や異常を検知。 </a:t>
            </a:r>
          </a:p>
        </p:txBody>
      </p:sp>
      <p:pic>
        <p:nvPicPr>
          <p:cNvPr id="34" name="Picture 33" descr="image.png"/>
          <p:cNvPicPr>
            <a:picLocks noChangeAspect="1"/>
          </p:cNvPicPr>
          <p:nvPr/>
        </p:nvPicPr>
        <p:blipFill>
          <a:blip r:embed="rId6"/>
          <a:stretch>
            <a:fillRect/>
          </a:stretch>
        </p:blipFill>
        <p:spPr>
          <a:xfrm>
            <a:off x="4479646" y="5218481"/>
            <a:ext cx="95098" cy="95098"/>
          </a:xfrm>
          <a:prstGeom prst="rect">
            <a:avLst/>
          </a:prstGeom>
          <a:ln/>
        </p:spPr>
      </p:pic>
      <p:sp>
        <p:nvSpPr>
          <p:cNvPr id="35" name="TextBox 34"/>
          <p:cNvSpPr txBox="1"/>
          <p:nvPr/>
        </p:nvSpPr>
        <p:spPr>
          <a:xfrm>
            <a:off x="4574743" y="5344668"/>
            <a:ext cx="3219602" cy="562356"/>
          </a:xfrm>
          <a:prstGeom prst="rect">
            <a:avLst/>
          </a:prstGeom>
          <a:noFill/>
          <a:ln/>
        </p:spPr>
        <p:txBody>
          <a:bodyPr wrap="square" lIns="0" rIns="0" tIns="0" bIns="0">
            <a:noAutofit/>
          </a:bodyPr>
          <a:lstStyle/>
          <a:p>
            <a:r>
              <a:rPr sz="900" b="1">
                <a:solidFill>
                  <a:srgbClr val="1D1D1F"/>
                </a:solidFill>
                <a:latin typeface="Noto Sans JP"/>
              </a:rPr>
              <a:t>長時間処理のオフロード</a:t>
            </a:r>
          </a:p>
          <a:p>
            <a:r>
              <a:rPr sz="900">
                <a:solidFill>
                  <a:srgbClr val="424245"/>
                </a:solidFill>
                <a:latin typeface="Noto Sans JP"/>
              </a:rPr>
              <a:t> 長時間の音声処理は夜間バッチ化し、日中の計算資源をASRや要約などの対話的タスクに集中。 </a:t>
            </a:r>
          </a:p>
        </p:txBody>
      </p:sp>
      <p:sp>
        <p:nvSpPr>
          <p:cNvPr id="36" name="Rectangle 35"/>
          <p:cNvSpPr/>
          <p:nvPr/>
        </p:nvSpPr>
        <p:spPr>
          <a:xfrm>
            <a:off x="8102497" y="3615538"/>
            <a:ext cx="3638398" cy="26380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02752" y="4197096"/>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2752" y="3815791"/>
            <a:ext cx="304494" cy="3044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8"/>
          <a:stretch>
            <a:fillRect/>
          </a:stretch>
        </p:blipFill>
        <p:spPr>
          <a:xfrm>
            <a:off x="8388706" y="3901745"/>
            <a:ext cx="133502" cy="133501"/>
          </a:xfrm>
          <a:prstGeom prst="rect">
            <a:avLst/>
          </a:prstGeom>
          <a:ln/>
        </p:spPr>
      </p:pic>
      <p:sp>
        <p:nvSpPr>
          <p:cNvPr id="40" name="TextBox 39"/>
          <p:cNvSpPr txBox="1"/>
          <p:nvPr/>
        </p:nvSpPr>
        <p:spPr>
          <a:xfrm>
            <a:off x="8702345" y="3854196"/>
            <a:ext cx="848563" cy="228600"/>
          </a:xfrm>
          <a:prstGeom prst="rect">
            <a:avLst/>
          </a:prstGeom>
          <a:noFill/>
          <a:ln/>
        </p:spPr>
        <p:txBody>
          <a:bodyPr wrap="square" lIns="0" rIns="0" tIns="0" bIns="0">
            <a:noAutofit/>
          </a:bodyPr>
          <a:lstStyle/>
          <a:p>
            <a:r>
              <a:rPr sz="1200" b="1">
                <a:solidFill>
                  <a:srgbClr val="1D1D1F"/>
                </a:solidFill>
                <a:latin typeface="Noto Sans JP"/>
              </a:rPr>
              <a:t>誤検知対策</a:t>
            </a:r>
          </a:p>
        </p:txBody>
      </p:sp>
      <p:pic>
        <p:nvPicPr>
          <p:cNvPr id="41" name="Picture 40" descr="image.png"/>
          <p:cNvPicPr>
            <a:picLocks noChangeAspect="1"/>
          </p:cNvPicPr>
          <p:nvPr/>
        </p:nvPicPr>
        <p:blipFill>
          <a:blip r:embed="rId6"/>
          <a:stretch>
            <a:fillRect/>
          </a:stretch>
        </p:blipFill>
        <p:spPr>
          <a:xfrm>
            <a:off x="8302752" y="4379976"/>
            <a:ext cx="95097" cy="95098"/>
          </a:xfrm>
          <a:prstGeom prst="rect">
            <a:avLst/>
          </a:prstGeom>
          <a:ln/>
        </p:spPr>
      </p:pic>
      <p:sp>
        <p:nvSpPr>
          <p:cNvPr id="42" name="TextBox 41"/>
          <p:cNvSpPr txBox="1"/>
          <p:nvPr/>
        </p:nvSpPr>
        <p:spPr>
          <a:xfrm>
            <a:off x="8397850" y="4506163"/>
            <a:ext cx="3219602" cy="562355"/>
          </a:xfrm>
          <a:prstGeom prst="rect">
            <a:avLst/>
          </a:prstGeom>
          <a:noFill/>
          <a:ln/>
        </p:spPr>
        <p:txBody>
          <a:bodyPr wrap="square" lIns="0" rIns="0" tIns="0" bIns="0">
            <a:noAutofit/>
          </a:bodyPr>
          <a:lstStyle/>
          <a:p>
            <a:r>
              <a:rPr sz="900" b="1">
                <a:solidFill>
                  <a:srgbClr val="1D1D1F"/>
                </a:solidFill>
                <a:latin typeface="Noto Sans JP"/>
              </a:rPr>
              <a:t>UIによる再確認設計</a:t>
            </a:r>
          </a:p>
          <a:p>
            <a:r>
              <a:rPr sz="900">
                <a:solidFill>
                  <a:srgbClr val="424245"/>
                </a:solidFill>
                <a:latin typeface="Noto Sans JP"/>
              </a:rPr>
              <a:t> 誤検知（ウェイクワード）や誤割当（話者分離）が発生した場合、ユーザーが手動修正できるUIを用意。 </a:t>
            </a:r>
          </a:p>
        </p:txBody>
      </p:sp>
      <p:pic>
        <p:nvPicPr>
          <p:cNvPr id="43" name="Picture 42" descr="image.png"/>
          <p:cNvPicPr>
            <a:picLocks noChangeAspect="1"/>
          </p:cNvPicPr>
          <p:nvPr/>
        </p:nvPicPr>
        <p:blipFill>
          <a:blip r:embed="rId6"/>
          <a:stretch>
            <a:fillRect/>
          </a:stretch>
        </p:blipFill>
        <p:spPr>
          <a:xfrm>
            <a:off x="8302752" y="5218481"/>
            <a:ext cx="95097" cy="95098"/>
          </a:xfrm>
          <a:prstGeom prst="rect">
            <a:avLst/>
          </a:prstGeom>
          <a:ln/>
        </p:spPr>
      </p:pic>
      <p:sp>
        <p:nvSpPr>
          <p:cNvPr id="44" name="TextBox 43"/>
          <p:cNvSpPr txBox="1"/>
          <p:nvPr/>
        </p:nvSpPr>
        <p:spPr>
          <a:xfrm>
            <a:off x="8397850" y="5344668"/>
            <a:ext cx="3219602" cy="562356"/>
          </a:xfrm>
          <a:prstGeom prst="rect">
            <a:avLst/>
          </a:prstGeom>
          <a:noFill/>
          <a:ln/>
        </p:spPr>
        <p:txBody>
          <a:bodyPr wrap="square" lIns="0" rIns="0" tIns="0" bIns="0">
            <a:noAutofit/>
          </a:bodyPr>
          <a:lstStyle/>
          <a:p>
            <a:r>
              <a:rPr sz="900" b="1">
                <a:solidFill>
                  <a:srgbClr val="1D1D1F"/>
                </a:solidFill>
                <a:latin typeface="Noto Sans JP"/>
              </a:rPr>
              <a:t>安全側の設計</a:t>
            </a:r>
          </a:p>
          <a:p>
            <a:r>
              <a:rPr sz="900">
                <a:solidFill>
                  <a:srgbClr val="424245"/>
                </a:solidFill>
                <a:latin typeface="Noto Sans JP"/>
              </a:rPr>
              <a:t> 重要な判定では、自動処理の結果を「提案」として提示し、最終決定をユーザーに委ねるフェイルセーフ設計。 </a:t>
            </a:r>
          </a:p>
        </p:txBody>
      </p:sp>
      <p:pic>
        <p:nvPicPr>
          <p:cNvPr id="45" name="Picture 44" descr="image.png"/>
          <p:cNvPicPr>
            <a:picLocks noChangeAspect="1"/>
          </p:cNvPicPr>
          <p:nvPr/>
        </p:nvPicPr>
        <p:blipFill>
          <a:blip r:embed="rId9"/>
          <a:stretch>
            <a:fillRect/>
          </a:stretch>
        </p:blipFill>
        <p:spPr>
          <a:xfrm>
            <a:off x="0" y="6476695"/>
            <a:ext cx="12191695" cy="381305"/>
          </a:xfrm>
          <a:prstGeom prst="rect">
            <a:avLst/>
          </a:prstGeom>
          <a:ln/>
        </p:spPr>
      </p:pic>
      <p:sp>
        <p:nvSpPr>
          <p:cNvPr id="46" name="TextBox 45"/>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44 | ローカルAI 技術調査レポート</a:t>
            </a:r>
          </a:p>
        </p:txBody>
      </p:sp>
      <p:pic>
        <p:nvPicPr>
          <p:cNvPr id="47" name="Picture 46" descr="image.png"/>
          <p:cNvPicPr>
            <a:picLocks noChangeAspect="1"/>
          </p:cNvPicPr>
          <p:nvPr/>
        </p:nvPicPr>
        <p:blipFill>
          <a:blip r:embed="rId10"/>
          <a:stretch>
            <a:fillRect/>
          </a:stretch>
        </p:blipFill>
        <p:spPr>
          <a:xfrm>
            <a:off x="1398118" y="2029054"/>
            <a:ext cx="457200" cy="457200"/>
          </a:xfrm>
          <a:prstGeom prst="rect">
            <a:avLst/>
          </a:prstGeom>
          <a:ln/>
        </p:spPr>
      </p:pic>
      <p:sp>
        <p:nvSpPr>
          <p:cNvPr id="48" name="TextBox 47"/>
          <p:cNvSpPr txBox="1"/>
          <p:nvPr/>
        </p:nvSpPr>
        <p:spPr>
          <a:xfrm>
            <a:off x="1398118"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1</a:t>
            </a:r>
          </a:p>
        </p:txBody>
      </p:sp>
      <p:sp>
        <p:nvSpPr>
          <p:cNvPr id="49" name="TextBox 48"/>
          <p:cNvSpPr txBox="1"/>
          <p:nvPr/>
        </p:nvSpPr>
        <p:spPr>
          <a:xfrm>
            <a:off x="1057046" y="2562149"/>
            <a:ext cx="1143000" cy="200254"/>
          </a:xfrm>
          <a:prstGeom prst="rect">
            <a:avLst/>
          </a:prstGeom>
          <a:noFill/>
          <a:ln/>
        </p:spPr>
        <p:txBody>
          <a:bodyPr wrap="square" lIns="0" rIns="0" tIns="0" bIns="0">
            <a:noAutofit/>
          </a:bodyPr>
          <a:lstStyle/>
          <a:p>
            <a:r>
              <a:rPr sz="1000" b="1">
                <a:solidFill>
                  <a:srgbClr val="1D1D1F"/>
                </a:solidFill>
                <a:latin typeface="Noto Sans JP"/>
              </a:rPr>
              <a:t>ユースケース定義</a:t>
            </a:r>
          </a:p>
        </p:txBody>
      </p:sp>
      <p:sp>
        <p:nvSpPr>
          <p:cNvPr id="50" name="TextBox 49"/>
          <p:cNvSpPr txBox="1"/>
          <p:nvPr/>
        </p:nvSpPr>
        <p:spPr>
          <a:xfrm>
            <a:off x="1180490" y="2838298"/>
            <a:ext cx="896111" cy="277062"/>
          </a:xfrm>
          <a:prstGeom prst="rect">
            <a:avLst/>
          </a:prstGeom>
          <a:noFill/>
          <a:ln/>
        </p:spPr>
        <p:txBody>
          <a:bodyPr wrap="square" lIns="0" rIns="0" tIns="0" bIns="0">
            <a:noAutofit/>
          </a:bodyPr>
          <a:lstStyle/>
          <a:p>
            <a:r>
              <a:rPr sz="800">
                <a:solidFill>
                  <a:srgbClr val="6E6E73"/>
                </a:solidFill>
                <a:latin typeface="Noto Sans JP"/>
              </a:rPr>
              <a:t>会議録音か</a:t>
            </a:r>
          </a:p>
          <a:p>
            <a:r>
              <a:rPr sz="800">
                <a:solidFill>
                  <a:srgbClr val="6E6E73"/>
                </a:solidFill>
                <a:latin typeface="Noto Sans JP"/>
              </a:rPr>
              <a:t>ウェイクワードか</a:t>
            </a:r>
          </a:p>
        </p:txBody>
      </p:sp>
      <p:pic>
        <p:nvPicPr>
          <p:cNvPr id="51" name="Picture 50" descr="image.png"/>
          <p:cNvPicPr>
            <a:picLocks noChangeAspect="1"/>
          </p:cNvPicPr>
          <p:nvPr/>
        </p:nvPicPr>
        <p:blipFill>
          <a:blip r:embed="rId10"/>
          <a:stretch>
            <a:fillRect/>
          </a:stretch>
        </p:blipFill>
        <p:spPr>
          <a:xfrm>
            <a:off x="3632910" y="2029054"/>
            <a:ext cx="457200" cy="457200"/>
          </a:xfrm>
          <a:prstGeom prst="rect">
            <a:avLst/>
          </a:prstGeom>
          <a:ln/>
        </p:spPr>
      </p:pic>
      <p:sp>
        <p:nvSpPr>
          <p:cNvPr id="52" name="TextBox 51"/>
          <p:cNvSpPr txBox="1"/>
          <p:nvPr/>
        </p:nvSpPr>
        <p:spPr>
          <a:xfrm>
            <a:off x="3632910"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2</a:t>
            </a:r>
          </a:p>
        </p:txBody>
      </p:sp>
      <p:sp>
        <p:nvSpPr>
          <p:cNvPr id="53" name="TextBox 52"/>
          <p:cNvSpPr txBox="1"/>
          <p:nvPr/>
        </p:nvSpPr>
        <p:spPr>
          <a:xfrm>
            <a:off x="3285439" y="2562149"/>
            <a:ext cx="1152144" cy="200254"/>
          </a:xfrm>
          <a:prstGeom prst="rect">
            <a:avLst/>
          </a:prstGeom>
          <a:noFill/>
          <a:ln/>
        </p:spPr>
        <p:txBody>
          <a:bodyPr wrap="square" lIns="0" rIns="0" tIns="0" bIns="0">
            <a:noAutofit/>
          </a:bodyPr>
          <a:lstStyle/>
          <a:p>
            <a:r>
              <a:rPr sz="1000" b="1">
                <a:solidFill>
                  <a:srgbClr val="1D1D1F"/>
                </a:solidFill>
                <a:latin typeface="Noto Sans JP"/>
              </a:rPr>
              <a:t>パイプライン構成</a:t>
            </a:r>
          </a:p>
        </p:txBody>
      </p:sp>
      <p:sp>
        <p:nvSpPr>
          <p:cNvPr id="54" name="TextBox 53"/>
          <p:cNvSpPr txBox="1"/>
          <p:nvPr/>
        </p:nvSpPr>
        <p:spPr>
          <a:xfrm>
            <a:off x="3371393" y="2838298"/>
            <a:ext cx="981151" cy="277062"/>
          </a:xfrm>
          <a:prstGeom prst="rect">
            <a:avLst/>
          </a:prstGeom>
          <a:noFill/>
          <a:ln/>
        </p:spPr>
        <p:txBody>
          <a:bodyPr wrap="square" lIns="0" rIns="0" tIns="0" bIns="0">
            <a:noAutofit/>
          </a:bodyPr>
          <a:lstStyle/>
          <a:p>
            <a:r>
              <a:rPr sz="800">
                <a:solidFill>
                  <a:srgbClr val="6E6E73"/>
                </a:solidFill>
                <a:latin typeface="Noto Sans JP"/>
              </a:rPr>
              <a:t>VAD+ASR+分離など</a:t>
            </a:r>
          </a:p>
          <a:p>
            <a:r>
              <a:rPr sz="800">
                <a:solidFill>
                  <a:srgbClr val="6E6E73"/>
                </a:solidFill>
                <a:latin typeface="Noto Sans JP"/>
              </a:rPr>
              <a:t>プリセット化</a:t>
            </a:r>
          </a:p>
        </p:txBody>
      </p:sp>
      <p:pic>
        <p:nvPicPr>
          <p:cNvPr id="55" name="Picture 54" descr="image.png"/>
          <p:cNvPicPr>
            <a:picLocks noChangeAspect="1"/>
          </p:cNvPicPr>
          <p:nvPr/>
        </p:nvPicPr>
        <p:blipFill>
          <a:blip r:embed="rId10"/>
          <a:stretch>
            <a:fillRect/>
          </a:stretch>
        </p:blipFill>
        <p:spPr>
          <a:xfrm>
            <a:off x="5867705" y="2029054"/>
            <a:ext cx="457200" cy="457200"/>
          </a:xfrm>
          <a:prstGeom prst="rect">
            <a:avLst/>
          </a:prstGeom>
          <a:ln/>
        </p:spPr>
      </p:pic>
      <p:sp>
        <p:nvSpPr>
          <p:cNvPr id="56" name="TextBox 55"/>
          <p:cNvSpPr txBox="1"/>
          <p:nvPr/>
        </p:nvSpPr>
        <p:spPr>
          <a:xfrm>
            <a:off x="5867705"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3</a:t>
            </a:r>
          </a:p>
        </p:txBody>
      </p:sp>
      <p:sp>
        <p:nvSpPr>
          <p:cNvPr id="57" name="TextBox 56"/>
          <p:cNvSpPr txBox="1"/>
          <p:nvPr/>
        </p:nvSpPr>
        <p:spPr>
          <a:xfrm>
            <a:off x="5790895" y="2562149"/>
            <a:ext cx="609905" cy="200254"/>
          </a:xfrm>
          <a:prstGeom prst="rect">
            <a:avLst/>
          </a:prstGeom>
          <a:noFill/>
          <a:ln/>
        </p:spPr>
        <p:txBody>
          <a:bodyPr wrap="square" lIns="0" rIns="0" tIns="0" bIns="0">
            <a:noAutofit/>
          </a:bodyPr>
          <a:lstStyle/>
          <a:p>
            <a:r>
              <a:rPr sz="1000" b="1">
                <a:solidFill>
                  <a:srgbClr val="1D1D1F"/>
                </a:solidFill>
                <a:latin typeface="Noto Sans JP"/>
              </a:rPr>
              <a:t>閾値固定</a:t>
            </a:r>
          </a:p>
        </p:txBody>
      </p:sp>
      <p:sp>
        <p:nvSpPr>
          <p:cNvPr id="58" name="TextBox 57"/>
          <p:cNvSpPr txBox="1"/>
          <p:nvPr/>
        </p:nvSpPr>
        <p:spPr>
          <a:xfrm>
            <a:off x="5603443" y="2838298"/>
            <a:ext cx="991210" cy="277062"/>
          </a:xfrm>
          <a:prstGeom prst="rect">
            <a:avLst/>
          </a:prstGeom>
          <a:noFill/>
          <a:ln/>
        </p:spPr>
        <p:txBody>
          <a:bodyPr wrap="square" lIns="0" rIns="0" tIns="0" bIns="0">
            <a:noAutofit/>
          </a:bodyPr>
          <a:lstStyle/>
          <a:p>
            <a:r>
              <a:rPr sz="800">
                <a:solidFill>
                  <a:srgbClr val="6E6E73"/>
                </a:solidFill>
                <a:latin typeface="Noto Sans JP"/>
              </a:rPr>
              <a:t>VAD感度・分離閾値</a:t>
            </a:r>
          </a:p>
          <a:p>
            <a:r>
              <a:rPr sz="800">
                <a:solidFill>
                  <a:srgbClr val="6E6E73"/>
                </a:solidFill>
                <a:latin typeface="Noto Sans JP"/>
              </a:rPr>
              <a:t>を数値で管理</a:t>
            </a:r>
          </a:p>
        </p:txBody>
      </p:sp>
      <p:pic>
        <p:nvPicPr>
          <p:cNvPr id="59" name="Picture 58" descr="image.png"/>
          <p:cNvPicPr>
            <a:picLocks noChangeAspect="1"/>
          </p:cNvPicPr>
          <p:nvPr/>
        </p:nvPicPr>
        <p:blipFill>
          <a:blip r:embed="rId11"/>
          <a:stretch>
            <a:fillRect/>
          </a:stretch>
        </p:blipFill>
        <p:spPr>
          <a:xfrm>
            <a:off x="8101583" y="2029054"/>
            <a:ext cx="457200" cy="457200"/>
          </a:xfrm>
          <a:prstGeom prst="rect">
            <a:avLst/>
          </a:prstGeom>
          <a:ln/>
        </p:spPr>
      </p:pic>
      <p:sp>
        <p:nvSpPr>
          <p:cNvPr id="60" name="TextBox 59"/>
          <p:cNvSpPr txBox="1"/>
          <p:nvPr/>
        </p:nvSpPr>
        <p:spPr>
          <a:xfrm>
            <a:off x="8101583"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4</a:t>
            </a:r>
          </a:p>
        </p:txBody>
      </p:sp>
      <p:sp>
        <p:nvSpPr>
          <p:cNvPr id="61" name="TextBox 60"/>
          <p:cNvSpPr txBox="1"/>
          <p:nvPr/>
        </p:nvSpPr>
        <p:spPr>
          <a:xfrm>
            <a:off x="7827264" y="2562149"/>
            <a:ext cx="1010412" cy="200254"/>
          </a:xfrm>
          <a:prstGeom prst="rect">
            <a:avLst/>
          </a:prstGeom>
          <a:noFill/>
          <a:ln/>
        </p:spPr>
        <p:txBody>
          <a:bodyPr wrap="square" lIns="0" rIns="0" tIns="0" bIns="0">
            <a:noAutofit/>
          </a:bodyPr>
          <a:lstStyle/>
          <a:p>
            <a:r>
              <a:rPr sz="1000" b="1">
                <a:solidFill>
                  <a:srgbClr val="1D1D1F"/>
                </a:solidFill>
                <a:latin typeface="Noto Sans JP"/>
              </a:rPr>
              <a:t>バージョン固定</a:t>
            </a:r>
          </a:p>
        </p:txBody>
      </p:sp>
      <p:sp>
        <p:nvSpPr>
          <p:cNvPr id="62" name="TextBox 61"/>
          <p:cNvSpPr txBox="1"/>
          <p:nvPr/>
        </p:nvSpPr>
        <p:spPr>
          <a:xfrm>
            <a:off x="7858354" y="2838298"/>
            <a:ext cx="952805" cy="277062"/>
          </a:xfrm>
          <a:prstGeom prst="rect">
            <a:avLst/>
          </a:prstGeom>
          <a:noFill/>
          <a:ln/>
        </p:spPr>
        <p:txBody>
          <a:bodyPr wrap="square" lIns="0" rIns="0" tIns="0" bIns="0">
            <a:noAutofit/>
          </a:bodyPr>
          <a:lstStyle/>
          <a:p>
            <a:r>
              <a:rPr sz="800">
                <a:solidFill>
                  <a:srgbClr val="6E6E73"/>
                </a:solidFill>
                <a:latin typeface="Noto Sans JP"/>
              </a:rPr>
              <a:t>Silero/pyannoteの</a:t>
            </a:r>
          </a:p>
          <a:p>
            <a:r>
              <a:rPr sz="800">
                <a:solidFill>
                  <a:srgbClr val="6E6E73"/>
                </a:solidFill>
                <a:latin typeface="Noto Sans JP"/>
              </a:rPr>
              <a:t>バージョン統一</a:t>
            </a:r>
          </a:p>
        </p:txBody>
      </p:sp>
      <p:pic>
        <p:nvPicPr>
          <p:cNvPr id="63" name="Picture 62" descr="image.png"/>
          <p:cNvPicPr>
            <a:picLocks noChangeAspect="1"/>
          </p:cNvPicPr>
          <p:nvPr/>
        </p:nvPicPr>
        <p:blipFill>
          <a:blip r:embed="rId12"/>
          <a:stretch>
            <a:fillRect/>
          </a:stretch>
        </p:blipFill>
        <p:spPr>
          <a:xfrm>
            <a:off x="10336378" y="2029054"/>
            <a:ext cx="457200" cy="457200"/>
          </a:xfrm>
          <a:prstGeom prst="rect">
            <a:avLst/>
          </a:prstGeom>
          <a:ln/>
        </p:spPr>
      </p:pic>
      <p:sp>
        <p:nvSpPr>
          <p:cNvPr id="64" name="TextBox 63"/>
          <p:cNvSpPr txBox="1"/>
          <p:nvPr/>
        </p:nvSpPr>
        <p:spPr>
          <a:xfrm>
            <a:off x="10336378" y="2029054"/>
            <a:ext cx="457200" cy="457200"/>
          </a:xfrm>
          <a:prstGeom prst="rect">
            <a:avLst/>
          </a:prstGeom>
          <a:noFill/>
          <a:ln>
            <a:solidFill>
              <a:srgbClr val="FFFFFF"/>
            </a:solidFill>
          </a:ln>
        </p:spPr>
        <p:txBody>
          <a:bodyPr wrap="square" lIns="0" rIns="0" tIns="0" bIns="0">
            <a:noAutofit/>
          </a:bodyPr>
          <a:lstStyle/>
          <a:p>
            <a:r>
              <a:rPr sz="1500" b="1">
                <a:solidFill>
                  <a:srgbClr val="FFFFFF"/>
                </a:solidFill>
                <a:latin typeface="Noto Sans JP"/>
              </a:rPr>
              <a:t>5</a:t>
            </a:r>
          </a:p>
        </p:txBody>
      </p:sp>
      <p:sp>
        <p:nvSpPr>
          <p:cNvPr id="65" name="TextBox 64"/>
          <p:cNvSpPr txBox="1"/>
          <p:nvPr/>
        </p:nvSpPr>
        <p:spPr>
          <a:xfrm>
            <a:off x="10260482" y="2562149"/>
            <a:ext cx="609905" cy="200254"/>
          </a:xfrm>
          <a:prstGeom prst="rect">
            <a:avLst/>
          </a:prstGeom>
          <a:noFill/>
          <a:ln/>
        </p:spPr>
        <p:txBody>
          <a:bodyPr wrap="square" lIns="0" rIns="0" tIns="0" bIns="0">
            <a:noAutofit/>
          </a:bodyPr>
          <a:lstStyle/>
          <a:p>
            <a:r>
              <a:rPr sz="1000" b="1">
                <a:solidFill>
                  <a:srgbClr val="1D1D1F"/>
                </a:solidFill>
                <a:latin typeface="Noto Sans JP"/>
              </a:rPr>
              <a:t>ログ監視</a:t>
            </a:r>
          </a:p>
        </p:txBody>
      </p:sp>
      <p:sp>
        <p:nvSpPr>
          <p:cNvPr id="66" name="TextBox 65"/>
          <p:cNvSpPr txBox="1"/>
          <p:nvPr/>
        </p:nvSpPr>
        <p:spPr>
          <a:xfrm>
            <a:off x="10117836" y="2838298"/>
            <a:ext cx="896112" cy="277062"/>
          </a:xfrm>
          <a:prstGeom prst="rect">
            <a:avLst/>
          </a:prstGeom>
          <a:noFill/>
          <a:ln/>
        </p:spPr>
        <p:txBody>
          <a:bodyPr wrap="square" lIns="0" rIns="0" tIns="0" bIns="0">
            <a:noAutofit/>
          </a:bodyPr>
          <a:lstStyle/>
          <a:p>
            <a:r>
              <a:rPr sz="800">
                <a:solidFill>
                  <a:srgbClr val="6E6E73"/>
                </a:solidFill>
                <a:latin typeface="Noto Sans JP"/>
              </a:rPr>
              <a:t>RTF・エラー率の</a:t>
            </a:r>
          </a:p>
          <a:p>
            <a:r>
              <a:rPr sz="800">
                <a:solidFill>
                  <a:srgbClr val="6E6E73"/>
                </a:solidFill>
                <a:latin typeface="Noto Sans JP"/>
              </a:rPr>
              <a:t>継続モニタリング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499616"/>
            <a:ext cx="4153205" cy="1142999"/>
          </a:xfrm>
          <a:prstGeom prst="rect">
            <a:avLst/>
          </a:prstGeom>
          <a:noFill/>
          <a:ln/>
        </p:spPr>
        <p:txBody>
          <a:bodyPr wrap="square" lIns="0" rIns="0" tIns="0" bIns="0">
            <a:noAutofit/>
          </a:bodyPr>
          <a:lstStyle/>
          <a:p>
            <a:r>
              <a:rPr sz="9000" b="1">
                <a:solidFill>
                  <a:srgbClr val="333336"/>
                </a:solidFill>
                <a:latin typeface="Helvetica Neue"/>
              </a:rPr>
              <a:t>07</a:t>
            </a:r>
          </a:p>
        </p:txBody>
      </p:sp>
      <p:pic>
        <p:nvPicPr>
          <p:cNvPr id="9" name="Picture 8" descr="image.png"/>
          <p:cNvPicPr>
            <a:picLocks noChangeAspect="1"/>
          </p:cNvPicPr>
          <p:nvPr/>
        </p:nvPicPr>
        <p:blipFill>
          <a:blip r:embed="rId3"/>
          <a:stretch>
            <a:fillRect/>
          </a:stretch>
        </p:blipFill>
        <p:spPr>
          <a:xfrm>
            <a:off x="761695" y="2832811"/>
            <a:ext cx="761695" cy="57606"/>
          </a:xfrm>
          <a:prstGeom prst="rect">
            <a:avLst/>
          </a:prstGeom>
          <a:ln/>
        </p:spPr>
      </p:pic>
      <p:sp>
        <p:nvSpPr>
          <p:cNvPr id="10" name="TextBox 9"/>
          <p:cNvSpPr txBox="1"/>
          <p:nvPr/>
        </p:nvSpPr>
        <p:spPr>
          <a:xfrm>
            <a:off x="761695" y="3270809"/>
            <a:ext cx="4121201" cy="1181405"/>
          </a:xfrm>
          <a:prstGeom prst="rect">
            <a:avLst/>
          </a:prstGeom>
          <a:noFill/>
          <a:ln/>
        </p:spPr>
        <p:txBody>
          <a:bodyPr wrap="square" lIns="0" rIns="0" tIns="0" bIns="0">
            <a:noAutofit/>
          </a:bodyPr>
          <a:lstStyle/>
          <a:p>
            <a:r>
              <a:rPr sz="4200" b="1">
                <a:solidFill>
                  <a:srgbClr val="FFFFFF"/>
                </a:solidFill>
                <a:latin typeface="Noto Sans JP"/>
              </a:rPr>
              <a:t>メモリ設計の</a:t>
            </a:r>
          </a:p>
          <a:p>
            <a:r>
              <a:rPr sz="4200" b="1">
                <a:solidFill>
                  <a:srgbClr val="FFFFFF"/>
                </a:solidFill>
                <a:latin typeface="Noto Sans JP"/>
              </a:rPr>
              <a:t>コア</a:t>
            </a:r>
          </a:p>
        </p:txBody>
      </p:sp>
      <p:sp>
        <p:nvSpPr>
          <p:cNvPr id="11" name="TextBox 10"/>
          <p:cNvSpPr txBox="1"/>
          <p:nvPr/>
        </p:nvSpPr>
        <p:spPr>
          <a:xfrm>
            <a:off x="761695" y="4672584"/>
            <a:ext cx="4048963" cy="685800"/>
          </a:xfrm>
          <a:prstGeom prst="rect">
            <a:avLst/>
          </a:prstGeom>
          <a:noFill/>
          <a:ln/>
        </p:spPr>
        <p:txBody>
          <a:bodyPr wrap="square" lIns="0" rIns="0" tIns="0" bIns="0">
            <a:noAutofit/>
          </a:bodyPr>
          <a:lstStyle/>
          <a:p>
            <a:r>
              <a:rPr sz="1800">
                <a:solidFill>
                  <a:srgbClr val="86868B"/>
                </a:solidFill>
                <a:latin typeface="Noto Sans JP"/>
              </a:rPr>
              <a:t>重み量子化・KVキャッシュ管理と</a:t>
            </a:r>
          </a:p>
          <a:p>
            <a:r>
              <a:rPr sz="1800">
                <a:solidFill>
                  <a:srgbClr val="86868B"/>
                </a:solidFill>
                <a:latin typeface="Noto Sans JP"/>
              </a:rPr>
              <a:t>最適化技術</a:t>
            </a:r>
          </a:p>
        </p:txBody>
      </p:sp>
      <p:sp>
        <p:nvSpPr>
          <p:cNvPr id="12" name="TextBox 11"/>
          <p:cNvSpPr txBox="1"/>
          <p:nvPr/>
        </p:nvSpPr>
        <p:spPr>
          <a:xfrm>
            <a:off x="6248095" y="918972"/>
            <a:ext cx="5296205" cy="228600"/>
          </a:xfrm>
          <a:prstGeom prst="rect">
            <a:avLst/>
          </a:prstGeom>
          <a:noFill/>
          <a:ln/>
        </p:spPr>
        <p:txBody>
          <a:bodyPr wrap="square" lIns="0" rIns="0" tIns="0" bIns="0">
            <a:noAutofit/>
          </a:bodyPr>
          <a:lstStyle/>
          <a:p>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338682"/>
            <a:ext cx="5181905" cy="3886200"/>
          </a:xfrm>
          <a:prstGeom prst="rect">
            <a:avLst/>
          </a:prstGeom>
          <a:ln/>
        </p:spPr>
      </p:pic>
      <p:sp>
        <p:nvSpPr>
          <p:cNvPr id="14" name="TextBox 13"/>
          <p:cNvSpPr txBox="1"/>
          <p:nvPr/>
        </p:nvSpPr>
        <p:spPr>
          <a:xfrm>
            <a:off x="6810451" y="1623974"/>
            <a:ext cx="4525366" cy="286206"/>
          </a:xfrm>
          <a:prstGeom prst="rect">
            <a:avLst/>
          </a:prstGeom>
          <a:noFill/>
          <a:ln/>
        </p:spPr>
        <p:txBody>
          <a:bodyPr wrap="square" lIns="0" rIns="0" tIns="0" bIns="0">
            <a:noAutofit/>
          </a:bodyPr>
          <a:lstStyle/>
          <a:p>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671523"/>
            <a:ext cx="142645" cy="190194"/>
          </a:xfrm>
          <a:prstGeom prst="rect">
            <a:avLst/>
          </a:prstGeom>
          <a:ln/>
        </p:spPr>
      </p:pic>
      <p:sp>
        <p:nvSpPr>
          <p:cNvPr id="16" name="TextBox 15"/>
          <p:cNvSpPr txBox="1"/>
          <p:nvPr/>
        </p:nvSpPr>
        <p:spPr>
          <a:xfrm>
            <a:off x="6801307" y="2061972"/>
            <a:ext cx="4420210" cy="771753"/>
          </a:xfrm>
          <a:prstGeom prst="rect">
            <a:avLst/>
          </a:prstGeom>
          <a:noFill/>
          <a:ln/>
        </p:spPr>
        <p:txBody>
          <a:bodyPr wrap="square" lIns="0" rIns="0" tIns="0" bIns="0">
            <a:noAutofit/>
          </a:bodyPr>
          <a:lstStyle/>
          <a:p>
            <a:r>
              <a:rPr sz="1300" b="1">
                <a:solidFill>
                  <a:srgbClr val="E5E5E5"/>
                </a:solidFill>
                <a:latin typeface="Noto Sans JP"/>
              </a:rPr>
              <a:t>重みメモリの現実解：</a:t>
            </a:r>
          </a:p>
          <a:p>
            <a:r>
              <a:rPr sz="1300">
                <a:solidFill>
                  <a:srgbClr val="E5E5E5"/>
                </a:solidFill>
                <a:latin typeface="Noto Sans JP"/>
              </a:rPr>
              <a:t> 4bit量子化（weight-only）が基本。理論値＋10%オーバーヘッドで設計します。 </a:t>
            </a:r>
          </a:p>
        </p:txBody>
      </p:sp>
      <p:pic>
        <p:nvPicPr>
          <p:cNvPr id="17" name="Picture 16" descr="image.png"/>
          <p:cNvPicPr>
            <a:picLocks noChangeAspect="1"/>
          </p:cNvPicPr>
          <p:nvPr/>
        </p:nvPicPr>
        <p:blipFill>
          <a:blip r:embed="rId6"/>
          <a:stretch>
            <a:fillRect/>
          </a:stretch>
        </p:blipFill>
        <p:spPr>
          <a:xfrm>
            <a:off x="6572707" y="2109521"/>
            <a:ext cx="114300" cy="133501"/>
          </a:xfrm>
          <a:prstGeom prst="rect">
            <a:avLst/>
          </a:prstGeom>
          <a:ln/>
        </p:spPr>
      </p:pic>
      <p:sp>
        <p:nvSpPr>
          <p:cNvPr id="18" name="TextBox 17"/>
          <p:cNvSpPr txBox="1"/>
          <p:nvPr/>
        </p:nvSpPr>
        <p:spPr>
          <a:xfrm>
            <a:off x="6801307" y="2986430"/>
            <a:ext cx="4420210" cy="1028700"/>
          </a:xfrm>
          <a:prstGeom prst="rect">
            <a:avLst/>
          </a:prstGeom>
          <a:noFill/>
          <a:ln/>
        </p:spPr>
        <p:txBody>
          <a:bodyPr wrap="square" lIns="0" rIns="0" tIns="0" bIns="0">
            <a:noAutofit/>
          </a:bodyPr>
          <a:lstStyle/>
          <a:p>
            <a:r>
              <a:rPr sz="1300" b="1">
                <a:solidFill>
                  <a:srgbClr val="E5E5E5"/>
                </a:solidFill>
                <a:latin typeface="Noto Sans JP"/>
              </a:rPr>
              <a:t>KVキャッシュの支配性：</a:t>
            </a:r>
          </a:p>
          <a:p>
            <a:r>
              <a:rPr sz="1300">
                <a:solidFill>
                  <a:srgbClr val="E5E5E5"/>
                </a:solidFill>
                <a:latin typeface="Noto Sans JP"/>
              </a:rPr>
              <a:t> 長文コンテキストではKVがメモリを圧迫。vLLMのpaged/quantized KV</a:t>
            </a:r>
            <a:r>
              <a:rPr sz="1000">
                <a:solidFill>
                  <a:srgbClr val="6B7280"/>
                </a:solidFill>
                <a:latin typeface="Noto Sans JP"/>
              </a:rPr>
              <a:t>[5,6]</a:t>
            </a:r>
            <a:r>
              <a:rPr sz="1300">
                <a:solidFill>
                  <a:srgbClr val="E5E5E5"/>
                </a:solidFill>
                <a:latin typeface="Noto Sans JP"/>
              </a:rPr>
              <a:t>やTensorRT-LLMのKV reuse</a:t>
            </a:r>
            <a:r>
              <a:rPr sz="1000">
                <a:solidFill>
                  <a:srgbClr val="6B7280"/>
                </a:solidFill>
                <a:latin typeface="Noto Sans JP"/>
              </a:rPr>
              <a:t>[7]</a:t>
            </a:r>
            <a:r>
              <a:rPr sz="1300">
                <a:solidFill>
                  <a:srgbClr val="E5E5E5"/>
                </a:solidFill>
                <a:latin typeface="Noto Sans JP"/>
              </a:rPr>
              <a:t>が必須です。 </a:t>
            </a:r>
          </a:p>
        </p:txBody>
      </p:sp>
      <p:pic>
        <p:nvPicPr>
          <p:cNvPr id="19" name="Picture 18" descr="image.png"/>
          <p:cNvPicPr>
            <a:picLocks noChangeAspect="1"/>
          </p:cNvPicPr>
          <p:nvPr/>
        </p:nvPicPr>
        <p:blipFill>
          <a:blip r:embed="rId6"/>
          <a:stretch>
            <a:fillRect/>
          </a:stretch>
        </p:blipFill>
        <p:spPr>
          <a:xfrm>
            <a:off x="6572707" y="3033979"/>
            <a:ext cx="114300" cy="133501"/>
          </a:xfrm>
          <a:prstGeom prst="rect">
            <a:avLst/>
          </a:prstGeom>
          <a:ln/>
        </p:spPr>
      </p:pic>
      <p:sp>
        <p:nvSpPr>
          <p:cNvPr id="20" name="TextBox 19"/>
          <p:cNvSpPr txBox="1"/>
          <p:nvPr/>
        </p:nvSpPr>
        <p:spPr>
          <a:xfrm>
            <a:off x="6801307" y="4166921"/>
            <a:ext cx="4420210" cy="771753"/>
          </a:xfrm>
          <a:prstGeom prst="rect">
            <a:avLst/>
          </a:prstGeom>
          <a:noFill/>
          <a:ln/>
        </p:spPr>
        <p:txBody>
          <a:bodyPr wrap="square" lIns="0" rIns="0" tIns="0" bIns="0">
            <a:noAutofit/>
          </a:bodyPr>
          <a:lstStyle/>
          <a:p>
            <a:r>
              <a:rPr sz="1300" b="1">
                <a:solidFill>
                  <a:srgbClr val="E5E5E5"/>
                </a:solidFill>
                <a:latin typeface="Noto Sans JP"/>
              </a:rPr>
              <a:t>最適化技術の活用：</a:t>
            </a:r>
          </a:p>
          <a:p>
            <a:r>
              <a:rPr sz="1300">
                <a:solidFill>
                  <a:srgbClr val="E5E5E5"/>
                </a:solidFill>
                <a:latin typeface="Noto Sans JP"/>
              </a:rPr>
              <a:t> llama.cppのprompt cache</a:t>
            </a:r>
            <a:r>
              <a:rPr sz="1000">
                <a:solidFill>
                  <a:srgbClr val="6B7280"/>
                </a:solidFill>
                <a:latin typeface="Noto Sans JP"/>
              </a:rPr>
              <a:t>[88,90]</a:t>
            </a:r>
            <a:r>
              <a:rPr sz="1300">
                <a:solidFill>
                  <a:srgbClr val="E5E5E5"/>
                </a:solidFill>
                <a:latin typeface="Noto Sans JP"/>
              </a:rPr>
              <a:t>等でTTFTを短縮し、実用性を高めます。 </a:t>
            </a:r>
          </a:p>
        </p:txBody>
      </p:sp>
      <p:pic>
        <p:nvPicPr>
          <p:cNvPr id="21" name="Picture 20" descr="image.png"/>
          <p:cNvPicPr>
            <a:picLocks noChangeAspect="1"/>
          </p:cNvPicPr>
          <p:nvPr/>
        </p:nvPicPr>
        <p:blipFill>
          <a:blip r:embed="rId6"/>
          <a:stretch>
            <a:fillRect/>
          </a:stretch>
        </p:blipFill>
        <p:spPr>
          <a:xfrm>
            <a:off x="6572707" y="4214470"/>
            <a:ext cx="114300" cy="133501"/>
          </a:xfrm>
          <a:prstGeom prst="rect">
            <a:avLst/>
          </a:prstGeom>
          <a:ln/>
        </p:spPr>
      </p:pic>
      <p:pic>
        <p:nvPicPr>
          <p:cNvPr id="22" name="Picture 21" descr="image.png"/>
          <p:cNvPicPr>
            <a:picLocks noChangeAspect="1"/>
          </p:cNvPicPr>
          <p:nvPr/>
        </p:nvPicPr>
        <p:blipFill>
          <a:blip r:embed="rId7"/>
          <a:stretch>
            <a:fillRect/>
          </a:stretch>
        </p:blipFill>
        <p:spPr>
          <a:xfrm>
            <a:off x="6248095" y="5605272"/>
            <a:ext cx="1257300" cy="333755"/>
          </a:xfrm>
          <a:prstGeom prst="rect">
            <a:avLst/>
          </a:prstGeom>
          <a:ln/>
        </p:spPr>
      </p:pic>
      <p:sp>
        <p:nvSpPr>
          <p:cNvPr id="23" name="TextBox 22"/>
          <p:cNvSpPr txBox="1"/>
          <p:nvPr/>
        </p:nvSpPr>
        <p:spPr>
          <a:xfrm>
            <a:off x="6248095" y="5605272"/>
            <a:ext cx="1257300"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重み理論値計算</a:t>
            </a:r>
          </a:p>
        </p:txBody>
      </p:sp>
      <p:pic>
        <p:nvPicPr>
          <p:cNvPr id="24" name="Picture 23" descr="image.png"/>
          <p:cNvPicPr>
            <a:picLocks noChangeAspect="1"/>
          </p:cNvPicPr>
          <p:nvPr/>
        </p:nvPicPr>
        <p:blipFill>
          <a:blip r:embed="rId8"/>
          <a:stretch>
            <a:fillRect/>
          </a:stretch>
        </p:blipFill>
        <p:spPr>
          <a:xfrm>
            <a:off x="7619695" y="5605272"/>
            <a:ext cx="1429206" cy="333755"/>
          </a:xfrm>
          <a:prstGeom prst="rect">
            <a:avLst/>
          </a:prstGeom>
          <a:ln/>
        </p:spPr>
      </p:pic>
      <p:sp>
        <p:nvSpPr>
          <p:cNvPr id="25" name="TextBox 24"/>
          <p:cNvSpPr txBox="1"/>
          <p:nvPr/>
        </p:nvSpPr>
        <p:spPr>
          <a:xfrm>
            <a:off x="7619695" y="5605272"/>
            <a:ext cx="1429206"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KVキャッシュ詳細</a:t>
            </a:r>
          </a:p>
        </p:txBody>
      </p:sp>
      <p:pic>
        <p:nvPicPr>
          <p:cNvPr id="26" name="Picture 25" descr="image.png"/>
          <p:cNvPicPr>
            <a:picLocks noChangeAspect="1"/>
          </p:cNvPicPr>
          <p:nvPr/>
        </p:nvPicPr>
        <p:blipFill>
          <a:blip r:embed="rId9"/>
          <a:stretch>
            <a:fillRect/>
          </a:stretch>
        </p:blipFill>
        <p:spPr>
          <a:xfrm>
            <a:off x="9156802" y="5605272"/>
            <a:ext cx="1123797" cy="333755"/>
          </a:xfrm>
          <a:prstGeom prst="rect">
            <a:avLst/>
          </a:prstGeom>
          <a:ln/>
        </p:spPr>
      </p:pic>
      <p:sp>
        <p:nvSpPr>
          <p:cNvPr id="27" name="TextBox 26"/>
          <p:cNvSpPr txBox="1"/>
          <p:nvPr/>
        </p:nvSpPr>
        <p:spPr>
          <a:xfrm>
            <a:off x="9156802" y="5605272"/>
            <a:ext cx="1124711"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数式・数値例</a:t>
            </a:r>
          </a:p>
        </p:txBody>
      </p:sp>
      <p:pic>
        <p:nvPicPr>
          <p:cNvPr id="28" name="Picture 27" descr="image.png"/>
          <p:cNvPicPr>
            <a:picLocks noChangeAspect="1"/>
          </p:cNvPicPr>
          <p:nvPr/>
        </p:nvPicPr>
        <p:blipFill>
          <a:blip r:embed="rId10"/>
          <a:stretch>
            <a:fillRect/>
          </a:stretch>
        </p:blipFill>
        <p:spPr>
          <a:xfrm>
            <a:off x="10394899" y="5605272"/>
            <a:ext cx="990294" cy="333755"/>
          </a:xfrm>
          <a:prstGeom prst="rect">
            <a:avLst/>
          </a:prstGeom>
          <a:ln/>
        </p:spPr>
      </p:pic>
      <p:sp>
        <p:nvSpPr>
          <p:cNvPr id="29" name="TextBox 28"/>
          <p:cNvSpPr txBox="1"/>
          <p:nvPr/>
        </p:nvSpPr>
        <p:spPr>
          <a:xfrm>
            <a:off x="10394899" y="5605272"/>
            <a:ext cx="991210" cy="333755"/>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最適化技術</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3857854" cy="457200"/>
          </a:xfrm>
          <a:prstGeom prst="rect">
            <a:avLst/>
          </a:prstGeom>
          <a:noFill/>
          <a:ln/>
        </p:spPr>
        <p:txBody>
          <a:bodyPr wrap="square" lIns="0" rIns="0" tIns="0" bIns="0">
            <a:noAutofit/>
          </a:bodyPr>
          <a:lstStyle/>
          <a:p>
            <a:r>
              <a:rPr sz="2400" b="1">
                <a:solidFill>
                  <a:srgbClr val="1D1D1F"/>
                </a:solidFill>
                <a:latin typeface="Noto Sans JP"/>
              </a:rPr>
              <a:t>メモリ設計のコア（概要）</a:t>
            </a:r>
          </a:p>
        </p:txBody>
      </p:sp>
      <p:sp>
        <p:nvSpPr>
          <p:cNvPr id="9" name="TextBox 8"/>
          <p:cNvSpPr txBox="1"/>
          <p:nvPr/>
        </p:nvSpPr>
        <p:spPr>
          <a:xfrm>
            <a:off x="8951062" y="328270"/>
            <a:ext cx="2981858" cy="257861"/>
          </a:xfrm>
          <a:prstGeom prst="rect">
            <a:avLst/>
          </a:prstGeom>
          <a:noFill/>
          <a:ln/>
        </p:spPr>
        <p:txBody>
          <a:bodyPr wrap="square" lIns="0" rIns="0" tIns="0" bIns="0">
            <a:noAutofit/>
          </a:bodyPr>
          <a:lstStyle/>
          <a:p>
            <a:r>
              <a:rPr sz="1300">
                <a:solidFill>
                  <a:srgbClr val="86868B"/>
                </a:solidFill>
                <a:latin typeface="Noto Sans JP"/>
              </a:rPr>
              <a:t>重み量子化とKVキャッシュの支配性</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結論：ローカルAIのメモリ制約は、</a:t>
            </a:r>
            <a:r>
              <a:rPr sz="1800" b="1">
                <a:solidFill>
                  <a:srgbClr val="2563EB"/>
                </a:solidFill>
                <a:latin typeface="Noto Sans JP"/>
              </a:rPr>
              <a:t>「重み4bit量子化」</a:t>
            </a:r>
            <a:r>
              <a:rPr sz="1800" b="1">
                <a:solidFill>
                  <a:srgbClr val="1D1D1F"/>
                </a:solidFill>
                <a:latin typeface="Noto Sans JP"/>
              </a:rPr>
              <a:t>と</a:t>
            </a:r>
            <a:r>
              <a:rPr sz="1800" b="1">
                <a:solidFill>
                  <a:srgbClr val="2563EB"/>
                </a:solidFill>
                <a:latin typeface="Noto Sans JP"/>
              </a:rPr>
              <a:t>「KVキャッシュ最適化」</a:t>
            </a:r>
            <a:r>
              <a:rPr sz="1800" b="1">
                <a:solidFill>
                  <a:srgbClr val="1D1D1F"/>
                </a:solidFill>
                <a:latin typeface="Noto Sans JP"/>
              </a:rPr>
              <a:t>の2点によって決定される支配的な要因です。 </a:t>
            </a:r>
          </a:p>
        </p:txBody>
      </p:sp>
      <p:sp>
        <p:nvSpPr>
          <p:cNvPr id="12" name="Rectangle 11"/>
          <p:cNvSpPr/>
          <p:nvPr/>
        </p:nvSpPr>
        <p:spPr>
          <a:xfrm>
            <a:off x="457200"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p:spPr>
      </p:pic>
      <p:sp>
        <p:nvSpPr>
          <p:cNvPr id="15" name="TextBox 14"/>
          <p:cNvSpPr txBox="1"/>
          <p:nvPr/>
        </p:nvSpPr>
        <p:spPr>
          <a:xfrm>
            <a:off x="1000354" y="2945282"/>
            <a:ext cx="2162556" cy="419709"/>
          </a:xfrm>
          <a:prstGeom prst="rect">
            <a:avLst/>
          </a:prstGeom>
          <a:noFill/>
          <a:ln/>
        </p:spPr>
        <p:txBody>
          <a:bodyPr wrap="square" lIns="0" rIns="0" tIns="0" bIns="0">
            <a:noAutofit/>
          </a:bodyPr>
          <a:lstStyle/>
          <a:p>
            <a:r>
              <a:rPr sz="1500" b="1">
                <a:solidFill>
                  <a:srgbClr val="1D1D1F"/>
                </a:solidFill>
                <a:latin typeface="Noto Sans JP"/>
              </a:rPr>
              <a:t>重みメモリ（Weights）</a:t>
            </a:r>
          </a:p>
        </p:txBody>
      </p:sp>
      <p:pic>
        <p:nvPicPr>
          <p:cNvPr id="16" name="Picture 15" descr="image.png"/>
          <p:cNvPicPr>
            <a:picLocks noChangeAspect="1"/>
          </p:cNvPicPr>
          <p:nvPr/>
        </p:nvPicPr>
        <p:blipFill>
          <a:blip r:embed="rId5"/>
          <a:stretch>
            <a:fillRect/>
          </a:stretch>
        </p:blipFill>
        <p:spPr>
          <a:xfrm>
            <a:off x="694944" y="3516782"/>
            <a:ext cx="85953" cy="114300"/>
          </a:xfrm>
          <a:prstGeom prst="rect">
            <a:avLst/>
          </a:prstGeom>
          <a:ln/>
        </p:spPr>
      </p:pic>
      <p:sp>
        <p:nvSpPr>
          <p:cNvPr id="17" name="TextBox 16"/>
          <p:cNvSpPr txBox="1"/>
          <p:nvPr/>
        </p:nvSpPr>
        <p:spPr>
          <a:xfrm>
            <a:off x="875994" y="3760013"/>
            <a:ext cx="3724351" cy="247801"/>
          </a:xfrm>
          <a:prstGeom prst="rect">
            <a:avLst/>
          </a:prstGeom>
          <a:noFill/>
          <a:ln/>
        </p:spPr>
        <p:txBody>
          <a:bodyPr wrap="square" lIns="0" rIns="0" tIns="0" bIns="0">
            <a:noAutofit/>
          </a:bodyPr>
          <a:lstStyle/>
          <a:p>
            <a:r>
              <a:rPr sz="1200">
                <a:solidFill>
                  <a:srgbClr val="424245"/>
                </a:solidFill>
                <a:latin typeface="Noto Sans JP"/>
              </a:rPr>
              <a:t>パラメータ数とbit幅で物理的な下限が決まります。</a:t>
            </a:r>
          </a:p>
        </p:txBody>
      </p:sp>
      <p:pic>
        <p:nvPicPr>
          <p:cNvPr id="18" name="Picture 17" descr="image.png"/>
          <p:cNvPicPr>
            <a:picLocks noChangeAspect="1"/>
          </p:cNvPicPr>
          <p:nvPr/>
        </p:nvPicPr>
        <p:blipFill>
          <a:blip r:embed="rId6"/>
          <a:stretch>
            <a:fillRect/>
          </a:stretch>
        </p:blipFill>
        <p:spPr>
          <a:xfrm>
            <a:off x="875994" y="4042562"/>
            <a:ext cx="3534155" cy="705001"/>
          </a:xfrm>
          <a:prstGeom prst="rect">
            <a:avLst/>
          </a:prstGeom>
          <a:ln/>
        </p:spPr>
      </p:pic>
      <p:sp>
        <p:nvSpPr>
          <p:cNvPr id="19" name="TextBox 18"/>
          <p:cNvSpPr txBox="1"/>
          <p:nvPr/>
        </p:nvSpPr>
        <p:spPr>
          <a:xfrm>
            <a:off x="875994" y="4042562"/>
            <a:ext cx="3534155" cy="705001"/>
          </a:xfrm>
          <a:prstGeom prst="rect">
            <a:avLst/>
          </a:prstGeom>
          <a:noFill/>
          <a:ln w="12700">
            <a:solidFill>
              <a:srgbClr val="E5E7EB"/>
            </a:solidFill>
          </a:ln>
        </p:spPr>
        <p:txBody>
          <a:bodyPr wrap="square" lIns="0" rIns="0" tIns="0" bIns="0">
            <a:noAutofit/>
          </a:bodyPr>
          <a:lstStyle/>
          <a:p>
            <a:r>
              <a:rPr sz="1100" b="1">
                <a:solidFill>
                  <a:srgbClr val="374151"/>
                </a:solidFill>
                <a:latin typeface="Courier New"/>
              </a:rPr>
              <a:t>メモリ ≈ パラメータ数 × bit幅 ÷ 8 （+約10% ランタイム/CUDA オーバーヘッド）</a:t>
            </a:r>
          </a:p>
        </p:txBody>
      </p:sp>
      <p:pic>
        <p:nvPicPr>
          <p:cNvPr id="20" name="Picture 19" descr="image.png"/>
          <p:cNvPicPr>
            <a:picLocks noChangeAspect="1"/>
          </p:cNvPicPr>
          <p:nvPr/>
        </p:nvPicPr>
        <p:blipFill>
          <a:blip r:embed="rId7"/>
          <a:stretch>
            <a:fillRect/>
          </a:stretch>
        </p:blipFill>
        <p:spPr>
          <a:xfrm>
            <a:off x="694944" y="4860950"/>
            <a:ext cx="114300" cy="114300"/>
          </a:xfrm>
          <a:prstGeom prst="rect">
            <a:avLst/>
          </a:prstGeom>
          <a:ln/>
        </p:spPr>
      </p:pic>
      <p:sp>
        <p:nvSpPr>
          <p:cNvPr id="21" name="TextBox 20"/>
          <p:cNvSpPr txBox="1"/>
          <p:nvPr/>
        </p:nvSpPr>
        <p:spPr>
          <a:xfrm>
            <a:off x="905256" y="5105095"/>
            <a:ext cx="4877410" cy="495605"/>
          </a:xfrm>
          <a:prstGeom prst="rect">
            <a:avLst/>
          </a:prstGeom>
          <a:noFill/>
          <a:ln/>
        </p:spPr>
        <p:txBody>
          <a:bodyPr wrap="square" lIns="0" rIns="0" tIns="0" bIns="0">
            <a:noAutofit/>
          </a:bodyPr>
          <a:lstStyle/>
          <a:p>
            <a:r>
              <a:rPr sz="1200">
                <a:solidFill>
                  <a:srgbClr val="424245"/>
                </a:solidFill>
                <a:latin typeface="Noto Sans JP"/>
              </a:rPr>
              <a:t>FP16（16bit）と比較して約1/4のサイズで、品質劣化を最小限に抑えつつコンシューマGPUに載せるための必須技術です。</a:t>
            </a:r>
          </a:p>
        </p:txBody>
      </p:sp>
      <p:pic>
        <p:nvPicPr>
          <p:cNvPr id="22" name="Picture 21" descr="image.png"/>
          <p:cNvPicPr>
            <a:picLocks noChangeAspect="1"/>
          </p:cNvPicPr>
          <p:nvPr/>
        </p:nvPicPr>
        <p:blipFill>
          <a:blip r:embed="rId8"/>
          <a:stretch>
            <a:fillRect/>
          </a:stretch>
        </p:blipFill>
        <p:spPr>
          <a:xfrm>
            <a:off x="694944" y="5745175"/>
            <a:ext cx="1162202" cy="276148"/>
          </a:xfrm>
          <a:prstGeom prst="rect">
            <a:avLst/>
          </a:prstGeom>
          <a:ln/>
        </p:spPr>
      </p:pic>
      <p:sp>
        <p:nvSpPr>
          <p:cNvPr id="23" name="TextBox 22"/>
          <p:cNvSpPr txBox="1"/>
          <p:nvPr/>
        </p:nvSpPr>
        <p:spPr>
          <a:xfrm>
            <a:off x="694944" y="5745175"/>
            <a:ext cx="1162202"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GGUF Q4_K_M</a:t>
            </a:r>
          </a:p>
        </p:txBody>
      </p:sp>
      <p:pic>
        <p:nvPicPr>
          <p:cNvPr id="24" name="Picture 23" descr="image.png"/>
          <p:cNvPicPr>
            <a:picLocks noChangeAspect="1"/>
          </p:cNvPicPr>
          <p:nvPr/>
        </p:nvPicPr>
        <p:blipFill>
          <a:blip r:embed="rId9"/>
          <a:stretch>
            <a:fillRect/>
          </a:stretch>
        </p:blipFill>
        <p:spPr>
          <a:xfrm>
            <a:off x="1926641" y="5745175"/>
            <a:ext cx="828446" cy="276148"/>
          </a:xfrm>
          <a:prstGeom prst="rect">
            <a:avLst/>
          </a:prstGeom>
          <a:ln/>
        </p:spPr>
      </p:pic>
      <p:sp>
        <p:nvSpPr>
          <p:cNvPr id="25" name="TextBox 24"/>
          <p:cNvSpPr txBox="1"/>
          <p:nvPr/>
        </p:nvSpPr>
        <p:spPr>
          <a:xfrm>
            <a:off x="1926641" y="5745175"/>
            <a:ext cx="829361"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AWQ 4bit</a:t>
            </a:r>
          </a:p>
        </p:txBody>
      </p:sp>
      <p:pic>
        <p:nvPicPr>
          <p:cNvPr id="26" name="Picture 25" descr="image.png"/>
          <p:cNvPicPr>
            <a:picLocks noChangeAspect="1"/>
          </p:cNvPicPr>
          <p:nvPr/>
        </p:nvPicPr>
        <p:blipFill>
          <a:blip r:embed="rId10"/>
          <a:stretch>
            <a:fillRect/>
          </a:stretch>
        </p:blipFill>
        <p:spPr>
          <a:xfrm>
            <a:off x="2823667" y="5745175"/>
            <a:ext cx="590701" cy="276148"/>
          </a:xfrm>
          <a:prstGeom prst="rect">
            <a:avLst/>
          </a:prstGeom>
          <a:ln/>
        </p:spPr>
      </p:pic>
      <p:sp>
        <p:nvSpPr>
          <p:cNvPr id="27" name="TextBox 26"/>
          <p:cNvSpPr txBox="1"/>
          <p:nvPr/>
        </p:nvSpPr>
        <p:spPr>
          <a:xfrm>
            <a:off x="2823667" y="5745175"/>
            <a:ext cx="590701" cy="277063"/>
          </a:xfrm>
          <a:prstGeom prst="rect">
            <a:avLst/>
          </a:prstGeom>
          <a:noFill/>
          <a:ln>
            <a:solidFill>
              <a:srgbClr val="FFFFFF"/>
            </a:solidFill>
          </a:ln>
        </p:spPr>
        <p:txBody>
          <a:bodyPr wrap="square" lIns="0" rIns="0" tIns="0" bIns="0">
            <a:noAutofit/>
          </a:bodyPr>
          <a:lstStyle/>
          <a:p>
            <a:r>
              <a:rPr sz="1000" b="1">
                <a:solidFill>
                  <a:srgbClr val="0369A1"/>
                </a:solidFill>
                <a:latin typeface="Noto Sans JP"/>
              </a:rPr>
              <a:t>GPTQ</a:t>
            </a:r>
          </a:p>
        </p:txBody>
      </p:sp>
      <p:sp>
        <p:nvSpPr>
          <p:cNvPr id="28" name="Rectangle 27"/>
          <p:cNvSpPr/>
          <p:nvPr/>
        </p:nvSpPr>
        <p:spPr>
          <a:xfrm>
            <a:off x="6248095" y="2706624"/>
            <a:ext cx="5486400" cy="3629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1"/>
          <a:stretch>
            <a:fillRect/>
          </a:stretch>
        </p:blipFill>
        <p:spPr>
          <a:xfrm>
            <a:off x="6486754" y="2992831"/>
            <a:ext cx="219456" cy="190194"/>
          </a:xfrm>
          <a:prstGeom prst="rect">
            <a:avLst/>
          </a:prstGeom>
          <a:ln/>
        </p:spPr>
      </p:pic>
      <p:sp>
        <p:nvSpPr>
          <p:cNvPr id="31" name="TextBox 30"/>
          <p:cNvSpPr txBox="1"/>
          <p:nvPr/>
        </p:nvSpPr>
        <p:spPr>
          <a:xfrm>
            <a:off x="6819595" y="2945282"/>
            <a:ext cx="2039112" cy="419709"/>
          </a:xfrm>
          <a:prstGeom prst="rect">
            <a:avLst/>
          </a:prstGeom>
          <a:noFill/>
          <a:ln/>
        </p:spPr>
        <p:txBody>
          <a:bodyPr wrap="square" lIns="0" rIns="0" tIns="0" bIns="0">
            <a:noAutofit/>
          </a:bodyPr>
          <a:lstStyle/>
          <a:p>
            <a:r>
              <a:rPr sz="1500" b="1">
                <a:solidFill>
                  <a:srgbClr val="1D1D1F"/>
                </a:solidFill>
                <a:latin typeface="Noto Sans JP"/>
              </a:rPr>
              <a:t>KVキャッシュと最適化</a:t>
            </a:r>
          </a:p>
        </p:txBody>
      </p:sp>
      <p:pic>
        <p:nvPicPr>
          <p:cNvPr id="32" name="Picture 31" descr="image.png"/>
          <p:cNvPicPr>
            <a:picLocks noChangeAspect="1"/>
          </p:cNvPicPr>
          <p:nvPr/>
        </p:nvPicPr>
        <p:blipFill>
          <a:blip r:embed="rId12"/>
          <a:stretch>
            <a:fillRect/>
          </a:stretch>
        </p:blipFill>
        <p:spPr>
          <a:xfrm>
            <a:off x="6486754" y="3516782"/>
            <a:ext cx="114300" cy="114300"/>
          </a:xfrm>
          <a:prstGeom prst="rect">
            <a:avLst/>
          </a:prstGeom>
          <a:ln/>
        </p:spPr>
      </p:pic>
      <p:sp>
        <p:nvSpPr>
          <p:cNvPr id="33" name="TextBox 32"/>
          <p:cNvSpPr txBox="1"/>
          <p:nvPr/>
        </p:nvSpPr>
        <p:spPr>
          <a:xfrm>
            <a:off x="6696151" y="3760013"/>
            <a:ext cx="4877410" cy="495605"/>
          </a:xfrm>
          <a:prstGeom prst="rect">
            <a:avLst/>
          </a:prstGeom>
          <a:noFill/>
          <a:ln/>
        </p:spPr>
        <p:txBody>
          <a:bodyPr wrap="square" lIns="0" rIns="0" tIns="0" bIns="0">
            <a:noAutofit/>
          </a:bodyPr>
          <a:lstStyle/>
          <a:p>
            <a:r>
              <a:rPr sz="1200">
                <a:solidFill>
                  <a:srgbClr val="424245"/>
                </a:solidFill>
                <a:latin typeface="Noto Sans JP"/>
              </a:rPr>
              <a:t>KVキャッシュは「コンテキスト長に比例」して増加します。長文・多同時接続では重み以上にメモリを圧迫します。</a:t>
            </a:r>
          </a:p>
        </p:txBody>
      </p:sp>
      <p:sp>
        <p:nvSpPr>
          <p:cNvPr id="34" name="TextBox 33"/>
          <p:cNvSpPr txBox="1"/>
          <p:nvPr/>
        </p:nvSpPr>
        <p:spPr>
          <a:xfrm>
            <a:off x="6696151" y="4285793"/>
            <a:ext cx="4914900" cy="152705"/>
          </a:xfrm>
          <a:prstGeom prst="rect">
            <a:avLst/>
          </a:prstGeom>
          <a:noFill/>
          <a:ln/>
        </p:spPr>
        <p:txBody>
          <a:bodyPr wrap="square" lIns="0" rIns="0" tIns="0" bIns="0">
            <a:noAutofit/>
          </a:bodyPr>
          <a:lstStyle/>
          <a:p>
            <a:r>
              <a:rPr sz="900">
                <a:solidFill>
                  <a:srgbClr val="6B7280"/>
                </a:solidFill>
                <a:latin typeface="Noto Sans JP"/>
              </a:rPr>
              <a:t>例：Llama3 8B (n_layer=32, n_head_kv=8, head_dim=128)</a:t>
            </a:r>
          </a:p>
        </p:txBody>
      </p:sp>
      <p:pic>
        <p:nvPicPr>
          <p:cNvPr id="35" name="Picture 34" descr="image.png"/>
          <p:cNvPicPr>
            <a:picLocks noChangeAspect="1"/>
          </p:cNvPicPr>
          <p:nvPr/>
        </p:nvPicPr>
        <p:blipFill>
          <a:blip r:embed="rId13"/>
          <a:stretch>
            <a:fillRect/>
          </a:stretch>
        </p:blipFill>
        <p:spPr>
          <a:xfrm>
            <a:off x="6486754" y="4552798"/>
            <a:ext cx="105156" cy="114300"/>
          </a:xfrm>
          <a:prstGeom prst="rect">
            <a:avLst/>
          </a:prstGeom>
          <a:ln/>
        </p:spPr>
      </p:pic>
      <p:sp>
        <p:nvSpPr>
          <p:cNvPr id="36" name="TextBox 35"/>
          <p:cNvSpPr txBox="1"/>
          <p:nvPr/>
        </p:nvSpPr>
        <p:spPr>
          <a:xfrm>
            <a:off x="6915607" y="4834433"/>
            <a:ext cx="3182111" cy="219455"/>
          </a:xfrm>
          <a:prstGeom prst="rect">
            <a:avLst/>
          </a:prstGeom>
          <a:noFill/>
          <a:ln/>
        </p:spPr>
        <p:txBody>
          <a:bodyPr wrap="square" lIns="0" rIns="0" tIns="0" bIns="0">
            <a:noAutofit/>
          </a:bodyPr>
          <a:lstStyle/>
          <a:p>
            <a:r>
              <a:rPr sz="1000" b="1">
                <a:solidFill>
                  <a:srgbClr val="4B5563"/>
                </a:solidFill>
                <a:latin typeface="Noto Sans JP"/>
              </a:rPr>
              <a:t>Paged KV:</a:t>
            </a:r>
            <a:r>
              <a:rPr sz="1000">
                <a:solidFill>
                  <a:srgbClr val="4B5563"/>
                </a:solidFill>
                <a:latin typeface="Noto Sans JP"/>
              </a:rPr>
              <a:t> メモリ断片化を防ぐ（vLLM等）</a:t>
            </a:r>
          </a:p>
        </p:txBody>
      </p:sp>
      <p:pic>
        <p:nvPicPr>
          <p:cNvPr id="37" name="Picture 36" descr="image.png"/>
          <p:cNvPicPr>
            <a:picLocks noChangeAspect="1"/>
          </p:cNvPicPr>
          <p:nvPr/>
        </p:nvPicPr>
        <p:blipFill>
          <a:blip r:embed="rId14"/>
          <a:stretch>
            <a:fillRect/>
          </a:stretch>
        </p:blipFill>
        <p:spPr>
          <a:xfrm>
            <a:off x="9590227" y="4846320"/>
            <a:ext cx="256945" cy="200253"/>
          </a:xfrm>
          <a:prstGeom prst="rect">
            <a:avLst/>
          </a:prstGeom>
          <a:ln/>
        </p:spPr>
      </p:pic>
      <p:sp>
        <p:nvSpPr>
          <p:cNvPr id="38" name="TextBox 37"/>
          <p:cNvSpPr txBox="1"/>
          <p:nvPr/>
        </p:nvSpPr>
        <p:spPr>
          <a:xfrm>
            <a:off x="9590227" y="4846320"/>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a:t>
            </a:r>
          </a:p>
        </p:txBody>
      </p:sp>
      <p:sp>
        <p:nvSpPr>
          <p:cNvPr id="39" name="TextBox 38"/>
          <p:cNvSpPr txBox="1"/>
          <p:nvPr/>
        </p:nvSpPr>
        <p:spPr>
          <a:xfrm>
            <a:off x="6915607" y="5045659"/>
            <a:ext cx="3182111" cy="219456"/>
          </a:xfrm>
          <a:prstGeom prst="rect">
            <a:avLst/>
          </a:prstGeom>
          <a:noFill/>
          <a:ln/>
        </p:spPr>
        <p:txBody>
          <a:bodyPr wrap="square" lIns="0" rIns="0" tIns="0" bIns="0">
            <a:noAutofit/>
          </a:bodyPr>
          <a:lstStyle/>
          <a:p>
            <a:r>
              <a:rPr sz="1000" b="1">
                <a:solidFill>
                  <a:srgbClr val="4B5563"/>
                </a:solidFill>
                <a:latin typeface="Noto Sans JP"/>
              </a:rPr>
              <a:t>Quantized KV:</a:t>
            </a:r>
            <a:r>
              <a:rPr sz="1000">
                <a:solidFill>
                  <a:srgbClr val="4B5563"/>
                </a:solidFill>
                <a:latin typeface="Noto Sans JP"/>
              </a:rPr>
              <a:t> FP8/INT4化で容量削減</a:t>
            </a:r>
          </a:p>
        </p:txBody>
      </p:sp>
      <p:pic>
        <p:nvPicPr>
          <p:cNvPr id="40" name="Picture 39" descr="image.png"/>
          <p:cNvPicPr>
            <a:picLocks noChangeAspect="1"/>
          </p:cNvPicPr>
          <p:nvPr/>
        </p:nvPicPr>
        <p:blipFill>
          <a:blip r:embed="rId14"/>
          <a:stretch>
            <a:fillRect/>
          </a:stretch>
        </p:blipFill>
        <p:spPr>
          <a:xfrm>
            <a:off x="9317736" y="5057546"/>
            <a:ext cx="256945" cy="200253"/>
          </a:xfrm>
          <a:prstGeom prst="rect">
            <a:avLst/>
          </a:prstGeom>
          <a:ln/>
        </p:spPr>
      </p:pic>
      <p:sp>
        <p:nvSpPr>
          <p:cNvPr id="41" name="TextBox 40"/>
          <p:cNvSpPr txBox="1"/>
          <p:nvPr/>
        </p:nvSpPr>
        <p:spPr>
          <a:xfrm>
            <a:off x="9317736" y="5057546"/>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[6]</a:t>
            </a:r>
          </a:p>
        </p:txBody>
      </p:sp>
      <p:sp>
        <p:nvSpPr>
          <p:cNvPr id="42" name="TextBox 41"/>
          <p:cNvSpPr txBox="1"/>
          <p:nvPr/>
        </p:nvSpPr>
        <p:spPr>
          <a:xfrm>
            <a:off x="6915607" y="5257800"/>
            <a:ext cx="3182111" cy="219455"/>
          </a:xfrm>
          <a:prstGeom prst="rect">
            <a:avLst/>
          </a:prstGeom>
          <a:noFill/>
          <a:ln/>
        </p:spPr>
        <p:txBody>
          <a:bodyPr wrap="square" lIns="0" rIns="0" tIns="0" bIns="0">
            <a:noAutofit/>
          </a:bodyPr>
          <a:lstStyle/>
          <a:p>
            <a:r>
              <a:rPr sz="1000" b="1">
                <a:solidFill>
                  <a:srgbClr val="4B5563"/>
                </a:solidFill>
                <a:latin typeface="Noto Sans JP"/>
              </a:rPr>
              <a:t>KV Reuse:</a:t>
            </a:r>
            <a:r>
              <a:rPr sz="1000">
                <a:solidFill>
                  <a:srgbClr val="4B5563"/>
                </a:solidFill>
                <a:latin typeface="Noto Sans JP"/>
              </a:rPr>
              <a:t> 計算再利用（TensorRT-LLM）</a:t>
            </a:r>
          </a:p>
        </p:txBody>
      </p:sp>
      <p:pic>
        <p:nvPicPr>
          <p:cNvPr id="43" name="Picture 42" descr="image.png"/>
          <p:cNvPicPr>
            <a:picLocks noChangeAspect="1"/>
          </p:cNvPicPr>
          <p:nvPr/>
        </p:nvPicPr>
        <p:blipFill>
          <a:blip r:embed="rId14"/>
          <a:stretch>
            <a:fillRect/>
          </a:stretch>
        </p:blipFill>
        <p:spPr>
          <a:xfrm>
            <a:off x="9464040" y="5268773"/>
            <a:ext cx="256945" cy="200253"/>
          </a:xfrm>
          <a:prstGeom prst="rect">
            <a:avLst/>
          </a:prstGeom>
          <a:ln/>
        </p:spPr>
      </p:pic>
      <p:sp>
        <p:nvSpPr>
          <p:cNvPr id="44" name="TextBox 43"/>
          <p:cNvSpPr txBox="1"/>
          <p:nvPr/>
        </p:nvSpPr>
        <p:spPr>
          <a:xfrm>
            <a:off x="9464040" y="5268773"/>
            <a:ext cx="25786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a:t>
            </a:r>
          </a:p>
        </p:txBody>
      </p:sp>
      <p:sp>
        <p:nvSpPr>
          <p:cNvPr id="45" name="TextBox 44"/>
          <p:cNvSpPr txBox="1"/>
          <p:nvPr/>
        </p:nvSpPr>
        <p:spPr>
          <a:xfrm>
            <a:off x="6915607" y="5469026"/>
            <a:ext cx="3182111" cy="219456"/>
          </a:xfrm>
          <a:prstGeom prst="rect">
            <a:avLst/>
          </a:prstGeom>
          <a:noFill/>
          <a:ln/>
        </p:spPr>
        <p:txBody>
          <a:bodyPr wrap="square" lIns="0" rIns="0" tIns="0" bIns="0">
            <a:noAutofit/>
          </a:bodyPr>
          <a:lstStyle/>
          <a:p>
            <a:r>
              <a:rPr sz="1000" b="1">
                <a:solidFill>
                  <a:srgbClr val="4B5563"/>
                </a:solidFill>
                <a:latin typeface="Noto Sans JP"/>
              </a:rPr>
              <a:t>Prompt Cache:</a:t>
            </a:r>
            <a:r>
              <a:rPr sz="1000">
                <a:solidFill>
                  <a:srgbClr val="4B5563"/>
                </a:solidFill>
                <a:latin typeface="Noto Sans JP"/>
              </a:rPr>
              <a:t> TTFT短縮（llama.cpp）</a:t>
            </a:r>
          </a:p>
        </p:txBody>
      </p:sp>
      <p:pic>
        <p:nvPicPr>
          <p:cNvPr id="46" name="Picture 45" descr="image.png"/>
          <p:cNvPicPr>
            <a:picLocks noChangeAspect="1"/>
          </p:cNvPicPr>
          <p:nvPr/>
        </p:nvPicPr>
        <p:blipFill>
          <a:blip r:embed="rId15"/>
          <a:stretch>
            <a:fillRect/>
          </a:stretch>
        </p:blipFill>
        <p:spPr>
          <a:xfrm>
            <a:off x="9453067" y="5479999"/>
            <a:ext cx="523950" cy="200253"/>
          </a:xfrm>
          <a:prstGeom prst="rect">
            <a:avLst/>
          </a:prstGeom>
          <a:ln/>
        </p:spPr>
      </p:pic>
      <p:sp>
        <p:nvSpPr>
          <p:cNvPr id="47" name="TextBox 46"/>
          <p:cNvSpPr txBox="1"/>
          <p:nvPr/>
        </p:nvSpPr>
        <p:spPr>
          <a:xfrm>
            <a:off x="9453067" y="5479999"/>
            <a:ext cx="523950"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[88][90]</a:t>
            </a:r>
          </a:p>
        </p:txBody>
      </p:sp>
      <p:sp>
        <p:nvSpPr>
          <p:cNvPr id="48" name="Rectangle 47"/>
          <p:cNvSpPr/>
          <p:nvPr/>
        </p:nvSpPr>
        <p:spPr>
          <a:xfrm>
            <a:off x="457200" y="6640373"/>
            <a:ext cx="11277295" cy="972007"/>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821424"/>
            <a:ext cx="152704" cy="171907"/>
          </a:xfrm>
          <a:prstGeom prst="rect">
            <a:avLst/>
          </a:prstGeom>
          <a:ln/>
        </p:spPr>
      </p:pic>
      <p:sp>
        <p:nvSpPr>
          <p:cNvPr id="50" name="TextBox 49"/>
          <p:cNvSpPr txBox="1"/>
          <p:nvPr/>
        </p:nvSpPr>
        <p:spPr>
          <a:xfrm>
            <a:off x="886054" y="6802221"/>
            <a:ext cx="10801807" cy="200254"/>
          </a:xfrm>
          <a:prstGeom prst="rect">
            <a:avLst/>
          </a:prstGeom>
          <a:noFill/>
          <a:ln/>
        </p:spPr>
        <p:txBody>
          <a:bodyPr wrap="square" lIns="0" rIns="0" tIns="0" bIns="0">
            <a:noAutofit/>
          </a:bodyPr>
          <a:lstStyle/>
          <a:p>
            <a:r>
              <a:rPr sz="1000" b="1">
                <a:solidFill>
                  <a:srgbClr val="78350F"/>
                </a:solidFill>
                <a:latin typeface="Noto Sans JP"/>
              </a:rPr>
              <a:t>根拠ソース（References）</a:t>
            </a:r>
          </a:p>
        </p:txBody>
      </p:sp>
      <p:sp>
        <p:nvSpPr>
          <p:cNvPr id="51" name="TextBox 50"/>
          <p:cNvSpPr txBox="1"/>
          <p:nvPr/>
        </p:nvSpPr>
        <p:spPr>
          <a:xfrm>
            <a:off x="886054" y="7040880"/>
            <a:ext cx="10763402" cy="409650"/>
          </a:xfrm>
          <a:prstGeom prst="rect">
            <a:avLst/>
          </a:prstGeom>
          <a:noFill/>
          <a:ln/>
        </p:spPr>
        <p:txBody>
          <a:bodyPr wrap="square" lIns="0" rIns="0" tIns="0" bIns="0">
            <a:noAutofit/>
          </a:bodyPr>
          <a:lstStyle/>
          <a:p>
            <a:r>
              <a:rPr sz="1000">
                <a:solidFill>
                  <a:srgbClr val="78350F"/>
                </a:solidFill>
                <a:latin typeface="Noto Sans JP"/>
              </a:rPr>
              <a:t> 本章の数値はレポート内の理論計算および、vLLM、TensorRT-LLM、llama.cppの技術文書・議論などの一次情報</a:t>
            </a:r>
            <a:r>
              <a:rPr sz="1000">
                <a:solidFill>
                  <a:srgbClr val="78350F"/>
                </a:solidFill>
                <a:latin typeface="Noto Sans JP"/>
              </a:rPr>
              <a:t>に基づいています。次ページ以降で具体的な数値表を提示します。 </a:t>
            </a:r>
          </a:p>
        </p:txBody>
      </p:sp>
      <p:pic>
        <p:nvPicPr>
          <p:cNvPr id="52" name="Picture 51" descr="image.png"/>
          <p:cNvPicPr>
            <a:picLocks noChangeAspect="1"/>
          </p:cNvPicPr>
          <p:nvPr/>
        </p:nvPicPr>
        <p:blipFill>
          <a:blip r:embed="rId17"/>
          <a:stretch>
            <a:fillRect/>
          </a:stretch>
        </p:blipFill>
        <p:spPr>
          <a:xfrm>
            <a:off x="7706563" y="7051853"/>
            <a:ext cx="790955" cy="200254"/>
          </a:xfrm>
          <a:prstGeom prst="rect">
            <a:avLst/>
          </a:prstGeom>
          <a:ln/>
        </p:spPr>
      </p:pic>
      <p:sp>
        <p:nvSpPr>
          <p:cNvPr id="53" name="TextBox 52"/>
          <p:cNvSpPr txBox="1"/>
          <p:nvPr/>
        </p:nvSpPr>
        <p:spPr>
          <a:xfrm>
            <a:off x="7706563" y="7051853"/>
            <a:ext cx="790955" cy="200254"/>
          </a:xfrm>
          <a:prstGeom prst="rect">
            <a:avLst/>
          </a:prstGeom>
          <a:noFill/>
          <a:ln>
            <a:solidFill>
              <a:srgbClr val="FFFFFF"/>
            </a:solidFill>
          </a:ln>
        </p:spPr>
        <p:txBody>
          <a:bodyPr wrap="square" lIns="0" rIns="0" tIns="0" bIns="0">
            <a:noAutofit/>
          </a:bodyPr>
          <a:lstStyle/>
          <a:p>
            <a:r>
              <a:rPr sz="900">
                <a:solidFill>
                  <a:srgbClr val="6B7280"/>
                </a:solidFill>
                <a:latin typeface="Noto Sans JP"/>
              </a:rPr>
              <a:t>[5–7][88][90]</a:t>
            </a:r>
          </a:p>
        </p:txBody>
      </p:sp>
      <p:sp>
        <p:nvSpPr>
          <p:cNvPr id="54" name="Rectangle 53"/>
          <p:cNvSpPr/>
          <p:nvPr/>
        </p:nvSpPr>
        <p:spPr>
          <a:xfrm>
            <a:off x="0" y="7985454"/>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798545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7994599"/>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7" name="TextBox 56"/>
          <p:cNvSpPr txBox="1"/>
          <p:nvPr/>
        </p:nvSpPr>
        <p:spPr>
          <a:xfrm>
            <a:off x="11385194" y="7994599"/>
            <a:ext cx="428854" cy="171907"/>
          </a:xfrm>
          <a:prstGeom prst="rect">
            <a:avLst/>
          </a:prstGeom>
          <a:noFill/>
          <a:ln/>
        </p:spPr>
        <p:txBody>
          <a:bodyPr wrap="square" lIns="0" rIns="0" tIns="0" bIns="0">
            <a:noAutofit/>
          </a:bodyPr>
          <a:lstStyle/>
          <a:p>
            <a:r>
              <a:rPr sz="900">
                <a:solidFill>
                  <a:srgbClr val="86868B"/>
                </a:solidFill>
                <a:latin typeface="Noto Sans JP"/>
              </a:rPr>
              <a:t>46 /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p:spPr>
      </p:pic>
      <p:sp>
        <p:nvSpPr>
          <p:cNvPr id="7" name="TextBox 6"/>
          <p:cNvSpPr txBox="1"/>
          <p:nvPr/>
        </p:nvSpPr>
        <p:spPr>
          <a:xfrm>
            <a:off x="875994" y="381305"/>
            <a:ext cx="5619902" cy="381305"/>
          </a:xfrm>
          <a:prstGeom prst="rect">
            <a:avLst/>
          </a:prstGeom>
          <a:noFill/>
          <a:ln/>
        </p:spPr>
        <p:txBody>
          <a:bodyPr wrap="square" lIns="0" rIns="0" tIns="0" bIns="0">
            <a:noAutofit/>
          </a:bodyPr>
          <a:lstStyle/>
          <a:p>
            <a:r>
              <a:rPr sz="2100" b="1">
                <a:solidFill>
                  <a:srgbClr val="FFFFFF"/>
                </a:solidFill>
                <a:latin typeface="Noto Sans JP"/>
              </a:rPr>
              <a:t>重みメモリ理論値（完全版表1：0.5B〜14B）</a:t>
            </a:r>
          </a:p>
        </p:txBody>
      </p:sp>
      <p:sp>
        <p:nvSpPr>
          <p:cNvPr id="8" name="TextBox 7"/>
          <p:cNvSpPr txBox="1"/>
          <p:nvPr/>
        </p:nvSpPr>
        <p:spPr>
          <a:xfrm>
            <a:off x="7336230" y="457200"/>
            <a:ext cx="4591201" cy="228600"/>
          </a:xfrm>
          <a:prstGeom prst="rect">
            <a:avLst/>
          </a:prstGeom>
          <a:noFill/>
          <a:ln/>
        </p:spPr>
        <p:txBody>
          <a:bodyPr wrap="square" lIns="0" rIns="0" tIns="0" bIns="0">
            <a:noAutofit/>
          </a:bodyPr>
          <a:lstStyle/>
          <a:p>
            <a:r>
              <a:rPr sz="1200">
                <a:solidFill>
                  <a:srgbClr val="A1A1A6"/>
                </a:solidFill>
                <a:latin typeface="Noto Sans JP"/>
              </a:rPr>
              <a:t>モデル規模別 推奨メモリ容量（+10%オーバーヘッド込み概算）</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705148"/>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86860"/>
        </p:xfrm>
        <a:graphic>
          <a:graphicData uri="http://schemas.openxmlformats.org/drawingml/2006/table">
            <a:tbl>
              <a:tblPr firstRow="1" bandRow="1">
                <a:tableStyleId>{5C22544A-7EE6-4342-B048-85BDC9FD1C3A}</a:tableStyleId>
              </a:tblPr>
              <a:tblGrid>
                <a:gridCol w="2819552"/>
                <a:gridCol w="2819552"/>
                <a:gridCol w="2819552"/>
                <a:gridCol w="2819554"/>
              </a:tblGrid>
              <a:tr h="526694">
                <a:tc>
                  <a:txBody>
                    <a:bodyPr/>
                    <a:lstStyle/>
                    <a:p>
                      <a:r>
                        <a:t>モデル規模 (Parameters)</a:t>
                      </a:r>
                    </a:p>
                  </a:txBody>
                  <a:tcPr/>
                </a:tc>
                <a:tc>
                  <a:txBody>
                    <a:bodyPr/>
                    <a:lstStyle/>
                    <a:p>
                      <a:r>
                        <a:t>4bit (Q4_K_M等)</a:t>
                      </a:r>
                    </a:p>
                    <a:p>
                      <a:r>
                        <a:t>ローカル推奨</a:t>
                      </a:r>
                    </a:p>
                  </a:txBody>
                  <a:tcPr/>
                </a:tc>
                <a:tc>
                  <a:txBody>
                    <a:bodyPr/>
                    <a:lstStyle/>
                    <a:p>
                      <a:r>
                        <a:t>INT8 (8bit)</a:t>
                      </a:r>
                    </a:p>
                    <a:p>
                      <a:r>
                        <a:t>標準的量子化</a:t>
                      </a:r>
                    </a:p>
                  </a:txBody>
                  <a:tcPr/>
                </a:tc>
                <a:tc>
                  <a:txBody>
                    <a:bodyPr/>
                    <a:lstStyle/>
                    <a:p>
                      <a:r>
                        <a:t>FP16 (16bit)</a:t>
                      </a:r>
                    </a:p>
                    <a:p>
                      <a:r>
                        <a:t>元精度/学習時</a:t>
                      </a:r>
                    </a:p>
                  </a:txBody>
                  <a:tcPr/>
                </a:tc>
              </a:tr>
              <a:tr h="526694">
                <a:tc>
                  <a:txBody>
                    <a:bodyPr/>
                    <a:lstStyle/>
                    <a:p>
                      <a:r>
                        <a:t>0.5B (Qwen2.5-0.5B等)</a:t>
                      </a:r>
                    </a:p>
                  </a:txBody>
                  <a:tcPr/>
                </a:tc>
                <a:tc>
                  <a:txBody>
                    <a:bodyPr/>
                    <a:lstStyle/>
                    <a:p>
                      <a:r>
                        <a:t>0.3GiB</a:t>
                      </a:r>
                    </a:p>
                  </a:txBody>
                  <a:tcPr/>
                </a:tc>
                <a:tc>
                  <a:txBody>
                    <a:bodyPr/>
                    <a:lstStyle/>
                    <a:p>
                      <a:r>
                        <a:t>0.5GiB</a:t>
                      </a:r>
                    </a:p>
                  </a:txBody>
                  <a:tcPr/>
                </a:tc>
                <a:tc>
                  <a:txBody>
                    <a:bodyPr/>
                    <a:lstStyle/>
                    <a:p>
                      <a:r>
                        <a:t>1.0GiB</a:t>
                      </a:r>
                    </a:p>
                  </a:txBody>
                  <a:tcPr/>
                </a:tc>
              </a:tr>
              <a:tr h="526694">
                <a:tc>
                  <a:txBody>
                    <a:bodyPr/>
                    <a:lstStyle/>
                    <a:p>
                      <a:r>
                        <a:t>1.5B (Qwen2.5-1.5B等)</a:t>
                      </a:r>
                    </a:p>
                  </a:txBody>
                  <a:tcPr/>
                </a:tc>
                <a:tc>
                  <a:txBody>
                    <a:bodyPr/>
                    <a:lstStyle/>
                    <a:p>
                      <a:r>
                        <a:t>0.8GiB</a:t>
                      </a:r>
                    </a:p>
                  </a:txBody>
                  <a:tcPr/>
                </a:tc>
                <a:tc>
                  <a:txBody>
                    <a:bodyPr/>
                    <a:lstStyle/>
                    <a:p>
                      <a:r>
                        <a:t>1.5GiB</a:t>
                      </a:r>
                    </a:p>
                  </a:txBody>
                  <a:tcPr/>
                </a:tc>
                <a:tc>
                  <a:txBody>
                    <a:bodyPr/>
                    <a:lstStyle/>
                    <a:p>
                      <a:r>
                        <a:t>3.1GiB</a:t>
                      </a:r>
                    </a:p>
                  </a:txBody>
                  <a:tcPr/>
                </a:tc>
              </a:tr>
              <a:tr h="526694">
                <a:tc>
                  <a:txBody>
                    <a:bodyPr/>
                    <a:lstStyle/>
                    <a:p>
                      <a:r>
                        <a:t>3B (Phi-3 Mini等)</a:t>
                      </a:r>
                    </a:p>
                  </a:txBody>
                  <a:tcPr/>
                </a:tc>
                <a:tc>
                  <a:txBody>
                    <a:bodyPr/>
                    <a:lstStyle/>
                    <a:p>
                      <a:r>
                        <a:t>1.5GiB</a:t>
                      </a:r>
                    </a:p>
                  </a:txBody>
                  <a:tcPr/>
                </a:tc>
                <a:tc>
                  <a:txBody>
                    <a:bodyPr/>
                    <a:lstStyle/>
                    <a:p>
                      <a:r>
                        <a:t>3.1GiB</a:t>
                      </a:r>
                    </a:p>
                  </a:txBody>
                  <a:tcPr/>
                </a:tc>
                <a:tc>
                  <a:txBody>
                    <a:bodyPr/>
                    <a:lstStyle/>
                    <a:p>
                      <a:r>
                        <a:t>6.1GiB</a:t>
                      </a:r>
                    </a:p>
                  </a:txBody>
                  <a:tcPr/>
                </a:tc>
              </a:tr>
              <a:tr h="526694">
                <a:tc>
                  <a:txBody>
                    <a:bodyPr/>
                    <a:lstStyle/>
                    <a:p>
                      <a:r>
                        <a:t>7B (Qwen2.5-7B等)</a:t>
                      </a:r>
                    </a:p>
                  </a:txBody>
                  <a:tcPr/>
                </a:tc>
                <a:tc>
                  <a:txBody>
                    <a:bodyPr/>
                    <a:lstStyle/>
                    <a:p>
                      <a:r>
                        <a:t>3.6GiB</a:t>
                      </a:r>
                    </a:p>
                  </a:txBody>
                  <a:tcPr/>
                </a:tc>
                <a:tc>
                  <a:txBody>
                    <a:bodyPr/>
                    <a:lstStyle/>
                    <a:p>
                      <a:r>
                        <a:t>7.2GiB</a:t>
                      </a:r>
                    </a:p>
                  </a:txBody>
                  <a:tcPr/>
                </a:tc>
                <a:tc>
                  <a:txBody>
                    <a:bodyPr/>
                    <a:lstStyle/>
                    <a:p>
                      <a:r>
                        <a:t>14.3GiB</a:t>
                      </a:r>
                    </a:p>
                  </a:txBody>
                  <a:tcPr/>
                </a:tc>
              </a:tr>
              <a:tr h="526694">
                <a:tc>
                  <a:txBody>
                    <a:bodyPr/>
                    <a:lstStyle/>
                    <a:p>
                      <a:r>
                        <a:t>8B (Llama 3.1 8B等)</a:t>
                      </a:r>
                    </a:p>
                  </a:txBody>
                  <a:tcPr/>
                </a:tc>
                <a:tc>
                  <a:txBody>
                    <a:bodyPr/>
                    <a:lstStyle/>
                    <a:p>
                      <a:r>
                        <a:t>4.1GiB</a:t>
                      </a:r>
                    </a:p>
                  </a:txBody>
                  <a:tcPr/>
                </a:tc>
                <a:tc>
                  <a:txBody>
                    <a:bodyPr/>
                    <a:lstStyle/>
                    <a:p>
                      <a:r>
                        <a:t>8.2GiB</a:t>
                      </a:r>
                    </a:p>
                  </a:txBody>
                  <a:tcPr/>
                </a:tc>
                <a:tc>
                  <a:txBody>
                    <a:bodyPr/>
                    <a:lstStyle/>
                    <a:p>
                      <a:r>
                        <a:t>16.4GiB</a:t>
                      </a:r>
                    </a:p>
                  </a:txBody>
                  <a:tcPr/>
                </a:tc>
              </a:tr>
              <a:tr h="526696">
                <a:tc>
                  <a:txBody>
                    <a:bodyPr/>
                    <a:lstStyle/>
                    <a:p>
                      <a:r>
                        <a:t>14B (Qwen2.5-14B/Phi-4等)</a:t>
                      </a:r>
                    </a:p>
                  </a:txBody>
                  <a:tcPr/>
                </a:tc>
                <a:tc>
                  <a:txBody>
                    <a:bodyPr/>
                    <a:lstStyle/>
                    <a:p>
                      <a:r>
                        <a:t>7.2GiB</a:t>
                      </a:r>
                    </a:p>
                  </a:txBody>
                  <a:tcPr/>
                </a:tc>
                <a:tc>
                  <a:txBody>
                    <a:bodyPr/>
                    <a:lstStyle/>
                    <a:p>
                      <a:r>
                        <a:t>14.3GiB</a:t>
                      </a:r>
                    </a:p>
                  </a:txBody>
                  <a:tcPr/>
                </a:tc>
                <a:tc>
                  <a:txBody>
                    <a:bodyPr/>
                    <a:lstStyle/>
                    <a:p>
                      <a:r>
                        <a:t>28.7GiB</a:t>
                      </a:r>
                    </a:p>
                  </a:txBody>
                  <a:tcPr/>
                </a:tc>
              </a:tr>
            </a:tbl>
          </a:graphicData>
        </a:graphic>
      </p:graphicFrame>
      <p:sp>
        <p:nvSpPr>
          <p:cNvPr id="12" name="Rectangle 11"/>
          <p:cNvSpPr/>
          <p:nvPr/>
        </p:nvSpPr>
        <p:spPr>
          <a:xfrm>
            <a:off x="457200" y="5663794"/>
            <a:ext cx="11277295" cy="580643"/>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3794"/>
            <a:ext cx="38404" cy="58064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7296"/>
            <a:ext cx="114300" cy="152705"/>
          </a:xfrm>
          <a:prstGeom prst="rect">
            <a:avLst/>
          </a:prstGeom>
          <a:ln/>
        </p:spPr>
      </p:pic>
      <p:sp>
        <p:nvSpPr>
          <p:cNvPr id="15" name="TextBox 14"/>
          <p:cNvSpPr txBox="1"/>
          <p:nvPr/>
        </p:nvSpPr>
        <p:spPr>
          <a:xfrm>
            <a:off x="875994" y="5778094"/>
            <a:ext cx="10782605" cy="352958"/>
          </a:xfrm>
          <a:prstGeom prst="rect">
            <a:avLst/>
          </a:prstGeom>
          <a:noFill/>
          <a:ln/>
        </p:spPr>
        <p:txBody>
          <a:bodyPr wrap="square" lIns="0" rIns="0" tIns="0" bIns="0">
            <a:noAutofit/>
          </a:bodyPr>
          <a:lstStyle/>
          <a:p>
            <a:r>
              <a:rPr sz="900" b="1">
                <a:solidFill>
                  <a:srgbClr val="5D4037"/>
                </a:solidFill>
                <a:latin typeface="Noto Sans JP"/>
              </a:rPr>
              <a:t>計算根拠：</a:t>
            </a:r>
            <a:r>
              <a:rPr sz="900">
                <a:solidFill>
                  <a:srgbClr val="5D4037"/>
                </a:solidFill>
                <a:latin typeface="Noto Sans JP"/>
              </a:rPr>
              <a:t>上記数値は「パラメータ数 × bit幅 ÷ 8」に、ランタイムオーバヘッドとして約10%を加算した概算理論値です。これらは</a:t>
            </a:r>
            <a:r>
              <a:rPr sz="900" b="1">
                <a:solidFill>
                  <a:srgbClr val="5D4037"/>
                </a:solidFill>
                <a:latin typeface="Noto Sans JP"/>
              </a:rPr>
              <a:t>重みのみ</a:t>
            </a:r>
            <a:r>
              <a:rPr sz="900">
                <a:solidFill>
                  <a:srgbClr val="5D4037"/>
                </a:solidFill>
                <a:latin typeface="Noto Sans JP"/>
              </a:rPr>
              <a:t>のメモリ消費であり、実運用ではこれに加えてKVキャッシュ（コンテキスト長に比例）が必要となります。特に7B〜14Bモデルは、8GB/16GBメモリ環境での動作可否の境界線となるため、4bit量子化の活用が実務上必須となりま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47 | ローカルAI 技術調査レポート 2026</a:t>
            </a:r>
          </a:p>
        </p:txBody>
      </p:sp>
      <p:sp>
        <p:nvSpPr>
          <p:cNvPr id="19" name="TextBox 18"/>
          <p:cNvSpPr txBox="1"/>
          <p:nvPr/>
        </p:nvSpPr>
        <p:spPr>
          <a:xfrm>
            <a:off x="8538667" y="6586423"/>
            <a:ext cx="3794759" cy="162763"/>
          </a:xfrm>
          <a:prstGeom prst="rect">
            <a:avLst/>
          </a:prstGeom>
          <a:noFill/>
          <a:ln/>
        </p:spPr>
        <p:txBody>
          <a:bodyPr wrap="square" lIns="0" rIns="0" tIns="0" bIns="0">
            <a:noAutofit/>
          </a:bodyPr>
          <a:lstStyle/>
          <a:p>
            <a:r>
              <a:rPr sz="900">
                <a:solidFill>
                  <a:srgbClr val="86868B"/>
                </a:solidFill>
                <a:latin typeface="Noto Sans JP"/>
              </a:rPr>
              <a:t>Data Source: Technical Survey Report (Calculated Estimates)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p:spPr>
      </p:pic>
      <p:sp>
        <p:nvSpPr>
          <p:cNvPr id="7" name="TextBox 6"/>
          <p:cNvSpPr txBox="1"/>
          <p:nvPr/>
        </p:nvSpPr>
        <p:spPr>
          <a:xfrm>
            <a:off x="875994" y="381305"/>
            <a:ext cx="5610758" cy="381305"/>
          </a:xfrm>
          <a:prstGeom prst="rect">
            <a:avLst/>
          </a:prstGeom>
          <a:noFill/>
          <a:ln/>
        </p:spPr>
        <p:txBody>
          <a:bodyPr wrap="square" lIns="0" rIns="0" tIns="0" bIns="0">
            <a:noAutofit/>
          </a:bodyPr>
          <a:lstStyle/>
          <a:p>
            <a:r>
              <a:rPr sz="2100" b="1">
                <a:solidFill>
                  <a:srgbClr val="FFFFFF"/>
                </a:solidFill>
                <a:latin typeface="Noto Sans JP"/>
              </a:rPr>
              <a:t>重みメモリ理論値（完全版表2：27B〜70B）</a:t>
            </a:r>
          </a:p>
        </p:txBody>
      </p:sp>
      <p:sp>
        <p:nvSpPr>
          <p:cNvPr id="8" name="TextBox 7"/>
          <p:cNvSpPr txBox="1"/>
          <p:nvPr/>
        </p:nvSpPr>
        <p:spPr>
          <a:xfrm>
            <a:off x="8497519" y="457200"/>
            <a:ext cx="3353105" cy="228600"/>
          </a:xfrm>
          <a:prstGeom prst="rect">
            <a:avLst/>
          </a:prstGeom>
          <a:noFill/>
          <a:ln/>
        </p:spPr>
        <p:txBody>
          <a:bodyPr wrap="square" lIns="0" rIns="0" tIns="0" bIns="0">
            <a:noAutofit/>
          </a:bodyPr>
          <a:lstStyle/>
          <a:p>
            <a:r>
              <a:rPr sz="1200">
                <a:solidFill>
                  <a:srgbClr val="A1A1A6"/>
                </a:solidFill>
                <a:latin typeface="Noto Sans JP"/>
              </a:rPr>
              <a:t>大規模モデル（4bit/INT8/FP16）のメモリ要件</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66674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3648455"/>
        </p:xfrm>
        <a:graphic>
          <a:graphicData uri="http://schemas.openxmlformats.org/drawingml/2006/table">
            <a:tbl>
              <a:tblPr firstRow="1" bandRow="1">
                <a:tableStyleId>{5C22544A-7EE6-4342-B048-85BDC9FD1C3A}</a:tableStyleId>
              </a:tblPr>
              <a:tblGrid>
                <a:gridCol w="2819552"/>
                <a:gridCol w="2819552"/>
                <a:gridCol w="2819552"/>
                <a:gridCol w="2819554"/>
              </a:tblGrid>
              <a:tr h="729691">
                <a:tc>
                  <a:txBody>
                    <a:bodyPr/>
                    <a:lstStyle/>
                    <a:p>
                      <a:r>
                        <a:t>モデル規模</a:t>
                      </a:r>
                    </a:p>
                  </a:txBody>
                  <a:tcPr/>
                </a:tc>
                <a:tc>
                  <a:txBody>
                    <a:bodyPr/>
                    <a:lstStyle/>
                    <a:p>
                      <a:r>
                        <a:t>4bit (Q4) 推奨</a:t>
                      </a:r>
                    </a:p>
                  </a:txBody>
                  <a:tcPr/>
                </a:tc>
                <a:tc>
                  <a:txBody>
                    <a:bodyPr/>
                    <a:lstStyle/>
                    <a:p>
                      <a:r>
                        <a:t>INT8 (Q8)</a:t>
                      </a:r>
                    </a:p>
                  </a:txBody>
                  <a:tcPr/>
                </a:tc>
                <a:tc>
                  <a:txBody>
                    <a:bodyPr/>
                    <a:lstStyle/>
                    <a:p>
                      <a:r>
                        <a:t>FP16 (Half)</a:t>
                      </a:r>
                    </a:p>
                  </a:txBody>
                  <a:tcPr/>
                </a:tc>
              </a:tr>
              <a:tr h="729691">
                <a:tc>
                  <a:txBody>
                    <a:bodyPr/>
                    <a:lstStyle/>
                    <a:p>
                      <a:r>
                        <a:t>27B</a:t>
                      </a:r>
                    </a:p>
                    <a:p>
                      <a:r>
                        <a:t>Gemma 2 27B等</a:t>
                      </a:r>
                    </a:p>
                  </a:txBody>
                  <a:tcPr/>
                </a:tc>
                <a:tc>
                  <a:txBody>
                    <a:bodyPr/>
                    <a:lstStyle/>
                    <a:p>
                      <a:r>
                        <a:t>13.8GiB</a:t>
                      </a:r>
                    </a:p>
                  </a:txBody>
                  <a:tcPr/>
                </a:tc>
                <a:tc>
                  <a:txBody>
                    <a:bodyPr/>
                    <a:lstStyle/>
                    <a:p>
                      <a:r>
                        <a:t>27.7GiB</a:t>
                      </a:r>
                    </a:p>
                  </a:txBody>
                  <a:tcPr/>
                </a:tc>
                <a:tc>
                  <a:txBody>
                    <a:bodyPr/>
                    <a:lstStyle/>
                    <a:p>
                      <a:r>
                        <a:t>55.3GiB</a:t>
                      </a:r>
                    </a:p>
                  </a:txBody>
                  <a:tcPr/>
                </a:tc>
              </a:tr>
              <a:tr h="729691">
                <a:tc>
                  <a:txBody>
                    <a:bodyPr/>
                    <a:lstStyle/>
                    <a:p>
                      <a:r>
                        <a:t>32B</a:t>
                      </a:r>
                    </a:p>
                    <a:p>
                      <a:r>
                        <a:t>Qwen2.5 32B等</a:t>
                      </a:r>
                    </a:p>
                  </a:txBody>
                  <a:tcPr/>
                </a:tc>
                <a:tc>
                  <a:txBody>
                    <a:bodyPr/>
                    <a:lstStyle/>
                    <a:p>
                      <a:r>
                        <a:t>16.4GiB</a:t>
                      </a:r>
                    </a:p>
                  </a:txBody>
                  <a:tcPr/>
                </a:tc>
                <a:tc>
                  <a:txBody>
                    <a:bodyPr/>
                    <a:lstStyle/>
                    <a:p>
                      <a:r>
                        <a:t>32.8GiB</a:t>
                      </a:r>
                    </a:p>
                  </a:txBody>
                  <a:tcPr/>
                </a:tc>
                <a:tc>
                  <a:txBody>
                    <a:bodyPr/>
                    <a:lstStyle/>
                    <a:p>
                      <a:r>
                        <a:t>65.6GiB</a:t>
                      </a:r>
                    </a:p>
                  </a:txBody>
                  <a:tcPr/>
                </a:tc>
              </a:tr>
              <a:tr h="729691">
                <a:tc>
                  <a:txBody>
                    <a:bodyPr/>
                    <a:lstStyle/>
                    <a:p>
                      <a:r>
                        <a:t>34B</a:t>
                      </a:r>
                    </a:p>
                    <a:p>
                      <a:r>
                        <a:t>Yi-34B等</a:t>
                      </a:r>
                    </a:p>
                  </a:txBody>
                  <a:tcPr/>
                </a:tc>
                <a:tc>
                  <a:txBody>
                    <a:bodyPr/>
                    <a:lstStyle/>
                    <a:p>
                      <a:r>
                        <a:t>17.4GiB</a:t>
                      </a:r>
                    </a:p>
                  </a:txBody>
                  <a:tcPr/>
                </a:tc>
                <a:tc>
                  <a:txBody>
                    <a:bodyPr/>
                    <a:lstStyle/>
                    <a:p>
                      <a:r>
                        <a:t>34.8GiB</a:t>
                      </a:r>
                    </a:p>
                  </a:txBody>
                  <a:tcPr/>
                </a:tc>
                <a:tc>
                  <a:txBody>
                    <a:bodyPr/>
                    <a:lstStyle/>
                    <a:p>
                      <a:r>
                        <a:t>69.7GiB</a:t>
                      </a:r>
                    </a:p>
                  </a:txBody>
                  <a:tcPr/>
                </a:tc>
              </a:tr>
              <a:tr h="729691">
                <a:tc>
                  <a:txBody>
                    <a:bodyPr/>
                    <a:lstStyle/>
                    <a:p>
                      <a:r>
                        <a:t>70B</a:t>
                      </a:r>
                    </a:p>
                    <a:p>
                      <a:r>
                        <a:t>Llama 3 70B等</a:t>
                      </a:r>
                    </a:p>
                  </a:txBody>
                  <a:tcPr/>
                </a:tc>
                <a:tc>
                  <a:txBody>
                    <a:bodyPr/>
                    <a:lstStyle/>
                    <a:p>
                      <a:r>
                        <a:t>35.9GiB</a:t>
                      </a:r>
                    </a:p>
                  </a:txBody>
                  <a:tcPr/>
                </a:tc>
                <a:tc>
                  <a:txBody>
                    <a:bodyPr/>
                    <a:lstStyle/>
                    <a:p>
                      <a:r>
                        <a:t>71.7GiB</a:t>
                      </a:r>
                    </a:p>
                  </a:txBody>
                  <a:tcPr/>
                </a:tc>
                <a:tc>
                  <a:txBody>
                    <a:bodyPr/>
                    <a:lstStyle/>
                    <a:p>
                      <a:r>
                        <a:t>143.4GiB</a:t>
                      </a:r>
                    </a:p>
                  </a:txBody>
                  <a:tcPr/>
                </a:tc>
              </a:tr>
            </a:tbl>
          </a:graphicData>
        </a:graphic>
      </p:graphicFrame>
      <p:sp>
        <p:nvSpPr>
          <p:cNvPr id="12" name="Rectangle 11"/>
          <p:cNvSpPr/>
          <p:nvPr/>
        </p:nvSpPr>
        <p:spPr>
          <a:xfrm>
            <a:off x="457200" y="5187391"/>
            <a:ext cx="11277295" cy="1057046"/>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87391"/>
            <a:ext cx="38404" cy="1057046"/>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320894"/>
            <a:ext cx="114300" cy="152705"/>
          </a:xfrm>
          <a:prstGeom prst="rect">
            <a:avLst/>
          </a:prstGeom>
          <a:ln/>
        </p:spPr>
      </p:pic>
      <p:sp>
        <p:nvSpPr>
          <p:cNvPr id="15" name="TextBox 14"/>
          <p:cNvSpPr txBox="1"/>
          <p:nvPr/>
        </p:nvSpPr>
        <p:spPr>
          <a:xfrm>
            <a:off x="875994" y="5415991"/>
            <a:ext cx="10896905" cy="162763"/>
          </a:xfrm>
          <a:prstGeom prst="rect">
            <a:avLst/>
          </a:prstGeom>
          <a:noFill/>
          <a:ln/>
        </p:spPr>
        <p:txBody>
          <a:bodyPr wrap="square" lIns="0" rIns="0" tIns="0" bIns="0">
            <a:noAutofit/>
          </a:bodyPr>
          <a:lstStyle/>
          <a:p>
            <a:r>
              <a:rPr sz="900" b="1">
                <a:solidFill>
                  <a:srgbClr val="5D4037"/>
                </a:solidFill>
                <a:latin typeface="Noto Sans JP"/>
              </a:rPr>
              <a:t>計算前提：</a:t>
            </a:r>
            <a:r>
              <a:rPr sz="900">
                <a:solidFill>
                  <a:srgbClr val="5D4037"/>
                </a:solidFill>
                <a:latin typeface="Noto Sans JP"/>
              </a:rPr>
              <a:t> パラメータ数 × bit幅 ÷ 8 で基本容量を算出後、実運用におけるランタイムオーバヘッド等を考慮して約+10%を加算した概算値です。</a:t>
            </a:r>
          </a:p>
        </p:txBody>
      </p:sp>
      <p:sp>
        <p:nvSpPr>
          <p:cNvPr id="16" name="TextBox 15"/>
          <p:cNvSpPr txBox="1"/>
          <p:nvPr/>
        </p:nvSpPr>
        <p:spPr>
          <a:xfrm>
            <a:off x="875994" y="5690311"/>
            <a:ext cx="10782605" cy="324612"/>
          </a:xfrm>
          <a:prstGeom prst="rect">
            <a:avLst/>
          </a:prstGeom>
          <a:noFill/>
          <a:ln/>
        </p:spPr>
        <p:txBody>
          <a:bodyPr wrap="square" lIns="0" rIns="0" tIns="0" bIns="0">
            <a:noAutofit/>
          </a:bodyPr>
          <a:lstStyle/>
          <a:p>
            <a:r>
              <a:rPr sz="900" b="1">
                <a:solidFill>
                  <a:srgbClr val="5D4037"/>
                </a:solidFill>
                <a:latin typeface="Noto Sans JP"/>
              </a:rPr>
              <a:t>設計含意：</a:t>
            </a:r>
            <a:r>
              <a:rPr sz="900">
                <a:solidFill>
                  <a:srgbClr val="5D4037"/>
                </a:solidFill>
                <a:latin typeface="Noto Sans JP"/>
              </a:rPr>
              <a:t> 30B級モデルの実運用には、4bit量子化でも約16-18GiBのVRAM/統合メモリが必要です。70B級では4bitでも約36GiBを消費するため、Apple Silicon 64GB/96GBや、VRAM 24GB×2枚構成などの上位ハードウェア構成が現実的なラインとなります。</a:t>
            </a:r>
          </a:p>
        </p:txBody>
      </p:sp>
      <p:sp>
        <p:nvSpPr>
          <p:cNvPr id="17" name="Rectangle 16"/>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48 | ローカルAI 技術調査レポート 2026</a:t>
            </a:r>
          </a:p>
        </p:txBody>
      </p:sp>
      <p:sp>
        <p:nvSpPr>
          <p:cNvPr id="20" name="TextBox 19"/>
          <p:cNvSpPr txBox="1"/>
          <p:nvPr/>
        </p:nvSpPr>
        <p:spPr>
          <a:xfrm>
            <a:off x="7359091" y="6586423"/>
            <a:ext cx="5067605" cy="162763"/>
          </a:xfrm>
          <a:prstGeom prst="rect">
            <a:avLst/>
          </a:prstGeom>
          <a:noFill/>
          <a:ln/>
        </p:spPr>
        <p:txBody>
          <a:bodyPr wrap="square" lIns="0" rIns="0" tIns="0" bIns="0">
            <a:noAutofit/>
          </a:bodyPr>
          <a:lstStyle/>
          <a:p>
            <a:r>
              <a:rPr sz="900">
                <a:solidFill>
                  <a:srgbClr val="86868B"/>
                </a:solidFill>
                <a:latin typeface="Noto Sans JP"/>
              </a:rPr>
              <a:t>Source: Technical Survey Report (Calculated Values based on Weight Quantization)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p:spPr>
      </p:pic>
      <p:sp>
        <p:nvSpPr>
          <p:cNvPr id="7" name="TextBox 6"/>
          <p:cNvSpPr txBox="1"/>
          <p:nvPr/>
        </p:nvSpPr>
        <p:spPr>
          <a:xfrm>
            <a:off x="875994" y="381305"/>
            <a:ext cx="4696358" cy="381305"/>
          </a:xfrm>
          <a:prstGeom prst="rect">
            <a:avLst/>
          </a:prstGeom>
          <a:noFill/>
          <a:ln/>
        </p:spPr>
        <p:txBody>
          <a:bodyPr wrap="square" lIns="0" rIns="0" tIns="0" bIns="0">
            <a:noAutofit/>
          </a:bodyPr>
          <a:lstStyle/>
          <a:p>
            <a:r>
              <a:rPr sz="2100" b="1">
                <a:solidFill>
                  <a:srgbClr val="FFFFFF"/>
                </a:solidFill>
                <a:latin typeface="Noto Sans JP"/>
              </a:rPr>
              <a:t>KVキャッシュの支配性（完全版表1）</a:t>
            </a:r>
          </a:p>
        </p:txBody>
      </p:sp>
      <p:sp>
        <p:nvSpPr>
          <p:cNvPr id="8" name="TextBox 7"/>
          <p:cNvSpPr txBox="1"/>
          <p:nvPr/>
        </p:nvSpPr>
        <p:spPr>
          <a:xfrm>
            <a:off x="7425842" y="457200"/>
            <a:ext cx="4429354" cy="228600"/>
          </a:xfrm>
          <a:prstGeom prst="rect">
            <a:avLst/>
          </a:prstGeom>
          <a:noFill/>
          <a:ln/>
        </p:spPr>
        <p:txBody>
          <a:bodyPr wrap="square" lIns="0" rIns="0" tIns="0" bIns="0">
            <a:noAutofit/>
          </a:bodyPr>
          <a:lstStyle/>
          <a:p>
            <a:r>
              <a:rPr sz="1200">
                <a:solidFill>
                  <a:srgbClr val="A1A1A6"/>
                </a:solidFill>
                <a:latin typeface="Noto Sans JP"/>
              </a:rPr>
              <a:t>2k〜32k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01020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2991001"/>
        </p:xfrm>
        <a:graphic>
          <a:graphicData uri="http://schemas.openxmlformats.org/drawingml/2006/table">
            <a:tbl>
              <a:tblPr firstRow="1" bandRow="1">
                <a:tableStyleId>{5C22544A-7EE6-4342-B048-85BDC9FD1C3A}</a:tableStyleId>
              </a:tblPr>
              <a:tblGrid>
                <a:gridCol w="2819552"/>
                <a:gridCol w="2819552"/>
                <a:gridCol w="2819552"/>
                <a:gridCol w="2819554"/>
              </a:tblGrid>
              <a:tr h="747750">
                <a:tc>
                  <a:txBody>
                    <a:bodyPr/>
                    <a:lstStyle/>
                    <a:p>
                      <a:r>
                        <a:t>コンテキスト長</a:t>
                      </a:r>
                    </a:p>
                    <a:p>
                      <a:r>
                        <a:t>(Tokens)</a:t>
                      </a:r>
                    </a:p>
                  </a:txBody>
                  <a:tcPr/>
                </a:tc>
                <a:tc>
                  <a:txBody>
                    <a:bodyPr/>
                    <a:lstStyle/>
                    <a:p>
                      <a:r>
                        <a:t>FP16 (標準)</a:t>
                      </a:r>
                    </a:p>
                    <a:p>
                      <a:r>
                        <a:t>(16-bit)</a:t>
                      </a:r>
                    </a:p>
                  </a:txBody>
                  <a:tcPr/>
                </a:tc>
                <a:tc>
                  <a:txBody>
                    <a:bodyPr/>
                    <a:lstStyle/>
                    <a:p>
                      <a:r>
                        <a:t>FP8 (量子化)</a:t>
                      </a:r>
                    </a:p>
                    <a:p>
                      <a:r>
                        <a:t>(8-bit)</a:t>
                      </a:r>
                    </a:p>
                  </a:txBody>
                  <a:tcPr/>
                </a:tc>
                <a:tc>
                  <a:txBody>
                    <a:bodyPr/>
                    <a:lstStyle/>
                    <a:p>
                      <a:r>
                        <a:t>INT4 (量子化)</a:t>
                      </a:r>
                    </a:p>
                    <a:p>
                      <a:r>
                        <a:t>(4-bit)</a:t>
                      </a:r>
                    </a:p>
                  </a:txBody>
                  <a:tcPr/>
                </a:tc>
              </a:tr>
              <a:tr h="747750">
                <a:tc>
                  <a:txBody>
                    <a:bodyPr/>
                    <a:lstStyle/>
                    <a:p>
                      <a:r>
                        <a:t>2,048 tokens</a:t>
                      </a:r>
                    </a:p>
                    <a:p>
                      <a:r>
                        <a:t>標準的な短文対話</a:t>
                      </a:r>
                    </a:p>
                  </a:txBody>
                  <a:tcPr/>
                </a:tc>
                <a:tc>
                  <a:txBody>
                    <a:bodyPr/>
                    <a:lstStyle/>
                    <a:p>
                      <a:r>
                        <a:t>0.25 GiB</a:t>
                      </a:r>
                    </a:p>
                  </a:txBody>
                  <a:tcPr/>
                </a:tc>
                <a:tc>
                  <a:txBody>
                    <a:bodyPr/>
                    <a:lstStyle/>
                    <a:p>
                      <a:r>
                        <a:t>0.12 GiB</a:t>
                      </a:r>
                    </a:p>
                  </a:txBody>
                  <a:tcPr/>
                </a:tc>
                <a:tc>
                  <a:txBody>
                    <a:bodyPr/>
                    <a:lstStyle/>
                    <a:p>
                      <a:r>
                        <a:t>0.06 GiB</a:t>
                      </a:r>
                    </a:p>
                  </a:txBody>
                  <a:tcPr/>
                </a:tc>
              </a:tr>
              <a:tr h="747750">
                <a:tc>
                  <a:txBody>
                    <a:bodyPr/>
                    <a:lstStyle/>
                    <a:p>
                      <a:r>
                        <a:t>8,192 tokens</a:t>
                      </a:r>
                    </a:p>
                    <a:p>
                      <a:r>
                        <a:t>長文記事・文書要約</a:t>
                      </a:r>
                    </a:p>
                  </a:txBody>
                  <a:tcPr/>
                </a:tc>
                <a:tc>
                  <a:txBody>
                    <a:bodyPr/>
                    <a:lstStyle/>
                    <a:p>
                      <a:r>
                        <a:t>1.00 GiB</a:t>
                      </a:r>
                    </a:p>
                  </a:txBody>
                  <a:tcPr/>
                </a:tc>
                <a:tc>
                  <a:txBody>
                    <a:bodyPr/>
                    <a:lstStyle/>
                    <a:p>
                      <a:r>
                        <a:t>0.50 GiB</a:t>
                      </a:r>
                    </a:p>
                  </a:txBody>
                  <a:tcPr/>
                </a:tc>
                <a:tc>
                  <a:txBody>
                    <a:bodyPr/>
                    <a:lstStyle/>
                    <a:p>
                      <a:r>
                        <a:t>0.25 GiB</a:t>
                      </a:r>
                    </a:p>
                  </a:txBody>
                  <a:tcPr/>
                </a:tc>
              </a:tr>
              <a:tr h="747751">
                <a:tc>
                  <a:txBody>
                    <a:bodyPr/>
                    <a:lstStyle/>
                    <a:p>
                      <a:r>
                        <a:t>32,768 tokens</a:t>
                      </a:r>
                    </a:p>
                    <a:p>
                      <a:r>
                        <a:t>RAG / 全体像把握</a:t>
                      </a:r>
                    </a:p>
                  </a:txBody>
                  <a:tcPr/>
                </a:tc>
                <a:tc>
                  <a:txBody>
                    <a:bodyPr/>
                    <a:lstStyle/>
                    <a:p>
                      <a:r>
                        <a:t>4.00 GiB</a:t>
                      </a:r>
                    </a:p>
                  </a:txBody>
                  <a:tcPr/>
                </a:tc>
                <a:tc>
                  <a:txBody>
                    <a:bodyPr/>
                    <a:lstStyle/>
                    <a:p>
                      <a:r>
                        <a:t>2.00 GiB</a:t>
                      </a:r>
                    </a:p>
                  </a:txBody>
                  <a:tcPr/>
                </a:tc>
                <a:tc>
                  <a:txBody>
                    <a:bodyPr/>
                    <a:lstStyle/>
                    <a:p>
                      <a:r>
                        <a:t>1.00 GiB</a:t>
                      </a:r>
                    </a:p>
                  </a:txBody>
                  <a:tcPr/>
                </a:tc>
              </a:tr>
            </a:tbl>
          </a:graphicData>
        </a:graphic>
      </p:graphicFrame>
      <p:sp>
        <p:nvSpPr>
          <p:cNvPr id="12" name="Rectangle 11"/>
          <p:cNvSpPr/>
          <p:nvPr/>
        </p:nvSpPr>
        <p:spPr>
          <a:xfrm>
            <a:off x="457200" y="5165446"/>
            <a:ext cx="11277295" cy="1076248"/>
          </a:xfrm>
          <a:prstGeom prst="rect">
            <a:avLst/>
          </a:prstGeom>
          <a:solidFill>
            <a:srgbClr val="E3F2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165446"/>
            <a:ext cx="38404" cy="1076248"/>
          </a:xfrm>
          <a:prstGeom prst="rect">
            <a:avLst/>
          </a:prstGeom>
          <a:solidFill>
            <a:srgbClr val="2196F3"/>
          </a:solidFill>
          <a:ln w="1270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85800" y="5346497"/>
            <a:ext cx="152705" cy="152705"/>
          </a:xfrm>
          <a:prstGeom prst="rect">
            <a:avLst/>
          </a:prstGeom>
          <a:ln/>
        </p:spPr>
      </p:pic>
      <p:sp>
        <p:nvSpPr>
          <p:cNvPr id="15" name="TextBox 14"/>
          <p:cNvSpPr txBox="1"/>
          <p:nvPr/>
        </p:nvSpPr>
        <p:spPr>
          <a:xfrm>
            <a:off x="952805" y="5318150"/>
            <a:ext cx="10668305" cy="419710"/>
          </a:xfrm>
          <a:prstGeom prst="rect">
            <a:avLst/>
          </a:prstGeom>
          <a:noFill/>
          <a:ln/>
        </p:spPr>
        <p:txBody>
          <a:bodyPr wrap="square" lIns="0" rIns="0" tIns="0" bIns="0">
            <a:noAutofit/>
          </a:bodyPr>
          <a:lstStyle/>
          <a:p>
            <a:r>
              <a:rPr sz="1000" b="1">
                <a:solidFill>
                  <a:srgbClr val="0D47A1"/>
                </a:solidFill>
                <a:latin typeface="Noto Sans JP"/>
              </a:rPr>
              <a:t>設計含意：</a:t>
            </a:r>
            <a:r>
              <a:rPr sz="1000">
                <a:solidFill>
                  <a:srgbClr val="0D47A1"/>
                </a:solidFill>
                <a:latin typeface="Noto Sans JP"/>
              </a:rPr>
              <a:t>KVキャッシュはコンテキスト長に比例して線形増加します。32kトークンなどの長文コンテキストでは、FP16のままでは4GBものVRAMを消費し、モデル重み（8B 4bitで約4.5GB）と合わせると8GB VRAMの限界を超えます。FP8/INT4量子化やPaged KV Cacheの導入が、長文運用成立の鍵となります</a:t>
            </a:r>
            <a:r>
              <a:rPr sz="1000">
                <a:solidFill>
                  <a:srgbClr val="0D47A1"/>
                </a:solidFill>
                <a:latin typeface="Noto Sans JP"/>
              </a:rPr>
              <a:t>。 </a:t>
            </a:r>
          </a:p>
        </p:txBody>
      </p:sp>
      <p:pic>
        <p:nvPicPr>
          <p:cNvPr id="16" name="Picture 15" descr="image.png"/>
          <p:cNvPicPr>
            <a:picLocks noChangeAspect="1"/>
          </p:cNvPicPr>
          <p:nvPr/>
        </p:nvPicPr>
        <p:blipFill>
          <a:blip r:embed="rId4"/>
          <a:stretch>
            <a:fillRect/>
          </a:stretch>
        </p:blipFill>
        <p:spPr>
          <a:xfrm>
            <a:off x="9085478" y="5508346"/>
            <a:ext cx="286207" cy="161848"/>
          </a:xfrm>
          <a:prstGeom prst="rect">
            <a:avLst/>
          </a:prstGeom>
          <a:ln/>
        </p:spPr>
      </p:pic>
      <p:sp>
        <p:nvSpPr>
          <p:cNvPr id="17" name="TextBox 16"/>
          <p:cNvSpPr txBox="1"/>
          <p:nvPr/>
        </p:nvSpPr>
        <p:spPr>
          <a:xfrm>
            <a:off x="9085478" y="5508346"/>
            <a:ext cx="286207" cy="162763"/>
          </a:xfrm>
          <a:prstGeom prst="rect">
            <a:avLst/>
          </a:prstGeom>
          <a:noFill/>
          <a:ln>
            <a:solidFill>
              <a:srgbClr val="FFFFFF"/>
            </a:solidFill>
          </a:ln>
        </p:spPr>
        <p:txBody>
          <a:bodyPr wrap="square" lIns="0" rIns="0" tIns="0" bIns="0">
            <a:noAutofit/>
          </a:bodyPr>
          <a:lstStyle/>
          <a:p>
            <a:r>
              <a:rPr sz="800">
                <a:solidFill>
                  <a:srgbClr val="86868B"/>
                </a:solidFill>
                <a:latin typeface="Noto Sans JP"/>
              </a:rPr>
              <a:t>[5-7]</a:t>
            </a:r>
          </a:p>
        </p:txBody>
      </p:sp>
      <p:sp>
        <p:nvSpPr>
          <p:cNvPr id="18" name="TextBox 17"/>
          <p:cNvSpPr txBox="1"/>
          <p:nvPr/>
        </p:nvSpPr>
        <p:spPr>
          <a:xfrm>
            <a:off x="838505" y="5810098"/>
            <a:ext cx="10706710" cy="162763"/>
          </a:xfrm>
          <a:prstGeom prst="rect">
            <a:avLst/>
          </a:prstGeom>
          <a:noFill/>
          <a:ln/>
        </p:spPr>
        <p:txBody>
          <a:bodyPr wrap="square" lIns="0" rIns="0" tIns="0" bIns="0">
            <a:noAutofit/>
          </a:bodyPr>
          <a:lstStyle/>
          <a:p>
            <a:r>
              <a:rPr sz="900">
                <a:solidFill>
                  <a:srgbClr val="6E6E73"/>
                </a:solidFill>
                <a:latin typeface="Noto Sans JP"/>
              </a:rPr>
              <a:t>※計算前提: Llama3 8B (n_layer=32, n_head_kv=8, head_dim=128), GQA有効</a:t>
            </a:r>
          </a:p>
        </p:txBody>
      </p:sp>
      <p:sp>
        <p:nvSpPr>
          <p:cNvPr id="19" name="Rectangle 18"/>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49 | ローカルAI 技術調査レポート 2026</a:t>
            </a:r>
          </a:p>
        </p:txBody>
      </p:sp>
      <p:sp>
        <p:nvSpPr>
          <p:cNvPr id="22" name="TextBox 21"/>
          <p:cNvSpPr txBox="1"/>
          <p:nvPr/>
        </p:nvSpPr>
        <p:spPr>
          <a:xfrm>
            <a:off x="9484157" y="6586423"/>
            <a:ext cx="2686506" cy="162763"/>
          </a:xfrm>
          <a:prstGeom prst="rect">
            <a:avLst/>
          </a:prstGeom>
          <a:noFill/>
          <a:ln/>
        </p:spPr>
        <p:txBody>
          <a:bodyPr wrap="square" lIns="0" rIns="0" tIns="0" bIns="0">
            <a:noAutofit/>
          </a:bodyPr>
          <a:lstStyle/>
          <a:p>
            <a:r>
              <a:rPr sz="900">
                <a:solidFill>
                  <a:srgbClr val="86868B"/>
                </a:solidFill>
                <a:latin typeface="Noto Sans JP"/>
              </a:rPr>
              <a:t>Data Source: Technical Survey Report [5-7]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p:spPr>
      </p:pic>
      <p:sp>
        <p:nvSpPr>
          <p:cNvPr id="7" name="TextBox 6"/>
          <p:cNvSpPr txBox="1"/>
          <p:nvPr/>
        </p:nvSpPr>
        <p:spPr>
          <a:xfrm>
            <a:off x="875994" y="381305"/>
            <a:ext cx="5972861" cy="381305"/>
          </a:xfrm>
          <a:prstGeom prst="rect">
            <a:avLst/>
          </a:prstGeom>
          <a:noFill/>
          <a:ln/>
        </p:spPr>
        <p:txBody>
          <a:bodyPr wrap="square" lIns="0" rIns="0" tIns="0" bIns="0">
            <a:noAutofit/>
          </a:bodyPr>
          <a:lstStyle/>
          <a:p>
            <a:r>
              <a:rPr sz="2100" b="1">
                <a:solidFill>
                  <a:srgbClr val="FFFFFF"/>
                </a:solidFill>
                <a:latin typeface="Noto Sans JP"/>
              </a:rPr>
              <a:t>KVキャッシュの支配性（完全版表2：超長文域）</a:t>
            </a:r>
          </a:p>
        </p:txBody>
      </p:sp>
      <p:sp>
        <p:nvSpPr>
          <p:cNvPr id="8" name="TextBox 7"/>
          <p:cNvSpPr txBox="1"/>
          <p:nvPr/>
        </p:nvSpPr>
        <p:spPr>
          <a:xfrm>
            <a:off x="6651345" y="457200"/>
            <a:ext cx="5201106" cy="228600"/>
          </a:xfrm>
          <a:prstGeom prst="rect">
            <a:avLst/>
          </a:prstGeom>
          <a:noFill/>
          <a:ln/>
        </p:spPr>
        <p:txBody>
          <a:bodyPr wrap="square" lIns="0" rIns="0" tIns="0" bIns="0">
            <a:noAutofit/>
          </a:bodyPr>
          <a:lstStyle/>
          <a:p>
            <a:r>
              <a:rPr sz="1200">
                <a:solidFill>
                  <a:srgbClr val="A1A1A6"/>
                </a:solidFill>
                <a:latin typeface="Noto Sans JP"/>
              </a:rPr>
              <a:t>コンテキスト長131k tokensにおけるメモリ消費量比較（Llama3 8B相当）</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1190549"/>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1172261"/>
        </p:xfrm>
        <a:graphic>
          <a:graphicData uri="http://schemas.openxmlformats.org/drawingml/2006/table">
            <a:tbl>
              <a:tblPr firstRow="1" bandRow="1">
                <a:tableStyleId>{5C22544A-7EE6-4342-B048-85BDC9FD1C3A}</a:tableStyleId>
              </a:tblPr>
              <a:tblGrid>
                <a:gridCol w="2819552"/>
                <a:gridCol w="2819552"/>
                <a:gridCol w="2819552"/>
                <a:gridCol w="2819554"/>
              </a:tblGrid>
              <a:tr h="586130">
                <a:tc>
                  <a:txBody>
                    <a:bodyPr/>
                    <a:lstStyle/>
                    <a:p>
                      <a:r>
                        <a:t>コンテキスト長</a:t>
                      </a:r>
                    </a:p>
                  </a:txBody>
                  <a:tcPr/>
                </a:tc>
                <a:tc>
                  <a:txBody>
                    <a:bodyPr/>
                    <a:lstStyle/>
                    <a:p>
                      <a:r>
                        <a:t>FP16 (Base)</a:t>
                      </a:r>
                    </a:p>
                  </a:txBody>
                  <a:tcPr/>
                </a:tc>
                <a:tc>
                  <a:txBody>
                    <a:bodyPr/>
                    <a:lstStyle/>
                    <a:p>
                      <a:r>
                        <a:t>FP8 (Optimized)</a:t>
                      </a:r>
                    </a:p>
                  </a:txBody>
                  <a:tcPr/>
                </a:tc>
                <a:tc>
                  <a:txBody>
                    <a:bodyPr/>
                    <a:lstStyle/>
                    <a:p>
                      <a:r>
                        <a:t>INT4 (Highly Optimized)</a:t>
                      </a:r>
                    </a:p>
                  </a:txBody>
                  <a:tcPr/>
                </a:tc>
              </a:tr>
              <a:tr h="586131">
                <a:tc>
                  <a:txBody>
                    <a:bodyPr/>
                    <a:lstStyle/>
                    <a:p>
                      <a:r>
                        <a:t>131,072 tokens128k context</a:t>
                      </a:r>
                    </a:p>
                  </a:txBody>
                  <a:tcPr/>
                </a:tc>
                <a:tc>
                  <a:txBody>
                    <a:bodyPr/>
                    <a:lstStyle/>
                    <a:p>
                      <a:r>
                        <a:t>16.00 GiBCritical</a:t>
                      </a:r>
                    </a:p>
                    <a:p>
                      <a:r>
                        <a:t>モデル本体(8B)と合わせると32GB超</a:t>
                      </a:r>
                    </a:p>
                  </a:txBody>
                  <a:tcPr/>
                </a:tc>
                <a:tc>
                  <a:txBody>
                    <a:bodyPr/>
                    <a:lstStyle/>
                    <a:p>
                      <a:r>
                        <a:t>8.00 GiBHeavy</a:t>
                      </a:r>
                    </a:p>
                    <a:p>
                      <a:r>
                        <a:t>50%削減（実用域へ）</a:t>
                      </a:r>
                    </a:p>
                  </a:txBody>
                  <a:tcPr/>
                </a:tc>
                <a:tc>
                  <a:txBody>
                    <a:bodyPr/>
                    <a:lstStyle/>
                    <a:p>
                      <a:r>
                        <a:t>4.00 GiBManageable</a:t>
                      </a:r>
                    </a:p>
                    <a:p>
                      <a:r>
                        <a:t>75%削減（余裕あり）</a:t>
                      </a:r>
                    </a:p>
                  </a:txBody>
                  <a:tcPr/>
                </a:tc>
              </a:tr>
            </a:tbl>
          </a:graphicData>
        </a:graphic>
      </p:graphicFrame>
      <p:sp>
        <p:nvSpPr>
          <p:cNvPr id="12" name="Rectangle 11"/>
          <p:cNvSpPr/>
          <p:nvPr/>
        </p:nvSpPr>
        <p:spPr>
          <a:xfrm>
            <a:off x="457200"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215945"/>
            <a:ext cx="5124298" cy="192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194" y="2911450"/>
            <a:ext cx="4995367" cy="229513"/>
          </a:xfrm>
          <a:prstGeom prst="rect">
            <a:avLst/>
          </a:prstGeom>
          <a:noFill/>
          <a:ln>
            <a:solidFill>
              <a:srgbClr val="FFFFFF"/>
            </a:solidFill>
          </a:ln>
        </p:spPr>
        <p:txBody>
          <a:bodyPr wrap="square" lIns="0" rIns="0" tIns="0" bIns="0">
            <a:noAutofit/>
          </a:bodyPr>
          <a:lstStyle/>
          <a:p>
            <a:r>
              <a:rPr sz="1200" b="1">
                <a:solidFill>
                  <a:srgbClr val="1D1D1F"/>
                </a:solidFill>
                <a:latin typeface="Noto Sans JP"/>
              </a:rPr>
              <a:t> メモリ内訳の逆転現象 </a:t>
            </a:r>
          </a:p>
        </p:txBody>
      </p:sp>
      <p:pic>
        <p:nvPicPr>
          <p:cNvPr id="15" name="Picture 14" descr="image.png"/>
          <p:cNvPicPr>
            <a:picLocks noChangeAspect="1"/>
          </p:cNvPicPr>
          <p:nvPr/>
        </p:nvPicPr>
        <p:blipFill>
          <a:blip r:embed="rId3"/>
          <a:stretch>
            <a:fillRect/>
          </a:stretch>
        </p:blipFill>
        <p:spPr>
          <a:xfrm>
            <a:off x="657454" y="2958998"/>
            <a:ext cx="171906" cy="152705"/>
          </a:xfrm>
          <a:prstGeom prst="rect">
            <a:avLst/>
          </a:prstGeom>
          <a:ln/>
        </p:spPr>
      </p:pic>
      <p:sp>
        <p:nvSpPr>
          <p:cNvPr id="16" name="TextBox 15"/>
          <p:cNvSpPr txBox="1"/>
          <p:nvPr/>
        </p:nvSpPr>
        <p:spPr>
          <a:xfrm>
            <a:off x="657454" y="3350362"/>
            <a:ext cx="5201107" cy="857707"/>
          </a:xfrm>
          <a:prstGeom prst="rect">
            <a:avLst/>
          </a:prstGeom>
          <a:noFill/>
          <a:ln/>
        </p:spPr>
        <p:txBody>
          <a:bodyPr wrap="square" lIns="0" rIns="0" tIns="0" bIns="0">
            <a:noAutofit/>
          </a:bodyPr>
          <a:lstStyle/>
          <a:p>
            <a:r>
              <a:rPr sz="1000">
                <a:solidFill>
                  <a:srgbClr val="333333"/>
                </a:solidFill>
                <a:latin typeface="Noto Sans JP"/>
              </a:rPr>
              <a:t> 超長文（128k等）では、</a:t>
            </a:r>
            <a:r>
              <a:rPr sz="1000" b="1">
                <a:solidFill>
                  <a:srgbClr val="333333"/>
                </a:solidFill>
                <a:latin typeface="Noto Sans JP"/>
              </a:rPr>
              <a:t>KVキャッシュのメモリ消費量がモデル本体（重み）のメモリ消費量を上回る</a:t>
            </a:r>
            <a:r>
              <a:rPr sz="1000">
                <a:solidFill>
                  <a:srgbClr val="333333"/>
                </a:solidFill>
                <a:latin typeface="Noto Sans JP"/>
              </a:rPr>
              <a:t>現象が発生します。</a:t>
            </a:r>
          </a:p>
          <a:p>
            <a:r>
              <a:rPr sz="1000">
                <a:solidFill>
                  <a:srgbClr val="333333"/>
                </a:solidFill>
                <a:latin typeface="Noto Sans JP"/>
              </a:rPr>
              <a:t> 例：Llama3 8B（4bit重み≒4.1GiB）に対し、131k tokensのKV（FP16）は16.00GiBに達し、総メモリの約80%をKVが占有します。 </a:t>
            </a:r>
          </a:p>
        </p:txBody>
      </p:sp>
      <p:sp>
        <p:nvSpPr>
          <p:cNvPr id="17" name="Rectangle 16"/>
          <p:cNvSpPr/>
          <p:nvPr/>
        </p:nvSpPr>
        <p:spPr>
          <a:xfrm>
            <a:off x="6210605" y="2712110"/>
            <a:ext cx="5524805" cy="2476195"/>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9944" y="3215945"/>
            <a:ext cx="5124298" cy="19201"/>
          </a:xfrm>
          <a:prstGeom prst="rect">
            <a:avLst/>
          </a:prstGeom>
          <a:solidFill>
            <a:srgbClr val="2E7D32"/>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5683" y="2911450"/>
            <a:ext cx="4995367" cy="229513"/>
          </a:xfrm>
          <a:prstGeom prst="rect">
            <a:avLst/>
          </a:prstGeom>
          <a:noFill/>
          <a:ln>
            <a:solidFill>
              <a:srgbClr val="FFFFFF"/>
            </a:solidFill>
          </a:ln>
        </p:spPr>
        <p:txBody>
          <a:bodyPr wrap="square" lIns="0" rIns="0" tIns="0" bIns="0">
            <a:noAutofit/>
          </a:bodyPr>
          <a:lstStyle/>
          <a:p>
            <a:r>
              <a:rPr sz="1200" b="1">
                <a:solidFill>
                  <a:srgbClr val="1D1D1F"/>
                </a:solidFill>
                <a:latin typeface="Noto Sans JP"/>
              </a:rPr>
              <a:t> 設計による回避策（Design Implications） </a:t>
            </a:r>
          </a:p>
        </p:txBody>
      </p:sp>
      <p:pic>
        <p:nvPicPr>
          <p:cNvPr id="20" name="Picture 19" descr="image.png"/>
          <p:cNvPicPr>
            <a:picLocks noChangeAspect="1"/>
          </p:cNvPicPr>
          <p:nvPr/>
        </p:nvPicPr>
        <p:blipFill>
          <a:blip r:embed="rId4"/>
          <a:stretch>
            <a:fillRect/>
          </a:stretch>
        </p:blipFill>
        <p:spPr>
          <a:xfrm>
            <a:off x="6409944" y="2958998"/>
            <a:ext cx="171907" cy="152705"/>
          </a:xfrm>
          <a:prstGeom prst="rect">
            <a:avLst/>
          </a:prstGeom>
          <a:ln/>
        </p:spPr>
      </p:pic>
      <p:sp>
        <p:nvSpPr>
          <p:cNvPr id="21" name="TextBox 20"/>
          <p:cNvSpPr txBox="1"/>
          <p:nvPr/>
        </p:nvSpPr>
        <p:spPr>
          <a:xfrm>
            <a:off x="6601054" y="3350362"/>
            <a:ext cx="5125211" cy="219455"/>
          </a:xfrm>
          <a:prstGeom prst="rect">
            <a:avLst/>
          </a:prstGeom>
          <a:noFill/>
          <a:ln/>
        </p:spPr>
        <p:txBody>
          <a:bodyPr wrap="square" lIns="0" rIns="0" tIns="0" bIns="0">
            <a:noAutofit/>
          </a:bodyPr>
          <a:lstStyle/>
          <a:p>
            <a:r>
              <a:rPr sz="1000" b="1">
                <a:solidFill>
                  <a:srgbClr val="333333"/>
                </a:solidFill>
                <a:latin typeface="Noto Sans JP"/>
              </a:rPr>
              <a:t>要約・圧縮：</a:t>
            </a:r>
            <a:r>
              <a:rPr sz="1000">
                <a:solidFill>
                  <a:srgbClr val="333333"/>
                </a:solidFill>
                <a:latin typeface="Noto Sans JP"/>
              </a:rPr>
              <a:t>Rolling Summary等でコンテキストを常に一定長以下に保つ。</a:t>
            </a:r>
          </a:p>
        </p:txBody>
      </p:sp>
      <p:sp>
        <p:nvSpPr>
          <p:cNvPr id="22" name="TextBox 21"/>
          <p:cNvSpPr txBox="1"/>
          <p:nvPr/>
        </p:nvSpPr>
        <p:spPr>
          <a:xfrm>
            <a:off x="6601054" y="3563417"/>
            <a:ext cx="5125211" cy="219456"/>
          </a:xfrm>
          <a:prstGeom prst="rect">
            <a:avLst/>
          </a:prstGeom>
          <a:noFill/>
          <a:ln/>
        </p:spPr>
        <p:txBody>
          <a:bodyPr wrap="square" lIns="0" rIns="0" tIns="0" bIns="0">
            <a:noAutofit/>
          </a:bodyPr>
          <a:lstStyle/>
          <a:p>
            <a:r>
              <a:rPr sz="1000" b="1">
                <a:solidFill>
                  <a:srgbClr val="333333"/>
                </a:solidFill>
                <a:latin typeface="Noto Sans JP"/>
              </a:rPr>
              <a:t>分割処理：</a:t>
            </a:r>
            <a:r>
              <a:rPr sz="1000">
                <a:solidFill>
                  <a:srgbClr val="333333"/>
                </a:solidFill>
                <a:latin typeface="Noto Sans JP"/>
              </a:rPr>
              <a:t>長文を一括入力せず、チャンク分割して処理（Map-Reduce等）。</a:t>
            </a:r>
          </a:p>
        </p:txBody>
      </p:sp>
      <p:sp>
        <p:nvSpPr>
          <p:cNvPr id="23" name="TextBox 22"/>
          <p:cNvSpPr txBox="1"/>
          <p:nvPr/>
        </p:nvSpPr>
        <p:spPr>
          <a:xfrm>
            <a:off x="6601054" y="3776472"/>
            <a:ext cx="5125211" cy="219455"/>
          </a:xfrm>
          <a:prstGeom prst="rect">
            <a:avLst/>
          </a:prstGeom>
          <a:noFill/>
          <a:ln/>
        </p:spPr>
        <p:txBody>
          <a:bodyPr wrap="square" lIns="0" rIns="0" tIns="0" bIns="0">
            <a:noAutofit/>
          </a:bodyPr>
          <a:lstStyle/>
          <a:p>
            <a:r>
              <a:rPr sz="1000" b="1">
                <a:solidFill>
                  <a:srgbClr val="333333"/>
                </a:solidFill>
                <a:latin typeface="Noto Sans JP"/>
              </a:rPr>
              <a:t>RAG活用：</a:t>
            </a:r>
            <a:r>
              <a:rPr sz="1000">
                <a:solidFill>
                  <a:srgbClr val="333333"/>
                </a:solidFill>
                <a:latin typeface="Noto Sans JP"/>
              </a:rPr>
              <a:t>全文をコンテキストに入れず、Embedding検索で必要箇所のみ抽出。</a:t>
            </a:r>
          </a:p>
        </p:txBody>
      </p:sp>
      <p:sp>
        <p:nvSpPr>
          <p:cNvPr id="24" name="TextBox 23"/>
          <p:cNvSpPr txBox="1"/>
          <p:nvPr/>
        </p:nvSpPr>
        <p:spPr>
          <a:xfrm>
            <a:off x="6601054" y="3990441"/>
            <a:ext cx="5048401" cy="219455"/>
          </a:xfrm>
          <a:prstGeom prst="rect">
            <a:avLst/>
          </a:prstGeom>
          <a:noFill/>
          <a:ln/>
        </p:spPr>
        <p:txBody>
          <a:bodyPr wrap="square" lIns="0" rIns="0" tIns="0" bIns="0">
            <a:noAutofit/>
          </a:bodyPr>
          <a:lstStyle/>
          <a:p>
            <a:r>
              <a:rPr sz="1000" b="1">
                <a:solidFill>
                  <a:srgbClr val="333333"/>
                </a:solidFill>
                <a:latin typeface="Noto Sans JP"/>
              </a:rPr>
              <a:t>KV量子化：</a:t>
            </a:r>
            <a:r>
              <a:rPr sz="1000">
                <a:solidFill>
                  <a:srgbClr val="333333"/>
                </a:solidFill>
                <a:latin typeface="Noto Sans JP"/>
              </a:rPr>
              <a:t>vLLM等のpaged/quantized KV機能を積極的に利用[5,6]。</a:t>
            </a:r>
          </a:p>
        </p:txBody>
      </p:sp>
      <p:sp>
        <p:nvSpPr>
          <p:cNvPr id="25" name="Rectangle 24"/>
          <p:cNvSpPr/>
          <p:nvPr/>
        </p:nvSpPr>
        <p:spPr>
          <a:xfrm>
            <a:off x="457200" y="5333695"/>
            <a:ext cx="11277295" cy="905255"/>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33695"/>
            <a:ext cx="38404" cy="905255"/>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685800" y="5505602"/>
            <a:ext cx="133502" cy="171906"/>
          </a:xfrm>
          <a:prstGeom prst="rect">
            <a:avLst/>
          </a:prstGeom>
          <a:ln/>
        </p:spPr>
      </p:pic>
      <p:sp>
        <p:nvSpPr>
          <p:cNvPr id="28" name="TextBox 27"/>
          <p:cNvSpPr txBox="1"/>
          <p:nvPr/>
        </p:nvSpPr>
        <p:spPr>
          <a:xfrm>
            <a:off x="972007" y="5486400"/>
            <a:ext cx="10763402" cy="191110"/>
          </a:xfrm>
          <a:prstGeom prst="rect">
            <a:avLst/>
          </a:prstGeom>
          <a:noFill/>
          <a:ln/>
        </p:spPr>
        <p:txBody>
          <a:bodyPr wrap="square" lIns="0" rIns="0" tIns="0" bIns="0">
            <a:noAutofit/>
          </a:bodyPr>
          <a:lstStyle/>
          <a:p>
            <a:r>
              <a:rPr sz="1000" b="1">
                <a:solidFill>
                  <a:srgbClr val="5D4037"/>
                </a:solidFill>
                <a:latin typeface="Noto Sans JP"/>
              </a:rPr>
              <a:t>設計含意：長文対応の現実解</a:t>
            </a:r>
          </a:p>
        </p:txBody>
      </p:sp>
      <p:sp>
        <p:nvSpPr>
          <p:cNvPr id="29" name="TextBox 28"/>
          <p:cNvSpPr txBox="1"/>
          <p:nvPr/>
        </p:nvSpPr>
        <p:spPr>
          <a:xfrm>
            <a:off x="972007" y="5715000"/>
            <a:ext cx="10649102" cy="372160"/>
          </a:xfrm>
          <a:prstGeom prst="rect">
            <a:avLst/>
          </a:prstGeom>
          <a:noFill/>
          <a:ln/>
        </p:spPr>
        <p:txBody>
          <a:bodyPr wrap="square" lIns="0" rIns="0" tIns="0" bIns="0">
            <a:noAutofit/>
          </a:bodyPr>
          <a:lstStyle/>
          <a:p>
            <a:r>
              <a:rPr sz="900">
                <a:solidFill>
                  <a:srgbClr val="5D4037"/>
                </a:solidFill>
                <a:latin typeface="Noto Sans JP"/>
              </a:rPr>
              <a:t>「128k対応」を謳うモデルでも、ローカル環境（特にGPU VRAM制約下）ではKVキャッシュがボトルネックとなり物理的にロードできない場合があります。KV量子化（FP8/INT4）は品質劣化を抑えつつメモリを劇的に削減できるため、長文タスクにおける必須の最適化技術となります。</a:t>
            </a:r>
          </a:p>
        </p:txBody>
      </p:sp>
      <p:sp>
        <p:nvSpPr>
          <p:cNvPr id="30" name="Rectangle 29"/>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50 | ローカルAI 技術調査レポート 2026</a:t>
            </a:r>
          </a:p>
        </p:txBody>
      </p:sp>
      <p:sp>
        <p:nvSpPr>
          <p:cNvPr id="33" name="TextBox 32"/>
          <p:cNvSpPr txBox="1"/>
          <p:nvPr/>
        </p:nvSpPr>
        <p:spPr>
          <a:xfrm>
            <a:off x="7482535" y="6586423"/>
            <a:ext cx="4944161" cy="162763"/>
          </a:xfrm>
          <a:prstGeom prst="rect">
            <a:avLst/>
          </a:prstGeom>
          <a:noFill/>
          <a:ln/>
        </p:spPr>
        <p:txBody>
          <a:bodyPr wrap="square" lIns="0" rIns="0" tIns="0" bIns="0">
            <a:noAutofit/>
          </a:bodyPr>
          <a:lstStyle/>
          <a:p>
            <a:r>
              <a:rPr sz="900">
                <a:solidFill>
                  <a:srgbClr val="86868B"/>
                </a:solidFill>
                <a:latin typeface="Noto Sans JP"/>
              </a:rPr>
              <a:t>Data Source: Technical Survey Report [Calculated based on Llama3 architecture]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2315261" cy="400506"/>
          </a:xfrm>
          <a:prstGeom prst="rect">
            <a:avLst/>
          </a:prstGeom>
          <a:noFill/>
          <a:ln/>
        </p:spPr>
        <p:txBody>
          <a:bodyPr wrap="square" lIns="0" rIns="0" tIns="0" bIns="0">
            <a:noAutofit/>
          </a:bodyPr>
          <a:lstStyle/>
          <a:p>
            <a:r>
              <a:rPr sz="2100" b="1">
                <a:solidFill>
                  <a:srgbClr val="FFFFFF"/>
                </a:solidFill>
                <a:latin typeface="Noto Sans JP"/>
              </a:rPr>
              <a:t>メモリ最適化技術</a:t>
            </a:r>
          </a:p>
        </p:txBody>
      </p:sp>
      <p:sp>
        <p:nvSpPr>
          <p:cNvPr id="7" name="TextBox 6"/>
          <p:cNvSpPr txBox="1"/>
          <p:nvPr/>
        </p:nvSpPr>
        <p:spPr>
          <a:xfrm>
            <a:off x="7718450" y="252374"/>
            <a:ext cx="4538167" cy="257860"/>
          </a:xfrm>
          <a:prstGeom prst="rect">
            <a:avLst/>
          </a:prstGeom>
          <a:noFill/>
          <a:ln/>
        </p:spPr>
        <p:txBody>
          <a:bodyPr wrap="square" lIns="0" rIns="0" tIns="0" bIns="0">
            <a:noAutofit/>
          </a:bodyPr>
          <a:lstStyle/>
          <a:p>
            <a:r>
              <a:rPr sz="1300">
                <a:solidFill>
                  <a:srgbClr val="A1A1A6"/>
                </a:solidFill>
                <a:latin typeface="Noto Sans JP"/>
              </a:rPr>
              <a:t>paged KV／quantized KV／KV reuse／prompt cache</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52551" y="1533449"/>
            <a:ext cx="304495" cy="267005"/>
          </a:xfrm>
          <a:prstGeom prst="rect">
            <a:avLst/>
          </a:prstGeom>
          <a:ln/>
        </p:spPr>
      </p:pic>
      <p:sp>
        <p:nvSpPr>
          <p:cNvPr id="13" name="TextBox 12"/>
          <p:cNvSpPr txBox="1"/>
          <p:nvPr/>
        </p:nvSpPr>
        <p:spPr>
          <a:xfrm>
            <a:off x="1285646" y="1509674"/>
            <a:ext cx="2335378" cy="314554"/>
          </a:xfrm>
          <a:prstGeom prst="rect">
            <a:avLst/>
          </a:prstGeom>
          <a:noFill/>
          <a:ln/>
        </p:spPr>
        <p:txBody>
          <a:bodyPr wrap="square" lIns="0" rIns="0" tIns="0" bIns="0">
            <a:noAutofit/>
          </a:bodyPr>
          <a:lstStyle/>
          <a:p>
            <a:r>
              <a:rPr sz="1600" b="1">
                <a:solidFill>
                  <a:srgbClr val="1D1D1F"/>
                </a:solidFill>
                <a:latin typeface="Noto Sans JP"/>
              </a:rPr>
              <a:t>KV構造と管理の最適化</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p:spPr>
      </p:pic>
      <p:sp>
        <p:nvSpPr>
          <p:cNvPr id="15" name="TextBox 14"/>
          <p:cNvSpPr txBox="1"/>
          <p:nvPr/>
        </p:nvSpPr>
        <p:spPr>
          <a:xfrm>
            <a:off x="942746" y="2295144"/>
            <a:ext cx="2310688" cy="257861"/>
          </a:xfrm>
          <a:prstGeom prst="rect">
            <a:avLst/>
          </a:prstGeom>
          <a:noFill/>
          <a:ln/>
        </p:spPr>
        <p:txBody>
          <a:bodyPr wrap="square" lIns="0" rIns="0" tIns="0" bIns="0">
            <a:noAutofit/>
          </a:bodyPr>
          <a:lstStyle/>
          <a:p>
            <a:r>
              <a:rPr sz="1300" b="1">
                <a:solidFill>
                  <a:srgbClr val="1D1D1F"/>
                </a:solidFill>
                <a:latin typeface="Noto Sans JP"/>
              </a:rPr>
              <a:t>Paged KV Cache (vLLM)</a:t>
            </a:r>
          </a:p>
        </p:txBody>
      </p:sp>
      <p:pic>
        <p:nvPicPr>
          <p:cNvPr id="16" name="Picture 15" descr="image.png"/>
          <p:cNvPicPr>
            <a:picLocks noChangeAspect="1"/>
          </p:cNvPicPr>
          <p:nvPr/>
        </p:nvPicPr>
        <p:blipFill>
          <a:blip r:embed="rId4"/>
          <a:stretch>
            <a:fillRect/>
          </a:stretch>
        </p:blipFill>
        <p:spPr>
          <a:xfrm>
            <a:off x="2958084" y="2318918"/>
            <a:ext cx="267005" cy="209398"/>
          </a:xfrm>
          <a:prstGeom prst="rect">
            <a:avLst/>
          </a:prstGeom>
          <a:ln/>
        </p:spPr>
      </p:pic>
      <p:sp>
        <p:nvSpPr>
          <p:cNvPr id="17" name="TextBox 16"/>
          <p:cNvSpPr txBox="1"/>
          <p:nvPr/>
        </p:nvSpPr>
        <p:spPr>
          <a:xfrm>
            <a:off x="2958084" y="2318918"/>
            <a:ext cx="267005" cy="210312"/>
          </a:xfrm>
          <a:prstGeom prst="rect">
            <a:avLst/>
          </a:prstGeom>
          <a:noFill/>
          <a:ln>
            <a:solidFill>
              <a:srgbClr val="FFFFFF"/>
            </a:solidFill>
          </a:ln>
        </p:spPr>
        <p:txBody>
          <a:bodyPr wrap="square" lIns="0" rIns="0" tIns="0" bIns="0">
            <a:noAutofit/>
          </a:bodyPr>
          <a:lstStyle/>
          <a:p>
            <a:r>
              <a:rPr sz="900">
                <a:solidFill>
                  <a:srgbClr val="6E6E73"/>
                </a:solidFill>
                <a:latin typeface="Noto Sans JP"/>
              </a:rPr>
              <a:t>[5]</a:t>
            </a:r>
          </a:p>
        </p:txBody>
      </p:sp>
      <p:sp>
        <p:nvSpPr>
          <p:cNvPr id="18" name="TextBox 17"/>
          <p:cNvSpPr txBox="1"/>
          <p:nvPr/>
        </p:nvSpPr>
        <p:spPr>
          <a:xfrm>
            <a:off x="942746" y="2609698"/>
            <a:ext cx="4743907" cy="734262"/>
          </a:xfrm>
          <a:prstGeom prst="rect">
            <a:avLst/>
          </a:prstGeom>
          <a:noFill/>
          <a:ln/>
        </p:spPr>
        <p:txBody>
          <a:bodyPr wrap="square" lIns="0" rIns="0" tIns="0" bIns="0">
            <a:noAutofit/>
          </a:bodyPr>
          <a:lstStyle/>
          <a:p>
            <a:r>
              <a:rPr sz="1200">
                <a:solidFill>
                  <a:srgbClr val="424245"/>
                </a:solidFill>
                <a:latin typeface="Noto Sans JP"/>
              </a:rPr>
              <a:t>メモリを固定サイズのページ単位で管理し、断片化を抑制する技術。OSの仮想メモリと同様の仕組みで、GPUメモリの利用効率を劇的に向上させ、スループットを高めます。</a:t>
            </a:r>
          </a:p>
        </p:txBody>
      </p:sp>
      <p:pic>
        <p:nvPicPr>
          <p:cNvPr id="19" name="Picture 18" descr="image.png"/>
          <p:cNvPicPr>
            <a:picLocks noChangeAspect="1"/>
          </p:cNvPicPr>
          <p:nvPr/>
        </p:nvPicPr>
        <p:blipFill>
          <a:blip r:embed="rId5"/>
          <a:stretch>
            <a:fillRect/>
          </a:stretch>
        </p:blipFill>
        <p:spPr>
          <a:xfrm>
            <a:off x="676656" y="3608222"/>
            <a:ext cx="152705" cy="152705"/>
          </a:xfrm>
          <a:prstGeom prst="rect">
            <a:avLst/>
          </a:prstGeom>
          <a:ln/>
        </p:spPr>
      </p:pic>
      <p:sp>
        <p:nvSpPr>
          <p:cNvPr id="20" name="TextBox 19"/>
          <p:cNvSpPr txBox="1"/>
          <p:nvPr/>
        </p:nvSpPr>
        <p:spPr>
          <a:xfrm>
            <a:off x="942746" y="3569817"/>
            <a:ext cx="1981505" cy="257860"/>
          </a:xfrm>
          <a:prstGeom prst="rect">
            <a:avLst/>
          </a:prstGeom>
          <a:noFill/>
          <a:ln/>
        </p:spPr>
        <p:txBody>
          <a:bodyPr wrap="square" lIns="0" rIns="0" tIns="0" bIns="0">
            <a:noAutofit/>
          </a:bodyPr>
          <a:lstStyle/>
          <a:p>
            <a:r>
              <a:rPr sz="1300" b="1">
                <a:solidFill>
                  <a:srgbClr val="1D1D1F"/>
                </a:solidFill>
                <a:latin typeface="Noto Sans JP"/>
              </a:rPr>
              <a:t>Quantized KV Cache</a:t>
            </a:r>
          </a:p>
        </p:txBody>
      </p:sp>
      <p:pic>
        <p:nvPicPr>
          <p:cNvPr id="21" name="Picture 20" descr="image.png"/>
          <p:cNvPicPr>
            <a:picLocks noChangeAspect="1"/>
          </p:cNvPicPr>
          <p:nvPr/>
        </p:nvPicPr>
        <p:blipFill>
          <a:blip r:embed="rId4"/>
          <a:stretch>
            <a:fillRect/>
          </a:stretch>
        </p:blipFill>
        <p:spPr>
          <a:xfrm>
            <a:off x="2702052" y="3593591"/>
            <a:ext cx="267005" cy="209398"/>
          </a:xfrm>
          <a:prstGeom prst="rect">
            <a:avLst/>
          </a:prstGeom>
          <a:ln/>
        </p:spPr>
      </p:pic>
      <p:sp>
        <p:nvSpPr>
          <p:cNvPr id="22" name="TextBox 21"/>
          <p:cNvSpPr txBox="1"/>
          <p:nvPr/>
        </p:nvSpPr>
        <p:spPr>
          <a:xfrm>
            <a:off x="2702052" y="3593591"/>
            <a:ext cx="267005" cy="210312"/>
          </a:xfrm>
          <a:prstGeom prst="rect">
            <a:avLst/>
          </a:prstGeom>
          <a:noFill/>
          <a:ln>
            <a:solidFill>
              <a:srgbClr val="FFFFFF"/>
            </a:solidFill>
          </a:ln>
        </p:spPr>
        <p:txBody>
          <a:bodyPr wrap="square" lIns="0" rIns="0" tIns="0" bIns="0">
            <a:noAutofit/>
          </a:bodyPr>
          <a:lstStyle/>
          <a:p>
            <a:r>
              <a:rPr sz="900">
                <a:solidFill>
                  <a:srgbClr val="6E6E73"/>
                </a:solidFill>
                <a:latin typeface="Noto Sans JP"/>
              </a:rPr>
              <a:t>[6]</a:t>
            </a:r>
          </a:p>
        </p:txBody>
      </p:sp>
      <p:sp>
        <p:nvSpPr>
          <p:cNvPr id="23" name="TextBox 22"/>
          <p:cNvSpPr txBox="1"/>
          <p:nvPr/>
        </p:nvSpPr>
        <p:spPr>
          <a:xfrm>
            <a:off x="942746" y="3884371"/>
            <a:ext cx="4743907" cy="734263"/>
          </a:xfrm>
          <a:prstGeom prst="rect">
            <a:avLst/>
          </a:prstGeom>
          <a:noFill/>
          <a:ln/>
        </p:spPr>
        <p:txBody>
          <a:bodyPr wrap="square" lIns="0" rIns="0" tIns="0" bIns="0">
            <a:noAutofit/>
          </a:bodyPr>
          <a:lstStyle/>
          <a:p>
            <a:r>
              <a:rPr sz="1200">
                <a:solidFill>
                  <a:srgbClr val="424245"/>
                </a:solidFill>
                <a:latin typeface="Noto Sans JP"/>
              </a:rPr>
              <a:t>KVキャッシュを標準のFP16からFP8やINT4へ量子化。精度劣化を最小限に抑えつつメモリフットプリントを50〜75%削減し、より長いコンテキストや大きなバッチサイズでの推論を可能にします。</a:t>
            </a:r>
          </a:p>
        </p:txBody>
      </p:sp>
      <p:sp>
        <p:nvSpPr>
          <p:cNvPr id="24" name="Rectangle 23"/>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1851" y="1438351"/>
            <a:ext cx="457200" cy="457200"/>
          </a:xfrm>
          <a:prstGeom prst="rect">
            <a:avLst/>
          </a:prstGeom>
          <a:solidFill>
            <a:srgbClr val="E8F5E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6676949" y="1533449"/>
            <a:ext cx="267005" cy="267005"/>
          </a:xfrm>
          <a:prstGeom prst="rect">
            <a:avLst/>
          </a:prstGeom>
          <a:ln/>
        </p:spPr>
      </p:pic>
      <p:sp>
        <p:nvSpPr>
          <p:cNvPr id="28" name="TextBox 27"/>
          <p:cNvSpPr txBox="1"/>
          <p:nvPr/>
        </p:nvSpPr>
        <p:spPr>
          <a:xfrm>
            <a:off x="7191756" y="1509674"/>
            <a:ext cx="2489911" cy="314554"/>
          </a:xfrm>
          <a:prstGeom prst="rect">
            <a:avLst/>
          </a:prstGeom>
          <a:noFill/>
          <a:ln/>
        </p:spPr>
        <p:txBody>
          <a:bodyPr wrap="square" lIns="0" rIns="0" tIns="0" bIns="0">
            <a:noAutofit/>
          </a:bodyPr>
          <a:lstStyle/>
          <a:p>
            <a:r>
              <a:rPr sz="1600" b="1">
                <a:solidFill>
                  <a:srgbClr val="1D1D1F"/>
                </a:solidFill>
                <a:latin typeface="Noto Sans JP"/>
              </a:rPr>
              <a:t>再利用とレイテンシ短縮</a:t>
            </a:r>
          </a:p>
        </p:txBody>
      </p:sp>
      <p:pic>
        <p:nvPicPr>
          <p:cNvPr id="29" name="Picture 28" descr="image.png"/>
          <p:cNvPicPr>
            <a:picLocks noChangeAspect="1"/>
          </p:cNvPicPr>
          <p:nvPr/>
        </p:nvPicPr>
        <p:blipFill>
          <a:blip r:embed="rId7"/>
          <a:stretch>
            <a:fillRect/>
          </a:stretch>
        </p:blipFill>
        <p:spPr>
          <a:xfrm>
            <a:off x="6581851" y="2333549"/>
            <a:ext cx="152705" cy="152705"/>
          </a:xfrm>
          <a:prstGeom prst="rect">
            <a:avLst/>
          </a:prstGeom>
          <a:ln/>
        </p:spPr>
      </p:pic>
      <p:sp>
        <p:nvSpPr>
          <p:cNvPr id="30" name="TextBox 29"/>
          <p:cNvSpPr txBox="1"/>
          <p:nvPr/>
        </p:nvSpPr>
        <p:spPr>
          <a:xfrm>
            <a:off x="6848856" y="2295144"/>
            <a:ext cx="3185769" cy="257861"/>
          </a:xfrm>
          <a:prstGeom prst="rect">
            <a:avLst/>
          </a:prstGeom>
          <a:noFill/>
          <a:ln/>
        </p:spPr>
        <p:txBody>
          <a:bodyPr wrap="square" lIns="0" rIns="0" tIns="0" bIns="0">
            <a:noAutofit/>
          </a:bodyPr>
          <a:lstStyle/>
          <a:p>
            <a:r>
              <a:rPr sz="1300" b="1">
                <a:solidFill>
                  <a:srgbClr val="1D1D1F"/>
                </a:solidFill>
                <a:latin typeface="Noto Sans JP"/>
              </a:rPr>
              <a:t>KV Cache Reuse (TensorRT-LLM)</a:t>
            </a:r>
          </a:p>
        </p:txBody>
      </p:sp>
      <p:pic>
        <p:nvPicPr>
          <p:cNvPr id="31" name="Picture 30" descr="image.png"/>
          <p:cNvPicPr>
            <a:picLocks noChangeAspect="1"/>
          </p:cNvPicPr>
          <p:nvPr/>
        </p:nvPicPr>
        <p:blipFill>
          <a:blip r:embed="rId4"/>
          <a:stretch>
            <a:fillRect/>
          </a:stretch>
        </p:blipFill>
        <p:spPr>
          <a:xfrm>
            <a:off x="9593885" y="2318918"/>
            <a:ext cx="267005" cy="209398"/>
          </a:xfrm>
          <a:prstGeom prst="rect">
            <a:avLst/>
          </a:prstGeom>
          <a:ln/>
        </p:spPr>
      </p:pic>
      <p:sp>
        <p:nvSpPr>
          <p:cNvPr id="32" name="TextBox 31"/>
          <p:cNvSpPr txBox="1"/>
          <p:nvPr/>
        </p:nvSpPr>
        <p:spPr>
          <a:xfrm>
            <a:off x="9593885" y="2318918"/>
            <a:ext cx="267005" cy="210312"/>
          </a:xfrm>
          <a:prstGeom prst="rect">
            <a:avLst/>
          </a:prstGeom>
          <a:noFill/>
          <a:ln>
            <a:solidFill>
              <a:srgbClr val="FFFFFF"/>
            </a:solidFill>
          </a:ln>
        </p:spPr>
        <p:txBody>
          <a:bodyPr wrap="square" lIns="0" rIns="0" tIns="0" bIns="0">
            <a:noAutofit/>
          </a:bodyPr>
          <a:lstStyle/>
          <a:p>
            <a:r>
              <a:rPr sz="900">
                <a:solidFill>
                  <a:srgbClr val="6E6E73"/>
                </a:solidFill>
                <a:latin typeface="Noto Sans JP"/>
              </a:rPr>
              <a:t>[7]</a:t>
            </a:r>
          </a:p>
        </p:txBody>
      </p:sp>
      <p:sp>
        <p:nvSpPr>
          <p:cNvPr id="33" name="TextBox 32"/>
          <p:cNvSpPr txBox="1"/>
          <p:nvPr/>
        </p:nvSpPr>
        <p:spPr>
          <a:xfrm>
            <a:off x="6848856" y="2609698"/>
            <a:ext cx="4743907" cy="734262"/>
          </a:xfrm>
          <a:prstGeom prst="rect">
            <a:avLst/>
          </a:prstGeom>
          <a:noFill/>
          <a:ln/>
        </p:spPr>
        <p:txBody>
          <a:bodyPr wrap="square" lIns="0" rIns="0" tIns="0" bIns="0">
            <a:noAutofit/>
          </a:bodyPr>
          <a:lstStyle/>
          <a:p>
            <a:r>
              <a:rPr sz="1200">
                <a:solidFill>
                  <a:srgbClr val="424245"/>
                </a:solidFill>
                <a:latin typeface="Noto Sans JP"/>
              </a:rPr>
              <a:t>共通のプレフィックス（システムプロンプトやマルチターン対話の履歴）に対するKVキャッシュを計算・保存。次回推論時に再利用することで、計算コストとメモリ転送時間を節約します。</a:t>
            </a:r>
          </a:p>
        </p:txBody>
      </p:sp>
      <p:pic>
        <p:nvPicPr>
          <p:cNvPr id="34" name="Picture 33" descr="image.png"/>
          <p:cNvPicPr>
            <a:picLocks noChangeAspect="1"/>
          </p:cNvPicPr>
          <p:nvPr/>
        </p:nvPicPr>
        <p:blipFill>
          <a:blip r:embed="rId8"/>
          <a:stretch>
            <a:fillRect/>
          </a:stretch>
        </p:blipFill>
        <p:spPr>
          <a:xfrm>
            <a:off x="6581851" y="3608222"/>
            <a:ext cx="133502" cy="152705"/>
          </a:xfrm>
          <a:prstGeom prst="rect">
            <a:avLst/>
          </a:prstGeom>
          <a:ln/>
        </p:spPr>
      </p:pic>
      <p:sp>
        <p:nvSpPr>
          <p:cNvPr id="35" name="TextBox 34"/>
          <p:cNvSpPr txBox="1"/>
          <p:nvPr/>
        </p:nvSpPr>
        <p:spPr>
          <a:xfrm>
            <a:off x="6829654" y="3569817"/>
            <a:ext cx="2618841" cy="257860"/>
          </a:xfrm>
          <a:prstGeom prst="rect">
            <a:avLst/>
          </a:prstGeom>
          <a:noFill/>
          <a:ln/>
        </p:spPr>
        <p:txBody>
          <a:bodyPr wrap="square" lIns="0" rIns="0" tIns="0" bIns="0">
            <a:noAutofit/>
          </a:bodyPr>
          <a:lstStyle/>
          <a:p>
            <a:r>
              <a:rPr sz="1300" b="1">
                <a:solidFill>
                  <a:srgbClr val="1D1D1F"/>
                </a:solidFill>
                <a:latin typeface="Noto Sans JP"/>
              </a:rPr>
              <a:t>Prompt Cache (llama.cpp)</a:t>
            </a:r>
          </a:p>
        </p:txBody>
      </p:sp>
      <p:pic>
        <p:nvPicPr>
          <p:cNvPr id="36" name="Picture 35" descr="image.png"/>
          <p:cNvPicPr>
            <a:picLocks noChangeAspect="1"/>
          </p:cNvPicPr>
          <p:nvPr/>
        </p:nvPicPr>
        <p:blipFill>
          <a:blip r:embed="rId9"/>
          <a:stretch>
            <a:fillRect/>
          </a:stretch>
        </p:blipFill>
        <p:spPr>
          <a:xfrm>
            <a:off x="9101938" y="3593591"/>
            <a:ext cx="495605" cy="209398"/>
          </a:xfrm>
          <a:prstGeom prst="rect">
            <a:avLst/>
          </a:prstGeom>
          <a:ln/>
        </p:spPr>
      </p:pic>
      <p:sp>
        <p:nvSpPr>
          <p:cNvPr id="37" name="TextBox 36"/>
          <p:cNvSpPr txBox="1"/>
          <p:nvPr/>
        </p:nvSpPr>
        <p:spPr>
          <a:xfrm>
            <a:off x="9101938" y="3593591"/>
            <a:ext cx="495605" cy="210312"/>
          </a:xfrm>
          <a:prstGeom prst="rect">
            <a:avLst/>
          </a:prstGeom>
          <a:noFill/>
          <a:ln>
            <a:solidFill>
              <a:srgbClr val="FFFFFF"/>
            </a:solidFill>
          </a:ln>
        </p:spPr>
        <p:txBody>
          <a:bodyPr wrap="square" lIns="0" rIns="0" tIns="0" bIns="0">
            <a:noAutofit/>
          </a:bodyPr>
          <a:lstStyle/>
          <a:p>
            <a:r>
              <a:rPr sz="900">
                <a:solidFill>
                  <a:srgbClr val="6E6E73"/>
                </a:solidFill>
                <a:latin typeface="Noto Sans JP"/>
              </a:rPr>
              <a:t>[88,90]</a:t>
            </a:r>
          </a:p>
        </p:txBody>
      </p:sp>
      <p:sp>
        <p:nvSpPr>
          <p:cNvPr id="38" name="TextBox 37"/>
          <p:cNvSpPr txBox="1"/>
          <p:nvPr/>
        </p:nvSpPr>
        <p:spPr>
          <a:xfrm>
            <a:off x="6829654" y="3884371"/>
            <a:ext cx="4763110" cy="790955"/>
          </a:xfrm>
          <a:prstGeom prst="rect">
            <a:avLst/>
          </a:prstGeom>
          <a:noFill/>
          <a:ln/>
        </p:spPr>
        <p:txBody>
          <a:bodyPr wrap="square" lIns="0" rIns="0" tIns="0" bIns="0">
            <a:noAutofit/>
          </a:bodyPr>
          <a:lstStyle/>
          <a:p>
            <a:r>
              <a:rPr sz="1200">
                <a:solidFill>
                  <a:srgbClr val="424245"/>
                </a:solidFill>
                <a:latin typeface="Noto Sans JP"/>
              </a:rPr>
              <a:t> 固定の長いシステムプロンプトやドキュメントをキャッシュ（</a:t>
            </a:r>
            <a:r>
              <a:rPr sz="1200">
                <a:solidFill>
                  <a:srgbClr val="424245"/>
                </a:solidFill>
                <a:latin typeface="ui-monospace"/>
              </a:rPr>
              <a:t>--cache-prompt</a:t>
            </a:r>
            <a:r>
              <a:rPr sz="1200">
                <a:solidFill>
                  <a:srgbClr val="424245"/>
                </a:solidFill>
                <a:latin typeface="Noto Sans JP"/>
              </a:rPr>
              <a:t>）。アプリ再起動後やセッション間での初回ロード時TTFT（Time To First Token）を大幅に短縮します。 </a:t>
            </a:r>
          </a:p>
        </p:txBody>
      </p:sp>
      <p:sp>
        <p:nvSpPr>
          <p:cNvPr id="39" name="Rectangle 38"/>
          <p:cNvSpPr/>
          <p:nvPr/>
        </p:nvSpPr>
        <p:spPr>
          <a:xfrm>
            <a:off x="6581851" y="4914900"/>
            <a:ext cx="4934102" cy="886053"/>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1851" y="4914900"/>
            <a:ext cx="38405" cy="886053"/>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3954" y="5057546"/>
            <a:ext cx="4505248" cy="600760"/>
          </a:xfrm>
          <a:prstGeom prst="rect">
            <a:avLst/>
          </a:prstGeom>
          <a:noFill/>
          <a:ln/>
        </p:spPr>
        <p:txBody>
          <a:bodyPr wrap="square" lIns="0" rIns="0" tIns="0" bIns="0">
            <a:noAutofit/>
          </a:bodyPr>
          <a:lstStyle/>
          <a:p>
            <a:r>
              <a:rPr sz="1000" b="1">
                <a:solidFill>
                  <a:srgbClr val="5D4037"/>
                </a:solidFill>
                <a:latin typeface="Noto Sans JP"/>
              </a:rPr>
              <a:t>Key Takeaways:</a:t>
            </a:r>
            <a:r>
              <a:rPr sz="1000">
                <a:solidFill>
                  <a:srgbClr val="5D4037"/>
                </a:solidFill>
                <a:latin typeface="Noto Sans JP"/>
              </a:rPr>
              <a:t> KVキャッシュ最適化とプロンプト再利用を組み合わせることで、メモリ制約下での「長文コンテキスト」と「高速な応答性」を両立します。 </a:t>
            </a:r>
          </a:p>
        </p:txBody>
      </p:sp>
      <p:pic>
        <p:nvPicPr>
          <p:cNvPr id="42" name="Picture 41" descr="image.png"/>
          <p:cNvPicPr>
            <a:picLocks noChangeAspect="1"/>
          </p:cNvPicPr>
          <p:nvPr/>
        </p:nvPicPr>
        <p:blipFill>
          <a:blip r:embed="rId10"/>
          <a:stretch>
            <a:fillRect/>
          </a:stretch>
        </p:blipFill>
        <p:spPr>
          <a:xfrm>
            <a:off x="6762902" y="5093208"/>
            <a:ext cx="105155" cy="133501"/>
          </a:xfrm>
          <a:prstGeom prst="rect">
            <a:avLst/>
          </a:prstGeom>
          <a:ln/>
        </p:spPr>
      </p:pic>
      <p:pic>
        <p:nvPicPr>
          <p:cNvPr id="43" name="Picture 42" descr="image.png"/>
          <p:cNvPicPr>
            <a:picLocks noChangeAspect="1"/>
          </p:cNvPicPr>
          <p:nvPr/>
        </p:nvPicPr>
        <p:blipFill>
          <a:blip r:embed="rId11"/>
          <a:stretch>
            <a:fillRect/>
          </a:stretch>
        </p:blipFill>
        <p:spPr>
          <a:xfrm>
            <a:off x="0" y="6476695"/>
            <a:ext cx="12191695" cy="381305"/>
          </a:xfrm>
          <a:prstGeom prst="rect">
            <a:avLst/>
          </a:prstGeom>
          <a:ln/>
        </p:spPr>
      </p:pic>
      <p:sp>
        <p:nvSpPr>
          <p:cNvPr id="44" name="TextBox 43"/>
          <p:cNvSpPr txBox="1"/>
          <p:nvPr/>
        </p:nvSpPr>
        <p:spPr>
          <a:xfrm>
            <a:off x="0" y="6476695"/>
            <a:ext cx="12192610" cy="381305"/>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51 | ローカルAI 技術調査レポート</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342900" cy="304495"/>
          </a:xfrm>
          <a:prstGeom prst="rect">
            <a:avLst/>
          </a:prstGeom>
          <a:ln/>
        </p:spPr>
      </p:pic>
      <p:sp>
        <p:nvSpPr>
          <p:cNvPr id="8" name="TextBox 7"/>
          <p:cNvSpPr txBox="1"/>
          <p:nvPr/>
        </p:nvSpPr>
        <p:spPr>
          <a:xfrm>
            <a:off x="952805" y="243230"/>
            <a:ext cx="4448556" cy="457200"/>
          </a:xfrm>
          <a:prstGeom prst="rect">
            <a:avLst/>
          </a:prstGeom>
          <a:noFill/>
          <a:ln/>
        </p:spPr>
        <p:txBody>
          <a:bodyPr wrap="square" lIns="0" rIns="0" tIns="0" bIns="0">
            <a:noAutofit/>
          </a:bodyPr>
          <a:lstStyle/>
          <a:p>
            <a:r>
              <a:rPr sz="2400" b="1">
                <a:solidFill>
                  <a:srgbClr val="1D1D1F"/>
                </a:solidFill>
                <a:latin typeface="Noto Sans JP"/>
              </a:rPr>
              <a:t>Tier定義と現実ライン（概要）</a:t>
            </a:r>
          </a:p>
        </p:txBody>
      </p:sp>
      <p:sp>
        <p:nvSpPr>
          <p:cNvPr id="9" name="TextBox 8"/>
          <p:cNvSpPr txBox="1"/>
          <p:nvPr/>
        </p:nvSpPr>
        <p:spPr>
          <a:xfrm>
            <a:off x="9163202" y="342900"/>
            <a:ext cx="2762402" cy="257861"/>
          </a:xfrm>
          <a:prstGeom prst="rect">
            <a:avLst/>
          </a:prstGeom>
          <a:noFill/>
          <a:ln/>
        </p:spPr>
        <p:txBody>
          <a:bodyPr wrap="square" lIns="0" rIns="0" tIns="0" bIns="0">
            <a:noAutofit/>
          </a:bodyPr>
          <a:lstStyle/>
          <a:p>
            <a:r>
              <a:rPr sz="1300">
                <a:solidFill>
                  <a:srgbClr val="86868B"/>
                </a:solidFill>
                <a:latin typeface="Noto Sans JP"/>
              </a:rPr>
              <a:t>ハードウェア別の実用ライン定義</a:t>
            </a:r>
          </a:p>
        </p:txBody>
      </p:sp>
      <p:pic>
        <p:nvPicPr>
          <p:cNvPr id="10" name="Picture 9" descr="image.png"/>
          <p:cNvPicPr>
            <a:picLocks noChangeAspect="1"/>
          </p:cNvPicPr>
          <p:nvPr/>
        </p:nvPicPr>
        <p:blipFill>
          <a:blip r:embed="rId3"/>
          <a:stretch>
            <a:fillRect/>
          </a:stretch>
        </p:blipFill>
        <p:spPr>
          <a:xfrm>
            <a:off x="457200" y="1257300"/>
            <a:ext cx="11277295" cy="967434"/>
          </a:xfrm>
          <a:prstGeom prst="rect">
            <a:avLst/>
          </a:prstGeom>
          <a:ln/>
        </p:spPr>
      </p:pic>
      <p:sp>
        <p:nvSpPr>
          <p:cNvPr id="11" name="TextBox 10"/>
          <p:cNvSpPr txBox="1"/>
          <p:nvPr/>
        </p:nvSpPr>
        <p:spPr>
          <a:xfrm>
            <a:off x="743407" y="1447495"/>
            <a:ext cx="10842041" cy="590701"/>
          </a:xfrm>
          <a:prstGeom prst="rect">
            <a:avLst/>
          </a:prstGeom>
          <a:noFill/>
          <a:ln/>
        </p:spPr>
        <p:txBody>
          <a:bodyPr wrap="square" lIns="0" rIns="0" tIns="0" bIns="0">
            <a:noAutofit/>
          </a:bodyPr>
          <a:lstStyle/>
          <a:p>
            <a:r>
              <a:rPr sz="1600" b="1">
                <a:solidFill>
                  <a:srgbClr val="1D1D1F"/>
                </a:solidFill>
                <a:latin typeface="Noto Sans JP"/>
              </a:rPr>
              <a:t> 結論：Tierは「重み（4bit）＋KV（4k〜8k）＋オーバーヘッド」を前提に定義。</a:t>
            </a:r>
          </a:p>
          <a:p>
            <a:r>
              <a:rPr sz="1600" b="1">
                <a:solidFill>
                  <a:srgbClr val="2563EB"/>
                </a:solidFill>
                <a:latin typeface="Noto Sans JP"/>
              </a:rPr>
              <a:t>理論計算値</a:t>
            </a:r>
            <a:r>
              <a:rPr sz="1600" b="1">
                <a:solidFill>
                  <a:srgbClr val="1D1D1F"/>
                </a:solidFill>
                <a:latin typeface="Noto Sans JP"/>
              </a:rPr>
              <a:t>をベースとしつつ、最終判断は</a:t>
            </a:r>
            <a:r>
              <a:rPr sz="1600" b="1">
                <a:solidFill>
                  <a:srgbClr val="2563EB"/>
                </a:solidFill>
                <a:latin typeface="Noto Sans JP"/>
              </a:rPr>
              <a:t>実機再現ベンチ</a:t>
            </a:r>
            <a:r>
              <a:rPr sz="1600" b="1">
                <a:solidFill>
                  <a:srgbClr val="1D1D1F"/>
                </a:solidFill>
                <a:latin typeface="Noto Sans JP"/>
              </a:rPr>
              <a:t>で行う設計です。 </a:t>
            </a:r>
          </a:p>
        </p:txBody>
      </p:sp>
      <p:sp>
        <p:nvSpPr>
          <p:cNvPr id="12" name="Rectangle 11"/>
          <p:cNvSpPr/>
          <p:nvPr/>
        </p:nvSpPr>
        <p:spPr>
          <a:xfrm>
            <a:off x="457200"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05633"/>
            <a:ext cx="3209544" cy="19201"/>
          </a:xfrm>
          <a:prstGeom prst="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668219"/>
            <a:ext cx="304495" cy="228600"/>
          </a:xfrm>
          <a:prstGeom prst="rect">
            <a:avLst/>
          </a:prstGeom>
          <a:ln/>
        </p:spPr>
      </p:pic>
      <p:sp>
        <p:nvSpPr>
          <p:cNvPr id="15" name="TextBox 14"/>
          <p:cNvSpPr txBox="1"/>
          <p:nvPr/>
        </p:nvSpPr>
        <p:spPr>
          <a:xfrm>
            <a:off x="1057046" y="2653589"/>
            <a:ext cx="1714500" cy="372161"/>
          </a:xfrm>
          <a:prstGeom prst="rect">
            <a:avLst/>
          </a:prstGeom>
          <a:noFill/>
          <a:ln/>
        </p:spPr>
        <p:txBody>
          <a:bodyPr wrap="square" lIns="0" rIns="0" tIns="0" bIns="0">
            <a:noAutofit/>
          </a:bodyPr>
          <a:lstStyle/>
          <a:p>
            <a:r>
              <a:rPr sz="1300" b="1">
                <a:solidFill>
                  <a:srgbClr val="1D1D1F"/>
                </a:solidFill>
                <a:latin typeface="Noto Sans JP"/>
              </a:rPr>
              <a:t>Apple Silicon (UMA)</a:t>
            </a:r>
          </a:p>
        </p:txBody>
      </p:sp>
      <p:pic>
        <p:nvPicPr>
          <p:cNvPr id="16" name="Picture 15" descr="image.png"/>
          <p:cNvPicPr>
            <a:picLocks noChangeAspect="1"/>
          </p:cNvPicPr>
          <p:nvPr/>
        </p:nvPicPr>
        <p:blipFill>
          <a:blip r:embed="rId5"/>
          <a:stretch>
            <a:fillRect/>
          </a:stretch>
        </p:blipFill>
        <p:spPr>
          <a:xfrm>
            <a:off x="657454" y="3177540"/>
            <a:ext cx="3209544" cy="657453"/>
          </a:xfrm>
          <a:prstGeom prst="rect">
            <a:avLst/>
          </a:prstGeom>
          <a:ln/>
        </p:spPr>
      </p:pic>
      <p:sp>
        <p:nvSpPr>
          <p:cNvPr id="17" name="TextBox 16"/>
          <p:cNvSpPr txBox="1"/>
          <p:nvPr/>
        </p:nvSpPr>
        <p:spPr>
          <a:xfrm>
            <a:off x="657454" y="3177540"/>
            <a:ext cx="3210458" cy="657453"/>
          </a:xfrm>
          <a:prstGeom prst="rect">
            <a:avLst/>
          </a:prstGeom>
          <a:noFill/>
          <a:ln w="38100">
            <a:solidFill>
              <a:srgbClr val="3B82F6"/>
            </a:solidFill>
          </a:ln>
        </p:spPr>
        <p:txBody>
          <a:bodyPr wrap="square" lIns="0" rIns="0" tIns="0" bIns="0">
            <a:noAutofit/>
          </a:bodyPr>
          <a:lstStyle/>
          <a:p>
            <a:r>
              <a:rPr sz="1200">
                <a:solidFill>
                  <a:srgbClr val="000000"/>
                </a:solidFill>
                <a:latin typeface="Noto Sans JP"/>
              </a:rPr>
              <a:t>16GB (A-16) 3B 〜 7/8B (4bit)</a:t>
            </a:r>
          </a:p>
        </p:txBody>
      </p:sp>
      <p:pic>
        <p:nvPicPr>
          <p:cNvPr id="18" name="Picture 17" descr="image.png"/>
          <p:cNvPicPr>
            <a:picLocks noChangeAspect="1"/>
          </p:cNvPicPr>
          <p:nvPr/>
        </p:nvPicPr>
        <p:blipFill>
          <a:blip r:embed="rId5"/>
          <a:stretch>
            <a:fillRect/>
          </a:stretch>
        </p:blipFill>
        <p:spPr>
          <a:xfrm>
            <a:off x="657454" y="3949294"/>
            <a:ext cx="3209544" cy="657453"/>
          </a:xfrm>
          <a:prstGeom prst="rect">
            <a:avLst/>
          </a:prstGeom>
          <a:ln/>
        </p:spPr>
      </p:pic>
      <p:sp>
        <p:nvSpPr>
          <p:cNvPr id="19" name="TextBox 18"/>
          <p:cNvSpPr txBox="1"/>
          <p:nvPr/>
        </p:nvSpPr>
        <p:spPr>
          <a:xfrm>
            <a:off x="657454" y="3949294"/>
            <a:ext cx="3210458" cy="657453"/>
          </a:xfrm>
          <a:prstGeom prst="rect">
            <a:avLst/>
          </a:prstGeom>
          <a:noFill/>
          <a:ln w="38100">
            <a:solidFill>
              <a:srgbClr val="2563EB"/>
            </a:solidFill>
          </a:ln>
        </p:spPr>
        <p:txBody>
          <a:bodyPr wrap="square" lIns="0" rIns="0" tIns="0" bIns="0">
            <a:noAutofit/>
          </a:bodyPr>
          <a:lstStyle/>
          <a:p>
            <a:r>
              <a:rPr sz="1200">
                <a:solidFill>
                  <a:srgbClr val="000000"/>
                </a:solidFill>
                <a:latin typeface="Noto Sans JP"/>
              </a:rPr>
              <a:t>24-32GB (A-24/32) 7B 〜 14B (4bit)</a:t>
            </a:r>
          </a:p>
        </p:txBody>
      </p:sp>
      <p:pic>
        <p:nvPicPr>
          <p:cNvPr id="20" name="Picture 19" descr="image.png"/>
          <p:cNvPicPr>
            <a:picLocks noChangeAspect="1"/>
          </p:cNvPicPr>
          <p:nvPr/>
        </p:nvPicPr>
        <p:blipFill>
          <a:blip r:embed="rId5"/>
          <a:stretch>
            <a:fillRect/>
          </a:stretch>
        </p:blipFill>
        <p:spPr>
          <a:xfrm>
            <a:off x="657454" y="4720133"/>
            <a:ext cx="3209544" cy="657453"/>
          </a:xfrm>
          <a:prstGeom prst="rect">
            <a:avLst/>
          </a:prstGeom>
          <a:ln/>
        </p:spPr>
      </p:pic>
      <p:sp>
        <p:nvSpPr>
          <p:cNvPr id="21" name="TextBox 20"/>
          <p:cNvSpPr txBox="1"/>
          <p:nvPr/>
        </p:nvSpPr>
        <p:spPr>
          <a:xfrm>
            <a:off x="657454" y="4720133"/>
            <a:ext cx="3210458" cy="657453"/>
          </a:xfrm>
          <a:prstGeom prst="rect">
            <a:avLst/>
          </a:prstGeom>
          <a:noFill/>
          <a:ln w="38100">
            <a:solidFill>
              <a:srgbClr val="1D4ED8"/>
            </a:solidFill>
          </a:ln>
        </p:spPr>
        <p:txBody>
          <a:bodyPr wrap="square" lIns="0" rIns="0" tIns="0" bIns="0">
            <a:noAutofit/>
          </a:bodyPr>
          <a:lstStyle/>
          <a:p>
            <a:r>
              <a:rPr sz="1200">
                <a:solidFill>
                  <a:srgbClr val="000000"/>
                </a:solidFill>
                <a:latin typeface="Noto Sans JP"/>
              </a:rPr>
              <a:t>64GB (A-64) 14B 〜 32B (4bit)</a:t>
            </a:r>
          </a:p>
        </p:txBody>
      </p:sp>
      <p:pic>
        <p:nvPicPr>
          <p:cNvPr id="22" name="Picture 21" descr="image.png"/>
          <p:cNvPicPr>
            <a:picLocks noChangeAspect="1"/>
          </p:cNvPicPr>
          <p:nvPr/>
        </p:nvPicPr>
        <p:blipFill>
          <a:blip r:embed="rId5"/>
          <a:stretch>
            <a:fillRect/>
          </a:stretch>
        </p:blipFill>
        <p:spPr>
          <a:xfrm>
            <a:off x="657454" y="5491886"/>
            <a:ext cx="3209544" cy="657453"/>
          </a:xfrm>
          <a:prstGeom prst="rect">
            <a:avLst/>
          </a:prstGeom>
          <a:ln/>
        </p:spPr>
      </p:pic>
      <p:sp>
        <p:nvSpPr>
          <p:cNvPr id="23" name="TextBox 22"/>
          <p:cNvSpPr txBox="1"/>
          <p:nvPr/>
        </p:nvSpPr>
        <p:spPr>
          <a:xfrm>
            <a:off x="657454" y="5491886"/>
            <a:ext cx="3210458" cy="657453"/>
          </a:xfrm>
          <a:prstGeom prst="rect">
            <a:avLst/>
          </a:prstGeom>
          <a:noFill/>
          <a:ln w="38100">
            <a:solidFill>
              <a:srgbClr val="1E40AF"/>
            </a:solidFill>
          </a:ln>
        </p:spPr>
        <p:txBody>
          <a:bodyPr wrap="square" lIns="0" rIns="0" tIns="0" bIns="0">
            <a:noAutofit/>
          </a:bodyPr>
          <a:lstStyle/>
          <a:p>
            <a:r>
              <a:rPr sz="1200">
                <a:solidFill>
                  <a:srgbClr val="000000"/>
                </a:solidFill>
                <a:latin typeface="Noto Sans JP"/>
              </a:rPr>
              <a:t>96-128GB (A-96+) 32B 〜 70B (4bit)</a:t>
            </a:r>
          </a:p>
        </p:txBody>
      </p:sp>
      <p:sp>
        <p:nvSpPr>
          <p:cNvPr id="24" name="Rectangle 23"/>
          <p:cNvSpPr/>
          <p:nvPr/>
        </p:nvSpPr>
        <p:spPr>
          <a:xfrm>
            <a:off x="4292194"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2447" y="3005633"/>
            <a:ext cx="3209544" cy="19201"/>
          </a:xfrm>
          <a:prstGeom prst="rect">
            <a:avLst/>
          </a:prstGeom>
          <a:solidFill>
            <a:srgbClr val="DBEAFE"/>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492447" y="2668219"/>
            <a:ext cx="304494" cy="228600"/>
          </a:xfrm>
          <a:prstGeom prst="rect">
            <a:avLst/>
          </a:prstGeom>
          <a:ln/>
        </p:spPr>
      </p:pic>
      <p:sp>
        <p:nvSpPr>
          <p:cNvPr id="27" name="TextBox 26"/>
          <p:cNvSpPr txBox="1"/>
          <p:nvPr/>
        </p:nvSpPr>
        <p:spPr>
          <a:xfrm>
            <a:off x="4892954" y="2653589"/>
            <a:ext cx="1892808" cy="372161"/>
          </a:xfrm>
          <a:prstGeom prst="rect">
            <a:avLst/>
          </a:prstGeom>
          <a:noFill/>
          <a:ln/>
        </p:spPr>
        <p:txBody>
          <a:bodyPr wrap="square" lIns="0" rIns="0" tIns="0" bIns="0">
            <a:noAutofit/>
          </a:bodyPr>
          <a:lstStyle/>
          <a:p>
            <a:r>
              <a:rPr sz="1300" b="1">
                <a:solidFill>
                  <a:srgbClr val="1D1D1F"/>
                </a:solidFill>
                <a:latin typeface="Noto Sans JP"/>
              </a:rPr>
              <a:t>Windows GPU (VRAM)</a:t>
            </a:r>
          </a:p>
        </p:txBody>
      </p:sp>
      <p:pic>
        <p:nvPicPr>
          <p:cNvPr id="28" name="Picture 27" descr="image.png"/>
          <p:cNvPicPr>
            <a:picLocks noChangeAspect="1"/>
          </p:cNvPicPr>
          <p:nvPr/>
        </p:nvPicPr>
        <p:blipFill>
          <a:blip r:embed="rId5"/>
          <a:stretch>
            <a:fillRect/>
          </a:stretch>
        </p:blipFill>
        <p:spPr>
          <a:xfrm>
            <a:off x="4492447" y="3177540"/>
            <a:ext cx="3209544" cy="657453"/>
          </a:xfrm>
          <a:prstGeom prst="rect">
            <a:avLst/>
          </a:prstGeom>
          <a:ln/>
        </p:spPr>
      </p:pic>
      <p:sp>
        <p:nvSpPr>
          <p:cNvPr id="29" name="TextBox 28"/>
          <p:cNvSpPr txBox="1"/>
          <p:nvPr/>
        </p:nvSpPr>
        <p:spPr>
          <a:xfrm>
            <a:off x="4492447" y="3177540"/>
            <a:ext cx="3210458" cy="657453"/>
          </a:xfrm>
          <a:prstGeom prst="rect">
            <a:avLst/>
          </a:prstGeom>
          <a:noFill/>
          <a:ln w="38100">
            <a:solidFill>
              <a:srgbClr val="10B981"/>
            </a:solidFill>
          </a:ln>
        </p:spPr>
        <p:txBody>
          <a:bodyPr wrap="square" lIns="0" rIns="0" tIns="0" bIns="0">
            <a:noAutofit/>
          </a:bodyPr>
          <a:lstStyle/>
          <a:p>
            <a:r>
              <a:rPr sz="1200">
                <a:solidFill>
                  <a:srgbClr val="000000"/>
                </a:solidFill>
                <a:latin typeface="Noto Sans JP"/>
              </a:rPr>
              <a:t>VRAM 8GB (G-8) 7B (4bit) ※短文中心</a:t>
            </a:r>
          </a:p>
        </p:txBody>
      </p:sp>
      <p:pic>
        <p:nvPicPr>
          <p:cNvPr id="30" name="Picture 29" descr="image.png"/>
          <p:cNvPicPr>
            <a:picLocks noChangeAspect="1"/>
          </p:cNvPicPr>
          <p:nvPr/>
        </p:nvPicPr>
        <p:blipFill>
          <a:blip r:embed="rId5"/>
          <a:stretch>
            <a:fillRect/>
          </a:stretch>
        </p:blipFill>
        <p:spPr>
          <a:xfrm>
            <a:off x="4492447" y="3949294"/>
            <a:ext cx="3209544" cy="657453"/>
          </a:xfrm>
          <a:prstGeom prst="rect">
            <a:avLst/>
          </a:prstGeom>
          <a:ln/>
        </p:spPr>
      </p:pic>
      <p:sp>
        <p:nvSpPr>
          <p:cNvPr id="31" name="TextBox 30"/>
          <p:cNvSpPr txBox="1"/>
          <p:nvPr/>
        </p:nvSpPr>
        <p:spPr>
          <a:xfrm>
            <a:off x="4492447" y="3949294"/>
            <a:ext cx="3210458" cy="657453"/>
          </a:xfrm>
          <a:prstGeom prst="rect">
            <a:avLst/>
          </a:prstGeom>
          <a:noFill/>
          <a:ln w="38100">
            <a:solidFill>
              <a:srgbClr val="059669"/>
            </a:solidFill>
          </a:ln>
        </p:spPr>
        <p:txBody>
          <a:bodyPr wrap="square" lIns="0" rIns="0" tIns="0" bIns="0">
            <a:noAutofit/>
          </a:bodyPr>
          <a:lstStyle/>
          <a:p>
            <a:r>
              <a:rPr sz="1200">
                <a:solidFill>
                  <a:srgbClr val="000000"/>
                </a:solidFill>
                <a:latin typeface="Noto Sans JP"/>
              </a:rPr>
              <a:t>VRAM 12GB (G-12) 7B 〜 14B (4bit)</a:t>
            </a:r>
          </a:p>
        </p:txBody>
      </p:sp>
      <p:pic>
        <p:nvPicPr>
          <p:cNvPr id="32" name="Picture 31" descr="image.png"/>
          <p:cNvPicPr>
            <a:picLocks noChangeAspect="1"/>
          </p:cNvPicPr>
          <p:nvPr/>
        </p:nvPicPr>
        <p:blipFill>
          <a:blip r:embed="rId5"/>
          <a:stretch>
            <a:fillRect/>
          </a:stretch>
        </p:blipFill>
        <p:spPr>
          <a:xfrm>
            <a:off x="4492447" y="4720133"/>
            <a:ext cx="3209544" cy="657453"/>
          </a:xfrm>
          <a:prstGeom prst="rect">
            <a:avLst/>
          </a:prstGeom>
          <a:ln/>
        </p:spPr>
      </p:pic>
      <p:sp>
        <p:nvSpPr>
          <p:cNvPr id="33" name="TextBox 32"/>
          <p:cNvSpPr txBox="1"/>
          <p:nvPr/>
        </p:nvSpPr>
        <p:spPr>
          <a:xfrm>
            <a:off x="4492447" y="4720133"/>
            <a:ext cx="3210458" cy="657453"/>
          </a:xfrm>
          <a:prstGeom prst="rect">
            <a:avLst/>
          </a:prstGeom>
          <a:noFill/>
          <a:ln w="38100">
            <a:solidFill>
              <a:srgbClr val="047857"/>
            </a:solidFill>
          </a:ln>
        </p:spPr>
        <p:txBody>
          <a:bodyPr wrap="square" lIns="0" rIns="0" tIns="0" bIns="0">
            <a:noAutofit/>
          </a:bodyPr>
          <a:lstStyle/>
          <a:p>
            <a:r>
              <a:rPr sz="1200">
                <a:solidFill>
                  <a:srgbClr val="000000"/>
                </a:solidFill>
                <a:latin typeface="Noto Sans JP"/>
              </a:rPr>
              <a:t>VRAM 16GB (G-16) 14B 〜 27B (4bit)</a:t>
            </a:r>
          </a:p>
        </p:txBody>
      </p:sp>
      <p:pic>
        <p:nvPicPr>
          <p:cNvPr id="34" name="Picture 33" descr="image.png"/>
          <p:cNvPicPr>
            <a:picLocks noChangeAspect="1"/>
          </p:cNvPicPr>
          <p:nvPr/>
        </p:nvPicPr>
        <p:blipFill>
          <a:blip r:embed="rId5"/>
          <a:stretch>
            <a:fillRect/>
          </a:stretch>
        </p:blipFill>
        <p:spPr>
          <a:xfrm>
            <a:off x="4492447" y="5491886"/>
            <a:ext cx="3209544" cy="657453"/>
          </a:xfrm>
          <a:prstGeom prst="rect">
            <a:avLst/>
          </a:prstGeom>
          <a:ln/>
        </p:spPr>
      </p:pic>
      <p:sp>
        <p:nvSpPr>
          <p:cNvPr id="35" name="TextBox 34"/>
          <p:cNvSpPr txBox="1"/>
          <p:nvPr/>
        </p:nvSpPr>
        <p:spPr>
          <a:xfrm>
            <a:off x="4492447" y="5491886"/>
            <a:ext cx="3210458" cy="657453"/>
          </a:xfrm>
          <a:prstGeom prst="rect">
            <a:avLst/>
          </a:prstGeom>
          <a:noFill/>
          <a:ln w="38100">
            <a:solidFill>
              <a:srgbClr val="065F46"/>
            </a:solidFill>
          </a:ln>
        </p:spPr>
        <p:txBody>
          <a:bodyPr wrap="square" lIns="0" rIns="0" tIns="0" bIns="0">
            <a:noAutofit/>
          </a:bodyPr>
          <a:lstStyle/>
          <a:p>
            <a:r>
              <a:rPr sz="1200">
                <a:solidFill>
                  <a:srgbClr val="000000"/>
                </a:solidFill>
                <a:latin typeface="Noto Sans JP"/>
              </a:rPr>
              <a:t>VRAM 24GB (G-24) 27B 〜 34B (4bit)</a:t>
            </a:r>
          </a:p>
        </p:txBody>
      </p:sp>
      <p:sp>
        <p:nvSpPr>
          <p:cNvPr id="36" name="Rectangle 35"/>
          <p:cNvSpPr/>
          <p:nvPr/>
        </p:nvSpPr>
        <p:spPr>
          <a:xfrm>
            <a:off x="8128102" y="2453335"/>
            <a:ext cx="3610051" cy="38953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28354" y="3005633"/>
            <a:ext cx="3209544" cy="19201"/>
          </a:xfrm>
          <a:prstGeom prst="rect">
            <a:avLst/>
          </a:prstGeom>
          <a:solidFill>
            <a:srgbClr val="F3F4F6"/>
          </a:solidFill>
          <a:ln w="12700">
            <a:solidFill>
              <a:srgbClr val="F3F4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8328354" y="2668219"/>
            <a:ext cx="304494" cy="228600"/>
          </a:xfrm>
          <a:prstGeom prst="rect">
            <a:avLst/>
          </a:prstGeom>
          <a:ln/>
        </p:spPr>
      </p:pic>
      <p:sp>
        <p:nvSpPr>
          <p:cNvPr id="39" name="TextBox 38"/>
          <p:cNvSpPr txBox="1"/>
          <p:nvPr/>
        </p:nvSpPr>
        <p:spPr>
          <a:xfrm>
            <a:off x="8727948" y="2653589"/>
            <a:ext cx="1664207" cy="372161"/>
          </a:xfrm>
          <a:prstGeom prst="rect">
            <a:avLst/>
          </a:prstGeom>
          <a:noFill/>
          <a:ln/>
        </p:spPr>
        <p:txBody>
          <a:bodyPr wrap="square" lIns="0" rIns="0" tIns="0" bIns="0">
            <a:noAutofit/>
          </a:bodyPr>
          <a:lstStyle/>
          <a:p>
            <a:r>
              <a:rPr sz="1300" b="1">
                <a:solidFill>
                  <a:srgbClr val="1D1D1F"/>
                </a:solidFill>
                <a:latin typeface="Noto Sans JP"/>
              </a:rPr>
              <a:t>Windows CPU-only</a:t>
            </a:r>
          </a:p>
        </p:txBody>
      </p:sp>
      <p:pic>
        <p:nvPicPr>
          <p:cNvPr id="40" name="Picture 39" descr="image.png"/>
          <p:cNvPicPr>
            <a:picLocks noChangeAspect="1"/>
          </p:cNvPicPr>
          <p:nvPr/>
        </p:nvPicPr>
        <p:blipFill>
          <a:blip r:embed="rId5"/>
          <a:stretch>
            <a:fillRect/>
          </a:stretch>
        </p:blipFill>
        <p:spPr>
          <a:xfrm>
            <a:off x="8328354" y="3177540"/>
            <a:ext cx="3209544" cy="657453"/>
          </a:xfrm>
          <a:prstGeom prst="rect">
            <a:avLst/>
          </a:prstGeom>
          <a:ln/>
        </p:spPr>
      </p:pic>
      <p:sp>
        <p:nvSpPr>
          <p:cNvPr id="41" name="TextBox 40"/>
          <p:cNvSpPr txBox="1"/>
          <p:nvPr/>
        </p:nvSpPr>
        <p:spPr>
          <a:xfrm>
            <a:off x="8328354" y="3177540"/>
            <a:ext cx="3210458" cy="657453"/>
          </a:xfrm>
          <a:prstGeom prst="rect">
            <a:avLst/>
          </a:prstGeom>
          <a:noFill/>
          <a:ln w="38100">
            <a:solidFill>
              <a:srgbClr val="F59E0B"/>
            </a:solidFill>
          </a:ln>
        </p:spPr>
        <p:txBody>
          <a:bodyPr wrap="square" lIns="0" rIns="0" tIns="0" bIns="0">
            <a:noAutofit/>
          </a:bodyPr>
          <a:lstStyle/>
          <a:p>
            <a:r>
              <a:rPr sz="1200">
                <a:solidFill>
                  <a:srgbClr val="000000"/>
                </a:solidFill>
                <a:latin typeface="Noto Sans JP"/>
              </a:rPr>
              <a:t>RAM 32GB (W-CPU1) 3B 〜 7B (4bit)</a:t>
            </a:r>
          </a:p>
        </p:txBody>
      </p:sp>
      <p:sp>
        <p:nvSpPr>
          <p:cNvPr id="42" name="Rectangle 41"/>
          <p:cNvSpPr/>
          <p:nvPr/>
        </p:nvSpPr>
        <p:spPr>
          <a:xfrm>
            <a:off x="8328354" y="3949294"/>
            <a:ext cx="3209544" cy="1037843"/>
          </a:xfrm>
          <a:prstGeom prst="rect">
            <a:avLst/>
          </a:prstGeom>
          <a:solidFill>
            <a:srgbClr val="FFF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8354" y="3949294"/>
            <a:ext cx="28345" cy="1037843"/>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8"/>
          <a:stretch>
            <a:fillRect/>
          </a:stretch>
        </p:blipFill>
        <p:spPr>
          <a:xfrm>
            <a:off x="8451799" y="4068166"/>
            <a:ext cx="114300" cy="152705"/>
          </a:xfrm>
          <a:prstGeom prst="rect">
            <a:avLst/>
          </a:prstGeom>
          <a:ln/>
        </p:spPr>
      </p:pic>
      <p:sp>
        <p:nvSpPr>
          <p:cNvPr id="45" name="TextBox 44"/>
          <p:cNvSpPr txBox="1"/>
          <p:nvPr/>
        </p:nvSpPr>
        <p:spPr>
          <a:xfrm>
            <a:off x="8451799" y="4320540"/>
            <a:ext cx="3067812" cy="571500"/>
          </a:xfrm>
          <a:prstGeom prst="rect">
            <a:avLst/>
          </a:prstGeom>
          <a:noFill/>
          <a:ln/>
        </p:spPr>
        <p:txBody>
          <a:bodyPr wrap="square" lIns="0" rIns="0" tIns="0" bIns="0">
            <a:noAutofit/>
          </a:bodyPr>
          <a:lstStyle/>
          <a:p>
            <a:r>
              <a:rPr sz="1000">
                <a:solidFill>
                  <a:srgbClr val="374151"/>
                </a:solidFill>
                <a:latin typeface="Noto Sans JP"/>
              </a:rPr>
              <a:t> 7B級が「実用的に動く」境界線。</a:t>
            </a:r>
          </a:p>
          <a:p>
            <a:r>
              <a:rPr sz="1000">
                <a:solidFill>
                  <a:srgbClr val="374151"/>
                </a:solidFill>
                <a:latin typeface="Noto Sans JP"/>
              </a:rPr>
              <a:t> AVX命令等の最適化が必須。</a:t>
            </a:r>
          </a:p>
          <a:p>
            <a:r>
              <a:rPr sz="1000">
                <a:solidFill>
                  <a:srgbClr val="374151"/>
                </a:solidFill>
                <a:latin typeface="Noto Sans JP"/>
              </a:rPr>
              <a:t> 速度はGPU比で大幅劣後。 </a:t>
            </a:r>
          </a:p>
        </p:txBody>
      </p:sp>
      <p:sp>
        <p:nvSpPr>
          <p:cNvPr id="46" name="Rectangle 45"/>
          <p:cNvSpPr/>
          <p:nvPr/>
        </p:nvSpPr>
        <p:spPr>
          <a:xfrm>
            <a:off x="457200" y="6578194"/>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png"/>
          <p:cNvPicPr>
            <a:picLocks noChangeAspect="1"/>
          </p:cNvPicPr>
          <p:nvPr/>
        </p:nvPicPr>
        <p:blipFill>
          <a:blip r:embed="rId9"/>
          <a:stretch>
            <a:fillRect/>
          </a:stretch>
        </p:blipFill>
        <p:spPr>
          <a:xfrm>
            <a:off x="657454" y="6933895"/>
            <a:ext cx="171906" cy="171907"/>
          </a:xfrm>
          <a:prstGeom prst="rect">
            <a:avLst/>
          </a:prstGeom>
          <a:ln/>
        </p:spPr>
      </p:pic>
      <p:sp>
        <p:nvSpPr>
          <p:cNvPr id="48" name="TextBox 47"/>
          <p:cNvSpPr txBox="1"/>
          <p:nvPr/>
        </p:nvSpPr>
        <p:spPr>
          <a:xfrm>
            <a:off x="942746" y="6720840"/>
            <a:ext cx="10782605" cy="191110"/>
          </a:xfrm>
          <a:prstGeom prst="rect">
            <a:avLst/>
          </a:prstGeom>
          <a:noFill/>
          <a:ln/>
        </p:spPr>
        <p:txBody>
          <a:bodyPr wrap="square" lIns="0" rIns="0" tIns="0" bIns="0">
            <a:noAutofit/>
          </a:bodyPr>
          <a:lstStyle/>
          <a:p>
            <a:r>
              <a:rPr sz="1000" b="1">
                <a:solidFill>
                  <a:srgbClr val="78350F"/>
                </a:solidFill>
                <a:latin typeface="Noto Sans JP"/>
              </a:rPr>
              <a:t>実務上の注意点</a:t>
            </a:r>
          </a:p>
        </p:txBody>
      </p:sp>
      <p:sp>
        <p:nvSpPr>
          <p:cNvPr id="49" name="TextBox 48"/>
          <p:cNvSpPr txBox="1"/>
          <p:nvPr/>
        </p:nvSpPr>
        <p:spPr>
          <a:xfrm>
            <a:off x="942746" y="6945782"/>
            <a:ext cx="10668305" cy="381305"/>
          </a:xfrm>
          <a:prstGeom prst="rect">
            <a:avLst/>
          </a:prstGeom>
          <a:noFill/>
          <a:ln/>
        </p:spPr>
        <p:txBody>
          <a:bodyPr wrap="square" lIns="0" rIns="0" tIns="0" bIns="0">
            <a:noAutofit/>
          </a:bodyPr>
          <a:lstStyle/>
          <a:p>
            <a:r>
              <a:rPr sz="1000">
                <a:solidFill>
                  <a:srgbClr val="78350F"/>
                </a:solidFill>
                <a:latin typeface="Noto Sans JP"/>
              </a:rPr>
              <a:t>上記は重み理論値に基づく目安です。長文コンテキスト（KVキャッシュ）がメモリを圧迫するため、実際の運用ではユースケース（RAG/要約等）に応じたKVメモリ計算を追加する必要があります。</a:t>
            </a:r>
          </a:p>
        </p:txBody>
      </p:sp>
      <p:sp>
        <p:nvSpPr>
          <p:cNvPr id="50" name="Rectangle 49"/>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3" name="TextBox 52"/>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52 / 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4645152" cy="381305"/>
          </a:xfrm>
          <a:prstGeom prst="rect">
            <a:avLst/>
          </a:prstGeom>
          <a:noFill/>
          <a:ln/>
        </p:spPr>
        <p:txBody>
          <a:bodyPr wrap="square" lIns="0" rIns="0" tIns="0" bIns="0">
            <a:noAutofit/>
          </a:bodyPr>
          <a:lstStyle/>
          <a:p>
            <a:r>
              <a:rPr sz="2100" b="1">
                <a:solidFill>
                  <a:srgbClr val="FFFFFF"/>
                </a:solidFill>
                <a:latin typeface="Noto Sans JP"/>
              </a:rPr>
              <a:t>Apple Silicon Tier（完全版表1）</a:t>
            </a:r>
          </a:p>
        </p:txBody>
      </p:sp>
      <p:sp>
        <p:nvSpPr>
          <p:cNvPr id="8" name="TextBox 7"/>
          <p:cNvSpPr txBox="1"/>
          <p:nvPr/>
        </p:nvSpPr>
        <p:spPr>
          <a:xfrm>
            <a:off x="7276795" y="457200"/>
            <a:ext cx="5153558" cy="228600"/>
          </a:xfrm>
          <a:prstGeom prst="rect">
            <a:avLst/>
          </a:prstGeom>
          <a:noFill/>
          <a:ln/>
        </p:spPr>
        <p:txBody>
          <a:bodyPr wrap="square" lIns="0" rIns="0" tIns="0" bIns="0">
            <a:noAutofit/>
          </a:bodyPr>
          <a:lstStyle/>
          <a:p>
            <a:r>
              <a:rPr sz="1200">
                <a:solidFill>
                  <a:srgbClr val="A1A1A6"/>
                </a:solidFill>
                <a:latin typeface="Noto Sans JP"/>
              </a:rPr>
              <a:t>実用ライン定義：A-16 / A-24/32 (Unified Memory Architecture)</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905402"/>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877410"/>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625803">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625803">
                <a:tc>
                  <a:txBody>
                    <a:bodyPr/>
                    <a:lstStyle/>
                    <a:p>
                      <a:r>
                        <a:t>A-16</a:t>
                      </a:r>
                    </a:p>
                    <a:p>
                      <a:r>
                        <a:t>Entry</a:t>
                      </a:r>
                    </a:p>
                  </a:txBody>
                  <a:tcPr/>
                </a:tc>
                <a:tc>
                  <a:txBody>
                    <a:bodyPr/>
                    <a:lstStyle/>
                    <a:p>
                      <a:r>
                        <a:t>Apple Silicon 16GB</a:t>
                      </a:r>
                    </a:p>
                    <a:p>
                      <a:r>
                        <a:t>(M1/M2/M3/M4等)</a:t>
                      </a:r>
                    </a:p>
                    <a:p>
                      <a:r>
                        <a:t>[1,11,92]</a:t>
                      </a:r>
                    </a:p>
                  </a:txBody>
                  <a:tcPr/>
                </a:tc>
                <a:tc>
                  <a:txBody>
                    <a:bodyPr/>
                    <a:lstStyle/>
                    <a:p>
                      <a:r>
                        <a:t>3B〜7/8B</a:t>
                      </a:r>
                    </a:p>
                    <a:p>
                      <a:r>
                        <a:t>(4bit量子化)</a:t>
                      </a:r>
                    </a:p>
                  </a:txBody>
                  <a:tcPr/>
                </a:tc>
                <a:tc>
                  <a:txBody>
                    <a:bodyPr/>
                    <a:lstStyle/>
                    <a:p>
                      <a:r>
                        <a:t>条件付</a:t>
                      </a:r>
                    </a:p>
                    <a:p>
                      <a:r>
                        <a:t>“短文中心”なら可</a:t>
                      </a:r>
                    </a:p>
                  </a:txBody>
                  <a:tcPr/>
                </a:tc>
                <a:tc>
                  <a:txBody>
                    <a:bodyPr/>
                    <a:lstStyle/>
                    <a:p>
                      <a:r>
                        <a:t>軽量構成</a:t>
                      </a:r>
                    </a:p>
                    <a:p>
                      <a:r>
                        <a:t>ASR/TTSは小さめなら可</a:t>
                      </a:r>
                    </a:p>
                  </a:txBody>
                  <a:tcPr/>
                </a:tc>
                <a:tc>
                  <a:txBody>
                    <a:bodyPr/>
                    <a:lstStyle/>
                    <a:p>
                      <a:r>
                        <a:t>文脈長を抑え、RAGはEmbedding先計算。</a:t>
                      </a:r>
                    </a:p>
                    <a:p>
                      <a:r>
                        <a:t>Apple公式のUnified Memory Architecture (UMA) 特性を理解し、システムメモリとの競合を避ける設計が必要。[10,132]</a:t>
                      </a:r>
                    </a:p>
                  </a:txBody>
                  <a:tcPr/>
                </a:tc>
              </a:tr>
              <a:tr h="1625804">
                <a:tc>
                  <a:txBody>
                    <a:bodyPr/>
                    <a:lstStyle/>
                    <a:p>
                      <a:r>
                        <a:t>A-24/32</a:t>
                      </a:r>
                    </a:p>
                    <a:p>
                      <a:r>
                        <a:t>Standard</a:t>
                      </a:r>
                    </a:p>
                  </a:txBody>
                  <a:tcPr/>
                </a:tc>
                <a:tc>
                  <a:txBody>
                    <a:bodyPr/>
                    <a:lstStyle/>
                    <a:p>
                      <a:r>
                        <a:t>Apple Silicon 24〜32GB</a:t>
                      </a:r>
                    </a:p>
                    <a:p>
                      <a:r>
                        <a:t>(M3/M4 Pro/Max等)</a:t>
                      </a:r>
                    </a:p>
                    <a:p>
                      <a:r>
                        <a:t>[93]</a:t>
                      </a:r>
                    </a:p>
                  </a:txBody>
                  <a:tcPr/>
                </a:tc>
                <a:tc>
                  <a:txBody>
                    <a:bodyPr/>
                    <a:lstStyle/>
                    <a:p>
                      <a:r>
                        <a:t>7B〜14B</a:t>
                      </a:r>
                    </a:p>
                    <a:p>
                      <a:r>
                        <a:t>(4bit量子化)</a:t>
                      </a:r>
                    </a:p>
                  </a:txBody>
                  <a:tcPr/>
                </a:tc>
                <a:tc>
                  <a:txBody>
                    <a:bodyPr/>
                    <a:lstStyle/>
                    <a:p>
                      <a:r>
                        <a:t>可</a:t>
                      </a:r>
                    </a:p>
                    <a:p>
                      <a:r>
                        <a:t>（業務最小ライン）</a:t>
                      </a:r>
                    </a:p>
                  </a:txBody>
                  <a:tcPr/>
                </a:tc>
                <a:tc>
                  <a:txBody>
                    <a:bodyPr/>
                    <a:lstStyle/>
                    <a:p>
                      <a:r>
                        <a:t>成立</a:t>
                      </a:r>
                    </a:p>
                    <a:p>
                      <a:r>
                        <a:t>多くのユースケースで実用可</a:t>
                      </a:r>
                    </a:p>
                  </a:txBody>
                  <a:tcPr/>
                </a:tc>
                <a:tc>
                  <a:txBody>
                    <a:bodyPr/>
                    <a:lstStyle/>
                    <a:p>
                      <a:r>
                        <a:t>14B級を軸に、VLMは2B〜小型を併用。</a:t>
                      </a:r>
                    </a:p>
                    <a:p>
                      <a:r>
                        <a:t>「RAG含め業務用途の最小実用ライン」になりやすい。M4世代でも統合メモリ前提で構成されるため、GPUメモリとしてフル活用可能。[11]</a:t>
                      </a:r>
                    </a:p>
                  </a:txBody>
                  <a:tcPr/>
                </a:tc>
              </a:tr>
            </a:tbl>
          </a:graphicData>
        </a:graphic>
      </p:graphicFrame>
      <p:sp>
        <p:nvSpPr>
          <p:cNvPr id="12" name="Rectangle 11"/>
          <p:cNvSpPr/>
          <p:nvPr/>
        </p:nvSpPr>
        <p:spPr>
          <a:xfrm>
            <a:off x="457200" y="5421478"/>
            <a:ext cx="11277295" cy="819301"/>
          </a:xfrm>
          <a:prstGeom prst="rect">
            <a:avLst/>
          </a:prstGeom>
          <a:solidFill>
            <a:srgbClr val="F0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421478"/>
            <a:ext cx="38404" cy="819301"/>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564124"/>
            <a:ext cx="152704" cy="152705"/>
          </a:xfrm>
          <a:prstGeom prst="rect">
            <a:avLst/>
          </a:prstGeom>
          <a:ln/>
        </p:spPr>
      </p:pic>
      <p:sp>
        <p:nvSpPr>
          <p:cNvPr id="15" name="TextBox 14"/>
          <p:cNvSpPr txBox="1"/>
          <p:nvPr/>
        </p:nvSpPr>
        <p:spPr>
          <a:xfrm>
            <a:off x="914400" y="5535778"/>
            <a:ext cx="10744200" cy="590701"/>
          </a:xfrm>
          <a:prstGeom prst="rect">
            <a:avLst/>
          </a:prstGeom>
          <a:noFill/>
          <a:ln/>
        </p:spPr>
        <p:txBody>
          <a:bodyPr wrap="square" lIns="0" rIns="0" tIns="0" bIns="0">
            <a:noAutofit/>
          </a:bodyPr>
          <a:lstStyle/>
          <a:p>
            <a:r>
              <a:rPr sz="900" b="1">
                <a:solidFill>
                  <a:srgbClr val="1D1D1F"/>
                </a:solidFill>
                <a:latin typeface="Noto Sans JP"/>
              </a:rPr>
              <a:t>UMA (Unified Memory Architecture) の特性：</a:t>
            </a:r>
            <a:r>
              <a:rPr sz="900">
                <a:solidFill>
                  <a:srgbClr val="1D1D1F"/>
                </a:solidFill>
                <a:latin typeface="Noto Sans JP"/>
              </a:rPr>
              <a:t> CPUとGPUが同一のメモリプールを共有するため、データ転送のオーバーヘッドが極小化されます。Metal Performance Shaders (MPS) バックエンドを使用するMLXやPyTorchの実装では、この統合メモリを効率的に利用できますが、画面表示やOS自身のメモリ消費（数GB）を差し引いた残量が実効VRAMとなる点に注意が必要です。</a:t>
            </a:r>
          </a:p>
        </p:txBody>
      </p:sp>
      <p:pic>
        <p:nvPicPr>
          <p:cNvPr id="16" name="Picture 15" descr="image.png"/>
          <p:cNvPicPr>
            <a:picLocks noChangeAspect="1"/>
          </p:cNvPicPr>
          <p:nvPr/>
        </p:nvPicPr>
        <p:blipFill>
          <a:blip r:embed="rId4"/>
          <a:stretch>
            <a:fillRect/>
          </a:stretch>
        </p:blipFill>
        <p:spPr>
          <a:xfrm>
            <a:off x="933602" y="5887822"/>
            <a:ext cx="428853" cy="190194"/>
          </a:xfrm>
          <a:prstGeom prst="rect">
            <a:avLst/>
          </a:prstGeom>
          <a:ln/>
        </p:spPr>
      </p:pic>
      <p:sp>
        <p:nvSpPr>
          <p:cNvPr id="17" name="TextBox 16"/>
          <p:cNvSpPr txBox="1"/>
          <p:nvPr/>
        </p:nvSpPr>
        <p:spPr>
          <a:xfrm>
            <a:off x="933602" y="5887822"/>
            <a:ext cx="428853" cy="191110"/>
          </a:xfrm>
          <a:prstGeom prst="rect">
            <a:avLst/>
          </a:prstGeom>
          <a:noFill/>
          <a:ln>
            <a:solidFill>
              <a:srgbClr val="FFFFFF"/>
            </a:solidFill>
          </a:ln>
        </p:spPr>
        <p:txBody>
          <a:bodyPr wrap="square" lIns="0" rIns="0" tIns="0" bIns="0">
            <a:noAutofit/>
          </a:bodyPr>
          <a:lstStyle/>
          <a:p>
            <a:r>
              <a:rPr sz="800">
                <a:solidFill>
                  <a:srgbClr val="86868B"/>
                </a:solidFill>
                <a:latin typeface="Noto Sans JP"/>
              </a:rPr>
              <a:t>[1,132]</a:t>
            </a:r>
          </a:p>
        </p:txBody>
      </p:sp>
      <p:sp>
        <p:nvSpPr>
          <p:cNvPr id="18" name="Rectangle 17"/>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53 | ローカルAI 技術調査レポート 2026</a:t>
            </a:r>
          </a:p>
        </p:txBody>
      </p:sp>
      <p:sp>
        <p:nvSpPr>
          <p:cNvPr id="21" name="TextBox 20"/>
          <p:cNvSpPr txBox="1"/>
          <p:nvPr/>
        </p:nvSpPr>
        <p:spPr>
          <a:xfrm>
            <a:off x="8729777" y="6586423"/>
            <a:ext cx="3576217" cy="162763"/>
          </a:xfrm>
          <a:prstGeom prst="rect">
            <a:avLst/>
          </a:prstGeom>
          <a:noFill/>
          <a:ln/>
        </p:spPr>
        <p:txBody>
          <a:bodyPr wrap="square" lIns="0" rIns="0" tIns="0" bIns="0">
            <a:noAutofit/>
          </a:bodyPr>
          <a:lstStyle/>
          <a:p>
            <a:r>
              <a:rPr sz="900">
                <a:solidFill>
                  <a:srgbClr val="86868B"/>
                </a:solidFill>
                <a:latin typeface="Noto Sans JP"/>
              </a:rPr>
              <a:t>Data Source: Technical Survey Report [1,10,11,92,93,132]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67005" cy="267005"/>
          </a:xfrm>
          <a:prstGeom prst="rect">
            <a:avLst/>
          </a:prstGeom>
          <a:ln/>
        </p:spPr>
      </p:pic>
      <p:sp>
        <p:nvSpPr>
          <p:cNvPr id="7" name="TextBox 6"/>
          <p:cNvSpPr txBox="1"/>
          <p:nvPr/>
        </p:nvSpPr>
        <p:spPr>
          <a:xfrm>
            <a:off x="838505" y="381305"/>
            <a:ext cx="4645152" cy="381305"/>
          </a:xfrm>
          <a:prstGeom prst="rect">
            <a:avLst/>
          </a:prstGeom>
          <a:noFill/>
          <a:ln/>
        </p:spPr>
        <p:txBody>
          <a:bodyPr wrap="square" lIns="0" rIns="0" tIns="0" bIns="0">
            <a:noAutofit/>
          </a:bodyPr>
          <a:lstStyle/>
          <a:p>
            <a:r>
              <a:rPr sz="2100" b="1">
                <a:solidFill>
                  <a:srgbClr val="FFFFFF"/>
                </a:solidFill>
                <a:latin typeface="Noto Sans JP"/>
              </a:rPr>
              <a:t>Apple Silicon Tier（完全版表2）</a:t>
            </a:r>
          </a:p>
        </p:txBody>
      </p:sp>
      <p:sp>
        <p:nvSpPr>
          <p:cNvPr id="8" name="TextBox 7"/>
          <p:cNvSpPr txBox="1"/>
          <p:nvPr/>
        </p:nvSpPr>
        <p:spPr>
          <a:xfrm>
            <a:off x="8050378" y="457200"/>
            <a:ext cx="3918204" cy="228600"/>
          </a:xfrm>
          <a:prstGeom prst="rect">
            <a:avLst/>
          </a:prstGeom>
          <a:noFill/>
          <a:ln/>
        </p:spPr>
        <p:txBody>
          <a:bodyPr wrap="square" lIns="0" rIns="0" tIns="0" bIns="0">
            <a:noAutofit/>
          </a:bodyPr>
          <a:lstStyle/>
          <a:p>
            <a:r>
              <a:rPr sz="1200">
                <a:solidFill>
                  <a:srgbClr val="A1A1A6"/>
                </a:solidFill>
                <a:latin typeface="Noto Sans JP"/>
              </a:rPr>
              <a:t>A-64 / A-96/128：高品質ローカルの到達点と運用指針</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72407"/>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5306263"/>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1768754">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1768754">
                <a:tc>
                  <a:txBody>
                    <a:bodyPr/>
                    <a:lstStyle/>
                    <a:p>
                      <a:r>
                        <a:t>A-64</a:t>
                      </a:r>
                    </a:p>
                    <a:p>
                      <a:r>
                        <a:t>High-End</a:t>
                      </a:r>
                    </a:p>
                  </a:txBody>
                  <a:tcPr/>
                </a:tc>
                <a:tc>
                  <a:txBody>
                    <a:bodyPr/>
                    <a:lstStyle/>
                    <a:p>
                      <a:r>
                        <a:t>Apple 64GB</a:t>
                      </a:r>
                    </a:p>
                    <a:p>
                      <a:r>
                        <a:t>(M1 Max等)</a:t>
                      </a:r>
                    </a:p>
                    <a:p>
                      <a:r>
                        <a:t>[1, 92]</a:t>
                      </a:r>
                    </a:p>
                  </a:txBody>
                  <a:tcPr/>
                </a:tc>
                <a:tc>
                  <a:txBody>
                    <a:bodyPr/>
                    <a:lstStyle/>
                    <a:p>
                      <a:r>
                        <a:t>14B〜32B</a:t>
                      </a:r>
                    </a:p>
                    <a:p>
                      <a:r>
                        <a:t>(4bit)</a:t>
                      </a:r>
                    </a:p>
                  </a:txBody>
                  <a:tcPr/>
                </a:tc>
                <a:tc>
                  <a:txBody>
                    <a:bodyPr/>
                    <a:lstStyle/>
                    <a:p>
                      <a:r>
                        <a:t>可</a:t>
                      </a:r>
                    </a:p>
                  </a:txBody>
                  <a:tcPr/>
                </a:tc>
                <a:tc>
                  <a:txBody>
                    <a:bodyPr/>
                    <a:lstStyle/>
                    <a:p>
                      <a:r>
                        <a:t>余裕あり</a:t>
                      </a:r>
                    </a:p>
                    <a:p>
                      <a:r>
                        <a:t>LLM+VLM等</a:t>
                      </a:r>
                    </a:p>
                  </a:txBody>
                  <a:tcPr/>
                </a:tc>
                <a:tc>
                  <a:txBody>
                    <a:bodyPr/>
                    <a:lstStyle/>
                    <a:p>
                      <a:r>
                        <a:t>長文会議は要約で圧縮し、KV最適化を活用。</a:t>
                      </a:r>
                    </a:p>
                    <a:p>
                      <a:r>
                        <a:t>M1 Max等で64GB構成が公式に提示されており、32B級モデルの実用的なスイートスポット。</a:t>
                      </a:r>
                    </a:p>
                    <a:p>
                      <a:r>
                        <a:t>32Bモデル（4bit）で約16-18GB消費、残りでVLM/ASR/OSを十分に賄える。</a:t>
                      </a:r>
                    </a:p>
                    <a:p>
                      <a:r>
                        <a:t>長文コンテキスト（RAG/会議録）ではKVキャッシュが数GB単位で消費されるため、paged KV等の活用が効果的。</a:t>
                      </a:r>
                    </a:p>
                  </a:txBody>
                  <a:tcPr/>
                </a:tc>
              </a:tr>
              <a:tr h="1768755">
                <a:tc>
                  <a:txBody>
                    <a:bodyPr/>
                    <a:lstStyle/>
                    <a:p>
                      <a:r>
                        <a:t>A-96/128</a:t>
                      </a:r>
                    </a:p>
                    <a:p>
                      <a:r>
                        <a:t>Ultra</a:t>
                      </a:r>
                    </a:p>
                  </a:txBody>
                  <a:tcPr/>
                </a:tc>
                <a:tc>
                  <a:txBody>
                    <a:bodyPr/>
                    <a:lstStyle/>
                    <a:p>
                      <a:r>
                        <a:t>Apple 96〜128GB</a:t>
                      </a:r>
                    </a:p>
                    <a:p>
                      <a:r>
                        <a:t>(M2/M3/M4 Max/Ultra)</a:t>
                      </a:r>
                    </a:p>
                    <a:p>
                      <a:r>
                        <a:t>[93, 94]</a:t>
                      </a:r>
                    </a:p>
                  </a:txBody>
                  <a:tcPr/>
                </a:tc>
                <a:tc>
                  <a:txBody>
                    <a:bodyPr/>
                    <a:lstStyle/>
                    <a:p>
                      <a:r>
                        <a:t>32B〜70B</a:t>
                      </a:r>
                    </a:p>
                    <a:p>
                      <a:r>
                        <a:t>(4bit)</a:t>
                      </a:r>
                    </a:p>
                  </a:txBody>
                  <a:tcPr/>
                </a:tc>
                <a:tc>
                  <a:txBody>
                    <a:bodyPr/>
                    <a:lstStyle/>
                    <a:p>
                      <a:r>
                        <a:t>可</a:t>
                      </a:r>
                    </a:p>
                    <a:p>
                      <a:r>
                        <a:t>(重い)</a:t>
                      </a:r>
                    </a:p>
                  </a:txBody>
                  <a:tcPr/>
                </a:tc>
                <a:tc>
                  <a:txBody>
                    <a:bodyPr/>
                    <a:lstStyle/>
                    <a:p>
                      <a:r>
                        <a:t>構成次第</a:t>
                      </a:r>
                    </a:p>
                    <a:p>
                      <a:r>
                        <a:t>高品質RAG等</a:t>
                      </a:r>
                    </a:p>
                  </a:txBody>
                  <a:tcPr/>
                </a:tc>
                <a:tc>
                  <a:txBody>
                    <a:bodyPr/>
                    <a:lstStyle/>
                    <a:p>
                      <a:r>
                        <a:t>“高品質ローカル”の現実ライン。</a:t>
                      </a:r>
                    </a:p>
                    <a:p>
                      <a:r>
                        <a:t>70B級（4bitで約40GB）をロードしても、まだ50GB以上の余裕がある圧倒的なメモリ空間。</a:t>
                      </a:r>
                    </a:p>
                    <a:p>
                      <a:r>
                        <a:t>M3/M4で最大128GB構成が公式に提示され、ローカルで最高品質の推論が可能。</a:t>
                      </a:r>
                    </a:p>
                    <a:p>
                      <a:r>
                        <a:t>大規模モデルの常駐運用が可能だが、推論速度（tok/s）はメモリ帯域幅に依存するため、実用速度が出るかの確認が必要。</a:t>
                      </a:r>
                    </a:p>
                    <a:p>
                      <a:r>
                        <a:t>マルチモーダル（VLM 72B等）や複雑なAgentワークフローも視野に入る。</a:t>
                      </a:r>
                    </a:p>
                  </a:txBody>
                  <a:tcPr/>
                </a:tc>
              </a:tr>
            </a:tbl>
          </a:graphicData>
        </a:graphic>
      </p:graphicFrame>
      <p:sp>
        <p:nvSpPr>
          <p:cNvPr id="12" name="Rectangle 11"/>
          <p:cNvSpPr/>
          <p:nvPr/>
        </p:nvSpPr>
        <p:spPr>
          <a:xfrm>
            <a:off x="457200" y="5690311"/>
            <a:ext cx="11277295" cy="552298"/>
          </a:xfrm>
          <a:prstGeom prst="rect">
            <a:avLst/>
          </a:prstGeom>
          <a:solidFill>
            <a:srgbClr val="E8F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90311"/>
            <a:ext cx="38404" cy="552298"/>
          </a:xfrm>
          <a:prstGeom prst="rect">
            <a:avLst/>
          </a:prstGeom>
          <a:solidFill>
            <a:srgbClr val="43A047"/>
          </a:solidFill>
          <a:ln w="12700">
            <a:solidFill>
              <a:srgbClr val="43A0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823814"/>
            <a:ext cx="152704" cy="152705"/>
          </a:xfrm>
          <a:prstGeom prst="rect">
            <a:avLst/>
          </a:prstGeom>
          <a:ln/>
        </p:spPr>
      </p:pic>
      <p:sp>
        <p:nvSpPr>
          <p:cNvPr id="15" name="TextBox 14"/>
          <p:cNvSpPr txBox="1"/>
          <p:nvPr/>
        </p:nvSpPr>
        <p:spPr>
          <a:xfrm>
            <a:off x="914400" y="5804611"/>
            <a:ext cx="10744200" cy="324612"/>
          </a:xfrm>
          <a:prstGeom prst="rect">
            <a:avLst/>
          </a:prstGeom>
          <a:noFill/>
          <a:ln/>
        </p:spPr>
        <p:txBody>
          <a:bodyPr wrap="square" lIns="0" rIns="0" tIns="0" bIns="0">
            <a:noAutofit/>
          </a:bodyPr>
          <a:lstStyle/>
          <a:p>
            <a:r>
              <a:rPr sz="900" b="1">
                <a:solidFill>
                  <a:srgbClr val="1B5E20"/>
                </a:solidFill>
                <a:latin typeface="Noto Sans JP"/>
              </a:rPr>
              <a:t>到達点の意味：</a:t>
            </a:r>
            <a:r>
              <a:rPr sz="900">
                <a:solidFill>
                  <a:srgbClr val="1B5E20"/>
                </a:solidFill>
                <a:latin typeface="Noto Sans JP"/>
              </a:rPr>
              <a:t> A-64以上は「妥協のないローカルAI」を実現する領域です。特にUnified Memory Architecture (UMA) の恩恵により、同等VRAMを持つディスクリートGPU構成よりも低コストかつ省電力に大規模モデルを扱えます。ただし、推論速度（スループット）は専用GPUに劣る場合があるため、レイテンシ要件が厳しい場合は量子化レベルの調整やプロンプトキャッシュの活用が重要になりま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54 | ローカルAI 技術調査レポート 2026</a:t>
            </a:r>
          </a:p>
        </p:txBody>
      </p:sp>
      <p:sp>
        <p:nvSpPr>
          <p:cNvPr id="19" name="TextBox 18"/>
          <p:cNvSpPr txBox="1"/>
          <p:nvPr/>
        </p:nvSpPr>
        <p:spPr>
          <a:xfrm>
            <a:off x="9034272" y="6586423"/>
            <a:ext cx="3219602" cy="162763"/>
          </a:xfrm>
          <a:prstGeom prst="rect">
            <a:avLst/>
          </a:prstGeom>
          <a:noFill/>
          <a:ln/>
        </p:spPr>
        <p:txBody>
          <a:bodyPr wrap="square" lIns="0" rIns="0" tIns="0" bIns="0">
            <a:noAutofit/>
          </a:bodyPr>
          <a:lstStyle/>
          <a:p>
            <a:r>
              <a:rPr sz="900">
                <a:solidFill>
                  <a:srgbClr val="86868B"/>
                </a:solidFill>
                <a:latin typeface="Noto Sans JP"/>
              </a:rPr>
              <a:t>Data Source: Technical Survey Report [1, 92, 93, 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0078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p:spPr>
      </p:pic>
      <p:sp>
        <p:nvSpPr>
          <p:cNvPr id="7" name="TextBox 6"/>
          <p:cNvSpPr txBox="1"/>
          <p:nvPr/>
        </p:nvSpPr>
        <p:spPr>
          <a:xfrm>
            <a:off x="809244" y="381305"/>
            <a:ext cx="3653028" cy="381305"/>
          </a:xfrm>
          <a:prstGeom prst="rect">
            <a:avLst/>
          </a:prstGeom>
          <a:noFill/>
          <a:ln/>
        </p:spPr>
        <p:txBody>
          <a:bodyPr wrap="square" lIns="0" rIns="0" tIns="0" bIns="0">
            <a:noAutofit/>
          </a:bodyPr>
          <a:lstStyle/>
          <a:p>
            <a:r>
              <a:rPr sz="2100" b="1">
                <a:solidFill>
                  <a:srgbClr val="FFFFFF"/>
                </a:solidFill>
                <a:latin typeface="Noto Sans JP"/>
              </a:rPr>
              <a:t>Windows Tier（完全版表1）</a:t>
            </a:r>
          </a:p>
        </p:txBody>
      </p:sp>
      <p:sp>
        <p:nvSpPr>
          <p:cNvPr id="8" name="TextBox 7"/>
          <p:cNvSpPr txBox="1"/>
          <p:nvPr/>
        </p:nvSpPr>
        <p:spPr>
          <a:xfrm>
            <a:off x="8651138" y="457200"/>
            <a:ext cx="3643884" cy="228600"/>
          </a:xfrm>
          <a:prstGeom prst="rect">
            <a:avLst/>
          </a:prstGeom>
          <a:noFill/>
          <a:ln/>
        </p:spPr>
        <p:txBody>
          <a:bodyPr wrap="square" lIns="0" rIns="0" tIns="0" bIns="0">
            <a:noAutofit/>
          </a:bodyPr>
          <a:lstStyle/>
          <a:p>
            <a:r>
              <a:rPr sz="1200">
                <a:solidFill>
                  <a:srgbClr val="E3F2FD"/>
                </a:solidFill>
                <a:latin typeface="Noto Sans JP"/>
              </a:rPr>
              <a:t>W-CPU1 / W-CPU2 / G-8 / G-12 の現実ライン</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4143146"/>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553711"/>
        </p:xfrm>
        <a:graphic>
          <a:graphicData uri="http://schemas.openxmlformats.org/drawingml/2006/table">
            <a:tbl>
              <a:tblPr firstRow="1" bandRow="1">
                <a:tableStyleId>{5C22544A-7EE6-4342-B048-85BDC9FD1C3A}</a:tableStyleId>
              </a:tblPr>
              <a:tblGrid>
                <a:gridCol w="1879701"/>
                <a:gridCol w="1879701"/>
                <a:gridCol w="1879701"/>
                <a:gridCol w="1879701"/>
                <a:gridCol w="1879701"/>
                <a:gridCol w="1879705"/>
              </a:tblGrid>
              <a:tr h="91074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a:t>
                      </a:r>
                    </a:p>
                  </a:txBody>
                  <a:tcPr/>
                </a:tc>
                <a:tc>
                  <a:txBody>
                    <a:bodyPr/>
                    <a:lstStyle/>
                    <a:p>
                      <a:r>
                        <a:t>同時実行</a:t>
                      </a:r>
                    </a:p>
                  </a:txBody>
                  <a:tcPr/>
                </a:tc>
                <a:tc>
                  <a:txBody>
                    <a:bodyPr/>
                    <a:lstStyle/>
                    <a:p>
                      <a:r>
                        <a:t>設計指針</a:t>
                      </a:r>
                    </a:p>
                  </a:txBody>
                  <a:tcPr/>
                </a:tc>
              </a:tr>
              <a:tr h="910742">
                <a:tc>
                  <a:txBody>
                    <a:bodyPr/>
                    <a:lstStyle/>
                    <a:p>
                      <a:r>
                        <a:t>W-CPU1</a:t>
                      </a:r>
                    </a:p>
                  </a:txBody>
                  <a:tcPr/>
                </a:tc>
                <a:tc>
                  <a:txBody>
                    <a:bodyPr/>
                    <a:lstStyle/>
                    <a:p>
                      <a:r>
                        <a:t>CPU-only</a:t>
                      </a:r>
                    </a:p>
                    <a:p>
                      <a:r>
                        <a:t>8C/16T級 + 32GB RAM</a:t>
                      </a:r>
                    </a:p>
                  </a:txBody>
                  <a:tcPr/>
                </a:tc>
                <a:tc>
                  <a:txBody>
                    <a:bodyPr/>
                    <a:lstStyle/>
                    <a:p>
                      <a:r>
                        <a:t>3B〜7B (4bit)</a:t>
                      </a:r>
                    </a:p>
                  </a:txBody>
                  <a:tcPr/>
                </a:tc>
                <a:tc>
                  <a:txBody>
                    <a:bodyPr/>
                    <a:lstStyle/>
                    <a:p>
                      <a:r>
                        <a:t>条件付き</a:t>
                      </a:r>
                    </a:p>
                    <a:p>
                      <a:r>
                        <a:t>負荷高</a:t>
                      </a:r>
                    </a:p>
                  </a:txBody>
                  <a:tcPr/>
                </a:tc>
                <a:tc>
                  <a:txBody>
                    <a:bodyPr/>
                    <a:lstStyle/>
                    <a:p>
                      <a:r>
                        <a:t>厳しい</a:t>
                      </a:r>
                    </a:p>
                    <a:p>
                      <a:r>
                        <a:t>オンデマンド推奨</a:t>
                      </a:r>
                    </a:p>
                  </a:txBody>
                  <a:tcPr/>
                </a:tc>
                <a:tc>
                  <a:txBody>
                    <a:bodyPr/>
                    <a:lstStyle/>
                    <a:p>
                      <a:r>
                        <a:t>CPU最適化命令（AVX-512/VNNI/AMX等）を活用[13]。常駐は“小型＋短文”に限定し、重い処理は避ける。</a:t>
                      </a:r>
                    </a:p>
                  </a:txBody>
                  <a:tcPr/>
                </a:tc>
              </a:tr>
              <a:tr h="910742">
                <a:tc>
                  <a:txBody>
                    <a:bodyPr/>
                    <a:lstStyle/>
                    <a:p>
                      <a:r>
                        <a:t>W-CPU2</a:t>
                      </a:r>
                    </a:p>
                  </a:txBody>
                  <a:tcPr/>
                </a:tc>
                <a:tc>
                  <a:txBody>
                    <a:bodyPr/>
                    <a:lstStyle/>
                    <a:p>
                      <a:r>
                        <a:t>CPU-only</a:t>
                      </a:r>
                    </a:p>
                    <a:p>
                      <a:r>
                        <a:t>16C/32T級 + 64GB RAM</a:t>
                      </a:r>
                    </a:p>
                  </a:txBody>
                  <a:tcPr/>
                </a:tc>
                <a:tc>
                  <a:txBody>
                    <a:bodyPr/>
                    <a:lstStyle/>
                    <a:p>
                      <a:r>
                        <a:t>7B〜14B (4bit)</a:t>
                      </a:r>
                    </a:p>
                  </a:txBody>
                  <a:tcPr/>
                </a:tc>
                <a:tc>
                  <a:txBody>
                    <a:bodyPr/>
                    <a:lstStyle/>
                    <a:p>
                      <a:r>
                        <a:t>可</a:t>
                      </a:r>
                    </a:p>
                    <a:p>
                      <a:r>
                        <a:t>ただし速度要検証</a:t>
                      </a:r>
                    </a:p>
                  </a:txBody>
                  <a:tcPr/>
                </a:tc>
                <a:tc>
                  <a:txBody>
                    <a:bodyPr/>
                    <a:lstStyle/>
                    <a:p>
                      <a:r>
                        <a:t>設計次第</a:t>
                      </a:r>
                    </a:p>
                  </a:txBody>
                  <a:tcPr/>
                </a:tc>
                <a:tc>
                  <a:txBody>
                    <a:bodyPr/>
                    <a:lstStyle/>
                    <a:p>
                      <a:r>
                        <a:t>夜間バッチ（Embedding/OCR）で負荷平準化。メモリ余裕はあるが計算速度が律速。</a:t>
                      </a:r>
                    </a:p>
                  </a:txBody>
                  <a:tcPr/>
                </a:tc>
              </a:tr>
              <a:tr h="910742">
                <a:tc>
                  <a:txBody>
                    <a:bodyPr/>
                    <a:lstStyle/>
                    <a:p>
                      <a:r>
                        <a:t>G-8</a:t>
                      </a:r>
                    </a:p>
                  </a:txBody>
                  <a:tcPr/>
                </a:tc>
                <a:tc>
                  <a:txBody>
                    <a:bodyPr/>
                    <a:lstStyle/>
                    <a:p>
                      <a:r>
                        <a:t>NVIDIA GPU</a:t>
                      </a:r>
                    </a:p>
                    <a:p>
                      <a:r>
                        <a:t>VRAM 8GB</a:t>
                      </a:r>
                    </a:p>
                  </a:txBody>
                  <a:tcPr/>
                </a:tc>
                <a:tc>
                  <a:txBody>
                    <a:bodyPr/>
                    <a:lstStyle/>
                    <a:p>
                      <a:r>
                        <a:t>7B中心 (4bit)</a:t>
                      </a:r>
                    </a:p>
                  </a:txBody>
                  <a:tcPr/>
                </a:tc>
                <a:tc>
                  <a:txBody>
                    <a:bodyPr/>
                    <a:lstStyle/>
                    <a:p>
                      <a:r>
                        <a:t>可</a:t>
                      </a:r>
                    </a:p>
                    <a:p>
                      <a:r>
                        <a:t>短文に限る</a:t>
                      </a:r>
                    </a:p>
                  </a:txBody>
                  <a:tcPr/>
                </a:tc>
                <a:tc>
                  <a:txBody>
                    <a:bodyPr/>
                    <a:lstStyle/>
                    <a:p>
                      <a:r>
                        <a:t>軽量なら可</a:t>
                      </a:r>
                    </a:p>
                  </a:txBody>
                  <a:tcPr/>
                </a:tc>
                <a:tc>
                  <a:txBody>
                    <a:bodyPr/>
                    <a:lstStyle/>
                    <a:p>
                      <a:r>
                        <a:t>画像生成SDXL等は設定依存で厳しいため要ベンチ。7B級LLM単体なら快適に動作。</a:t>
                      </a:r>
                    </a:p>
                  </a:txBody>
                  <a:tcPr/>
                </a:tc>
              </a:tr>
              <a:tr h="910743">
                <a:tc>
                  <a:txBody>
                    <a:bodyPr/>
                    <a:lstStyle/>
                    <a:p>
                      <a:r>
                        <a:t>G-12</a:t>
                      </a:r>
                    </a:p>
                  </a:txBody>
                  <a:tcPr/>
                </a:tc>
                <a:tc>
                  <a:txBody>
                    <a:bodyPr/>
                    <a:lstStyle/>
                    <a:p>
                      <a:r>
                        <a:t>NVIDIA GPU</a:t>
                      </a:r>
                    </a:p>
                    <a:p>
                      <a:r>
                        <a:t>VRAM 12GB</a:t>
                      </a:r>
                    </a:p>
                  </a:txBody>
                  <a:tcPr/>
                </a:tc>
                <a:tc>
                  <a:txBody>
                    <a:bodyPr/>
                    <a:lstStyle/>
                    <a:p>
                      <a:r>
                        <a:t>7B〜14B (4bit)</a:t>
                      </a:r>
                    </a:p>
                  </a:txBody>
                  <a:tcPr/>
                </a:tc>
                <a:tc>
                  <a:txBody>
                    <a:bodyPr/>
                    <a:lstStyle/>
                    <a:p>
                      <a:r>
                        <a:t>可</a:t>
                      </a:r>
                    </a:p>
                  </a:txBody>
                  <a:tcPr/>
                </a:tc>
                <a:tc>
                  <a:txBody>
                    <a:bodyPr/>
                    <a:lstStyle/>
                    <a:p>
                      <a:r>
                        <a:t>現実化</a:t>
                      </a:r>
                    </a:p>
                  </a:txBody>
                  <a:tcPr/>
                </a:tc>
                <a:tc>
                  <a:txBody>
                    <a:bodyPr/>
                    <a:lstStyle/>
                    <a:p>
                      <a:r>
                        <a:t>14B級が視野に入る。VLM 2B〜7B級やASR GPU版を同時に載せやすく、実用性が高い。</a:t>
                      </a:r>
                    </a:p>
                  </a:txBody>
                  <a:tcPr/>
                </a:tc>
              </a:tr>
            </a:tbl>
          </a:graphicData>
        </a:graphic>
      </p:graphicFrame>
      <p:sp>
        <p:nvSpPr>
          <p:cNvPr id="12" name="Rectangle 11"/>
          <p:cNvSpPr/>
          <p:nvPr/>
        </p:nvSpPr>
        <p:spPr>
          <a:xfrm>
            <a:off x="457200" y="5661965"/>
            <a:ext cx="11277295" cy="580643"/>
          </a:xfrm>
          <a:prstGeom prst="rect">
            <a:avLst/>
          </a:prstGeom>
          <a:solidFill>
            <a:srgbClr val="E1F5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661965"/>
            <a:ext cx="38404" cy="580643"/>
          </a:xfrm>
          <a:prstGeom prst="rect">
            <a:avLst/>
          </a:prstGeom>
          <a:solidFill>
            <a:srgbClr val="0288D1"/>
          </a:solidFill>
          <a:ln w="12700">
            <a:solidFill>
              <a:srgbClr val="0288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647395" y="5795467"/>
            <a:ext cx="152704" cy="152705"/>
          </a:xfrm>
          <a:prstGeom prst="rect">
            <a:avLst/>
          </a:prstGeom>
          <a:ln/>
        </p:spPr>
      </p:pic>
      <p:sp>
        <p:nvSpPr>
          <p:cNvPr id="15" name="TextBox 14"/>
          <p:cNvSpPr txBox="1"/>
          <p:nvPr/>
        </p:nvSpPr>
        <p:spPr>
          <a:xfrm>
            <a:off x="914400" y="5776265"/>
            <a:ext cx="10744200" cy="352958"/>
          </a:xfrm>
          <a:prstGeom prst="rect">
            <a:avLst/>
          </a:prstGeom>
          <a:noFill/>
          <a:ln/>
        </p:spPr>
        <p:txBody>
          <a:bodyPr wrap="square" lIns="0" rIns="0" tIns="0" bIns="0">
            <a:noAutofit/>
          </a:bodyPr>
          <a:lstStyle/>
          <a:p>
            <a:r>
              <a:rPr sz="900" b="1">
                <a:solidFill>
                  <a:srgbClr val="01579B"/>
                </a:solidFill>
                <a:latin typeface="Noto Sans JP"/>
              </a:rPr>
              <a:t>最適化のポイント：</a:t>
            </a:r>
            <a:r>
              <a:rPr sz="900">
                <a:solidFill>
                  <a:srgbClr val="01579B"/>
                </a:solidFill>
                <a:latin typeface="Noto Sans JP"/>
              </a:rPr>
              <a:t>WindowsのCPU推論はIntel拡張（IPEX）やOpenVINO等の最適化が効く場合があります</a:t>
            </a:r>
            <a:r>
              <a:rPr sz="900">
                <a:solidFill>
                  <a:srgbClr val="01579B"/>
                </a:solidFill>
                <a:latin typeface="Noto Sans JP"/>
              </a:rPr>
              <a:t>。GPU（G-8/12）では、VRAM不足時にシステムRAMへ溢れると劇的に遅くなるため、タスクマネージャー等でVRAM使用率を厳密に監視してください。 </a:t>
            </a:r>
          </a:p>
        </p:txBody>
      </p:sp>
      <p:pic>
        <p:nvPicPr>
          <p:cNvPr id="16" name="Picture 15" descr="image.png"/>
          <p:cNvPicPr>
            <a:picLocks noChangeAspect="1"/>
          </p:cNvPicPr>
          <p:nvPr/>
        </p:nvPicPr>
        <p:blipFill>
          <a:blip r:embed="rId4"/>
          <a:stretch>
            <a:fillRect/>
          </a:stretch>
        </p:blipFill>
        <p:spPr>
          <a:xfrm>
            <a:off x="6452006" y="5757062"/>
            <a:ext cx="619048" cy="161848"/>
          </a:xfrm>
          <a:prstGeom prst="rect">
            <a:avLst/>
          </a:prstGeom>
          <a:ln/>
        </p:spPr>
      </p:pic>
      <p:sp>
        <p:nvSpPr>
          <p:cNvPr id="17" name="TextBox 16"/>
          <p:cNvSpPr txBox="1"/>
          <p:nvPr/>
        </p:nvSpPr>
        <p:spPr>
          <a:xfrm>
            <a:off x="6452006" y="5757062"/>
            <a:ext cx="619962" cy="162763"/>
          </a:xfrm>
          <a:prstGeom prst="rect">
            <a:avLst/>
          </a:prstGeom>
          <a:noFill/>
          <a:ln>
            <a:solidFill>
              <a:srgbClr val="FFFFFF"/>
            </a:solidFill>
          </a:ln>
        </p:spPr>
        <p:txBody>
          <a:bodyPr wrap="square" lIns="0" rIns="0" tIns="0" bIns="0">
            <a:noAutofit/>
          </a:bodyPr>
          <a:lstStyle/>
          <a:p>
            <a:r>
              <a:rPr sz="800">
                <a:solidFill>
                  <a:srgbClr val="86868B"/>
                </a:solidFill>
                <a:latin typeface="Noto Sans JP"/>
              </a:rPr>
              <a:t>[13,135,136]</a:t>
            </a:r>
          </a:p>
        </p:txBody>
      </p:sp>
      <p:sp>
        <p:nvSpPr>
          <p:cNvPr id="18" name="Rectangle 17"/>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55 | ローカルAI 技術調査レポート 2026</a:t>
            </a:r>
          </a:p>
        </p:txBody>
      </p:sp>
      <p:sp>
        <p:nvSpPr>
          <p:cNvPr id="21" name="TextBox 20"/>
          <p:cNvSpPr txBox="1"/>
          <p:nvPr/>
        </p:nvSpPr>
        <p:spPr>
          <a:xfrm>
            <a:off x="9027871" y="6586423"/>
            <a:ext cx="3230574" cy="162763"/>
          </a:xfrm>
          <a:prstGeom prst="rect">
            <a:avLst/>
          </a:prstGeom>
          <a:noFill/>
          <a:ln/>
        </p:spPr>
        <p:txBody>
          <a:bodyPr wrap="square" lIns="0" rIns="0" tIns="0" bIns="0">
            <a:noAutofit/>
          </a:bodyPr>
          <a:lstStyle/>
          <a:p>
            <a:r>
              <a:rPr sz="900">
                <a:solidFill>
                  <a:srgbClr val="86868B"/>
                </a:solidFill>
                <a:latin typeface="Noto Sans JP"/>
              </a:rPr>
              <a:t>Data Source: Technical Survey Report [13, 135, 136]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304495" cy="267005"/>
          </a:xfrm>
          <a:prstGeom prst="rect">
            <a:avLst/>
          </a:prstGeom>
          <a:ln/>
        </p:spPr>
      </p:pic>
      <p:sp>
        <p:nvSpPr>
          <p:cNvPr id="7" name="TextBox 6"/>
          <p:cNvSpPr txBox="1"/>
          <p:nvPr/>
        </p:nvSpPr>
        <p:spPr>
          <a:xfrm>
            <a:off x="875994" y="381305"/>
            <a:ext cx="3653028" cy="381305"/>
          </a:xfrm>
          <a:prstGeom prst="rect">
            <a:avLst/>
          </a:prstGeom>
          <a:noFill/>
          <a:ln/>
        </p:spPr>
        <p:txBody>
          <a:bodyPr wrap="square" lIns="0" rIns="0" tIns="0" bIns="0">
            <a:noAutofit/>
          </a:bodyPr>
          <a:lstStyle/>
          <a:p>
            <a:r>
              <a:rPr sz="2100" b="1">
                <a:solidFill>
                  <a:srgbClr val="FFFFFF"/>
                </a:solidFill>
                <a:latin typeface="Noto Sans JP"/>
              </a:rPr>
              <a:t>Windows Tier（完全版表2）</a:t>
            </a:r>
          </a:p>
        </p:txBody>
      </p:sp>
      <p:sp>
        <p:nvSpPr>
          <p:cNvPr id="8" name="TextBox 7"/>
          <p:cNvSpPr txBox="1"/>
          <p:nvPr/>
        </p:nvSpPr>
        <p:spPr>
          <a:xfrm>
            <a:off x="8328354" y="457200"/>
            <a:ext cx="3899916" cy="228600"/>
          </a:xfrm>
          <a:prstGeom prst="rect">
            <a:avLst/>
          </a:prstGeom>
          <a:noFill/>
          <a:ln/>
        </p:spPr>
        <p:txBody>
          <a:bodyPr wrap="square" lIns="0" rIns="0" tIns="0" bIns="0">
            <a:noAutofit/>
          </a:bodyPr>
          <a:lstStyle/>
          <a:p>
            <a:r>
              <a:rPr sz="1200">
                <a:solidFill>
                  <a:srgbClr val="A1A1A6"/>
                </a:solidFill>
                <a:latin typeface="Noto Sans JP"/>
              </a:rPr>
              <a:t>高品質・実務用：G-16 (16GB) / G-24 (24GB) 定義</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11296498" cy="3857854"/>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11278210" cy="4286706"/>
        </p:xfrm>
        <a:graphic>
          <a:graphicData uri="http://schemas.openxmlformats.org/drawingml/2006/table">
            <a:tbl>
              <a:tblPr firstRow="1" bandRow="1">
                <a:tableStyleId>{5C22544A-7EE6-4342-B048-85BDC9FD1C3A}</a:tableStyleId>
              </a:tblPr>
              <a:tblGrid>
                <a:gridCol w="2255642"/>
                <a:gridCol w="2255642"/>
                <a:gridCol w="2255642"/>
                <a:gridCol w="2255642"/>
                <a:gridCol w="2255642"/>
              </a:tblGrid>
              <a:tr h="1428902">
                <a:tc>
                  <a:txBody>
                    <a:bodyPr/>
                    <a:lstStyle/>
                    <a:p>
                      <a:r>
                        <a:t>Tier</a:t>
                      </a:r>
                    </a:p>
                  </a:txBody>
                  <a:tcPr/>
                </a:tc>
                <a:tc>
                  <a:txBody>
                    <a:bodyPr/>
                    <a:lstStyle/>
                    <a:p>
                      <a:r>
                        <a:t>想定ハード</a:t>
                      </a:r>
                    </a:p>
                  </a:txBody>
                  <a:tcPr/>
                </a:tc>
                <a:tc>
                  <a:txBody>
                    <a:bodyPr/>
                    <a:lstStyle/>
                    <a:p>
                      <a:r>
                        <a:t>現実的なLLM規模</a:t>
                      </a:r>
                    </a:p>
                  </a:txBody>
                  <a:tcPr/>
                </a:tc>
                <a:tc>
                  <a:txBody>
                    <a:bodyPr/>
                    <a:lstStyle/>
                    <a:p>
                      <a:r>
                        <a:t>常駐可否 / 同時実行</a:t>
                      </a:r>
                    </a:p>
                  </a:txBody>
                  <a:tcPr/>
                </a:tc>
                <a:tc>
                  <a:txBody>
                    <a:bodyPr/>
                    <a:lstStyle/>
                    <a:p>
                      <a:r>
                        <a:t>設計指針</a:t>
                      </a:r>
                    </a:p>
                  </a:txBody>
                  <a:tcPr/>
                </a:tc>
              </a:tr>
              <a:tr h="1428902">
                <a:tc>
                  <a:txBody>
                    <a:bodyPr/>
                    <a:lstStyle/>
                    <a:p>
                      <a:r>
                        <a:t>G-16</a:t>
                      </a:r>
                    </a:p>
                  </a:txBody>
                  <a:tcPr/>
                </a:tc>
                <a:tc>
                  <a:txBody>
                    <a:bodyPr/>
                    <a:lstStyle/>
                    <a:p>
                      <a:r>
                        <a:t>VRAM 16GB</a:t>
                      </a:r>
                    </a:p>
                    <a:p>
                      <a:r>
                        <a:t>GeForce 4080 Laptop</a:t>
                      </a:r>
                    </a:p>
                    <a:p>
                      <a:r>
                        <a:t>RTX 4070 Ti Super 等</a:t>
                      </a:r>
                    </a:p>
                  </a:txBody>
                  <a:tcPr/>
                </a:tc>
                <a:tc>
                  <a:txBody>
                    <a:bodyPr/>
                    <a:lstStyle/>
                    <a:p>
                      <a:r>
                        <a:t>14B 〜 27B</a:t>
                      </a:r>
                    </a:p>
                    <a:p>
                      <a:r>
                        <a:t>(4bit量子化)</a:t>
                      </a:r>
                    </a:p>
                  </a:txBody>
                  <a:tcPr/>
                </a:tc>
                <a:tc>
                  <a:txBody>
                    <a:bodyPr/>
                    <a:lstStyle/>
                    <a:p>
                      <a:r>
                        <a:t>常駐: 可</a:t>
                      </a:r>
                    </a:p>
                    <a:p>
                      <a:r>
                        <a:t>同時: 高品質寄り成立</a:t>
                      </a:r>
                    </a:p>
                    <a:p>
                      <a:r>
                        <a:t>ASR/TTS/VLMとの</a:t>
                      </a:r>
                    </a:p>
                    <a:p>
                      <a:r>
                        <a:t>マルチモデル運用が可能</a:t>
                      </a:r>
                    </a:p>
                  </a:txBody>
                  <a:tcPr/>
                </a:tc>
                <a:tc>
                  <a:txBody>
                    <a:bodyPr/>
                    <a:lstStyle/>
                    <a:p>
                      <a:r>
                        <a:t>高品質なマルチモデル運用ライン</a:t>
                      </a:r>
                    </a:p>
                    <a:p>
                      <a:r>
                        <a:t>長文コンテキストはKVメモリを圧迫するため、FP8 KVキャッシュ等の採用余地があります。20B級モデルの運用も視野に入ります。</a:t>
                      </a:r>
                    </a:p>
                  </a:txBody>
                  <a:tcPr/>
                </a:tc>
              </a:tr>
              <a:tr h="1428902">
                <a:tc>
                  <a:txBody>
                    <a:bodyPr/>
                    <a:lstStyle/>
                    <a:p>
                      <a:r>
                        <a:t>G-24</a:t>
                      </a:r>
                    </a:p>
                  </a:txBody>
                  <a:tcPr/>
                </a:tc>
                <a:tc>
                  <a:txBody>
                    <a:bodyPr/>
                    <a:lstStyle/>
                    <a:p>
                      <a:r>
                        <a:t>VRAM 24GB</a:t>
                      </a:r>
                    </a:p>
                    <a:p>
                      <a:r>
                        <a:t>GeForce RTX 3090/4090</a:t>
                      </a:r>
                    </a:p>
                    <a:p>
                      <a:r>
                        <a:t>RTX 6000 Ada 等</a:t>
                      </a:r>
                    </a:p>
                  </a:txBody>
                  <a:tcPr/>
                </a:tc>
                <a:tc>
                  <a:txBody>
                    <a:bodyPr/>
                    <a:lstStyle/>
                    <a:p>
                      <a:r>
                        <a:t>27B 〜 34B</a:t>
                      </a:r>
                    </a:p>
                    <a:p>
                      <a:r>
                        <a:t>(4bit量子化)</a:t>
                      </a:r>
                    </a:p>
                  </a:txBody>
                  <a:tcPr/>
                </a:tc>
                <a:tc>
                  <a:txBody>
                    <a:bodyPr/>
                    <a:lstStyle/>
                    <a:p>
                      <a:r>
                        <a:t>常駐: 可</a:t>
                      </a:r>
                    </a:p>
                    <a:p>
                      <a:r>
                        <a:t>同時: 余裕あり</a:t>
                      </a:r>
                    </a:p>
                    <a:p>
                      <a:r>
                        <a:t>重い画像生成や大型VLMも</a:t>
                      </a:r>
                    </a:p>
                    <a:p>
                      <a:r>
                        <a:t>実務的に動作可能</a:t>
                      </a:r>
                    </a:p>
                  </a:txBody>
                  <a:tcPr/>
                </a:tc>
                <a:tc>
                  <a:txBody>
                    <a:bodyPr/>
                    <a:lstStyle/>
                    <a:p>
                      <a:r>
                        <a:t>実務における高品質ローカルの基準点</a:t>
                      </a:r>
                    </a:p>
                    <a:p>
                      <a:r>
                        <a:t>30B級LLMに加え、SDXL/FLUXなどの重い画像生成や大型VLMを同時に回せるポテンシャルがあります。70B級は単体ならギリギリ動作可能です（要4bit/EXL2等）。</a:t>
                      </a:r>
                    </a:p>
                  </a:txBody>
                  <a:tcPr/>
                </a:tc>
              </a:tr>
            </a:tbl>
          </a:graphicData>
        </a:graphic>
      </p:graphicFrame>
      <p:sp>
        <p:nvSpPr>
          <p:cNvPr id="12" name="Rectangle 11"/>
          <p:cNvSpPr/>
          <p:nvPr/>
        </p:nvSpPr>
        <p:spPr>
          <a:xfrm>
            <a:off x="457200" y="5376672"/>
            <a:ext cx="11277295" cy="866850"/>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5376672"/>
            <a:ext cx="38404" cy="866850"/>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724205" y="5567782"/>
            <a:ext cx="171907" cy="171906"/>
          </a:xfrm>
          <a:prstGeom prst="rect">
            <a:avLst/>
          </a:prstGeom>
          <a:ln/>
        </p:spPr>
      </p:pic>
      <p:sp>
        <p:nvSpPr>
          <p:cNvPr id="15" name="TextBox 14"/>
          <p:cNvSpPr txBox="1"/>
          <p:nvPr/>
        </p:nvSpPr>
        <p:spPr>
          <a:xfrm>
            <a:off x="1047902" y="5529377"/>
            <a:ext cx="8554212" cy="562355"/>
          </a:xfrm>
          <a:prstGeom prst="rect">
            <a:avLst/>
          </a:prstGeom>
          <a:noFill/>
          <a:ln/>
        </p:spPr>
        <p:txBody>
          <a:bodyPr wrap="square" lIns="0" rIns="0" tIns="0" bIns="0">
            <a:noAutofit/>
          </a:bodyPr>
          <a:lstStyle/>
          <a:p>
            <a:r>
              <a:rPr sz="900" b="1">
                <a:solidFill>
                  <a:srgbClr val="1D1D1F"/>
                </a:solidFill>
                <a:latin typeface="Noto Sans JP"/>
              </a:rPr>
              <a:t>KVキャッシュに関する重要な注意点：</a:t>
            </a:r>
          </a:p>
          <a:p>
            <a:r>
              <a:rPr sz="900">
                <a:solidFill>
                  <a:srgbClr val="5D4037"/>
                </a:solidFill>
                <a:latin typeface="Noto Sans JP"/>
              </a:rPr>
              <a:t> VRAMに余裕があっても、長文コンテキスト（32k〜128k）を扱うとKVキャッシュがVRAMを大量に消費し、OOM（Out Of Memory）の原因となります。</a:t>
            </a:r>
          </a:p>
          <a:p>
            <a:r>
              <a:rPr sz="900">
                <a:solidFill>
                  <a:srgbClr val="5D4037"/>
                </a:solidFill>
                <a:latin typeface="Noto Sans JP"/>
              </a:rPr>
              <a:t> G-16/G-24であっても、長文を扱う際は「KV量子化（FP8/INT4）」や「コンテキスト設計（要約・分割）」によるメモリ管理が必須です。 </a:t>
            </a:r>
          </a:p>
        </p:txBody>
      </p:sp>
      <p:sp>
        <p:nvSpPr>
          <p:cNvPr id="16" name="Rectangle 15"/>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56 | ローカルAI 技術調査レポート 2026</a:t>
            </a:r>
          </a:p>
        </p:txBody>
      </p:sp>
      <p:sp>
        <p:nvSpPr>
          <p:cNvPr id="19" name="TextBox 18"/>
          <p:cNvSpPr txBox="1"/>
          <p:nvPr/>
        </p:nvSpPr>
        <p:spPr>
          <a:xfrm>
            <a:off x="8443570" y="6586423"/>
            <a:ext cx="3886200" cy="162763"/>
          </a:xfrm>
          <a:prstGeom prst="rect">
            <a:avLst/>
          </a:prstGeom>
          <a:noFill/>
          <a:ln/>
        </p:spPr>
        <p:txBody>
          <a:bodyPr wrap="square" lIns="0" rIns="0" tIns="0" bIns="0">
            <a:noAutofit/>
          </a:bodyPr>
          <a:lstStyle/>
          <a:p>
            <a:r>
              <a:rPr sz="900">
                <a:solidFill>
                  <a:srgbClr val="86868B"/>
                </a:solidFill>
                <a:latin typeface="Noto Sans JP"/>
              </a:rPr>
              <a:t>Based on Weight Memory Theory + Reproduction Benchmarks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5179162" cy="457200"/>
          </a:xfrm>
          <a:prstGeom prst="rect">
            <a:avLst/>
          </a:prstGeom>
          <a:noFill/>
          <a:ln/>
        </p:spPr>
        <p:txBody>
          <a:bodyPr wrap="square" lIns="0" rIns="0" tIns="0" bIns="0">
            <a:noAutofit/>
          </a:bodyPr>
          <a:lstStyle/>
          <a:p>
            <a:r>
              <a:rPr sz="2400" b="1">
                <a:solidFill>
                  <a:srgbClr val="1D1D1F"/>
                </a:solidFill>
                <a:latin typeface="Noto Sans JP"/>
              </a:rPr>
              <a:t>補足：AMD/Intel GPUの現実ライン</a:t>
            </a:r>
          </a:p>
        </p:txBody>
      </p:sp>
      <p:sp>
        <p:nvSpPr>
          <p:cNvPr id="9" name="TextBox 8"/>
          <p:cNvSpPr txBox="1"/>
          <p:nvPr/>
        </p:nvSpPr>
        <p:spPr>
          <a:xfrm>
            <a:off x="9167774" y="328270"/>
            <a:ext cx="2762402" cy="257861"/>
          </a:xfrm>
          <a:prstGeom prst="rect">
            <a:avLst/>
          </a:prstGeom>
          <a:noFill/>
          <a:ln/>
        </p:spPr>
        <p:txBody>
          <a:bodyPr wrap="square" lIns="0" rIns="0" tIns="0" bIns="0">
            <a:noAutofit/>
          </a:bodyPr>
          <a:lstStyle/>
          <a:p>
            <a:r>
              <a:rPr sz="1300">
                <a:solidFill>
                  <a:srgbClr val="86868B"/>
                </a:solidFill>
                <a:latin typeface="Noto Sans JP"/>
              </a:rPr>
              <a:t>公式最適化とエコシステムの現状</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結論：AMD/Intel環境でも公式最適化による選択肢が存在しますが、運用は実装・ドライバ依存となり、個別検証が必要です。</a:t>
            </a:r>
          </a:p>
        </p:txBody>
      </p:sp>
      <p:sp>
        <p:nvSpPr>
          <p:cNvPr id="12" name="Rectangle 11"/>
          <p:cNvSpPr/>
          <p:nvPr/>
        </p:nvSpPr>
        <p:spPr>
          <a:xfrm>
            <a:off x="457200"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 y="2945282"/>
            <a:ext cx="2477110" cy="419709"/>
          </a:xfrm>
          <a:prstGeom prst="rect">
            <a:avLst/>
          </a:prstGeom>
          <a:noFill/>
          <a:ln/>
        </p:spPr>
        <p:txBody>
          <a:bodyPr wrap="square" lIns="0" rIns="0" tIns="0" bIns="0">
            <a:noAutofit/>
          </a:bodyPr>
          <a:lstStyle/>
          <a:p>
            <a:r>
              <a:rPr sz="1500" b="1">
                <a:solidFill>
                  <a:srgbClr val="1D1D1F"/>
                </a:solidFill>
                <a:latin typeface="Noto Sans JP"/>
              </a:rPr>
              <a:t>AMD Radeon GPU (ROCm)</a:t>
            </a:r>
          </a:p>
        </p:txBody>
      </p:sp>
      <p:pic>
        <p:nvPicPr>
          <p:cNvPr id="15" name="Picture 14" descr="image.png"/>
          <p:cNvPicPr>
            <a:picLocks noChangeAspect="1"/>
          </p:cNvPicPr>
          <p:nvPr/>
        </p:nvPicPr>
        <p:blipFill>
          <a:blip r:embed="rId4"/>
          <a:stretch>
            <a:fillRect/>
          </a:stretch>
        </p:blipFill>
        <p:spPr>
          <a:xfrm>
            <a:off x="694944" y="3516782"/>
            <a:ext cx="657454" cy="295351"/>
          </a:xfrm>
          <a:prstGeom prst="rect">
            <a:avLst/>
          </a:prstGeom>
          <a:ln/>
        </p:spPr>
      </p:pic>
      <p:sp>
        <p:nvSpPr>
          <p:cNvPr id="16" name="TextBox 15"/>
          <p:cNvSpPr txBox="1"/>
          <p:nvPr/>
        </p:nvSpPr>
        <p:spPr>
          <a:xfrm>
            <a:off x="694944" y="3516782"/>
            <a:ext cx="657454" cy="295351"/>
          </a:xfrm>
          <a:prstGeom prst="rect">
            <a:avLst/>
          </a:prstGeom>
          <a:noFill/>
          <a:ln w="12700">
            <a:solidFill>
              <a:srgbClr val="FECACA"/>
            </a:solidFill>
          </a:ln>
        </p:spPr>
        <p:txBody>
          <a:bodyPr wrap="square" lIns="0" rIns="0" tIns="0" bIns="0">
            <a:noAutofit/>
          </a:bodyPr>
          <a:lstStyle/>
          <a:p>
            <a:r>
              <a:rPr sz="1000" b="1">
                <a:solidFill>
                  <a:srgbClr val="991B1B"/>
                </a:solidFill>
                <a:latin typeface="Noto Sans JP"/>
              </a:rPr>
              <a:t>ROCm</a:t>
            </a:r>
          </a:p>
        </p:txBody>
      </p:sp>
      <p:pic>
        <p:nvPicPr>
          <p:cNvPr id="17" name="Picture 16" descr="image.png"/>
          <p:cNvPicPr>
            <a:picLocks noChangeAspect="1"/>
          </p:cNvPicPr>
          <p:nvPr/>
        </p:nvPicPr>
        <p:blipFill>
          <a:blip r:embed="rId5"/>
          <a:stretch>
            <a:fillRect/>
          </a:stretch>
        </p:blipFill>
        <p:spPr>
          <a:xfrm>
            <a:off x="1423721" y="3516782"/>
            <a:ext cx="780897" cy="295351"/>
          </a:xfrm>
          <a:prstGeom prst="rect">
            <a:avLst/>
          </a:prstGeom>
          <a:ln/>
        </p:spPr>
      </p:pic>
      <p:sp>
        <p:nvSpPr>
          <p:cNvPr id="18" name="TextBox 17"/>
          <p:cNvSpPr txBox="1"/>
          <p:nvPr/>
        </p:nvSpPr>
        <p:spPr>
          <a:xfrm>
            <a:off x="1423721" y="3516782"/>
            <a:ext cx="781811" cy="295351"/>
          </a:xfrm>
          <a:prstGeom prst="rect">
            <a:avLst/>
          </a:prstGeom>
          <a:noFill/>
          <a:ln w="12700">
            <a:solidFill>
              <a:srgbClr val="FECACA"/>
            </a:solidFill>
          </a:ln>
        </p:spPr>
        <p:txBody>
          <a:bodyPr wrap="square" lIns="0" rIns="0" tIns="0" bIns="0">
            <a:noAutofit/>
          </a:bodyPr>
          <a:lstStyle/>
          <a:p>
            <a:r>
              <a:rPr sz="1000" b="1">
                <a:solidFill>
                  <a:srgbClr val="991B1B"/>
                </a:solidFill>
                <a:latin typeface="Noto Sans JP"/>
              </a:rPr>
              <a:t>HIP SDK</a:t>
            </a:r>
          </a:p>
        </p:txBody>
      </p:sp>
      <p:pic>
        <p:nvPicPr>
          <p:cNvPr id="19" name="Picture 18" descr="image.png"/>
          <p:cNvPicPr>
            <a:picLocks noChangeAspect="1"/>
          </p:cNvPicPr>
          <p:nvPr/>
        </p:nvPicPr>
        <p:blipFill>
          <a:blip r:embed="rId6"/>
          <a:stretch>
            <a:fillRect/>
          </a:stretch>
        </p:blipFill>
        <p:spPr>
          <a:xfrm>
            <a:off x="2275027" y="3516782"/>
            <a:ext cx="1552651" cy="295351"/>
          </a:xfrm>
          <a:prstGeom prst="rect">
            <a:avLst/>
          </a:prstGeom>
          <a:ln/>
        </p:spPr>
      </p:pic>
      <p:sp>
        <p:nvSpPr>
          <p:cNvPr id="20" name="TextBox 19"/>
          <p:cNvSpPr txBox="1"/>
          <p:nvPr/>
        </p:nvSpPr>
        <p:spPr>
          <a:xfrm>
            <a:off x="2275027" y="3516782"/>
            <a:ext cx="1552651" cy="295351"/>
          </a:xfrm>
          <a:prstGeom prst="rect">
            <a:avLst/>
          </a:prstGeom>
          <a:noFill/>
          <a:ln w="12700">
            <a:solidFill>
              <a:srgbClr val="FECACA"/>
            </a:solidFill>
          </a:ln>
        </p:spPr>
        <p:txBody>
          <a:bodyPr wrap="square" lIns="0" rIns="0" tIns="0" bIns="0">
            <a:noAutofit/>
          </a:bodyPr>
          <a:lstStyle/>
          <a:p>
            <a:r>
              <a:rPr sz="1000" b="1">
                <a:solidFill>
                  <a:srgbClr val="991B1B"/>
                </a:solidFill>
                <a:latin typeface="Noto Sans JP"/>
              </a:rPr>
              <a:t>ZLUDA (Deprecated)</a:t>
            </a:r>
          </a:p>
        </p:txBody>
      </p:sp>
      <p:pic>
        <p:nvPicPr>
          <p:cNvPr id="21" name="Picture 20" descr="image.png"/>
          <p:cNvPicPr>
            <a:picLocks noChangeAspect="1"/>
          </p:cNvPicPr>
          <p:nvPr/>
        </p:nvPicPr>
        <p:blipFill>
          <a:blip r:embed="rId7"/>
          <a:stretch>
            <a:fillRect/>
          </a:stretch>
        </p:blipFill>
        <p:spPr>
          <a:xfrm>
            <a:off x="694944" y="4116629"/>
            <a:ext cx="105156" cy="114300"/>
          </a:xfrm>
          <a:prstGeom prst="rect">
            <a:avLst/>
          </a:prstGeom>
          <a:ln/>
        </p:spPr>
      </p:pic>
      <p:sp>
        <p:nvSpPr>
          <p:cNvPr id="22" name="TextBox 21"/>
          <p:cNvSpPr txBox="1"/>
          <p:nvPr/>
        </p:nvSpPr>
        <p:spPr>
          <a:xfrm>
            <a:off x="895197" y="4360774"/>
            <a:ext cx="4886554" cy="495605"/>
          </a:xfrm>
          <a:prstGeom prst="rect">
            <a:avLst/>
          </a:prstGeom>
          <a:noFill/>
          <a:ln/>
        </p:spPr>
        <p:txBody>
          <a:bodyPr wrap="square" lIns="0" rIns="0" tIns="0" bIns="0">
            <a:noAutofit/>
          </a:bodyPr>
          <a:lstStyle/>
          <a:p>
            <a:r>
              <a:rPr sz="1200">
                <a:solidFill>
                  <a:srgbClr val="424245"/>
                </a:solidFill>
                <a:latin typeface="Noto Sans JP"/>
              </a:rPr>
              <a:t>ROCmのWindowsサポートが進展しており、一部のWSL2環境やネイティブWindowsでの動作が可能になりつつあります。</a:t>
            </a:r>
          </a:p>
        </p:txBody>
      </p:sp>
      <p:pic>
        <p:nvPicPr>
          <p:cNvPr id="23" name="Picture 22" descr="image.png"/>
          <p:cNvPicPr>
            <a:picLocks noChangeAspect="1"/>
          </p:cNvPicPr>
          <p:nvPr/>
        </p:nvPicPr>
        <p:blipFill>
          <a:blip r:embed="rId8"/>
          <a:stretch>
            <a:fillRect/>
          </a:stretch>
        </p:blipFill>
        <p:spPr>
          <a:xfrm>
            <a:off x="4645152" y="4642409"/>
            <a:ext cx="323698" cy="200253"/>
          </a:xfrm>
          <a:prstGeom prst="rect">
            <a:avLst/>
          </a:prstGeom>
          <a:ln/>
        </p:spPr>
      </p:pic>
      <p:sp>
        <p:nvSpPr>
          <p:cNvPr id="24" name="TextBox 23"/>
          <p:cNvSpPr txBox="1"/>
          <p:nvPr/>
        </p:nvSpPr>
        <p:spPr>
          <a:xfrm>
            <a:off x="4645152" y="4642409"/>
            <a:ext cx="324612"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[97]</a:t>
            </a:r>
          </a:p>
        </p:txBody>
      </p:sp>
      <p:pic>
        <p:nvPicPr>
          <p:cNvPr id="25" name="Picture 24" descr="image.png"/>
          <p:cNvPicPr>
            <a:picLocks noChangeAspect="1"/>
          </p:cNvPicPr>
          <p:nvPr/>
        </p:nvPicPr>
        <p:blipFill>
          <a:blip r:embed="rId7"/>
          <a:stretch>
            <a:fillRect/>
          </a:stretch>
        </p:blipFill>
        <p:spPr>
          <a:xfrm>
            <a:off x="694944" y="4962449"/>
            <a:ext cx="105156" cy="114300"/>
          </a:xfrm>
          <a:prstGeom prst="rect">
            <a:avLst/>
          </a:prstGeom>
          <a:ln/>
        </p:spPr>
      </p:pic>
      <p:sp>
        <p:nvSpPr>
          <p:cNvPr id="26" name="TextBox 25"/>
          <p:cNvSpPr txBox="1"/>
          <p:nvPr/>
        </p:nvSpPr>
        <p:spPr>
          <a:xfrm>
            <a:off x="895197" y="5205679"/>
            <a:ext cx="4886554" cy="734262"/>
          </a:xfrm>
          <a:prstGeom prst="rect">
            <a:avLst/>
          </a:prstGeom>
          <a:noFill/>
          <a:ln/>
        </p:spPr>
        <p:txBody>
          <a:bodyPr wrap="square" lIns="0" rIns="0" tIns="0" bIns="0">
            <a:noAutofit/>
          </a:bodyPr>
          <a:lstStyle/>
          <a:p>
            <a:r>
              <a:rPr sz="1200">
                <a:solidFill>
                  <a:srgbClr val="424245"/>
                </a:solidFill>
                <a:latin typeface="Noto Sans JP"/>
              </a:rPr>
              <a:t>llama.cppのHIP BLASバックエンドや、MLC LLMなどがAMD GPUをサポート。VRAM容量あたりのコストパフォーマンスに優れるケースがあります。</a:t>
            </a:r>
          </a:p>
        </p:txBody>
      </p:sp>
      <p:pic>
        <p:nvPicPr>
          <p:cNvPr id="27" name="Picture 26" descr="image.png"/>
          <p:cNvPicPr>
            <a:picLocks noChangeAspect="1"/>
          </p:cNvPicPr>
          <p:nvPr/>
        </p:nvPicPr>
        <p:blipFill>
          <a:blip r:embed="rId9"/>
          <a:stretch>
            <a:fillRect/>
          </a:stretch>
        </p:blipFill>
        <p:spPr>
          <a:xfrm>
            <a:off x="694944" y="6051499"/>
            <a:ext cx="114300" cy="114300"/>
          </a:xfrm>
          <a:prstGeom prst="rect">
            <a:avLst/>
          </a:prstGeom>
          <a:ln/>
        </p:spPr>
      </p:pic>
      <p:sp>
        <p:nvSpPr>
          <p:cNvPr id="28" name="TextBox 27"/>
          <p:cNvSpPr txBox="1"/>
          <p:nvPr/>
        </p:nvSpPr>
        <p:spPr>
          <a:xfrm>
            <a:off x="905256" y="6295644"/>
            <a:ext cx="4877410" cy="495605"/>
          </a:xfrm>
          <a:prstGeom prst="rect">
            <a:avLst/>
          </a:prstGeom>
          <a:noFill/>
          <a:ln/>
        </p:spPr>
        <p:txBody>
          <a:bodyPr wrap="square" lIns="0" rIns="0" tIns="0" bIns="0">
            <a:noAutofit/>
          </a:bodyPr>
          <a:lstStyle/>
          <a:p>
            <a:r>
              <a:rPr sz="1200">
                <a:solidFill>
                  <a:srgbClr val="424245"/>
                </a:solidFill>
                <a:latin typeface="Noto Sans JP"/>
              </a:rPr>
              <a:t>NVIDIA CUDAエコシステムと比較すると、ライブラリの対応状況やトラブルシューティング情報が限定的です。</a:t>
            </a:r>
          </a:p>
        </p:txBody>
      </p:sp>
      <p:sp>
        <p:nvSpPr>
          <p:cNvPr id="29" name="Rectangle 28"/>
          <p:cNvSpPr/>
          <p:nvPr/>
        </p:nvSpPr>
        <p:spPr>
          <a:xfrm>
            <a:off x="6248095" y="2706624"/>
            <a:ext cx="5486400" cy="43150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10"/>
          <a:stretch>
            <a:fillRect/>
          </a:stretch>
        </p:blipFill>
        <p:spPr>
          <a:xfrm>
            <a:off x="6486754" y="2992831"/>
            <a:ext cx="190195" cy="190194"/>
          </a:xfrm>
          <a:prstGeom prst="rect">
            <a:avLst/>
          </a:prstGeom>
          <a:ln/>
        </p:spPr>
      </p:pic>
      <p:sp>
        <p:nvSpPr>
          <p:cNvPr id="32" name="TextBox 31"/>
          <p:cNvSpPr txBox="1"/>
          <p:nvPr/>
        </p:nvSpPr>
        <p:spPr>
          <a:xfrm>
            <a:off x="6791249" y="2945282"/>
            <a:ext cx="3162910" cy="419709"/>
          </a:xfrm>
          <a:prstGeom prst="rect">
            <a:avLst/>
          </a:prstGeom>
          <a:noFill/>
          <a:ln/>
        </p:spPr>
        <p:txBody>
          <a:bodyPr wrap="square" lIns="0" rIns="0" tIns="0" bIns="0">
            <a:noAutofit/>
          </a:bodyPr>
          <a:lstStyle/>
          <a:p>
            <a:r>
              <a:rPr sz="1500" b="1">
                <a:solidFill>
                  <a:srgbClr val="1D1D1F"/>
                </a:solidFill>
                <a:latin typeface="Noto Sans JP"/>
              </a:rPr>
              <a:t>Intel Arc / iGPU (OpenVINO/SYCL)</a:t>
            </a:r>
          </a:p>
        </p:txBody>
      </p:sp>
      <p:pic>
        <p:nvPicPr>
          <p:cNvPr id="33" name="Picture 32" descr="image.png"/>
          <p:cNvPicPr>
            <a:picLocks noChangeAspect="1"/>
          </p:cNvPicPr>
          <p:nvPr/>
        </p:nvPicPr>
        <p:blipFill>
          <a:blip r:embed="rId11"/>
          <a:stretch>
            <a:fillRect/>
          </a:stretch>
        </p:blipFill>
        <p:spPr>
          <a:xfrm>
            <a:off x="6486754" y="3516782"/>
            <a:ext cx="923543" cy="295351"/>
          </a:xfrm>
          <a:prstGeom prst="rect">
            <a:avLst/>
          </a:prstGeom>
          <a:ln/>
        </p:spPr>
      </p:pic>
      <p:sp>
        <p:nvSpPr>
          <p:cNvPr id="34" name="TextBox 33"/>
          <p:cNvSpPr txBox="1"/>
          <p:nvPr/>
        </p:nvSpPr>
        <p:spPr>
          <a:xfrm>
            <a:off x="6486754" y="3516782"/>
            <a:ext cx="924457" cy="295351"/>
          </a:xfrm>
          <a:prstGeom prst="rect">
            <a:avLst/>
          </a:prstGeom>
          <a:noFill/>
          <a:ln w="12700">
            <a:solidFill>
              <a:srgbClr val="BAE6FD"/>
            </a:solidFill>
          </a:ln>
        </p:spPr>
        <p:txBody>
          <a:bodyPr wrap="square" lIns="0" rIns="0" tIns="0" bIns="0">
            <a:noAutofit/>
          </a:bodyPr>
          <a:lstStyle/>
          <a:p>
            <a:r>
              <a:rPr sz="1000" b="1">
                <a:solidFill>
                  <a:srgbClr val="075985"/>
                </a:solidFill>
                <a:latin typeface="Noto Sans JP"/>
              </a:rPr>
              <a:t>OpenVINO</a:t>
            </a:r>
          </a:p>
        </p:txBody>
      </p:sp>
      <p:pic>
        <p:nvPicPr>
          <p:cNvPr id="35" name="Picture 34" descr="image.png"/>
          <p:cNvPicPr>
            <a:picLocks noChangeAspect="1"/>
          </p:cNvPicPr>
          <p:nvPr/>
        </p:nvPicPr>
        <p:blipFill>
          <a:blip r:embed="rId12"/>
          <a:stretch>
            <a:fillRect/>
          </a:stretch>
        </p:blipFill>
        <p:spPr>
          <a:xfrm>
            <a:off x="7479792" y="3516782"/>
            <a:ext cx="543154" cy="295351"/>
          </a:xfrm>
          <a:prstGeom prst="rect">
            <a:avLst/>
          </a:prstGeom>
          <a:ln/>
        </p:spPr>
      </p:pic>
      <p:sp>
        <p:nvSpPr>
          <p:cNvPr id="36" name="TextBox 35"/>
          <p:cNvSpPr txBox="1"/>
          <p:nvPr/>
        </p:nvSpPr>
        <p:spPr>
          <a:xfrm>
            <a:off x="7479792" y="3516782"/>
            <a:ext cx="543154" cy="295351"/>
          </a:xfrm>
          <a:prstGeom prst="rect">
            <a:avLst/>
          </a:prstGeom>
          <a:noFill/>
          <a:ln w="12700">
            <a:solidFill>
              <a:srgbClr val="BAE6FD"/>
            </a:solidFill>
          </a:ln>
        </p:spPr>
        <p:txBody>
          <a:bodyPr wrap="square" lIns="0" rIns="0" tIns="0" bIns="0">
            <a:noAutofit/>
          </a:bodyPr>
          <a:lstStyle/>
          <a:p>
            <a:r>
              <a:rPr sz="1000" b="1">
                <a:solidFill>
                  <a:srgbClr val="075985"/>
                </a:solidFill>
                <a:latin typeface="Noto Sans JP"/>
              </a:rPr>
              <a:t>IPEX</a:t>
            </a:r>
          </a:p>
        </p:txBody>
      </p:sp>
      <p:pic>
        <p:nvPicPr>
          <p:cNvPr id="37" name="Picture 36" descr="image.png"/>
          <p:cNvPicPr>
            <a:picLocks noChangeAspect="1"/>
          </p:cNvPicPr>
          <p:nvPr/>
        </p:nvPicPr>
        <p:blipFill>
          <a:blip r:embed="rId13"/>
          <a:stretch>
            <a:fillRect/>
          </a:stretch>
        </p:blipFill>
        <p:spPr>
          <a:xfrm>
            <a:off x="8096097" y="3516782"/>
            <a:ext cx="1133855" cy="295351"/>
          </a:xfrm>
          <a:prstGeom prst="rect">
            <a:avLst/>
          </a:prstGeom>
          <a:ln/>
        </p:spPr>
      </p:pic>
      <p:sp>
        <p:nvSpPr>
          <p:cNvPr id="38" name="TextBox 37"/>
          <p:cNvSpPr txBox="1"/>
          <p:nvPr/>
        </p:nvSpPr>
        <p:spPr>
          <a:xfrm>
            <a:off x="8096097" y="3516782"/>
            <a:ext cx="1133855" cy="295351"/>
          </a:xfrm>
          <a:prstGeom prst="rect">
            <a:avLst/>
          </a:prstGeom>
          <a:noFill/>
          <a:ln w="12700">
            <a:solidFill>
              <a:srgbClr val="BAE6FD"/>
            </a:solidFill>
          </a:ln>
        </p:spPr>
        <p:txBody>
          <a:bodyPr wrap="square" lIns="0" rIns="0" tIns="0" bIns="0">
            <a:noAutofit/>
          </a:bodyPr>
          <a:lstStyle/>
          <a:p>
            <a:r>
              <a:rPr sz="1000" b="1">
                <a:solidFill>
                  <a:srgbClr val="075985"/>
                </a:solidFill>
                <a:latin typeface="Noto Sans JP"/>
              </a:rPr>
              <a:t>SYCL / oneAPI</a:t>
            </a:r>
          </a:p>
        </p:txBody>
      </p:sp>
      <p:pic>
        <p:nvPicPr>
          <p:cNvPr id="39" name="Picture 38" descr="image.png"/>
          <p:cNvPicPr>
            <a:picLocks noChangeAspect="1"/>
          </p:cNvPicPr>
          <p:nvPr/>
        </p:nvPicPr>
        <p:blipFill>
          <a:blip r:embed="rId7"/>
          <a:stretch>
            <a:fillRect/>
          </a:stretch>
        </p:blipFill>
        <p:spPr>
          <a:xfrm>
            <a:off x="6486754" y="4116629"/>
            <a:ext cx="105156" cy="114300"/>
          </a:xfrm>
          <a:prstGeom prst="rect">
            <a:avLst/>
          </a:prstGeom>
          <a:ln/>
        </p:spPr>
      </p:pic>
      <p:sp>
        <p:nvSpPr>
          <p:cNvPr id="40" name="TextBox 39"/>
          <p:cNvSpPr txBox="1"/>
          <p:nvPr/>
        </p:nvSpPr>
        <p:spPr>
          <a:xfrm>
            <a:off x="6687007" y="4360774"/>
            <a:ext cx="4886554" cy="495605"/>
          </a:xfrm>
          <a:prstGeom prst="rect">
            <a:avLst/>
          </a:prstGeom>
          <a:noFill/>
          <a:ln/>
        </p:spPr>
        <p:txBody>
          <a:bodyPr wrap="square" lIns="0" rIns="0" tIns="0" bIns="0">
            <a:noAutofit/>
          </a:bodyPr>
          <a:lstStyle/>
          <a:p>
            <a:r>
              <a:rPr sz="1200">
                <a:solidFill>
                  <a:srgbClr val="424245"/>
                </a:solidFill>
                <a:latin typeface="Noto Sans JP"/>
              </a:rPr>
              <a:t>PyTorch拡張としてXPU（Intel GPU）サポートを提供。Arc GPUでの推論加速が可能。</a:t>
            </a:r>
          </a:p>
        </p:txBody>
      </p:sp>
      <p:pic>
        <p:nvPicPr>
          <p:cNvPr id="41" name="Picture 40" descr="image.png"/>
          <p:cNvPicPr>
            <a:picLocks noChangeAspect="1"/>
          </p:cNvPicPr>
          <p:nvPr/>
        </p:nvPicPr>
        <p:blipFill>
          <a:blip r:embed="rId8"/>
          <a:stretch>
            <a:fillRect/>
          </a:stretch>
        </p:blipFill>
        <p:spPr>
          <a:xfrm>
            <a:off x="7981797" y="4642409"/>
            <a:ext cx="323697" cy="200253"/>
          </a:xfrm>
          <a:prstGeom prst="rect">
            <a:avLst/>
          </a:prstGeom>
          <a:ln/>
        </p:spPr>
      </p:pic>
      <p:sp>
        <p:nvSpPr>
          <p:cNvPr id="42" name="TextBox 41"/>
          <p:cNvSpPr txBox="1"/>
          <p:nvPr/>
        </p:nvSpPr>
        <p:spPr>
          <a:xfrm>
            <a:off x="7981797" y="4642409"/>
            <a:ext cx="32461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[13]</a:t>
            </a:r>
          </a:p>
        </p:txBody>
      </p:sp>
      <p:pic>
        <p:nvPicPr>
          <p:cNvPr id="43" name="Picture 42" descr="image.png"/>
          <p:cNvPicPr>
            <a:picLocks noChangeAspect="1"/>
          </p:cNvPicPr>
          <p:nvPr/>
        </p:nvPicPr>
        <p:blipFill>
          <a:blip r:embed="rId7"/>
          <a:stretch>
            <a:fillRect/>
          </a:stretch>
        </p:blipFill>
        <p:spPr>
          <a:xfrm>
            <a:off x="6486754" y="4962449"/>
            <a:ext cx="105156" cy="114300"/>
          </a:xfrm>
          <a:prstGeom prst="rect">
            <a:avLst/>
          </a:prstGeom>
          <a:ln/>
        </p:spPr>
      </p:pic>
      <p:sp>
        <p:nvSpPr>
          <p:cNvPr id="44" name="TextBox 43"/>
          <p:cNvSpPr txBox="1"/>
          <p:nvPr/>
        </p:nvSpPr>
        <p:spPr>
          <a:xfrm>
            <a:off x="6687007" y="5205679"/>
            <a:ext cx="4886554" cy="495605"/>
          </a:xfrm>
          <a:prstGeom prst="rect">
            <a:avLst/>
          </a:prstGeom>
          <a:noFill/>
          <a:ln/>
        </p:spPr>
        <p:txBody>
          <a:bodyPr wrap="square" lIns="0" rIns="0" tIns="0" bIns="0">
            <a:noAutofit/>
          </a:bodyPr>
          <a:lstStyle/>
          <a:p>
            <a:r>
              <a:rPr sz="1200">
                <a:solidFill>
                  <a:srgbClr val="424245"/>
                </a:solidFill>
                <a:latin typeface="Noto Sans JP"/>
              </a:rPr>
              <a:t>llama.cppのSYCLバックエンドやOpenVINO最適化により、iGPU（Core Ultra等）を含めた幅広いハードウェアで動作。</a:t>
            </a:r>
          </a:p>
        </p:txBody>
      </p:sp>
      <p:pic>
        <p:nvPicPr>
          <p:cNvPr id="45" name="Picture 44" descr="image.png"/>
          <p:cNvPicPr>
            <a:picLocks noChangeAspect="1"/>
          </p:cNvPicPr>
          <p:nvPr/>
        </p:nvPicPr>
        <p:blipFill>
          <a:blip r:embed="rId14"/>
          <a:stretch>
            <a:fillRect/>
          </a:stretch>
        </p:blipFill>
        <p:spPr>
          <a:xfrm>
            <a:off x="10527487" y="5488229"/>
            <a:ext cx="657454" cy="200253"/>
          </a:xfrm>
          <a:prstGeom prst="rect">
            <a:avLst/>
          </a:prstGeom>
          <a:ln/>
        </p:spPr>
      </p:pic>
      <p:sp>
        <p:nvSpPr>
          <p:cNvPr id="46" name="TextBox 45"/>
          <p:cNvSpPr txBox="1"/>
          <p:nvPr/>
        </p:nvSpPr>
        <p:spPr>
          <a:xfrm>
            <a:off x="10527487" y="5488229"/>
            <a:ext cx="657454"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[135][136]</a:t>
            </a:r>
          </a:p>
        </p:txBody>
      </p:sp>
      <p:pic>
        <p:nvPicPr>
          <p:cNvPr id="47" name="Picture 46" descr="image.png"/>
          <p:cNvPicPr>
            <a:picLocks noChangeAspect="1"/>
          </p:cNvPicPr>
          <p:nvPr/>
        </p:nvPicPr>
        <p:blipFill>
          <a:blip r:embed="rId9"/>
          <a:stretch>
            <a:fillRect/>
          </a:stretch>
        </p:blipFill>
        <p:spPr>
          <a:xfrm>
            <a:off x="6486754" y="5808269"/>
            <a:ext cx="114300" cy="114300"/>
          </a:xfrm>
          <a:prstGeom prst="rect">
            <a:avLst/>
          </a:prstGeom>
          <a:ln/>
        </p:spPr>
      </p:pic>
      <p:sp>
        <p:nvSpPr>
          <p:cNvPr id="48" name="TextBox 47"/>
          <p:cNvSpPr txBox="1"/>
          <p:nvPr/>
        </p:nvSpPr>
        <p:spPr>
          <a:xfrm>
            <a:off x="6696151" y="6051499"/>
            <a:ext cx="4877410" cy="495605"/>
          </a:xfrm>
          <a:prstGeom prst="rect">
            <a:avLst/>
          </a:prstGeom>
          <a:noFill/>
          <a:ln/>
        </p:spPr>
        <p:txBody>
          <a:bodyPr wrap="square" lIns="0" rIns="0" tIns="0" bIns="0">
            <a:noAutofit/>
          </a:bodyPr>
          <a:lstStyle/>
          <a:p>
            <a:r>
              <a:rPr sz="1200">
                <a:solidFill>
                  <a:srgbClr val="424245"/>
                </a:solidFill>
                <a:latin typeface="Noto Sans JP"/>
              </a:rPr>
              <a:t>ドライババージョンへの依存性が高く、セットアップ手順が頻繁に更新される傾向があります。</a:t>
            </a:r>
          </a:p>
        </p:txBody>
      </p:sp>
      <p:sp>
        <p:nvSpPr>
          <p:cNvPr id="49" name="Rectangle 48"/>
          <p:cNvSpPr/>
          <p:nvPr/>
        </p:nvSpPr>
        <p:spPr>
          <a:xfrm>
            <a:off x="457200" y="732617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png"/>
          <p:cNvPicPr>
            <a:picLocks noChangeAspect="1"/>
          </p:cNvPicPr>
          <p:nvPr/>
        </p:nvPicPr>
        <p:blipFill>
          <a:blip r:embed="rId15"/>
          <a:stretch>
            <a:fillRect/>
          </a:stretch>
        </p:blipFill>
        <p:spPr>
          <a:xfrm>
            <a:off x="619049" y="7507224"/>
            <a:ext cx="171907" cy="171907"/>
          </a:xfrm>
          <a:prstGeom prst="rect">
            <a:avLst/>
          </a:prstGeom>
          <a:ln/>
        </p:spPr>
      </p:pic>
      <p:sp>
        <p:nvSpPr>
          <p:cNvPr id="51" name="TextBox 50"/>
          <p:cNvSpPr txBox="1"/>
          <p:nvPr/>
        </p:nvSpPr>
        <p:spPr>
          <a:xfrm>
            <a:off x="905256" y="7488021"/>
            <a:ext cx="10858500" cy="200254"/>
          </a:xfrm>
          <a:prstGeom prst="rect">
            <a:avLst/>
          </a:prstGeom>
          <a:noFill/>
          <a:ln/>
        </p:spPr>
        <p:txBody>
          <a:bodyPr wrap="square" lIns="0" rIns="0" tIns="0" bIns="0">
            <a:noAutofit/>
          </a:bodyPr>
          <a:lstStyle/>
          <a:p>
            <a:r>
              <a:rPr sz="1000" b="1">
                <a:solidFill>
                  <a:srgbClr val="78350F"/>
                </a:solidFill>
                <a:latin typeface="Noto Sans JP"/>
              </a:rPr>
              <a:t>本レポートにおける位置づけ</a:t>
            </a:r>
          </a:p>
        </p:txBody>
      </p:sp>
      <p:sp>
        <p:nvSpPr>
          <p:cNvPr id="52" name="TextBox 51"/>
          <p:cNvSpPr txBox="1"/>
          <p:nvPr/>
        </p:nvSpPr>
        <p:spPr>
          <a:xfrm>
            <a:off x="905256" y="7725766"/>
            <a:ext cx="10744200" cy="400507"/>
          </a:xfrm>
          <a:prstGeom prst="rect">
            <a:avLst/>
          </a:prstGeom>
          <a:noFill/>
          <a:ln/>
        </p:spPr>
        <p:txBody>
          <a:bodyPr wrap="square" lIns="0" rIns="0" tIns="0" bIns="0">
            <a:noAutofit/>
          </a:bodyPr>
          <a:lstStyle/>
          <a:p>
            <a:r>
              <a:rPr sz="1000">
                <a:solidFill>
                  <a:srgbClr val="78350F"/>
                </a:solidFill>
                <a:latin typeface="Noto Sans JP"/>
              </a:rPr>
              <a:t> 本調査レポートでは、エコシステムの成熟度と実務上の再現性を重視し、</a:t>
            </a:r>
            <a:r>
              <a:rPr sz="1000" b="1">
                <a:solidFill>
                  <a:srgbClr val="78350F"/>
                </a:solidFill>
                <a:latin typeface="Noto Sans JP"/>
              </a:rPr>
              <a:t>Apple Silicon、Windows (NVIDIA GPU)、CPU-only</a:t>
            </a:r>
            <a:r>
              <a:rPr sz="1000">
                <a:solidFill>
                  <a:srgbClr val="78350F"/>
                </a:solidFill>
                <a:latin typeface="Noto Sans JP"/>
              </a:rPr>
              <a:t> をTier定義の主軸としています。AMD/Intel GPU環境は、特定のハードウェア要件やコスト制約がある場合の有力な「代替案」として位置づけています。 </a:t>
            </a:r>
          </a:p>
        </p:txBody>
      </p:sp>
      <p:sp>
        <p:nvSpPr>
          <p:cNvPr id="53" name="Rectangle 52"/>
          <p:cNvSpPr/>
          <p:nvPr/>
        </p:nvSpPr>
        <p:spPr>
          <a:xfrm>
            <a:off x="0" y="8668512"/>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8668512"/>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8678570"/>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6" name="TextBox 55"/>
          <p:cNvSpPr txBox="1"/>
          <p:nvPr/>
        </p:nvSpPr>
        <p:spPr>
          <a:xfrm>
            <a:off x="11385194" y="8678570"/>
            <a:ext cx="428854" cy="171907"/>
          </a:xfrm>
          <a:prstGeom prst="rect">
            <a:avLst/>
          </a:prstGeom>
          <a:noFill/>
          <a:ln/>
        </p:spPr>
        <p:txBody>
          <a:bodyPr wrap="square" lIns="0" rIns="0" tIns="0" bIns="0">
            <a:noAutofit/>
          </a:bodyPr>
          <a:lstStyle/>
          <a:p>
            <a:r>
              <a:rPr sz="900">
                <a:solidFill>
                  <a:srgbClr val="86868B"/>
                </a:solidFill>
                <a:latin typeface="Noto Sans JP"/>
              </a:rPr>
              <a:t>57 / 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4027017" cy="400506"/>
          </a:xfrm>
          <a:prstGeom prst="rect">
            <a:avLst/>
          </a:prstGeom>
          <a:noFill/>
          <a:ln/>
        </p:spPr>
        <p:txBody>
          <a:bodyPr wrap="square" lIns="0" rIns="0" tIns="0" bIns="0">
            <a:noAutofit/>
          </a:bodyPr>
          <a:lstStyle/>
          <a:p>
            <a:r>
              <a:rPr sz="2100" b="1">
                <a:solidFill>
                  <a:srgbClr val="FFFFFF"/>
                </a:solidFill>
                <a:latin typeface="Noto Sans JP"/>
              </a:rPr>
              <a:t>常駐運用 vs オンデマンド運用</a:t>
            </a:r>
          </a:p>
        </p:txBody>
      </p:sp>
      <p:sp>
        <p:nvSpPr>
          <p:cNvPr id="7" name="TextBox 6"/>
          <p:cNvSpPr txBox="1"/>
          <p:nvPr/>
        </p:nvSpPr>
        <p:spPr>
          <a:xfrm>
            <a:off x="7730338" y="252374"/>
            <a:ext cx="4277563" cy="257860"/>
          </a:xfrm>
          <a:prstGeom prst="rect">
            <a:avLst/>
          </a:prstGeom>
          <a:noFill/>
          <a:ln/>
        </p:spPr>
        <p:txBody>
          <a:bodyPr wrap="square" lIns="0" rIns="0" tIns="0" bIns="0">
            <a:noAutofit/>
          </a:bodyPr>
          <a:lstStyle/>
          <a:p>
            <a:r>
              <a:rPr sz="1300">
                <a:solidFill>
                  <a:srgbClr val="A1A1A6"/>
                </a:solidFill>
                <a:latin typeface="Noto Sans JP"/>
              </a:rPr>
              <a:t>TTFT（初速）、安定性、リソース効率のトレードオフ</a:t>
            </a:r>
          </a:p>
        </p:txBody>
      </p:sp>
      <p:sp>
        <p:nvSpPr>
          <p:cNvPr id="8" name="Rectangle 7"/>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p:spPr>
      </p:pic>
      <p:sp>
        <p:nvSpPr>
          <p:cNvPr id="13" name="TextBox 12"/>
          <p:cNvSpPr txBox="1"/>
          <p:nvPr/>
        </p:nvSpPr>
        <p:spPr>
          <a:xfrm>
            <a:off x="1285646" y="1509674"/>
            <a:ext cx="2274112" cy="314554"/>
          </a:xfrm>
          <a:prstGeom prst="rect">
            <a:avLst/>
          </a:prstGeom>
          <a:noFill/>
          <a:ln/>
        </p:spPr>
        <p:txBody>
          <a:bodyPr wrap="square" lIns="0" rIns="0" tIns="0" bIns="0">
            <a:noAutofit/>
          </a:bodyPr>
          <a:lstStyle/>
          <a:p>
            <a:r>
              <a:rPr sz="1600" b="1">
                <a:solidFill>
                  <a:srgbClr val="1D1D1F"/>
                </a:solidFill>
                <a:latin typeface="Noto Sans JP"/>
              </a:rPr>
              <a:t>基本運用モデルの比較</a:t>
            </a:r>
          </a:p>
        </p:txBody>
      </p:sp>
      <p:pic>
        <p:nvPicPr>
          <p:cNvPr id="14" name="Picture 13" descr="image.png"/>
          <p:cNvPicPr>
            <a:picLocks noChangeAspect="1"/>
          </p:cNvPicPr>
          <p:nvPr/>
        </p:nvPicPr>
        <p:blipFill>
          <a:blip r:embed="rId3"/>
          <a:stretch>
            <a:fillRect/>
          </a:stretch>
        </p:blipFill>
        <p:spPr>
          <a:xfrm>
            <a:off x="676656" y="2333549"/>
            <a:ext cx="152705" cy="171906"/>
          </a:xfrm>
          <a:prstGeom prst="rect">
            <a:avLst/>
          </a:prstGeom>
          <a:ln/>
        </p:spPr>
      </p:pic>
      <p:sp>
        <p:nvSpPr>
          <p:cNvPr id="15" name="TextBox 14"/>
          <p:cNvSpPr txBox="1"/>
          <p:nvPr/>
        </p:nvSpPr>
        <p:spPr>
          <a:xfrm>
            <a:off x="942746" y="2295144"/>
            <a:ext cx="4782312" cy="267005"/>
          </a:xfrm>
          <a:prstGeom prst="rect">
            <a:avLst/>
          </a:prstGeom>
          <a:noFill/>
          <a:ln/>
        </p:spPr>
        <p:txBody>
          <a:bodyPr wrap="square" lIns="0" rIns="0" tIns="0" bIns="0">
            <a:noAutofit/>
          </a:bodyPr>
          <a:lstStyle/>
          <a:p>
            <a:r>
              <a:rPr sz="1300" b="1">
                <a:solidFill>
                  <a:srgbClr val="1D1D1F"/>
                </a:solidFill>
                <a:latin typeface="Noto Sans JP"/>
              </a:rPr>
              <a:t>常駐（Always-on）</a:t>
            </a:r>
          </a:p>
        </p:txBody>
      </p:sp>
      <p:pic>
        <p:nvPicPr>
          <p:cNvPr id="16" name="Picture 15" descr="image.png"/>
          <p:cNvPicPr>
            <a:picLocks noChangeAspect="1"/>
          </p:cNvPicPr>
          <p:nvPr/>
        </p:nvPicPr>
        <p:blipFill>
          <a:blip r:embed="rId4"/>
          <a:stretch>
            <a:fillRect/>
          </a:stretch>
        </p:blipFill>
        <p:spPr>
          <a:xfrm>
            <a:off x="2580437" y="2344522"/>
            <a:ext cx="1095451" cy="209398"/>
          </a:xfrm>
          <a:prstGeom prst="rect">
            <a:avLst/>
          </a:prstGeom>
          <a:ln/>
        </p:spPr>
      </p:pic>
      <p:sp>
        <p:nvSpPr>
          <p:cNvPr id="17" name="TextBox 16"/>
          <p:cNvSpPr txBox="1"/>
          <p:nvPr/>
        </p:nvSpPr>
        <p:spPr>
          <a:xfrm>
            <a:off x="2580437" y="2344522"/>
            <a:ext cx="1095451" cy="210312"/>
          </a:xfrm>
          <a:prstGeom prst="rect">
            <a:avLst/>
          </a:prstGeom>
          <a:noFill/>
          <a:ln>
            <a:solidFill>
              <a:srgbClr val="FFFFFF"/>
            </a:solidFill>
          </a:ln>
        </p:spPr>
        <p:txBody>
          <a:bodyPr wrap="square" lIns="0" rIns="0" tIns="0" bIns="0">
            <a:noAutofit/>
          </a:bodyPr>
          <a:lstStyle/>
          <a:p>
            <a:r>
              <a:rPr sz="900" b="1">
                <a:solidFill>
                  <a:srgbClr val="007AFF"/>
                </a:solidFill>
                <a:latin typeface="Noto Sans JP"/>
              </a:rPr>
              <a:t>推奨: チャットBot</a:t>
            </a:r>
          </a:p>
        </p:txBody>
      </p:sp>
      <p:sp>
        <p:nvSpPr>
          <p:cNvPr id="18" name="TextBox 17"/>
          <p:cNvSpPr txBox="1"/>
          <p:nvPr/>
        </p:nvSpPr>
        <p:spPr>
          <a:xfrm>
            <a:off x="942746" y="2591410"/>
            <a:ext cx="4782312" cy="228600"/>
          </a:xfrm>
          <a:prstGeom prst="rect">
            <a:avLst/>
          </a:prstGeom>
          <a:noFill/>
          <a:ln/>
        </p:spPr>
        <p:txBody>
          <a:bodyPr wrap="square" lIns="0" rIns="0" tIns="0" bIns="0">
            <a:noAutofit/>
          </a:bodyPr>
          <a:lstStyle/>
          <a:p>
            <a:r>
              <a:rPr sz="1200">
                <a:solidFill>
                  <a:srgbClr val="424245"/>
                </a:solidFill>
                <a:latin typeface="Noto Sans JP"/>
              </a:rPr>
              <a:t>モデルをメモリに保持し、Prompt Cacheを維持。</a:t>
            </a:r>
          </a:p>
        </p:txBody>
      </p:sp>
      <p:sp>
        <p:nvSpPr>
          <p:cNvPr id="19" name="TextBox 18"/>
          <p:cNvSpPr txBox="1"/>
          <p:nvPr/>
        </p:nvSpPr>
        <p:spPr>
          <a:xfrm>
            <a:off x="1133856" y="2868473"/>
            <a:ext cx="4668012" cy="219456"/>
          </a:xfrm>
          <a:prstGeom prst="rect">
            <a:avLst/>
          </a:prstGeom>
          <a:noFill/>
          <a:ln/>
        </p:spPr>
        <p:txBody>
          <a:bodyPr wrap="square" lIns="0" rIns="0" tIns="0" bIns="0">
            <a:noAutofit/>
          </a:bodyPr>
          <a:lstStyle/>
          <a:p>
            <a:r>
              <a:rPr sz="1100" b="1">
                <a:solidFill>
                  <a:srgbClr val="424245"/>
                </a:solidFill>
                <a:latin typeface="Noto Sans JP"/>
              </a:rPr>
              <a:t>利点：</a:t>
            </a:r>
            <a:r>
              <a:rPr sz="1100">
                <a:solidFill>
                  <a:srgbClr val="424245"/>
                </a:solidFill>
                <a:latin typeface="Noto Sans JP"/>
              </a:rPr>
              <a:t>TTFTが最短、応答が安定。</a:t>
            </a:r>
          </a:p>
        </p:txBody>
      </p:sp>
      <p:sp>
        <p:nvSpPr>
          <p:cNvPr id="20" name="TextBox 19"/>
          <p:cNvSpPr txBox="1"/>
          <p:nvPr/>
        </p:nvSpPr>
        <p:spPr>
          <a:xfrm>
            <a:off x="1133856" y="3082442"/>
            <a:ext cx="4668012" cy="219456"/>
          </a:xfrm>
          <a:prstGeom prst="rect">
            <a:avLst/>
          </a:prstGeom>
          <a:noFill/>
          <a:ln/>
        </p:spPr>
        <p:txBody>
          <a:bodyPr wrap="square" lIns="0" rIns="0" tIns="0" bIns="0">
            <a:noAutofit/>
          </a:bodyPr>
          <a:lstStyle/>
          <a:p>
            <a:r>
              <a:rPr sz="1100" b="1">
                <a:solidFill>
                  <a:srgbClr val="424245"/>
                </a:solidFill>
                <a:latin typeface="Noto Sans JP"/>
              </a:rPr>
              <a:t>欠点：</a:t>
            </a:r>
            <a:r>
              <a:rPr sz="1100">
                <a:solidFill>
                  <a:srgbClr val="424245"/>
                </a:solidFill>
                <a:latin typeface="Noto Sans JP"/>
              </a:rPr>
              <a:t>メモリを常時占有（他アプリと競合）。</a:t>
            </a:r>
          </a:p>
        </p:txBody>
      </p:sp>
      <p:pic>
        <p:nvPicPr>
          <p:cNvPr id="21" name="Picture 20" descr="image.png"/>
          <p:cNvPicPr>
            <a:picLocks noChangeAspect="1"/>
          </p:cNvPicPr>
          <p:nvPr/>
        </p:nvPicPr>
        <p:blipFill>
          <a:blip r:embed="rId5"/>
          <a:stretch>
            <a:fillRect/>
          </a:stretch>
        </p:blipFill>
        <p:spPr>
          <a:xfrm>
            <a:off x="676656" y="3563417"/>
            <a:ext cx="190194" cy="171906"/>
          </a:xfrm>
          <a:prstGeom prst="rect">
            <a:avLst/>
          </a:prstGeom>
          <a:ln/>
        </p:spPr>
      </p:pic>
      <p:sp>
        <p:nvSpPr>
          <p:cNvPr id="22" name="TextBox 21"/>
          <p:cNvSpPr txBox="1"/>
          <p:nvPr/>
        </p:nvSpPr>
        <p:spPr>
          <a:xfrm>
            <a:off x="981150" y="3525012"/>
            <a:ext cx="4743907" cy="267005"/>
          </a:xfrm>
          <a:prstGeom prst="rect">
            <a:avLst/>
          </a:prstGeom>
          <a:noFill/>
          <a:ln/>
        </p:spPr>
        <p:txBody>
          <a:bodyPr wrap="square" lIns="0" rIns="0" tIns="0" bIns="0">
            <a:noAutofit/>
          </a:bodyPr>
          <a:lstStyle/>
          <a:p>
            <a:r>
              <a:rPr sz="1300" b="1">
                <a:solidFill>
                  <a:srgbClr val="1D1D1F"/>
                </a:solidFill>
                <a:latin typeface="Noto Sans JP"/>
              </a:rPr>
              <a:t>オンデマンド（On-demand）</a:t>
            </a:r>
          </a:p>
        </p:txBody>
      </p:sp>
      <p:pic>
        <p:nvPicPr>
          <p:cNvPr id="23" name="Picture 22" descr="image.png"/>
          <p:cNvPicPr>
            <a:picLocks noChangeAspect="1"/>
          </p:cNvPicPr>
          <p:nvPr/>
        </p:nvPicPr>
        <p:blipFill>
          <a:blip r:embed="rId6"/>
          <a:stretch>
            <a:fillRect/>
          </a:stretch>
        </p:blipFill>
        <p:spPr>
          <a:xfrm>
            <a:off x="3430829" y="3574390"/>
            <a:ext cx="952805" cy="209398"/>
          </a:xfrm>
          <a:prstGeom prst="rect">
            <a:avLst/>
          </a:prstGeom>
          <a:ln/>
        </p:spPr>
      </p:pic>
      <p:sp>
        <p:nvSpPr>
          <p:cNvPr id="24" name="TextBox 23"/>
          <p:cNvSpPr txBox="1"/>
          <p:nvPr/>
        </p:nvSpPr>
        <p:spPr>
          <a:xfrm>
            <a:off x="3430829" y="3574390"/>
            <a:ext cx="952805" cy="210312"/>
          </a:xfrm>
          <a:prstGeom prst="rect">
            <a:avLst/>
          </a:prstGeom>
          <a:noFill/>
          <a:ln>
            <a:solidFill>
              <a:srgbClr val="FFFFFF"/>
            </a:solidFill>
          </a:ln>
        </p:spPr>
        <p:txBody>
          <a:bodyPr wrap="square" lIns="0" rIns="0" tIns="0" bIns="0">
            <a:noAutofit/>
          </a:bodyPr>
          <a:lstStyle/>
          <a:p>
            <a:r>
              <a:rPr sz="900" b="1">
                <a:solidFill>
                  <a:srgbClr val="86868B"/>
                </a:solidFill>
                <a:latin typeface="Noto Sans JP"/>
              </a:rPr>
              <a:t>推奨: 翻訳/要約</a:t>
            </a:r>
          </a:p>
        </p:txBody>
      </p:sp>
      <p:sp>
        <p:nvSpPr>
          <p:cNvPr id="25" name="TextBox 24"/>
          <p:cNvSpPr txBox="1"/>
          <p:nvPr/>
        </p:nvSpPr>
        <p:spPr>
          <a:xfrm>
            <a:off x="981150" y="3821278"/>
            <a:ext cx="4819802" cy="228600"/>
          </a:xfrm>
          <a:prstGeom prst="rect">
            <a:avLst/>
          </a:prstGeom>
          <a:noFill/>
          <a:ln/>
        </p:spPr>
        <p:txBody>
          <a:bodyPr wrap="square" lIns="0" rIns="0" tIns="0" bIns="0">
            <a:noAutofit/>
          </a:bodyPr>
          <a:lstStyle/>
          <a:p>
            <a:r>
              <a:rPr sz="1200">
                <a:solidFill>
                  <a:srgbClr val="424245"/>
                </a:solidFill>
                <a:latin typeface="Noto Sans JP"/>
              </a:rPr>
              <a:t>リクエスト時のみロードし、完了後に解放。</a:t>
            </a:r>
          </a:p>
        </p:txBody>
      </p:sp>
      <p:sp>
        <p:nvSpPr>
          <p:cNvPr id="26" name="TextBox 25"/>
          <p:cNvSpPr txBox="1"/>
          <p:nvPr/>
        </p:nvSpPr>
        <p:spPr>
          <a:xfrm>
            <a:off x="1171346" y="4097426"/>
            <a:ext cx="4629607" cy="219456"/>
          </a:xfrm>
          <a:prstGeom prst="rect">
            <a:avLst/>
          </a:prstGeom>
          <a:noFill/>
          <a:ln/>
        </p:spPr>
        <p:txBody>
          <a:bodyPr wrap="square" lIns="0" rIns="0" tIns="0" bIns="0">
            <a:noAutofit/>
          </a:bodyPr>
          <a:lstStyle/>
          <a:p>
            <a:r>
              <a:rPr sz="1100" b="1">
                <a:solidFill>
                  <a:srgbClr val="424245"/>
                </a:solidFill>
                <a:latin typeface="Noto Sans JP"/>
              </a:rPr>
              <a:t>利点：</a:t>
            </a:r>
            <a:r>
              <a:rPr sz="1100">
                <a:solidFill>
                  <a:srgbClr val="424245"/>
                </a:solidFill>
                <a:latin typeface="Noto Sans JP"/>
              </a:rPr>
              <a:t>アイドル時のメモリ節約、複数モデル併用。</a:t>
            </a:r>
          </a:p>
        </p:txBody>
      </p:sp>
      <p:sp>
        <p:nvSpPr>
          <p:cNvPr id="27" name="TextBox 26"/>
          <p:cNvSpPr txBox="1"/>
          <p:nvPr/>
        </p:nvSpPr>
        <p:spPr>
          <a:xfrm>
            <a:off x="1171346" y="4312310"/>
            <a:ext cx="4629607" cy="219455"/>
          </a:xfrm>
          <a:prstGeom prst="rect">
            <a:avLst/>
          </a:prstGeom>
          <a:noFill/>
          <a:ln/>
        </p:spPr>
        <p:txBody>
          <a:bodyPr wrap="square" lIns="0" rIns="0" tIns="0" bIns="0">
            <a:noAutofit/>
          </a:bodyPr>
          <a:lstStyle/>
          <a:p>
            <a:r>
              <a:rPr sz="1100" b="1">
                <a:solidFill>
                  <a:srgbClr val="424245"/>
                </a:solidFill>
                <a:latin typeface="Noto Sans JP"/>
              </a:rPr>
              <a:t>欠点：</a:t>
            </a:r>
            <a:r>
              <a:rPr sz="1100">
                <a:solidFill>
                  <a:srgbClr val="424245"/>
                </a:solidFill>
                <a:latin typeface="Noto Sans JP"/>
              </a:rPr>
              <a:t>毎回ロード時間が発生（TTFT増大）。</a:t>
            </a:r>
          </a:p>
        </p:txBody>
      </p:sp>
      <p:sp>
        <p:nvSpPr>
          <p:cNvPr id="28" name="Rectangle 27"/>
          <p:cNvSpPr/>
          <p:nvPr/>
        </p:nvSpPr>
        <p:spPr>
          <a:xfrm>
            <a:off x="6286500" y="1143000"/>
            <a:ext cx="5524805" cy="49533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7"/>
          <a:stretch>
            <a:fillRect/>
          </a:stretch>
        </p:blipFill>
        <p:spPr>
          <a:xfrm>
            <a:off x="6676949" y="1533449"/>
            <a:ext cx="267005" cy="267005"/>
          </a:xfrm>
          <a:prstGeom prst="rect">
            <a:avLst/>
          </a:prstGeom>
          <a:ln/>
        </p:spPr>
      </p:pic>
      <p:sp>
        <p:nvSpPr>
          <p:cNvPr id="32" name="TextBox 31"/>
          <p:cNvSpPr txBox="1"/>
          <p:nvPr/>
        </p:nvSpPr>
        <p:spPr>
          <a:xfrm>
            <a:off x="7191756" y="1509674"/>
            <a:ext cx="2047341" cy="314554"/>
          </a:xfrm>
          <a:prstGeom prst="rect">
            <a:avLst/>
          </a:prstGeom>
          <a:noFill/>
          <a:ln/>
        </p:spPr>
        <p:txBody>
          <a:bodyPr wrap="square" lIns="0" rIns="0" tIns="0" bIns="0">
            <a:noAutofit/>
          </a:bodyPr>
          <a:lstStyle/>
          <a:p>
            <a:r>
              <a:rPr sz="1600" b="1">
                <a:solidFill>
                  <a:srgbClr val="1D1D1F"/>
                </a:solidFill>
                <a:latin typeface="Noto Sans JP"/>
              </a:rPr>
              <a:t>負荷分散と決定基準</a:t>
            </a:r>
          </a:p>
        </p:txBody>
      </p:sp>
      <p:pic>
        <p:nvPicPr>
          <p:cNvPr id="33" name="Picture 32" descr="image.png"/>
          <p:cNvPicPr>
            <a:picLocks noChangeAspect="1"/>
          </p:cNvPicPr>
          <p:nvPr/>
        </p:nvPicPr>
        <p:blipFill>
          <a:blip r:embed="rId8"/>
          <a:stretch>
            <a:fillRect/>
          </a:stretch>
        </p:blipFill>
        <p:spPr>
          <a:xfrm>
            <a:off x="6581851" y="2333549"/>
            <a:ext cx="133502" cy="171906"/>
          </a:xfrm>
          <a:prstGeom prst="rect">
            <a:avLst/>
          </a:prstGeom>
          <a:ln/>
        </p:spPr>
      </p:pic>
      <p:sp>
        <p:nvSpPr>
          <p:cNvPr id="34" name="TextBox 33"/>
          <p:cNvSpPr txBox="1"/>
          <p:nvPr/>
        </p:nvSpPr>
        <p:spPr>
          <a:xfrm>
            <a:off x="6829654" y="2295144"/>
            <a:ext cx="4800600" cy="257861"/>
          </a:xfrm>
          <a:prstGeom prst="rect">
            <a:avLst/>
          </a:prstGeom>
          <a:noFill/>
          <a:ln/>
        </p:spPr>
        <p:txBody>
          <a:bodyPr wrap="square" lIns="0" rIns="0" tIns="0" bIns="0">
            <a:noAutofit/>
          </a:bodyPr>
          <a:lstStyle/>
          <a:p>
            <a:r>
              <a:rPr sz="1300" b="1">
                <a:solidFill>
                  <a:srgbClr val="1D1D1F"/>
                </a:solidFill>
                <a:latin typeface="Noto Sans JP"/>
              </a:rPr>
              <a:t>夜間バッチ（Nightly Batch）</a:t>
            </a:r>
          </a:p>
        </p:txBody>
      </p:sp>
      <p:sp>
        <p:nvSpPr>
          <p:cNvPr id="35" name="TextBox 34"/>
          <p:cNvSpPr txBox="1"/>
          <p:nvPr/>
        </p:nvSpPr>
        <p:spPr>
          <a:xfrm>
            <a:off x="6829654" y="2590495"/>
            <a:ext cx="4877410" cy="228600"/>
          </a:xfrm>
          <a:prstGeom prst="rect">
            <a:avLst/>
          </a:prstGeom>
          <a:noFill/>
          <a:ln/>
        </p:spPr>
        <p:txBody>
          <a:bodyPr wrap="square" lIns="0" rIns="0" tIns="0" bIns="0">
            <a:noAutofit/>
          </a:bodyPr>
          <a:lstStyle/>
          <a:p>
            <a:r>
              <a:rPr sz="1200">
                <a:solidFill>
                  <a:srgbClr val="424245"/>
                </a:solidFill>
                <a:latin typeface="Noto Sans JP"/>
              </a:rPr>
              <a:t>重い処理をオフピークに移動し、前計算する。</a:t>
            </a:r>
          </a:p>
        </p:txBody>
      </p:sp>
      <p:sp>
        <p:nvSpPr>
          <p:cNvPr id="36" name="TextBox 35"/>
          <p:cNvSpPr txBox="1"/>
          <p:nvPr/>
        </p:nvSpPr>
        <p:spPr>
          <a:xfrm>
            <a:off x="7019849" y="2866644"/>
            <a:ext cx="4610405" cy="219456"/>
          </a:xfrm>
          <a:prstGeom prst="rect">
            <a:avLst/>
          </a:prstGeom>
          <a:noFill/>
          <a:ln/>
        </p:spPr>
        <p:txBody>
          <a:bodyPr wrap="square" lIns="0" rIns="0" tIns="0" bIns="0">
            <a:noAutofit/>
          </a:bodyPr>
          <a:lstStyle/>
          <a:p>
            <a:r>
              <a:rPr sz="1100" b="1">
                <a:solidFill>
                  <a:srgbClr val="424245"/>
                </a:solidFill>
                <a:latin typeface="Noto Sans JP"/>
              </a:rPr>
              <a:t>用途：</a:t>
            </a:r>
            <a:r>
              <a:rPr sz="1100">
                <a:solidFill>
                  <a:srgbClr val="424245"/>
                </a:solidFill>
                <a:latin typeface="Noto Sans JP"/>
              </a:rPr>
              <a:t>RAGのEmbedding生成、OCR、議事録再要約。</a:t>
            </a:r>
          </a:p>
        </p:txBody>
      </p:sp>
      <p:sp>
        <p:nvSpPr>
          <p:cNvPr id="37" name="TextBox 36"/>
          <p:cNvSpPr txBox="1"/>
          <p:nvPr/>
        </p:nvSpPr>
        <p:spPr>
          <a:xfrm>
            <a:off x="7019849" y="3081528"/>
            <a:ext cx="4686300" cy="219455"/>
          </a:xfrm>
          <a:prstGeom prst="rect">
            <a:avLst/>
          </a:prstGeom>
          <a:noFill/>
          <a:ln/>
        </p:spPr>
        <p:txBody>
          <a:bodyPr wrap="square" lIns="0" rIns="0" tIns="0" bIns="0">
            <a:noAutofit/>
          </a:bodyPr>
          <a:lstStyle/>
          <a:p>
            <a:r>
              <a:rPr sz="1100" b="1">
                <a:solidFill>
                  <a:srgbClr val="424245"/>
                </a:solidFill>
                <a:latin typeface="Noto Sans JP"/>
              </a:rPr>
              <a:t>効果：</a:t>
            </a:r>
            <a:r>
              <a:rPr sz="1100">
                <a:solidFill>
                  <a:srgbClr val="424245"/>
                </a:solidFill>
                <a:latin typeface="Noto Sans JP"/>
              </a:rPr>
              <a:t>日中のリソースをLLMの即時応答に集中。</a:t>
            </a:r>
          </a:p>
        </p:txBody>
      </p:sp>
      <p:pic>
        <p:nvPicPr>
          <p:cNvPr id="38" name="Picture 37" descr="image.png"/>
          <p:cNvPicPr>
            <a:picLocks noChangeAspect="1"/>
          </p:cNvPicPr>
          <p:nvPr/>
        </p:nvPicPr>
        <p:blipFill>
          <a:blip r:embed="rId9"/>
          <a:stretch>
            <a:fillRect/>
          </a:stretch>
        </p:blipFill>
        <p:spPr>
          <a:xfrm>
            <a:off x="6581851" y="3562502"/>
            <a:ext cx="219455" cy="171906"/>
          </a:xfrm>
          <a:prstGeom prst="rect">
            <a:avLst/>
          </a:prstGeom>
          <a:ln/>
        </p:spPr>
      </p:pic>
      <p:sp>
        <p:nvSpPr>
          <p:cNvPr id="39" name="TextBox 38"/>
          <p:cNvSpPr txBox="1"/>
          <p:nvPr/>
        </p:nvSpPr>
        <p:spPr>
          <a:xfrm>
            <a:off x="6915607" y="3524098"/>
            <a:ext cx="4791456" cy="257860"/>
          </a:xfrm>
          <a:prstGeom prst="rect">
            <a:avLst/>
          </a:prstGeom>
          <a:noFill/>
          <a:ln/>
        </p:spPr>
        <p:txBody>
          <a:bodyPr wrap="square" lIns="0" rIns="0" tIns="0" bIns="0">
            <a:noAutofit/>
          </a:bodyPr>
          <a:lstStyle/>
          <a:p>
            <a:r>
              <a:rPr sz="1300" b="1">
                <a:solidFill>
                  <a:srgbClr val="1D1D1F"/>
                </a:solidFill>
                <a:latin typeface="Noto Sans JP"/>
              </a:rPr>
              <a:t>運用方針の決定基準</a:t>
            </a:r>
          </a:p>
        </p:txBody>
      </p:sp>
      <p:sp>
        <p:nvSpPr>
          <p:cNvPr id="40" name="TextBox 39"/>
          <p:cNvSpPr txBox="1"/>
          <p:nvPr/>
        </p:nvSpPr>
        <p:spPr>
          <a:xfrm>
            <a:off x="6915607" y="3819448"/>
            <a:ext cx="4791456" cy="228600"/>
          </a:xfrm>
          <a:prstGeom prst="rect">
            <a:avLst/>
          </a:prstGeom>
          <a:noFill/>
          <a:ln/>
        </p:spPr>
        <p:txBody>
          <a:bodyPr wrap="square" lIns="0" rIns="0" tIns="0" bIns="0">
            <a:noAutofit/>
          </a:bodyPr>
          <a:lstStyle/>
          <a:p>
            <a:r>
              <a:rPr sz="1200">
                <a:solidFill>
                  <a:srgbClr val="424245"/>
                </a:solidFill>
                <a:latin typeface="Noto Sans JP"/>
              </a:rPr>
              <a:t>Tier（ハード制約）とユースケース要件で決定。</a:t>
            </a:r>
          </a:p>
        </p:txBody>
      </p:sp>
      <p:sp>
        <p:nvSpPr>
          <p:cNvPr id="41" name="TextBox 40"/>
          <p:cNvSpPr txBox="1"/>
          <p:nvPr/>
        </p:nvSpPr>
        <p:spPr>
          <a:xfrm>
            <a:off x="7105802" y="4095598"/>
            <a:ext cx="4601261" cy="219456"/>
          </a:xfrm>
          <a:prstGeom prst="rect">
            <a:avLst/>
          </a:prstGeom>
          <a:noFill/>
          <a:ln/>
        </p:spPr>
        <p:txBody>
          <a:bodyPr wrap="square" lIns="0" rIns="0" tIns="0" bIns="0">
            <a:noAutofit/>
          </a:bodyPr>
          <a:lstStyle/>
          <a:p>
            <a:r>
              <a:rPr sz="1100" b="1">
                <a:solidFill>
                  <a:srgbClr val="424245"/>
                </a:solidFill>
                <a:latin typeface="Noto Sans JP"/>
              </a:rPr>
              <a:t>p95要件：</a:t>
            </a:r>
            <a:r>
              <a:rPr sz="1100">
                <a:solidFill>
                  <a:srgbClr val="424245"/>
                </a:solidFill>
                <a:latin typeface="Noto Sans JP"/>
              </a:rPr>
              <a:t>即応が必要なら「常駐」。</a:t>
            </a:r>
          </a:p>
        </p:txBody>
      </p:sp>
      <p:sp>
        <p:nvSpPr>
          <p:cNvPr id="42" name="TextBox 41"/>
          <p:cNvSpPr txBox="1"/>
          <p:nvPr/>
        </p:nvSpPr>
        <p:spPr>
          <a:xfrm>
            <a:off x="7105802" y="4310482"/>
            <a:ext cx="4601261" cy="219455"/>
          </a:xfrm>
          <a:prstGeom prst="rect">
            <a:avLst/>
          </a:prstGeom>
          <a:noFill/>
          <a:ln/>
        </p:spPr>
        <p:txBody>
          <a:bodyPr wrap="square" lIns="0" rIns="0" tIns="0" bIns="0">
            <a:noAutofit/>
          </a:bodyPr>
          <a:lstStyle/>
          <a:p>
            <a:r>
              <a:rPr sz="1100" b="1">
                <a:solidFill>
                  <a:srgbClr val="424245"/>
                </a:solidFill>
                <a:latin typeface="Noto Sans JP"/>
              </a:rPr>
              <a:t>同時実行数：</a:t>
            </a:r>
            <a:r>
              <a:rPr sz="1100">
                <a:solidFill>
                  <a:srgbClr val="424245"/>
                </a:solidFill>
                <a:latin typeface="Noto Sans JP"/>
              </a:rPr>
              <a:t>リソース不足なら「オンデマンド」か「バッチ」。</a:t>
            </a:r>
          </a:p>
        </p:txBody>
      </p:sp>
      <p:sp>
        <p:nvSpPr>
          <p:cNvPr id="43" name="Rectangle 42"/>
          <p:cNvSpPr/>
          <p:nvPr/>
        </p:nvSpPr>
        <p:spPr>
          <a:xfrm>
            <a:off x="6581851" y="5020056"/>
            <a:ext cx="4934102" cy="780898"/>
          </a:xfrm>
          <a:prstGeom prst="rect">
            <a:avLst/>
          </a:prstGeom>
          <a:solidFill>
            <a:srgbClr val="FFF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1851" y="5020056"/>
            <a:ext cx="38405" cy="780898"/>
          </a:xfrm>
          <a:prstGeom prst="rect">
            <a:avLst/>
          </a:prstGeom>
          <a:solidFill>
            <a:srgbClr val="FFCC00"/>
          </a:solidFill>
          <a:ln w="127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91502" y="5210251"/>
            <a:ext cx="4410151" cy="400506"/>
          </a:xfrm>
          <a:prstGeom prst="rect">
            <a:avLst/>
          </a:prstGeom>
          <a:noFill/>
          <a:ln/>
        </p:spPr>
        <p:txBody>
          <a:bodyPr wrap="square" lIns="0" rIns="0" tIns="0" bIns="0">
            <a:noAutofit/>
          </a:bodyPr>
          <a:lstStyle/>
          <a:p>
            <a:r>
              <a:rPr sz="1000" b="1">
                <a:solidFill>
                  <a:srgbClr val="5D4037"/>
                </a:solidFill>
                <a:latin typeface="Noto Sans JP"/>
              </a:rPr>
              <a:t>Key Takeaways:</a:t>
            </a:r>
            <a:r>
              <a:rPr sz="1000">
                <a:solidFill>
                  <a:srgbClr val="5D4037"/>
                </a:solidFill>
                <a:latin typeface="Noto Sans JP"/>
              </a:rPr>
              <a:t> 常駐は「即応性」、オンデマンドは「リソース効率」。重い処理（OCR/Embedding）は夜間バッチへ逃がすのが鉄則です。 </a:t>
            </a:r>
          </a:p>
        </p:txBody>
      </p:sp>
      <p:pic>
        <p:nvPicPr>
          <p:cNvPr id="46" name="Picture 45" descr="image.png"/>
          <p:cNvPicPr>
            <a:picLocks noChangeAspect="1"/>
          </p:cNvPicPr>
          <p:nvPr/>
        </p:nvPicPr>
        <p:blipFill>
          <a:blip r:embed="rId10"/>
          <a:stretch>
            <a:fillRect/>
          </a:stretch>
        </p:blipFill>
        <p:spPr>
          <a:xfrm>
            <a:off x="6810451" y="5245913"/>
            <a:ext cx="105155" cy="133501"/>
          </a:xfrm>
          <a:prstGeom prst="rect">
            <a:avLst/>
          </a:prstGeom>
          <a:ln/>
        </p:spPr>
      </p:pic>
      <p:pic>
        <p:nvPicPr>
          <p:cNvPr id="47" name="Picture 46" descr="image.png"/>
          <p:cNvPicPr>
            <a:picLocks noChangeAspect="1"/>
          </p:cNvPicPr>
          <p:nvPr/>
        </p:nvPicPr>
        <p:blipFill>
          <a:blip r:embed="rId11"/>
          <a:stretch>
            <a:fillRect/>
          </a:stretch>
        </p:blipFill>
        <p:spPr>
          <a:xfrm>
            <a:off x="0" y="6476695"/>
            <a:ext cx="12191695" cy="381305"/>
          </a:xfrm>
          <a:prstGeom prst="rect">
            <a:avLst/>
          </a:prstGeom>
          <a:ln/>
        </p:spPr>
      </p:pic>
      <p:sp>
        <p:nvSpPr>
          <p:cNvPr id="48" name="TextBox 47"/>
          <p:cNvSpPr txBox="1"/>
          <p:nvPr/>
        </p:nvSpPr>
        <p:spPr>
          <a:xfrm>
            <a:off x="0" y="6476695"/>
            <a:ext cx="12192610" cy="381305"/>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58 | ローカルAI 技術調査レポート</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p:spPr>
      </p:pic>
      <p:sp>
        <p:nvSpPr>
          <p:cNvPr id="8" name="TextBox 7"/>
          <p:cNvSpPr txBox="1"/>
          <p:nvPr/>
        </p:nvSpPr>
        <p:spPr>
          <a:xfrm>
            <a:off x="838505" y="0"/>
            <a:ext cx="7010705" cy="914400"/>
          </a:xfrm>
          <a:prstGeom prst="rect">
            <a:avLst/>
          </a:prstGeom>
          <a:noFill/>
          <a:ln/>
        </p:spPr>
        <p:txBody>
          <a:bodyPr wrap="square" lIns="0" rIns="0" tIns="0" bIns="0">
            <a:noAutofit/>
          </a:bodyPr>
          <a:lstStyle/>
          <a:p>
            <a:r>
              <a:rPr sz="2400" b="1">
                <a:solidFill>
                  <a:srgbClr val="1D1D1F"/>
                </a:solidFill>
                <a:latin typeface="Noto Sans JP"/>
              </a:rPr>
              <a:t>ユースケース別推奨スタック：音声メモ→整文化→タスク抽出</a:t>
            </a:r>
          </a:p>
        </p:txBody>
      </p:sp>
      <p:sp>
        <p:nvSpPr>
          <p:cNvPr id="9" name="TextBox 8"/>
          <p:cNvSpPr txBox="1"/>
          <p:nvPr/>
        </p:nvSpPr>
        <p:spPr>
          <a:xfrm>
            <a:off x="7726680" y="166421"/>
            <a:ext cx="4086453" cy="514806"/>
          </a:xfrm>
          <a:prstGeom prst="rect">
            <a:avLst/>
          </a:prstGeom>
          <a:noFill/>
          <a:ln/>
        </p:spPr>
        <p:txBody>
          <a:bodyPr wrap="square" lIns="0" rIns="0" tIns="0" bIns="0">
            <a:noAutofit/>
          </a:bodyPr>
          <a:lstStyle/>
          <a:p>
            <a:r>
              <a:rPr sz="1300">
                <a:solidFill>
                  <a:srgbClr val="86868B"/>
                </a:solidFill>
                <a:latin typeface="Noto Sans JP"/>
              </a:rPr>
              <a:t>用途に応じて「低コスト／高品質／ハード制約」の3構成を選択</a:t>
            </a:r>
          </a:p>
        </p:txBody>
      </p:sp>
      <p:sp>
        <p:nvSpPr>
          <p:cNvPr id="10" name="Rectangle 9"/>
          <p:cNvSpPr/>
          <p:nvPr/>
        </p:nvSpPr>
        <p:spPr>
          <a:xfrm>
            <a:off x="457200" y="1143000"/>
            <a:ext cx="11277295" cy="857707"/>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43000"/>
            <a:ext cx="57606" cy="857707"/>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95705"/>
            <a:ext cx="10840212" cy="553212"/>
          </a:xfrm>
          <a:prstGeom prst="rect">
            <a:avLst/>
          </a:prstGeom>
          <a:noFill/>
          <a:ln/>
        </p:spPr>
        <p:txBody>
          <a:bodyPr wrap="square" lIns="0" rIns="0" tIns="0" bIns="0">
            <a:noAutofit/>
          </a:bodyPr>
          <a:lstStyle/>
          <a:p>
            <a:r>
              <a:rPr sz="1500" b="1">
                <a:solidFill>
                  <a:srgbClr val="1D1D1F"/>
                </a:solidFill>
                <a:latin typeface="Noto Sans JP"/>
              </a:rPr>
              <a:t> 結論：ASR精度とLLM推論能力のバランスで構成を決定します。 </a:t>
            </a:r>
            <a:r>
              <a:rPr sz="1200" b="1">
                <a:solidFill>
                  <a:srgbClr val="424245"/>
                </a:solidFill>
                <a:latin typeface="Noto Sans JP"/>
              </a:rPr>
              <a:t>※誤転記防止にはVAD（無音除去）が必須。タスク抽出にはJSONスキーマ固定が有効です。</a:t>
            </a:r>
          </a:p>
        </p:txBody>
      </p:sp>
      <p:sp>
        <p:nvSpPr>
          <p:cNvPr id="13" name="TextBox 12"/>
          <p:cNvSpPr txBox="1"/>
          <p:nvPr/>
        </p:nvSpPr>
        <p:spPr>
          <a:xfrm>
            <a:off x="457200" y="2286000"/>
            <a:ext cx="3638398" cy="5143500"/>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295144"/>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05456"/>
            <a:ext cx="219455" cy="190194"/>
          </a:xfrm>
          <a:prstGeom prst="rect">
            <a:avLst/>
          </a:prstGeom>
          <a:ln/>
        </p:spPr>
      </p:pic>
      <p:sp>
        <p:nvSpPr>
          <p:cNvPr id="17" name="TextBox 16"/>
          <p:cNvSpPr txBox="1"/>
          <p:nvPr/>
        </p:nvSpPr>
        <p:spPr>
          <a:xfrm>
            <a:off x="1901952" y="2457907"/>
            <a:ext cx="1234439"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6850" y="3095244"/>
            <a:ext cx="3143707" cy="191109"/>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126334"/>
            <a:ext cx="152704" cy="123443"/>
          </a:xfrm>
          <a:prstGeom prst="rect">
            <a:avLst/>
          </a:prstGeom>
          <a:ln/>
        </p:spPr>
      </p:pic>
      <p:pic>
        <p:nvPicPr>
          <p:cNvPr id="21" name="Picture 20" descr="image.png"/>
          <p:cNvPicPr>
            <a:picLocks noChangeAspect="1"/>
          </p:cNvPicPr>
          <p:nvPr/>
        </p:nvPicPr>
        <p:blipFill>
          <a:blip r:embed="rId5"/>
          <a:stretch>
            <a:fillRect/>
          </a:stretch>
        </p:blipFill>
        <p:spPr>
          <a:xfrm>
            <a:off x="657454" y="3319272"/>
            <a:ext cx="3238805" cy="619048"/>
          </a:xfrm>
          <a:prstGeom prst="rect">
            <a:avLst/>
          </a:prstGeom>
          <a:ln/>
        </p:spPr>
      </p:pic>
      <p:sp>
        <p:nvSpPr>
          <p:cNvPr id="22" name="TextBox 21"/>
          <p:cNvSpPr txBox="1"/>
          <p:nvPr/>
        </p:nvSpPr>
        <p:spPr>
          <a:xfrm>
            <a:off x="657454" y="3319272"/>
            <a:ext cx="3238805" cy="619963"/>
          </a:xfrm>
          <a:prstGeom prst="rect">
            <a:avLst/>
          </a:prstGeom>
          <a:noFill/>
          <a:ln w="38100">
            <a:solidFill>
              <a:srgbClr val="34C759"/>
            </a:solidFill>
          </a:ln>
        </p:spPr>
        <p:txBody>
          <a:bodyPr wrap="square" lIns="0" rIns="0" tIns="0" bIns="0">
            <a:noAutofit/>
          </a:bodyPr>
          <a:lstStyle/>
          <a:p>
            <a:r>
              <a:rPr sz="1100">
                <a:solidFill>
                  <a:srgbClr val="1D1D1F"/>
                </a:solidFill>
                <a:latin typeface="Noto Sans JP"/>
              </a:rPr>
              <a:t>A-16 / W-CPU1 / G-8想定 (Apple 16GB / CPU / VRAM 8GB)</a:t>
            </a:r>
          </a:p>
        </p:txBody>
      </p:sp>
      <p:sp>
        <p:nvSpPr>
          <p:cNvPr id="23" name="TextBox 22"/>
          <p:cNvSpPr txBox="1"/>
          <p:nvPr/>
        </p:nvSpPr>
        <p:spPr>
          <a:xfrm>
            <a:off x="866850" y="4052621"/>
            <a:ext cx="3143707" cy="191110"/>
          </a:xfrm>
          <a:prstGeom prst="rect">
            <a:avLst/>
          </a:prstGeom>
          <a:noFill/>
          <a:ln/>
        </p:spPr>
        <p:txBody>
          <a:bodyPr wrap="square" lIns="0" rIns="0" tIns="0" bIns="0">
            <a:noAutofit/>
          </a:bodyPr>
          <a:lstStyle/>
          <a:p>
            <a:r>
              <a:rPr sz="900" b="1">
                <a:solidFill>
                  <a:srgbClr val="86868B"/>
                </a:solidFill>
                <a:latin typeface="Noto Sans JP"/>
              </a:rPr>
              <a:t>VAD &amp; ASR</a:t>
            </a:r>
          </a:p>
        </p:txBody>
      </p:sp>
      <p:pic>
        <p:nvPicPr>
          <p:cNvPr id="24" name="Picture 23" descr="image.png"/>
          <p:cNvPicPr>
            <a:picLocks noChangeAspect="1"/>
          </p:cNvPicPr>
          <p:nvPr/>
        </p:nvPicPr>
        <p:blipFill>
          <a:blip r:embed="rId6"/>
          <a:stretch>
            <a:fillRect/>
          </a:stretch>
        </p:blipFill>
        <p:spPr>
          <a:xfrm>
            <a:off x="657454" y="4083710"/>
            <a:ext cx="152704" cy="123444"/>
          </a:xfrm>
          <a:prstGeom prst="rect">
            <a:avLst/>
          </a:prstGeom>
          <a:ln/>
        </p:spPr>
      </p:pic>
      <p:pic>
        <p:nvPicPr>
          <p:cNvPr id="25" name="Picture 24" descr="image.png"/>
          <p:cNvPicPr>
            <a:picLocks noChangeAspect="1"/>
          </p:cNvPicPr>
          <p:nvPr/>
        </p:nvPicPr>
        <p:blipFill>
          <a:blip r:embed="rId5"/>
          <a:stretch>
            <a:fillRect/>
          </a:stretch>
        </p:blipFill>
        <p:spPr>
          <a:xfrm>
            <a:off x="657454" y="4276649"/>
            <a:ext cx="3238805" cy="619048"/>
          </a:xfrm>
          <a:prstGeom prst="rect">
            <a:avLst/>
          </a:prstGeom>
          <a:ln/>
        </p:spPr>
      </p:pic>
      <p:sp>
        <p:nvSpPr>
          <p:cNvPr id="26" name="TextBox 25"/>
          <p:cNvSpPr txBox="1"/>
          <p:nvPr/>
        </p:nvSpPr>
        <p:spPr>
          <a:xfrm>
            <a:off x="657454" y="4276649"/>
            <a:ext cx="3238805" cy="619962"/>
          </a:xfrm>
          <a:prstGeom prst="rect">
            <a:avLst/>
          </a:prstGeom>
          <a:noFill/>
          <a:ln w="38100">
            <a:solidFill>
              <a:srgbClr val="34C759"/>
            </a:solidFill>
          </a:ln>
        </p:spPr>
        <p:txBody>
          <a:bodyPr wrap="square" lIns="0" rIns="0" tIns="0" bIns="0">
            <a:noAutofit/>
          </a:bodyPr>
          <a:lstStyle/>
          <a:p>
            <a:r>
              <a:rPr sz="1100">
                <a:solidFill>
                  <a:srgbClr val="1D1D1F"/>
                </a:solidFill>
                <a:latin typeface="Noto Sans JP"/>
              </a:rPr>
              <a:t>Silero VAD (無音除去) faster-whisper (CPU/INT8)</a:t>
            </a:r>
          </a:p>
        </p:txBody>
      </p:sp>
      <p:sp>
        <p:nvSpPr>
          <p:cNvPr id="27" name="TextBox 26"/>
          <p:cNvSpPr txBox="1"/>
          <p:nvPr/>
        </p:nvSpPr>
        <p:spPr>
          <a:xfrm>
            <a:off x="866850" y="5009998"/>
            <a:ext cx="3219602" cy="191110"/>
          </a:xfrm>
          <a:prstGeom prst="rect">
            <a:avLst/>
          </a:prstGeom>
          <a:noFill/>
          <a:ln/>
        </p:spPr>
        <p:txBody>
          <a:bodyPr wrap="square" lIns="0" rIns="0" tIns="0" bIns="0">
            <a:noAutofit/>
          </a:bodyPr>
          <a:lstStyle/>
          <a:p>
            <a:r>
              <a:rPr sz="900" b="1">
                <a:solidFill>
                  <a:srgbClr val="86868B"/>
                </a:solidFill>
                <a:latin typeface="Noto Sans JP"/>
              </a:rPr>
              <a:t>LLM 整形・抽出</a:t>
            </a:r>
          </a:p>
        </p:txBody>
      </p:sp>
      <p:pic>
        <p:nvPicPr>
          <p:cNvPr id="28" name="Picture 27" descr="image.png"/>
          <p:cNvPicPr>
            <a:picLocks noChangeAspect="1"/>
          </p:cNvPicPr>
          <p:nvPr/>
        </p:nvPicPr>
        <p:blipFill>
          <a:blip r:embed="rId7"/>
          <a:stretch>
            <a:fillRect/>
          </a:stretch>
        </p:blipFill>
        <p:spPr>
          <a:xfrm>
            <a:off x="657454" y="5041087"/>
            <a:ext cx="152704" cy="123444"/>
          </a:xfrm>
          <a:prstGeom prst="rect">
            <a:avLst/>
          </a:prstGeom>
          <a:ln/>
        </p:spPr>
      </p:pic>
      <p:pic>
        <p:nvPicPr>
          <p:cNvPr id="29" name="Picture 28" descr="image.png"/>
          <p:cNvPicPr>
            <a:picLocks noChangeAspect="1"/>
          </p:cNvPicPr>
          <p:nvPr/>
        </p:nvPicPr>
        <p:blipFill>
          <a:blip r:embed="rId5"/>
          <a:stretch>
            <a:fillRect/>
          </a:stretch>
        </p:blipFill>
        <p:spPr>
          <a:xfrm>
            <a:off x="657454" y="5234026"/>
            <a:ext cx="3238805" cy="619048"/>
          </a:xfrm>
          <a:prstGeom prst="rect">
            <a:avLst/>
          </a:prstGeom>
          <a:ln/>
        </p:spPr>
      </p:pic>
      <p:sp>
        <p:nvSpPr>
          <p:cNvPr id="30" name="TextBox 29"/>
          <p:cNvSpPr txBox="1"/>
          <p:nvPr/>
        </p:nvSpPr>
        <p:spPr>
          <a:xfrm>
            <a:off x="657454" y="5234026"/>
            <a:ext cx="3238805" cy="619962"/>
          </a:xfrm>
          <a:prstGeom prst="rect">
            <a:avLst/>
          </a:prstGeom>
          <a:noFill/>
          <a:ln w="38100">
            <a:solidFill>
              <a:srgbClr val="34C759"/>
            </a:solidFill>
          </a:ln>
        </p:spPr>
        <p:txBody>
          <a:bodyPr wrap="square" lIns="0" rIns="0" tIns="0" bIns="0">
            <a:noAutofit/>
          </a:bodyPr>
          <a:lstStyle/>
          <a:p>
            <a:r>
              <a:rPr sz="1100">
                <a:solidFill>
                  <a:srgbClr val="1D1D1F"/>
                </a:solidFill>
                <a:latin typeface="Noto Sans JP"/>
              </a:rPr>
              <a:t>7B級 (Qwen2.5-7B等) 4bit (GGUF系)</a:t>
            </a:r>
          </a:p>
        </p:txBody>
      </p:sp>
      <p:sp>
        <p:nvSpPr>
          <p:cNvPr id="31" name="TextBox 30"/>
          <p:cNvSpPr txBox="1"/>
          <p:nvPr/>
        </p:nvSpPr>
        <p:spPr>
          <a:xfrm>
            <a:off x="866850" y="5967374"/>
            <a:ext cx="3143707" cy="191110"/>
          </a:xfrm>
          <a:prstGeom prst="rect">
            <a:avLst/>
          </a:prstGeom>
          <a:noFill/>
          <a:ln/>
        </p:spPr>
        <p:txBody>
          <a:bodyPr wrap="square" lIns="0" rIns="0" tIns="0" bIns="0">
            <a:noAutofit/>
          </a:bodyPr>
          <a:lstStyle/>
          <a:p>
            <a:r>
              <a:rPr sz="900" b="1">
                <a:solidFill>
                  <a:srgbClr val="86868B"/>
                </a:solidFill>
                <a:latin typeface="Noto Sans JP"/>
              </a:rPr>
              <a:t>Output Interface</a:t>
            </a:r>
          </a:p>
        </p:txBody>
      </p:sp>
      <p:pic>
        <p:nvPicPr>
          <p:cNvPr id="32" name="Picture 31" descr="image.png"/>
          <p:cNvPicPr>
            <a:picLocks noChangeAspect="1"/>
          </p:cNvPicPr>
          <p:nvPr/>
        </p:nvPicPr>
        <p:blipFill>
          <a:blip r:embed="rId8"/>
          <a:stretch>
            <a:fillRect/>
          </a:stretch>
        </p:blipFill>
        <p:spPr>
          <a:xfrm>
            <a:off x="657454" y="5998464"/>
            <a:ext cx="152704" cy="123444"/>
          </a:xfrm>
          <a:prstGeom prst="rect">
            <a:avLst/>
          </a:prstGeom>
          <a:ln/>
        </p:spPr>
      </p:pic>
      <p:pic>
        <p:nvPicPr>
          <p:cNvPr id="33" name="Picture 32" descr="image.png"/>
          <p:cNvPicPr>
            <a:picLocks noChangeAspect="1"/>
          </p:cNvPicPr>
          <p:nvPr/>
        </p:nvPicPr>
        <p:blipFill>
          <a:blip r:embed="rId5"/>
          <a:stretch>
            <a:fillRect/>
          </a:stretch>
        </p:blipFill>
        <p:spPr>
          <a:xfrm>
            <a:off x="657454" y="6191402"/>
            <a:ext cx="3238805" cy="619048"/>
          </a:xfrm>
          <a:prstGeom prst="rect">
            <a:avLst/>
          </a:prstGeom>
          <a:ln/>
        </p:spPr>
      </p:pic>
      <p:sp>
        <p:nvSpPr>
          <p:cNvPr id="34" name="TextBox 33"/>
          <p:cNvSpPr txBox="1"/>
          <p:nvPr/>
        </p:nvSpPr>
        <p:spPr>
          <a:xfrm>
            <a:off x="657454" y="6191402"/>
            <a:ext cx="3238805" cy="619962"/>
          </a:xfrm>
          <a:prstGeom prst="rect">
            <a:avLst/>
          </a:prstGeom>
          <a:noFill/>
          <a:ln w="38100">
            <a:solidFill>
              <a:srgbClr val="34C759"/>
            </a:solidFill>
          </a:ln>
        </p:spPr>
        <p:txBody>
          <a:bodyPr wrap="square" lIns="0" rIns="0" tIns="0" bIns="0">
            <a:noAutofit/>
          </a:bodyPr>
          <a:lstStyle/>
          <a:p>
            <a:r>
              <a:rPr sz="1100">
                <a:solidFill>
                  <a:srgbClr val="1D1D1F"/>
                </a:solidFill>
                <a:latin typeface="Noto Sans JP"/>
              </a:rPr>
              <a:t>JSON（タスク配列） Ollama/LM Studio (OpenAI互換)</a:t>
            </a:r>
          </a:p>
        </p:txBody>
      </p:sp>
      <p:pic>
        <p:nvPicPr>
          <p:cNvPr id="35" name="Picture 34" descr="image.png"/>
          <p:cNvPicPr>
            <a:picLocks noChangeAspect="1"/>
          </p:cNvPicPr>
          <p:nvPr/>
        </p:nvPicPr>
        <p:blipFill>
          <a:blip r:embed="rId9"/>
          <a:stretch>
            <a:fillRect/>
          </a:stretch>
        </p:blipFill>
        <p:spPr>
          <a:xfrm>
            <a:off x="657454" y="6924751"/>
            <a:ext cx="1867205" cy="304494"/>
          </a:xfrm>
          <a:prstGeom prst="rect">
            <a:avLst/>
          </a:prstGeom>
          <a:ln/>
        </p:spPr>
      </p:pic>
      <p:sp>
        <p:nvSpPr>
          <p:cNvPr id="36" name="TextBox 35"/>
          <p:cNvSpPr txBox="1"/>
          <p:nvPr/>
        </p:nvSpPr>
        <p:spPr>
          <a:xfrm>
            <a:off x="933602" y="6924751"/>
            <a:ext cx="1591056" cy="305410"/>
          </a:xfrm>
          <a:prstGeom prst="rect">
            <a:avLst/>
          </a:prstGeom>
          <a:noFill/>
          <a:ln>
            <a:solidFill>
              <a:srgbClr val="FFFFFF"/>
            </a:solidFill>
          </a:ln>
        </p:spPr>
        <p:txBody>
          <a:bodyPr wrap="square" lIns="0" rIns="0" tIns="0" bIns="0">
            <a:noAutofit/>
          </a:bodyPr>
          <a:lstStyle/>
          <a:p>
            <a:r>
              <a:rPr sz="900">
                <a:solidFill>
                  <a:srgbClr val="555555"/>
                </a:solidFill>
                <a:latin typeface="Noto Sans JP"/>
              </a:rPr>
              <a:t>個人メモ・簡易業務自動化</a:t>
            </a:r>
          </a:p>
        </p:txBody>
      </p:sp>
      <p:pic>
        <p:nvPicPr>
          <p:cNvPr id="37" name="Picture 36" descr="image.png"/>
          <p:cNvPicPr>
            <a:picLocks noChangeAspect="1"/>
          </p:cNvPicPr>
          <p:nvPr/>
        </p:nvPicPr>
        <p:blipFill>
          <a:blip r:embed="rId10"/>
          <a:stretch>
            <a:fillRect/>
          </a:stretch>
        </p:blipFill>
        <p:spPr>
          <a:xfrm>
            <a:off x="752551" y="7012534"/>
            <a:ext cx="105155" cy="123444"/>
          </a:xfrm>
          <a:prstGeom prst="rect">
            <a:avLst/>
          </a:prstGeom>
          <a:ln/>
        </p:spPr>
      </p:pic>
      <p:sp>
        <p:nvSpPr>
          <p:cNvPr id="38" name="TextBox 37"/>
          <p:cNvSpPr txBox="1"/>
          <p:nvPr/>
        </p:nvSpPr>
        <p:spPr>
          <a:xfrm>
            <a:off x="4280306" y="2286000"/>
            <a:ext cx="3638398" cy="5143500"/>
          </a:xfrm>
          <a:prstGeom prst="rect">
            <a:avLst/>
          </a:prstGeom>
          <a:noFill/>
          <a:ln w="12700">
            <a:solidFill>
              <a:srgbClr val="E5E5E5"/>
            </a:solidFill>
          </a:ln>
        </p:spPr>
        <p:txBody>
          <a:bodyPr wrap="square" lIns="0" rIns="0" tIns="0" bIns="0">
            <a:noAutofit/>
          </a:bodyPr>
          <a:lstStyle/>
          <a:p/>
        </p:txBody>
      </p:sp>
      <p:sp>
        <p:nvSpPr>
          <p:cNvPr id="39" name="Rectangle 38"/>
          <p:cNvSpPr/>
          <p:nvPr/>
        </p:nvSpPr>
        <p:spPr>
          <a:xfrm>
            <a:off x="4289450" y="2295144"/>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19649"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1"/>
          <a:stretch>
            <a:fillRect/>
          </a:stretch>
        </p:blipFill>
        <p:spPr>
          <a:xfrm>
            <a:off x="5462626" y="2505456"/>
            <a:ext cx="219456" cy="190194"/>
          </a:xfrm>
          <a:prstGeom prst="rect">
            <a:avLst/>
          </a:prstGeom>
          <a:ln/>
        </p:spPr>
      </p:pic>
      <p:sp>
        <p:nvSpPr>
          <p:cNvPr id="42" name="TextBox 41"/>
          <p:cNvSpPr txBox="1"/>
          <p:nvPr/>
        </p:nvSpPr>
        <p:spPr>
          <a:xfrm>
            <a:off x="5820156" y="2457907"/>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43" name="Rectangle 42"/>
          <p:cNvSpPr/>
          <p:nvPr/>
        </p:nvSpPr>
        <p:spPr>
          <a:xfrm>
            <a:off x="4289450"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89043" y="3095244"/>
            <a:ext cx="3143706" cy="191109"/>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45" name="Picture 44" descr="image.png"/>
          <p:cNvPicPr>
            <a:picLocks noChangeAspect="1"/>
          </p:cNvPicPr>
          <p:nvPr/>
        </p:nvPicPr>
        <p:blipFill>
          <a:blip r:embed="rId4"/>
          <a:stretch>
            <a:fillRect/>
          </a:stretch>
        </p:blipFill>
        <p:spPr>
          <a:xfrm>
            <a:off x="4479646" y="3126334"/>
            <a:ext cx="152705" cy="123443"/>
          </a:xfrm>
          <a:prstGeom prst="rect">
            <a:avLst/>
          </a:prstGeom>
          <a:ln/>
        </p:spPr>
      </p:pic>
      <p:pic>
        <p:nvPicPr>
          <p:cNvPr id="46" name="Picture 45" descr="image.png"/>
          <p:cNvPicPr>
            <a:picLocks noChangeAspect="1"/>
          </p:cNvPicPr>
          <p:nvPr/>
        </p:nvPicPr>
        <p:blipFill>
          <a:blip r:embed="rId5"/>
          <a:stretch>
            <a:fillRect/>
          </a:stretch>
        </p:blipFill>
        <p:spPr>
          <a:xfrm>
            <a:off x="4479646" y="3319272"/>
            <a:ext cx="3238804" cy="619048"/>
          </a:xfrm>
          <a:prstGeom prst="rect">
            <a:avLst/>
          </a:prstGeom>
          <a:ln/>
        </p:spPr>
      </p:pic>
      <p:sp>
        <p:nvSpPr>
          <p:cNvPr id="47" name="TextBox 46"/>
          <p:cNvSpPr txBox="1"/>
          <p:nvPr/>
        </p:nvSpPr>
        <p:spPr>
          <a:xfrm>
            <a:off x="4479646" y="3319272"/>
            <a:ext cx="3238804" cy="619963"/>
          </a:xfrm>
          <a:prstGeom prst="rect">
            <a:avLst/>
          </a:prstGeom>
          <a:noFill/>
          <a:ln w="38100">
            <a:solidFill>
              <a:srgbClr val="007AFF"/>
            </a:solidFill>
          </a:ln>
        </p:spPr>
        <p:txBody>
          <a:bodyPr wrap="square" lIns="0" rIns="0" tIns="0" bIns="0">
            <a:noAutofit/>
          </a:bodyPr>
          <a:lstStyle/>
          <a:p>
            <a:r>
              <a:rPr sz="1100">
                <a:solidFill>
                  <a:srgbClr val="1D1D1F"/>
                </a:solidFill>
                <a:latin typeface="Noto Sans JP"/>
              </a:rPr>
              <a:t>A-64+ / G-16+ / G-24想定 (Apple 64GB+ / VRAM 16GB+)</a:t>
            </a:r>
          </a:p>
        </p:txBody>
      </p:sp>
      <p:sp>
        <p:nvSpPr>
          <p:cNvPr id="48" name="TextBox 47"/>
          <p:cNvSpPr txBox="1"/>
          <p:nvPr/>
        </p:nvSpPr>
        <p:spPr>
          <a:xfrm>
            <a:off x="4689043" y="4052621"/>
            <a:ext cx="3143706" cy="191110"/>
          </a:xfrm>
          <a:prstGeom prst="rect">
            <a:avLst/>
          </a:prstGeom>
          <a:noFill/>
          <a:ln/>
        </p:spPr>
        <p:txBody>
          <a:bodyPr wrap="square" lIns="0" rIns="0" tIns="0" bIns="0">
            <a:noAutofit/>
          </a:bodyPr>
          <a:lstStyle/>
          <a:p>
            <a:r>
              <a:rPr sz="900" b="1">
                <a:solidFill>
                  <a:srgbClr val="86868B"/>
                </a:solidFill>
                <a:latin typeface="Noto Sans JP"/>
              </a:rPr>
              <a:t>VAD &amp; ASR</a:t>
            </a:r>
          </a:p>
        </p:txBody>
      </p:sp>
      <p:pic>
        <p:nvPicPr>
          <p:cNvPr id="49" name="Picture 48" descr="image.png"/>
          <p:cNvPicPr>
            <a:picLocks noChangeAspect="1"/>
          </p:cNvPicPr>
          <p:nvPr/>
        </p:nvPicPr>
        <p:blipFill>
          <a:blip r:embed="rId6"/>
          <a:stretch>
            <a:fillRect/>
          </a:stretch>
        </p:blipFill>
        <p:spPr>
          <a:xfrm>
            <a:off x="4479646" y="4083710"/>
            <a:ext cx="152705" cy="123444"/>
          </a:xfrm>
          <a:prstGeom prst="rect">
            <a:avLst/>
          </a:prstGeom>
          <a:ln/>
        </p:spPr>
      </p:pic>
      <p:pic>
        <p:nvPicPr>
          <p:cNvPr id="50" name="Picture 49" descr="image.png"/>
          <p:cNvPicPr>
            <a:picLocks noChangeAspect="1"/>
          </p:cNvPicPr>
          <p:nvPr/>
        </p:nvPicPr>
        <p:blipFill>
          <a:blip r:embed="rId5"/>
          <a:stretch>
            <a:fillRect/>
          </a:stretch>
        </p:blipFill>
        <p:spPr>
          <a:xfrm>
            <a:off x="4479646" y="4276649"/>
            <a:ext cx="3238804" cy="619048"/>
          </a:xfrm>
          <a:prstGeom prst="rect">
            <a:avLst/>
          </a:prstGeom>
          <a:ln/>
        </p:spPr>
      </p:pic>
      <p:sp>
        <p:nvSpPr>
          <p:cNvPr id="51" name="TextBox 50"/>
          <p:cNvSpPr txBox="1"/>
          <p:nvPr/>
        </p:nvSpPr>
        <p:spPr>
          <a:xfrm>
            <a:off x="4479646" y="4276649"/>
            <a:ext cx="3238804" cy="619962"/>
          </a:xfrm>
          <a:prstGeom prst="rect">
            <a:avLst/>
          </a:prstGeom>
          <a:noFill/>
          <a:ln w="38100">
            <a:solidFill>
              <a:srgbClr val="007AFF"/>
            </a:solidFill>
          </a:ln>
        </p:spPr>
        <p:txBody>
          <a:bodyPr wrap="square" lIns="0" rIns="0" tIns="0" bIns="0">
            <a:noAutofit/>
          </a:bodyPr>
          <a:lstStyle/>
          <a:p>
            <a:r>
              <a:rPr sz="1100">
                <a:solidFill>
                  <a:srgbClr val="1D1D1F"/>
                </a:solidFill>
                <a:latin typeface="Noto Sans JP"/>
              </a:rPr>
              <a:t>faster-whisper (GPU) 必要なら大型Whisper系列</a:t>
            </a:r>
          </a:p>
        </p:txBody>
      </p:sp>
      <p:sp>
        <p:nvSpPr>
          <p:cNvPr id="52" name="TextBox 51"/>
          <p:cNvSpPr txBox="1"/>
          <p:nvPr/>
        </p:nvSpPr>
        <p:spPr>
          <a:xfrm>
            <a:off x="4689043" y="5009998"/>
            <a:ext cx="3219602" cy="191110"/>
          </a:xfrm>
          <a:prstGeom prst="rect">
            <a:avLst/>
          </a:prstGeom>
          <a:noFill/>
          <a:ln/>
        </p:spPr>
        <p:txBody>
          <a:bodyPr wrap="square" lIns="0" rIns="0" tIns="0" bIns="0">
            <a:noAutofit/>
          </a:bodyPr>
          <a:lstStyle/>
          <a:p>
            <a:r>
              <a:rPr sz="900" b="1">
                <a:solidFill>
                  <a:srgbClr val="86868B"/>
                </a:solidFill>
                <a:latin typeface="Noto Sans JP"/>
              </a:rPr>
              <a:t>LLM 整形・抽出</a:t>
            </a:r>
          </a:p>
        </p:txBody>
      </p:sp>
      <p:pic>
        <p:nvPicPr>
          <p:cNvPr id="53" name="Picture 52" descr="image.png"/>
          <p:cNvPicPr>
            <a:picLocks noChangeAspect="1"/>
          </p:cNvPicPr>
          <p:nvPr/>
        </p:nvPicPr>
        <p:blipFill>
          <a:blip r:embed="rId7"/>
          <a:stretch>
            <a:fillRect/>
          </a:stretch>
        </p:blipFill>
        <p:spPr>
          <a:xfrm>
            <a:off x="4479646" y="5041087"/>
            <a:ext cx="152705" cy="123444"/>
          </a:xfrm>
          <a:prstGeom prst="rect">
            <a:avLst/>
          </a:prstGeom>
          <a:ln/>
        </p:spPr>
      </p:pic>
      <p:pic>
        <p:nvPicPr>
          <p:cNvPr id="54" name="Picture 53" descr="image.png"/>
          <p:cNvPicPr>
            <a:picLocks noChangeAspect="1"/>
          </p:cNvPicPr>
          <p:nvPr/>
        </p:nvPicPr>
        <p:blipFill>
          <a:blip r:embed="rId5"/>
          <a:stretch>
            <a:fillRect/>
          </a:stretch>
        </p:blipFill>
        <p:spPr>
          <a:xfrm>
            <a:off x="4479646" y="5234026"/>
            <a:ext cx="3238804" cy="619048"/>
          </a:xfrm>
          <a:prstGeom prst="rect">
            <a:avLst/>
          </a:prstGeom>
          <a:ln/>
        </p:spPr>
      </p:pic>
      <p:sp>
        <p:nvSpPr>
          <p:cNvPr id="55" name="TextBox 54"/>
          <p:cNvSpPr txBox="1"/>
          <p:nvPr/>
        </p:nvSpPr>
        <p:spPr>
          <a:xfrm>
            <a:off x="4479646" y="5234026"/>
            <a:ext cx="3238804" cy="619962"/>
          </a:xfrm>
          <a:prstGeom prst="rect">
            <a:avLst/>
          </a:prstGeom>
          <a:noFill/>
          <a:ln w="38100">
            <a:solidFill>
              <a:srgbClr val="007AFF"/>
            </a:solidFill>
          </a:ln>
        </p:spPr>
        <p:txBody>
          <a:bodyPr wrap="square" lIns="0" rIns="0" tIns="0" bIns="0">
            <a:noAutofit/>
          </a:bodyPr>
          <a:lstStyle/>
          <a:p>
            <a:r>
              <a:rPr sz="1100">
                <a:solidFill>
                  <a:srgbClr val="1D1D1F"/>
                </a:solidFill>
                <a:latin typeface="Noto Sans JP"/>
              </a:rPr>
              <a:t>14B〜32B級 (Phi-4/Qwen上位) 4bit / GPU実行</a:t>
            </a:r>
          </a:p>
        </p:txBody>
      </p:sp>
      <p:sp>
        <p:nvSpPr>
          <p:cNvPr id="56" name="TextBox 55"/>
          <p:cNvSpPr txBox="1"/>
          <p:nvPr/>
        </p:nvSpPr>
        <p:spPr>
          <a:xfrm>
            <a:off x="4689043" y="5967374"/>
            <a:ext cx="3143706" cy="191110"/>
          </a:xfrm>
          <a:prstGeom prst="rect">
            <a:avLst/>
          </a:prstGeom>
          <a:noFill/>
          <a:ln/>
        </p:spPr>
        <p:txBody>
          <a:bodyPr wrap="square" lIns="0" rIns="0" tIns="0" bIns="0">
            <a:noAutofit/>
          </a:bodyPr>
          <a:lstStyle/>
          <a:p>
            <a:r>
              <a:rPr sz="900" b="1">
                <a:solidFill>
                  <a:srgbClr val="86868B"/>
                </a:solidFill>
                <a:latin typeface="Noto Sans JP"/>
              </a:rPr>
              <a:t>Output Interface</a:t>
            </a:r>
          </a:p>
        </p:txBody>
      </p:sp>
      <p:pic>
        <p:nvPicPr>
          <p:cNvPr id="57" name="Picture 56" descr="image.png"/>
          <p:cNvPicPr>
            <a:picLocks noChangeAspect="1"/>
          </p:cNvPicPr>
          <p:nvPr/>
        </p:nvPicPr>
        <p:blipFill>
          <a:blip r:embed="rId8"/>
          <a:stretch>
            <a:fillRect/>
          </a:stretch>
        </p:blipFill>
        <p:spPr>
          <a:xfrm>
            <a:off x="4479646" y="5998464"/>
            <a:ext cx="152705" cy="123444"/>
          </a:xfrm>
          <a:prstGeom prst="rect">
            <a:avLst/>
          </a:prstGeom>
          <a:ln/>
        </p:spPr>
      </p:pic>
      <p:pic>
        <p:nvPicPr>
          <p:cNvPr id="58" name="Picture 57" descr="image.png"/>
          <p:cNvPicPr>
            <a:picLocks noChangeAspect="1"/>
          </p:cNvPicPr>
          <p:nvPr/>
        </p:nvPicPr>
        <p:blipFill>
          <a:blip r:embed="rId5"/>
          <a:stretch>
            <a:fillRect/>
          </a:stretch>
        </p:blipFill>
        <p:spPr>
          <a:xfrm>
            <a:off x="4479646" y="6191402"/>
            <a:ext cx="3238804" cy="619048"/>
          </a:xfrm>
          <a:prstGeom prst="rect">
            <a:avLst/>
          </a:prstGeom>
          <a:ln/>
        </p:spPr>
      </p:pic>
      <p:sp>
        <p:nvSpPr>
          <p:cNvPr id="59" name="TextBox 58"/>
          <p:cNvSpPr txBox="1"/>
          <p:nvPr/>
        </p:nvSpPr>
        <p:spPr>
          <a:xfrm>
            <a:off x="4479646" y="6191402"/>
            <a:ext cx="3238804" cy="619962"/>
          </a:xfrm>
          <a:prstGeom prst="rect">
            <a:avLst/>
          </a:prstGeom>
          <a:noFill/>
          <a:ln w="38100">
            <a:solidFill>
              <a:srgbClr val="007AFF"/>
            </a:solidFill>
          </a:ln>
        </p:spPr>
        <p:txBody>
          <a:bodyPr wrap="square" lIns="0" rIns="0" tIns="0" bIns="0">
            <a:noAutofit/>
          </a:bodyPr>
          <a:lstStyle/>
          <a:p>
            <a:r>
              <a:rPr sz="1100">
                <a:solidFill>
                  <a:srgbClr val="1D1D1F"/>
                </a:solidFill>
                <a:latin typeface="Noto Sans JP"/>
              </a:rPr>
              <a:t>Function Calling前提 Schema固定でJSON破壊率低減</a:t>
            </a:r>
          </a:p>
        </p:txBody>
      </p:sp>
      <p:pic>
        <p:nvPicPr>
          <p:cNvPr id="60" name="Picture 59" descr="image.png"/>
          <p:cNvPicPr>
            <a:picLocks noChangeAspect="1"/>
          </p:cNvPicPr>
          <p:nvPr/>
        </p:nvPicPr>
        <p:blipFill>
          <a:blip r:embed="rId12"/>
          <a:stretch>
            <a:fillRect/>
          </a:stretch>
        </p:blipFill>
        <p:spPr>
          <a:xfrm>
            <a:off x="4479646" y="6924751"/>
            <a:ext cx="2115007" cy="304494"/>
          </a:xfrm>
          <a:prstGeom prst="rect">
            <a:avLst/>
          </a:prstGeom>
          <a:ln/>
        </p:spPr>
      </p:pic>
      <p:sp>
        <p:nvSpPr>
          <p:cNvPr id="61" name="TextBox 60"/>
          <p:cNvSpPr txBox="1"/>
          <p:nvPr/>
        </p:nvSpPr>
        <p:spPr>
          <a:xfrm>
            <a:off x="4755794" y="6924751"/>
            <a:ext cx="1838857" cy="305410"/>
          </a:xfrm>
          <a:prstGeom prst="rect">
            <a:avLst/>
          </a:prstGeom>
          <a:noFill/>
          <a:ln>
            <a:solidFill>
              <a:srgbClr val="FFFFFF"/>
            </a:solidFill>
          </a:ln>
        </p:spPr>
        <p:txBody>
          <a:bodyPr wrap="square" lIns="0" rIns="0" tIns="0" bIns="0">
            <a:noAutofit/>
          </a:bodyPr>
          <a:lstStyle/>
          <a:p>
            <a:r>
              <a:rPr sz="900">
                <a:solidFill>
                  <a:srgbClr val="555555"/>
                </a:solidFill>
                <a:latin typeface="Noto Sans JP"/>
              </a:rPr>
              <a:t>業務・会議議事録・高精度抽出</a:t>
            </a:r>
          </a:p>
        </p:txBody>
      </p:sp>
      <p:pic>
        <p:nvPicPr>
          <p:cNvPr id="62" name="Picture 61" descr="image.png"/>
          <p:cNvPicPr>
            <a:picLocks noChangeAspect="1"/>
          </p:cNvPicPr>
          <p:nvPr/>
        </p:nvPicPr>
        <p:blipFill>
          <a:blip r:embed="rId10"/>
          <a:stretch>
            <a:fillRect/>
          </a:stretch>
        </p:blipFill>
        <p:spPr>
          <a:xfrm>
            <a:off x="4574743" y="7012534"/>
            <a:ext cx="105155" cy="123444"/>
          </a:xfrm>
          <a:prstGeom prst="rect">
            <a:avLst/>
          </a:prstGeom>
          <a:ln/>
        </p:spPr>
      </p:pic>
      <p:sp>
        <p:nvSpPr>
          <p:cNvPr id="63" name="TextBox 62"/>
          <p:cNvSpPr txBox="1"/>
          <p:nvPr/>
        </p:nvSpPr>
        <p:spPr>
          <a:xfrm>
            <a:off x="8102497" y="2286000"/>
            <a:ext cx="3638398" cy="5143500"/>
          </a:xfrm>
          <a:prstGeom prst="rect">
            <a:avLst/>
          </a:prstGeom>
          <a:noFill/>
          <a:ln w="12700">
            <a:solidFill>
              <a:srgbClr val="E5E5E5"/>
            </a:solidFill>
          </a:ln>
        </p:spPr>
        <p:txBody>
          <a:bodyPr wrap="square" lIns="0" rIns="0" tIns="0" bIns="0">
            <a:noAutofit/>
          </a:bodyPr>
          <a:lstStyle/>
          <a:p/>
        </p:txBody>
      </p:sp>
      <p:sp>
        <p:nvSpPr>
          <p:cNvPr id="64" name="Rectangle 63"/>
          <p:cNvSpPr/>
          <p:nvPr/>
        </p:nvSpPr>
        <p:spPr>
          <a:xfrm>
            <a:off x="8112557" y="2295144"/>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51646" y="2447849"/>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09253" y="2505456"/>
            <a:ext cx="190194" cy="190194"/>
          </a:xfrm>
          <a:prstGeom prst="rect">
            <a:avLst/>
          </a:prstGeom>
          <a:ln/>
        </p:spPr>
      </p:pic>
      <p:sp>
        <p:nvSpPr>
          <p:cNvPr id="67" name="TextBox 66"/>
          <p:cNvSpPr txBox="1"/>
          <p:nvPr/>
        </p:nvSpPr>
        <p:spPr>
          <a:xfrm>
            <a:off x="9452153" y="2457907"/>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68" name="Rectangle 67"/>
          <p:cNvSpPr/>
          <p:nvPr/>
        </p:nvSpPr>
        <p:spPr>
          <a:xfrm>
            <a:off x="8112557" y="2905049"/>
            <a:ext cx="3619195" cy="4515306"/>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12150" y="3095244"/>
            <a:ext cx="3143706" cy="191109"/>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70" name="Picture 69" descr="image.png"/>
          <p:cNvPicPr>
            <a:picLocks noChangeAspect="1"/>
          </p:cNvPicPr>
          <p:nvPr/>
        </p:nvPicPr>
        <p:blipFill>
          <a:blip r:embed="rId4"/>
          <a:stretch>
            <a:fillRect/>
          </a:stretch>
        </p:blipFill>
        <p:spPr>
          <a:xfrm>
            <a:off x="8302752" y="3126334"/>
            <a:ext cx="152705" cy="123443"/>
          </a:xfrm>
          <a:prstGeom prst="rect">
            <a:avLst/>
          </a:prstGeom>
          <a:ln/>
        </p:spPr>
      </p:pic>
      <p:pic>
        <p:nvPicPr>
          <p:cNvPr id="71" name="Picture 70" descr="image.png"/>
          <p:cNvPicPr>
            <a:picLocks noChangeAspect="1"/>
          </p:cNvPicPr>
          <p:nvPr/>
        </p:nvPicPr>
        <p:blipFill>
          <a:blip r:embed="rId5"/>
          <a:stretch>
            <a:fillRect/>
          </a:stretch>
        </p:blipFill>
        <p:spPr>
          <a:xfrm>
            <a:off x="8302752" y="3319272"/>
            <a:ext cx="3238805" cy="619048"/>
          </a:xfrm>
          <a:prstGeom prst="rect">
            <a:avLst/>
          </a:prstGeom>
          <a:ln/>
        </p:spPr>
      </p:pic>
      <p:sp>
        <p:nvSpPr>
          <p:cNvPr id="72" name="TextBox 71"/>
          <p:cNvSpPr txBox="1"/>
          <p:nvPr/>
        </p:nvSpPr>
        <p:spPr>
          <a:xfrm>
            <a:off x="8302752" y="3319272"/>
            <a:ext cx="3238805" cy="619963"/>
          </a:xfrm>
          <a:prstGeom prst="rect">
            <a:avLst/>
          </a:prstGeom>
          <a:noFill/>
          <a:ln w="38100">
            <a:solidFill>
              <a:srgbClr val="FF9500"/>
            </a:solidFill>
          </a:ln>
        </p:spPr>
        <p:txBody>
          <a:bodyPr wrap="square" lIns="0" rIns="0" tIns="0" bIns="0">
            <a:noAutofit/>
          </a:bodyPr>
          <a:lstStyle/>
          <a:p>
            <a:r>
              <a:rPr sz="1100">
                <a:solidFill>
                  <a:srgbClr val="1D1D1F"/>
                </a:solidFill>
                <a:latin typeface="Noto Sans JP"/>
              </a:rPr>
              <a:t>W-CPU1 / A-16 (ギリギリ) (低スペックPC / メモリ不足)</a:t>
            </a:r>
          </a:p>
        </p:txBody>
      </p:sp>
      <p:sp>
        <p:nvSpPr>
          <p:cNvPr id="73" name="TextBox 72"/>
          <p:cNvSpPr txBox="1"/>
          <p:nvPr/>
        </p:nvSpPr>
        <p:spPr>
          <a:xfrm>
            <a:off x="8512150" y="4052621"/>
            <a:ext cx="3143706" cy="191110"/>
          </a:xfrm>
          <a:prstGeom prst="rect">
            <a:avLst/>
          </a:prstGeom>
          <a:noFill/>
          <a:ln/>
        </p:spPr>
        <p:txBody>
          <a:bodyPr wrap="square" lIns="0" rIns="0" tIns="0" bIns="0">
            <a:noAutofit/>
          </a:bodyPr>
          <a:lstStyle/>
          <a:p>
            <a:r>
              <a:rPr sz="900" b="1">
                <a:solidFill>
                  <a:srgbClr val="86868B"/>
                </a:solidFill>
                <a:latin typeface="Noto Sans JP"/>
              </a:rPr>
              <a:t>VAD &amp; ASR</a:t>
            </a:r>
          </a:p>
        </p:txBody>
      </p:sp>
      <p:pic>
        <p:nvPicPr>
          <p:cNvPr id="74" name="Picture 73" descr="image.png"/>
          <p:cNvPicPr>
            <a:picLocks noChangeAspect="1"/>
          </p:cNvPicPr>
          <p:nvPr/>
        </p:nvPicPr>
        <p:blipFill>
          <a:blip r:embed="rId6"/>
          <a:stretch>
            <a:fillRect/>
          </a:stretch>
        </p:blipFill>
        <p:spPr>
          <a:xfrm>
            <a:off x="8302752" y="4083710"/>
            <a:ext cx="152705" cy="123444"/>
          </a:xfrm>
          <a:prstGeom prst="rect">
            <a:avLst/>
          </a:prstGeom>
          <a:ln/>
        </p:spPr>
      </p:pic>
      <p:pic>
        <p:nvPicPr>
          <p:cNvPr id="75" name="Picture 74" descr="image.png"/>
          <p:cNvPicPr>
            <a:picLocks noChangeAspect="1"/>
          </p:cNvPicPr>
          <p:nvPr/>
        </p:nvPicPr>
        <p:blipFill>
          <a:blip r:embed="rId5"/>
          <a:stretch>
            <a:fillRect/>
          </a:stretch>
        </p:blipFill>
        <p:spPr>
          <a:xfrm>
            <a:off x="8302752" y="4276649"/>
            <a:ext cx="3238805" cy="619048"/>
          </a:xfrm>
          <a:prstGeom prst="rect">
            <a:avLst/>
          </a:prstGeom>
          <a:ln/>
        </p:spPr>
      </p:pic>
      <p:sp>
        <p:nvSpPr>
          <p:cNvPr id="76" name="TextBox 75"/>
          <p:cNvSpPr txBox="1"/>
          <p:nvPr/>
        </p:nvSpPr>
        <p:spPr>
          <a:xfrm>
            <a:off x="8302752" y="4276649"/>
            <a:ext cx="3238805" cy="619962"/>
          </a:xfrm>
          <a:prstGeom prst="rect">
            <a:avLst/>
          </a:prstGeom>
          <a:noFill/>
          <a:ln w="38100">
            <a:solidFill>
              <a:srgbClr val="FF9500"/>
            </a:solidFill>
          </a:ln>
        </p:spPr>
        <p:txBody>
          <a:bodyPr wrap="square" lIns="0" rIns="0" tIns="0" bIns="0">
            <a:noAutofit/>
          </a:bodyPr>
          <a:lstStyle/>
          <a:p>
            <a:r>
              <a:rPr sz="1100">
                <a:solidFill>
                  <a:srgbClr val="1D1D1F"/>
                </a:solidFill>
                <a:latin typeface="Noto Sans JP"/>
              </a:rPr>
              <a:t>短音声限定 or 夜間バッチ処理 リアルタイム性は犠牲にする</a:t>
            </a:r>
          </a:p>
        </p:txBody>
      </p:sp>
      <p:sp>
        <p:nvSpPr>
          <p:cNvPr id="77" name="TextBox 76"/>
          <p:cNvSpPr txBox="1"/>
          <p:nvPr/>
        </p:nvSpPr>
        <p:spPr>
          <a:xfrm>
            <a:off x="8512150" y="5009998"/>
            <a:ext cx="3219602" cy="191110"/>
          </a:xfrm>
          <a:prstGeom prst="rect">
            <a:avLst/>
          </a:prstGeom>
          <a:noFill/>
          <a:ln/>
        </p:spPr>
        <p:txBody>
          <a:bodyPr wrap="square" lIns="0" rIns="0" tIns="0" bIns="0">
            <a:noAutofit/>
          </a:bodyPr>
          <a:lstStyle/>
          <a:p>
            <a:r>
              <a:rPr sz="900" b="1">
                <a:solidFill>
                  <a:srgbClr val="86868B"/>
                </a:solidFill>
                <a:latin typeface="Noto Sans JP"/>
              </a:rPr>
              <a:t>LLM 整形・抽出</a:t>
            </a:r>
          </a:p>
        </p:txBody>
      </p:sp>
      <p:pic>
        <p:nvPicPr>
          <p:cNvPr id="78" name="Picture 77" descr="image.png"/>
          <p:cNvPicPr>
            <a:picLocks noChangeAspect="1"/>
          </p:cNvPicPr>
          <p:nvPr/>
        </p:nvPicPr>
        <p:blipFill>
          <a:blip r:embed="rId7"/>
          <a:stretch>
            <a:fillRect/>
          </a:stretch>
        </p:blipFill>
        <p:spPr>
          <a:xfrm>
            <a:off x="8302752" y="5041087"/>
            <a:ext cx="152705" cy="123444"/>
          </a:xfrm>
          <a:prstGeom prst="rect">
            <a:avLst/>
          </a:prstGeom>
          <a:ln/>
        </p:spPr>
      </p:pic>
      <p:pic>
        <p:nvPicPr>
          <p:cNvPr id="79" name="Picture 78" descr="image.png"/>
          <p:cNvPicPr>
            <a:picLocks noChangeAspect="1"/>
          </p:cNvPicPr>
          <p:nvPr/>
        </p:nvPicPr>
        <p:blipFill>
          <a:blip r:embed="rId5"/>
          <a:stretch>
            <a:fillRect/>
          </a:stretch>
        </p:blipFill>
        <p:spPr>
          <a:xfrm>
            <a:off x="8302752" y="5234026"/>
            <a:ext cx="3238805" cy="619048"/>
          </a:xfrm>
          <a:prstGeom prst="rect">
            <a:avLst/>
          </a:prstGeom>
          <a:ln/>
        </p:spPr>
      </p:pic>
      <p:sp>
        <p:nvSpPr>
          <p:cNvPr id="80" name="TextBox 79"/>
          <p:cNvSpPr txBox="1"/>
          <p:nvPr/>
        </p:nvSpPr>
        <p:spPr>
          <a:xfrm>
            <a:off x="8302752" y="5234026"/>
            <a:ext cx="3238805" cy="619962"/>
          </a:xfrm>
          <a:prstGeom prst="rect">
            <a:avLst/>
          </a:prstGeom>
          <a:noFill/>
          <a:ln w="38100">
            <a:solidFill>
              <a:srgbClr val="FF9500"/>
            </a:solidFill>
          </a:ln>
        </p:spPr>
        <p:txBody>
          <a:bodyPr wrap="square" lIns="0" rIns="0" tIns="0" bIns="0">
            <a:noAutofit/>
          </a:bodyPr>
          <a:lstStyle/>
          <a:p>
            <a:r>
              <a:rPr sz="1100">
                <a:solidFill>
                  <a:srgbClr val="1D1D1F"/>
                </a:solidFill>
                <a:latin typeface="Noto Sans JP"/>
              </a:rPr>
              <a:t>3B〜4B級 (Phi-3 mini等) 「抽出のみ」に機能限定</a:t>
            </a:r>
          </a:p>
        </p:txBody>
      </p:sp>
      <p:sp>
        <p:nvSpPr>
          <p:cNvPr id="81" name="TextBox 80"/>
          <p:cNvSpPr txBox="1"/>
          <p:nvPr/>
        </p:nvSpPr>
        <p:spPr>
          <a:xfrm>
            <a:off x="8512150" y="5967374"/>
            <a:ext cx="3143706" cy="191110"/>
          </a:xfrm>
          <a:prstGeom prst="rect">
            <a:avLst/>
          </a:prstGeom>
          <a:noFill/>
          <a:ln/>
        </p:spPr>
        <p:txBody>
          <a:bodyPr wrap="square" lIns="0" rIns="0" tIns="0" bIns="0">
            <a:noAutofit/>
          </a:bodyPr>
          <a:lstStyle/>
          <a:p>
            <a:r>
              <a:rPr sz="900" b="1">
                <a:solidFill>
                  <a:srgbClr val="86868B"/>
                </a:solidFill>
                <a:latin typeface="Noto Sans JP"/>
              </a:rPr>
              <a:t>Output Interface</a:t>
            </a:r>
          </a:p>
        </p:txBody>
      </p:sp>
      <p:pic>
        <p:nvPicPr>
          <p:cNvPr id="82" name="Picture 81" descr="image.png"/>
          <p:cNvPicPr>
            <a:picLocks noChangeAspect="1"/>
          </p:cNvPicPr>
          <p:nvPr/>
        </p:nvPicPr>
        <p:blipFill>
          <a:blip r:embed="rId8"/>
          <a:stretch>
            <a:fillRect/>
          </a:stretch>
        </p:blipFill>
        <p:spPr>
          <a:xfrm>
            <a:off x="8302752" y="5998464"/>
            <a:ext cx="152705" cy="123444"/>
          </a:xfrm>
          <a:prstGeom prst="rect">
            <a:avLst/>
          </a:prstGeom>
          <a:ln/>
        </p:spPr>
      </p:pic>
      <p:pic>
        <p:nvPicPr>
          <p:cNvPr id="83" name="Picture 82" descr="image.png"/>
          <p:cNvPicPr>
            <a:picLocks noChangeAspect="1"/>
          </p:cNvPicPr>
          <p:nvPr/>
        </p:nvPicPr>
        <p:blipFill>
          <a:blip r:embed="rId5"/>
          <a:stretch>
            <a:fillRect/>
          </a:stretch>
        </p:blipFill>
        <p:spPr>
          <a:xfrm>
            <a:off x="8302752" y="6191402"/>
            <a:ext cx="3238805" cy="619048"/>
          </a:xfrm>
          <a:prstGeom prst="rect">
            <a:avLst/>
          </a:prstGeom>
          <a:ln/>
        </p:spPr>
      </p:pic>
      <p:sp>
        <p:nvSpPr>
          <p:cNvPr id="84" name="TextBox 83"/>
          <p:cNvSpPr txBox="1"/>
          <p:nvPr/>
        </p:nvSpPr>
        <p:spPr>
          <a:xfrm>
            <a:off x="8302752" y="6191402"/>
            <a:ext cx="3238805" cy="619962"/>
          </a:xfrm>
          <a:prstGeom prst="rect">
            <a:avLst/>
          </a:prstGeom>
          <a:noFill/>
          <a:ln w="38100">
            <a:solidFill>
              <a:srgbClr val="FF9500"/>
            </a:solidFill>
          </a:ln>
        </p:spPr>
        <p:txBody>
          <a:bodyPr wrap="square" lIns="0" rIns="0" tIns="0" bIns="0">
            <a:noAutofit/>
          </a:bodyPr>
          <a:lstStyle/>
          <a:p>
            <a:r>
              <a:rPr sz="1100">
                <a:solidFill>
                  <a:srgbClr val="1D1D1F"/>
                </a:solidFill>
                <a:latin typeface="Noto Sans JP"/>
              </a:rPr>
              <a:t>抽出テンプレート固定 自由生成を極力減らす</a:t>
            </a:r>
          </a:p>
        </p:txBody>
      </p:sp>
      <p:pic>
        <p:nvPicPr>
          <p:cNvPr id="85" name="Picture 84" descr="image.png"/>
          <p:cNvPicPr>
            <a:picLocks noChangeAspect="1"/>
          </p:cNvPicPr>
          <p:nvPr/>
        </p:nvPicPr>
        <p:blipFill>
          <a:blip r:embed="rId14"/>
          <a:stretch>
            <a:fillRect/>
          </a:stretch>
        </p:blipFill>
        <p:spPr>
          <a:xfrm>
            <a:off x="8302752" y="6924751"/>
            <a:ext cx="1362455" cy="304494"/>
          </a:xfrm>
          <a:prstGeom prst="rect">
            <a:avLst/>
          </a:prstGeom>
          <a:ln/>
        </p:spPr>
      </p:pic>
      <p:sp>
        <p:nvSpPr>
          <p:cNvPr id="86" name="TextBox 85"/>
          <p:cNvSpPr txBox="1"/>
          <p:nvPr/>
        </p:nvSpPr>
        <p:spPr>
          <a:xfrm>
            <a:off x="8578901" y="6924751"/>
            <a:ext cx="1086306" cy="305410"/>
          </a:xfrm>
          <a:prstGeom prst="rect">
            <a:avLst/>
          </a:prstGeom>
          <a:noFill/>
          <a:ln>
            <a:solidFill>
              <a:srgbClr val="FFFFFF"/>
            </a:solidFill>
          </a:ln>
        </p:spPr>
        <p:txBody>
          <a:bodyPr wrap="square" lIns="0" rIns="0" tIns="0" bIns="0">
            <a:noAutofit/>
          </a:bodyPr>
          <a:lstStyle/>
          <a:p>
            <a:r>
              <a:rPr sz="900">
                <a:solidFill>
                  <a:srgbClr val="555555"/>
                </a:solidFill>
                <a:latin typeface="Noto Sans JP"/>
              </a:rPr>
              <a:t>リソース極限環境</a:t>
            </a:r>
          </a:p>
        </p:txBody>
      </p:sp>
      <p:pic>
        <p:nvPicPr>
          <p:cNvPr id="87" name="Picture 86" descr="image.png"/>
          <p:cNvPicPr>
            <a:picLocks noChangeAspect="1"/>
          </p:cNvPicPr>
          <p:nvPr/>
        </p:nvPicPr>
        <p:blipFill>
          <a:blip r:embed="rId10"/>
          <a:stretch>
            <a:fillRect/>
          </a:stretch>
        </p:blipFill>
        <p:spPr>
          <a:xfrm>
            <a:off x="8397850" y="7012534"/>
            <a:ext cx="105155" cy="123444"/>
          </a:xfrm>
          <a:prstGeom prst="rect">
            <a:avLst/>
          </a:prstGeom>
          <a:ln/>
        </p:spPr>
      </p:pic>
      <p:sp>
        <p:nvSpPr>
          <p:cNvPr id="88" name="Rectangle 87"/>
          <p:cNvSpPr/>
          <p:nvPr/>
        </p:nvSpPr>
        <p:spPr>
          <a:xfrm>
            <a:off x="0" y="7710221"/>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71022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72027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91" name="TextBox 90"/>
          <p:cNvSpPr txBox="1"/>
          <p:nvPr/>
        </p:nvSpPr>
        <p:spPr>
          <a:xfrm>
            <a:off x="11385194" y="7720278"/>
            <a:ext cx="428854" cy="171907"/>
          </a:xfrm>
          <a:prstGeom prst="rect">
            <a:avLst/>
          </a:prstGeom>
          <a:noFill/>
          <a:ln/>
        </p:spPr>
        <p:txBody>
          <a:bodyPr wrap="square" lIns="0" rIns="0" tIns="0" bIns="0">
            <a:noAutofit/>
          </a:bodyPr>
          <a:lstStyle/>
          <a:p>
            <a:r>
              <a:rPr sz="900">
                <a:solidFill>
                  <a:srgbClr val="86868B"/>
                </a:solidFill>
                <a:latin typeface="Noto Sans JP"/>
              </a:rPr>
              <a:t>59 / 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7820863" cy="457200"/>
          </a:xfrm>
          <a:prstGeom prst="rect">
            <a:avLst/>
          </a:prstGeom>
          <a:noFill/>
          <a:ln/>
        </p:spPr>
        <p:txBody>
          <a:bodyPr wrap="square" lIns="0" rIns="0" tIns="0" bIns="0">
            <a:noAutofit/>
          </a:bodyPr>
          <a:lstStyle/>
          <a:p>
            <a:r>
              <a:rPr sz="2400" b="1">
                <a:solidFill>
                  <a:srgbClr val="1D1D1F"/>
                </a:solidFill>
                <a:latin typeface="Noto Sans JP"/>
              </a:rPr>
              <a:t>音声メモ→整文化→タスク抽出（失敗モードと回避策）</a:t>
            </a:r>
          </a:p>
        </p:txBody>
      </p:sp>
      <p:sp>
        <p:nvSpPr>
          <p:cNvPr id="9" name="TextBox 8"/>
          <p:cNvSpPr txBox="1"/>
          <p:nvPr/>
        </p:nvSpPr>
        <p:spPr>
          <a:xfrm>
            <a:off x="9523476" y="328270"/>
            <a:ext cx="2397557" cy="257861"/>
          </a:xfrm>
          <a:prstGeom prst="rect">
            <a:avLst/>
          </a:prstGeom>
          <a:noFill/>
          <a:ln/>
        </p:spPr>
        <p:txBody>
          <a:bodyPr wrap="square" lIns="0" rIns="0" tIns="0" bIns="0">
            <a:noAutofit/>
          </a:bodyPr>
          <a:lstStyle/>
          <a:p>
            <a:r>
              <a:rPr sz="1300">
                <a:solidFill>
                  <a:srgbClr val="86868B"/>
                </a:solidFill>
                <a:latin typeface="Noto Sans JP"/>
              </a:rPr>
              <a:t>ユースケース別推奨スタック</a:t>
            </a:r>
          </a:p>
        </p:txBody>
      </p:sp>
      <p:pic>
        <p:nvPicPr>
          <p:cNvPr id="10" name="Picture 9" descr="image.png"/>
          <p:cNvPicPr>
            <a:picLocks noChangeAspect="1"/>
          </p:cNvPicPr>
          <p:nvPr/>
        </p:nvPicPr>
        <p:blipFill>
          <a:blip r:embed="rId3"/>
          <a:stretch>
            <a:fillRect/>
          </a:stretch>
        </p:blipFill>
        <p:spPr>
          <a:xfrm>
            <a:off x="457200" y="1228954"/>
            <a:ext cx="11277295" cy="1021385"/>
          </a:xfrm>
          <a:prstGeom prst="rect">
            <a:avLst/>
          </a:prstGeom>
          <a:ln/>
        </p:spPr>
      </p:pic>
      <p:sp>
        <p:nvSpPr>
          <p:cNvPr id="11" name="TextBox 10"/>
          <p:cNvSpPr txBox="1"/>
          <p:nvPr/>
        </p:nvSpPr>
        <p:spPr>
          <a:xfrm>
            <a:off x="743407" y="1419149"/>
            <a:ext cx="10849356" cy="648309"/>
          </a:xfrm>
          <a:prstGeom prst="rect">
            <a:avLst/>
          </a:prstGeom>
          <a:noFill/>
          <a:ln/>
        </p:spPr>
        <p:txBody>
          <a:bodyPr wrap="square" lIns="0" rIns="0" tIns="0" bIns="0">
            <a:noAutofit/>
          </a:bodyPr>
          <a:lstStyle/>
          <a:p>
            <a:r>
              <a:rPr sz="1800" b="1">
                <a:solidFill>
                  <a:srgbClr val="991B1B"/>
                </a:solidFill>
                <a:latin typeface="Noto Sans JP"/>
              </a:rPr>
              <a:t> 結論：誤転記・要点漏れ・推論不足は「設計」で抑え込む。</a:t>
            </a:r>
          </a:p>
          <a:p>
            <a:r>
              <a:rPr sz="1800" b="1">
                <a:solidFill>
                  <a:srgbClr val="991B1B"/>
                </a:solidFill>
                <a:latin typeface="Noto Sans JP"/>
              </a:rPr>
              <a:t> VADによる区間分割、逐次要約、テンプレ固定が鍵となります。 </a:t>
            </a:r>
          </a:p>
        </p:txBody>
      </p:sp>
      <p:sp>
        <p:nvSpPr>
          <p:cNvPr id="12" name="Rectangle 11"/>
          <p:cNvSpPr/>
          <p:nvPr/>
        </p:nvSpPr>
        <p:spPr>
          <a:xfrm>
            <a:off x="457200"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97150"/>
            <a:ext cx="171906" cy="171906"/>
          </a:xfrm>
          <a:prstGeom prst="rect">
            <a:avLst/>
          </a:prstGeom>
          <a:ln/>
        </p:spPr>
      </p:pic>
      <p:sp>
        <p:nvSpPr>
          <p:cNvPr id="15" name="TextBox 14"/>
          <p:cNvSpPr txBox="1"/>
          <p:nvPr/>
        </p:nvSpPr>
        <p:spPr>
          <a:xfrm>
            <a:off x="923544" y="2754173"/>
            <a:ext cx="1783080" cy="372161"/>
          </a:xfrm>
          <a:prstGeom prst="rect">
            <a:avLst/>
          </a:prstGeom>
          <a:noFill/>
          <a:ln/>
        </p:spPr>
        <p:txBody>
          <a:bodyPr wrap="square" lIns="0" rIns="0" tIns="0" bIns="0">
            <a:noAutofit/>
          </a:bodyPr>
          <a:lstStyle/>
          <a:p>
            <a:r>
              <a:rPr sz="1300" b="1">
                <a:solidFill>
                  <a:srgbClr val="1D1D1F"/>
                </a:solidFill>
                <a:latin typeface="Noto Sans JP"/>
              </a:rPr>
              <a:t>ASR誤転記→抽出ミス</a:t>
            </a:r>
          </a:p>
        </p:txBody>
      </p:sp>
      <p:sp>
        <p:nvSpPr>
          <p:cNvPr id="16" name="TextBox 15"/>
          <p:cNvSpPr txBox="1"/>
          <p:nvPr/>
        </p:nvSpPr>
        <p:spPr>
          <a:xfrm>
            <a:off x="847649" y="3240634"/>
            <a:ext cx="3210458" cy="228600"/>
          </a:xfrm>
          <a:prstGeom prst="rect">
            <a:avLst/>
          </a:prstGeom>
          <a:noFill/>
          <a:ln/>
        </p:spPr>
        <p:txBody>
          <a:bodyPr wrap="square" lIns="0" rIns="0" tIns="0" bIns="0">
            <a:noAutofit/>
          </a:bodyPr>
          <a:lstStyle/>
          <a:p>
            <a:r>
              <a:rPr sz="1200" b="1">
                <a:solidFill>
                  <a:srgbClr val="DC2626"/>
                </a:solidFill>
                <a:latin typeface="Noto Sans JP"/>
              </a:rPr>
              <a:t> 失敗モード</a:t>
            </a:r>
          </a:p>
        </p:txBody>
      </p:sp>
      <p:pic>
        <p:nvPicPr>
          <p:cNvPr id="17" name="Picture 16" descr="image.png"/>
          <p:cNvPicPr>
            <a:picLocks noChangeAspect="1"/>
          </p:cNvPicPr>
          <p:nvPr/>
        </p:nvPicPr>
        <p:blipFill>
          <a:blip r:embed="rId5"/>
          <a:stretch>
            <a:fillRect/>
          </a:stretch>
        </p:blipFill>
        <p:spPr>
          <a:xfrm>
            <a:off x="657454" y="3278124"/>
            <a:ext cx="114300" cy="152705"/>
          </a:xfrm>
          <a:prstGeom prst="rect">
            <a:avLst/>
          </a:prstGeom>
          <a:ln/>
        </p:spPr>
      </p:pic>
      <p:sp>
        <p:nvSpPr>
          <p:cNvPr id="18" name="TextBox 17"/>
          <p:cNvSpPr txBox="1"/>
          <p:nvPr/>
        </p:nvSpPr>
        <p:spPr>
          <a:xfrm>
            <a:off x="923544" y="3506724"/>
            <a:ext cx="3020263" cy="428853"/>
          </a:xfrm>
          <a:prstGeom prst="rect">
            <a:avLst/>
          </a:prstGeom>
          <a:noFill/>
          <a:ln/>
        </p:spPr>
        <p:txBody>
          <a:bodyPr wrap="square" lIns="0" rIns="0" tIns="0" bIns="0">
            <a:noAutofit/>
          </a:bodyPr>
          <a:lstStyle/>
          <a:p>
            <a:r>
              <a:rPr sz="1000">
                <a:solidFill>
                  <a:srgbClr val="4B5563"/>
                </a:solidFill>
                <a:latin typeface="Noto Sans JP"/>
              </a:rPr>
              <a:t>ASRが固有名詞や数値を誤認識し、そのままタスクとして抽出されてしまう。</a:t>
            </a:r>
          </a:p>
        </p:txBody>
      </p:sp>
      <p:sp>
        <p:nvSpPr>
          <p:cNvPr id="19" name="TextBox 18"/>
          <p:cNvSpPr txBox="1"/>
          <p:nvPr/>
        </p:nvSpPr>
        <p:spPr>
          <a:xfrm>
            <a:off x="866850" y="4048048"/>
            <a:ext cx="3115361" cy="228600"/>
          </a:xfrm>
          <a:prstGeom prst="rect">
            <a:avLst/>
          </a:prstGeom>
          <a:noFill/>
          <a:ln/>
        </p:spPr>
        <p:txBody>
          <a:bodyPr wrap="square" lIns="0" rIns="0" tIns="0" bIns="0">
            <a:noAutofit/>
          </a:bodyPr>
          <a:lstStyle/>
          <a:p>
            <a:r>
              <a:rPr sz="1200" b="1">
                <a:solidFill>
                  <a:srgbClr val="15803D"/>
                </a:solidFill>
                <a:latin typeface="Noto Sans JP"/>
              </a:rPr>
              <a:t> 回避策（Design）</a:t>
            </a:r>
          </a:p>
        </p:txBody>
      </p:sp>
      <p:pic>
        <p:nvPicPr>
          <p:cNvPr id="20" name="Picture 19" descr="image.png"/>
          <p:cNvPicPr>
            <a:picLocks noChangeAspect="1"/>
          </p:cNvPicPr>
          <p:nvPr/>
        </p:nvPicPr>
        <p:blipFill>
          <a:blip r:embed="rId6"/>
          <a:stretch>
            <a:fillRect/>
          </a:stretch>
        </p:blipFill>
        <p:spPr>
          <a:xfrm>
            <a:off x="657454" y="4086454"/>
            <a:ext cx="133501" cy="152705"/>
          </a:xfrm>
          <a:prstGeom prst="rect">
            <a:avLst/>
          </a:prstGeom>
          <a:ln/>
        </p:spPr>
      </p:pic>
      <p:sp>
        <p:nvSpPr>
          <p:cNvPr id="21" name="TextBox 20"/>
          <p:cNvSpPr txBox="1"/>
          <p:nvPr/>
        </p:nvSpPr>
        <p:spPr>
          <a:xfrm>
            <a:off x="923544" y="4315054"/>
            <a:ext cx="3020263" cy="648310"/>
          </a:xfrm>
          <a:prstGeom prst="rect">
            <a:avLst/>
          </a:prstGeom>
          <a:noFill/>
          <a:ln/>
        </p:spPr>
        <p:txBody>
          <a:bodyPr wrap="square" lIns="0" rIns="0" tIns="0" bIns="0">
            <a:noAutofit/>
          </a:bodyPr>
          <a:lstStyle/>
          <a:p>
            <a:r>
              <a:rPr sz="1000">
                <a:solidFill>
                  <a:srgbClr val="4B5563"/>
                </a:solidFill>
                <a:latin typeface="Noto Sans JP"/>
              </a:rPr>
              <a:t> 1. </a:t>
            </a:r>
            <a:r>
              <a:rPr sz="1000" b="1">
                <a:solidFill>
                  <a:srgbClr val="4B5563"/>
                </a:solidFill>
                <a:latin typeface="Noto Sans JP"/>
              </a:rPr>
              <a:t>VADで区間分割：</a:t>
            </a:r>
            <a:r>
              <a:rPr sz="1000">
                <a:solidFill>
                  <a:srgbClr val="4B5563"/>
                </a:solidFill>
                <a:latin typeface="Noto Sans JP"/>
              </a:rPr>
              <a:t>無音除去で認識精度向上。</a:t>
            </a:r>
          </a:p>
          <a:p>
            <a:r>
              <a:rPr sz="1000">
                <a:solidFill>
                  <a:srgbClr val="4B5563"/>
                </a:solidFill>
                <a:latin typeface="Noto Sans JP"/>
              </a:rPr>
              <a:t> 2. </a:t>
            </a:r>
            <a:r>
              <a:rPr sz="1000" b="1">
                <a:solidFill>
                  <a:srgbClr val="4B5563"/>
                </a:solidFill>
                <a:latin typeface="Noto Sans JP"/>
              </a:rPr>
              <a:t>重要箇所再確認UI：</a:t>
            </a:r>
            <a:r>
              <a:rPr sz="1000">
                <a:solidFill>
                  <a:srgbClr val="4B5563"/>
                </a:solidFill>
                <a:latin typeface="Noto Sans JP"/>
              </a:rPr>
              <a:t>抽出されたタスクの元音声をワンクリック再生できるUIを提供。 </a:t>
            </a:r>
          </a:p>
        </p:txBody>
      </p:sp>
      <p:pic>
        <p:nvPicPr>
          <p:cNvPr id="22" name="Picture 21" descr="image.png"/>
          <p:cNvPicPr>
            <a:picLocks noChangeAspect="1"/>
          </p:cNvPicPr>
          <p:nvPr/>
        </p:nvPicPr>
        <p:blipFill>
          <a:blip r:embed="rId7"/>
          <a:stretch>
            <a:fillRect/>
          </a:stretch>
        </p:blipFill>
        <p:spPr>
          <a:xfrm>
            <a:off x="657454" y="5359298"/>
            <a:ext cx="714146" cy="209398"/>
          </a:xfrm>
          <a:prstGeom prst="rect">
            <a:avLst/>
          </a:prstGeom>
          <a:ln/>
        </p:spPr>
      </p:pic>
      <p:sp>
        <p:nvSpPr>
          <p:cNvPr id="23" name="TextBox 22"/>
          <p:cNvSpPr txBox="1"/>
          <p:nvPr/>
        </p:nvSpPr>
        <p:spPr>
          <a:xfrm>
            <a:off x="657454" y="5359298"/>
            <a:ext cx="715060"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Silero VAD</a:t>
            </a:r>
          </a:p>
        </p:txBody>
      </p:sp>
      <p:pic>
        <p:nvPicPr>
          <p:cNvPr id="24" name="Picture 23" descr="image.png"/>
          <p:cNvPicPr>
            <a:picLocks noChangeAspect="1"/>
          </p:cNvPicPr>
          <p:nvPr/>
        </p:nvPicPr>
        <p:blipFill>
          <a:blip r:embed="rId8"/>
          <a:stretch>
            <a:fillRect/>
          </a:stretch>
        </p:blipFill>
        <p:spPr>
          <a:xfrm>
            <a:off x="1367942" y="5359298"/>
            <a:ext cx="800099" cy="209398"/>
          </a:xfrm>
          <a:prstGeom prst="rect">
            <a:avLst/>
          </a:prstGeom>
          <a:ln/>
        </p:spPr>
      </p:pic>
      <p:sp>
        <p:nvSpPr>
          <p:cNvPr id="25" name="TextBox 24"/>
          <p:cNvSpPr txBox="1"/>
          <p:nvPr/>
        </p:nvSpPr>
        <p:spPr>
          <a:xfrm>
            <a:off x="1367942" y="5359298"/>
            <a:ext cx="800099"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Playback UI</a:t>
            </a:r>
          </a:p>
        </p:txBody>
      </p:sp>
      <p:sp>
        <p:nvSpPr>
          <p:cNvPr id="26" name="Rectangle 25"/>
          <p:cNvSpPr/>
          <p:nvPr/>
        </p:nvSpPr>
        <p:spPr>
          <a:xfrm>
            <a:off x="4292194"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92447"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stretch>
            <a:fillRect/>
          </a:stretch>
        </p:blipFill>
        <p:spPr>
          <a:xfrm>
            <a:off x="4492447" y="2797150"/>
            <a:ext cx="133501" cy="171906"/>
          </a:xfrm>
          <a:prstGeom prst="rect">
            <a:avLst/>
          </a:prstGeom>
          <a:ln/>
        </p:spPr>
      </p:pic>
      <p:sp>
        <p:nvSpPr>
          <p:cNvPr id="29" name="TextBox 28"/>
          <p:cNvSpPr txBox="1"/>
          <p:nvPr/>
        </p:nvSpPr>
        <p:spPr>
          <a:xfrm>
            <a:off x="4721047" y="2754173"/>
            <a:ext cx="1429207" cy="372161"/>
          </a:xfrm>
          <a:prstGeom prst="rect">
            <a:avLst/>
          </a:prstGeom>
          <a:noFill/>
          <a:ln/>
        </p:spPr>
        <p:txBody>
          <a:bodyPr wrap="square" lIns="0" rIns="0" tIns="0" bIns="0">
            <a:noAutofit/>
          </a:bodyPr>
          <a:lstStyle/>
          <a:p>
            <a:r>
              <a:rPr sz="1300" b="1">
                <a:solidFill>
                  <a:srgbClr val="1D1D1F"/>
                </a:solidFill>
                <a:latin typeface="Noto Sans JP"/>
              </a:rPr>
              <a:t>長文での要点漏れ</a:t>
            </a:r>
          </a:p>
        </p:txBody>
      </p:sp>
      <p:sp>
        <p:nvSpPr>
          <p:cNvPr id="30" name="TextBox 29"/>
          <p:cNvSpPr txBox="1"/>
          <p:nvPr/>
        </p:nvSpPr>
        <p:spPr>
          <a:xfrm>
            <a:off x="4682642" y="3240634"/>
            <a:ext cx="3210458" cy="228600"/>
          </a:xfrm>
          <a:prstGeom prst="rect">
            <a:avLst/>
          </a:prstGeom>
          <a:noFill/>
          <a:ln/>
        </p:spPr>
        <p:txBody>
          <a:bodyPr wrap="square" lIns="0" rIns="0" tIns="0" bIns="0">
            <a:noAutofit/>
          </a:bodyPr>
          <a:lstStyle/>
          <a:p>
            <a:r>
              <a:rPr sz="1200" b="1">
                <a:solidFill>
                  <a:srgbClr val="DC2626"/>
                </a:solidFill>
                <a:latin typeface="Noto Sans JP"/>
              </a:rPr>
              <a:t> 失敗モード</a:t>
            </a:r>
          </a:p>
        </p:txBody>
      </p:sp>
      <p:pic>
        <p:nvPicPr>
          <p:cNvPr id="31" name="Picture 30" descr="image.png"/>
          <p:cNvPicPr>
            <a:picLocks noChangeAspect="1"/>
          </p:cNvPicPr>
          <p:nvPr/>
        </p:nvPicPr>
        <p:blipFill>
          <a:blip r:embed="rId5"/>
          <a:stretch>
            <a:fillRect/>
          </a:stretch>
        </p:blipFill>
        <p:spPr>
          <a:xfrm>
            <a:off x="4492447" y="3278124"/>
            <a:ext cx="114300" cy="152705"/>
          </a:xfrm>
          <a:prstGeom prst="rect">
            <a:avLst/>
          </a:prstGeom>
          <a:ln/>
        </p:spPr>
      </p:pic>
      <p:sp>
        <p:nvSpPr>
          <p:cNvPr id="32" name="TextBox 31"/>
          <p:cNvSpPr txBox="1"/>
          <p:nvPr/>
        </p:nvSpPr>
        <p:spPr>
          <a:xfrm>
            <a:off x="4759452" y="3506724"/>
            <a:ext cx="3020263" cy="428853"/>
          </a:xfrm>
          <a:prstGeom prst="rect">
            <a:avLst/>
          </a:prstGeom>
          <a:noFill/>
          <a:ln/>
        </p:spPr>
        <p:txBody>
          <a:bodyPr wrap="square" lIns="0" rIns="0" tIns="0" bIns="0">
            <a:noAutofit/>
          </a:bodyPr>
          <a:lstStyle/>
          <a:p>
            <a:r>
              <a:rPr sz="1000">
                <a:solidFill>
                  <a:srgbClr val="4B5563"/>
                </a:solidFill>
                <a:latin typeface="Noto Sans JP"/>
              </a:rPr>
              <a:t>コンテキスト長超過やAttentionの分散により、後半の重要事項が無視される。</a:t>
            </a:r>
          </a:p>
        </p:txBody>
      </p:sp>
      <p:sp>
        <p:nvSpPr>
          <p:cNvPr id="33" name="TextBox 32"/>
          <p:cNvSpPr txBox="1"/>
          <p:nvPr/>
        </p:nvSpPr>
        <p:spPr>
          <a:xfrm>
            <a:off x="4701845" y="4048048"/>
            <a:ext cx="3115361" cy="228600"/>
          </a:xfrm>
          <a:prstGeom prst="rect">
            <a:avLst/>
          </a:prstGeom>
          <a:noFill/>
          <a:ln/>
        </p:spPr>
        <p:txBody>
          <a:bodyPr wrap="square" lIns="0" rIns="0" tIns="0" bIns="0">
            <a:noAutofit/>
          </a:bodyPr>
          <a:lstStyle/>
          <a:p>
            <a:r>
              <a:rPr sz="1200" b="1">
                <a:solidFill>
                  <a:srgbClr val="15803D"/>
                </a:solidFill>
                <a:latin typeface="Noto Sans JP"/>
              </a:rPr>
              <a:t> 回避策（Design）</a:t>
            </a:r>
          </a:p>
        </p:txBody>
      </p:sp>
      <p:pic>
        <p:nvPicPr>
          <p:cNvPr id="34" name="Picture 33" descr="image.png"/>
          <p:cNvPicPr>
            <a:picLocks noChangeAspect="1"/>
          </p:cNvPicPr>
          <p:nvPr/>
        </p:nvPicPr>
        <p:blipFill>
          <a:blip r:embed="rId6"/>
          <a:stretch>
            <a:fillRect/>
          </a:stretch>
        </p:blipFill>
        <p:spPr>
          <a:xfrm>
            <a:off x="4492447" y="4086454"/>
            <a:ext cx="133501" cy="152705"/>
          </a:xfrm>
          <a:prstGeom prst="rect">
            <a:avLst/>
          </a:prstGeom>
          <a:ln/>
        </p:spPr>
      </p:pic>
      <p:sp>
        <p:nvSpPr>
          <p:cNvPr id="35" name="TextBox 34"/>
          <p:cNvSpPr txBox="1"/>
          <p:nvPr/>
        </p:nvSpPr>
        <p:spPr>
          <a:xfrm>
            <a:off x="4759452" y="4315054"/>
            <a:ext cx="3020263" cy="857707"/>
          </a:xfrm>
          <a:prstGeom prst="rect">
            <a:avLst/>
          </a:prstGeom>
          <a:noFill/>
          <a:ln/>
        </p:spPr>
        <p:txBody>
          <a:bodyPr wrap="square" lIns="0" rIns="0" tIns="0" bIns="0">
            <a:noAutofit/>
          </a:bodyPr>
          <a:lstStyle/>
          <a:p>
            <a:r>
              <a:rPr sz="1000">
                <a:solidFill>
                  <a:srgbClr val="4B5563"/>
                </a:solidFill>
                <a:latin typeface="Noto Sans JP"/>
              </a:rPr>
              <a:t> 1. </a:t>
            </a:r>
            <a:r>
              <a:rPr sz="1000" b="1">
                <a:solidFill>
                  <a:srgbClr val="4B5563"/>
                </a:solidFill>
                <a:latin typeface="Noto Sans JP"/>
              </a:rPr>
              <a:t>逐次要約（Rolling Summary）：</a:t>
            </a:r>
            <a:r>
              <a:rPr sz="1000">
                <a:solidFill>
                  <a:srgbClr val="4B5563"/>
                </a:solidFill>
                <a:latin typeface="Noto Sans JP"/>
              </a:rPr>
              <a:t>一定区間ごとに要約し、次区間の入力に含める。</a:t>
            </a:r>
          </a:p>
          <a:p>
            <a:r>
              <a:rPr sz="1000">
                <a:solidFill>
                  <a:srgbClr val="4B5563"/>
                </a:solidFill>
                <a:latin typeface="Noto Sans JP"/>
              </a:rPr>
              <a:t> 2. </a:t>
            </a:r>
            <a:r>
              <a:rPr sz="1000" b="1">
                <a:solidFill>
                  <a:srgbClr val="4B5563"/>
                </a:solidFill>
                <a:latin typeface="Noto Sans JP"/>
              </a:rPr>
              <a:t>KV節約：</a:t>
            </a:r>
            <a:r>
              <a:rPr sz="1000">
                <a:solidFill>
                  <a:srgbClr val="4B5563"/>
                </a:solidFill>
                <a:latin typeface="Noto Sans JP"/>
              </a:rPr>
              <a:t>量子化KVやウインドウ制限でメモリ枯渇を防ぐ。 </a:t>
            </a:r>
          </a:p>
        </p:txBody>
      </p:sp>
      <p:pic>
        <p:nvPicPr>
          <p:cNvPr id="36" name="Picture 35" descr="image.png"/>
          <p:cNvPicPr>
            <a:picLocks noChangeAspect="1"/>
          </p:cNvPicPr>
          <p:nvPr/>
        </p:nvPicPr>
        <p:blipFill>
          <a:blip r:embed="rId10"/>
          <a:stretch>
            <a:fillRect/>
          </a:stretch>
        </p:blipFill>
        <p:spPr>
          <a:xfrm>
            <a:off x="4492447" y="5359298"/>
            <a:ext cx="990294" cy="209398"/>
          </a:xfrm>
          <a:prstGeom prst="rect">
            <a:avLst/>
          </a:prstGeom>
          <a:ln/>
        </p:spPr>
      </p:pic>
      <p:sp>
        <p:nvSpPr>
          <p:cNvPr id="37" name="TextBox 36"/>
          <p:cNvSpPr txBox="1"/>
          <p:nvPr/>
        </p:nvSpPr>
        <p:spPr>
          <a:xfrm>
            <a:off x="4492447" y="5359298"/>
            <a:ext cx="991210"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Rolling Context</a:t>
            </a:r>
          </a:p>
        </p:txBody>
      </p:sp>
      <p:pic>
        <p:nvPicPr>
          <p:cNvPr id="38" name="Picture 37" descr="image.png"/>
          <p:cNvPicPr>
            <a:picLocks noChangeAspect="1"/>
          </p:cNvPicPr>
          <p:nvPr/>
        </p:nvPicPr>
        <p:blipFill>
          <a:blip r:embed="rId11"/>
          <a:stretch>
            <a:fillRect/>
          </a:stretch>
        </p:blipFill>
        <p:spPr>
          <a:xfrm>
            <a:off x="5475427" y="5359298"/>
            <a:ext cx="886053" cy="209398"/>
          </a:xfrm>
          <a:prstGeom prst="rect">
            <a:avLst/>
          </a:prstGeom>
          <a:ln/>
        </p:spPr>
      </p:pic>
      <p:sp>
        <p:nvSpPr>
          <p:cNvPr id="39" name="TextBox 38"/>
          <p:cNvSpPr txBox="1"/>
          <p:nvPr/>
        </p:nvSpPr>
        <p:spPr>
          <a:xfrm>
            <a:off x="5475427" y="5359298"/>
            <a:ext cx="886053"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Quantized KV</a:t>
            </a:r>
          </a:p>
        </p:txBody>
      </p:sp>
      <p:sp>
        <p:nvSpPr>
          <p:cNvPr id="40" name="Rectangle 39"/>
          <p:cNvSpPr/>
          <p:nvPr/>
        </p:nvSpPr>
        <p:spPr>
          <a:xfrm>
            <a:off x="8128102" y="2554834"/>
            <a:ext cx="3610051" cy="321960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28354" y="3106217"/>
            <a:ext cx="3209544"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2"/>
          <a:stretch>
            <a:fillRect/>
          </a:stretch>
        </p:blipFill>
        <p:spPr>
          <a:xfrm>
            <a:off x="8328354" y="2797150"/>
            <a:ext cx="171907" cy="171906"/>
          </a:xfrm>
          <a:prstGeom prst="rect">
            <a:avLst/>
          </a:prstGeom>
          <a:ln/>
        </p:spPr>
      </p:pic>
      <p:sp>
        <p:nvSpPr>
          <p:cNvPr id="43" name="TextBox 42"/>
          <p:cNvSpPr txBox="1"/>
          <p:nvPr/>
        </p:nvSpPr>
        <p:spPr>
          <a:xfrm>
            <a:off x="8594446" y="2754173"/>
            <a:ext cx="1267358" cy="372161"/>
          </a:xfrm>
          <a:prstGeom prst="rect">
            <a:avLst/>
          </a:prstGeom>
          <a:noFill/>
          <a:ln/>
        </p:spPr>
        <p:txBody>
          <a:bodyPr wrap="square" lIns="0" rIns="0" tIns="0" bIns="0">
            <a:noAutofit/>
          </a:bodyPr>
          <a:lstStyle/>
          <a:p>
            <a:r>
              <a:rPr sz="1300" b="1">
                <a:solidFill>
                  <a:srgbClr val="1D1D1F"/>
                </a:solidFill>
                <a:latin typeface="Noto Sans JP"/>
              </a:rPr>
              <a:t>LLMの推論不足</a:t>
            </a:r>
          </a:p>
        </p:txBody>
      </p:sp>
      <p:sp>
        <p:nvSpPr>
          <p:cNvPr id="44" name="TextBox 43"/>
          <p:cNvSpPr txBox="1"/>
          <p:nvPr/>
        </p:nvSpPr>
        <p:spPr>
          <a:xfrm>
            <a:off x="8518550" y="3240634"/>
            <a:ext cx="3210458" cy="228600"/>
          </a:xfrm>
          <a:prstGeom prst="rect">
            <a:avLst/>
          </a:prstGeom>
          <a:noFill/>
          <a:ln/>
        </p:spPr>
        <p:txBody>
          <a:bodyPr wrap="square" lIns="0" rIns="0" tIns="0" bIns="0">
            <a:noAutofit/>
          </a:bodyPr>
          <a:lstStyle/>
          <a:p>
            <a:r>
              <a:rPr sz="1200" b="1">
                <a:solidFill>
                  <a:srgbClr val="DC2626"/>
                </a:solidFill>
                <a:latin typeface="Noto Sans JP"/>
              </a:rPr>
              <a:t> 失敗モード</a:t>
            </a:r>
          </a:p>
        </p:txBody>
      </p:sp>
      <p:pic>
        <p:nvPicPr>
          <p:cNvPr id="45" name="Picture 44" descr="image.png"/>
          <p:cNvPicPr>
            <a:picLocks noChangeAspect="1"/>
          </p:cNvPicPr>
          <p:nvPr/>
        </p:nvPicPr>
        <p:blipFill>
          <a:blip r:embed="rId5"/>
          <a:stretch>
            <a:fillRect/>
          </a:stretch>
        </p:blipFill>
        <p:spPr>
          <a:xfrm>
            <a:off x="8328354" y="3278124"/>
            <a:ext cx="114300" cy="152705"/>
          </a:xfrm>
          <a:prstGeom prst="rect">
            <a:avLst/>
          </a:prstGeom>
          <a:ln/>
        </p:spPr>
      </p:pic>
      <p:sp>
        <p:nvSpPr>
          <p:cNvPr id="46" name="TextBox 45"/>
          <p:cNvSpPr txBox="1"/>
          <p:nvPr/>
        </p:nvSpPr>
        <p:spPr>
          <a:xfrm>
            <a:off x="8594446" y="3506724"/>
            <a:ext cx="3020263" cy="428853"/>
          </a:xfrm>
          <a:prstGeom prst="rect">
            <a:avLst/>
          </a:prstGeom>
          <a:noFill/>
          <a:ln/>
        </p:spPr>
        <p:txBody>
          <a:bodyPr wrap="square" lIns="0" rIns="0" tIns="0" bIns="0">
            <a:noAutofit/>
          </a:bodyPr>
          <a:lstStyle/>
          <a:p>
            <a:r>
              <a:rPr sz="1000">
                <a:solidFill>
                  <a:srgbClr val="4B5563"/>
                </a:solidFill>
                <a:latin typeface="Noto Sans JP"/>
              </a:rPr>
              <a:t>小型モデル（3B-7B）が指示に従わず、タスク以外の雑談や幻覚を出力する。</a:t>
            </a:r>
          </a:p>
        </p:txBody>
      </p:sp>
      <p:sp>
        <p:nvSpPr>
          <p:cNvPr id="47" name="TextBox 46"/>
          <p:cNvSpPr txBox="1"/>
          <p:nvPr/>
        </p:nvSpPr>
        <p:spPr>
          <a:xfrm>
            <a:off x="8537753" y="4048048"/>
            <a:ext cx="3115360" cy="228600"/>
          </a:xfrm>
          <a:prstGeom prst="rect">
            <a:avLst/>
          </a:prstGeom>
          <a:noFill/>
          <a:ln/>
        </p:spPr>
        <p:txBody>
          <a:bodyPr wrap="square" lIns="0" rIns="0" tIns="0" bIns="0">
            <a:noAutofit/>
          </a:bodyPr>
          <a:lstStyle/>
          <a:p>
            <a:r>
              <a:rPr sz="1200" b="1">
                <a:solidFill>
                  <a:srgbClr val="15803D"/>
                </a:solidFill>
                <a:latin typeface="Noto Sans JP"/>
              </a:rPr>
              <a:t> 回避策（Design）</a:t>
            </a:r>
          </a:p>
        </p:txBody>
      </p:sp>
      <p:pic>
        <p:nvPicPr>
          <p:cNvPr id="48" name="Picture 47" descr="image.png"/>
          <p:cNvPicPr>
            <a:picLocks noChangeAspect="1"/>
          </p:cNvPicPr>
          <p:nvPr/>
        </p:nvPicPr>
        <p:blipFill>
          <a:blip r:embed="rId6"/>
          <a:stretch>
            <a:fillRect/>
          </a:stretch>
        </p:blipFill>
        <p:spPr>
          <a:xfrm>
            <a:off x="8328354" y="4086454"/>
            <a:ext cx="133502" cy="152705"/>
          </a:xfrm>
          <a:prstGeom prst="rect">
            <a:avLst/>
          </a:prstGeom>
          <a:ln/>
        </p:spPr>
      </p:pic>
      <p:sp>
        <p:nvSpPr>
          <p:cNvPr id="49" name="TextBox 48"/>
          <p:cNvSpPr txBox="1"/>
          <p:nvPr/>
        </p:nvSpPr>
        <p:spPr>
          <a:xfrm>
            <a:off x="8594446" y="4315054"/>
            <a:ext cx="3020263" cy="857707"/>
          </a:xfrm>
          <a:prstGeom prst="rect">
            <a:avLst/>
          </a:prstGeom>
          <a:noFill/>
          <a:ln/>
        </p:spPr>
        <p:txBody>
          <a:bodyPr wrap="square" lIns="0" rIns="0" tIns="0" bIns="0">
            <a:noAutofit/>
          </a:bodyPr>
          <a:lstStyle/>
          <a:p>
            <a:r>
              <a:rPr sz="1000">
                <a:solidFill>
                  <a:srgbClr val="4B5563"/>
                </a:solidFill>
                <a:latin typeface="Noto Sans JP"/>
              </a:rPr>
              <a:t> 1. </a:t>
            </a:r>
            <a:r>
              <a:rPr sz="1000" b="1">
                <a:solidFill>
                  <a:srgbClr val="4B5563"/>
                </a:solidFill>
                <a:latin typeface="Noto Sans JP"/>
              </a:rPr>
              <a:t>テンプレ固定：</a:t>
            </a:r>
            <a:r>
              <a:rPr sz="1000">
                <a:solidFill>
                  <a:srgbClr val="4B5563"/>
                </a:solidFill>
                <a:latin typeface="Noto Sans JP"/>
              </a:rPr>
              <a:t>自由生成を禁止し、抽出テンプレート（JSON Schema等）を強制。</a:t>
            </a:r>
          </a:p>
          <a:p>
            <a:r>
              <a:rPr sz="1000">
                <a:solidFill>
                  <a:srgbClr val="4B5563"/>
                </a:solidFill>
                <a:latin typeface="Noto Sans JP"/>
              </a:rPr>
              <a:t> 2. </a:t>
            </a:r>
            <a:r>
              <a:rPr sz="1000" b="1">
                <a:solidFill>
                  <a:srgbClr val="4B5563"/>
                </a:solidFill>
                <a:latin typeface="Noto Sans JP"/>
              </a:rPr>
              <a:t>Few-shot提示：</a:t>
            </a:r>
            <a:r>
              <a:rPr sz="1000">
                <a:solidFill>
                  <a:srgbClr val="4B5563"/>
                </a:solidFill>
                <a:latin typeface="Noto Sans JP"/>
              </a:rPr>
              <a:t>プロンプトに抽出成功例を含める。 </a:t>
            </a:r>
          </a:p>
        </p:txBody>
      </p:sp>
      <p:pic>
        <p:nvPicPr>
          <p:cNvPr id="50" name="Picture 49" descr="image.png"/>
          <p:cNvPicPr>
            <a:picLocks noChangeAspect="1"/>
          </p:cNvPicPr>
          <p:nvPr/>
        </p:nvPicPr>
        <p:blipFill>
          <a:blip r:embed="rId13"/>
          <a:stretch>
            <a:fillRect/>
          </a:stretch>
        </p:blipFill>
        <p:spPr>
          <a:xfrm>
            <a:off x="8328354" y="5359298"/>
            <a:ext cx="923544" cy="209398"/>
          </a:xfrm>
          <a:prstGeom prst="rect">
            <a:avLst/>
          </a:prstGeom>
          <a:ln/>
        </p:spPr>
      </p:pic>
      <p:sp>
        <p:nvSpPr>
          <p:cNvPr id="51" name="TextBox 50"/>
          <p:cNvSpPr txBox="1"/>
          <p:nvPr/>
        </p:nvSpPr>
        <p:spPr>
          <a:xfrm>
            <a:off x="8328354" y="5359298"/>
            <a:ext cx="924458"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JSON Schema</a:t>
            </a:r>
          </a:p>
        </p:txBody>
      </p:sp>
      <p:pic>
        <p:nvPicPr>
          <p:cNvPr id="52" name="Picture 51" descr="image.png"/>
          <p:cNvPicPr>
            <a:picLocks noChangeAspect="1"/>
          </p:cNvPicPr>
          <p:nvPr/>
        </p:nvPicPr>
        <p:blipFill>
          <a:blip r:embed="rId14"/>
          <a:stretch>
            <a:fillRect/>
          </a:stretch>
        </p:blipFill>
        <p:spPr>
          <a:xfrm>
            <a:off x="9246413" y="5359298"/>
            <a:ext cx="657454" cy="209398"/>
          </a:xfrm>
          <a:prstGeom prst="rect">
            <a:avLst/>
          </a:prstGeom>
          <a:ln/>
        </p:spPr>
      </p:pic>
      <p:sp>
        <p:nvSpPr>
          <p:cNvPr id="53" name="TextBox 52"/>
          <p:cNvSpPr txBox="1"/>
          <p:nvPr/>
        </p:nvSpPr>
        <p:spPr>
          <a:xfrm>
            <a:off x="9246413" y="5359298"/>
            <a:ext cx="657454" cy="210312"/>
          </a:xfrm>
          <a:prstGeom prst="rect">
            <a:avLst/>
          </a:prstGeom>
          <a:noFill/>
          <a:ln>
            <a:solidFill>
              <a:srgbClr val="FFFFFF"/>
            </a:solidFill>
          </a:ln>
        </p:spPr>
        <p:txBody>
          <a:bodyPr wrap="square" lIns="0" rIns="0" tIns="0" bIns="0">
            <a:noAutofit/>
          </a:bodyPr>
          <a:lstStyle/>
          <a:p>
            <a:r>
              <a:rPr sz="900">
                <a:solidFill>
                  <a:srgbClr val="374151"/>
                </a:solidFill>
                <a:latin typeface="Noto Sans JP"/>
              </a:rPr>
              <a:t>Few-shot</a:t>
            </a:r>
          </a:p>
        </p:txBody>
      </p:sp>
      <p:sp>
        <p:nvSpPr>
          <p:cNvPr id="54" name="Rectangle 53"/>
          <p:cNvSpPr/>
          <p:nvPr/>
        </p:nvSpPr>
        <p:spPr>
          <a:xfrm>
            <a:off x="457200" y="5997550"/>
            <a:ext cx="11277295" cy="961948"/>
          </a:xfrm>
          <a:prstGeom prst="rect">
            <a:avLst/>
          </a:prstGeom>
          <a:solidFill>
            <a:srgbClr val="EFF6FF"/>
          </a:solidFill>
          <a:ln w="12700">
            <a:solidFill>
              <a:srgbClr val="DBEA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image.png"/>
          <p:cNvPicPr>
            <a:picLocks noChangeAspect="1"/>
          </p:cNvPicPr>
          <p:nvPr/>
        </p:nvPicPr>
        <p:blipFill>
          <a:blip r:embed="rId15"/>
          <a:stretch>
            <a:fillRect/>
          </a:stretch>
        </p:blipFill>
        <p:spPr>
          <a:xfrm>
            <a:off x="619049" y="6178601"/>
            <a:ext cx="219456" cy="171906"/>
          </a:xfrm>
          <a:prstGeom prst="rect">
            <a:avLst/>
          </a:prstGeom>
          <a:ln/>
        </p:spPr>
      </p:pic>
      <p:sp>
        <p:nvSpPr>
          <p:cNvPr id="56" name="TextBox 55"/>
          <p:cNvSpPr txBox="1"/>
          <p:nvPr/>
        </p:nvSpPr>
        <p:spPr>
          <a:xfrm>
            <a:off x="952805" y="6159398"/>
            <a:ext cx="10810951" cy="200253"/>
          </a:xfrm>
          <a:prstGeom prst="rect">
            <a:avLst/>
          </a:prstGeom>
          <a:noFill/>
          <a:ln/>
        </p:spPr>
        <p:txBody>
          <a:bodyPr wrap="square" lIns="0" rIns="0" tIns="0" bIns="0">
            <a:noAutofit/>
          </a:bodyPr>
          <a:lstStyle/>
          <a:p>
            <a:r>
              <a:rPr sz="1000" b="1">
                <a:solidFill>
                  <a:srgbClr val="1E3A8A"/>
                </a:solidFill>
                <a:latin typeface="Noto Sans JP"/>
              </a:rPr>
              <a:t>システム連携のポイント</a:t>
            </a:r>
          </a:p>
        </p:txBody>
      </p:sp>
      <p:sp>
        <p:nvSpPr>
          <p:cNvPr id="57" name="TextBox 56"/>
          <p:cNvSpPr txBox="1"/>
          <p:nvPr/>
        </p:nvSpPr>
        <p:spPr>
          <a:xfrm>
            <a:off x="952805" y="6397142"/>
            <a:ext cx="10696651" cy="400507"/>
          </a:xfrm>
          <a:prstGeom prst="rect">
            <a:avLst/>
          </a:prstGeom>
          <a:noFill/>
          <a:ln/>
        </p:spPr>
        <p:txBody>
          <a:bodyPr wrap="square" lIns="0" rIns="0" tIns="0" bIns="0">
            <a:noAutofit/>
          </a:bodyPr>
          <a:lstStyle/>
          <a:p>
            <a:r>
              <a:rPr sz="1000">
                <a:solidFill>
                  <a:srgbClr val="1E3A8A"/>
                </a:solidFill>
                <a:latin typeface="Noto Sans JP"/>
              </a:rPr>
              <a:t>Ollama/LM StudioのOpenAI互換APIを活用して業務アプリと接続する場合、受け取ったJSON出力の型チェック（バリデーション）をクライアント側で厳格に行うことで、モデルの不安定さを吸収できます。</a:t>
            </a:r>
          </a:p>
        </p:txBody>
      </p:sp>
      <p:sp>
        <p:nvSpPr>
          <p:cNvPr id="58" name="Rectangle 57"/>
          <p:cNvSpPr/>
          <p:nvPr/>
        </p:nvSpPr>
        <p:spPr>
          <a:xfrm>
            <a:off x="0" y="7263994"/>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7263994"/>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727313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61" name="TextBox 60"/>
          <p:cNvSpPr txBox="1"/>
          <p:nvPr/>
        </p:nvSpPr>
        <p:spPr>
          <a:xfrm>
            <a:off x="11385194" y="7273138"/>
            <a:ext cx="428854" cy="171907"/>
          </a:xfrm>
          <a:prstGeom prst="rect">
            <a:avLst/>
          </a:prstGeom>
          <a:noFill/>
          <a:ln/>
        </p:spPr>
        <p:txBody>
          <a:bodyPr wrap="square" lIns="0" rIns="0" tIns="0" bIns="0">
            <a:noAutofit/>
          </a:bodyPr>
          <a:lstStyle/>
          <a:p>
            <a:r>
              <a:rPr sz="900">
                <a:solidFill>
                  <a:srgbClr val="86868B"/>
                </a:solidFill>
                <a:latin typeface="Noto Sans JP"/>
              </a:rPr>
              <a:t>60 /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57707"/>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48563"/>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71577"/>
            <a:ext cx="228600" cy="304495"/>
          </a:xfrm>
          <a:prstGeom prst="rect">
            <a:avLst/>
          </a:prstGeom>
          <a:ln/>
        </p:spPr>
      </p:pic>
      <p:sp>
        <p:nvSpPr>
          <p:cNvPr id="8" name="TextBox 7"/>
          <p:cNvSpPr txBox="1"/>
          <p:nvPr/>
        </p:nvSpPr>
        <p:spPr>
          <a:xfrm>
            <a:off x="838505" y="204826"/>
            <a:ext cx="8382305" cy="438912"/>
          </a:xfrm>
          <a:prstGeom prst="rect">
            <a:avLst/>
          </a:prstGeom>
          <a:noFill/>
          <a:ln/>
        </p:spPr>
        <p:txBody>
          <a:bodyPr wrap="square" lIns="0" rIns="0" tIns="0" bIns="0">
            <a:noAutofit/>
          </a:bodyPr>
          <a:lstStyle/>
          <a:p>
            <a:r>
              <a:rPr sz="2400" b="1">
                <a:solidFill>
                  <a:srgbClr val="1D1D1F"/>
                </a:solidFill>
                <a:latin typeface="Noto Sans JP"/>
              </a:rPr>
              <a:t>ユースケース：会議議事録（話者分離＋要約＋アクション）</a:t>
            </a:r>
          </a:p>
        </p:txBody>
      </p:sp>
      <p:sp>
        <p:nvSpPr>
          <p:cNvPr id="9" name="TextBox 8"/>
          <p:cNvSpPr txBox="1"/>
          <p:nvPr/>
        </p:nvSpPr>
        <p:spPr>
          <a:xfrm>
            <a:off x="9430207" y="299923"/>
            <a:ext cx="2489911" cy="247801"/>
          </a:xfrm>
          <a:prstGeom prst="rect">
            <a:avLst/>
          </a:prstGeom>
          <a:noFill/>
          <a:ln/>
        </p:spPr>
        <p:txBody>
          <a:bodyPr wrap="square" lIns="0" rIns="0" tIns="0" bIns="0">
            <a:noAutofit/>
          </a:bodyPr>
          <a:lstStyle/>
          <a:p>
            <a:r>
              <a:rPr sz="1300">
                <a:solidFill>
                  <a:srgbClr val="86868B"/>
                </a:solidFill>
                <a:latin typeface="Noto Sans JP"/>
              </a:rPr>
              <a:t>推奨スタック3構成（Tier別）</a:t>
            </a:r>
          </a:p>
        </p:txBody>
      </p:sp>
      <p:sp>
        <p:nvSpPr>
          <p:cNvPr id="10" name="Rectangle 9"/>
          <p:cNvSpPr/>
          <p:nvPr/>
        </p:nvSpPr>
        <p:spPr>
          <a:xfrm>
            <a:off x="457200" y="1086307"/>
            <a:ext cx="11277295" cy="69494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086307"/>
            <a:ext cx="57606" cy="69494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00607"/>
            <a:ext cx="10840212" cy="467257"/>
          </a:xfrm>
          <a:prstGeom prst="rect">
            <a:avLst/>
          </a:prstGeom>
          <a:noFill/>
          <a:ln/>
        </p:spPr>
        <p:txBody>
          <a:bodyPr wrap="square" lIns="0" rIns="0" tIns="0" bIns="0">
            <a:noAutofit/>
          </a:bodyPr>
          <a:lstStyle/>
          <a:p>
            <a:r>
              <a:rPr sz="1300" b="1">
                <a:solidFill>
                  <a:srgbClr val="1D1D1F"/>
                </a:solidFill>
                <a:latin typeface="Noto Sans JP"/>
              </a:rPr>
              <a:t> 結論：規模と要件に応じて3構成を選択。無音除去（VAD）と発話ターン統合ルールが品質下限を決定します。</a:t>
            </a:r>
          </a:p>
          <a:p>
            <a:r>
              <a:rPr sz="1000" b="1">
                <a:solidFill>
                  <a:srgbClr val="424245"/>
                </a:solidFill>
                <a:latin typeface="Noto Sans JP"/>
              </a:rPr>
              <a:t>※評価はp50/p95、RTF、意味改変率で監視することを推奨します。</a:t>
            </a:r>
          </a:p>
        </p:txBody>
      </p:sp>
      <p:sp>
        <p:nvSpPr>
          <p:cNvPr id="13" name="Rectangle 12"/>
          <p:cNvSpPr/>
          <p:nvPr/>
        </p:nvSpPr>
        <p:spPr>
          <a:xfrm>
            <a:off x="457200"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6344" y="2017166"/>
            <a:ext cx="3619195" cy="5330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78254" y="2150669"/>
            <a:ext cx="267004"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645006" y="2217420"/>
            <a:ext cx="133501" cy="133501"/>
          </a:xfrm>
          <a:prstGeom prst="rect">
            <a:avLst/>
          </a:prstGeom>
          <a:ln/>
        </p:spPr>
      </p:pic>
      <p:sp>
        <p:nvSpPr>
          <p:cNvPr id="17" name="TextBox 16"/>
          <p:cNvSpPr txBox="1"/>
          <p:nvPr/>
        </p:nvSpPr>
        <p:spPr>
          <a:xfrm>
            <a:off x="1939442" y="2159813"/>
            <a:ext cx="1110995" cy="247801"/>
          </a:xfrm>
          <a:prstGeom prst="rect">
            <a:avLst/>
          </a:prstGeom>
          <a:noFill/>
          <a:ln/>
        </p:spPr>
        <p:txBody>
          <a:bodyPr wrap="square" lIns="0" rIns="0" tIns="0" bIns="0">
            <a:noAutofit/>
          </a:bodyPr>
          <a:lstStyle/>
          <a:p>
            <a:r>
              <a:rPr sz="1300" b="1">
                <a:solidFill>
                  <a:srgbClr val="FFFFFF"/>
                </a:solidFill>
                <a:latin typeface="Noto Sans JP"/>
              </a:rPr>
              <a:t>低コスト構成</a:t>
            </a:r>
          </a:p>
        </p:txBody>
      </p:sp>
      <p:sp>
        <p:nvSpPr>
          <p:cNvPr id="18" name="Rectangle 17"/>
          <p:cNvSpPr/>
          <p:nvPr/>
        </p:nvSpPr>
        <p:spPr>
          <a:xfrm>
            <a:off x="619049" y="4322369"/>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 y="2702966"/>
            <a:ext cx="3247949" cy="162762"/>
          </a:xfrm>
          <a:prstGeom prst="rect">
            <a:avLst/>
          </a:prstGeom>
          <a:noFill/>
          <a:ln/>
        </p:spPr>
        <p:txBody>
          <a:bodyPr wrap="square" lIns="0" rIns="0" tIns="0" bIns="0">
            <a:noAutofit/>
          </a:bodyPr>
          <a:lstStyle/>
          <a:p>
            <a:r>
              <a:rPr sz="900" b="1">
                <a:solidFill>
                  <a:srgbClr val="86868B"/>
                </a:solidFill>
                <a:latin typeface="Noto Sans JP"/>
              </a:rPr>
              <a:t> 前処理 (VAD)</a:t>
            </a:r>
          </a:p>
        </p:txBody>
      </p:sp>
      <p:pic>
        <p:nvPicPr>
          <p:cNvPr id="20" name="Picture 19" descr="image.png"/>
          <p:cNvPicPr>
            <a:picLocks noChangeAspect="1"/>
          </p:cNvPicPr>
          <p:nvPr/>
        </p:nvPicPr>
        <p:blipFill>
          <a:blip r:embed="rId4"/>
          <a:stretch>
            <a:fillRect/>
          </a:stretch>
        </p:blipFill>
        <p:spPr>
          <a:xfrm>
            <a:off x="619049" y="2726741"/>
            <a:ext cx="123443" cy="114300"/>
          </a:xfrm>
          <a:prstGeom prst="rect">
            <a:avLst/>
          </a:prstGeom>
          <a:ln/>
        </p:spPr>
      </p:pic>
      <p:pic>
        <p:nvPicPr>
          <p:cNvPr id="21" name="Picture 20" descr="image.png"/>
          <p:cNvPicPr>
            <a:picLocks noChangeAspect="1"/>
          </p:cNvPicPr>
          <p:nvPr/>
        </p:nvPicPr>
        <p:blipFill>
          <a:blip r:embed="rId5"/>
          <a:stretch>
            <a:fillRect/>
          </a:stretch>
        </p:blipFill>
        <p:spPr>
          <a:xfrm>
            <a:off x="619049" y="2894076"/>
            <a:ext cx="3314700" cy="504748"/>
          </a:xfrm>
          <a:prstGeom prst="rect">
            <a:avLst/>
          </a:prstGeom>
          <a:ln/>
        </p:spPr>
      </p:pic>
      <p:sp>
        <p:nvSpPr>
          <p:cNvPr id="22" name="TextBox 21"/>
          <p:cNvSpPr txBox="1"/>
          <p:nvPr/>
        </p:nvSpPr>
        <p:spPr>
          <a:xfrm>
            <a:off x="619049" y="2894076"/>
            <a:ext cx="3314700" cy="50566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Silero VAD [82] 無音区間を確実に除去</a:t>
            </a:r>
          </a:p>
        </p:txBody>
      </p:sp>
      <p:sp>
        <p:nvSpPr>
          <p:cNvPr id="23" name="TextBox 22"/>
          <p:cNvSpPr txBox="1"/>
          <p:nvPr/>
        </p:nvSpPr>
        <p:spPr>
          <a:xfrm>
            <a:off x="1425550" y="2941625"/>
            <a:ext cx="257861" cy="143561"/>
          </a:xfrm>
          <a:prstGeom prst="rect">
            <a:avLst/>
          </a:prstGeom>
          <a:noFill/>
          <a:ln/>
        </p:spPr>
        <p:txBody>
          <a:bodyPr wrap="square" lIns="0" rIns="0" tIns="0" bIns="0">
            <a:noAutofit/>
          </a:bodyPr>
          <a:lstStyle/>
          <a:p>
            <a:r>
              <a:rPr sz="800">
                <a:solidFill>
                  <a:srgbClr val="888888"/>
                </a:solidFill>
                <a:latin typeface="Noto Sans JP"/>
              </a:rPr>
              <a:t>[82]</a:t>
            </a:r>
          </a:p>
        </p:txBody>
      </p:sp>
      <p:sp>
        <p:nvSpPr>
          <p:cNvPr id="24" name="TextBox 23"/>
          <p:cNvSpPr txBox="1"/>
          <p:nvPr/>
        </p:nvSpPr>
        <p:spPr>
          <a:xfrm>
            <a:off x="800100" y="3472891"/>
            <a:ext cx="3247949" cy="162763"/>
          </a:xfrm>
          <a:prstGeom prst="rect">
            <a:avLst/>
          </a:prstGeom>
          <a:noFill/>
          <a:ln/>
        </p:spPr>
        <p:txBody>
          <a:bodyPr wrap="square" lIns="0" rIns="0" tIns="0" bIns="0">
            <a:noAutofit/>
          </a:bodyPr>
          <a:lstStyle/>
          <a:p>
            <a:r>
              <a:rPr sz="900" b="1">
                <a:solidFill>
                  <a:srgbClr val="86868B"/>
                </a:solidFill>
                <a:latin typeface="Noto Sans JP"/>
              </a:rPr>
              <a:t> ASR (音声認識)</a:t>
            </a:r>
          </a:p>
        </p:txBody>
      </p:sp>
      <p:pic>
        <p:nvPicPr>
          <p:cNvPr id="25" name="Picture 24" descr="image.png"/>
          <p:cNvPicPr>
            <a:picLocks noChangeAspect="1"/>
          </p:cNvPicPr>
          <p:nvPr/>
        </p:nvPicPr>
        <p:blipFill>
          <a:blip r:embed="rId6"/>
          <a:stretch>
            <a:fillRect/>
          </a:stretch>
        </p:blipFill>
        <p:spPr>
          <a:xfrm>
            <a:off x="619049" y="3496666"/>
            <a:ext cx="123443" cy="114300"/>
          </a:xfrm>
          <a:prstGeom prst="rect">
            <a:avLst/>
          </a:prstGeom>
          <a:ln/>
        </p:spPr>
      </p:pic>
      <p:pic>
        <p:nvPicPr>
          <p:cNvPr id="26" name="Picture 25" descr="image.png"/>
          <p:cNvPicPr>
            <a:picLocks noChangeAspect="1"/>
          </p:cNvPicPr>
          <p:nvPr/>
        </p:nvPicPr>
        <p:blipFill>
          <a:blip r:embed="rId5"/>
          <a:stretch>
            <a:fillRect/>
          </a:stretch>
        </p:blipFill>
        <p:spPr>
          <a:xfrm>
            <a:off x="619049" y="3664001"/>
            <a:ext cx="3314700" cy="504748"/>
          </a:xfrm>
          <a:prstGeom prst="rect">
            <a:avLst/>
          </a:prstGeom>
          <a:ln/>
        </p:spPr>
      </p:pic>
      <p:sp>
        <p:nvSpPr>
          <p:cNvPr id="27" name="TextBox 26"/>
          <p:cNvSpPr txBox="1"/>
          <p:nvPr/>
        </p:nvSpPr>
        <p:spPr>
          <a:xfrm>
            <a:off x="619049" y="3664001"/>
            <a:ext cx="3314700" cy="50566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faster-whisper [50] (CPU / INT8量子化)</a:t>
            </a:r>
          </a:p>
        </p:txBody>
      </p:sp>
      <p:sp>
        <p:nvSpPr>
          <p:cNvPr id="28" name="TextBox 27"/>
          <p:cNvSpPr txBox="1"/>
          <p:nvPr/>
        </p:nvSpPr>
        <p:spPr>
          <a:xfrm>
            <a:off x="1700783" y="3711550"/>
            <a:ext cx="257861" cy="143560"/>
          </a:xfrm>
          <a:prstGeom prst="rect">
            <a:avLst/>
          </a:prstGeom>
          <a:noFill/>
          <a:ln/>
        </p:spPr>
        <p:txBody>
          <a:bodyPr wrap="square" lIns="0" rIns="0" tIns="0" bIns="0">
            <a:noAutofit/>
          </a:bodyPr>
          <a:lstStyle/>
          <a:p>
            <a:r>
              <a:rPr sz="800">
                <a:solidFill>
                  <a:srgbClr val="888888"/>
                </a:solidFill>
                <a:latin typeface="Noto Sans JP"/>
              </a:rPr>
              <a:t>[50]</a:t>
            </a:r>
          </a:p>
        </p:txBody>
      </p:sp>
      <p:sp>
        <p:nvSpPr>
          <p:cNvPr id="29" name="Rectangle 28"/>
          <p:cNvSpPr/>
          <p:nvPr/>
        </p:nvSpPr>
        <p:spPr>
          <a:xfrm>
            <a:off x="619049" y="6091733"/>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8446" y="4481474"/>
            <a:ext cx="3219602" cy="162763"/>
          </a:xfrm>
          <a:prstGeom prst="rect">
            <a:avLst/>
          </a:prstGeom>
          <a:noFill/>
          <a:ln/>
        </p:spPr>
        <p:txBody>
          <a:bodyPr wrap="square" lIns="0" rIns="0" tIns="0" bIns="0">
            <a:noAutofit/>
          </a:bodyPr>
          <a:lstStyle/>
          <a:p>
            <a:r>
              <a:rPr sz="900" b="1">
                <a:solidFill>
                  <a:srgbClr val="86868B"/>
                </a:solidFill>
                <a:latin typeface="Noto Sans JP"/>
              </a:rPr>
              <a:t> 話者分離 (Diarization)</a:t>
            </a:r>
          </a:p>
        </p:txBody>
      </p:sp>
      <p:pic>
        <p:nvPicPr>
          <p:cNvPr id="31" name="Picture 30" descr="image.png"/>
          <p:cNvPicPr>
            <a:picLocks noChangeAspect="1"/>
          </p:cNvPicPr>
          <p:nvPr/>
        </p:nvPicPr>
        <p:blipFill>
          <a:blip r:embed="rId7"/>
          <a:stretch>
            <a:fillRect/>
          </a:stretch>
        </p:blipFill>
        <p:spPr>
          <a:xfrm>
            <a:off x="619049" y="4505249"/>
            <a:ext cx="152704" cy="114300"/>
          </a:xfrm>
          <a:prstGeom prst="rect">
            <a:avLst/>
          </a:prstGeom>
          <a:ln/>
        </p:spPr>
      </p:pic>
      <p:pic>
        <p:nvPicPr>
          <p:cNvPr id="32" name="Picture 31" descr="image.png"/>
          <p:cNvPicPr>
            <a:picLocks noChangeAspect="1"/>
          </p:cNvPicPr>
          <p:nvPr/>
        </p:nvPicPr>
        <p:blipFill>
          <a:blip r:embed="rId5"/>
          <a:stretch>
            <a:fillRect/>
          </a:stretch>
        </p:blipFill>
        <p:spPr>
          <a:xfrm>
            <a:off x="619049" y="4671670"/>
            <a:ext cx="3314700" cy="504748"/>
          </a:xfrm>
          <a:prstGeom prst="rect">
            <a:avLst/>
          </a:prstGeom>
          <a:ln/>
        </p:spPr>
      </p:pic>
      <p:sp>
        <p:nvSpPr>
          <p:cNvPr id="33" name="TextBox 32"/>
          <p:cNvSpPr txBox="1"/>
          <p:nvPr/>
        </p:nvSpPr>
        <p:spPr>
          <a:xfrm>
            <a:off x="619049" y="4671670"/>
            <a:ext cx="3314700" cy="505662"/>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pyannote.audio [84] (必要時のみ適用、負荷高)</a:t>
            </a:r>
          </a:p>
        </p:txBody>
      </p:sp>
      <p:sp>
        <p:nvSpPr>
          <p:cNvPr id="34" name="TextBox 33"/>
          <p:cNvSpPr txBox="1"/>
          <p:nvPr/>
        </p:nvSpPr>
        <p:spPr>
          <a:xfrm>
            <a:off x="1785823" y="4719218"/>
            <a:ext cx="257861" cy="143560"/>
          </a:xfrm>
          <a:prstGeom prst="rect">
            <a:avLst/>
          </a:prstGeom>
          <a:noFill/>
          <a:ln/>
        </p:spPr>
        <p:txBody>
          <a:bodyPr wrap="square" lIns="0" rIns="0" tIns="0" bIns="0">
            <a:noAutofit/>
          </a:bodyPr>
          <a:lstStyle/>
          <a:p>
            <a:r>
              <a:rPr sz="800">
                <a:solidFill>
                  <a:srgbClr val="888888"/>
                </a:solidFill>
                <a:latin typeface="Noto Sans JP"/>
              </a:rPr>
              <a:t>[84]</a:t>
            </a:r>
          </a:p>
        </p:txBody>
      </p:sp>
      <p:sp>
        <p:nvSpPr>
          <p:cNvPr id="35" name="TextBox 34"/>
          <p:cNvSpPr txBox="1"/>
          <p:nvPr/>
        </p:nvSpPr>
        <p:spPr>
          <a:xfrm>
            <a:off x="800100" y="5251399"/>
            <a:ext cx="3247949" cy="162763"/>
          </a:xfrm>
          <a:prstGeom prst="rect">
            <a:avLst/>
          </a:prstGeom>
          <a:noFill/>
          <a:ln/>
        </p:spPr>
        <p:txBody>
          <a:bodyPr wrap="square" lIns="0" rIns="0" tIns="0" bIns="0">
            <a:noAutofit/>
          </a:bodyPr>
          <a:lstStyle/>
          <a:p>
            <a:r>
              <a:rPr sz="900" b="1">
                <a:solidFill>
                  <a:srgbClr val="86868B"/>
                </a:solidFill>
                <a:latin typeface="Noto Sans JP"/>
              </a:rPr>
              <a:t> LLM (要約・抽出)</a:t>
            </a:r>
          </a:p>
        </p:txBody>
      </p:sp>
      <p:pic>
        <p:nvPicPr>
          <p:cNvPr id="36" name="Picture 35" descr="image.png"/>
          <p:cNvPicPr>
            <a:picLocks noChangeAspect="1"/>
          </p:cNvPicPr>
          <p:nvPr/>
        </p:nvPicPr>
        <p:blipFill>
          <a:blip r:embed="rId8"/>
          <a:stretch>
            <a:fillRect/>
          </a:stretch>
        </p:blipFill>
        <p:spPr>
          <a:xfrm>
            <a:off x="619049" y="5275174"/>
            <a:ext cx="123443" cy="114300"/>
          </a:xfrm>
          <a:prstGeom prst="rect">
            <a:avLst/>
          </a:prstGeom>
          <a:ln/>
        </p:spPr>
      </p:pic>
      <p:pic>
        <p:nvPicPr>
          <p:cNvPr id="37" name="Picture 36" descr="image.png"/>
          <p:cNvPicPr>
            <a:picLocks noChangeAspect="1"/>
          </p:cNvPicPr>
          <p:nvPr/>
        </p:nvPicPr>
        <p:blipFill>
          <a:blip r:embed="rId9"/>
          <a:stretch>
            <a:fillRect/>
          </a:stretch>
        </p:blipFill>
        <p:spPr>
          <a:xfrm>
            <a:off x="619049" y="5441594"/>
            <a:ext cx="3314700" cy="495605"/>
          </a:xfrm>
          <a:prstGeom prst="rect">
            <a:avLst/>
          </a:prstGeom>
          <a:ln/>
        </p:spPr>
      </p:pic>
      <p:sp>
        <p:nvSpPr>
          <p:cNvPr id="38" name="TextBox 37"/>
          <p:cNvSpPr txBox="1"/>
          <p:nvPr/>
        </p:nvSpPr>
        <p:spPr>
          <a:xfrm>
            <a:off x="619049" y="5441594"/>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7B級 (Qwen2.5等) 要約・論点・ToDo抽出</a:t>
            </a:r>
          </a:p>
        </p:txBody>
      </p:sp>
      <p:pic>
        <p:nvPicPr>
          <p:cNvPr id="39" name="Picture 38" descr="image.png"/>
          <p:cNvPicPr>
            <a:picLocks noChangeAspect="1"/>
          </p:cNvPicPr>
          <p:nvPr/>
        </p:nvPicPr>
        <p:blipFill>
          <a:blip r:embed="rId10"/>
          <a:stretch>
            <a:fillRect/>
          </a:stretch>
        </p:blipFill>
        <p:spPr>
          <a:xfrm>
            <a:off x="619049" y="6243523"/>
            <a:ext cx="1295705" cy="209398"/>
          </a:xfrm>
          <a:prstGeom prst="rect">
            <a:avLst/>
          </a:prstGeom>
          <a:ln/>
        </p:spPr>
      </p:pic>
      <p:sp>
        <p:nvSpPr>
          <p:cNvPr id="40" name="TextBox 39"/>
          <p:cNvSpPr txBox="1"/>
          <p:nvPr/>
        </p:nvSpPr>
        <p:spPr>
          <a:xfrm>
            <a:off x="790956" y="6243523"/>
            <a:ext cx="1123797" cy="210312"/>
          </a:xfrm>
          <a:prstGeom prst="rect">
            <a:avLst/>
          </a:prstGeom>
          <a:noFill/>
          <a:ln>
            <a:solidFill>
              <a:srgbClr val="FFFFFF"/>
            </a:solidFill>
          </a:ln>
        </p:spPr>
        <p:txBody>
          <a:bodyPr wrap="square" lIns="0" rIns="0" tIns="0" bIns="0">
            <a:noAutofit/>
          </a:bodyPr>
          <a:lstStyle/>
          <a:p>
            <a:r>
              <a:rPr sz="800">
                <a:solidFill>
                  <a:srgbClr val="666666"/>
                </a:solidFill>
                <a:latin typeface="Noto Sans JP"/>
              </a:rPr>
              <a:t>個人利用 / 小規模MTG</a:t>
            </a:r>
          </a:p>
        </p:txBody>
      </p:sp>
      <p:pic>
        <p:nvPicPr>
          <p:cNvPr id="41" name="Picture 40" descr="image.png"/>
          <p:cNvPicPr>
            <a:picLocks noChangeAspect="1"/>
          </p:cNvPicPr>
          <p:nvPr/>
        </p:nvPicPr>
        <p:blipFill>
          <a:blip r:embed="rId11"/>
          <a:stretch>
            <a:fillRect/>
          </a:stretch>
        </p:blipFill>
        <p:spPr>
          <a:xfrm>
            <a:off x="694944" y="6304788"/>
            <a:ext cx="95098" cy="105155"/>
          </a:xfrm>
          <a:prstGeom prst="rect">
            <a:avLst/>
          </a:prstGeom>
          <a:ln/>
        </p:spPr>
      </p:pic>
      <p:sp>
        <p:nvSpPr>
          <p:cNvPr id="42" name="Rectangle 41"/>
          <p:cNvSpPr/>
          <p:nvPr/>
        </p:nvSpPr>
        <p:spPr>
          <a:xfrm>
            <a:off x="4280306"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89450" y="2017166"/>
            <a:ext cx="3619195" cy="5330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486400"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mage.png"/>
          <p:cNvPicPr>
            <a:picLocks noChangeAspect="1"/>
          </p:cNvPicPr>
          <p:nvPr/>
        </p:nvPicPr>
        <p:blipFill>
          <a:blip r:embed="rId12"/>
          <a:stretch>
            <a:fillRect/>
          </a:stretch>
        </p:blipFill>
        <p:spPr>
          <a:xfrm>
            <a:off x="5553151" y="2217420"/>
            <a:ext cx="133501" cy="133501"/>
          </a:xfrm>
          <a:prstGeom prst="rect">
            <a:avLst/>
          </a:prstGeom>
          <a:ln/>
        </p:spPr>
      </p:pic>
      <p:sp>
        <p:nvSpPr>
          <p:cNvPr id="46" name="TextBox 45"/>
          <p:cNvSpPr txBox="1"/>
          <p:nvPr/>
        </p:nvSpPr>
        <p:spPr>
          <a:xfrm>
            <a:off x="5848502" y="2159813"/>
            <a:ext cx="933601" cy="247801"/>
          </a:xfrm>
          <a:prstGeom prst="rect">
            <a:avLst/>
          </a:prstGeom>
          <a:noFill/>
          <a:ln/>
        </p:spPr>
        <p:txBody>
          <a:bodyPr wrap="square" lIns="0" rIns="0" tIns="0" bIns="0">
            <a:noAutofit/>
          </a:bodyPr>
          <a:lstStyle/>
          <a:p>
            <a:r>
              <a:rPr sz="1300" b="1">
                <a:solidFill>
                  <a:srgbClr val="FFFFFF"/>
                </a:solidFill>
                <a:latin typeface="Noto Sans JP"/>
              </a:rPr>
              <a:t>高品質構成</a:t>
            </a:r>
          </a:p>
        </p:txBody>
      </p:sp>
      <p:sp>
        <p:nvSpPr>
          <p:cNvPr id="47" name="Rectangle 46"/>
          <p:cNvSpPr/>
          <p:nvPr/>
        </p:nvSpPr>
        <p:spPr>
          <a:xfrm>
            <a:off x="4442155" y="4313225"/>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23206" y="2702966"/>
            <a:ext cx="3247948" cy="162762"/>
          </a:xfrm>
          <a:prstGeom prst="rect">
            <a:avLst/>
          </a:prstGeom>
          <a:noFill/>
          <a:ln/>
        </p:spPr>
        <p:txBody>
          <a:bodyPr wrap="square" lIns="0" rIns="0" tIns="0" bIns="0">
            <a:noAutofit/>
          </a:bodyPr>
          <a:lstStyle/>
          <a:p>
            <a:r>
              <a:rPr sz="900" b="1">
                <a:solidFill>
                  <a:srgbClr val="86868B"/>
                </a:solidFill>
                <a:latin typeface="Noto Sans JP"/>
              </a:rPr>
              <a:t> ASR (GPU加速)</a:t>
            </a:r>
          </a:p>
        </p:txBody>
      </p:sp>
      <p:pic>
        <p:nvPicPr>
          <p:cNvPr id="49" name="Picture 48" descr="image.png"/>
          <p:cNvPicPr>
            <a:picLocks noChangeAspect="1"/>
          </p:cNvPicPr>
          <p:nvPr/>
        </p:nvPicPr>
        <p:blipFill>
          <a:blip r:embed="rId13"/>
          <a:stretch>
            <a:fillRect/>
          </a:stretch>
        </p:blipFill>
        <p:spPr>
          <a:xfrm>
            <a:off x="4442155" y="2726741"/>
            <a:ext cx="123444" cy="114300"/>
          </a:xfrm>
          <a:prstGeom prst="rect">
            <a:avLst/>
          </a:prstGeom>
          <a:ln/>
        </p:spPr>
      </p:pic>
      <p:pic>
        <p:nvPicPr>
          <p:cNvPr id="50" name="Picture 49" descr="image.png"/>
          <p:cNvPicPr>
            <a:picLocks noChangeAspect="1"/>
          </p:cNvPicPr>
          <p:nvPr/>
        </p:nvPicPr>
        <p:blipFill>
          <a:blip r:embed="rId5"/>
          <a:stretch>
            <a:fillRect/>
          </a:stretch>
        </p:blipFill>
        <p:spPr>
          <a:xfrm>
            <a:off x="4442155" y="2894076"/>
            <a:ext cx="3314700" cy="504748"/>
          </a:xfrm>
          <a:prstGeom prst="rect">
            <a:avLst/>
          </a:prstGeom>
          <a:ln/>
        </p:spPr>
      </p:pic>
      <p:sp>
        <p:nvSpPr>
          <p:cNvPr id="51" name="TextBox 50"/>
          <p:cNvSpPr txBox="1"/>
          <p:nvPr/>
        </p:nvSpPr>
        <p:spPr>
          <a:xfrm>
            <a:off x="4442155" y="2894076"/>
            <a:ext cx="3314700" cy="505663"/>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faster-whisper (GPU) 大型Whisperも視野 [48,50]</a:t>
            </a:r>
          </a:p>
        </p:txBody>
      </p:sp>
      <p:sp>
        <p:nvSpPr>
          <p:cNvPr id="52" name="TextBox 51"/>
          <p:cNvSpPr txBox="1"/>
          <p:nvPr/>
        </p:nvSpPr>
        <p:spPr>
          <a:xfrm>
            <a:off x="5760720" y="3128162"/>
            <a:ext cx="391363" cy="143560"/>
          </a:xfrm>
          <a:prstGeom prst="rect">
            <a:avLst/>
          </a:prstGeom>
          <a:noFill/>
          <a:ln/>
        </p:spPr>
        <p:txBody>
          <a:bodyPr wrap="square" lIns="0" rIns="0" tIns="0" bIns="0">
            <a:noAutofit/>
          </a:bodyPr>
          <a:lstStyle/>
          <a:p>
            <a:r>
              <a:rPr sz="800">
                <a:solidFill>
                  <a:srgbClr val="888888"/>
                </a:solidFill>
                <a:latin typeface="Noto Sans JP"/>
              </a:rPr>
              <a:t>[48,50]</a:t>
            </a:r>
          </a:p>
        </p:txBody>
      </p:sp>
      <p:sp>
        <p:nvSpPr>
          <p:cNvPr id="53" name="TextBox 52"/>
          <p:cNvSpPr txBox="1"/>
          <p:nvPr/>
        </p:nvSpPr>
        <p:spPr>
          <a:xfrm>
            <a:off x="4623206" y="3472891"/>
            <a:ext cx="3324758" cy="162763"/>
          </a:xfrm>
          <a:prstGeom prst="rect">
            <a:avLst/>
          </a:prstGeom>
          <a:noFill/>
          <a:ln/>
        </p:spPr>
        <p:txBody>
          <a:bodyPr wrap="square" lIns="0" rIns="0" tIns="0" bIns="0">
            <a:noAutofit/>
          </a:bodyPr>
          <a:lstStyle/>
          <a:p>
            <a:r>
              <a:rPr sz="900" b="1">
                <a:solidFill>
                  <a:srgbClr val="86868B"/>
                </a:solidFill>
                <a:latin typeface="Noto Sans JP"/>
              </a:rPr>
              <a:t> タイムスタンプ</a:t>
            </a:r>
          </a:p>
        </p:txBody>
      </p:sp>
      <p:pic>
        <p:nvPicPr>
          <p:cNvPr id="54" name="Picture 53" descr="image.png"/>
          <p:cNvPicPr>
            <a:picLocks noChangeAspect="1"/>
          </p:cNvPicPr>
          <p:nvPr/>
        </p:nvPicPr>
        <p:blipFill>
          <a:blip r:embed="rId14"/>
          <a:stretch>
            <a:fillRect/>
          </a:stretch>
        </p:blipFill>
        <p:spPr>
          <a:xfrm>
            <a:off x="4442155" y="3496666"/>
            <a:ext cx="123444" cy="114300"/>
          </a:xfrm>
          <a:prstGeom prst="rect">
            <a:avLst/>
          </a:prstGeom>
          <a:ln/>
        </p:spPr>
      </p:pic>
      <p:pic>
        <p:nvPicPr>
          <p:cNvPr id="55" name="Picture 54" descr="image.png"/>
          <p:cNvPicPr>
            <a:picLocks noChangeAspect="1"/>
          </p:cNvPicPr>
          <p:nvPr/>
        </p:nvPicPr>
        <p:blipFill>
          <a:blip r:embed="rId9"/>
          <a:stretch>
            <a:fillRect/>
          </a:stretch>
        </p:blipFill>
        <p:spPr>
          <a:xfrm>
            <a:off x="4442155" y="3664001"/>
            <a:ext cx="3314700" cy="495605"/>
          </a:xfrm>
          <a:prstGeom prst="rect">
            <a:avLst/>
          </a:prstGeom>
          <a:ln/>
        </p:spPr>
      </p:pic>
      <p:sp>
        <p:nvSpPr>
          <p:cNvPr id="56" name="TextBox 55"/>
          <p:cNvSpPr txBox="1"/>
          <p:nvPr/>
        </p:nvSpPr>
        <p:spPr>
          <a:xfrm>
            <a:off x="4442155" y="3664001"/>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ASRタイムスタンプ活用 各要点に元発話時刻を付与</a:t>
            </a:r>
          </a:p>
        </p:txBody>
      </p:sp>
      <p:sp>
        <p:nvSpPr>
          <p:cNvPr id="57" name="Rectangle 56"/>
          <p:cNvSpPr/>
          <p:nvPr/>
        </p:nvSpPr>
        <p:spPr>
          <a:xfrm>
            <a:off x="4442155" y="6076188"/>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23206" y="4465930"/>
            <a:ext cx="3247948" cy="162763"/>
          </a:xfrm>
          <a:prstGeom prst="rect">
            <a:avLst/>
          </a:prstGeom>
          <a:noFill/>
          <a:ln/>
        </p:spPr>
        <p:txBody>
          <a:bodyPr wrap="square" lIns="0" rIns="0" tIns="0" bIns="0">
            <a:noAutofit/>
          </a:bodyPr>
          <a:lstStyle/>
          <a:p>
            <a:r>
              <a:rPr sz="900" b="1">
                <a:solidFill>
                  <a:srgbClr val="86868B"/>
                </a:solidFill>
                <a:latin typeface="Noto Sans JP"/>
              </a:rPr>
              <a:t> LLM (高度な分析)</a:t>
            </a:r>
          </a:p>
        </p:txBody>
      </p:sp>
      <p:pic>
        <p:nvPicPr>
          <p:cNvPr id="59" name="Picture 58" descr="image.png"/>
          <p:cNvPicPr>
            <a:picLocks noChangeAspect="1"/>
          </p:cNvPicPr>
          <p:nvPr/>
        </p:nvPicPr>
        <p:blipFill>
          <a:blip r:embed="rId15"/>
          <a:stretch>
            <a:fillRect/>
          </a:stretch>
        </p:blipFill>
        <p:spPr>
          <a:xfrm>
            <a:off x="4442155" y="4489704"/>
            <a:ext cx="123444" cy="114300"/>
          </a:xfrm>
          <a:prstGeom prst="rect">
            <a:avLst/>
          </a:prstGeom>
          <a:ln/>
        </p:spPr>
      </p:pic>
      <p:pic>
        <p:nvPicPr>
          <p:cNvPr id="60" name="Picture 59" descr="image.png"/>
          <p:cNvPicPr>
            <a:picLocks noChangeAspect="1"/>
          </p:cNvPicPr>
          <p:nvPr/>
        </p:nvPicPr>
        <p:blipFill>
          <a:blip r:embed="rId5"/>
          <a:stretch>
            <a:fillRect/>
          </a:stretch>
        </p:blipFill>
        <p:spPr>
          <a:xfrm>
            <a:off x="4442155" y="4656125"/>
            <a:ext cx="3314700" cy="504748"/>
          </a:xfrm>
          <a:prstGeom prst="rect">
            <a:avLst/>
          </a:prstGeom>
          <a:ln/>
        </p:spPr>
      </p:pic>
      <p:sp>
        <p:nvSpPr>
          <p:cNvPr id="61" name="TextBox 60"/>
          <p:cNvSpPr txBox="1"/>
          <p:nvPr/>
        </p:nvSpPr>
        <p:spPr>
          <a:xfrm>
            <a:off x="4442155" y="4656125"/>
            <a:ext cx="3314700" cy="505662"/>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32B〜70B級 KV最適化 (FP8 KV等) [5–7]</a:t>
            </a:r>
          </a:p>
        </p:txBody>
      </p:sp>
      <p:sp>
        <p:nvSpPr>
          <p:cNvPr id="62" name="TextBox 61"/>
          <p:cNvSpPr txBox="1"/>
          <p:nvPr/>
        </p:nvSpPr>
        <p:spPr>
          <a:xfrm>
            <a:off x="5832043" y="4890211"/>
            <a:ext cx="305410" cy="143560"/>
          </a:xfrm>
          <a:prstGeom prst="rect">
            <a:avLst/>
          </a:prstGeom>
          <a:noFill/>
          <a:ln/>
        </p:spPr>
        <p:txBody>
          <a:bodyPr wrap="square" lIns="0" rIns="0" tIns="0" bIns="0">
            <a:noAutofit/>
          </a:bodyPr>
          <a:lstStyle/>
          <a:p>
            <a:r>
              <a:rPr sz="800">
                <a:solidFill>
                  <a:srgbClr val="888888"/>
                </a:solidFill>
                <a:latin typeface="Noto Sans JP"/>
              </a:rPr>
              <a:t>[5–7]</a:t>
            </a:r>
          </a:p>
        </p:txBody>
      </p:sp>
      <p:sp>
        <p:nvSpPr>
          <p:cNvPr id="63" name="TextBox 62"/>
          <p:cNvSpPr txBox="1"/>
          <p:nvPr/>
        </p:nvSpPr>
        <p:spPr>
          <a:xfrm>
            <a:off x="4623206" y="5235854"/>
            <a:ext cx="3324758" cy="162763"/>
          </a:xfrm>
          <a:prstGeom prst="rect">
            <a:avLst/>
          </a:prstGeom>
          <a:noFill/>
          <a:ln/>
        </p:spPr>
        <p:txBody>
          <a:bodyPr wrap="square" lIns="0" rIns="0" tIns="0" bIns="0">
            <a:noAutofit/>
          </a:bodyPr>
          <a:lstStyle/>
          <a:p>
            <a:r>
              <a:rPr sz="900" b="1">
                <a:solidFill>
                  <a:srgbClr val="86868B"/>
                </a:solidFill>
                <a:latin typeface="Noto Sans JP"/>
              </a:rPr>
              <a:t> 検証・品質</a:t>
            </a:r>
          </a:p>
        </p:txBody>
      </p:sp>
      <p:pic>
        <p:nvPicPr>
          <p:cNvPr id="64" name="Picture 63" descr="image.png"/>
          <p:cNvPicPr>
            <a:picLocks noChangeAspect="1"/>
          </p:cNvPicPr>
          <p:nvPr/>
        </p:nvPicPr>
        <p:blipFill>
          <a:blip r:embed="rId16"/>
          <a:stretch>
            <a:fillRect/>
          </a:stretch>
        </p:blipFill>
        <p:spPr>
          <a:xfrm>
            <a:off x="4442155" y="5259629"/>
            <a:ext cx="123444" cy="114300"/>
          </a:xfrm>
          <a:prstGeom prst="rect">
            <a:avLst/>
          </a:prstGeom>
          <a:ln/>
        </p:spPr>
      </p:pic>
      <p:pic>
        <p:nvPicPr>
          <p:cNvPr id="65" name="Picture 64" descr="image.png"/>
          <p:cNvPicPr>
            <a:picLocks noChangeAspect="1"/>
          </p:cNvPicPr>
          <p:nvPr/>
        </p:nvPicPr>
        <p:blipFill>
          <a:blip r:embed="rId9"/>
          <a:stretch>
            <a:fillRect/>
          </a:stretch>
        </p:blipFill>
        <p:spPr>
          <a:xfrm>
            <a:off x="4442155" y="5426050"/>
            <a:ext cx="3314700" cy="495605"/>
          </a:xfrm>
          <a:prstGeom prst="rect">
            <a:avLst/>
          </a:prstGeom>
          <a:ln/>
        </p:spPr>
      </p:pic>
      <p:sp>
        <p:nvSpPr>
          <p:cNvPr id="66" name="TextBox 65"/>
          <p:cNvSpPr txBox="1"/>
          <p:nvPr/>
        </p:nvSpPr>
        <p:spPr>
          <a:xfrm>
            <a:off x="4442155" y="5426050"/>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発話と要約の突合検証 文脈保持とアクション紐付け</a:t>
            </a:r>
          </a:p>
        </p:txBody>
      </p:sp>
      <p:pic>
        <p:nvPicPr>
          <p:cNvPr id="67" name="Picture 66" descr="image.png"/>
          <p:cNvPicPr>
            <a:picLocks noChangeAspect="1"/>
          </p:cNvPicPr>
          <p:nvPr/>
        </p:nvPicPr>
        <p:blipFill>
          <a:blip r:embed="rId17"/>
          <a:stretch>
            <a:fillRect/>
          </a:stretch>
        </p:blipFill>
        <p:spPr>
          <a:xfrm>
            <a:off x="4442155" y="6243523"/>
            <a:ext cx="1285646" cy="209398"/>
          </a:xfrm>
          <a:prstGeom prst="rect">
            <a:avLst/>
          </a:prstGeom>
          <a:ln/>
        </p:spPr>
      </p:pic>
      <p:sp>
        <p:nvSpPr>
          <p:cNvPr id="68" name="TextBox 67"/>
          <p:cNvSpPr txBox="1"/>
          <p:nvPr/>
        </p:nvSpPr>
        <p:spPr>
          <a:xfrm>
            <a:off x="4614062" y="6243523"/>
            <a:ext cx="1114653" cy="210312"/>
          </a:xfrm>
          <a:prstGeom prst="rect">
            <a:avLst/>
          </a:prstGeom>
          <a:noFill/>
          <a:ln>
            <a:solidFill>
              <a:srgbClr val="FFFFFF"/>
            </a:solidFill>
          </a:ln>
        </p:spPr>
        <p:txBody>
          <a:bodyPr wrap="square" lIns="0" rIns="0" tIns="0" bIns="0">
            <a:noAutofit/>
          </a:bodyPr>
          <a:lstStyle/>
          <a:p>
            <a:r>
              <a:rPr sz="800">
                <a:solidFill>
                  <a:srgbClr val="666666"/>
                </a:solidFill>
                <a:latin typeface="Noto Sans JP"/>
              </a:rPr>
              <a:t>公式議事録 / 業務記録</a:t>
            </a:r>
          </a:p>
        </p:txBody>
      </p:sp>
      <p:pic>
        <p:nvPicPr>
          <p:cNvPr id="69" name="Picture 68" descr="image.png"/>
          <p:cNvPicPr>
            <a:picLocks noChangeAspect="1"/>
          </p:cNvPicPr>
          <p:nvPr/>
        </p:nvPicPr>
        <p:blipFill>
          <a:blip r:embed="rId11"/>
          <a:stretch>
            <a:fillRect/>
          </a:stretch>
        </p:blipFill>
        <p:spPr>
          <a:xfrm>
            <a:off x="4518050" y="6304788"/>
            <a:ext cx="95098" cy="105155"/>
          </a:xfrm>
          <a:prstGeom prst="rect">
            <a:avLst/>
          </a:prstGeom>
          <a:ln/>
        </p:spPr>
      </p:pic>
      <p:sp>
        <p:nvSpPr>
          <p:cNvPr id="70" name="Rectangle 69"/>
          <p:cNvSpPr/>
          <p:nvPr/>
        </p:nvSpPr>
        <p:spPr>
          <a:xfrm>
            <a:off x="8102497" y="2008022"/>
            <a:ext cx="3638398" cy="461040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112557" y="2017166"/>
            <a:ext cx="3619195" cy="5330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137599" y="2150669"/>
            <a:ext cx="267005" cy="267005"/>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image.png"/>
          <p:cNvPicPr>
            <a:picLocks noChangeAspect="1"/>
          </p:cNvPicPr>
          <p:nvPr/>
        </p:nvPicPr>
        <p:blipFill>
          <a:blip r:embed="rId18"/>
          <a:stretch>
            <a:fillRect/>
          </a:stretch>
        </p:blipFill>
        <p:spPr>
          <a:xfrm>
            <a:off x="9204350" y="2217420"/>
            <a:ext cx="133502" cy="133501"/>
          </a:xfrm>
          <a:prstGeom prst="rect">
            <a:avLst/>
          </a:prstGeom>
          <a:ln/>
        </p:spPr>
      </p:pic>
      <p:sp>
        <p:nvSpPr>
          <p:cNvPr id="74" name="TextBox 73"/>
          <p:cNvSpPr txBox="1"/>
          <p:nvPr/>
        </p:nvSpPr>
        <p:spPr>
          <a:xfrm>
            <a:off x="9499702" y="2159813"/>
            <a:ext cx="1296619" cy="247801"/>
          </a:xfrm>
          <a:prstGeom prst="rect">
            <a:avLst/>
          </a:prstGeom>
          <a:noFill/>
          <a:ln/>
        </p:spPr>
        <p:txBody>
          <a:bodyPr wrap="square" lIns="0" rIns="0" tIns="0" bIns="0">
            <a:noAutofit/>
          </a:bodyPr>
          <a:lstStyle/>
          <a:p>
            <a:r>
              <a:rPr sz="1300" b="1">
                <a:solidFill>
                  <a:srgbClr val="FFFFFF"/>
                </a:solidFill>
                <a:latin typeface="Noto Sans JP"/>
              </a:rPr>
              <a:t>ハード制約構成</a:t>
            </a:r>
          </a:p>
        </p:txBody>
      </p:sp>
      <p:sp>
        <p:nvSpPr>
          <p:cNvPr id="75" name="Rectangle 74"/>
          <p:cNvSpPr/>
          <p:nvPr/>
        </p:nvSpPr>
        <p:spPr>
          <a:xfrm>
            <a:off x="8264347" y="4294022"/>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45398" y="2702966"/>
            <a:ext cx="3324758" cy="162762"/>
          </a:xfrm>
          <a:prstGeom prst="rect">
            <a:avLst/>
          </a:prstGeom>
          <a:noFill/>
          <a:ln/>
        </p:spPr>
        <p:txBody>
          <a:bodyPr wrap="square" lIns="0" rIns="0" tIns="0" bIns="0">
            <a:noAutofit/>
          </a:bodyPr>
          <a:lstStyle/>
          <a:p>
            <a:r>
              <a:rPr sz="900" b="1">
                <a:solidFill>
                  <a:srgbClr val="86868B"/>
                </a:solidFill>
                <a:latin typeface="Noto Sans JP"/>
              </a:rPr>
              <a:t> 機能縮退</a:t>
            </a:r>
          </a:p>
        </p:txBody>
      </p:sp>
      <p:pic>
        <p:nvPicPr>
          <p:cNvPr id="77" name="Picture 76" descr="image.png"/>
          <p:cNvPicPr>
            <a:picLocks noChangeAspect="1"/>
          </p:cNvPicPr>
          <p:nvPr/>
        </p:nvPicPr>
        <p:blipFill>
          <a:blip r:embed="rId19"/>
          <a:stretch>
            <a:fillRect/>
          </a:stretch>
        </p:blipFill>
        <p:spPr>
          <a:xfrm>
            <a:off x="8264347" y="2726741"/>
            <a:ext cx="123444" cy="114300"/>
          </a:xfrm>
          <a:prstGeom prst="rect">
            <a:avLst/>
          </a:prstGeom>
          <a:ln/>
        </p:spPr>
      </p:pic>
      <p:pic>
        <p:nvPicPr>
          <p:cNvPr id="78" name="Picture 77" descr="image.png"/>
          <p:cNvPicPr>
            <a:picLocks noChangeAspect="1"/>
          </p:cNvPicPr>
          <p:nvPr/>
        </p:nvPicPr>
        <p:blipFill>
          <a:blip r:embed="rId9"/>
          <a:stretch>
            <a:fillRect/>
          </a:stretch>
        </p:blipFill>
        <p:spPr>
          <a:xfrm>
            <a:off x="8264347" y="2894076"/>
            <a:ext cx="3314700" cy="495605"/>
          </a:xfrm>
          <a:prstGeom prst="rect">
            <a:avLst/>
          </a:prstGeom>
          <a:ln/>
        </p:spPr>
      </p:pic>
      <p:sp>
        <p:nvSpPr>
          <p:cNvPr id="79" name="TextBox 78"/>
          <p:cNvSpPr txBox="1"/>
          <p:nvPr/>
        </p:nvSpPr>
        <p:spPr>
          <a:xfrm>
            <a:off x="8264347" y="2894076"/>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話者分離を省略 「話者なし要約→タスク」へ縮退</a:t>
            </a:r>
          </a:p>
        </p:txBody>
      </p:sp>
      <p:sp>
        <p:nvSpPr>
          <p:cNvPr id="80" name="TextBox 79"/>
          <p:cNvSpPr txBox="1"/>
          <p:nvPr/>
        </p:nvSpPr>
        <p:spPr>
          <a:xfrm>
            <a:off x="8417052" y="3457346"/>
            <a:ext cx="3353105" cy="162763"/>
          </a:xfrm>
          <a:prstGeom prst="rect">
            <a:avLst/>
          </a:prstGeom>
          <a:noFill/>
          <a:ln/>
        </p:spPr>
        <p:txBody>
          <a:bodyPr wrap="square" lIns="0" rIns="0" tIns="0" bIns="0">
            <a:noAutofit/>
          </a:bodyPr>
          <a:lstStyle/>
          <a:p>
            <a:r>
              <a:rPr sz="900" b="1">
                <a:solidFill>
                  <a:srgbClr val="86868B"/>
                </a:solidFill>
                <a:latin typeface="Noto Sans JP"/>
              </a:rPr>
              <a:t> 処理タイミング</a:t>
            </a:r>
          </a:p>
        </p:txBody>
      </p:sp>
      <p:pic>
        <p:nvPicPr>
          <p:cNvPr id="81" name="Picture 80" descr="image.png"/>
          <p:cNvPicPr>
            <a:picLocks noChangeAspect="1"/>
          </p:cNvPicPr>
          <p:nvPr/>
        </p:nvPicPr>
        <p:blipFill>
          <a:blip r:embed="rId20"/>
          <a:stretch>
            <a:fillRect/>
          </a:stretch>
        </p:blipFill>
        <p:spPr>
          <a:xfrm>
            <a:off x="8264347" y="3481121"/>
            <a:ext cx="95097" cy="114300"/>
          </a:xfrm>
          <a:prstGeom prst="rect">
            <a:avLst/>
          </a:prstGeom>
          <a:ln/>
        </p:spPr>
      </p:pic>
      <p:pic>
        <p:nvPicPr>
          <p:cNvPr id="82" name="Picture 81" descr="image.png"/>
          <p:cNvPicPr>
            <a:picLocks noChangeAspect="1"/>
          </p:cNvPicPr>
          <p:nvPr/>
        </p:nvPicPr>
        <p:blipFill>
          <a:blip r:embed="rId9"/>
          <a:stretch>
            <a:fillRect/>
          </a:stretch>
        </p:blipFill>
        <p:spPr>
          <a:xfrm>
            <a:off x="8264347" y="3647541"/>
            <a:ext cx="3314700" cy="495605"/>
          </a:xfrm>
          <a:prstGeom prst="rect">
            <a:avLst/>
          </a:prstGeom>
          <a:ln/>
        </p:spPr>
      </p:pic>
      <p:sp>
        <p:nvSpPr>
          <p:cNvPr id="83" name="TextBox 82"/>
          <p:cNvSpPr txBox="1"/>
          <p:nvPr/>
        </p:nvSpPr>
        <p:spPr>
          <a:xfrm>
            <a:off x="8264347" y="3647541"/>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夜間バッチ処理 長時間の音声ファイルは非同期</a:t>
            </a:r>
          </a:p>
        </p:txBody>
      </p:sp>
      <p:sp>
        <p:nvSpPr>
          <p:cNvPr id="84" name="Rectangle 83"/>
          <p:cNvSpPr/>
          <p:nvPr/>
        </p:nvSpPr>
        <p:spPr>
          <a:xfrm>
            <a:off x="8264347" y="6040526"/>
            <a:ext cx="3314700" cy="9144"/>
          </a:xfrm>
          <a:prstGeom prst="rect">
            <a:avLst/>
          </a:prstGeom>
          <a:solidFill>
            <a:srgbClr val="EEEEEE"/>
          </a:solidFill>
          <a:ln w="1270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445398" y="4449470"/>
            <a:ext cx="3324758" cy="162763"/>
          </a:xfrm>
          <a:prstGeom prst="rect">
            <a:avLst/>
          </a:prstGeom>
          <a:noFill/>
          <a:ln/>
        </p:spPr>
        <p:txBody>
          <a:bodyPr wrap="square" lIns="0" rIns="0" tIns="0" bIns="0">
            <a:noAutofit/>
          </a:bodyPr>
          <a:lstStyle/>
          <a:p>
            <a:r>
              <a:rPr sz="900" b="1">
                <a:solidFill>
                  <a:srgbClr val="86868B"/>
                </a:solidFill>
                <a:latin typeface="Noto Sans JP"/>
              </a:rPr>
              <a:t> 軽量モデル</a:t>
            </a:r>
          </a:p>
        </p:txBody>
      </p:sp>
      <p:pic>
        <p:nvPicPr>
          <p:cNvPr id="86" name="Picture 85" descr="image.png"/>
          <p:cNvPicPr>
            <a:picLocks noChangeAspect="1"/>
          </p:cNvPicPr>
          <p:nvPr/>
        </p:nvPicPr>
        <p:blipFill>
          <a:blip r:embed="rId21"/>
          <a:stretch>
            <a:fillRect/>
          </a:stretch>
        </p:blipFill>
        <p:spPr>
          <a:xfrm>
            <a:off x="8264347" y="4473245"/>
            <a:ext cx="123444" cy="114300"/>
          </a:xfrm>
          <a:prstGeom prst="rect">
            <a:avLst/>
          </a:prstGeom>
          <a:ln/>
        </p:spPr>
      </p:pic>
      <p:pic>
        <p:nvPicPr>
          <p:cNvPr id="87" name="Picture 86" descr="image.png"/>
          <p:cNvPicPr>
            <a:picLocks noChangeAspect="1"/>
          </p:cNvPicPr>
          <p:nvPr/>
        </p:nvPicPr>
        <p:blipFill>
          <a:blip r:embed="rId9"/>
          <a:stretch>
            <a:fillRect/>
          </a:stretch>
        </p:blipFill>
        <p:spPr>
          <a:xfrm>
            <a:off x="8264347" y="4640580"/>
            <a:ext cx="3314700" cy="495605"/>
          </a:xfrm>
          <a:prstGeom prst="rect">
            <a:avLst/>
          </a:prstGeom>
          <a:ln/>
        </p:spPr>
      </p:pic>
      <p:sp>
        <p:nvSpPr>
          <p:cNvPr id="88" name="TextBox 87"/>
          <p:cNvSpPr txBox="1"/>
          <p:nvPr/>
        </p:nvSpPr>
        <p:spPr>
          <a:xfrm>
            <a:off x="8264347" y="4640580"/>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Whisper tiny/base + 3B級 LLM (Phi-3 mini等)</a:t>
            </a:r>
          </a:p>
        </p:txBody>
      </p:sp>
      <p:sp>
        <p:nvSpPr>
          <p:cNvPr id="89" name="TextBox 88"/>
          <p:cNvSpPr txBox="1"/>
          <p:nvPr/>
        </p:nvSpPr>
        <p:spPr>
          <a:xfrm>
            <a:off x="8445398" y="5203850"/>
            <a:ext cx="3324758" cy="162763"/>
          </a:xfrm>
          <a:prstGeom prst="rect">
            <a:avLst/>
          </a:prstGeom>
          <a:noFill/>
          <a:ln/>
        </p:spPr>
        <p:txBody>
          <a:bodyPr wrap="square" lIns="0" rIns="0" tIns="0" bIns="0">
            <a:noAutofit/>
          </a:bodyPr>
          <a:lstStyle/>
          <a:p>
            <a:r>
              <a:rPr sz="900" b="1">
                <a:solidFill>
                  <a:srgbClr val="86868B"/>
                </a:solidFill>
                <a:latin typeface="Noto Sans JP"/>
              </a:rPr>
              <a:t> 目的限定</a:t>
            </a:r>
          </a:p>
        </p:txBody>
      </p:sp>
      <p:pic>
        <p:nvPicPr>
          <p:cNvPr id="90" name="Picture 89" descr="image.png"/>
          <p:cNvPicPr>
            <a:picLocks noChangeAspect="1"/>
          </p:cNvPicPr>
          <p:nvPr/>
        </p:nvPicPr>
        <p:blipFill>
          <a:blip r:embed="rId22"/>
          <a:stretch>
            <a:fillRect/>
          </a:stretch>
        </p:blipFill>
        <p:spPr>
          <a:xfrm>
            <a:off x="8264347" y="5227625"/>
            <a:ext cx="123444" cy="114300"/>
          </a:xfrm>
          <a:prstGeom prst="rect">
            <a:avLst/>
          </a:prstGeom>
          <a:ln/>
        </p:spPr>
      </p:pic>
      <p:pic>
        <p:nvPicPr>
          <p:cNvPr id="91" name="Picture 90" descr="image.png"/>
          <p:cNvPicPr>
            <a:picLocks noChangeAspect="1"/>
          </p:cNvPicPr>
          <p:nvPr/>
        </p:nvPicPr>
        <p:blipFill>
          <a:blip r:embed="rId9"/>
          <a:stretch>
            <a:fillRect/>
          </a:stretch>
        </p:blipFill>
        <p:spPr>
          <a:xfrm>
            <a:off x="8264347" y="5394960"/>
            <a:ext cx="3314700" cy="495605"/>
          </a:xfrm>
          <a:prstGeom prst="rect">
            <a:avLst/>
          </a:prstGeom>
          <a:ln/>
        </p:spPr>
      </p:pic>
      <p:sp>
        <p:nvSpPr>
          <p:cNvPr id="92" name="TextBox 91"/>
          <p:cNvSpPr txBox="1"/>
          <p:nvPr/>
        </p:nvSpPr>
        <p:spPr>
          <a:xfrm>
            <a:off x="8264347" y="5394960"/>
            <a:ext cx="3314700" cy="495605"/>
          </a:xfrm>
          <a:prstGeom prst="rect">
            <a:avLst/>
          </a:prstGeom>
          <a:noFill/>
          <a:ln>
            <a:solidFill>
              <a:srgbClr val="FFFFFF"/>
            </a:solidFill>
          </a:ln>
        </p:spPr>
        <p:txBody>
          <a:bodyPr wrap="square" lIns="0" rIns="0" tIns="0" bIns="0">
            <a:noAutofit/>
          </a:bodyPr>
          <a:lstStyle/>
          <a:p>
            <a:r>
              <a:rPr sz="1000">
                <a:solidFill>
                  <a:srgbClr val="1D1D1F"/>
                </a:solidFill>
                <a:latin typeface="Noto Sans JP"/>
              </a:rPr>
              <a:t>「決定事項のみ」抽出に特化 全文書き起こしは放棄</a:t>
            </a:r>
          </a:p>
        </p:txBody>
      </p:sp>
      <p:pic>
        <p:nvPicPr>
          <p:cNvPr id="93" name="Picture 92" descr="image.png"/>
          <p:cNvPicPr>
            <a:picLocks noChangeAspect="1"/>
          </p:cNvPicPr>
          <p:nvPr/>
        </p:nvPicPr>
        <p:blipFill>
          <a:blip r:embed="rId23"/>
          <a:stretch>
            <a:fillRect/>
          </a:stretch>
        </p:blipFill>
        <p:spPr>
          <a:xfrm>
            <a:off x="8264347" y="6243523"/>
            <a:ext cx="1485900" cy="209398"/>
          </a:xfrm>
          <a:prstGeom prst="rect">
            <a:avLst/>
          </a:prstGeom>
          <a:ln/>
        </p:spPr>
      </p:pic>
      <p:sp>
        <p:nvSpPr>
          <p:cNvPr id="94" name="TextBox 93"/>
          <p:cNvSpPr txBox="1"/>
          <p:nvPr/>
        </p:nvSpPr>
        <p:spPr>
          <a:xfrm>
            <a:off x="8436254" y="6243523"/>
            <a:ext cx="1313993" cy="210312"/>
          </a:xfrm>
          <a:prstGeom prst="rect">
            <a:avLst/>
          </a:prstGeom>
          <a:noFill/>
          <a:ln>
            <a:solidFill>
              <a:srgbClr val="FFFFFF"/>
            </a:solidFill>
          </a:ln>
        </p:spPr>
        <p:txBody>
          <a:bodyPr wrap="square" lIns="0" rIns="0" tIns="0" bIns="0">
            <a:noAutofit/>
          </a:bodyPr>
          <a:lstStyle/>
          <a:p>
            <a:r>
              <a:rPr sz="800">
                <a:solidFill>
                  <a:srgbClr val="666666"/>
                </a:solidFill>
                <a:latin typeface="Noto Sans JP"/>
              </a:rPr>
              <a:t>リソース極小 / バッチ処理</a:t>
            </a:r>
          </a:p>
        </p:txBody>
      </p:sp>
      <p:pic>
        <p:nvPicPr>
          <p:cNvPr id="95" name="Picture 94" descr="image.png"/>
          <p:cNvPicPr>
            <a:picLocks noChangeAspect="1"/>
          </p:cNvPicPr>
          <p:nvPr/>
        </p:nvPicPr>
        <p:blipFill>
          <a:blip r:embed="rId11"/>
          <a:stretch>
            <a:fillRect/>
          </a:stretch>
        </p:blipFill>
        <p:spPr>
          <a:xfrm>
            <a:off x="8341157" y="6304788"/>
            <a:ext cx="95097" cy="105155"/>
          </a:xfrm>
          <a:prstGeom prst="rect">
            <a:avLst/>
          </a:prstGeom>
          <a:ln/>
        </p:spPr>
      </p:pic>
      <p:sp>
        <p:nvSpPr>
          <p:cNvPr id="96" name="Rectangle 95"/>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7200" y="6590995"/>
            <a:ext cx="2392070" cy="162763"/>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99" name="TextBox 98"/>
          <p:cNvSpPr txBox="1"/>
          <p:nvPr/>
        </p:nvSpPr>
        <p:spPr>
          <a:xfrm>
            <a:off x="11385194" y="6590995"/>
            <a:ext cx="428854" cy="162763"/>
          </a:xfrm>
          <a:prstGeom prst="rect">
            <a:avLst/>
          </a:prstGeom>
          <a:noFill/>
          <a:ln/>
        </p:spPr>
        <p:txBody>
          <a:bodyPr wrap="square" lIns="0" rIns="0" tIns="0" bIns="0">
            <a:noAutofit/>
          </a:bodyPr>
          <a:lstStyle/>
          <a:p>
            <a:r>
              <a:rPr sz="900">
                <a:solidFill>
                  <a:srgbClr val="86868B"/>
                </a:solidFill>
                <a:latin typeface="Noto Sans JP"/>
              </a:rPr>
              <a:t>61 / 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p:spPr>
      </p:pic>
      <p:sp>
        <p:nvSpPr>
          <p:cNvPr id="8" name="TextBox 7"/>
          <p:cNvSpPr txBox="1"/>
          <p:nvPr/>
        </p:nvSpPr>
        <p:spPr>
          <a:xfrm>
            <a:off x="990294" y="228600"/>
            <a:ext cx="4772254" cy="457200"/>
          </a:xfrm>
          <a:prstGeom prst="rect">
            <a:avLst/>
          </a:prstGeom>
          <a:noFill/>
          <a:ln/>
        </p:spPr>
        <p:txBody>
          <a:bodyPr wrap="square" lIns="0" rIns="0" tIns="0" bIns="0">
            <a:noAutofit/>
          </a:bodyPr>
          <a:lstStyle/>
          <a:p>
            <a:r>
              <a:rPr sz="2400" b="1">
                <a:solidFill>
                  <a:srgbClr val="1D1D1F"/>
                </a:solidFill>
                <a:latin typeface="Noto Sans JP"/>
              </a:rPr>
              <a:t>会議議事録：失敗モードと回避策</a:t>
            </a:r>
          </a:p>
        </p:txBody>
      </p:sp>
      <p:sp>
        <p:nvSpPr>
          <p:cNvPr id="9" name="TextBox 8"/>
          <p:cNvSpPr txBox="1"/>
          <p:nvPr/>
        </p:nvSpPr>
        <p:spPr>
          <a:xfrm>
            <a:off x="10037369" y="328270"/>
            <a:ext cx="1841602" cy="257861"/>
          </a:xfrm>
          <a:prstGeom prst="rect">
            <a:avLst/>
          </a:prstGeom>
          <a:noFill/>
          <a:ln/>
        </p:spPr>
        <p:txBody>
          <a:bodyPr wrap="square" lIns="0" rIns="0" tIns="0" bIns="0">
            <a:noAutofit/>
          </a:bodyPr>
          <a:lstStyle/>
          <a:p>
            <a:r>
              <a:rPr sz="1300">
                <a:solidFill>
                  <a:srgbClr val="86868B"/>
                </a:solidFill>
                <a:latin typeface="Noto Sans JP"/>
              </a:rPr>
              <a:t>ユースケース詳細分析</a:t>
            </a:r>
          </a:p>
        </p:txBody>
      </p:sp>
      <p:pic>
        <p:nvPicPr>
          <p:cNvPr id="10" name="Picture 9" descr="image.png"/>
          <p:cNvPicPr>
            <a:picLocks noChangeAspect="1"/>
          </p:cNvPicPr>
          <p:nvPr/>
        </p:nvPicPr>
        <p:blipFill>
          <a:blip r:embed="rId3"/>
          <a:stretch>
            <a:fillRect/>
          </a:stretch>
        </p:blipFill>
        <p:spPr>
          <a:xfrm>
            <a:off x="457200" y="1304849"/>
            <a:ext cx="11277295" cy="1005840"/>
          </a:xfrm>
          <a:prstGeom prst="rect">
            <a:avLst/>
          </a:prstGeom>
          <a:ln/>
        </p:spPr>
      </p:pic>
      <p:sp>
        <p:nvSpPr>
          <p:cNvPr id="11" name="TextBox 10"/>
          <p:cNvSpPr txBox="1"/>
          <p:nvPr/>
        </p:nvSpPr>
        <p:spPr>
          <a:xfrm>
            <a:off x="743407" y="1495044"/>
            <a:ext cx="10849356" cy="629107"/>
          </a:xfrm>
          <a:prstGeom prst="rect">
            <a:avLst/>
          </a:prstGeom>
          <a:noFill/>
          <a:ln/>
        </p:spPr>
        <p:txBody>
          <a:bodyPr wrap="square" lIns="0" rIns="0" tIns="0" bIns="0">
            <a:noAutofit/>
          </a:bodyPr>
          <a:lstStyle/>
          <a:p>
            <a:r>
              <a:rPr sz="1800" b="1">
                <a:solidFill>
                  <a:srgbClr val="881337"/>
                </a:solidFill>
                <a:latin typeface="Noto Sans JP"/>
              </a:rPr>
              <a:t> 結論：話者誤割当・ASR幻覚・長時間処理の負荷を設計で抑止。</a:t>
            </a:r>
          </a:p>
          <a:p>
            <a:r>
              <a:rPr sz="1200" b="1">
                <a:solidFill>
                  <a:srgbClr val="374151"/>
                </a:solidFill>
                <a:latin typeface="Noto Sans JP"/>
              </a:rPr>
              <a:t>VAD（無音除去）の厳格化とタイムスタンプベースの検証が品質の防波堤となります。</a:t>
            </a:r>
          </a:p>
        </p:txBody>
      </p:sp>
      <p:sp>
        <p:nvSpPr>
          <p:cNvPr id="12" name="Rectangle 11"/>
          <p:cNvSpPr/>
          <p:nvPr/>
        </p:nvSpPr>
        <p:spPr>
          <a:xfrm>
            <a:off x="457200"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176626"/>
            <a:ext cx="5048401"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825496"/>
            <a:ext cx="190194" cy="190194"/>
          </a:xfrm>
          <a:prstGeom prst="rect">
            <a:avLst/>
          </a:prstGeom>
          <a:ln/>
        </p:spPr>
      </p:pic>
      <p:sp>
        <p:nvSpPr>
          <p:cNvPr id="15" name="TextBox 14"/>
          <p:cNvSpPr txBox="1"/>
          <p:nvPr/>
        </p:nvSpPr>
        <p:spPr>
          <a:xfrm>
            <a:off x="1000354" y="2777033"/>
            <a:ext cx="3096158" cy="419710"/>
          </a:xfrm>
          <a:prstGeom prst="rect">
            <a:avLst/>
          </a:prstGeom>
          <a:noFill/>
          <a:ln/>
        </p:spPr>
        <p:txBody>
          <a:bodyPr wrap="square" lIns="0" rIns="0" tIns="0" bIns="0">
            <a:noAutofit/>
          </a:bodyPr>
          <a:lstStyle/>
          <a:p>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713232" y="3434486"/>
            <a:ext cx="114300" cy="152705"/>
          </a:xfrm>
          <a:prstGeom prst="rect">
            <a:avLst/>
          </a:prstGeom>
          <a:ln/>
        </p:spPr>
      </p:pic>
      <p:sp>
        <p:nvSpPr>
          <p:cNvPr id="17" name="TextBox 16"/>
          <p:cNvSpPr txBox="1"/>
          <p:nvPr/>
        </p:nvSpPr>
        <p:spPr>
          <a:xfrm>
            <a:off x="961034" y="3348533"/>
            <a:ext cx="4905756" cy="257860"/>
          </a:xfrm>
          <a:prstGeom prst="rect">
            <a:avLst/>
          </a:prstGeom>
          <a:noFill/>
          <a:ln/>
        </p:spPr>
        <p:txBody>
          <a:bodyPr wrap="square" lIns="0" rIns="0" tIns="0" bIns="0">
            <a:noAutofit/>
          </a:bodyPr>
          <a:lstStyle/>
          <a:p>
            <a:r>
              <a:rPr sz="1300" b="1">
                <a:solidFill>
                  <a:srgbClr val="1F2937"/>
                </a:solidFill>
                <a:latin typeface="Noto Sans JP"/>
              </a:rPr>
              <a:t>話者誤割当（Diarization Error）</a:t>
            </a:r>
          </a:p>
        </p:txBody>
      </p:sp>
      <p:pic>
        <p:nvPicPr>
          <p:cNvPr id="18" name="Picture 17" descr="image.png"/>
          <p:cNvPicPr>
            <a:picLocks noChangeAspect="1"/>
          </p:cNvPicPr>
          <p:nvPr/>
        </p:nvPicPr>
        <p:blipFill>
          <a:blip r:embed="rId6"/>
          <a:stretch>
            <a:fillRect/>
          </a:stretch>
        </p:blipFill>
        <p:spPr>
          <a:xfrm>
            <a:off x="3609136" y="3396996"/>
            <a:ext cx="504748" cy="209398"/>
          </a:xfrm>
          <a:prstGeom prst="rect">
            <a:avLst/>
          </a:prstGeom>
          <a:ln/>
        </p:spPr>
      </p:pic>
      <p:sp>
        <p:nvSpPr>
          <p:cNvPr id="19" name="TextBox 18"/>
          <p:cNvSpPr txBox="1"/>
          <p:nvPr/>
        </p:nvSpPr>
        <p:spPr>
          <a:xfrm>
            <a:off x="3609136" y="3396996"/>
            <a:ext cx="505663" cy="210312"/>
          </a:xfrm>
          <a:prstGeom prst="rect">
            <a:avLst/>
          </a:prstGeom>
          <a:noFill/>
          <a:ln>
            <a:solidFill>
              <a:srgbClr val="FFFFFF"/>
            </a:solidFill>
          </a:ln>
        </p:spPr>
        <p:txBody>
          <a:bodyPr wrap="square" lIns="0" rIns="0" tIns="0" bIns="0">
            <a:noAutofit/>
          </a:bodyPr>
          <a:lstStyle/>
          <a:p>
            <a:r>
              <a:rPr sz="900" b="1">
                <a:solidFill>
                  <a:srgbClr val="991B1B"/>
                </a:solidFill>
                <a:latin typeface="Noto Sans JP"/>
              </a:rPr>
              <a:t>高頻度</a:t>
            </a:r>
          </a:p>
        </p:txBody>
      </p:sp>
      <p:sp>
        <p:nvSpPr>
          <p:cNvPr id="20" name="TextBox 19"/>
          <p:cNvSpPr txBox="1"/>
          <p:nvPr/>
        </p:nvSpPr>
        <p:spPr>
          <a:xfrm>
            <a:off x="961034" y="3643884"/>
            <a:ext cx="4867351" cy="428853"/>
          </a:xfrm>
          <a:prstGeom prst="rect">
            <a:avLst/>
          </a:prstGeom>
          <a:noFill/>
          <a:ln/>
        </p:spPr>
        <p:txBody>
          <a:bodyPr wrap="square" lIns="0" rIns="0" tIns="0" bIns="0">
            <a:noAutofit/>
          </a:bodyPr>
          <a:lstStyle/>
          <a:p>
            <a:r>
              <a:rPr sz="1100">
                <a:solidFill>
                  <a:srgbClr val="4B5563"/>
                </a:solidFill>
                <a:latin typeface="Noto Sans JP"/>
              </a:rPr>
              <a:t>発話の切れ目が不明確で、Aさんの発言がBさんとして記録される。特に割り込み発話で多発。</a:t>
            </a:r>
          </a:p>
        </p:txBody>
      </p:sp>
      <p:pic>
        <p:nvPicPr>
          <p:cNvPr id="21" name="Picture 20" descr="image.png"/>
          <p:cNvPicPr>
            <a:picLocks noChangeAspect="1"/>
          </p:cNvPicPr>
          <p:nvPr/>
        </p:nvPicPr>
        <p:blipFill>
          <a:blip r:embed="rId7"/>
          <a:stretch>
            <a:fillRect/>
          </a:stretch>
        </p:blipFill>
        <p:spPr>
          <a:xfrm>
            <a:off x="703174" y="4311396"/>
            <a:ext cx="114300" cy="152705"/>
          </a:xfrm>
          <a:prstGeom prst="rect">
            <a:avLst/>
          </a:prstGeom>
          <a:ln/>
        </p:spPr>
      </p:pic>
      <p:sp>
        <p:nvSpPr>
          <p:cNvPr id="22" name="TextBox 21"/>
          <p:cNvSpPr txBox="1"/>
          <p:nvPr/>
        </p:nvSpPr>
        <p:spPr>
          <a:xfrm>
            <a:off x="939088" y="4225442"/>
            <a:ext cx="4924958" cy="257860"/>
          </a:xfrm>
          <a:prstGeom prst="rect">
            <a:avLst/>
          </a:prstGeom>
          <a:noFill/>
          <a:ln/>
        </p:spPr>
        <p:txBody>
          <a:bodyPr wrap="square" lIns="0" rIns="0" tIns="0" bIns="0">
            <a:noAutofit/>
          </a:bodyPr>
          <a:lstStyle/>
          <a:p>
            <a:r>
              <a:rPr sz="1300" b="1">
                <a:solidFill>
                  <a:srgbClr val="1F2937"/>
                </a:solidFill>
                <a:latin typeface="Noto Sans JP"/>
              </a:rPr>
              <a:t>ASR幻覚（Hallucination）</a:t>
            </a:r>
          </a:p>
        </p:txBody>
      </p:sp>
      <p:pic>
        <p:nvPicPr>
          <p:cNvPr id="23" name="Picture 22" descr="image.png"/>
          <p:cNvPicPr>
            <a:picLocks noChangeAspect="1"/>
          </p:cNvPicPr>
          <p:nvPr/>
        </p:nvPicPr>
        <p:blipFill>
          <a:blip r:embed="rId6"/>
          <a:stretch>
            <a:fillRect/>
          </a:stretch>
        </p:blipFill>
        <p:spPr>
          <a:xfrm>
            <a:off x="3151022" y="4272991"/>
            <a:ext cx="504748" cy="209398"/>
          </a:xfrm>
          <a:prstGeom prst="rect">
            <a:avLst/>
          </a:prstGeom>
          <a:ln/>
        </p:spPr>
      </p:pic>
      <p:sp>
        <p:nvSpPr>
          <p:cNvPr id="24" name="TextBox 23"/>
          <p:cNvSpPr txBox="1"/>
          <p:nvPr/>
        </p:nvSpPr>
        <p:spPr>
          <a:xfrm>
            <a:off x="3151022" y="4272991"/>
            <a:ext cx="505662" cy="210312"/>
          </a:xfrm>
          <a:prstGeom prst="rect">
            <a:avLst/>
          </a:prstGeom>
          <a:noFill/>
          <a:ln>
            <a:solidFill>
              <a:srgbClr val="FFFFFF"/>
            </a:solidFill>
          </a:ln>
        </p:spPr>
        <p:txBody>
          <a:bodyPr wrap="square" lIns="0" rIns="0" tIns="0" bIns="0">
            <a:noAutofit/>
          </a:bodyPr>
          <a:lstStyle/>
          <a:p>
            <a:r>
              <a:rPr sz="900" b="1">
                <a:solidFill>
                  <a:srgbClr val="991B1B"/>
                </a:solidFill>
                <a:latin typeface="Noto Sans JP"/>
              </a:rPr>
              <a:t>致命的</a:t>
            </a:r>
          </a:p>
        </p:txBody>
      </p:sp>
      <p:sp>
        <p:nvSpPr>
          <p:cNvPr id="25" name="TextBox 24"/>
          <p:cNvSpPr txBox="1"/>
          <p:nvPr/>
        </p:nvSpPr>
        <p:spPr>
          <a:xfrm>
            <a:off x="939088" y="4520794"/>
            <a:ext cx="4886554" cy="428853"/>
          </a:xfrm>
          <a:prstGeom prst="rect">
            <a:avLst/>
          </a:prstGeom>
          <a:noFill/>
          <a:ln/>
        </p:spPr>
        <p:txBody>
          <a:bodyPr wrap="square" lIns="0" rIns="0" tIns="0" bIns="0">
            <a:noAutofit/>
          </a:bodyPr>
          <a:lstStyle/>
          <a:p>
            <a:r>
              <a:rPr sz="1100">
                <a:solidFill>
                  <a:srgbClr val="4B5563"/>
                </a:solidFill>
                <a:latin typeface="Noto Sans JP"/>
              </a:rPr>
              <a:t>無音区間やノイズに対して、存在しない文章（「ご視聴ありがとうございました」等）を生成してしまう現象。</a:t>
            </a:r>
          </a:p>
        </p:txBody>
      </p:sp>
      <p:pic>
        <p:nvPicPr>
          <p:cNvPr id="26" name="Picture 25" descr="image.png"/>
          <p:cNvPicPr>
            <a:picLocks noChangeAspect="1"/>
          </p:cNvPicPr>
          <p:nvPr/>
        </p:nvPicPr>
        <p:blipFill>
          <a:blip r:embed="rId8"/>
          <a:stretch>
            <a:fillRect/>
          </a:stretch>
        </p:blipFill>
        <p:spPr>
          <a:xfrm>
            <a:off x="712318" y="5187391"/>
            <a:ext cx="114300" cy="152705"/>
          </a:xfrm>
          <a:prstGeom prst="rect">
            <a:avLst/>
          </a:prstGeom>
          <a:ln/>
        </p:spPr>
      </p:pic>
      <p:sp>
        <p:nvSpPr>
          <p:cNvPr id="27" name="TextBox 26"/>
          <p:cNvSpPr txBox="1"/>
          <p:nvPr/>
        </p:nvSpPr>
        <p:spPr>
          <a:xfrm>
            <a:off x="958291" y="5101438"/>
            <a:ext cx="4981651" cy="257860"/>
          </a:xfrm>
          <a:prstGeom prst="rect">
            <a:avLst/>
          </a:prstGeom>
          <a:noFill/>
          <a:ln/>
        </p:spPr>
        <p:txBody>
          <a:bodyPr wrap="square" lIns="0" rIns="0" tIns="0" bIns="0">
            <a:noAutofit/>
          </a:bodyPr>
          <a:lstStyle/>
          <a:p>
            <a:r>
              <a:rPr sz="1300" b="1">
                <a:solidFill>
                  <a:srgbClr val="1F2937"/>
                </a:solidFill>
                <a:latin typeface="Noto Sans JP"/>
              </a:rPr>
              <a:t>長文による要点漏れ</a:t>
            </a:r>
          </a:p>
        </p:txBody>
      </p:sp>
      <p:sp>
        <p:nvSpPr>
          <p:cNvPr id="28" name="TextBox 27"/>
          <p:cNvSpPr txBox="1"/>
          <p:nvPr/>
        </p:nvSpPr>
        <p:spPr>
          <a:xfrm>
            <a:off x="958291" y="5396789"/>
            <a:ext cx="4867351" cy="428853"/>
          </a:xfrm>
          <a:prstGeom prst="rect">
            <a:avLst/>
          </a:prstGeom>
          <a:noFill/>
          <a:ln/>
        </p:spPr>
        <p:txBody>
          <a:bodyPr wrap="square" lIns="0" rIns="0" tIns="0" bIns="0">
            <a:noAutofit/>
          </a:bodyPr>
          <a:lstStyle/>
          <a:p>
            <a:r>
              <a:rPr sz="1100">
                <a:solidFill>
                  <a:srgbClr val="4B5563"/>
                </a:solidFill>
                <a:latin typeface="Noto Sans JP"/>
              </a:rPr>
              <a:t>コンテキスト長超過により、議論の後半や中間部分の重要決定事項がLLMの要約から欠落する。</a:t>
            </a:r>
          </a:p>
        </p:txBody>
      </p:sp>
      <p:sp>
        <p:nvSpPr>
          <p:cNvPr id="29" name="Rectangle 28"/>
          <p:cNvSpPr/>
          <p:nvPr/>
        </p:nvSpPr>
        <p:spPr>
          <a:xfrm>
            <a:off x="6210605" y="2539289"/>
            <a:ext cx="5524805" cy="3524098"/>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48349" y="3176626"/>
            <a:ext cx="50484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9"/>
          <a:stretch>
            <a:fillRect/>
          </a:stretch>
        </p:blipFill>
        <p:spPr>
          <a:xfrm>
            <a:off x="6448349" y="2825496"/>
            <a:ext cx="190195" cy="190194"/>
          </a:xfrm>
          <a:prstGeom prst="rect">
            <a:avLst/>
          </a:prstGeom>
          <a:ln/>
        </p:spPr>
      </p:pic>
      <p:sp>
        <p:nvSpPr>
          <p:cNvPr id="32" name="TextBox 31"/>
          <p:cNvSpPr txBox="1"/>
          <p:nvPr/>
        </p:nvSpPr>
        <p:spPr>
          <a:xfrm>
            <a:off x="6752844" y="2777033"/>
            <a:ext cx="2563063" cy="419710"/>
          </a:xfrm>
          <a:prstGeom prst="rect">
            <a:avLst/>
          </a:prstGeom>
          <a:noFill/>
          <a:ln/>
        </p:spPr>
        <p:txBody>
          <a:bodyPr wrap="square" lIns="0" rIns="0" tIns="0" bIns="0">
            <a:noAutofit/>
          </a:bodyPr>
          <a:lstStyle/>
          <a:p>
            <a:r>
              <a:rPr sz="1500" b="1">
                <a:solidFill>
                  <a:srgbClr val="1D1D1F"/>
                </a:solidFill>
                <a:latin typeface="Noto Sans JP"/>
              </a:rPr>
              <a:t>回避策と設計（Mitigation）</a:t>
            </a:r>
          </a:p>
        </p:txBody>
      </p:sp>
      <p:pic>
        <p:nvPicPr>
          <p:cNvPr id="33" name="Picture 32" descr="image.png"/>
          <p:cNvPicPr>
            <a:picLocks noChangeAspect="1"/>
          </p:cNvPicPr>
          <p:nvPr/>
        </p:nvPicPr>
        <p:blipFill>
          <a:blip r:embed="rId10"/>
          <a:stretch>
            <a:fillRect/>
          </a:stretch>
        </p:blipFill>
        <p:spPr>
          <a:xfrm>
            <a:off x="6455664" y="3434486"/>
            <a:ext cx="133501" cy="152705"/>
          </a:xfrm>
          <a:prstGeom prst="rect">
            <a:avLst/>
          </a:prstGeom>
          <a:ln/>
        </p:spPr>
      </p:pic>
      <p:sp>
        <p:nvSpPr>
          <p:cNvPr id="34" name="TextBox 33"/>
          <p:cNvSpPr txBox="1"/>
          <p:nvPr/>
        </p:nvSpPr>
        <p:spPr>
          <a:xfrm>
            <a:off x="6710782" y="3348533"/>
            <a:ext cx="4981651" cy="257860"/>
          </a:xfrm>
          <a:prstGeom prst="rect">
            <a:avLst/>
          </a:prstGeom>
          <a:noFill/>
          <a:ln/>
        </p:spPr>
        <p:txBody>
          <a:bodyPr wrap="square" lIns="0" rIns="0" tIns="0" bIns="0">
            <a:noAutofit/>
          </a:bodyPr>
          <a:lstStyle/>
          <a:p>
            <a:r>
              <a:rPr sz="1300" b="1">
                <a:solidFill>
                  <a:srgbClr val="1F2937"/>
                </a:solidFill>
                <a:latin typeface="Noto Sans JP"/>
              </a:rPr>
              <a:t>短い切れ目のマージ＋手動マッピング</a:t>
            </a:r>
          </a:p>
        </p:txBody>
      </p:sp>
      <p:pic>
        <p:nvPicPr>
          <p:cNvPr id="35" name="Picture 34" descr="image.png"/>
          <p:cNvPicPr>
            <a:picLocks noChangeAspect="1"/>
          </p:cNvPicPr>
          <p:nvPr/>
        </p:nvPicPr>
        <p:blipFill>
          <a:blip r:embed="rId11"/>
          <a:stretch>
            <a:fillRect/>
          </a:stretch>
        </p:blipFill>
        <p:spPr>
          <a:xfrm>
            <a:off x="9698126" y="3396996"/>
            <a:ext cx="390449" cy="209398"/>
          </a:xfrm>
          <a:prstGeom prst="rect">
            <a:avLst/>
          </a:prstGeom>
          <a:ln/>
        </p:spPr>
      </p:pic>
      <p:sp>
        <p:nvSpPr>
          <p:cNvPr id="36" name="TextBox 35"/>
          <p:cNvSpPr txBox="1"/>
          <p:nvPr/>
        </p:nvSpPr>
        <p:spPr>
          <a:xfrm>
            <a:off x="9698126" y="3396996"/>
            <a:ext cx="391363" cy="210312"/>
          </a:xfrm>
          <a:prstGeom prst="rect">
            <a:avLst/>
          </a:prstGeom>
          <a:noFill/>
          <a:ln>
            <a:solidFill>
              <a:srgbClr val="FFFFFF"/>
            </a:solidFill>
          </a:ln>
        </p:spPr>
        <p:txBody>
          <a:bodyPr wrap="square" lIns="0" rIns="0" tIns="0" bIns="0">
            <a:noAutofit/>
          </a:bodyPr>
          <a:lstStyle/>
          <a:p>
            <a:r>
              <a:rPr sz="900" b="1">
                <a:solidFill>
                  <a:srgbClr val="1E40AF"/>
                </a:solidFill>
                <a:latin typeface="Noto Sans JP"/>
              </a:rPr>
              <a:t>設計</a:t>
            </a:r>
          </a:p>
        </p:txBody>
      </p:sp>
      <p:sp>
        <p:nvSpPr>
          <p:cNvPr id="37" name="TextBox 36"/>
          <p:cNvSpPr txBox="1"/>
          <p:nvPr/>
        </p:nvSpPr>
        <p:spPr>
          <a:xfrm>
            <a:off x="6710782" y="3643884"/>
            <a:ext cx="4867351" cy="428853"/>
          </a:xfrm>
          <a:prstGeom prst="rect">
            <a:avLst/>
          </a:prstGeom>
          <a:noFill/>
          <a:ln/>
        </p:spPr>
        <p:txBody>
          <a:bodyPr wrap="square" lIns="0" rIns="0" tIns="0" bIns="0">
            <a:noAutofit/>
          </a:bodyPr>
          <a:lstStyle/>
          <a:p>
            <a:r>
              <a:rPr sz="1100">
                <a:solidFill>
                  <a:srgbClr val="4B5563"/>
                </a:solidFill>
                <a:latin typeface="Noto Sans JP"/>
              </a:rPr>
              <a:t>極端に短い発話区間を前後の発話者に統合するルールを適用。参加者名とIDの紐付けUIを用意。</a:t>
            </a:r>
          </a:p>
        </p:txBody>
      </p:sp>
      <p:pic>
        <p:nvPicPr>
          <p:cNvPr id="38" name="Picture 37" descr="image.png"/>
          <p:cNvPicPr>
            <a:picLocks noChangeAspect="1"/>
          </p:cNvPicPr>
          <p:nvPr/>
        </p:nvPicPr>
        <p:blipFill>
          <a:blip r:embed="rId12"/>
          <a:stretch>
            <a:fillRect/>
          </a:stretch>
        </p:blipFill>
        <p:spPr>
          <a:xfrm>
            <a:off x="6448349" y="4311396"/>
            <a:ext cx="152704" cy="152705"/>
          </a:xfrm>
          <a:prstGeom prst="rect">
            <a:avLst/>
          </a:prstGeom>
          <a:ln/>
        </p:spPr>
      </p:pic>
      <p:sp>
        <p:nvSpPr>
          <p:cNvPr id="39" name="TextBox 38"/>
          <p:cNvSpPr txBox="1"/>
          <p:nvPr/>
        </p:nvSpPr>
        <p:spPr>
          <a:xfrm>
            <a:off x="6715354" y="4225442"/>
            <a:ext cx="4972507" cy="257860"/>
          </a:xfrm>
          <a:prstGeom prst="rect">
            <a:avLst/>
          </a:prstGeom>
          <a:noFill/>
          <a:ln/>
        </p:spPr>
        <p:txBody>
          <a:bodyPr wrap="square" lIns="0" rIns="0" tIns="0" bIns="0">
            <a:noAutofit/>
          </a:bodyPr>
          <a:lstStyle/>
          <a:p>
            <a:r>
              <a:rPr sz="1300" b="1">
                <a:solidFill>
                  <a:srgbClr val="1F2937"/>
                </a:solidFill>
                <a:latin typeface="Noto Sans JP"/>
              </a:rPr>
              <a:t>VAD厳格化＋無音区間破棄</a:t>
            </a:r>
          </a:p>
        </p:txBody>
      </p:sp>
      <p:pic>
        <p:nvPicPr>
          <p:cNvPr id="40" name="Picture 39" descr="image.png"/>
          <p:cNvPicPr>
            <a:picLocks noChangeAspect="1"/>
          </p:cNvPicPr>
          <p:nvPr/>
        </p:nvPicPr>
        <p:blipFill>
          <a:blip r:embed="rId13"/>
          <a:stretch>
            <a:fillRect/>
          </a:stretch>
        </p:blipFill>
        <p:spPr>
          <a:xfrm>
            <a:off x="8834933" y="4272991"/>
            <a:ext cx="504749" cy="209398"/>
          </a:xfrm>
          <a:prstGeom prst="rect">
            <a:avLst/>
          </a:prstGeom>
          <a:ln/>
        </p:spPr>
      </p:pic>
      <p:sp>
        <p:nvSpPr>
          <p:cNvPr id="41" name="TextBox 40"/>
          <p:cNvSpPr txBox="1"/>
          <p:nvPr/>
        </p:nvSpPr>
        <p:spPr>
          <a:xfrm>
            <a:off x="8834933" y="4272991"/>
            <a:ext cx="505663" cy="210312"/>
          </a:xfrm>
          <a:prstGeom prst="rect">
            <a:avLst/>
          </a:prstGeom>
          <a:noFill/>
          <a:ln>
            <a:solidFill>
              <a:srgbClr val="FFFFFF"/>
            </a:solidFill>
          </a:ln>
        </p:spPr>
        <p:txBody>
          <a:bodyPr wrap="square" lIns="0" rIns="0" tIns="0" bIns="0">
            <a:noAutofit/>
          </a:bodyPr>
          <a:lstStyle/>
          <a:p>
            <a:r>
              <a:rPr sz="900" b="1">
                <a:solidFill>
                  <a:srgbClr val="1E40AF"/>
                </a:solidFill>
                <a:latin typeface="Noto Sans JP"/>
              </a:rPr>
              <a:t>前処理</a:t>
            </a:r>
          </a:p>
        </p:txBody>
      </p:sp>
      <p:sp>
        <p:nvSpPr>
          <p:cNvPr id="42" name="TextBox 41"/>
          <p:cNvSpPr txBox="1"/>
          <p:nvPr/>
        </p:nvSpPr>
        <p:spPr>
          <a:xfrm>
            <a:off x="6715354" y="4520794"/>
            <a:ext cx="4858207" cy="428853"/>
          </a:xfrm>
          <a:prstGeom prst="rect">
            <a:avLst/>
          </a:prstGeom>
          <a:noFill/>
          <a:ln/>
        </p:spPr>
        <p:txBody>
          <a:bodyPr wrap="square" lIns="0" rIns="0" tIns="0" bIns="0">
            <a:noAutofit/>
          </a:bodyPr>
          <a:lstStyle/>
          <a:p>
            <a:r>
              <a:rPr sz="1100">
                <a:solidFill>
                  <a:srgbClr val="4B5563"/>
                </a:solidFill>
                <a:latin typeface="Noto Sans JP"/>
              </a:rPr>
              <a:t>Silero VAD等の閾値を調整し、確実に音声がある区間のみASRへ渡す。「要審査フラグ」で怪しい出力をマーク。</a:t>
            </a:r>
          </a:p>
        </p:txBody>
      </p:sp>
      <p:pic>
        <p:nvPicPr>
          <p:cNvPr id="43" name="Picture 42" descr="image.png"/>
          <p:cNvPicPr>
            <a:picLocks noChangeAspect="1"/>
          </p:cNvPicPr>
          <p:nvPr/>
        </p:nvPicPr>
        <p:blipFill>
          <a:blip r:embed="rId14"/>
          <a:stretch>
            <a:fillRect/>
          </a:stretch>
        </p:blipFill>
        <p:spPr>
          <a:xfrm>
            <a:off x="6448349" y="5187391"/>
            <a:ext cx="171906" cy="152705"/>
          </a:xfrm>
          <a:prstGeom prst="rect">
            <a:avLst/>
          </a:prstGeom>
          <a:ln/>
        </p:spPr>
      </p:pic>
      <p:sp>
        <p:nvSpPr>
          <p:cNvPr id="44" name="TextBox 43"/>
          <p:cNvSpPr txBox="1"/>
          <p:nvPr/>
        </p:nvSpPr>
        <p:spPr>
          <a:xfrm>
            <a:off x="6734556" y="5101438"/>
            <a:ext cx="4877410" cy="257860"/>
          </a:xfrm>
          <a:prstGeom prst="rect">
            <a:avLst/>
          </a:prstGeom>
          <a:noFill/>
          <a:ln/>
        </p:spPr>
        <p:txBody>
          <a:bodyPr wrap="square" lIns="0" rIns="0" tIns="0" bIns="0">
            <a:noAutofit/>
          </a:bodyPr>
          <a:lstStyle/>
          <a:p>
            <a:r>
              <a:rPr sz="1300" b="1">
                <a:solidFill>
                  <a:srgbClr val="1F2937"/>
                </a:solidFill>
                <a:latin typeface="Noto Sans JP"/>
              </a:rPr>
              <a:t>逐次要約（Rolling Summary）＋KV節約</a:t>
            </a:r>
          </a:p>
        </p:txBody>
      </p:sp>
      <p:pic>
        <p:nvPicPr>
          <p:cNvPr id="45" name="Picture 44" descr="image.png"/>
          <p:cNvPicPr>
            <a:picLocks noChangeAspect="1"/>
          </p:cNvPicPr>
          <p:nvPr/>
        </p:nvPicPr>
        <p:blipFill>
          <a:blip r:embed="rId15"/>
          <a:stretch>
            <a:fillRect/>
          </a:stretch>
        </p:blipFill>
        <p:spPr>
          <a:xfrm>
            <a:off x="10001707" y="5148986"/>
            <a:ext cx="724205" cy="209398"/>
          </a:xfrm>
          <a:prstGeom prst="rect">
            <a:avLst/>
          </a:prstGeom>
          <a:ln/>
        </p:spPr>
      </p:pic>
      <p:sp>
        <p:nvSpPr>
          <p:cNvPr id="46" name="TextBox 45"/>
          <p:cNvSpPr txBox="1"/>
          <p:nvPr/>
        </p:nvSpPr>
        <p:spPr>
          <a:xfrm>
            <a:off x="10001707" y="5148986"/>
            <a:ext cx="724205" cy="210312"/>
          </a:xfrm>
          <a:prstGeom prst="rect">
            <a:avLst/>
          </a:prstGeom>
          <a:noFill/>
          <a:ln>
            <a:solidFill>
              <a:srgbClr val="FFFFFF"/>
            </a:solidFill>
          </a:ln>
        </p:spPr>
        <p:txBody>
          <a:bodyPr wrap="square" lIns="0" rIns="0" tIns="0" bIns="0">
            <a:noAutofit/>
          </a:bodyPr>
          <a:lstStyle/>
          <a:p>
            <a:r>
              <a:rPr sz="900" b="1">
                <a:solidFill>
                  <a:srgbClr val="1E40AF"/>
                </a:solidFill>
                <a:latin typeface="Noto Sans JP"/>
              </a:rPr>
              <a:t>LLM最適化</a:t>
            </a:r>
          </a:p>
        </p:txBody>
      </p:sp>
      <p:sp>
        <p:nvSpPr>
          <p:cNvPr id="47" name="TextBox 46"/>
          <p:cNvSpPr txBox="1"/>
          <p:nvPr/>
        </p:nvSpPr>
        <p:spPr>
          <a:xfrm>
            <a:off x="6734556" y="5396789"/>
            <a:ext cx="4839005" cy="428853"/>
          </a:xfrm>
          <a:prstGeom prst="rect">
            <a:avLst/>
          </a:prstGeom>
          <a:noFill/>
          <a:ln/>
        </p:spPr>
        <p:txBody>
          <a:bodyPr wrap="square" lIns="0" rIns="0" tIns="0" bIns="0">
            <a:noAutofit/>
          </a:bodyPr>
          <a:lstStyle/>
          <a:p>
            <a:r>
              <a:rPr sz="1100">
                <a:solidFill>
                  <a:srgbClr val="4B5563"/>
                </a:solidFill>
                <a:latin typeface="Noto Sans JP"/>
              </a:rPr>
              <a:t>議論を短めのチャンクに分割して逐次要約し、最終的に統合。KV量子化やコンテキスト分割でメモリ節約。</a:t>
            </a:r>
          </a:p>
        </p:txBody>
      </p:sp>
      <p:sp>
        <p:nvSpPr>
          <p:cNvPr id="48" name="Rectangle 47"/>
          <p:cNvSpPr/>
          <p:nvPr/>
        </p:nvSpPr>
        <p:spPr>
          <a:xfrm>
            <a:off x="457200" y="6291986"/>
            <a:ext cx="11277295" cy="761694"/>
          </a:xfrm>
          <a:prstGeom prst="rect">
            <a:avLst/>
          </a:prstGeom>
          <a:solidFill>
            <a:srgbClr val="F0FDF4"/>
          </a:solidFill>
          <a:ln w="12700">
            <a:solidFill>
              <a:srgbClr val="DCF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16"/>
          <a:stretch>
            <a:fillRect/>
          </a:stretch>
        </p:blipFill>
        <p:spPr>
          <a:xfrm>
            <a:off x="619049" y="6473038"/>
            <a:ext cx="171907" cy="171907"/>
          </a:xfrm>
          <a:prstGeom prst="rect">
            <a:avLst/>
          </a:prstGeom>
          <a:ln/>
        </p:spPr>
      </p:pic>
      <p:sp>
        <p:nvSpPr>
          <p:cNvPr id="50" name="TextBox 49"/>
          <p:cNvSpPr txBox="1"/>
          <p:nvPr/>
        </p:nvSpPr>
        <p:spPr>
          <a:xfrm>
            <a:off x="905256" y="6453835"/>
            <a:ext cx="8735263" cy="200253"/>
          </a:xfrm>
          <a:prstGeom prst="rect">
            <a:avLst/>
          </a:prstGeom>
          <a:noFill/>
          <a:ln/>
        </p:spPr>
        <p:txBody>
          <a:bodyPr wrap="square" lIns="0" rIns="0" tIns="0" bIns="0">
            <a:noAutofit/>
          </a:bodyPr>
          <a:lstStyle/>
          <a:p>
            <a:r>
              <a:rPr sz="1000" b="1">
                <a:solidFill>
                  <a:srgbClr val="14532D"/>
                </a:solidFill>
                <a:latin typeface="Noto Sans JP"/>
              </a:rPr>
              <a:t>評価指標（Monitoring Metrics）</a:t>
            </a:r>
          </a:p>
        </p:txBody>
      </p:sp>
      <p:sp>
        <p:nvSpPr>
          <p:cNvPr id="51" name="TextBox 50"/>
          <p:cNvSpPr txBox="1"/>
          <p:nvPr/>
        </p:nvSpPr>
        <p:spPr>
          <a:xfrm>
            <a:off x="905256" y="6692494"/>
            <a:ext cx="8943746" cy="200254"/>
          </a:xfrm>
          <a:prstGeom prst="rect">
            <a:avLst/>
          </a:prstGeom>
          <a:noFill/>
          <a:ln/>
        </p:spPr>
        <p:txBody>
          <a:bodyPr wrap="square" lIns="0" rIns="0" tIns="0" bIns="0">
            <a:noAutofit/>
          </a:bodyPr>
          <a:lstStyle/>
          <a:p>
            <a:r>
              <a:rPr sz="1000">
                <a:solidFill>
                  <a:srgbClr val="14532D"/>
                </a:solidFill>
                <a:latin typeface="Noto Sans JP"/>
              </a:rPr>
              <a:t> 運用時は</a:t>
            </a:r>
            <a:r>
              <a:rPr sz="1000" b="1">
                <a:solidFill>
                  <a:srgbClr val="14532D"/>
                </a:solidFill>
                <a:latin typeface="Noto Sans JP"/>
              </a:rPr>
              <a:t>p50/p95レイテンシ</a:t>
            </a:r>
            <a:r>
              <a:rPr sz="1000">
                <a:solidFill>
                  <a:srgbClr val="14532D"/>
                </a:solidFill>
                <a:latin typeface="Noto Sans JP"/>
              </a:rPr>
              <a:t>に加え、</a:t>
            </a:r>
            <a:r>
              <a:rPr sz="1000" b="1">
                <a:solidFill>
                  <a:srgbClr val="14532D"/>
                </a:solidFill>
                <a:latin typeface="Noto Sans JP"/>
              </a:rPr>
              <a:t>RTF（Real-Time Factor）</a:t>
            </a:r>
            <a:r>
              <a:rPr sz="1000">
                <a:solidFill>
                  <a:srgbClr val="14532D"/>
                </a:solidFill>
                <a:latin typeface="Noto Sans JP"/>
              </a:rPr>
              <a:t>と</a:t>
            </a:r>
            <a:r>
              <a:rPr sz="1000" b="1">
                <a:solidFill>
                  <a:srgbClr val="14532D"/>
                </a:solidFill>
                <a:latin typeface="Noto Sans JP"/>
              </a:rPr>
              <a:t>意味改変率</a:t>
            </a:r>
            <a:r>
              <a:rPr sz="1000">
                <a:solidFill>
                  <a:srgbClr val="14532D"/>
                </a:solidFill>
                <a:latin typeface="Noto Sans JP"/>
              </a:rPr>
              <a:t>を監視し、品質劣化の兆候を早期検知します（ベンチ設計参照）。 </a:t>
            </a:r>
          </a:p>
        </p:txBody>
      </p:sp>
      <p:sp>
        <p:nvSpPr>
          <p:cNvPr id="52" name="Rectangle 51"/>
          <p:cNvSpPr/>
          <p:nvPr/>
        </p:nvSpPr>
        <p:spPr>
          <a:xfrm>
            <a:off x="0" y="7434986"/>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74349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7445045"/>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5" name="TextBox 54"/>
          <p:cNvSpPr txBox="1"/>
          <p:nvPr/>
        </p:nvSpPr>
        <p:spPr>
          <a:xfrm>
            <a:off x="11385194" y="7445045"/>
            <a:ext cx="428854" cy="171907"/>
          </a:xfrm>
          <a:prstGeom prst="rect">
            <a:avLst/>
          </a:prstGeom>
          <a:noFill/>
          <a:ln/>
        </p:spPr>
        <p:txBody>
          <a:bodyPr wrap="square" lIns="0" rIns="0" tIns="0" bIns="0">
            <a:noAutofit/>
          </a:bodyPr>
          <a:lstStyle/>
          <a:p>
            <a:r>
              <a:rPr sz="900">
                <a:solidFill>
                  <a:srgbClr val="86868B"/>
                </a:solidFill>
                <a:latin typeface="Noto Sans JP"/>
              </a:rPr>
              <a:t>62 / 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p:spPr>
      </p:pic>
      <p:sp>
        <p:nvSpPr>
          <p:cNvPr id="8" name="TextBox 7"/>
          <p:cNvSpPr txBox="1"/>
          <p:nvPr/>
        </p:nvSpPr>
        <p:spPr>
          <a:xfrm>
            <a:off x="914400" y="190195"/>
            <a:ext cx="3525012" cy="457200"/>
          </a:xfrm>
          <a:prstGeom prst="rect">
            <a:avLst/>
          </a:prstGeom>
          <a:noFill/>
          <a:ln/>
        </p:spPr>
        <p:txBody>
          <a:bodyPr wrap="square" lIns="0" rIns="0" tIns="0" bIns="0">
            <a:noAutofit/>
          </a:bodyPr>
          <a:lstStyle/>
          <a:p>
            <a:r>
              <a:rPr sz="2400" b="1">
                <a:solidFill>
                  <a:srgbClr val="1D1D1F"/>
                </a:solidFill>
                <a:latin typeface="Noto Sans JP"/>
              </a:rPr>
              <a:t>ユースケース：文書RAG</a:t>
            </a:r>
          </a:p>
        </p:txBody>
      </p:sp>
      <p:sp>
        <p:nvSpPr>
          <p:cNvPr id="9" name="TextBox 8"/>
          <p:cNvSpPr txBox="1"/>
          <p:nvPr/>
        </p:nvSpPr>
        <p:spPr>
          <a:xfrm>
            <a:off x="8883396" y="290779"/>
            <a:ext cx="3076955" cy="257861"/>
          </a:xfrm>
          <a:prstGeom prst="rect">
            <a:avLst/>
          </a:prstGeom>
          <a:noFill/>
          <a:ln/>
        </p:spPr>
        <p:txBody>
          <a:bodyPr wrap="square" lIns="0" rIns="0" tIns="0" bIns="0">
            <a:noAutofit/>
          </a:bodyPr>
          <a:lstStyle/>
          <a:p>
            <a:r>
              <a:rPr sz="1300">
                <a:solidFill>
                  <a:srgbClr val="86868B"/>
                </a:solidFill>
                <a:latin typeface="Noto Sans JP"/>
              </a:rPr>
              <a:t>PDF/スキャン → OCR → 検索 → 回答</a:t>
            </a:r>
          </a:p>
        </p:txBody>
      </p:sp>
      <p:sp>
        <p:nvSpPr>
          <p:cNvPr id="10" name="Rectangle 9"/>
          <p:cNvSpPr/>
          <p:nvPr/>
        </p:nvSpPr>
        <p:spPr>
          <a:xfrm>
            <a:off x="457200" y="1133856"/>
            <a:ext cx="11277295" cy="87599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noFill/>
          <a:ln/>
        </p:spPr>
        <p:txBody>
          <a:bodyPr wrap="square" lIns="0" rIns="0" tIns="0" bIns="0">
            <a:noAutofit/>
          </a:bodyPr>
          <a:lstStyle/>
          <a:p>
            <a:r>
              <a:rPr sz="1500" b="1">
                <a:solidFill>
                  <a:srgbClr val="1D1D1F"/>
                </a:solidFill>
                <a:latin typeface="Noto Sans JP"/>
              </a:rPr>
              <a:t>結論：RAG品質はEmbeddingで上限が決まるため、「Embeddingでrecall確保→Rerankerでprecision向上」の二段構えが基本戦略です。</a:t>
            </a:r>
          </a:p>
        </p:txBody>
      </p:sp>
      <p:sp>
        <p:nvSpPr>
          <p:cNvPr id="13" name="TextBox 12"/>
          <p:cNvSpPr txBox="1"/>
          <p:nvPr/>
        </p:nvSpPr>
        <p:spPr>
          <a:xfrm>
            <a:off x="457200" y="2295144"/>
            <a:ext cx="3638398" cy="4209897"/>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p:spPr>
      </p:pic>
      <p:sp>
        <p:nvSpPr>
          <p:cNvPr id="17" name="TextBox 16"/>
          <p:cNvSpPr txBox="1"/>
          <p:nvPr/>
        </p:nvSpPr>
        <p:spPr>
          <a:xfrm>
            <a:off x="1901952" y="2467051"/>
            <a:ext cx="1234439"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noFill/>
          <a:ln/>
        </p:spPr>
        <p:txBody>
          <a:bodyPr wrap="square" lIns="0" rIns="0" tIns="0" bIns="0">
            <a:noAutofit/>
          </a:bodyPr>
          <a:lstStyle/>
          <a:p>
            <a:r>
              <a:rPr sz="900" b="1">
                <a:solidFill>
                  <a:srgbClr val="86868B"/>
                </a:solidFill>
                <a:latin typeface="Noto Sans JP"/>
              </a:rPr>
              <a:t>OCR / Pre-process</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p:spPr>
      </p:pic>
      <p:sp>
        <p:nvSpPr>
          <p:cNvPr id="21" name="TextBox 20"/>
          <p:cNvSpPr txBox="1"/>
          <p:nvPr/>
        </p:nvSpPr>
        <p:spPr>
          <a:xfrm>
            <a:off x="657454" y="3329329"/>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Tesseract OCR ※スキャン品質が高い場合</a:t>
            </a:r>
          </a:p>
        </p:txBody>
      </p:sp>
      <p:sp>
        <p:nvSpPr>
          <p:cNvPr id="22" name="TextBox 21"/>
          <p:cNvSpPr txBox="1"/>
          <p:nvPr/>
        </p:nvSpPr>
        <p:spPr>
          <a:xfrm>
            <a:off x="657454" y="3995928"/>
            <a:ext cx="3353105" cy="191110"/>
          </a:xfrm>
          <a:prstGeom prst="rect">
            <a:avLst/>
          </a:prstGeom>
          <a:noFill/>
          <a:ln/>
        </p:spPr>
        <p:txBody>
          <a:bodyPr wrap="square" lIns="0" rIns="0" tIns="0" bIns="0">
            <a:noAutofit/>
          </a:bodyPr>
          <a:lstStyle/>
          <a:p>
            <a:r>
              <a:rPr sz="900" b="1">
                <a:solidFill>
                  <a:srgbClr val="86868B"/>
                </a:solidFill>
                <a:latin typeface="Noto Sans JP"/>
              </a:rPr>
              <a:t>Embedding / Reranker</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p:spPr>
      </p:pic>
      <p:sp>
        <p:nvSpPr>
          <p:cNvPr id="24" name="TextBox 23"/>
          <p:cNvSpPr txBox="1"/>
          <p:nvPr/>
        </p:nvSpPr>
        <p:spPr>
          <a:xfrm>
            <a:off x="657454" y="4219956"/>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BGE-M3 (多用途) bge-reranker-base (軽量)</a:t>
            </a:r>
          </a:p>
        </p:txBody>
      </p:sp>
      <p:sp>
        <p:nvSpPr>
          <p:cNvPr id="25" name="TextBox 24"/>
          <p:cNvSpPr txBox="1"/>
          <p:nvPr/>
        </p:nvSpPr>
        <p:spPr>
          <a:xfrm>
            <a:off x="657454" y="4886554"/>
            <a:ext cx="3353105"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p:spPr>
      </p:pic>
      <p:sp>
        <p:nvSpPr>
          <p:cNvPr id="27" name="TextBox 26"/>
          <p:cNvSpPr txBox="1"/>
          <p:nvPr/>
        </p:nvSpPr>
        <p:spPr>
          <a:xfrm>
            <a:off x="657454" y="511058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7B級 4bit (CPU) llama.cpp / Ollama</a:t>
            </a:r>
          </a:p>
        </p:txBody>
      </p:sp>
      <p:pic>
        <p:nvPicPr>
          <p:cNvPr id="28" name="Picture 27" descr="image.png"/>
          <p:cNvPicPr>
            <a:picLocks noChangeAspect="1"/>
          </p:cNvPicPr>
          <p:nvPr/>
        </p:nvPicPr>
        <p:blipFill>
          <a:blip r:embed="rId5"/>
          <a:stretch>
            <a:fillRect/>
          </a:stretch>
        </p:blipFill>
        <p:spPr>
          <a:xfrm>
            <a:off x="657454" y="6053328"/>
            <a:ext cx="1543506" cy="247801"/>
          </a:xfrm>
          <a:prstGeom prst="rect">
            <a:avLst/>
          </a:prstGeom>
          <a:ln/>
        </p:spPr>
      </p:pic>
      <p:sp>
        <p:nvSpPr>
          <p:cNvPr id="29" name="TextBox 28"/>
          <p:cNvSpPr txBox="1"/>
          <p:nvPr/>
        </p:nvSpPr>
        <p:spPr>
          <a:xfrm>
            <a:off x="876910" y="6053328"/>
            <a:ext cx="1324050"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テキスト中心の標準PDF</a:t>
            </a:r>
          </a:p>
        </p:txBody>
      </p:sp>
      <p:pic>
        <p:nvPicPr>
          <p:cNvPr id="30" name="Picture 29" descr="image.png"/>
          <p:cNvPicPr>
            <a:picLocks noChangeAspect="1"/>
          </p:cNvPicPr>
          <p:nvPr/>
        </p:nvPicPr>
        <p:blipFill>
          <a:blip r:embed="rId6"/>
          <a:stretch>
            <a:fillRect/>
          </a:stretch>
        </p:blipFill>
        <p:spPr>
          <a:xfrm>
            <a:off x="733349" y="6124651"/>
            <a:ext cx="105155" cy="114300"/>
          </a:xfrm>
          <a:prstGeom prst="rect">
            <a:avLst/>
          </a:prstGeom>
          <a:ln/>
        </p:spPr>
      </p:pic>
      <p:sp>
        <p:nvSpPr>
          <p:cNvPr id="31" name="TextBox 30"/>
          <p:cNvSpPr txBox="1"/>
          <p:nvPr/>
        </p:nvSpPr>
        <p:spPr>
          <a:xfrm>
            <a:off x="4280306" y="2295144"/>
            <a:ext cx="3638398" cy="4209897"/>
          </a:xfrm>
          <a:prstGeom prst="rect">
            <a:avLst/>
          </a:prstGeom>
          <a:noFill/>
          <a:ln w="12700">
            <a:solidFill>
              <a:srgbClr val="E5E5E5"/>
            </a:solidFill>
          </a:ln>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62626" y="2514600"/>
            <a:ext cx="219456" cy="190194"/>
          </a:xfrm>
          <a:prstGeom prst="rect">
            <a:avLst/>
          </a:prstGeom>
          <a:ln/>
        </p:spPr>
      </p:pic>
      <p:sp>
        <p:nvSpPr>
          <p:cNvPr id="35" name="TextBox 34"/>
          <p:cNvSpPr txBox="1"/>
          <p:nvPr/>
        </p:nvSpPr>
        <p:spPr>
          <a:xfrm>
            <a:off x="5820156" y="2467051"/>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36" name="Rectangle 35"/>
          <p:cNvSpPr/>
          <p:nvPr/>
        </p:nvSpPr>
        <p:spPr>
          <a:xfrm>
            <a:off x="4289450"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noFill/>
          <a:ln/>
        </p:spPr>
        <p:txBody>
          <a:bodyPr wrap="square" lIns="0" rIns="0" tIns="0" bIns="0">
            <a:noAutofit/>
          </a:bodyPr>
          <a:lstStyle/>
          <a:p>
            <a:r>
              <a:rPr sz="900" b="1">
                <a:solidFill>
                  <a:srgbClr val="86868B"/>
                </a:solidFill>
                <a:latin typeface="Noto Sans JP"/>
              </a:rPr>
              <a:t>OCR / DocAI</a:t>
            </a:r>
          </a:p>
        </p:txBody>
      </p:sp>
      <p:pic>
        <p:nvPicPr>
          <p:cNvPr id="38" name="Picture 37" descr="image.png"/>
          <p:cNvPicPr>
            <a:picLocks noChangeAspect="1"/>
          </p:cNvPicPr>
          <p:nvPr/>
        </p:nvPicPr>
        <p:blipFill>
          <a:blip r:embed="rId8"/>
          <a:stretch>
            <a:fillRect/>
          </a:stretch>
        </p:blipFill>
        <p:spPr>
          <a:xfrm>
            <a:off x="4479646" y="3329329"/>
            <a:ext cx="3238804" cy="752551"/>
          </a:xfrm>
          <a:prstGeom prst="rect">
            <a:avLst/>
          </a:prstGeom>
          <a:ln/>
        </p:spPr>
      </p:pic>
      <p:sp>
        <p:nvSpPr>
          <p:cNvPr id="39" name="TextBox 38"/>
          <p:cNvSpPr txBox="1"/>
          <p:nvPr/>
        </p:nvSpPr>
        <p:spPr>
          <a:xfrm>
            <a:off x="4479646" y="3329329"/>
            <a:ext cx="3238804" cy="752551"/>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PaddleOCR (構造化) Donut (OCR-free情報抽出) LayoutLMv3 (レイアウト保持)</a:t>
            </a:r>
          </a:p>
        </p:txBody>
      </p:sp>
      <p:sp>
        <p:nvSpPr>
          <p:cNvPr id="40" name="TextBox 39"/>
          <p:cNvSpPr txBox="1"/>
          <p:nvPr/>
        </p:nvSpPr>
        <p:spPr>
          <a:xfrm>
            <a:off x="4479646" y="4196182"/>
            <a:ext cx="3353104" cy="191110"/>
          </a:xfrm>
          <a:prstGeom prst="rect">
            <a:avLst/>
          </a:prstGeom>
          <a:noFill/>
          <a:ln/>
        </p:spPr>
        <p:txBody>
          <a:bodyPr wrap="square" lIns="0" rIns="0" tIns="0" bIns="0">
            <a:noAutofit/>
          </a:bodyPr>
          <a:lstStyle/>
          <a:p>
            <a:r>
              <a:rPr sz="900" b="1">
                <a:solidFill>
                  <a:srgbClr val="86868B"/>
                </a:solidFill>
                <a:latin typeface="Noto Sans JP"/>
              </a:rPr>
              <a:t>Embedding / Reranker</a:t>
            </a:r>
          </a:p>
        </p:txBody>
      </p:sp>
      <p:pic>
        <p:nvPicPr>
          <p:cNvPr id="41" name="Picture 40" descr="image.png"/>
          <p:cNvPicPr>
            <a:picLocks noChangeAspect="1"/>
          </p:cNvPicPr>
          <p:nvPr/>
        </p:nvPicPr>
        <p:blipFill>
          <a:blip r:embed="rId4"/>
          <a:stretch>
            <a:fillRect/>
          </a:stretch>
        </p:blipFill>
        <p:spPr>
          <a:xfrm>
            <a:off x="4479646" y="4419295"/>
            <a:ext cx="3238804" cy="552298"/>
          </a:xfrm>
          <a:prstGeom prst="rect">
            <a:avLst/>
          </a:prstGeom>
          <a:ln/>
        </p:spPr>
      </p:pic>
      <p:sp>
        <p:nvSpPr>
          <p:cNvPr id="42" name="TextBox 41"/>
          <p:cNvSpPr txBox="1"/>
          <p:nvPr/>
        </p:nvSpPr>
        <p:spPr>
          <a:xfrm>
            <a:off x="4479646" y="4419295"/>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BGE-M3 + 大型reranker (GPU推論推奨)</a:t>
            </a:r>
          </a:p>
        </p:txBody>
      </p:sp>
      <p:sp>
        <p:nvSpPr>
          <p:cNvPr id="43" name="TextBox 42"/>
          <p:cNvSpPr txBox="1"/>
          <p:nvPr/>
        </p:nvSpPr>
        <p:spPr>
          <a:xfrm>
            <a:off x="4479646" y="5086807"/>
            <a:ext cx="3353104"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44" name="Picture 43" descr="image.png"/>
          <p:cNvPicPr>
            <a:picLocks noChangeAspect="1"/>
          </p:cNvPicPr>
          <p:nvPr/>
        </p:nvPicPr>
        <p:blipFill>
          <a:blip r:embed="rId4"/>
          <a:stretch>
            <a:fillRect/>
          </a:stretch>
        </p:blipFill>
        <p:spPr>
          <a:xfrm>
            <a:off x="4479646" y="5309921"/>
            <a:ext cx="3238804" cy="552298"/>
          </a:xfrm>
          <a:prstGeom prst="rect">
            <a:avLst/>
          </a:prstGeom>
          <a:ln/>
        </p:spPr>
      </p:pic>
      <p:sp>
        <p:nvSpPr>
          <p:cNvPr id="45" name="TextBox 44"/>
          <p:cNvSpPr txBox="1"/>
          <p:nvPr/>
        </p:nvSpPr>
        <p:spPr>
          <a:xfrm>
            <a:off x="4479646" y="5309921"/>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14B〜32B級 (GPU) 図表・レイアウト情報を加味</a:t>
            </a:r>
          </a:p>
        </p:txBody>
      </p:sp>
      <p:pic>
        <p:nvPicPr>
          <p:cNvPr id="46" name="Picture 45" descr="image.png"/>
          <p:cNvPicPr>
            <a:picLocks noChangeAspect="1"/>
          </p:cNvPicPr>
          <p:nvPr/>
        </p:nvPicPr>
        <p:blipFill>
          <a:blip r:embed="rId9"/>
          <a:stretch>
            <a:fillRect/>
          </a:stretch>
        </p:blipFill>
        <p:spPr>
          <a:xfrm>
            <a:off x="4479646" y="6053328"/>
            <a:ext cx="1447495" cy="247801"/>
          </a:xfrm>
          <a:prstGeom prst="rect">
            <a:avLst/>
          </a:prstGeom>
          <a:ln/>
        </p:spPr>
      </p:pic>
      <p:sp>
        <p:nvSpPr>
          <p:cNvPr id="47" name="TextBox 46"/>
          <p:cNvSpPr txBox="1"/>
          <p:nvPr/>
        </p:nvSpPr>
        <p:spPr>
          <a:xfrm>
            <a:off x="4699102" y="6053328"/>
            <a:ext cx="1228953"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図表・帳票を含む文書</a:t>
            </a:r>
          </a:p>
        </p:txBody>
      </p:sp>
      <p:pic>
        <p:nvPicPr>
          <p:cNvPr id="48" name="Picture 47" descr="image.png"/>
          <p:cNvPicPr>
            <a:picLocks noChangeAspect="1"/>
          </p:cNvPicPr>
          <p:nvPr/>
        </p:nvPicPr>
        <p:blipFill>
          <a:blip r:embed="rId6"/>
          <a:stretch>
            <a:fillRect/>
          </a:stretch>
        </p:blipFill>
        <p:spPr>
          <a:xfrm>
            <a:off x="4556455" y="6124651"/>
            <a:ext cx="105155" cy="114300"/>
          </a:xfrm>
          <a:prstGeom prst="rect">
            <a:avLst/>
          </a:prstGeom>
          <a:ln/>
        </p:spPr>
      </p:pic>
      <p:sp>
        <p:nvSpPr>
          <p:cNvPr id="49" name="TextBox 48"/>
          <p:cNvSpPr txBox="1"/>
          <p:nvPr/>
        </p:nvSpPr>
        <p:spPr>
          <a:xfrm>
            <a:off x="8102497" y="2295144"/>
            <a:ext cx="3638398" cy="4209897"/>
          </a:xfrm>
          <a:prstGeom prst="rect">
            <a:avLst/>
          </a:prstGeom>
          <a:noFill/>
          <a:ln w="12700">
            <a:solidFill>
              <a:srgbClr val="E5E5E5"/>
            </a:solidFill>
          </a:ln>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0"/>
          <a:stretch>
            <a:fillRect/>
          </a:stretch>
        </p:blipFill>
        <p:spPr>
          <a:xfrm>
            <a:off x="9109253" y="2514600"/>
            <a:ext cx="190194" cy="190194"/>
          </a:xfrm>
          <a:prstGeom prst="rect">
            <a:avLst/>
          </a:prstGeom>
          <a:ln/>
        </p:spPr>
      </p:pic>
      <p:sp>
        <p:nvSpPr>
          <p:cNvPr id="53" name="TextBox 52"/>
          <p:cNvSpPr txBox="1"/>
          <p:nvPr/>
        </p:nvSpPr>
        <p:spPr>
          <a:xfrm>
            <a:off x="9452153" y="2467051"/>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54" name="Rectangle 53"/>
          <p:cNvSpPr/>
          <p:nvPr/>
        </p:nvSpPr>
        <p:spPr>
          <a:xfrm>
            <a:off x="8112557" y="2915107"/>
            <a:ext cx="3619195" cy="3581705"/>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noFill/>
          <a:ln/>
        </p:spPr>
        <p:txBody>
          <a:bodyPr wrap="square" lIns="0" rIns="0" tIns="0" bIns="0">
            <a:noAutofit/>
          </a:bodyPr>
          <a:lstStyle/>
          <a:p>
            <a:r>
              <a:rPr sz="900" b="1">
                <a:solidFill>
                  <a:srgbClr val="86868B"/>
                </a:solidFill>
                <a:latin typeface="Noto Sans JP"/>
              </a:rPr>
              <a:t>Processing Strategy</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p:spPr>
      </p:pic>
      <p:sp>
        <p:nvSpPr>
          <p:cNvPr id="57" name="TextBox 56"/>
          <p:cNvSpPr txBox="1"/>
          <p:nvPr/>
        </p:nvSpPr>
        <p:spPr>
          <a:xfrm>
            <a:off x="8302752" y="3329329"/>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夜間バッチ処理 OCR・Embeddingを夜間に生成</a:t>
            </a:r>
          </a:p>
        </p:txBody>
      </p:sp>
      <p:sp>
        <p:nvSpPr>
          <p:cNvPr id="58" name="TextBox 57"/>
          <p:cNvSpPr txBox="1"/>
          <p:nvPr/>
        </p:nvSpPr>
        <p:spPr>
          <a:xfrm>
            <a:off x="8302752" y="3995928"/>
            <a:ext cx="3353105" cy="191110"/>
          </a:xfrm>
          <a:prstGeom prst="rect">
            <a:avLst/>
          </a:prstGeom>
          <a:noFill/>
          <a:ln/>
        </p:spPr>
        <p:txBody>
          <a:bodyPr wrap="square" lIns="0" rIns="0" tIns="0" bIns="0">
            <a:noAutofit/>
          </a:bodyPr>
          <a:lstStyle/>
          <a:p>
            <a:r>
              <a:rPr sz="900" b="1">
                <a:solidFill>
                  <a:srgbClr val="86868B"/>
                </a:solidFill>
                <a:latin typeface="Noto Sans JP"/>
              </a:rPr>
              <a:t>Daytime Operation</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p:spPr>
      </p:pic>
      <p:sp>
        <p:nvSpPr>
          <p:cNvPr id="60" name="TextBox 59"/>
          <p:cNvSpPr txBox="1"/>
          <p:nvPr/>
        </p:nvSpPr>
        <p:spPr>
          <a:xfrm>
            <a:off x="8302752" y="4219956"/>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検索と短い回答のみ実行 LLM推論負荷を最小化</a:t>
            </a:r>
          </a:p>
        </p:txBody>
      </p:sp>
      <p:sp>
        <p:nvSpPr>
          <p:cNvPr id="61" name="TextBox 60"/>
          <p:cNvSpPr txBox="1"/>
          <p:nvPr/>
        </p:nvSpPr>
        <p:spPr>
          <a:xfrm>
            <a:off x="8302752" y="4886554"/>
            <a:ext cx="3353105" cy="191110"/>
          </a:xfrm>
          <a:prstGeom prst="rect">
            <a:avLst/>
          </a:prstGeom>
          <a:noFill/>
          <a:ln/>
        </p:spPr>
        <p:txBody>
          <a:bodyPr wrap="square" lIns="0" rIns="0" tIns="0" bIns="0">
            <a:noAutofit/>
          </a:bodyPr>
          <a:lstStyle/>
          <a:p>
            <a:r>
              <a:rPr sz="900" b="1">
                <a:solidFill>
                  <a:srgbClr val="86868B"/>
                </a:solidFill>
                <a:latin typeface="Noto Sans JP"/>
              </a:rPr>
              <a:t>LLM Runtime</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p:spPr>
      </p:pic>
      <p:sp>
        <p:nvSpPr>
          <p:cNvPr id="63" name="TextBox 62"/>
          <p:cNvSpPr txBox="1"/>
          <p:nvPr/>
        </p:nvSpPr>
        <p:spPr>
          <a:xfrm>
            <a:off x="8302752" y="511058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3B〜7B級 (4bit/INT8) コンテキスト長を制限</a:t>
            </a:r>
          </a:p>
        </p:txBody>
      </p:sp>
      <p:pic>
        <p:nvPicPr>
          <p:cNvPr id="64" name="Picture 63" descr="image.png"/>
          <p:cNvPicPr>
            <a:picLocks noChangeAspect="1"/>
          </p:cNvPicPr>
          <p:nvPr/>
        </p:nvPicPr>
        <p:blipFill>
          <a:blip r:embed="rId11"/>
          <a:stretch>
            <a:fillRect/>
          </a:stretch>
        </p:blipFill>
        <p:spPr>
          <a:xfrm>
            <a:off x="8302752" y="6053328"/>
            <a:ext cx="1209750" cy="247801"/>
          </a:xfrm>
          <a:prstGeom prst="rect">
            <a:avLst/>
          </a:prstGeom>
          <a:ln/>
        </p:spPr>
      </p:pic>
      <p:sp>
        <p:nvSpPr>
          <p:cNvPr id="65" name="TextBox 64"/>
          <p:cNvSpPr txBox="1"/>
          <p:nvPr/>
        </p:nvSpPr>
        <p:spPr>
          <a:xfrm>
            <a:off x="8522208" y="6053328"/>
            <a:ext cx="990294"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リソース極小環境</a:t>
            </a:r>
          </a:p>
        </p:txBody>
      </p:sp>
      <p:pic>
        <p:nvPicPr>
          <p:cNvPr id="66" name="Picture 65" descr="image.png"/>
          <p:cNvPicPr>
            <a:picLocks noChangeAspect="1"/>
          </p:cNvPicPr>
          <p:nvPr/>
        </p:nvPicPr>
        <p:blipFill>
          <a:blip r:embed="rId6"/>
          <a:stretch>
            <a:fillRect/>
          </a:stretch>
        </p:blipFill>
        <p:spPr>
          <a:xfrm>
            <a:off x="8378647" y="6124651"/>
            <a:ext cx="105155" cy="114300"/>
          </a:xfrm>
          <a:prstGeom prst="rect">
            <a:avLst/>
          </a:prstGeom>
          <a:ln/>
        </p:spPr>
      </p:pic>
      <p:sp>
        <p:nvSpPr>
          <p:cNvPr id="67" name="Rectangle 66"/>
          <p:cNvSpPr/>
          <p:nvPr/>
        </p:nvSpPr>
        <p:spPr>
          <a:xfrm>
            <a:off x="0" y="6786677"/>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786677"/>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795821"/>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0" name="TextBox 69"/>
          <p:cNvSpPr txBox="1"/>
          <p:nvPr/>
        </p:nvSpPr>
        <p:spPr>
          <a:xfrm>
            <a:off x="11385194" y="6795821"/>
            <a:ext cx="428854" cy="171907"/>
          </a:xfrm>
          <a:prstGeom prst="rect">
            <a:avLst/>
          </a:prstGeom>
          <a:noFill/>
          <a:ln/>
        </p:spPr>
        <p:txBody>
          <a:bodyPr wrap="square" lIns="0" rIns="0" tIns="0" bIns="0">
            <a:noAutofit/>
          </a:bodyPr>
          <a:lstStyle/>
          <a:p>
            <a:r>
              <a:rPr sz="900">
                <a:solidFill>
                  <a:srgbClr val="86868B"/>
                </a:solidFill>
                <a:latin typeface="Noto Sans JP"/>
              </a:rPr>
              <a:t>63 / 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4467758" cy="457200"/>
          </a:xfrm>
          <a:prstGeom prst="rect">
            <a:avLst/>
          </a:prstGeom>
          <a:noFill/>
          <a:ln/>
        </p:spPr>
        <p:txBody>
          <a:bodyPr wrap="square" lIns="0" rIns="0" tIns="0" bIns="0">
            <a:noAutofit/>
          </a:bodyPr>
          <a:lstStyle/>
          <a:p>
            <a:r>
              <a:rPr sz="2400" b="1">
                <a:solidFill>
                  <a:srgbClr val="1D1D1F"/>
                </a:solidFill>
                <a:latin typeface="Noto Sans JP"/>
              </a:rPr>
              <a:t>文書RAG：失敗モードと回避策</a:t>
            </a:r>
          </a:p>
        </p:txBody>
      </p:sp>
      <p:sp>
        <p:nvSpPr>
          <p:cNvPr id="9" name="TextBox 8"/>
          <p:cNvSpPr txBox="1"/>
          <p:nvPr/>
        </p:nvSpPr>
        <p:spPr>
          <a:xfrm>
            <a:off x="8639251" y="328270"/>
            <a:ext cx="3296412" cy="257861"/>
          </a:xfrm>
          <a:prstGeom prst="rect">
            <a:avLst/>
          </a:prstGeom>
          <a:noFill/>
          <a:ln/>
        </p:spPr>
        <p:txBody>
          <a:bodyPr wrap="square" lIns="0" rIns="0" tIns="0" bIns="0">
            <a:noAutofit/>
          </a:bodyPr>
          <a:lstStyle/>
          <a:p>
            <a:r>
              <a:rPr sz="1300">
                <a:solidFill>
                  <a:srgbClr val="86868B"/>
                </a:solidFill>
                <a:latin typeface="Noto Sans JP"/>
              </a:rPr>
              <a:t>OCR誤読・検索失敗・幻覚への対策設計</a:t>
            </a:r>
          </a:p>
        </p:txBody>
      </p:sp>
      <p:pic>
        <p:nvPicPr>
          <p:cNvPr id="10" name="Picture 9" descr="image.png"/>
          <p:cNvPicPr>
            <a:picLocks noChangeAspect="1"/>
          </p:cNvPicPr>
          <p:nvPr/>
        </p:nvPicPr>
        <p:blipFill>
          <a:blip r:embed="rId3"/>
          <a:stretch>
            <a:fillRect/>
          </a:stretch>
        </p:blipFill>
        <p:spPr>
          <a:xfrm>
            <a:off x="457200" y="1304849"/>
            <a:ext cx="11277295" cy="967435"/>
          </a:xfrm>
          <a:prstGeom prst="rect">
            <a:avLst/>
          </a:prstGeom>
          <a:ln/>
        </p:spPr>
      </p:pic>
      <p:sp>
        <p:nvSpPr>
          <p:cNvPr id="11" name="TextBox 10"/>
          <p:cNvSpPr txBox="1"/>
          <p:nvPr/>
        </p:nvSpPr>
        <p:spPr>
          <a:xfrm>
            <a:off x="743407" y="1495044"/>
            <a:ext cx="10842041" cy="590701"/>
          </a:xfrm>
          <a:prstGeom prst="rect">
            <a:avLst/>
          </a:prstGeom>
          <a:noFill/>
          <a:ln/>
        </p:spPr>
        <p:txBody>
          <a:bodyPr wrap="square" lIns="0" rIns="0" tIns="0" bIns="0">
            <a:noAutofit/>
          </a:bodyPr>
          <a:lstStyle/>
          <a:p>
            <a:r>
              <a:rPr sz="1600" b="1">
                <a:solidFill>
                  <a:srgbClr val="1D1D1F"/>
                </a:solidFill>
                <a:latin typeface="Noto Sans JP"/>
              </a:rPr>
              <a:t> 結論：文書RAGの失敗は「OCR誤読」「検索精度不足」「幻覚引用」に大別され、 </a:t>
            </a:r>
          </a:p>
          <a:p>
            <a:r>
              <a:rPr sz="1600" b="1">
                <a:solidFill>
                  <a:srgbClr val="DC2626"/>
                </a:solidFill>
                <a:latin typeface="Noto Sans JP"/>
              </a:rPr>
              <a:t>前処理の標準化</a:t>
            </a:r>
            <a:r>
              <a:rPr sz="1600" b="1">
                <a:solidFill>
                  <a:srgbClr val="1D1D1F"/>
                </a:solidFill>
                <a:latin typeface="Noto Sans JP"/>
              </a:rPr>
              <a:t>と</a:t>
            </a:r>
            <a:r>
              <a:rPr sz="1600" b="1">
                <a:solidFill>
                  <a:srgbClr val="DC2626"/>
                </a:solidFill>
                <a:latin typeface="Noto Sans JP"/>
              </a:rPr>
              <a:t>原文スニペット引用</a:t>
            </a:r>
            <a:r>
              <a:rPr sz="1600" b="1">
                <a:solidFill>
                  <a:srgbClr val="1D1D1F"/>
                </a:solidFill>
                <a:latin typeface="Noto Sans JP"/>
              </a:rPr>
              <a:t>のUX要件化で回避します。 </a:t>
            </a:r>
          </a:p>
        </p:txBody>
      </p:sp>
      <p:sp>
        <p:nvSpPr>
          <p:cNvPr id="12" name="Rectangle 11"/>
          <p:cNvSpPr/>
          <p:nvPr/>
        </p:nvSpPr>
        <p:spPr>
          <a:xfrm>
            <a:off x="457200"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44114"/>
            <a:ext cx="133501" cy="171906"/>
          </a:xfrm>
          <a:prstGeom prst="rect">
            <a:avLst/>
          </a:prstGeom>
          <a:ln/>
        </p:spPr>
      </p:pic>
      <p:sp>
        <p:nvSpPr>
          <p:cNvPr id="15" name="TextBox 14"/>
          <p:cNvSpPr txBox="1"/>
          <p:nvPr/>
        </p:nvSpPr>
        <p:spPr>
          <a:xfrm>
            <a:off x="886054" y="2701138"/>
            <a:ext cx="2791663" cy="352957"/>
          </a:xfrm>
          <a:prstGeom prst="rect">
            <a:avLst/>
          </a:prstGeom>
          <a:noFill/>
          <a:ln/>
        </p:spPr>
        <p:txBody>
          <a:bodyPr wrap="square" lIns="0" rIns="0" tIns="0" bIns="0">
            <a:noAutofit/>
          </a:bodyPr>
          <a:lstStyle/>
          <a:p>
            <a:r>
              <a:rPr sz="13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57454" y="3168396"/>
            <a:ext cx="133501" cy="133502"/>
          </a:xfrm>
          <a:prstGeom prst="rect">
            <a:avLst/>
          </a:prstGeom>
          <a:ln/>
        </p:spPr>
      </p:pic>
      <p:sp>
        <p:nvSpPr>
          <p:cNvPr id="17" name="TextBox 16"/>
          <p:cNvSpPr txBox="1"/>
          <p:nvPr/>
        </p:nvSpPr>
        <p:spPr>
          <a:xfrm>
            <a:off x="886054" y="3382366"/>
            <a:ext cx="4972507" cy="438912"/>
          </a:xfrm>
          <a:prstGeom prst="rect">
            <a:avLst/>
          </a:prstGeom>
          <a:noFill/>
          <a:ln/>
        </p:spPr>
        <p:txBody>
          <a:bodyPr wrap="square" lIns="0" rIns="0" tIns="0" bIns="0">
            <a:noAutofit/>
          </a:bodyPr>
          <a:lstStyle/>
          <a:p>
            <a:r>
              <a:rPr sz="1100">
                <a:solidFill>
                  <a:srgbClr val="424245"/>
                </a:solidFill>
                <a:latin typeface="Noto Sans JP"/>
              </a:rPr>
              <a:t>スキャン品質低下や傾きにより、固有名詞や数値が誤認識され、正しい文書がヒットしない。</a:t>
            </a:r>
          </a:p>
        </p:txBody>
      </p:sp>
      <p:pic>
        <p:nvPicPr>
          <p:cNvPr id="18" name="Picture 17" descr="image.png"/>
          <p:cNvPicPr>
            <a:picLocks noChangeAspect="1"/>
          </p:cNvPicPr>
          <p:nvPr/>
        </p:nvPicPr>
        <p:blipFill>
          <a:blip r:embed="rId6"/>
          <a:stretch>
            <a:fillRect/>
          </a:stretch>
        </p:blipFill>
        <p:spPr>
          <a:xfrm>
            <a:off x="2085745" y="3606394"/>
            <a:ext cx="724205" cy="209398"/>
          </a:xfrm>
          <a:prstGeom prst="rect">
            <a:avLst/>
          </a:prstGeom>
          <a:ln/>
        </p:spPr>
      </p:pic>
      <p:sp>
        <p:nvSpPr>
          <p:cNvPr id="19" name="TextBox 18"/>
          <p:cNvSpPr txBox="1"/>
          <p:nvPr/>
        </p:nvSpPr>
        <p:spPr>
          <a:xfrm>
            <a:off x="2085745" y="3606394"/>
            <a:ext cx="724205" cy="210312"/>
          </a:xfrm>
          <a:prstGeom prst="rect">
            <a:avLst/>
          </a:prstGeom>
          <a:noFill/>
          <a:ln>
            <a:solidFill>
              <a:srgbClr val="FFFFFF"/>
            </a:solidFill>
          </a:ln>
        </p:spPr>
        <p:txBody>
          <a:bodyPr wrap="square" lIns="0" rIns="0" tIns="0" bIns="0">
            <a:noAutofit/>
          </a:bodyPr>
          <a:lstStyle/>
          <a:p>
            <a:r>
              <a:rPr sz="900" b="1">
                <a:solidFill>
                  <a:srgbClr val="B91C1C"/>
                </a:solidFill>
                <a:latin typeface="Noto Sans JP"/>
              </a:rPr>
              <a:t>Recall低下</a:t>
            </a:r>
          </a:p>
        </p:txBody>
      </p:sp>
      <p:pic>
        <p:nvPicPr>
          <p:cNvPr id="20" name="Picture 19" descr="image.png"/>
          <p:cNvPicPr>
            <a:picLocks noChangeAspect="1"/>
          </p:cNvPicPr>
          <p:nvPr/>
        </p:nvPicPr>
        <p:blipFill>
          <a:blip r:embed="rId5"/>
          <a:stretch>
            <a:fillRect/>
          </a:stretch>
        </p:blipFill>
        <p:spPr>
          <a:xfrm>
            <a:off x="657454" y="3930091"/>
            <a:ext cx="133501" cy="133501"/>
          </a:xfrm>
          <a:prstGeom prst="rect">
            <a:avLst/>
          </a:prstGeom>
          <a:ln/>
        </p:spPr>
      </p:pic>
      <p:sp>
        <p:nvSpPr>
          <p:cNvPr id="21" name="TextBox 20"/>
          <p:cNvSpPr txBox="1"/>
          <p:nvPr/>
        </p:nvSpPr>
        <p:spPr>
          <a:xfrm>
            <a:off x="886054" y="4144060"/>
            <a:ext cx="4972507" cy="438912"/>
          </a:xfrm>
          <a:prstGeom prst="rect">
            <a:avLst/>
          </a:prstGeom>
          <a:noFill/>
          <a:ln/>
        </p:spPr>
        <p:txBody>
          <a:bodyPr wrap="square" lIns="0" rIns="0" tIns="0" bIns="0">
            <a:noAutofit/>
          </a:bodyPr>
          <a:lstStyle/>
          <a:p>
            <a:r>
              <a:rPr sz="1100">
                <a:solidFill>
                  <a:srgbClr val="424245"/>
                </a:solidFill>
                <a:latin typeface="Noto Sans JP"/>
              </a:rPr>
              <a:t>表組みや段組みが崩れてテキスト化され、文脈が断絶。LLMが意味を誤解釈する。</a:t>
            </a:r>
          </a:p>
        </p:txBody>
      </p:sp>
      <p:pic>
        <p:nvPicPr>
          <p:cNvPr id="22" name="Picture 21" descr="image.png"/>
          <p:cNvPicPr>
            <a:picLocks noChangeAspect="1"/>
          </p:cNvPicPr>
          <p:nvPr/>
        </p:nvPicPr>
        <p:blipFill>
          <a:blip r:embed="rId7"/>
          <a:stretch>
            <a:fillRect/>
          </a:stretch>
        </p:blipFill>
        <p:spPr>
          <a:xfrm>
            <a:off x="1371600" y="4368089"/>
            <a:ext cx="819301" cy="209398"/>
          </a:xfrm>
          <a:prstGeom prst="rect">
            <a:avLst/>
          </a:prstGeom>
          <a:ln/>
        </p:spPr>
      </p:pic>
      <p:sp>
        <p:nvSpPr>
          <p:cNvPr id="23" name="TextBox 22"/>
          <p:cNvSpPr txBox="1"/>
          <p:nvPr/>
        </p:nvSpPr>
        <p:spPr>
          <a:xfrm>
            <a:off x="1371600" y="4368089"/>
            <a:ext cx="819301" cy="210312"/>
          </a:xfrm>
          <a:prstGeom prst="rect">
            <a:avLst/>
          </a:prstGeom>
          <a:noFill/>
          <a:ln>
            <a:solidFill>
              <a:srgbClr val="FFFFFF"/>
            </a:solidFill>
          </a:ln>
        </p:spPr>
        <p:txBody>
          <a:bodyPr wrap="square" lIns="0" rIns="0" tIns="0" bIns="0">
            <a:noAutofit/>
          </a:bodyPr>
          <a:lstStyle/>
          <a:p>
            <a:r>
              <a:rPr sz="900" b="1">
                <a:solidFill>
                  <a:srgbClr val="B91C1C"/>
                </a:solidFill>
                <a:latin typeface="Noto Sans JP"/>
              </a:rPr>
              <a:t>Context喪失</a:t>
            </a:r>
          </a:p>
        </p:txBody>
      </p:sp>
      <p:pic>
        <p:nvPicPr>
          <p:cNvPr id="24" name="Picture 23" descr="image.png"/>
          <p:cNvPicPr>
            <a:picLocks noChangeAspect="1"/>
          </p:cNvPicPr>
          <p:nvPr/>
        </p:nvPicPr>
        <p:blipFill>
          <a:blip r:embed="rId5"/>
          <a:stretch>
            <a:fillRect/>
          </a:stretch>
        </p:blipFill>
        <p:spPr>
          <a:xfrm>
            <a:off x="657454" y="4691786"/>
            <a:ext cx="133501" cy="133501"/>
          </a:xfrm>
          <a:prstGeom prst="rect">
            <a:avLst/>
          </a:prstGeom>
          <a:ln/>
        </p:spPr>
      </p:pic>
      <p:sp>
        <p:nvSpPr>
          <p:cNvPr id="25" name="TextBox 24"/>
          <p:cNvSpPr txBox="1"/>
          <p:nvPr/>
        </p:nvSpPr>
        <p:spPr>
          <a:xfrm>
            <a:off x="886054" y="4906670"/>
            <a:ext cx="4972507" cy="438912"/>
          </a:xfrm>
          <a:prstGeom prst="rect">
            <a:avLst/>
          </a:prstGeom>
          <a:noFill/>
          <a:ln/>
        </p:spPr>
        <p:txBody>
          <a:bodyPr wrap="square" lIns="0" rIns="0" tIns="0" bIns="0">
            <a:noAutofit/>
          </a:bodyPr>
          <a:lstStyle/>
          <a:p>
            <a:r>
              <a:rPr sz="1100">
                <a:solidFill>
                  <a:srgbClr val="424245"/>
                </a:solidFill>
                <a:latin typeface="Noto Sans JP"/>
              </a:rPr>
              <a:t>検索結果に含まれない情報を、さも引用したかのように回答する。</a:t>
            </a:r>
          </a:p>
        </p:txBody>
      </p:sp>
      <p:pic>
        <p:nvPicPr>
          <p:cNvPr id="26" name="Picture 25" descr="image.png"/>
          <p:cNvPicPr>
            <a:picLocks noChangeAspect="1"/>
          </p:cNvPicPr>
          <p:nvPr/>
        </p:nvPicPr>
        <p:blipFill>
          <a:blip r:embed="rId8"/>
          <a:stretch>
            <a:fillRect/>
          </a:stretch>
        </p:blipFill>
        <p:spPr>
          <a:xfrm>
            <a:off x="942746" y="5129784"/>
            <a:ext cx="733348" cy="209398"/>
          </a:xfrm>
          <a:prstGeom prst="rect">
            <a:avLst/>
          </a:prstGeom>
          <a:ln/>
        </p:spPr>
      </p:pic>
      <p:sp>
        <p:nvSpPr>
          <p:cNvPr id="27" name="TextBox 26"/>
          <p:cNvSpPr txBox="1"/>
          <p:nvPr/>
        </p:nvSpPr>
        <p:spPr>
          <a:xfrm>
            <a:off x="942746" y="5129784"/>
            <a:ext cx="734262" cy="210312"/>
          </a:xfrm>
          <a:prstGeom prst="rect">
            <a:avLst/>
          </a:prstGeom>
          <a:noFill/>
          <a:ln>
            <a:solidFill>
              <a:srgbClr val="FFFFFF"/>
            </a:solidFill>
          </a:ln>
        </p:spPr>
        <p:txBody>
          <a:bodyPr wrap="square" lIns="0" rIns="0" tIns="0" bIns="0">
            <a:noAutofit/>
          </a:bodyPr>
          <a:lstStyle/>
          <a:p>
            <a:r>
              <a:rPr sz="900" b="1">
                <a:solidFill>
                  <a:srgbClr val="B91C1C"/>
                </a:solidFill>
                <a:latin typeface="Noto Sans JP"/>
              </a:rPr>
              <a:t>信頼性毀損</a:t>
            </a:r>
          </a:p>
        </p:txBody>
      </p:sp>
      <p:sp>
        <p:nvSpPr>
          <p:cNvPr id="28" name="Rectangle 27"/>
          <p:cNvSpPr/>
          <p:nvPr/>
        </p:nvSpPr>
        <p:spPr>
          <a:xfrm>
            <a:off x="6210605" y="2500884"/>
            <a:ext cx="5524805" cy="30385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9944" y="303397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5956" y="2701138"/>
            <a:ext cx="2315260" cy="352957"/>
          </a:xfrm>
          <a:prstGeom prst="rect">
            <a:avLst/>
          </a:prstGeom>
          <a:noFill/>
          <a:ln/>
        </p:spPr>
        <p:txBody>
          <a:bodyPr wrap="square" lIns="0" rIns="0" tIns="0" bIns="0">
            <a:noAutofit/>
          </a:bodyPr>
          <a:lstStyle/>
          <a:p>
            <a:r>
              <a:rPr sz="1300" b="1">
                <a:solidFill>
                  <a:srgbClr val="1D1D1F"/>
                </a:solidFill>
                <a:latin typeface="Noto Sans JP"/>
              </a:rPr>
              <a:t>回避策と設計（Mitigation）</a:t>
            </a:r>
          </a:p>
        </p:txBody>
      </p:sp>
      <p:pic>
        <p:nvPicPr>
          <p:cNvPr id="31" name="Picture 30" descr="image.png"/>
          <p:cNvPicPr>
            <a:picLocks noChangeAspect="1"/>
          </p:cNvPicPr>
          <p:nvPr/>
        </p:nvPicPr>
        <p:blipFill>
          <a:blip r:embed="rId9"/>
          <a:stretch>
            <a:fillRect/>
          </a:stretch>
        </p:blipFill>
        <p:spPr>
          <a:xfrm>
            <a:off x="6409944" y="3168396"/>
            <a:ext cx="114300" cy="133502"/>
          </a:xfrm>
          <a:prstGeom prst="rect">
            <a:avLst/>
          </a:prstGeom>
          <a:ln/>
        </p:spPr>
      </p:pic>
      <p:sp>
        <p:nvSpPr>
          <p:cNvPr id="32" name="TextBox 31"/>
          <p:cNvSpPr txBox="1"/>
          <p:nvPr/>
        </p:nvSpPr>
        <p:spPr>
          <a:xfrm>
            <a:off x="6620256" y="3382366"/>
            <a:ext cx="4991710" cy="438912"/>
          </a:xfrm>
          <a:prstGeom prst="rect">
            <a:avLst/>
          </a:prstGeom>
          <a:noFill/>
          <a:ln/>
        </p:spPr>
        <p:txBody>
          <a:bodyPr wrap="square" lIns="0" rIns="0" tIns="0" bIns="0">
            <a:noAutofit/>
          </a:bodyPr>
          <a:lstStyle/>
          <a:p>
            <a:r>
              <a:rPr sz="1100">
                <a:solidFill>
                  <a:srgbClr val="424245"/>
                </a:solidFill>
                <a:latin typeface="Noto Sans JP"/>
              </a:rPr>
              <a:t>傾き補正・二値化をパイプライン化。構造化にはPaddleOCR、レイアウト保持にはDonut/LayoutLMv3を採用。</a:t>
            </a:r>
          </a:p>
        </p:txBody>
      </p:sp>
      <p:pic>
        <p:nvPicPr>
          <p:cNvPr id="33" name="Picture 32" descr="image.png"/>
          <p:cNvPicPr>
            <a:picLocks noChangeAspect="1"/>
          </p:cNvPicPr>
          <p:nvPr/>
        </p:nvPicPr>
        <p:blipFill>
          <a:blip r:embed="rId10"/>
          <a:stretch>
            <a:fillRect/>
          </a:stretch>
        </p:blipFill>
        <p:spPr>
          <a:xfrm>
            <a:off x="8952890" y="3606394"/>
            <a:ext cx="1162202" cy="209398"/>
          </a:xfrm>
          <a:prstGeom prst="rect">
            <a:avLst/>
          </a:prstGeom>
          <a:ln/>
        </p:spPr>
      </p:pic>
      <p:sp>
        <p:nvSpPr>
          <p:cNvPr id="34" name="TextBox 33"/>
          <p:cNvSpPr txBox="1"/>
          <p:nvPr/>
        </p:nvSpPr>
        <p:spPr>
          <a:xfrm>
            <a:off x="8952890" y="3606394"/>
            <a:ext cx="1162202" cy="210312"/>
          </a:xfrm>
          <a:prstGeom prst="rect">
            <a:avLst/>
          </a:prstGeom>
          <a:noFill/>
          <a:ln>
            <a:solidFill>
              <a:srgbClr val="FFFFFF"/>
            </a:solidFill>
          </a:ln>
        </p:spPr>
        <p:txBody>
          <a:bodyPr wrap="square" lIns="0" rIns="0" tIns="0" bIns="0">
            <a:noAutofit/>
          </a:bodyPr>
          <a:lstStyle/>
          <a:p>
            <a:r>
              <a:rPr sz="900" b="1">
                <a:solidFill>
                  <a:srgbClr val="047857"/>
                </a:solidFill>
                <a:latin typeface="Noto Sans JP"/>
              </a:rPr>
              <a:t>PaddleOCR/Donut</a:t>
            </a:r>
          </a:p>
        </p:txBody>
      </p:sp>
      <p:pic>
        <p:nvPicPr>
          <p:cNvPr id="35" name="Picture 34" descr="image.png"/>
          <p:cNvPicPr>
            <a:picLocks noChangeAspect="1"/>
          </p:cNvPicPr>
          <p:nvPr/>
        </p:nvPicPr>
        <p:blipFill>
          <a:blip r:embed="rId9"/>
          <a:stretch>
            <a:fillRect/>
          </a:stretch>
        </p:blipFill>
        <p:spPr>
          <a:xfrm>
            <a:off x="6409944" y="3930091"/>
            <a:ext cx="114300" cy="133501"/>
          </a:xfrm>
          <a:prstGeom prst="rect">
            <a:avLst/>
          </a:prstGeom>
          <a:ln/>
        </p:spPr>
      </p:pic>
      <p:sp>
        <p:nvSpPr>
          <p:cNvPr id="36" name="TextBox 35"/>
          <p:cNvSpPr txBox="1"/>
          <p:nvPr/>
        </p:nvSpPr>
        <p:spPr>
          <a:xfrm>
            <a:off x="6620256" y="4144060"/>
            <a:ext cx="4991710" cy="438912"/>
          </a:xfrm>
          <a:prstGeom prst="rect">
            <a:avLst/>
          </a:prstGeom>
          <a:noFill/>
          <a:ln/>
        </p:spPr>
        <p:txBody>
          <a:bodyPr wrap="square" lIns="0" rIns="0" tIns="0" bIns="0">
            <a:noAutofit/>
          </a:bodyPr>
          <a:lstStyle/>
          <a:p>
            <a:r>
              <a:rPr sz="1100">
                <a:solidFill>
                  <a:srgbClr val="424245"/>
                </a:solidFill>
                <a:latin typeface="Noto Sans JP"/>
              </a:rPr>
              <a:t>回答の根拠となったOCRテキストの断片（スニペット）を必ず提示し、ユーザーが原文を確認できるUIにする。</a:t>
            </a:r>
          </a:p>
        </p:txBody>
      </p:sp>
      <p:pic>
        <p:nvPicPr>
          <p:cNvPr id="37" name="Picture 36" descr="image.png"/>
          <p:cNvPicPr>
            <a:picLocks noChangeAspect="1"/>
          </p:cNvPicPr>
          <p:nvPr/>
        </p:nvPicPr>
        <p:blipFill>
          <a:blip r:embed="rId11"/>
          <a:stretch>
            <a:fillRect/>
          </a:stretch>
        </p:blipFill>
        <p:spPr>
          <a:xfrm>
            <a:off x="8963863" y="4368089"/>
            <a:ext cx="619049" cy="209398"/>
          </a:xfrm>
          <a:prstGeom prst="rect">
            <a:avLst/>
          </a:prstGeom>
          <a:ln/>
        </p:spPr>
      </p:pic>
      <p:sp>
        <p:nvSpPr>
          <p:cNvPr id="38" name="TextBox 37"/>
          <p:cNvSpPr txBox="1"/>
          <p:nvPr/>
        </p:nvSpPr>
        <p:spPr>
          <a:xfrm>
            <a:off x="8963863" y="4368089"/>
            <a:ext cx="619963" cy="210312"/>
          </a:xfrm>
          <a:prstGeom prst="rect">
            <a:avLst/>
          </a:prstGeom>
          <a:noFill/>
          <a:ln>
            <a:solidFill>
              <a:srgbClr val="FFFFFF"/>
            </a:solidFill>
          </a:ln>
        </p:spPr>
        <p:txBody>
          <a:bodyPr wrap="square" lIns="0" rIns="0" tIns="0" bIns="0">
            <a:noAutofit/>
          </a:bodyPr>
          <a:lstStyle/>
          <a:p>
            <a:r>
              <a:rPr sz="900" b="1">
                <a:solidFill>
                  <a:srgbClr val="047857"/>
                </a:solidFill>
                <a:latin typeface="Noto Sans JP"/>
              </a:rPr>
              <a:t>Verify UI</a:t>
            </a:r>
          </a:p>
        </p:txBody>
      </p:sp>
      <p:pic>
        <p:nvPicPr>
          <p:cNvPr id="39" name="Picture 38" descr="image.png"/>
          <p:cNvPicPr>
            <a:picLocks noChangeAspect="1"/>
          </p:cNvPicPr>
          <p:nvPr/>
        </p:nvPicPr>
        <p:blipFill>
          <a:blip r:embed="rId9"/>
          <a:stretch>
            <a:fillRect/>
          </a:stretch>
        </p:blipFill>
        <p:spPr>
          <a:xfrm>
            <a:off x="6409944" y="4691786"/>
            <a:ext cx="114300" cy="133501"/>
          </a:xfrm>
          <a:prstGeom prst="rect">
            <a:avLst/>
          </a:prstGeom>
          <a:ln/>
        </p:spPr>
      </p:pic>
      <p:sp>
        <p:nvSpPr>
          <p:cNvPr id="40" name="TextBox 39"/>
          <p:cNvSpPr txBox="1"/>
          <p:nvPr/>
        </p:nvSpPr>
        <p:spPr>
          <a:xfrm>
            <a:off x="6620256" y="4906670"/>
            <a:ext cx="4991710" cy="438912"/>
          </a:xfrm>
          <a:prstGeom prst="rect">
            <a:avLst/>
          </a:prstGeom>
          <a:noFill/>
          <a:ln/>
        </p:spPr>
        <p:txBody>
          <a:bodyPr wrap="square" lIns="0" rIns="0" tIns="0" bIns="0">
            <a:noAutofit/>
          </a:bodyPr>
          <a:lstStyle/>
          <a:p>
            <a:r>
              <a:rPr sz="1100">
                <a:solidFill>
                  <a:srgbClr val="424245"/>
                </a:solidFill>
                <a:latin typeface="Noto Sans JP"/>
              </a:rPr>
              <a:t>OCRとEmbeddingは夜間バッチで済ませ、検索時はRerankerで精度向上に集中。LLMには「引用外は回答不可」を指示。</a:t>
            </a:r>
          </a:p>
        </p:txBody>
      </p:sp>
      <p:pic>
        <p:nvPicPr>
          <p:cNvPr id="41" name="Picture 40" descr="image.png"/>
          <p:cNvPicPr>
            <a:picLocks noChangeAspect="1"/>
          </p:cNvPicPr>
          <p:nvPr/>
        </p:nvPicPr>
        <p:blipFill>
          <a:blip r:embed="rId12"/>
          <a:stretch>
            <a:fillRect/>
          </a:stretch>
        </p:blipFill>
        <p:spPr>
          <a:xfrm>
            <a:off x="9663379" y="5129784"/>
            <a:ext cx="905255" cy="209398"/>
          </a:xfrm>
          <a:prstGeom prst="rect">
            <a:avLst/>
          </a:prstGeom>
          <a:ln/>
        </p:spPr>
      </p:pic>
      <p:sp>
        <p:nvSpPr>
          <p:cNvPr id="42" name="TextBox 41"/>
          <p:cNvSpPr txBox="1"/>
          <p:nvPr/>
        </p:nvSpPr>
        <p:spPr>
          <a:xfrm>
            <a:off x="9663379" y="5129784"/>
            <a:ext cx="905255" cy="210312"/>
          </a:xfrm>
          <a:prstGeom prst="rect">
            <a:avLst/>
          </a:prstGeom>
          <a:noFill/>
          <a:ln>
            <a:solidFill>
              <a:srgbClr val="FFFFFF"/>
            </a:solidFill>
          </a:ln>
        </p:spPr>
        <p:txBody>
          <a:bodyPr wrap="square" lIns="0" rIns="0" tIns="0" bIns="0">
            <a:noAutofit/>
          </a:bodyPr>
          <a:lstStyle/>
          <a:p>
            <a:r>
              <a:rPr sz="900" b="1">
                <a:solidFill>
                  <a:srgbClr val="047857"/>
                </a:solidFill>
                <a:latin typeface="Noto Sans JP"/>
              </a:rPr>
              <a:t>Batch/Rerank</a:t>
            </a:r>
          </a:p>
        </p:txBody>
      </p:sp>
      <p:sp>
        <p:nvSpPr>
          <p:cNvPr id="43" name="Rectangle 42"/>
          <p:cNvSpPr/>
          <p:nvPr/>
        </p:nvSpPr>
        <p:spPr>
          <a:xfrm>
            <a:off x="457200" y="5768035"/>
            <a:ext cx="11277295" cy="961948"/>
          </a:xfrm>
          <a:prstGeom prst="rect">
            <a:avLst/>
          </a:prstGeom>
          <a:solidFill>
            <a:srgbClr val="FFFBEB"/>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13"/>
          <a:stretch>
            <a:fillRect/>
          </a:stretch>
        </p:blipFill>
        <p:spPr>
          <a:xfrm>
            <a:off x="619049" y="5949086"/>
            <a:ext cx="133501" cy="171906"/>
          </a:xfrm>
          <a:prstGeom prst="rect">
            <a:avLst/>
          </a:prstGeom>
          <a:ln/>
        </p:spPr>
      </p:pic>
      <p:sp>
        <p:nvSpPr>
          <p:cNvPr id="45" name="TextBox 44"/>
          <p:cNvSpPr txBox="1"/>
          <p:nvPr/>
        </p:nvSpPr>
        <p:spPr>
          <a:xfrm>
            <a:off x="866850" y="5929884"/>
            <a:ext cx="10821010" cy="200253"/>
          </a:xfrm>
          <a:prstGeom prst="rect">
            <a:avLst/>
          </a:prstGeom>
          <a:noFill/>
          <a:ln/>
        </p:spPr>
        <p:txBody>
          <a:bodyPr wrap="square" lIns="0" rIns="0" tIns="0" bIns="0">
            <a:noAutofit/>
          </a:bodyPr>
          <a:lstStyle/>
          <a:p>
            <a:r>
              <a:rPr sz="1000" b="1">
                <a:solidFill>
                  <a:srgbClr val="92400E"/>
                </a:solidFill>
                <a:latin typeface="Noto Sans JP"/>
              </a:rPr>
              <a:t>実務上のポイント（Key Takeaway）</a:t>
            </a:r>
          </a:p>
        </p:txBody>
      </p:sp>
      <p:sp>
        <p:nvSpPr>
          <p:cNvPr id="46" name="TextBox 45"/>
          <p:cNvSpPr txBox="1"/>
          <p:nvPr/>
        </p:nvSpPr>
        <p:spPr>
          <a:xfrm>
            <a:off x="866850" y="6168542"/>
            <a:ext cx="10782605" cy="400507"/>
          </a:xfrm>
          <a:prstGeom prst="rect">
            <a:avLst/>
          </a:prstGeom>
          <a:noFill/>
          <a:ln/>
        </p:spPr>
        <p:txBody>
          <a:bodyPr wrap="square" lIns="0" rIns="0" tIns="0" bIns="0">
            <a:noAutofit/>
          </a:bodyPr>
          <a:lstStyle/>
          <a:p>
            <a:r>
              <a:rPr sz="1000">
                <a:solidFill>
                  <a:srgbClr val="92400E"/>
                </a:solidFill>
                <a:latin typeface="Noto Sans JP"/>
              </a:rPr>
              <a:t>PDF/画像RAGでは、Embeddingモデルの性能以前に「テキスト抽出の品質」が上限を決めます。Tesseract等の古典OCRで限界を感じたら、早めに視覚モデル（VLMやDocument AI）への切り替えを検討すべきです。</a:t>
            </a:r>
          </a:p>
        </p:txBody>
      </p:sp>
      <p:sp>
        <p:nvSpPr>
          <p:cNvPr id="47" name="Rectangle 46"/>
          <p:cNvSpPr/>
          <p:nvPr/>
        </p:nvSpPr>
        <p:spPr>
          <a:xfrm>
            <a:off x="0" y="7111289"/>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7111289"/>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712043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50" name="TextBox 49"/>
          <p:cNvSpPr txBox="1"/>
          <p:nvPr/>
        </p:nvSpPr>
        <p:spPr>
          <a:xfrm>
            <a:off x="11385194" y="7120433"/>
            <a:ext cx="428854" cy="171907"/>
          </a:xfrm>
          <a:prstGeom prst="rect">
            <a:avLst/>
          </a:prstGeom>
          <a:noFill/>
          <a:ln/>
        </p:spPr>
        <p:txBody>
          <a:bodyPr wrap="square" lIns="0" rIns="0" tIns="0" bIns="0">
            <a:noAutofit/>
          </a:bodyPr>
          <a:lstStyle/>
          <a:p>
            <a:r>
              <a:rPr sz="900">
                <a:solidFill>
                  <a:srgbClr val="86868B"/>
                </a:solidFill>
                <a:latin typeface="Noto Sans JP"/>
              </a:rPr>
              <a:t>64 / 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p:spPr>
      </p:pic>
      <p:sp>
        <p:nvSpPr>
          <p:cNvPr id="8" name="TextBox 7"/>
          <p:cNvSpPr txBox="1"/>
          <p:nvPr/>
        </p:nvSpPr>
        <p:spPr>
          <a:xfrm>
            <a:off x="914400" y="190195"/>
            <a:ext cx="5915254" cy="457200"/>
          </a:xfrm>
          <a:prstGeom prst="rect">
            <a:avLst/>
          </a:prstGeom>
          <a:noFill/>
          <a:ln/>
        </p:spPr>
        <p:txBody>
          <a:bodyPr wrap="square" lIns="0" rIns="0" tIns="0" bIns="0">
            <a:noAutofit/>
          </a:bodyPr>
          <a:lstStyle/>
          <a:p>
            <a:r>
              <a:rPr sz="2400" b="1">
                <a:solidFill>
                  <a:srgbClr val="1D1D1F"/>
                </a:solidFill>
                <a:latin typeface="Noto Sans JP"/>
              </a:rPr>
              <a:t>ユースケース：画像理解（VLM）— 3構成</a:t>
            </a:r>
          </a:p>
        </p:txBody>
      </p:sp>
      <p:sp>
        <p:nvSpPr>
          <p:cNvPr id="9" name="TextBox 8"/>
          <p:cNvSpPr txBox="1"/>
          <p:nvPr/>
        </p:nvSpPr>
        <p:spPr>
          <a:xfrm>
            <a:off x="8067751" y="290779"/>
            <a:ext cx="3867912" cy="257861"/>
          </a:xfrm>
          <a:prstGeom prst="rect">
            <a:avLst/>
          </a:prstGeom>
          <a:noFill/>
          <a:ln/>
        </p:spPr>
        <p:txBody>
          <a:bodyPr wrap="square" lIns="0" rIns="0" tIns="0" bIns="0">
            <a:noAutofit/>
          </a:bodyPr>
          <a:lstStyle/>
          <a:p>
            <a:r>
              <a:rPr sz="1300">
                <a:solidFill>
                  <a:srgbClr val="86868B"/>
                </a:solidFill>
                <a:latin typeface="Noto Sans JP"/>
              </a:rPr>
              <a:t>スクショ/写真の説明・抽出：推奨スタック比較</a:t>
            </a:r>
          </a:p>
        </p:txBody>
      </p:sp>
      <p:sp>
        <p:nvSpPr>
          <p:cNvPr id="10" name="Rectangle 9"/>
          <p:cNvSpPr/>
          <p:nvPr/>
        </p:nvSpPr>
        <p:spPr>
          <a:xfrm>
            <a:off x="457200" y="1133856"/>
            <a:ext cx="11277295" cy="87599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noFill/>
          <a:ln/>
        </p:spPr>
        <p:txBody>
          <a:bodyPr wrap="square" lIns="0" rIns="0" tIns="0" bIns="0">
            <a:noAutofit/>
          </a:bodyPr>
          <a:lstStyle/>
          <a:p>
            <a:r>
              <a:rPr sz="1500" b="1">
                <a:solidFill>
                  <a:srgbClr val="1D1D1F"/>
                </a:solidFill>
                <a:latin typeface="Noto Sans JP"/>
              </a:rPr>
              <a:t> 結論：2B〜7B級VLMがローカルの現実ライン。72B級は上位機前提となります。</a:t>
            </a:r>
          </a:p>
          <a:p>
            <a:r>
              <a:rPr sz="1200" b="1">
                <a:solidFill>
                  <a:srgbClr val="424245"/>
                </a:solidFill>
                <a:latin typeface="Noto Sans JP"/>
              </a:rPr>
              <a:t>※視覚トークン肥大による速度/メモリ急落を防ぐため、解像度・max-pixelsの制御が必須です。</a:t>
            </a:r>
          </a:p>
        </p:txBody>
      </p:sp>
      <p:sp>
        <p:nvSpPr>
          <p:cNvPr id="13" name="TextBox 12"/>
          <p:cNvSpPr txBox="1"/>
          <p:nvPr/>
        </p:nvSpPr>
        <p:spPr>
          <a:xfrm>
            <a:off x="457200" y="2295144"/>
            <a:ext cx="3638398" cy="4695444"/>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44422" y="2514600"/>
            <a:ext cx="219455" cy="190194"/>
          </a:xfrm>
          <a:prstGeom prst="rect">
            <a:avLst/>
          </a:prstGeom>
          <a:ln/>
        </p:spPr>
      </p:pic>
      <p:sp>
        <p:nvSpPr>
          <p:cNvPr id="17" name="TextBox 16"/>
          <p:cNvSpPr txBox="1"/>
          <p:nvPr/>
        </p:nvSpPr>
        <p:spPr>
          <a:xfrm>
            <a:off x="1901952" y="2467051"/>
            <a:ext cx="1234439"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20" name="Picture 19" descr="image.png"/>
          <p:cNvPicPr>
            <a:picLocks noChangeAspect="1"/>
          </p:cNvPicPr>
          <p:nvPr/>
        </p:nvPicPr>
        <p:blipFill>
          <a:blip r:embed="rId4"/>
          <a:stretch>
            <a:fillRect/>
          </a:stretch>
        </p:blipFill>
        <p:spPr>
          <a:xfrm>
            <a:off x="657454" y="3329329"/>
            <a:ext cx="3238805" cy="352043"/>
          </a:xfrm>
          <a:prstGeom prst="rect">
            <a:avLst/>
          </a:prstGeom>
          <a:ln/>
        </p:spPr>
      </p:pic>
      <p:sp>
        <p:nvSpPr>
          <p:cNvPr id="21" name="TextBox 20"/>
          <p:cNvSpPr txBox="1"/>
          <p:nvPr/>
        </p:nvSpPr>
        <p:spPr>
          <a:xfrm>
            <a:off x="657454" y="3329329"/>
            <a:ext cx="3238805"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Apple 16GB / VRAM 8GB級</a:t>
            </a:r>
          </a:p>
        </p:txBody>
      </p:sp>
      <p:sp>
        <p:nvSpPr>
          <p:cNvPr id="22" name="TextBox 21"/>
          <p:cNvSpPr txBox="1"/>
          <p:nvPr/>
        </p:nvSpPr>
        <p:spPr>
          <a:xfrm>
            <a:off x="657454" y="3795674"/>
            <a:ext cx="3353105" cy="191110"/>
          </a:xfrm>
          <a:prstGeom prst="rect">
            <a:avLst/>
          </a:prstGeom>
          <a:noFill/>
          <a:ln/>
        </p:spPr>
        <p:txBody>
          <a:bodyPr wrap="square" lIns="0" rIns="0" tIns="0" bIns="0">
            <a:noAutofit/>
          </a:bodyPr>
          <a:lstStyle/>
          <a:p>
            <a:r>
              <a:rPr sz="900" b="1">
                <a:solidFill>
                  <a:srgbClr val="86868B"/>
                </a:solidFill>
                <a:latin typeface="Noto Sans JP"/>
              </a:rPr>
              <a:t>VLM Model</a:t>
            </a:r>
          </a:p>
        </p:txBody>
      </p:sp>
      <p:pic>
        <p:nvPicPr>
          <p:cNvPr id="23" name="Picture 22" descr="image.png"/>
          <p:cNvPicPr>
            <a:picLocks noChangeAspect="1"/>
          </p:cNvPicPr>
          <p:nvPr/>
        </p:nvPicPr>
        <p:blipFill>
          <a:blip r:embed="rId5"/>
          <a:stretch>
            <a:fillRect/>
          </a:stretch>
        </p:blipFill>
        <p:spPr>
          <a:xfrm>
            <a:off x="657454" y="4019702"/>
            <a:ext cx="3238805" cy="552298"/>
          </a:xfrm>
          <a:prstGeom prst="rect">
            <a:avLst/>
          </a:prstGeom>
          <a:ln/>
        </p:spPr>
      </p:pic>
      <p:sp>
        <p:nvSpPr>
          <p:cNvPr id="24" name="TextBox 23"/>
          <p:cNvSpPr txBox="1"/>
          <p:nvPr/>
        </p:nvSpPr>
        <p:spPr>
          <a:xfrm>
            <a:off x="657454" y="401970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Qwen2-VL 2B 軽量・高速な視覚理解</a:t>
            </a:r>
          </a:p>
        </p:txBody>
      </p:sp>
      <p:sp>
        <p:nvSpPr>
          <p:cNvPr id="25" name="TextBox 24"/>
          <p:cNvSpPr txBox="1"/>
          <p:nvPr/>
        </p:nvSpPr>
        <p:spPr>
          <a:xfrm>
            <a:off x="657454" y="4686300"/>
            <a:ext cx="3353105" cy="191110"/>
          </a:xfrm>
          <a:prstGeom prst="rect">
            <a:avLst/>
          </a:prstGeom>
          <a:noFill/>
          <a:ln/>
        </p:spPr>
        <p:txBody>
          <a:bodyPr wrap="square" lIns="0" rIns="0" tIns="0" bIns="0">
            <a:noAutofit/>
          </a:bodyPr>
          <a:lstStyle/>
          <a:p>
            <a:r>
              <a:rPr sz="900" b="1">
                <a:solidFill>
                  <a:srgbClr val="86868B"/>
                </a:solidFill>
                <a:latin typeface="Noto Sans JP"/>
              </a:rPr>
              <a:t>Runtime</a:t>
            </a:r>
          </a:p>
        </p:txBody>
      </p:sp>
      <p:pic>
        <p:nvPicPr>
          <p:cNvPr id="26" name="Picture 25" descr="image.png"/>
          <p:cNvPicPr>
            <a:picLocks noChangeAspect="1"/>
          </p:cNvPicPr>
          <p:nvPr/>
        </p:nvPicPr>
        <p:blipFill>
          <a:blip r:embed="rId5"/>
          <a:stretch>
            <a:fillRect/>
          </a:stretch>
        </p:blipFill>
        <p:spPr>
          <a:xfrm>
            <a:off x="657454" y="4910328"/>
            <a:ext cx="3238805" cy="552298"/>
          </a:xfrm>
          <a:prstGeom prst="rect">
            <a:avLst/>
          </a:prstGeom>
          <a:ln/>
        </p:spPr>
      </p:pic>
      <p:sp>
        <p:nvSpPr>
          <p:cNvPr id="27" name="TextBox 26"/>
          <p:cNvSpPr txBox="1"/>
          <p:nvPr/>
        </p:nvSpPr>
        <p:spPr>
          <a:xfrm>
            <a:off x="657454" y="4910328"/>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mac: MLX-VLM (公式例あり) Win: GPU推論 (transformers等)</a:t>
            </a:r>
          </a:p>
        </p:txBody>
      </p:sp>
      <p:sp>
        <p:nvSpPr>
          <p:cNvPr id="28" name="TextBox 27"/>
          <p:cNvSpPr txBox="1"/>
          <p:nvPr/>
        </p:nvSpPr>
        <p:spPr>
          <a:xfrm>
            <a:off x="657454" y="5576926"/>
            <a:ext cx="3353105" cy="191110"/>
          </a:xfrm>
          <a:prstGeom prst="rect">
            <a:avLst/>
          </a:prstGeom>
          <a:noFill/>
          <a:ln/>
        </p:spPr>
        <p:txBody>
          <a:bodyPr wrap="square" lIns="0" rIns="0" tIns="0" bIns="0">
            <a:noAutofit/>
          </a:bodyPr>
          <a:lstStyle/>
          <a:p>
            <a:r>
              <a:rPr sz="900" b="1">
                <a:solidFill>
                  <a:srgbClr val="86868B"/>
                </a:solidFill>
                <a:latin typeface="Noto Sans JP"/>
              </a:rPr>
              <a:t>Key Point</a:t>
            </a:r>
          </a:p>
        </p:txBody>
      </p:sp>
      <p:pic>
        <p:nvPicPr>
          <p:cNvPr id="29" name="Picture 28" descr="image.png"/>
          <p:cNvPicPr>
            <a:picLocks noChangeAspect="1"/>
          </p:cNvPicPr>
          <p:nvPr/>
        </p:nvPicPr>
        <p:blipFill>
          <a:blip r:embed="rId4"/>
          <a:stretch>
            <a:fillRect/>
          </a:stretch>
        </p:blipFill>
        <p:spPr>
          <a:xfrm>
            <a:off x="657454" y="5800954"/>
            <a:ext cx="3238805" cy="352043"/>
          </a:xfrm>
          <a:prstGeom prst="rect">
            <a:avLst/>
          </a:prstGeom>
          <a:ln/>
        </p:spPr>
      </p:pic>
      <p:sp>
        <p:nvSpPr>
          <p:cNvPr id="30" name="TextBox 29"/>
          <p:cNvSpPr txBox="1"/>
          <p:nvPr/>
        </p:nvSpPr>
        <p:spPr>
          <a:xfrm>
            <a:off x="657454" y="5800954"/>
            <a:ext cx="3238805"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解像度を制限しメモリ圧迫を回避</a:t>
            </a:r>
          </a:p>
        </p:txBody>
      </p:sp>
      <p:pic>
        <p:nvPicPr>
          <p:cNvPr id="31" name="Picture 30" descr="image.png"/>
          <p:cNvPicPr>
            <a:picLocks noChangeAspect="1"/>
          </p:cNvPicPr>
          <p:nvPr/>
        </p:nvPicPr>
        <p:blipFill>
          <a:blip r:embed="rId6"/>
          <a:stretch>
            <a:fillRect/>
          </a:stretch>
        </p:blipFill>
        <p:spPr>
          <a:xfrm>
            <a:off x="657454" y="6543445"/>
            <a:ext cx="1561794" cy="247802"/>
          </a:xfrm>
          <a:prstGeom prst="rect">
            <a:avLst/>
          </a:prstGeom>
          <a:ln/>
        </p:spPr>
      </p:pic>
      <p:sp>
        <p:nvSpPr>
          <p:cNvPr id="32" name="TextBox 31"/>
          <p:cNvSpPr txBox="1"/>
          <p:nvPr/>
        </p:nvSpPr>
        <p:spPr>
          <a:xfrm>
            <a:off x="876910" y="6543445"/>
            <a:ext cx="1343254"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スクショ説明・簡易OCR</a:t>
            </a:r>
          </a:p>
        </p:txBody>
      </p:sp>
      <p:pic>
        <p:nvPicPr>
          <p:cNvPr id="33" name="Picture 32" descr="image.png"/>
          <p:cNvPicPr>
            <a:picLocks noChangeAspect="1"/>
          </p:cNvPicPr>
          <p:nvPr/>
        </p:nvPicPr>
        <p:blipFill>
          <a:blip r:embed="rId7"/>
          <a:stretch>
            <a:fillRect/>
          </a:stretch>
        </p:blipFill>
        <p:spPr>
          <a:xfrm>
            <a:off x="733349" y="6614770"/>
            <a:ext cx="105155" cy="114300"/>
          </a:xfrm>
          <a:prstGeom prst="rect">
            <a:avLst/>
          </a:prstGeom>
          <a:ln/>
        </p:spPr>
      </p:pic>
      <p:sp>
        <p:nvSpPr>
          <p:cNvPr id="34" name="TextBox 33"/>
          <p:cNvSpPr txBox="1"/>
          <p:nvPr/>
        </p:nvSpPr>
        <p:spPr>
          <a:xfrm>
            <a:off x="4280306" y="2295144"/>
            <a:ext cx="3638398" cy="4695444"/>
          </a:xfrm>
          <a:prstGeom prst="rect">
            <a:avLst/>
          </a:prstGeom>
          <a:noFill/>
          <a:ln w="12700">
            <a:solidFill>
              <a:srgbClr val="E5E5E5"/>
            </a:solidFill>
          </a:ln>
        </p:spPr>
        <p:txBody>
          <a:bodyPr wrap="square" lIns="0" rIns="0" tIns="0" bIns="0">
            <a:noAutofit/>
          </a:bodyPr>
          <a:lstStyle/>
          <a:p/>
        </p:txBody>
      </p:sp>
      <p:sp>
        <p:nvSpPr>
          <p:cNvPr id="35" name="Rectangle 34"/>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8"/>
          <a:stretch>
            <a:fillRect/>
          </a:stretch>
        </p:blipFill>
        <p:spPr>
          <a:xfrm>
            <a:off x="5462626" y="2514600"/>
            <a:ext cx="219456" cy="190194"/>
          </a:xfrm>
          <a:prstGeom prst="rect">
            <a:avLst/>
          </a:prstGeom>
          <a:ln/>
        </p:spPr>
      </p:pic>
      <p:sp>
        <p:nvSpPr>
          <p:cNvPr id="38" name="TextBox 37"/>
          <p:cNvSpPr txBox="1"/>
          <p:nvPr/>
        </p:nvSpPr>
        <p:spPr>
          <a:xfrm>
            <a:off x="5820156" y="2467051"/>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39" name="Rectangle 38"/>
          <p:cNvSpPr/>
          <p:nvPr/>
        </p:nvSpPr>
        <p:spPr>
          <a:xfrm>
            <a:off x="4289450"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79646" y="3105302"/>
            <a:ext cx="3353104"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41" name="Picture 40" descr="image.png"/>
          <p:cNvPicPr>
            <a:picLocks noChangeAspect="1"/>
          </p:cNvPicPr>
          <p:nvPr/>
        </p:nvPicPr>
        <p:blipFill>
          <a:blip r:embed="rId4"/>
          <a:stretch>
            <a:fillRect/>
          </a:stretch>
        </p:blipFill>
        <p:spPr>
          <a:xfrm>
            <a:off x="4479646" y="3329329"/>
            <a:ext cx="3238804" cy="352043"/>
          </a:xfrm>
          <a:prstGeom prst="rect">
            <a:avLst/>
          </a:prstGeom>
          <a:ln/>
        </p:spPr>
      </p:pic>
      <p:sp>
        <p:nvSpPr>
          <p:cNvPr id="42" name="TextBox 41"/>
          <p:cNvSpPr txBox="1"/>
          <p:nvPr/>
        </p:nvSpPr>
        <p:spPr>
          <a:xfrm>
            <a:off x="4479646" y="3329329"/>
            <a:ext cx="3238804"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Apple 32GB+ / VRAM 16-24GB+</a:t>
            </a:r>
          </a:p>
        </p:txBody>
      </p:sp>
      <p:sp>
        <p:nvSpPr>
          <p:cNvPr id="43" name="TextBox 42"/>
          <p:cNvSpPr txBox="1"/>
          <p:nvPr/>
        </p:nvSpPr>
        <p:spPr>
          <a:xfrm>
            <a:off x="4479646" y="3795674"/>
            <a:ext cx="3353104" cy="191110"/>
          </a:xfrm>
          <a:prstGeom prst="rect">
            <a:avLst/>
          </a:prstGeom>
          <a:noFill/>
          <a:ln/>
        </p:spPr>
        <p:txBody>
          <a:bodyPr wrap="square" lIns="0" rIns="0" tIns="0" bIns="0">
            <a:noAutofit/>
          </a:bodyPr>
          <a:lstStyle/>
          <a:p>
            <a:r>
              <a:rPr sz="900" b="1">
                <a:solidFill>
                  <a:srgbClr val="86868B"/>
                </a:solidFill>
                <a:latin typeface="Noto Sans JP"/>
              </a:rPr>
              <a:t>VLM Model</a:t>
            </a:r>
          </a:p>
        </p:txBody>
      </p:sp>
      <p:pic>
        <p:nvPicPr>
          <p:cNvPr id="44" name="Picture 43" descr="image.png"/>
          <p:cNvPicPr>
            <a:picLocks noChangeAspect="1"/>
          </p:cNvPicPr>
          <p:nvPr/>
        </p:nvPicPr>
        <p:blipFill>
          <a:blip r:embed="rId5"/>
          <a:stretch>
            <a:fillRect/>
          </a:stretch>
        </p:blipFill>
        <p:spPr>
          <a:xfrm>
            <a:off x="4479646" y="4019702"/>
            <a:ext cx="3238804" cy="552298"/>
          </a:xfrm>
          <a:prstGeom prst="rect">
            <a:avLst/>
          </a:prstGeom>
          <a:ln/>
        </p:spPr>
      </p:pic>
      <p:sp>
        <p:nvSpPr>
          <p:cNvPr id="45" name="TextBox 44"/>
          <p:cNvSpPr txBox="1"/>
          <p:nvPr/>
        </p:nvSpPr>
        <p:spPr>
          <a:xfrm>
            <a:off x="4479646" y="4019702"/>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Qwen2-VL 7B / InternVL2 (必要に応じて上位モデル)</a:t>
            </a:r>
          </a:p>
        </p:txBody>
      </p:sp>
      <p:sp>
        <p:nvSpPr>
          <p:cNvPr id="46" name="TextBox 45"/>
          <p:cNvSpPr txBox="1"/>
          <p:nvPr/>
        </p:nvSpPr>
        <p:spPr>
          <a:xfrm>
            <a:off x="4479646" y="4686300"/>
            <a:ext cx="3353104" cy="191110"/>
          </a:xfrm>
          <a:prstGeom prst="rect">
            <a:avLst/>
          </a:prstGeom>
          <a:noFill/>
          <a:ln/>
        </p:spPr>
        <p:txBody>
          <a:bodyPr wrap="square" lIns="0" rIns="0" tIns="0" bIns="0">
            <a:noAutofit/>
          </a:bodyPr>
          <a:lstStyle/>
          <a:p>
            <a:r>
              <a:rPr sz="900" b="1">
                <a:solidFill>
                  <a:srgbClr val="86868B"/>
                </a:solidFill>
                <a:latin typeface="Noto Sans JP"/>
              </a:rPr>
              <a:t>Strategy</a:t>
            </a:r>
          </a:p>
        </p:txBody>
      </p:sp>
      <p:pic>
        <p:nvPicPr>
          <p:cNvPr id="47" name="Picture 46" descr="image.png"/>
          <p:cNvPicPr>
            <a:picLocks noChangeAspect="1"/>
          </p:cNvPicPr>
          <p:nvPr/>
        </p:nvPicPr>
        <p:blipFill>
          <a:blip r:embed="rId5"/>
          <a:stretch>
            <a:fillRect/>
          </a:stretch>
        </p:blipFill>
        <p:spPr>
          <a:xfrm>
            <a:off x="4479646" y="4910328"/>
            <a:ext cx="3238804" cy="552298"/>
          </a:xfrm>
          <a:prstGeom prst="rect">
            <a:avLst/>
          </a:prstGeom>
          <a:ln/>
        </p:spPr>
      </p:pic>
      <p:sp>
        <p:nvSpPr>
          <p:cNvPr id="48" name="TextBox 47"/>
          <p:cNvSpPr txBox="1"/>
          <p:nvPr/>
        </p:nvSpPr>
        <p:spPr>
          <a:xfrm>
            <a:off x="4479646" y="4910328"/>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画像→テキスト抽出→Embedding →RAG融合 (ハイブリッド検索)</a:t>
            </a:r>
          </a:p>
        </p:txBody>
      </p:sp>
      <p:sp>
        <p:nvSpPr>
          <p:cNvPr id="49" name="TextBox 48"/>
          <p:cNvSpPr txBox="1"/>
          <p:nvPr/>
        </p:nvSpPr>
        <p:spPr>
          <a:xfrm>
            <a:off x="4479646" y="5576926"/>
            <a:ext cx="3353104" cy="191110"/>
          </a:xfrm>
          <a:prstGeom prst="rect">
            <a:avLst/>
          </a:prstGeom>
          <a:noFill/>
          <a:ln/>
        </p:spPr>
        <p:txBody>
          <a:bodyPr wrap="square" lIns="0" rIns="0" tIns="0" bIns="0">
            <a:noAutofit/>
          </a:bodyPr>
          <a:lstStyle/>
          <a:p>
            <a:r>
              <a:rPr sz="900" b="1">
                <a:solidFill>
                  <a:srgbClr val="86868B"/>
                </a:solidFill>
                <a:latin typeface="Noto Sans JP"/>
              </a:rPr>
              <a:t>Key Point</a:t>
            </a:r>
          </a:p>
        </p:txBody>
      </p:sp>
      <p:pic>
        <p:nvPicPr>
          <p:cNvPr id="50" name="Picture 49" descr="image.png"/>
          <p:cNvPicPr>
            <a:picLocks noChangeAspect="1"/>
          </p:cNvPicPr>
          <p:nvPr/>
        </p:nvPicPr>
        <p:blipFill>
          <a:blip r:embed="rId4"/>
          <a:stretch>
            <a:fillRect/>
          </a:stretch>
        </p:blipFill>
        <p:spPr>
          <a:xfrm>
            <a:off x="4479646" y="5800954"/>
            <a:ext cx="3238804" cy="352043"/>
          </a:xfrm>
          <a:prstGeom prst="rect">
            <a:avLst/>
          </a:prstGeom>
          <a:ln/>
        </p:spPr>
      </p:pic>
      <p:sp>
        <p:nvSpPr>
          <p:cNvPr id="51" name="TextBox 50"/>
          <p:cNvSpPr txBox="1"/>
          <p:nvPr/>
        </p:nvSpPr>
        <p:spPr>
          <a:xfrm>
            <a:off x="4479646" y="5800954"/>
            <a:ext cx="3238804"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OCR-freeの図表理解能力を活用</a:t>
            </a:r>
          </a:p>
        </p:txBody>
      </p:sp>
      <p:pic>
        <p:nvPicPr>
          <p:cNvPr id="52" name="Picture 51" descr="image.png"/>
          <p:cNvPicPr>
            <a:picLocks noChangeAspect="1"/>
          </p:cNvPicPr>
          <p:nvPr/>
        </p:nvPicPr>
        <p:blipFill>
          <a:blip r:embed="rId9"/>
          <a:stretch>
            <a:fillRect/>
          </a:stretch>
        </p:blipFill>
        <p:spPr>
          <a:xfrm>
            <a:off x="4479646" y="6543445"/>
            <a:ext cx="1333195" cy="247802"/>
          </a:xfrm>
          <a:prstGeom prst="rect">
            <a:avLst/>
          </a:prstGeom>
          <a:ln/>
        </p:spPr>
      </p:pic>
      <p:sp>
        <p:nvSpPr>
          <p:cNvPr id="53" name="TextBox 52"/>
          <p:cNvSpPr txBox="1"/>
          <p:nvPr/>
        </p:nvSpPr>
        <p:spPr>
          <a:xfrm>
            <a:off x="4699102" y="6543445"/>
            <a:ext cx="1114653"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図表理解・情報抽出</a:t>
            </a:r>
          </a:p>
        </p:txBody>
      </p:sp>
      <p:pic>
        <p:nvPicPr>
          <p:cNvPr id="54" name="Picture 53" descr="image.png"/>
          <p:cNvPicPr>
            <a:picLocks noChangeAspect="1"/>
          </p:cNvPicPr>
          <p:nvPr/>
        </p:nvPicPr>
        <p:blipFill>
          <a:blip r:embed="rId7"/>
          <a:stretch>
            <a:fillRect/>
          </a:stretch>
        </p:blipFill>
        <p:spPr>
          <a:xfrm>
            <a:off x="4556455" y="6614770"/>
            <a:ext cx="105155" cy="114300"/>
          </a:xfrm>
          <a:prstGeom prst="rect">
            <a:avLst/>
          </a:prstGeom>
          <a:ln/>
        </p:spPr>
      </p:pic>
      <p:sp>
        <p:nvSpPr>
          <p:cNvPr id="55" name="TextBox 54"/>
          <p:cNvSpPr txBox="1"/>
          <p:nvPr/>
        </p:nvSpPr>
        <p:spPr>
          <a:xfrm>
            <a:off x="8102497" y="2295144"/>
            <a:ext cx="3638398" cy="4695444"/>
          </a:xfrm>
          <a:prstGeom prst="rect">
            <a:avLst/>
          </a:prstGeom>
          <a:noFill/>
          <a:ln w="12700">
            <a:solidFill>
              <a:srgbClr val="E5E5E5"/>
            </a:solidFill>
          </a:ln>
        </p:spPr>
        <p:txBody>
          <a:bodyPr wrap="square" lIns="0" rIns="0" tIns="0" bIns="0">
            <a:noAutofit/>
          </a:bodyPr>
          <a:lstStyle/>
          <a:p/>
        </p:txBody>
      </p:sp>
      <p:sp>
        <p:nvSpPr>
          <p:cNvPr id="56" name="Rectangle 55"/>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mage.png"/>
          <p:cNvPicPr>
            <a:picLocks noChangeAspect="1"/>
          </p:cNvPicPr>
          <p:nvPr/>
        </p:nvPicPr>
        <p:blipFill>
          <a:blip r:embed="rId10"/>
          <a:stretch>
            <a:fillRect/>
          </a:stretch>
        </p:blipFill>
        <p:spPr>
          <a:xfrm>
            <a:off x="9109253" y="2514600"/>
            <a:ext cx="190194" cy="190194"/>
          </a:xfrm>
          <a:prstGeom prst="rect">
            <a:avLst/>
          </a:prstGeom>
          <a:ln/>
        </p:spPr>
      </p:pic>
      <p:sp>
        <p:nvSpPr>
          <p:cNvPr id="59" name="TextBox 58"/>
          <p:cNvSpPr txBox="1"/>
          <p:nvPr/>
        </p:nvSpPr>
        <p:spPr>
          <a:xfrm>
            <a:off x="9452153" y="2467051"/>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60" name="Rectangle 59"/>
          <p:cNvSpPr/>
          <p:nvPr/>
        </p:nvSpPr>
        <p:spPr>
          <a:xfrm>
            <a:off x="8112557" y="2915107"/>
            <a:ext cx="3619195" cy="40672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02752" y="3105302"/>
            <a:ext cx="3353105"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62" name="Picture 61" descr="image.png"/>
          <p:cNvPicPr>
            <a:picLocks noChangeAspect="1"/>
          </p:cNvPicPr>
          <p:nvPr/>
        </p:nvPicPr>
        <p:blipFill>
          <a:blip r:embed="rId4"/>
          <a:stretch>
            <a:fillRect/>
          </a:stretch>
        </p:blipFill>
        <p:spPr>
          <a:xfrm>
            <a:off x="8302752" y="3329329"/>
            <a:ext cx="3238805" cy="352043"/>
          </a:xfrm>
          <a:prstGeom prst="rect">
            <a:avLst/>
          </a:prstGeom>
          <a:ln/>
        </p:spPr>
      </p:pic>
      <p:sp>
        <p:nvSpPr>
          <p:cNvPr id="63" name="TextBox 62"/>
          <p:cNvSpPr txBox="1"/>
          <p:nvPr/>
        </p:nvSpPr>
        <p:spPr>
          <a:xfrm>
            <a:off x="8302752" y="3329329"/>
            <a:ext cx="3238805" cy="352958"/>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VRAM不足 / メモリ制約大</a:t>
            </a:r>
          </a:p>
        </p:txBody>
      </p:sp>
      <p:sp>
        <p:nvSpPr>
          <p:cNvPr id="64" name="TextBox 63"/>
          <p:cNvSpPr txBox="1"/>
          <p:nvPr/>
        </p:nvSpPr>
        <p:spPr>
          <a:xfrm>
            <a:off x="8302752" y="3795674"/>
            <a:ext cx="3353105" cy="191110"/>
          </a:xfrm>
          <a:prstGeom prst="rect">
            <a:avLst/>
          </a:prstGeom>
          <a:noFill/>
          <a:ln/>
        </p:spPr>
        <p:txBody>
          <a:bodyPr wrap="square" lIns="0" rIns="0" tIns="0" bIns="0">
            <a:noAutofit/>
          </a:bodyPr>
          <a:lstStyle/>
          <a:p>
            <a:r>
              <a:rPr sz="900" b="1">
                <a:solidFill>
                  <a:srgbClr val="86868B"/>
                </a:solidFill>
                <a:latin typeface="Noto Sans JP"/>
              </a:rPr>
              <a:t>Substitute Strategy</a:t>
            </a:r>
          </a:p>
        </p:txBody>
      </p:sp>
      <p:pic>
        <p:nvPicPr>
          <p:cNvPr id="65" name="Picture 64" descr="image.png"/>
          <p:cNvPicPr>
            <a:picLocks noChangeAspect="1"/>
          </p:cNvPicPr>
          <p:nvPr/>
        </p:nvPicPr>
        <p:blipFill>
          <a:blip r:embed="rId5"/>
          <a:stretch>
            <a:fillRect/>
          </a:stretch>
        </p:blipFill>
        <p:spPr>
          <a:xfrm>
            <a:off x="8302752" y="4019702"/>
            <a:ext cx="3238805" cy="552298"/>
          </a:xfrm>
          <a:prstGeom prst="rect">
            <a:avLst/>
          </a:prstGeom>
          <a:ln/>
        </p:spPr>
      </p:pic>
      <p:sp>
        <p:nvSpPr>
          <p:cNvPr id="66" name="TextBox 65"/>
          <p:cNvSpPr txBox="1"/>
          <p:nvPr/>
        </p:nvSpPr>
        <p:spPr>
          <a:xfrm>
            <a:off x="8302752" y="401970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OCR (PaddleOCR等) + テキストLLM VLMモデルを使用しない</a:t>
            </a:r>
          </a:p>
        </p:txBody>
      </p:sp>
      <p:sp>
        <p:nvSpPr>
          <p:cNvPr id="67" name="TextBox 66"/>
          <p:cNvSpPr txBox="1"/>
          <p:nvPr/>
        </p:nvSpPr>
        <p:spPr>
          <a:xfrm>
            <a:off x="8302752" y="4686300"/>
            <a:ext cx="3353105" cy="191110"/>
          </a:xfrm>
          <a:prstGeom prst="rect">
            <a:avLst/>
          </a:prstGeom>
          <a:noFill/>
          <a:ln/>
        </p:spPr>
        <p:txBody>
          <a:bodyPr wrap="square" lIns="0" rIns="0" tIns="0" bIns="0">
            <a:noAutofit/>
          </a:bodyPr>
          <a:lstStyle/>
          <a:p>
            <a:r>
              <a:rPr sz="900" b="1">
                <a:solidFill>
                  <a:srgbClr val="86868B"/>
                </a:solidFill>
                <a:latin typeface="Noto Sans JP"/>
              </a:rPr>
              <a:t>Operation</a:t>
            </a:r>
          </a:p>
        </p:txBody>
      </p:sp>
      <p:pic>
        <p:nvPicPr>
          <p:cNvPr id="68" name="Picture 67" descr="image.png"/>
          <p:cNvPicPr>
            <a:picLocks noChangeAspect="1"/>
          </p:cNvPicPr>
          <p:nvPr/>
        </p:nvPicPr>
        <p:blipFill>
          <a:blip r:embed="rId5"/>
          <a:stretch>
            <a:fillRect/>
          </a:stretch>
        </p:blipFill>
        <p:spPr>
          <a:xfrm>
            <a:off x="8302752" y="4910328"/>
            <a:ext cx="3238805" cy="552298"/>
          </a:xfrm>
          <a:prstGeom prst="rect">
            <a:avLst/>
          </a:prstGeom>
          <a:ln/>
        </p:spPr>
      </p:pic>
      <p:sp>
        <p:nvSpPr>
          <p:cNvPr id="69" name="TextBox 68"/>
          <p:cNvSpPr txBox="1"/>
          <p:nvPr/>
        </p:nvSpPr>
        <p:spPr>
          <a:xfrm>
            <a:off x="8302752" y="4910328"/>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OCRでテキスト化し、LLMで整形 画像入力自体を避ける</a:t>
            </a:r>
          </a:p>
        </p:txBody>
      </p:sp>
      <p:sp>
        <p:nvSpPr>
          <p:cNvPr id="70" name="TextBox 69"/>
          <p:cNvSpPr txBox="1"/>
          <p:nvPr/>
        </p:nvSpPr>
        <p:spPr>
          <a:xfrm>
            <a:off x="8302752" y="5576926"/>
            <a:ext cx="3353105" cy="191110"/>
          </a:xfrm>
          <a:prstGeom prst="rect">
            <a:avLst/>
          </a:prstGeom>
          <a:noFill/>
          <a:ln/>
        </p:spPr>
        <p:txBody>
          <a:bodyPr wrap="square" lIns="0" rIns="0" tIns="0" bIns="0">
            <a:noAutofit/>
          </a:bodyPr>
          <a:lstStyle/>
          <a:p>
            <a:r>
              <a:rPr sz="900" b="1">
                <a:solidFill>
                  <a:srgbClr val="86868B"/>
                </a:solidFill>
                <a:latin typeface="Noto Sans JP"/>
              </a:rPr>
              <a:t>Compromise</a:t>
            </a:r>
          </a:p>
        </p:txBody>
      </p:sp>
      <p:pic>
        <p:nvPicPr>
          <p:cNvPr id="71" name="Picture 70" descr="image.png"/>
          <p:cNvPicPr>
            <a:picLocks noChangeAspect="1"/>
          </p:cNvPicPr>
          <p:nvPr/>
        </p:nvPicPr>
        <p:blipFill>
          <a:blip r:embed="rId5"/>
          <a:stretch>
            <a:fillRect/>
          </a:stretch>
        </p:blipFill>
        <p:spPr>
          <a:xfrm>
            <a:off x="8302752" y="5800954"/>
            <a:ext cx="3238805" cy="552298"/>
          </a:xfrm>
          <a:prstGeom prst="rect">
            <a:avLst/>
          </a:prstGeom>
          <a:ln/>
        </p:spPr>
      </p:pic>
      <p:sp>
        <p:nvSpPr>
          <p:cNvPr id="72" name="TextBox 71"/>
          <p:cNvSpPr txBox="1"/>
          <p:nvPr/>
        </p:nvSpPr>
        <p:spPr>
          <a:xfrm>
            <a:off x="8302752" y="5800954"/>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空間認識・文脈理解を諦め 文字情報の抽出・整理に限定</a:t>
            </a:r>
          </a:p>
        </p:txBody>
      </p:sp>
      <p:pic>
        <p:nvPicPr>
          <p:cNvPr id="73" name="Picture 72" descr="image.png"/>
          <p:cNvPicPr>
            <a:picLocks noChangeAspect="1"/>
          </p:cNvPicPr>
          <p:nvPr/>
        </p:nvPicPr>
        <p:blipFill>
          <a:blip r:embed="rId11"/>
          <a:stretch>
            <a:fillRect/>
          </a:stretch>
        </p:blipFill>
        <p:spPr>
          <a:xfrm>
            <a:off x="8302752" y="6543445"/>
            <a:ext cx="1104595" cy="247802"/>
          </a:xfrm>
          <a:prstGeom prst="rect">
            <a:avLst/>
          </a:prstGeom>
          <a:ln/>
        </p:spPr>
      </p:pic>
      <p:sp>
        <p:nvSpPr>
          <p:cNvPr id="74" name="TextBox 73"/>
          <p:cNvSpPr txBox="1"/>
          <p:nvPr/>
        </p:nvSpPr>
        <p:spPr>
          <a:xfrm>
            <a:off x="8522208" y="6543445"/>
            <a:ext cx="886054" cy="247802"/>
          </a:xfrm>
          <a:prstGeom prst="rect">
            <a:avLst/>
          </a:prstGeom>
          <a:noFill/>
          <a:ln>
            <a:solidFill>
              <a:srgbClr val="FFFFFF"/>
            </a:solidFill>
          </a:ln>
        </p:spPr>
        <p:txBody>
          <a:bodyPr wrap="square" lIns="0" rIns="0" tIns="0" bIns="0">
            <a:noAutofit/>
          </a:bodyPr>
          <a:lstStyle/>
          <a:p>
            <a:r>
              <a:rPr sz="900">
                <a:solidFill>
                  <a:srgbClr val="666666"/>
                </a:solidFill>
                <a:latin typeface="Noto Sans JP"/>
              </a:rPr>
              <a:t>文字主体の処理</a:t>
            </a:r>
          </a:p>
        </p:txBody>
      </p:sp>
      <p:pic>
        <p:nvPicPr>
          <p:cNvPr id="75" name="Picture 74" descr="image.png"/>
          <p:cNvPicPr>
            <a:picLocks noChangeAspect="1"/>
          </p:cNvPicPr>
          <p:nvPr/>
        </p:nvPicPr>
        <p:blipFill>
          <a:blip r:embed="rId7"/>
          <a:stretch>
            <a:fillRect/>
          </a:stretch>
        </p:blipFill>
        <p:spPr>
          <a:xfrm>
            <a:off x="8378647" y="6614770"/>
            <a:ext cx="105155" cy="114300"/>
          </a:xfrm>
          <a:prstGeom prst="rect">
            <a:avLst/>
          </a:prstGeom>
          <a:ln/>
        </p:spPr>
      </p:pic>
      <p:sp>
        <p:nvSpPr>
          <p:cNvPr id="76" name="Rectangle 75"/>
          <p:cNvSpPr/>
          <p:nvPr/>
        </p:nvSpPr>
        <p:spPr>
          <a:xfrm>
            <a:off x="0" y="7276795"/>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72767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7286854"/>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9" name="TextBox 78"/>
          <p:cNvSpPr txBox="1"/>
          <p:nvPr/>
        </p:nvSpPr>
        <p:spPr>
          <a:xfrm>
            <a:off x="11385194" y="7286854"/>
            <a:ext cx="428854" cy="171907"/>
          </a:xfrm>
          <a:prstGeom prst="rect">
            <a:avLst/>
          </a:prstGeom>
          <a:noFill/>
          <a:ln/>
        </p:spPr>
        <p:txBody>
          <a:bodyPr wrap="square" lIns="0" rIns="0" tIns="0" bIns="0">
            <a:noAutofit/>
          </a:bodyPr>
          <a:lstStyle/>
          <a:p>
            <a:r>
              <a:rPr sz="900">
                <a:solidFill>
                  <a:srgbClr val="86868B"/>
                </a:solidFill>
                <a:latin typeface="Noto Sans JP"/>
              </a:rPr>
              <a:t>65 / 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4467758" cy="457200"/>
          </a:xfrm>
          <a:prstGeom prst="rect">
            <a:avLst/>
          </a:prstGeom>
          <a:noFill/>
          <a:ln/>
        </p:spPr>
        <p:txBody>
          <a:bodyPr wrap="square" lIns="0" rIns="0" tIns="0" bIns="0">
            <a:noAutofit/>
          </a:bodyPr>
          <a:lstStyle/>
          <a:p>
            <a:r>
              <a:rPr sz="2400" b="1">
                <a:solidFill>
                  <a:srgbClr val="1D1D1F"/>
                </a:solidFill>
                <a:latin typeface="Noto Sans JP"/>
              </a:rPr>
              <a:t>画像理解：失敗モードと回避策</a:t>
            </a:r>
          </a:p>
        </p:txBody>
      </p:sp>
      <p:sp>
        <p:nvSpPr>
          <p:cNvPr id="9" name="TextBox 8"/>
          <p:cNvSpPr txBox="1"/>
          <p:nvPr/>
        </p:nvSpPr>
        <p:spPr>
          <a:xfrm>
            <a:off x="8837676" y="328270"/>
            <a:ext cx="3096158" cy="257861"/>
          </a:xfrm>
          <a:prstGeom prst="rect">
            <a:avLst/>
          </a:prstGeom>
          <a:noFill/>
          <a:ln/>
        </p:spPr>
        <p:txBody>
          <a:bodyPr wrap="square" lIns="0" rIns="0" tIns="0" bIns="0">
            <a:noAutofit/>
          </a:bodyPr>
          <a:lstStyle/>
          <a:p>
            <a:r>
              <a:rPr sz="1300">
                <a:solidFill>
                  <a:srgbClr val="86868B"/>
                </a:solidFill>
                <a:latin typeface="Noto Sans JP"/>
              </a:rPr>
              <a:t>ユースケース別推奨スタック（詳細）</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881337"/>
                </a:solidFill>
                <a:latin typeface="Noto Sans JP"/>
              </a:rPr>
              <a:t> 結論：UI文字の誤読と視覚トークン肥大による速度低下を、</a:t>
            </a:r>
          </a:p>
          <a:p>
            <a:r>
              <a:rPr sz="1800" b="1">
                <a:solidFill>
                  <a:srgbClr val="DC2626"/>
                </a:solidFill>
                <a:latin typeface="Noto Sans JP"/>
              </a:rPr>
              <a:t>OCR併用</a:t>
            </a:r>
            <a:r>
              <a:rPr sz="1800" b="1">
                <a:solidFill>
                  <a:srgbClr val="881337"/>
                </a:solidFill>
                <a:latin typeface="Noto Sans JP"/>
              </a:rPr>
              <a:t>と</a:t>
            </a:r>
            <a:r>
              <a:rPr sz="1800" b="1">
                <a:solidFill>
                  <a:srgbClr val="DC2626"/>
                </a:solidFill>
                <a:latin typeface="Noto Sans JP"/>
              </a:rPr>
              <a:t>解像度・max-pixels制御</a:t>
            </a:r>
            <a:r>
              <a:rPr sz="1800" b="1">
                <a:solidFill>
                  <a:srgbClr val="881337"/>
                </a:solidFill>
                <a:latin typeface="Noto Sans JP"/>
              </a:rPr>
              <a:t>で回避します。 </a:t>
            </a:r>
          </a:p>
        </p:txBody>
      </p:sp>
      <p:sp>
        <p:nvSpPr>
          <p:cNvPr id="12" name="Rectangle 11"/>
          <p:cNvSpPr/>
          <p:nvPr/>
        </p:nvSpPr>
        <p:spPr>
          <a:xfrm>
            <a:off x="457200"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p:spPr>
      </p:pic>
      <p:sp>
        <p:nvSpPr>
          <p:cNvPr id="15" name="TextBox 14"/>
          <p:cNvSpPr txBox="1"/>
          <p:nvPr/>
        </p:nvSpPr>
        <p:spPr>
          <a:xfrm>
            <a:off x="1000354" y="2945282"/>
            <a:ext cx="3096158" cy="419709"/>
          </a:xfrm>
          <a:prstGeom prst="rect">
            <a:avLst/>
          </a:prstGeom>
          <a:noFill/>
          <a:ln/>
        </p:spPr>
        <p:txBody>
          <a:bodyPr wrap="square" lIns="0" rIns="0" tIns="0" bIns="0">
            <a:noAutofit/>
          </a:bodyPr>
          <a:lstStyle/>
          <a:p>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64331"/>
            <a:ext cx="105156" cy="133501"/>
          </a:xfrm>
          <a:prstGeom prst="rect">
            <a:avLst/>
          </a:prstGeom>
          <a:ln/>
        </p:spPr>
      </p:pic>
      <p:sp>
        <p:nvSpPr>
          <p:cNvPr id="17" name="TextBox 16"/>
          <p:cNvSpPr txBox="1"/>
          <p:nvPr/>
        </p:nvSpPr>
        <p:spPr>
          <a:xfrm>
            <a:off x="914400" y="3760013"/>
            <a:ext cx="4867351" cy="495605"/>
          </a:xfrm>
          <a:prstGeom prst="rect">
            <a:avLst/>
          </a:prstGeom>
          <a:noFill/>
          <a:ln/>
        </p:spPr>
        <p:txBody>
          <a:bodyPr wrap="square" lIns="0" rIns="0" tIns="0" bIns="0">
            <a:noAutofit/>
          </a:bodyPr>
          <a:lstStyle/>
          <a:p>
            <a:r>
              <a:rPr sz="1200">
                <a:solidFill>
                  <a:srgbClr val="424245"/>
                </a:solidFill>
                <a:latin typeface="Noto Sans JP"/>
              </a:rPr>
              <a:t>2B/7B級VLMでは、スクリーンショット内の小さなフォントや密集した情報を正確に読み取れないケースが頻発。</a:t>
            </a:r>
          </a:p>
        </p:txBody>
      </p:sp>
      <p:pic>
        <p:nvPicPr>
          <p:cNvPr id="18" name="Picture 17" descr="image.png"/>
          <p:cNvPicPr>
            <a:picLocks noChangeAspect="1"/>
          </p:cNvPicPr>
          <p:nvPr/>
        </p:nvPicPr>
        <p:blipFill>
          <a:blip r:embed="rId5"/>
          <a:stretch>
            <a:fillRect/>
          </a:stretch>
        </p:blipFill>
        <p:spPr>
          <a:xfrm>
            <a:off x="694944" y="4447642"/>
            <a:ext cx="105156" cy="133501"/>
          </a:xfrm>
          <a:prstGeom prst="rect">
            <a:avLst/>
          </a:prstGeom>
          <a:ln/>
        </p:spPr>
      </p:pic>
      <p:sp>
        <p:nvSpPr>
          <p:cNvPr id="19" name="TextBox 18"/>
          <p:cNvSpPr txBox="1"/>
          <p:nvPr/>
        </p:nvSpPr>
        <p:spPr>
          <a:xfrm>
            <a:off x="914400" y="4644238"/>
            <a:ext cx="4867351" cy="495605"/>
          </a:xfrm>
          <a:prstGeom prst="rect">
            <a:avLst/>
          </a:prstGeom>
          <a:noFill/>
          <a:ln/>
        </p:spPr>
        <p:txBody>
          <a:bodyPr wrap="square" lIns="0" rIns="0" tIns="0" bIns="0">
            <a:noAutofit/>
          </a:bodyPr>
          <a:lstStyle/>
          <a:p>
            <a:r>
              <a:rPr sz="1200">
                <a:solidFill>
                  <a:srgbClr val="424245"/>
                </a:solidFill>
                <a:latin typeface="Noto Sans JP"/>
              </a:rPr>
              <a:t>高解像度画像をそのまま入力すると、視覚トークン数が数千に達し、推論速度（TTFT/生成）が急激に悪化。</a:t>
            </a:r>
          </a:p>
        </p:txBody>
      </p:sp>
      <p:pic>
        <p:nvPicPr>
          <p:cNvPr id="20" name="Picture 19" descr="image.png"/>
          <p:cNvPicPr>
            <a:picLocks noChangeAspect="1"/>
          </p:cNvPicPr>
          <p:nvPr/>
        </p:nvPicPr>
        <p:blipFill>
          <a:blip r:embed="rId5"/>
          <a:stretch>
            <a:fillRect/>
          </a:stretch>
        </p:blipFill>
        <p:spPr>
          <a:xfrm>
            <a:off x="694944" y="5331866"/>
            <a:ext cx="105156" cy="133501"/>
          </a:xfrm>
          <a:prstGeom prst="rect">
            <a:avLst/>
          </a:prstGeom>
          <a:ln/>
        </p:spPr>
      </p:pic>
      <p:sp>
        <p:nvSpPr>
          <p:cNvPr id="21" name="TextBox 20"/>
          <p:cNvSpPr txBox="1"/>
          <p:nvPr/>
        </p:nvSpPr>
        <p:spPr>
          <a:xfrm>
            <a:off x="914400" y="5527548"/>
            <a:ext cx="4867351" cy="495605"/>
          </a:xfrm>
          <a:prstGeom prst="rect">
            <a:avLst/>
          </a:prstGeom>
          <a:noFill/>
          <a:ln/>
        </p:spPr>
        <p:txBody>
          <a:bodyPr wrap="square" lIns="0" rIns="0" tIns="0" bIns="0">
            <a:noAutofit/>
          </a:bodyPr>
          <a:lstStyle/>
          <a:p>
            <a:r>
              <a:rPr sz="1200">
                <a:solidFill>
                  <a:srgbClr val="424245"/>
                </a:solidFill>
                <a:latin typeface="Noto Sans JP"/>
              </a:rPr>
              <a:t>複雑な表組みやグラフの空間関係を誤認し、存在しない数値や関係性を捏造する。</a:t>
            </a:r>
          </a:p>
        </p:txBody>
      </p:sp>
      <p:sp>
        <p:nvSpPr>
          <p:cNvPr id="22" name="Rectangle 21"/>
          <p:cNvSpPr/>
          <p:nvPr/>
        </p:nvSpPr>
        <p:spPr>
          <a:xfrm>
            <a:off x="6248095" y="2706624"/>
            <a:ext cx="5486400" cy="4086453"/>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p:spPr>
      </p:pic>
      <p:sp>
        <p:nvSpPr>
          <p:cNvPr id="25" name="TextBox 24"/>
          <p:cNvSpPr txBox="1"/>
          <p:nvPr/>
        </p:nvSpPr>
        <p:spPr>
          <a:xfrm>
            <a:off x="6791249" y="2945282"/>
            <a:ext cx="2563063" cy="419709"/>
          </a:xfrm>
          <a:prstGeom prst="rect">
            <a:avLst/>
          </a:prstGeom>
          <a:noFill/>
          <a:ln/>
        </p:spPr>
        <p:txBody>
          <a:bodyPr wrap="square" lIns="0" rIns="0" tIns="0" bIns="0">
            <a:noAutofit/>
          </a:bodyPr>
          <a:lstStyle/>
          <a:p>
            <a:r>
              <a:rPr sz="1500" b="1">
                <a:solidFill>
                  <a:srgbClr val="1D1D1F"/>
                </a:solidFill>
                <a:latin typeface="Noto Sans JP"/>
              </a:rPr>
              <a:t>回避策・設計（Mitigation）</a:t>
            </a:r>
          </a:p>
        </p:txBody>
      </p:sp>
      <p:pic>
        <p:nvPicPr>
          <p:cNvPr id="26" name="Picture 25" descr="image.png"/>
          <p:cNvPicPr>
            <a:picLocks noChangeAspect="1"/>
          </p:cNvPicPr>
          <p:nvPr/>
        </p:nvPicPr>
        <p:blipFill>
          <a:blip r:embed="rId7"/>
          <a:stretch>
            <a:fillRect/>
          </a:stretch>
        </p:blipFill>
        <p:spPr>
          <a:xfrm>
            <a:off x="6486754" y="3564331"/>
            <a:ext cx="114300" cy="133501"/>
          </a:xfrm>
          <a:prstGeom prst="rect">
            <a:avLst/>
          </a:prstGeom>
          <a:ln/>
        </p:spPr>
      </p:pic>
      <p:sp>
        <p:nvSpPr>
          <p:cNvPr id="27" name="TextBox 26"/>
          <p:cNvSpPr txBox="1"/>
          <p:nvPr/>
        </p:nvSpPr>
        <p:spPr>
          <a:xfrm>
            <a:off x="6715354" y="3760013"/>
            <a:ext cx="4858207" cy="495605"/>
          </a:xfrm>
          <a:prstGeom prst="rect">
            <a:avLst/>
          </a:prstGeom>
          <a:noFill/>
          <a:ln/>
        </p:spPr>
        <p:txBody>
          <a:bodyPr wrap="square" lIns="0" rIns="0" tIns="0" bIns="0">
            <a:noAutofit/>
          </a:bodyPr>
          <a:lstStyle/>
          <a:p>
            <a:r>
              <a:rPr sz="1200">
                <a:solidFill>
                  <a:srgbClr val="424245"/>
                </a:solidFill>
                <a:latin typeface="Noto Sans JP"/>
              </a:rPr>
              <a:t>文字情報はPaddleOCR等で別経路からテキストとして供給し、VLMは「状況説明」に専念させる。</a:t>
            </a:r>
          </a:p>
        </p:txBody>
      </p:sp>
      <p:pic>
        <p:nvPicPr>
          <p:cNvPr id="28" name="Picture 27" descr="image.png"/>
          <p:cNvPicPr>
            <a:picLocks noChangeAspect="1"/>
          </p:cNvPicPr>
          <p:nvPr/>
        </p:nvPicPr>
        <p:blipFill>
          <a:blip r:embed="rId7"/>
          <a:stretch>
            <a:fillRect/>
          </a:stretch>
        </p:blipFill>
        <p:spPr>
          <a:xfrm>
            <a:off x="6486754" y="4447642"/>
            <a:ext cx="114300" cy="133501"/>
          </a:xfrm>
          <a:prstGeom prst="rect">
            <a:avLst/>
          </a:prstGeom>
          <a:ln/>
        </p:spPr>
      </p:pic>
      <p:sp>
        <p:nvSpPr>
          <p:cNvPr id="29" name="TextBox 28"/>
          <p:cNvSpPr txBox="1"/>
          <p:nvPr/>
        </p:nvSpPr>
        <p:spPr>
          <a:xfrm>
            <a:off x="6715354" y="4644238"/>
            <a:ext cx="4858207" cy="523951"/>
          </a:xfrm>
          <a:prstGeom prst="rect">
            <a:avLst/>
          </a:prstGeom>
          <a:noFill/>
          <a:ln/>
        </p:spPr>
        <p:txBody>
          <a:bodyPr wrap="square" lIns="0" rIns="0" tIns="0" bIns="0">
            <a:noAutofit/>
          </a:bodyPr>
          <a:lstStyle/>
          <a:p>
            <a:r>
              <a:rPr sz="1200">
                <a:solidFill>
                  <a:srgbClr val="424245"/>
                </a:solidFill>
                <a:latin typeface="Noto Sans JP"/>
              </a:rPr>
              <a:t>MLX-VLM等の</a:t>
            </a:r>
            <a:r>
              <a:rPr sz="1200">
                <a:solidFill>
                  <a:srgbClr val="424245"/>
                </a:solidFill>
                <a:latin typeface="ui-monospace"/>
              </a:rPr>
              <a:t>max-pixels</a:t>
            </a:r>
            <a:r>
              <a:rPr sz="1200">
                <a:solidFill>
                  <a:srgbClr val="424245"/>
                </a:solidFill>
                <a:latin typeface="Noto Sans JP"/>
              </a:rPr>
              <a:t>パラメータで上限を設定し、トークン数を抑制。実務的には1024px程度にリサイズ。</a:t>
            </a:r>
          </a:p>
        </p:txBody>
      </p:sp>
      <p:pic>
        <p:nvPicPr>
          <p:cNvPr id="30" name="Picture 29" descr="image.png"/>
          <p:cNvPicPr>
            <a:picLocks noChangeAspect="1"/>
          </p:cNvPicPr>
          <p:nvPr/>
        </p:nvPicPr>
        <p:blipFill>
          <a:blip r:embed="rId7"/>
          <a:stretch>
            <a:fillRect/>
          </a:stretch>
        </p:blipFill>
        <p:spPr>
          <a:xfrm>
            <a:off x="6486754" y="5360213"/>
            <a:ext cx="114300" cy="133501"/>
          </a:xfrm>
          <a:prstGeom prst="rect">
            <a:avLst/>
          </a:prstGeom>
          <a:ln/>
        </p:spPr>
      </p:pic>
      <p:sp>
        <p:nvSpPr>
          <p:cNvPr id="31" name="TextBox 30"/>
          <p:cNvSpPr txBox="1"/>
          <p:nvPr/>
        </p:nvSpPr>
        <p:spPr>
          <a:xfrm>
            <a:off x="6715354" y="5555894"/>
            <a:ext cx="4858207" cy="495605"/>
          </a:xfrm>
          <a:prstGeom prst="rect">
            <a:avLst/>
          </a:prstGeom>
          <a:noFill/>
          <a:ln/>
        </p:spPr>
        <p:txBody>
          <a:bodyPr wrap="square" lIns="0" rIns="0" tIns="0" bIns="0">
            <a:noAutofit/>
          </a:bodyPr>
          <a:lstStyle/>
          <a:p>
            <a:r>
              <a:rPr sz="1200">
                <a:solidFill>
                  <a:srgbClr val="424245"/>
                </a:solidFill>
                <a:latin typeface="Noto Sans JP"/>
              </a:rPr>
              <a:t>構造化が必要な帳票類は、レイアウト情報を保持できる専用モデル（LayoutLMv3）やDonutを活用。</a:t>
            </a:r>
          </a:p>
        </p:txBody>
      </p:sp>
      <p:pic>
        <p:nvPicPr>
          <p:cNvPr id="32" name="Picture 31" descr="image.png"/>
          <p:cNvPicPr>
            <a:picLocks noChangeAspect="1"/>
          </p:cNvPicPr>
          <p:nvPr/>
        </p:nvPicPr>
        <p:blipFill>
          <a:blip r:embed="rId8"/>
          <a:stretch>
            <a:fillRect/>
          </a:stretch>
        </p:blipFill>
        <p:spPr>
          <a:xfrm>
            <a:off x="6486754" y="6272784"/>
            <a:ext cx="952804" cy="276148"/>
          </a:xfrm>
          <a:prstGeom prst="rect">
            <a:avLst/>
          </a:prstGeom>
          <a:ln/>
        </p:spPr>
      </p:pic>
      <p:sp>
        <p:nvSpPr>
          <p:cNvPr id="33" name="TextBox 32"/>
          <p:cNvSpPr txBox="1"/>
          <p:nvPr/>
        </p:nvSpPr>
        <p:spPr>
          <a:xfrm>
            <a:off x="6486754" y="6272784"/>
            <a:ext cx="952804" cy="277062"/>
          </a:xfrm>
          <a:prstGeom prst="rect">
            <a:avLst/>
          </a:prstGeom>
          <a:noFill/>
          <a:ln>
            <a:solidFill>
              <a:srgbClr val="FFFFFF"/>
            </a:solidFill>
          </a:ln>
        </p:spPr>
        <p:txBody>
          <a:bodyPr wrap="square" lIns="0" rIns="0" tIns="0" bIns="0">
            <a:noAutofit/>
          </a:bodyPr>
          <a:lstStyle/>
          <a:p>
            <a:r>
              <a:rPr sz="1000" b="1">
                <a:solidFill>
                  <a:srgbClr val="374151"/>
                </a:solidFill>
                <a:latin typeface="Noto Sans JP"/>
              </a:rPr>
              <a:t>PaddleOCR</a:t>
            </a:r>
          </a:p>
        </p:txBody>
      </p:sp>
      <p:pic>
        <p:nvPicPr>
          <p:cNvPr id="34" name="Picture 33" descr="image.png"/>
          <p:cNvPicPr>
            <a:picLocks noChangeAspect="1"/>
          </p:cNvPicPr>
          <p:nvPr/>
        </p:nvPicPr>
        <p:blipFill>
          <a:blip r:embed="rId9"/>
          <a:stretch>
            <a:fillRect/>
          </a:stretch>
        </p:blipFill>
        <p:spPr>
          <a:xfrm>
            <a:off x="7515454" y="6272784"/>
            <a:ext cx="1200607" cy="276148"/>
          </a:xfrm>
          <a:prstGeom prst="rect">
            <a:avLst/>
          </a:prstGeom>
          <a:ln/>
        </p:spPr>
      </p:pic>
      <p:sp>
        <p:nvSpPr>
          <p:cNvPr id="35" name="TextBox 34"/>
          <p:cNvSpPr txBox="1"/>
          <p:nvPr/>
        </p:nvSpPr>
        <p:spPr>
          <a:xfrm>
            <a:off x="7515454" y="6272784"/>
            <a:ext cx="1200607" cy="277062"/>
          </a:xfrm>
          <a:prstGeom prst="rect">
            <a:avLst/>
          </a:prstGeom>
          <a:noFill/>
          <a:ln>
            <a:solidFill>
              <a:srgbClr val="FFFFFF"/>
            </a:solidFill>
          </a:ln>
        </p:spPr>
        <p:txBody>
          <a:bodyPr wrap="square" lIns="0" rIns="0" tIns="0" bIns="0">
            <a:noAutofit/>
          </a:bodyPr>
          <a:lstStyle/>
          <a:p>
            <a:r>
              <a:rPr sz="1000" b="1">
                <a:solidFill>
                  <a:srgbClr val="374151"/>
                </a:solidFill>
                <a:latin typeface="Noto Sans JP"/>
              </a:rPr>
              <a:t>max-pixels制御</a:t>
            </a:r>
          </a:p>
        </p:txBody>
      </p:sp>
      <p:pic>
        <p:nvPicPr>
          <p:cNvPr id="36" name="Picture 35" descr="image.png"/>
          <p:cNvPicPr>
            <a:picLocks noChangeAspect="1"/>
          </p:cNvPicPr>
          <p:nvPr/>
        </p:nvPicPr>
        <p:blipFill>
          <a:blip r:embed="rId10"/>
          <a:stretch>
            <a:fillRect/>
          </a:stretch>
        </p:blipFill>
        <p:spPr>
          <a:xfrm>
            <a:off x="8784641" y="6272784"/>
            <a:ext cx="1019555" cy="276148"/>
          </a:xfrm>
          <a:prstGeom prst="rect">
            <a:avLst/>
          </a:prstGeom>
          <a:ln/>
        </p:spPr>
      </p:pic>
      <p:sp>
        <p:nvSpPr>
          <p:cNvPr id="37" name="TextBox 36"/>
          <p:cNvSpPr txBox="1"/>
          <p:nvPr/>
        </p:nvSpPr>
        <p:spPr>
          <a:xfrm>
            <a:off x="8784641" y="6272784"/>
            <a:ext cx="1019555" cy="277062"/>
          </a:xfrm>
          <a:prstGeom prst="rect">
            <a:avLst/>
          </a:prstGeom>
          <a:noFill/>
          <a:ln>
            <a:solidFill>
              <a:srgbClr val="FFFFFF"/>
            </a:solidFill>
          </a:ln>
        </p:spPr>
        <p:txBody>
          <a:bodyPr wrap="square" lIns="0" rIns="0" tIns="0" bIns="0">
            <a:noAutofit/>
          </a:bodyPr>
          <a:lstStyle/>
          <a:p>
            <a:r>
              <a:rPr sz="1000" b="1">
                <a:solidFill>
                  <a:srgbClr val="374151"/>
                </a:solidFill>
                <a:latin typeface="Noto Sans JP"/>
              </a:rPr>
              <a:t>LayoutLMv3</a:t>
            </a:r>
          </a:p>
        </p:txBody>
      </p:sp>
      <p:sp>
        <p:nvSpPr>
          <p:cNvPr id="38" name="Rectangle 37"/>
          <p:cNvSpPr/>
          <p:nvPr/>
        </p:nvSpPr>
        <p:spPr>
          <a:xfrm>
            <a:off x="457200" y="7092086"/>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11"/>
          <a:stretch>
            <a:fillRect/>
          </a:stretch>
        </p:blipFill>
        <p:spPr>
          <a:xfrm>
            <a:off x="619049" y="7272223"/>
            <a:ext cx="171907" cy="171907"/>
          </a:xfrm>
          <a:prstGeom prst="rect">
            <a:avLst/>
          </a:prstGeom>
          <a:ln/>
        </p:spPr>
      </p:pic>
      <p:sp>
        <p:nvSpPr>
          <p:cNvPr id="40" name="TextBox 39"/>
          <p:cNvSpPr txBox="1"/>
          <p:nvPr/>
        </p:nvSpPr>
        <p:spPr>
          <a:xfrm>
            <a:off x="905256" y="7253935"/>
            <a:ext cx="10858500" cy="200254"/>
          </a:xfrm>
          <a:prstGeom prst="rect">
            <a:avLst/>
          </a:prstGeom>
          <a:noFill/>
          <a:ln/>
        </p:spPr>
        <p:txBody>
          <a:bodyPr wrap="square" lIns="0" rIns="0" tIns="0" bIns="0">
            <a:noAutofit/>
          </a:bodyPr>
          <a:lstStyle/>
          <a:p>
            <a:r>
              <a:rPr sz="1000" b="1">
                <a:solidFill>
                  <a:srgbClr val="78350F"/>
                </a:solidFill>
                <a:latin typeface="Noto Sans JP"/>
              </a:rPr>
              <a:t>ハードウェア要件の現実</a:t>
            </a:r>
          </a:p>
        </p:txBody>
      </p:sp>
      <p:sp>
        <p:nvSpPr>
          <p:cNvPr id="41" name="TextBox 40"/>
          <p:cNvSpPr txBox="1"/>
          <p:nvPr/>
        </p:nvSpPr>
        <p:spPr>
          <a:xfrm>
            <a:off x="905256" y="7491678"/>
            <a:ext cx="10744200" cy="400507"/>
          </a:xfrm>
          <a:prstGeom prst="rect">
            <a:avLst/>
          </a:prstGeom>
          <a:noFill/>
          <a:ln/>
        </p:spPr>
        <p:txBody>
          <a:bodyPr wrap="square" lIns="0" rIns="0" tIns="0" bIns="0">
            <a:noAutofit/>
          </a:bodyPr>
          <a:lstStyle/>
          <a:p>
            <a:r>
              <a:rPr sz="1000">
                <a:solidFill>
                  <a:srgbClr val="78350F"/>
                </a:solidFill>
                <a:latin typeface="Noto Sans JP"/>
              </a:rPr>
              <a:t>72B級VLM（Qwen2-VL-72B等）はローカルでは96GB+ UMAや複数GPU構成が前提となります。一般的な実務環境（16GB-32GB）では、2B/7B級モデルを中心に設計し、不足分をOCRやRAGで補うのが最も安全なアプローチです。</a:t>
            </a:r>
          </a:p>
        </p:txBody>
      </p:sp>
      <p:sp>
        <p:nvSpPr>
          <p:cNvPr id="42" name="Rectangle 41"/>
          <p:cNvSpPr/>
          <p:nvPr/>
        </p:nvSpPr>
        <p:spPr>
          <a:xfrm>
            <a:off x="0" y="8434426"/>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843442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8444484"/>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5" name="TextBox 44"/>
          <p:cNvSpPr txBox="1"/>
          <p:nvPr/>
        </p:nvSpPr>
        <p:spPr>
          <a:xfrm>
            <a:off x="11385194" y="8444484"/>
            <a:ext cx="428854" cy="171907"/>
          </a:xfrm>
          <a:prstGeom prst="rect">
            <a:avLst/>
          </a:prstGeom>
          <a:noFill/>
          <a:ln/>
        </p:spPr>
        <p:txBody>
          <a:bodyPr wrap="square" lIns="0" rIns="0" tIns="0" bIns="0">
            <a:noAutofit/>
          </a:bodyPr>
          <a:lstStyle/>
          <a:p>
            <a:r>
              <a:rPr sz="900">
                <a:solidFill>
                  <a:srgbClr val="86868B"/>
                </a:solidFill>
                <a:latin typeface="Noto Sans JP"/>
              </a:rPr>
              <a:t>66 / 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81305" cy="304495"/>
          </a:xfrm>
          <a:prstGeom prst="rect">
            <a:avLst/>
          </a:prstGeom>
          <a:ln/>
        </p:spPr>
      </p:pic>
      <p:sp>
        <p:nvSpPr>
          <p:cNvPr id="8" name="TextBox 7"/>
          <p:cNvSpPr txBox="1"/>
          <p:nvPr/>
        </p:nvSpPr>
        <p:spPr>
          <a:xfrm>
            <a:off x="990294" y="190195"/>
            <a:ext cx="4715561" cy="457200"/>
          </a:xfrm>
          <a:prstGeom prst="rect">
            <a:avLst/>
          </a:prstGeom>
          <a:noFill/>
          <a:ln/>
        </p:spPr>
        <p:txBody>
          <a:bodyPr wrap="square" lIns="0" rIns="0" tIns="0" bIns="0">
            <a:noAutofit/>
          </a:bodyPr>
          <a:lstStyle/>
          <a:p>
            <a:r>
              <a:rPr sz="2400" b="1">
                <a:solidFill>
                  <a:srgbClr val="1D1D1F"/>
                </a:solidFill>
                <a:latin typeface="Noto Sans JP"/>
              </a:rPr>
              <a:t>ユースケース：コーディング補助</a:t>
            </a:r>
          </a:p>
        </p:txBody>
      </p:sp>
      <p:sp>
        <p:nvSpPr>
          <p:cNvPr id="9" name="TextBox 8"/>
          <p:cNvSpPr txBox="1"/>
          <p:nvPr/>
        </p:nvSpPr>
        <p:spPr>
          <a:xfrm>
            <a:off x="7597749" y="290779"/>
            <a:ext cx="4334256" cy="257861"/>
          </a:xfrm>
          <a:prstGeom prst="rect">
            <a:avLst/>
          </a:prstGeom>
          <a:noFill/>
          <a:ln/>
        </p:spPr>
        <p:txBody>
          <a:bodyPr wrap="square" lIns="0" rIns="0" tIns="0" bIns="0">
            <a:noAutofit/>
          </a:bodyPr>
          <a:lstStyle/>
          <a:p>
            <a:r>
              <a:rPr sz="1300">
                <a:solidFill>
                  <a:srgbClr val="86868B"/>
                </a:solidFill>
                <a:latin typeface="Noto Sans JP"/>
              </a:rPr>
              <a:t>推奨スタック3パターン（IDE支援・リポジトリ理解）</a:t>
            </a:r>
          </a:p>
        </p:txBody>
      </p:sp>
      <p:sp>
        <p:nvSpPr>
          <p:cNvPr id="10" name="Rectangle 9"/>
          <p:cNvSpPr/>
          <p:nvPr/>
        </p:nvSpPr>
        <p:spPr>
          <a:xfrm>
            <a:off x="457200" y="1133856"/>
            <a:ext cx="11277295" cy="87599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noFill/>
          <a:ln/>
        </p:spPr>
        <p:txBody>
          <a:bodyPr wrap="square" lIns="0" rIns="0" tIns="0" bIns="0">
            <a:noAutofit/>
          </a:bodyPr>
          <a:lstStyle/>
          <a:p>
            <a:r>
              <a:rPr sz="1500" b="1">
                <a:solidFill>
                  <a:srgbClr val="1D1D1F"/>
                </a:solidFill>
                <a:latin typeface="Noto Sans JP"/>
              </a:rPr>
              <a:t> 結論：補完は小型モデル、設計レビューや長距離依存解決は中〜大型モデルで役割分担します。</a:t>
            </a:r>
          </a:p>
          <a:p>
            <a:r>
              <a:rPr sz="1200" b="1">
                <a:solidFill>
                  <a:srgbClr val="424245"/>
                </a:solidFill>
                <a:latin typeface="Noto Sans JP"/>
              </a:rPr>
              <a:t>※生成コードは自動コンパイル/テスト実行を“ツール”化し、検証ループに組み込むことが重要です。</a:t>
            </a:r>
          </a:p>
        </p:txBody>
      </p:sp>
      <p:sp>
        <p:nvSpPr>
          <p:cNvPr id="13" name="TextBox 12"/>
          <p:cNvSpPr txBox="1"/>
          <p:nvPr/>
        </p:nvSpPr>
        <p:spPr>
          <a:xfrm>
            <a:off x="457200" y="2295144"/>
            <a:ext cx="3638398" cy="4009644"/>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305202"/>
            <a:ext cx="3619195" cy="609905"/>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01445"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35278" y="2514600"/>
            <a:ext cx="237744" cy="190194"/>
          </a:xfrm>
          <a:prstGeom prst="rect">
            <a:avLst/>
          </a:prstGeom>
          <a:ln/>
        </p:spPr>
      </p:pic>
      <p:sp>
        <p:nvSpPr>
          <p:cNvPr id="17" name="TextBox 16"/>
          <p:cNvSpPr txBox="1"/>
          <p:nvPr/>
        </p:nvSpPr>
        <p:spPr>
          <a:xfrm>
            <a:off x="1901952" y="2467051"/>
            <a:ext cx="1234439"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4" y="3105302"/>
            <a:ext cx="3353105" cy="191110"/>
          </a:xfrm>
          <a:prstGeom prst="rect">
            <a:avLst/>
          </a:prstGeom>
          <a:noFill/>
          <a:ln/>
        </p:spPr>
        <p:txBody>
          <a:bodyPr wrap="square" lIns="0" rIns="0" tIns="0" bIns="0">
            <a:noAutofit/>
          </a:bodyPr>
          <a:lstStyle/>
          <a:p>
            <a:r>
              <a:rPr sz="900" b="1">
                <a:solidFill>
                  <a:srgbClr val="86868B"/>
                </a:solidFill>
                <a:latin typeface="Noto Sans JP"/>
              </a:rPr>
              <a:t>Code LLM</a:t>
            </a:r>
          </a:p>
        </p:txBody>
      </p:sp>
      <p:pic>
        <p:nvPicPr>
          <p:cNvPr id="20" name="Picture 19" descr="image.png"/>
          <p:cNvPicPr>
            <a:picLocks noChangeAspect="1"/>
          </p:cNvPicPr>
          <p:nvPr/>
        </p:nvPicPr>
        <p:blipFill>
          <a:blip r:embed="rId4"/>
          <a:stretch>
            <a:fillRect/>
          </a:stretch>
        </p:blipFill>
        <p:spPr>
          <a:xfrm>
            <a:off x="657454" y="3329329"/>
            <a:ext cx="3238805" cy="552298"/>
          </a:xfrm>
          <a:prstGeom prst="rect">
            <a:avLst/>
          </a:prstGeom>
          <a:ln/>
        </p:spPr>
      </p:pic>
      <p:sp>
        <p:nvSpPr>
          <p:cNvPr id="21" name="TextBox 20"/>
          <p:cNvSpPr txBox="1"/>
          <p:nvPr/>
        </p:nvSpPr>
        <p:spPr>
          <a:xfrm>
            <a:off x="657454" y="3329329"/>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Qwen2.5-Coder 7B サイズ展開が豊富で軽量</a:t>
            </a:r>
          </a:p>
        </p:txBody>
      </p:sp>
      <p:sp>
        <p:nvSpPr>
          <p:cNvPr id="22" name="TextBox 21"/>
          <p:cNvSpPr txBox="1"/>
          <p:nvPr/>
        </p:nvSpPr>
        <p:spPr>
          <a:xfrm>
            <a:off x="657454" y="3995928"/>
            <a:ext cx="3353105" cy="191110"/>
          </a:xfrm>
          <a:prstGeom prst="rect">
            <a:avLst/>
          </a:prstGeom>
          <a:noFill/>
          <a:ln/>
        </p:spPr>
        <p:txBody>
          <a:bodyPr wrap="square" lIns="0" rIns="0" tIns="0" bIns="0">
            <a:noAutofit/>
          </a:bodyPr>
          <a:lstStyle/>
          <a:p>
            <a:r>
              <a:rPr sz="900" b="1">
                <a:solidFill>
                  <a:srgbClr val="86868B"/>
                </a:solidFill>
                <a:latin typeface="Noto Sans JP"/>
              </a:rPr>
              <a:t>RAG / Embedding</a:t>
            </a:r>
          </a:p>
        </p:txBody>
      </p:sp>
      <p:pic>
        <p:nvPicPr>
          <p:cNvPr id="23" name="Picture 22" descr="image.png"/>
          <p:cNvPicPr>
            <a:picLocks noChangeAspect="1"/>
          </p:cNvPicPr>
          <p:nvPr/>
        </p:nvPicPr>
        <p:blipFill>
          <a:blip r:embed="rId4"/>
          <a:stretch>
            <a:fillRect/>
          </a:stretch>
        </p:blipFill>
        <p:spPr>
          <a:xfrm>
            <a:off x="657454" y="4219956"/>
            <a:ext cx="3238805" cy="552298"/>
          </a:xfrm>
          <a:prstGeom prst="rect">
            <a:avLst/>
          </a:prstGeom>
          <a:ln/>
        </p:spPr>
      </p:pic>
      <p:sp>
        <p:nvSpPr>
          <p:cNvPr id="24" name="TextBox 23"/>
          <p:cNvSpPr txBox="1"/>
          <p:nvPr/>
        </p:nvSpPr>
        <p:spPr>
          <a:xfrm>
            <a:off x="657454" y="4219956"/>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リポジトリEmbedding (BGE/E5) 関連ファイル抽出→LLM回答</a:t>
            </a:r>
          </a:p>
        </p:txBody>
      </p:sp>
      <p:sp>
        <p:nvSpPr>
          <p:cNvPr id="25" name="TextBox 24"/>
          <p:cNvSpPr txBox="1"/>
          <p:nvPr/>
        </p:nvSpPr>
        <p:spPr>
          <a:xfrm>
            <a:off x="657454" y="4886554"/>
            <a:ext cx="3353105" cy="191110"/>
          </a:xfrm>
          <a:prstGeom prst="rect">
            <a:avLst/>
          </a:prstGeom>
          <a:noFill/>
          <a:ln/>
        </p:spPr>
        <p:txBody>
          <a:bodyPr wrap="square" lIns="0" rIns="0" tIns="0" bIns="0">
            <a:noAutofit/>
          </a:bodyPr>
          <a:lstStyle/>
          <a:p>
            <a:r>
              <a:rPr sz="900" b="1">
                <a:solidFill>
                  <a:srgbClr val="86868B"/>
                </a:solidFill>
                <a:latin typeface="Noto Sans JP"/>
              </a:rPr>
              <a:t>Connection</a:t>
            </a:r>
          </a:p>
        </p:txBody>
      </p:sp>
      <p:pic>
        <p:nvPicPr>
          <p:cNvPr id="26" name="Picture 25" descr="image.png"/>
          <p:cNvPicPr>
            <a:picLocks noChangeAspect="1"/>
          </p:cNvPicPr>
          <p:nvPr/>
        </p:nvPicPr>
        <p:blipFill>
          <a:blip r:embed="rId4"/>
          <a:stretch>
            <a:fillRect/>
          </a:stretch>
        </p:blipFill>
        <p:spPr>
          <a:xfrm>
            <a:off x="657454" y="5110582"/>
            <a:ext cx="3238805" cy="552298"/>
          </a:xfrm>
          <a:prstGeom prst="rect">
            <a:avLst/>
          </a:prstGeom>
          <a:ln/>
        </p:spPr>
      </p:pic>
      <p:sp>
        <p:nvSpPr>
          <p:cNvPr id="27" name="TextBox 26"/>
          <p:cNvSpPr txBox="1"/>
          <p:nvPr/>
        </p:nvSpPr>
        <p:spPr>
          <a:xfrm>
            <a:off x="657454" y="511058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Ollama / LM Studio OpenAI互換APIでIDE拡張接続</a:t>
            </a:r>
          </a:p>
        </p:txBody>
      </p:sp>
      <p:pic>
        <p:nvPicPr>
          <p:cNvPr id="28" name="Picture 27" descr="image.png"/>
          <p:cNvPicPr>
            <a:picLocks noChangeAspect="1"/>
          </p:cNvPicPr>
          <p:nvPr/>
        </p:nvPicPr>
        <p:blipFill>
          <a:blip r:embed="rId5"/>
          <a:stretch>
            <a:fillRect/>
          </a:stretch>
        </p:blipFill>
        <p:spPr>
          <a:xfrm>
            <a:off x="657454" y="5853074"/>
            <a:ext cx="1514246" cy="247801"/>
          </a:xfrm>
          <a:prstGeom prst="rect">
            <a:avLst/>
          </a:prstGeom>
          <a:ln/>
        </p:spPr>
      </p:pic>
      <p:sp>
        <p:nvSpPr>
          <p:cNvPr id="29" name="TextBox 28"/>
          <p:cNvSpPr txBox="1"/>
          <p:nvPr/>
        </p:nvSpPr>
        <p:spPr>
          <a:xfrm>
            <a:off x="876910" y="5853074"/>
            <a:ext cx="1295705"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一般的なIDE補完・Q&amp;A</a:t>
            </a:r>
          </a:p>
        </p:txBody>
      </p:sp>
      <p:pic>
        <p:nvPicPr>
          <p:cNvPr id="30" name="Picture 29" descr="image.png"/>
          <p:cNvPicPr>
            <a:picLocks noChangeAspect="1"/>
          </p:cNvPicPr>
          <p:nvPr/>
        </p:nvPicPr>
        <p:blipFill>
          <a:blip r:embed="rId6"/>
          <a:stretch>
            <a:fillRect/>
          </a:stretch>
        </p:blipFill>
        <p:spPr>
          <a:xfrm>
            <a:off x="733349" y="5924398"/>
            <a:ext cx="105155" cy="114300"/>
          </a:xfrm>
          <a:prstGeom prst="rect">
            <a:avLst/>
          </a:prstGeom>
          <a:ln/>
        </p:spPr>
      </p:pic>
      <p:sp>
        <p:nvSpPr>
          <p:cNvPr id="31" name="TextBox 30"/>
          <p:cNvSpPr txBox="1"/>
          <p:nvPr/>
        </p:nvSpPr>
        <p:spPr>
          <a:xfrm>
            <a:off x="4280306" y="2295144"/>
            <a:ext cx="3638398" cy="4009644"/>
          </a:xfrm>
          <a:prstGeom prst="rect">
            <a:avLst/>
          </a:prstGeom>
          <a:noFill/>
          <a:ln w="12700">
            <a:solidFill>
              <a:srgbClr val="E5E5E5"/>
            </a:solidFill>
          </a:ln>
        </p:spPr>
        <p:txBody>
          <a:bodyPr wrap="square" lIns="0" rIns="0" tIns="0" bIns="0">
            <a:noAutofit/>
          </a:bodyPr>
          <a:lstStyle/>
          <a:p/>
        </p:txBody>
      </p:sp>
      <p:sp>
        <p:nvSpPr>
          <p:cNvPr id="32" name="Rectangle 31"/>
          <p:cNvSpPr/>
          <p:nvPr/>
        </p:nvSpPr>
        <p:spPr>
          <a:xfrm>
            <a:off x="4289450" y="2305202"/>
            <a:ext cx="3619195" cy="609905"/>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19649"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7"/>
          <a:stretch>
            <a:fillRect/>
          </a:stretch>
        </p:blipFill>
        <p:spPr>
          <a:xfrm>
            <a:off x="5453482" y="2514600"/>
            <a:ext cx="237744" cy="190194"/>
          </a:xfrm>
          <a:prstGeom prst="rect">
            <a:avLst/>
          </a:prstGeom>
          <a:ln/>
        </p:spPr>
      </p:pic>
      <p:sp>
        <p:nvSpPr>
          <p:cNvPr id="35" name="TextBox 34"/>
          <p:cNvSpPr txBox="1"/>
          <p:nvPr/>
        </p:nvSpPr>
        <p:spPr>
          <a:xfrm>
            <a:off x="5820156" y="2467051"/>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36" name="Rectangle 35"/>
          <p:cNvSpPr/>
          <p:nvPr/>
        </p:nvSpPr>
        <p:spPr>
          <a:xfrm>
            <a:off x="4289450"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79646" y="3105302"/>
            <a:ext cx="3353104" cy="191110"/>
          </a:xfrm>
          <a:prstGeom prst="rect">
            <a:avLst/>
          </a:prstGeom>
          <a:noFill/>
          <a:ln/>
        </p:spPr>
        <p:txBody>
          <a:bodyPr wrap="square" lIns="0" rIns="0" tIns="0" bIns="0">
            <a:noAutofit/>
          </a:bodyPr>
          <a:lstStyle/>
          <a:p>
            <a:r>
              <a:rPr sz="900" b="1">
                <a:solidFill>
                  <a:srgbClr val="86868B"/>
                </a:solidFill>
                <a:latin typeface="Noto Sans JP"/>
              </a:rPr>
              <a:t>Code LLM</a:t>
            </a:r>
          </a:p>
        </p:txBody>
      </p:sp>
      <p:pic>
        <p:nvPicPr>
          <p:cNvPr id="38" name="Picture 37" descr="image.png"/>
          <p:cNvPicPr>
            <a:picLocks noChangeAspect="1"/>
          </p:cNvPicPr>
          <p:nvPr/>
        </p:nvPicPr>
        <p:blipFill>
          <a:blip r:embed="rId4"/>
          <a:stretch>
            <a:fillRect/>
          </a:stretch>
        </p:blipFill>
        <p:spPr>
          <a:xfrm>
            <a:off x="4479646" y="3329329"/>
            <a:ext cx="3238804" cy="552298"/>
          </a:xfrm>
          <a:prstGeom prst="rect">
            <a:avLst/>
          </a:prstGeom>
          <a:ln/>
        </p:spPr>
      </p:pic>
      <p:sp>
        <p:nvSpPr>
          <p:cNvPr id="39" name="TextBox 38"/>
          <p:cNvSpPr txBox="1"/>
          <p:nvPr/>
        </p:nvSpPr>
        <p:spPr>
          <a:xfrm>
            <a:off x="4479646" y="3329329"/>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StarCoder2 (7B/15B) + 32B級汎用LLM併用</a:t>
            </a:r>
          </a:p>
        </p:txBody>
      </p:sp>
      <p:sp>
        <p:nvSpPr>
          <p:cNvPr id="40" name="TextBox 39"/>
          <p:cNvSpPr txBox="1"/>
          <p:nvPr/>
        </p:nvSpPr>
        <p:spPr>
          <a:xfrm>
            <a:off x="4479646" y="3995928"/>
            <a:ext cx="3353104" cy="191110"/>
          </a:xfrm>
          <a:prstGeom prst="rect">
            <a:avLst/>
          </a:prstGeom>
          <a:noFill/>
          <a:ln/>
        </p:spPr>
        <p:txBody>
          <a:bodyPr wrap="square" lIns="0" rIns="0" tIns="0" bIns="0">
            <a:noAutofit/>
          </a:bodyPr>
          <a:lstStyle/>
          <a:p>
            <a:r>
              <a:rPr sz="900" b="1">
                <a:solidFill>
                  <a:srgbClr val="86868B"/>
                </a:solidFill>
                <a:latin typeface="Noto Sans JP"/>
              </a:rPr>
              <a:t>Optimization</a:t>
            </a:r>
          </a:p>
        </p:txBody>
      </p:sp>
      <p:pic>
        <p:nvPicPr>
          <p:cNvPr id="41" name="Picture 40" descr="image.png"/>
          <p:cNvPicPr>
            <a:picLocks noChangeAspect="1"/>
          </p:cNvPicPr>
          <p:nvPr/>
        </p:nvPicPr>
        <p:blipFill>
          <a:blip r:embed="rId4"/>
          <a:stretch>
            <a:fillRect/>
          </a:stretch>
        </p:blipFill>
        <p:spPr>
          <a:xfrm>
            <a:off x="4479646" y="4219956"/>
            <a:ext cx="3238804" cy="552298"/>
          </a:xfrm>
          <a:prstGeom prst="rect">
            <a:avLst/>
          </a:prstGeom>
          <a:ln/>
        </p:spPr>
      </p:pic>
      <p:sp>
        <p:nvSpPr>
          <p:cNvPr id="42" name="TextBox 41"/>
          <p:cNvSpPr txBox="1"/>
          <p:nvPr/>
        </p:nvSpPr>
        <p:spPr>
          <a:xfrm>
            <a:off x="4479646" y="4219956"/>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prefix caching (vLLM等) 長文コンテキストでの遅延抑制</a:t>
            </a:r>
          </a:p>
        </p:txBody>
      </p:sp>
      <p:sp>
        <p:nvSpPr>
          <p:cNvPr id="43" name="TextBox 42"/>
          <p:cNvSpPr txBox="1"/>
          <p:nvPr/>
        </p:nvSpPr>
        <p:spPr>
          <a:xfrm>
            <a:off x="4479646" y="4886554"/>
            <a:ext cx="3353104" cy="191110"/>
          </a:xfrm>
          <a:prstGeom prst="rect">
            <a:avLst/>
          </a:prstGeom>
          <a:noFill/>
          <a:ln/>
        </p:spPr>
        <p:txBody>
          <a:bodyPr wrap="square" lIns="0" rIns="0" tIns="0" bIns="0">
            <a:noAutofit/>
          </a:bodyPr>
          <a:lstStyle/>
          <a:p>
            <a:r>
              <a:rPr sz="900" b="1">
                <a:solidFill>
                  <a:srgbClr val="86868B"/>
                </a:solidFill>
                <a:latin typeface="Noto Sans JP"/>
              </a:rPr>
              <a:t>Capability</a:t>
            </a:r>
          </a:p>
        </p:txBody>
      </p:sp>
      <p:pic>
        <p:nvPicPr>
          <p:cNvPr id="44" name="Picture 43" descr="image.png"/>
          <p:cNvPicPr>
            <a:picLocks noChangeAspect="1"/>
          </p:cNvPicPr>
          <p:nvPr/>
        </p:nvPicPr>
        <p:blipFill>
          <a:blip r:embed="rId4"/>
          <a:stretch>
            <a:fillRect/>
          </a:stretch>
        </p:blipFill>
        <p:spPr>
          <a:xfrm>
            <a:off x="4479646" y="5110582"/>
            <a:ext cx="3238804" cy="552298"/>
          </a:xfrm>
          <a:prstGeom prst="rect">
            <a:avLst/>
          </a:prstGeom>
          <a:ln/>
        </p:spPr>
      </p:pic>
      <p:sp>
        <p:nvSpPr>
          <p:cNvPr id="45" name="TextBox 44"/>
          <p:cNvSpPr txBox="1"/>
          <p:nvPr/>
        </p:nvSpPr>
        <p:spPr>
          <a:xfrm>
            <a:off x="4479646" y="5110582"/>
            <a:ext cx="3238804"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設計レビュー / 長距離依存 複雑なリファクタリング提案</a:t>
            </a:r>
          </a:p>
        </p:txBody>
      </p:sp>
      <p:pic>
        <p:nvPicPr>
          <p:cNvPr id="46" name="Picture 45" descr="image.png"/>
          <p:cNvPicPr>
            <a:picLocks noChangeAspect="1"/>
          </p:cNvPicPr>
          <p:nvPr/>
        </p:nvPicPr>
        <p:blipFill>
          <a:blip r:embed="rId8"/>
          <a:stretch>
            <a:fillRect/>
          </a:stretch>
        </p:blipFill>
        <p:spPr>
          <a:xfrm>
            <a:off x="4479646" y="5853074"/>
            <a:ext cx="1447495" cy="247801"/>
          </a:xfrm>
          <a:prstGeom prst="rect">
            <a:avLst/>
          </a:prstGeom>
          <a:ln/>
        </p:spPr>
      </p:pic>
      <p:sp>
        <p:nvSpPr>
          <p:cNvPr id="47" name="TextBox 46"/>
          <p:cNvSpPr txBox="1"/>
          <p:nvPr/>
        </p:nvSpPr>
        <p:spPr>
          <a:xfrm>
            <a:off x="4699102" y="5853074"/>
            <a:ext cx="1228953"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大規模開発・設計支援</a:t>
            </a:r>
          </a:p>
        </p:txBody>
      </p:sp>
      <p:pic>
        <p:nvPicPr>
          <p:cNvPr id="48" name="Picture 47" descr="image.png"/>
          <p:cNvPicPr>
            <a:picLocks noChangeAspect="1"/>
          </p:cNvPicPr>
          <p:nvPr/>
        </p:nvPicPr>
        <p:blipFill>
          <a:blip r:embed="rId6"/>
          <a:stretch>
            <a:fillRect/>
          </a:stretch>
        </p:blipFill>
        <p:spPr>
          <a:xfrm>
            <a:off x="4556455" y="5924398"/>
            <a:ext cx="105155" cy="114300"/>
          </a:xfrm>
          <a:prstGeom prst="rect">
            <a:avLst/>
          </a:prstGeom>
          <a:ln/>
        </p:spPr>
      </p:pic>
      <p:sp>
        <p:nvSpPr>
          <p:cNvPr id="49" name="TextBox 48"/>
          <p:cNvSpPr txBox="1"/>
          <p:nvPr/>
        </p:nvSpPr>
        <p:spPr>
          <a:xfrm>
            <a:off x="8102497" y="2295144"/>
            <a:ext cx="3638398" cy="4009644"/>
          </a:xfrm>
          <a:prstGeom prst="rect">
            <a:avLst/>
          </a:prstGeom>
          <a:noFill/>
          <a:ln w="12700">
            <a:solidFill>
              <a:srgbClr val="E5E5E5"/>
            </a:solidFill>
          </a:ln>
        </p:spPr>
        <p:txBody>
          <a:bodyPr wrap="square" lIns="0" rIns="0" tIns="0" bIns="0">
            <a:noAutofit/>
          </a:bodyPr>
          <a:lstStyle/>
          <a:p/>
        </p:txBody>
      </p:sp>
      <p:sp>
        <p:nvSpPr>
          <p:cNvPr id="50" name="Rectangle 49"/>
          <p:cNvSpPr/>
          <p:nvPr/>
        </p:nvSpPr>
        <p:spPr>
          <a:xfrm>
            <a:off x="8112557" y="2305202"/>
            <a:ext cx="3619195" cy="609905"/>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1646" y="2457907"/>
            <a:ext cx="304494" cy="304494"/>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9"/>
          <a:stretch>
            <a:fillRect/>
          </a:stretch>
        </p:blipFill>
        <p:spPr>
          <a:xfrm>
            <a:off x="9094622" y="2514600"/>
            <a:ext cx="219455" cy="190194"/>
          </a:xfrm>
          <a:prstGeom prst="rect">
            <a:avLst/>
          </a:prstGeom>
          <a:ln/>
        </p:spPr>
      </p:pic>
      <p:sp>
        <p:nvSpPr>
          <p:cNvPr id="53" name="TextBox 52"/>
          <p:cNvSpPr txBox="1"/>
          <p:nvPr/>
        </p:nvSpPr>
        <p:spPr>
          <a:xfrm>
            <a:off x="9452153" y="2467051"/>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54" name="Rectangle 53"/>
          <p:cNvSpPr/>
          <p:nvPr/>
        </p:nvSpPr>
        <p:spPr>
          <a:xfrm>
            <a:off x="8112557" y="2915107"/>
            <a:ext cx="3619195" cy="3381451"/>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3105302"/>
            <a:ext cx="3353105" cy="191110"/>
          </a:xfrm>
          <a:prstGeom prst="rect">
            <a:avLst/>
          </a:prstGeom>
          <a:noFill/>
          <a:ln/>
        </p:spPr>
        <p:txBody>
          <a:bodyPr wrap="square" lIns="0" rIns="0" tIns="0" bIns="0">
            <a:noAutofit/>
          </a:bodyPr>
          <a:lstStyle/>
          <a:p>
            <a:r>
              <a:rPr sz="900" b="1">
                <a:solidFill>
                  <a:srgbClr val="86868B"/>
                </a:solidFill>
                <a:latin typeface="Noto Sans JP"/>
              </a:rPr>
              <a:t>Target HW</a:t>
            </a:r>
          </a:p>
        </p:txBody>
      </p:sp>
      <p:pic>
        <p:nvPicPr>
          <p:cNvPr id="56" name="Picture 55" descr="image.png"/>
          <p:cNvPicPr>
            <a:picLocks noChangeAspect="1"/>
          </p:cNvPicPr>
          <p:nvPr/>
        </p:nvPicPr>
        <p:blipFill>
          <a:blip r:embed="rId4"/>
          <a:stretch>
            <a:fillRect/>
          </a:stretch>
        </p:blipFill>
        <p:spPr>
          <a:xfrm>
            <a:off x="8302752" y="3329329"/>
            <a:ext cx="3238805" cy="552298"/>
          </a:xfrm>
          <a:prstGeom prst="rect">
            <a:avLst/>
          </a:prstGeom>
          <a:ln/>
        </p:spPr>
      </p:pic>
      <p:sp>
        <p:nvSpPr>
          <p:cNvPr id="57" name="TextBox 56"/>
          <p:cNvSpPr txBox="1"/>
          <p:nvPr/>
        </p:nvSpPr>
        <p:spPr>
          <a:xfrm>
            <a:off x="8302752" y="3329329"/>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メモリ8GB / エントリー機 古い開発環境</a:t>
            </a:r>
          </a:p>
        </p:txBody>
      </p:sp>
      <p:sp>
        <p:nvSpPr>
          <p:cNvPr id="58" name="TextBox 57"/>
          <p:cNvSpPr txBox="1"/>
          <p:nvPr/>
        </p:nvSpPr>
        <p:spPr>
          <a:xfrm>
            <a:off x="8302752" y="3995928"/>
            <a:ext cx="3353105" cy="191110"/>
          </a:xfrm>
          <a:prstGeom prst="rect">
            <a:avLst/>
          </a:prstGeom>
          <a:noFill/>
          <a:ln/>
        </p:spPr>
        <p:txBody>
          <a:bodyPr wrap="square" lIns="0" rIns="0" tIns="0" bIns="0">
            <a:noAutofit/>
          </a:bodyPr>
          <a:lstStyle/>
          <a:p>
            <a:r>
              <a:rPr sz="900" b="1">
                <a:solidFill>
                  <a:srgbClr val="86868B"/>
                </a:solidFill>
                <a:latin typeface="Noto Sans JP"/>
              </a:rPr>
              <a:t>Code LLM</a:t>
            </a:r>
          </a:p>
        </p:txBody>
      </p:sp>
      <p:pic>
        <p:nvPicPr>
          <p:cNvPr id="59" name="Picture 58" descr="image.png"/>
          <p:cNvPicPr>
            <a:picLocks noChangeAspect="1"/>
          </p:cNvPicPr>
          <p:nvPr/>
        </p:nvPicPr>
        <p:blipFill>
          <a:blip r:embed="rId4"/>
          <a:stretch>
            <a:fillRect/>
          </a:stretch>
        </p:blipFill>
        <p:spPr>
          <a:xfrm>
            <a:off x="8302752" y="4219956"/>
            <a:ext cx="3238805" cy="552298"/>
          </a:xfrm>
          <a:prstGeom prst="rect">
            <a:avLst/>
          </a:prstGeom>
          <a:ln/>
        </p:spPr>
      </p:pic>
      <p:sp>
        <p:nvSpPr>
          <p:cNvPr id="60" name="TextBox 59"/>
          <p:cNvSpPr txBox="1"/>
          <p:nvPr/>
        </p:nvSpPr>
        <p:spPr>
          <a:xfrm>
            <a:off x="8302752" y="4219956"/>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3B級モデル Phi-3 mini / StarCoder2-3B</a:t>
            </a:r>
          </a:p>
        </p:txBody>
      </p:sp>
      <p:sp>
        <p:nvSpPr>
          <p:cNvPr id="61" name="TextBox 60"/>
          <p:cNvSpPr txBox="1"/>
          <p:nvPr/>
        </p:nvSpPr>
        <p:spPr>
          <a:xfrm>
            <a:off x="8302752" y="4886554"/>
            <a:ext cx="3353105" cy="191110"/>
          </a:xfrm>
          <a:prstGeom prst="rect">
            <a:avLst/>
          </a:prstGeom>
          <a:noFill/>
          <a:ln/>
        </p:spPr>
        <p:txBody>
          <a:bodyPr wrap="square" lIns="0" rIns="0" tIns="0" bIns="0">
            <a:noAutofit/>
          </a:bodyPr>
          <a:lstStyle/>
          <a:p>
            <a:r>
              <a:rPr sz="900" b="1">
                <a:solidFill>
                  <a:srgbClr val="86868B"/>
                </a:solidFill>
                <a:latin typeface="Noto Sans JP"/>
              </a:rPr>
              <a:t>Strategy</a:t>
            </a:r>
          </a:p>
        </p:txBody>
      </p:sp>
      <p:pic>
        <p:nvPicPr>
          <p:cNvPr id="62" name="Picture 61" descr="image.png"/>
          <p:cNvPicPr>
            <a:picLocks noChangeAspect="1"/>
          </p:cNvPicPr>
          <p:nvPr/>
        </p:nvPicPr>
        <p:blipFill>
          <a:blip r:embed="rId4"/>
          <a:stretch>
            <a:fillRect/>
          </a:stretch>
        </p:blipFill>
        <p:spPr>
          <a:xfrm>
            <a:off x="8302752" y="5110582"/>
            <a:ext cx="3238805" cy="552298"/>
          </a:xfrm>
          <a:prstGeom prst="rect">
            <a:avLst/>
          </a:prstGeom>
          <a:ln/>
        </p:spPr>
      </p:pic>
      <p:sp>
        <p:nvSpPr>
          <p:cNvPr id="63" name="TextBox 62"/>
          <p:cNvSpPr txBox="1"/>
          <p:nvPr/>
        </p:nvSpPr>
        <p:spPr>
          <a:xfrm>
            <a:off x="8302752" y="5110582"/>
            <a:ext cx="3238805" cy="553212"/>
          </a:xfrm>
          <a:prstGeom prst="rect">
            <a:avLst/>
          </a:prstGeom>
          <a:noFill/>
          <a:ln>
            <a:solidFill>
              <a:srgbClr val="FFFFFF"/>
            </a:solidFill>
          </a:ln>
        </p:spPr>
        <p:txBody>
          <a:bodyPr wrap="square" lIns="0" rIns="0" tIns="0" bIns="0">
            <a:noAutofit/>
          </a:bodyPr>
          <a:lstStyle/>
          <a:p>
            <a:r>
              <a:rPr sz="1100">
                <a:solidFill>
                  <a:srgbClr val="1D1D1F"/>
                </a:solidFill>
                <a:latin typeface="Noto Sans JP"/>
              </a:rPr>
              <a:t>短い支援に限定 「行補完」＋「関数リファクタ提案」</a:t>
            </a:r>
          </a:p>
        </p:txBody>
      </p:sp>
      <p:pic>
        <p:nvPicPr>
          <p:cNvPr id="64" name="Picture 63" descr="image.png"/>
          <p:cNvPicPr>
            <a:picLocks noChangeAspect="1"/>
          </p:cNvPicPr>
          <p:nvPr/>
        </p:nvPicPr>
        <p:blipFill>
          <a:blip r:embed="rId10"/>
          <a:stretch>
            <a:fillRect/>
          </a:stretch>
        </p:blipFill>
        <p:spPr>
          <a:xfrm>
            <a:off x="8302752" y="5853074"/>
            <a:ext cx="1333195" cy="247801"/>
          </a:xfrm>
          <a:prstGeom prst="rect">
            <a:avLst/>
          </a:prstGeom>
          <a:ln/>
        </p:spPr>
      </p:pic>
      <p:sp>
        <p:nvSpPr>
          <p:cNvPr id="65" name="TextBox 64"/>
          <p:cNvSpPr txBox="1"/>
          <p:nvPr/>
        </p:nvSpPr>
        <p:spPr>
          <a:xfrm>
            <a:off x="8522208" y="5853074"/>
            <a:ext cx="1114654" cy="247801"/>
          </a:xfrm>
          <a:prstGeom prst="rect">
            <a:avLst/>
          </a:prstGeom>
          <a:noFill/>
          <a:ln>
            <a:solidFill>
              <a:srgbClr val="FFFFFF"/>
            </a:solidFill>
          </a:ln>
        </p:spPr>
        <p:txBody>
          <a:bodyPr wrap="square" lIns="0" rIns="0" tIns="0" bIns="0">
            <a:noAutofit/>
          </a:bodyPr>
          <a:lstStyle/>
          <a:p>
            <a:r>
              <a:rPr sz="900">
                <a:solidFill>
                  <a:srgbClr val="666666"/>
                </a:solidFill>
                <a:latin typeface="Noto Sans JP"/>
              </a:rPr>
              <a:t>スニペット補完のみ</a:t>
            </a:r>
          </a:p>
        </p:txBody>
      </p:sp>
      <p:pic>
        <p:nvPicPr>
          <p:cNvPr id="66" name="Picture 65" descr="image.png"/>
          <p:cNvPicPr>
            <a:picLocks noChangeAspect="1"/>
          </p:cNvPicPr>
          <p:nvPr/>
        </p:nvPicPr>
        <p:blipFill>
          <a:blip r:embed="rId6"/>
          <a:stretch>
            <a:fillRect/>
          </a:stretch>
        </p:blipFill>
        <p:spPr>
          <a:xfrm>
            <a:off x="8378647" y="5924398"/>
            <a:ext cx="105155" cy="114300"/>
          </a:xfrm>
          <a:prstGeom prst="rect">
            <a:avLst/>
          </a:prstGeom>
          <a:ln/>
        </p:spPr>
      </p:pic>
      <p:sp>
        <p:nvSpPr>
          <p:cNvPr id="67" name="Rectangle 66"/>
          <p:cNvSpPr/>
          <p:nvPr/>
        </p:nvSpPr>
        <p:spPr>
          <a:xfrm>
            <a:off x="0" y="6586423"/>
            <a:ext cx="12191695" cy="276149"/>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658642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641287"/>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70" name="TextBox 69"/>
          <p:cNvSpPr txBox="1"/>
          <p:nvPr/>
        </p:nvSpPr>
        <p:spPr>
          <a:xfrm>
            <a:off x="11385194" y="6641287"/>
            <a:ext cx="428854" cy="171907"/>
          </a:xfrm>
          <a:prstGeom prst="rect">
            <a:avLst/>
          </a:prstGeom>
          <a:noFill/>
          <a:ln/>
        </p:spPr>
        <p:txBody>
          <a:bodyPr wrap="square" lIns="0" rIns="0" tIns="0" bIns="0">
            <a:noAutofit/>
          </a:bodyPr>
          <a:lstStyle/>
          <a:p>
            <a:r>
              <a:rPr sz="900">
                <a:solidFill>
                  <a:srgbClr val="86868B"/>
                </a:solidFill>
                <a:latin typeface="Noto Sans JP"/>
              </a:rPr>
              <a:t>67 /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81305" cy="304495"/>
          </a:xfrm>
          <a:prstGeom prst="rect">
            <a:avLst/>
          </a:prstGeom>
          <a:ln/>
        </p:spPr>
      </p:pic>
      <p:sp>
        <p:nvSpPr>
          <p:cNvPr id="8" name="TextBox 7"/>
          <p:cNvSpPr txBox="1"/>
          <p:nvPr/>
        </p:nvSpPr>
        <p:spPr>
          <a:xfrm>
            <a:off x="990294" y="228600"/>
            <a:ext cx="5658306" cy="457200"/>
          </a:xfrm>
          <a:prstGeom prst="rect">
            <a:avLst/>
          </a:prstGeom>
          <a:noFill/>
          <a:ln/>
        </p:spPr>
        <p:txBody>
          <a:bodyPr wrap="square" lIns="0" rIns="0" tIns="0" bIns="0">
            <a:noAutofit/>
          </a:bodyPr>
          <a:lstStyle/>
          <a:p>
            <a:r>
              <a:rPr sz="2400" b="1">
                <a:solidFill>
                  <a:srgbClr val="1D1D1F"/>
                </a:solidFill>
                <a:latin typeface="Noto Sans JP"/>
              </a:rPr>
              <a:t>コーディング支援：失敗モードと回避策</a:t>
            </a:r>
          </a:p>
        </p:txBody>
      </p:sp>
      <p:sp>
        <p:nvSpPr>
          <p:cNvPr id="9" name="TextBox 8"/>
          <p:cNvSpPr txBox="1"/>
          <p:nvPr/>
        </p:nvSpPr>
        <p:spPr>
          <a:xfrm>
            <a:off x="8042148" y="328270"/>
            <a:ext cx="3886200" cy="257861"/>
          </a:xfrm>
          <a:prstGeom prst="rect">
            <a:avLst/>
          </a:prstGeom>
          <a:noFill/>
          <a:ln/>
        </p:spPr>
        <p:txBody>
          <a:bodyPr wrap="square" lIns="0" rIns="0" tIns="0" bIns="0">
            <a:noAutofit/>
          </a:bodyPr>
          <a:lstStyle/>
          <a:p>
            <a:r>
              <a:rPr sz="1300">
                <a:solidFill>
                  <a:srgbClr val="86868B"/>
                </a:solidFill>
                <a:latin typeface="Noto Sans JP"/>
              </a:rPr>
              <a:t>コーディング補助（IDE支援・リポジトリ理解）</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881337"/>
                </a:solidFill>
                <a:latin typeface="Noto Sans JP"/>
              </a:rPr>
              <a:t> 結論：幻覚API生成と長文遅延を「検証ループ」と「キャッシュ活用」で抑止し、 </a:t>
            </a:r>
          </a:p>
          <a:p>
            <a:r>
              <a:rPr sz="1800" b="1">
                <a:solidFill>
                  <a:srgbClr val="881337"/>
                </a:solidFill>
                <a:latin typeface="Noto Sans JP"/>
              </a:rPr>
              <a:t> コード品質とセキュリティを自動化プロセスで担保します。 </a:t>
            </a:r>
          </a:p>
        </p:txBody>
      </p:sp>
      <p:sp>
        <p:nvSpPr>
          <p:cNvPr id="12" name="Rectangle 11"/>
          <p:cNvSpPr/>
          <p:nvPr/>
        </p:nvSpPr>
        <p:spPr>
          <a:xfrm>
            <a:off x="457200"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630729"/>
            <a:ext cx="5486400" cy="38405"/>
          </a:xfrm>
          <a:prstGeom prst="rect">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297326"/>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694944" y="2945282"/>
            <a:ext cx="190194" cy="190194"/>
          </a:xfrm>
          <a:prstGeom prst="rect">
            <a:avLst/>
          </a:prstGeom>
          <a:ln/>
        </p:spPr>
      </p:pic>
      <p:sp>
        <p:nvSpPr>
          <p:cNvPr id="16" name="TextBox 15"/>
          <p:cNvSpPr txBox="1"/>
          <p:nvPr/>
        </p:nvSpPr>
        <p:spPr>
          <a:xfrm>
            <a:off x="1000354" y="2897734"/>
            <a:ext cx="3096158" cy="419709"/>
          </a:xfrm>
          <a:prstGeom prst="rect">
            <a:avLst/>
          </a:prstGeom>
          <a:noFill/>
          <a:ln/>
        </p:spPr>
        <p:txBody>
          <a:bodyPr wrap="square" lIns="0" rIns="0" tIns="0" bIns="0">
            <a:noAutofit/>
          </a:bodyPr>
          <a:lstStyle/>
          <a:p>
            <a:r>
              <a:rPr sz="1500" b="1">
                <a:solidFill>
                  <a:srgbClr val="1D1D1F"/>
                </a:solidFill>
                <a:latin typeface="Noto Sans JP"/>
              </a:rPr>
              <a:t>主な失敗モード（Failure Modes）</a:t>
            </a:r>
          </a:p>
        </p:txBody>
      </p:sp>
      <p:pic>
        <p:nvPicPr>
          <p:cNvPr id="17" name="Picture 16" descr="image.png"/>
          <p:cNvPicPr>
            <a:picLocks noChangeAspect="1"/>
          </p:cNvPicPr>
          <p:nvPr/>
        </p:nvPicPr>
        <p:blipFill>
          <a:blip r:embed="rId5"/>
          <a:stretch>
            <a:fillRect/>
          </a:stretch>
        </p:blipFill>
        <p:spPr>
          <a:xfrm>
            <a:off x="694944" y="3469234"/>
            <a:ext cx="105156" cy="133501"/>
          </a:xfrm>
          <a:prstGeom prst="rect">
            <a:avLst/>
          </a:prstGeom>
          <a:ln/>
        </p:spPr>
      </p:pic>
      <p:sp>
        <p:nvSpPr>
          <p:cNvPr id="18" name="TextBox 17"/>
          <p:cNvSpPr txBox="1"/>
          <p:nvPr/>
        </p:nvSpPr>
        <p:spPr>
          <a:xfrm>
            <a:off x="914400" y="3712464"/>
            <a:ext cx="4867351" cy="495605"/>
          </a:xfrm>
          <a:prstGeom prst="rect">
            <a:avLst/>
          </a:prstGeom>
          <a:noFill/>
          <a:ln/>
        </p:spPr>
        <p:txBody>
          <a:bodyPr wrap="square" lIns="0" rIns="0" tIns="0" bIns="0">
            <a:noAutofit/>
          </a:bodyPr>
          <a:lstStyle/>
          <a:p>
            <a:r>
              <a:rPr sz="1200">
                <a:solidFill>
                  <a:srgbClr val="424245"/>
                </a:solidFill>
                <a:latin typeface="Noto Sans JP"/>
              </a:rPr>
              <a:t>ライブラリのバージョン不一致や、もっともらしいが実在しない関数（Hallucination）を生成。</a:t>
            </a:r>
          </a:p>
        </p:txBody>
      </p:sp>
      <p:pic>
        <p:nvPicPr>
          <p:cNvPr id="19" name="Picture 18" descr="image.png"/>
          <p:cNvPicPr>
            <a:picLocks noChangeAspect="1"/>
          </p:cNvPicPr>
          <p:nvPr/>
        </p:nvPicPr>
        <p:blipFill>
          <a:blip r:embed="rId5"/>
          <a:stretch>
            <a:fillRect/>
          </a:stretch>
        </p:blipFill>
        <p:spPr>
          <a:xfrm>
            <a:off x="694944" y="4352544"/>
            <a:ext cx="105156" cy="133501"/>
          </a:xfrm>
          <a:prstGeom prst="rect">
            <a:avLst/>
          </a:prstGeom>
          <a:ln/>
        </p:spPr>
      </p:pic>
      <p:sp>
        <p:nvSpPr>
          <p:cNvPr id="20" name="TextBox 19"/>
          <p:cNvSpPr txBox="1"/>
          <p:nvPr/>
        </p:nvSpPr>
        <p:spPr>
          <a:xfrm>
            <a:off x="914400" y="4596689"/>
            <a:ext cx="4867351" cy="495605"/>
          </a:xfrm>
          <a:prstGeom prst="rect">
            <a:avLst/>
          </a:prstGeom>
          <a:noFill/>
          <a:ln/>
        </p:spPr>
        <p:txBody>
          <a:bodyPr wrap="square" lIns="0" rIns="0" tIns="0" bIns="0">
            <a:noAutofit/>
          </a:bodyPr>
          <a:lstStyle/>
          <a:p>
            <a:r>
              <a:rPr sz="1200">
                <a:solidFill>
                  <a:srgbClr val="424245"/>
                </a:solidFill>
                <a:latin typeface="Noto Sans JP"/>
              </a:rPr>
              <a:t>リポジトリ全体を読み込むとKVキャッシュが肥大化し、補完のレスポンスが低下する。</a:t>
            </a:r>
          </a:p>
        </p:txBody>
      </p:sp>
      <p:pic>
        <p:nvPicPr>
          <p:cNvPr id="21" name="Picture 20" descr="image.png"/>
          <p:cNvPicPr>
            <a:picLocks noChangeAspect="1"/>
          </p:cNvPicPr>
          <p:nvPr/>
        </p:nvPicPr>
        <p:blipFill>
          <a:blip r:embed="rId5"/>
          <a:stretch>
            <a:fillRect/>
          </a:stretch>
        </p:blipFill>
        <p:spPr>
          <a:xfrm>
            <a:off x="694944" y="5236769"/>
            <a:ext cx="105156" cy="133501"/>
          </a:xfrm>
          <a:prstGeom prst="rect">
            <a:avLst/>
          </a:prstGeom>
          <a:ln/>
        </p:spPr>
      </p:pic>
      <p:sp>
        <p:nvSpPr>
          <p:cNvPr id="22" name="TextBox 21"/>
          <p:cNvSpPr txBox="1"/>
          <p:nvPr/>
        </p:nvSpPr>
        <p:spPr>
          <a:xfrm>
            <a:off x="914400" y="5479999"/>
            <a:ext cx="4867351" cy="495605"/>
          </a:xfrm>
          <a:prstGeom prst="rect">
            <a:avLst/>
          </a:prstGeom>
          <a:noFill/>
          <a:ln/>
        </p:spPr>
        <p:txBody>
          <a:bodyPr wrap="square" lIns="0" rIns="0" tIns="0" bIns="0">
            <a:noAutofit/>
          </a:bodyPr>
          <a:lstStyle/>
          <a:p>
            <a:r>
              <a:rPr sz="1200">
                <a:solidFill>
                  <a:srgbClr val="424245"/>
                </a:solidFill>
                <a:latin typeface="Noto Sans JP"/>
              </a:rPr>
              <a:t>古い構文や廃止されたメソッドを使用し、コンパイルエラーやセキュリティリスクを招く。</a:t>
            </a:r>
          </a:p>
        </p:txBody>
      </p:sp>
      <p:sp>
        <p:nvSpPr>
          <p:cNvPr id="23" name="Rectangle 22"/>
          <p:cNvSpPr/>
          <p:nvPr/>
        </p:nvSpPr>
        <p:spPr>
          <a:xfrm>
            <a:off x="6248095" y="2630729"/>
            <a:ext cx="5486400" cy="3581705"/>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8095" y="2630729"/>
            <a:ext cx="5486400" cy="38405"/>
          </a:xfrm>
          <a:prstGeom prst="rect">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86754" y="3297326"/>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6486754" y="2945282"/>
            <a:ext cx="190195" cy="190194"/>
          </a:xfrm>
          <a:prstGeom prst="rect">
            <a:avLst/>
          </a:prstGeom>
          <a:ln/>
        </p:spPr>
      </p:pic>
      <p:sp>
        <p:nvSpPr>
          <p:cNvPr id="27" name="TextBox 26"/>
          <p:cNvSpPr txBox="1"/>
          <p:nvPr/>
        </p:nvSpPr>
        <p:spPr>
          <a:xfrm>
            <a:off x="6791249" y="2897734"/>
            <a:ext cx="3419855" cy="419709"/>
          </a:xfrm>
          <a:prstGeom prst="rect">
            <a:avLst/>
          </a:prstGeom>
          <a:noFill/>
          <a:ln/>
        </p:spPr>
        <p:txBody>
          <a:bodyPr wrap="square" lIns="0" rIns="0" tIns="0" bIns="0">
            <a:noAutofit/>
          </a:bodyPr>
          <a:lstStyle/>
          <a:p>
            <a:r>
              <a:rPr sz="1500" b="1">
                <a:solidFill>
                  <a:srgbClr val="1D1D1F"/>
                </a:solidFill>
                <a:latin typeface="Noto Sans JP"/>
              </a:rPr>
              <a:t>回避策・設計（Mitigation &amp; Design）</a:t>
            </a:r>
          </a:p>
        </p:txBody>
      </p:sp>
      <p:pic>
        <p:nvPicPr>
          <p:cNvPr id="28" name="Picture 27" descr="image.png"/>
          <p:cNvPicPr>
            <a:picLocks noChangeAspect="1"/>
          </p:cNvPicPr>
          <p:nvPr/>
        </p:nvPicPr>
        <p:blipFill>
          <a:blip r:embed="rId7"/>
          <a:stretch>
            <a:fillRect/>
          </a:stretch>
        </p:blipFill>
        <p:spPr>
          <a:xfrm>
            <a:off x="6486754" y="3469234"/>
            <a:ext cx="114300" cy="133501"/>
          </a:xfrm>
          <a:prstGeom prst="rect">
            <a:avLst/>
          </a:prstGeom>
          <a:ln/>
        </p:spPr>
      </p:pic>
      <p:sp>
        <p:nvSpPr>
          <p:cNvPr id="29" name="TextBox 28"/>
          <p:cNvSpPr txBox="1"/>
          <p:nvPr/>
        </p:nvSpPr>
        <p:spPr>
          <a:xfrm>
            <a:off x="6715354" y="3712464"/>
            <a:ext cx="4858207" cy="495605"/>
          </a:xfrm>
          <a:prstGeom prst="rect">
            <a:avLst/>
          </a:prstGeom>
          <a:noFill/>
          <a:ln/>
        </p:spPr>
        <p:txBody>
          <a:bodyPr wrap="square" lIns="0" rIns="0" tIns="0" bIns="0">
            <a:noAutofit/>
          </a:bodyPr>
          <a:lstStyle/>
          <a:p>
            <a:r>
              <a:rPr sz="1200">
                <a:solidFill>
                  <a:srgbClr val="424245"/>
                </a:solidFill>
                <a:latin typeface="Noto Sans JP"/>
              </a:rPr>
              <a:t>ビルド・単体テスト実行をfunction callingとしてLLMに提供。失敗時はエラーログをフィードバックして再生成させる。</a:t>
            </a:r>
          </a:p>
        </p:txBody>
      </p:sp>
      <p:pic>
        <p:nvPicPr>
          <p:cNvPr id="30" name="Picture 29" descr="image.png"/>
          <p:cNvPicPr>
            <a:picLocks noChangeAspect="1"/>
          </p:cNvPicPr>
          <p:nvPr/>
        </p:nvPicPr>
        <p:blipFill>
          <a:blip r:embed="rId7"/>
          <a:stretch>
            <a:fillRect/>
          </a:stretch>
        </p:blipFill>
        <p:spPr>
          <a:xfrm>
            <a:off x="6486754" y="4352544"/>
            <a:ext cx="114300" cy="133501"/>
          </a:xfrm>
          <a:prstGeom prst="rect">
            <a:avLst/>
          </a:prstGeom>
          <a:ln/>
        </p:spPr>
      </p:pic>
      <p:sp>
        <p:nvSpPr>
          <p:cNvPr id="31" name="TextBox 30"/>
          <p:cNvSpPr txBox="1"/>
          <p:nvPr/>
        </p:nvSpPr>
        <p:spPr>
          <a:xfrm>
            <a:off x="6715354" y="4596689"/>
            <a:ext cx="4858207" cy="495605"/>
          </a:xfrm>
          <a:prstGeom prst="rect">
            <a:avLst/>
          </a:prstGeom>
          <a:noFill/>
          <a:ln/>
        </p:spPr>
        <p:txBody>
          <a:bodyPr wrap="square" lIns="0" rIns="0" tIns="0" bIns="0">
            <a:noAutofit/>
          </a:bodyPr>
          <a:lstStyle/>
          <a:p>
            <a:r>
              <a:rPr sz="1200">
                <a:solidFill>
                  <a:srgbClr val="424245"/>
                </a:solidFill>
                <a:latin typeface="Noto Sans JP"/>
              </a:rPr>
              <a:t>vLLMやllama.cppのキャッシュ機能を活用し、共通コンテキスト（ライブラリ定義等）の再計算を回避。</a:t>
            </a:r>
          </a:p>
        </p:txBody>
      </p:sp>
      <p:pic>
        <p:nvPicPr>
          <p:cNvPr id="32" name="Picture 31" descr="image.png"/>
          <p:cNvPicPr>
            <a:picLocks noChangeAspect="1"/>
          </p:cNvPicPr>
          <p:nvPr/>
        </p:nvPicPr>
        <p:blipFill>
          <a:blip r:embed="rId8"/>
          <a:stretch>
            <a:fillRect/>
          </a:stretch>
        </p:blipFill>
        <p:spPr>
          <a:xfrm>
            <a:off x="9229954" y="4878324"/>
            <a:ext cx="790955" cy="200253"/>
          </a:xfrm>
          <a:prstGeom prst="rect">
            <a:avLst/>
          </a:prstGeom>
          <a:ln/>
        </p:spPr>
      </p:pic>
      <p:sp>
        <p:nvSpPr>
          <p:cNvPr id="33" name="TextBox 32"/>
          <p:cNvSpPr txBox="1"/>
          <p:nvPr/>
        </p:nvSpPr>
        <p:spPr>
          <a:xfrm>
            <a:off x="9229954" y="4878324"/>
            <a:ext cx="790955"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[88][90][112]</a:t>
            </a:r>
          </a:p>
        </p:txBody>
      </p:sp>
      <p:pic>
        <p:nvPicPr>
          <p:cNvPr id="34" name="Picture 33" descr="image.png"/>
          <p:cNvPicPr>
            <a:picLocks noChangeAspect="1"/>
          </p:cNvPicPr>
          <p:nvPr/>
        </p:nvPicPr>
        <p:blipFill>
          <a:blip r:embed="rId7"/>
          <a:stretch>
            <a:fillRect/>
          </a:stretch>
        </p:blipFill>
        <p:spPr>
          <a:xfrm>
            <a:off x="6486754" y="5236769"/>
            <a:ext cx="114300" cy="133501"/>
          </a:xfrm>
          <a:prstGeom prst="rect">
            <a:avLst/>
          </a:prstGeom>
          <a:ln/>
        </p:spPr>
      </p:pic>
      <p:sp>
        <p:nvSpPr>
          <p:cNvPr id="35" name="TextBox 34"/>
          <p:cNvSpPr txBox="1"/>
          <p:nvPr/>
        </p:nvSpPr>
        <p:spPr>
          <a:xfrm>
            <a:off x="6715354" y="5479999"/>
            <a:ext cx="4858207" cy="495605"/>
          </a:xfrm>
          <a:prstGeom prst="rect">
            <a:avLst/>
          </a:prstGeom>
          <a:noFill/>
          <a:ln/>
        </p:spPr>
        <p:txBody>
          <a:bodyPr wrap="square" lIns="0" rIns="0" tIns="0" bIns="0">
            <a:noAutofit/>
          </a:bodyPr>
          <a:lstStyle/>
          <a:p>
            <a:r>
              <a:rPr sz="1200">
                <a:solidFill>
                  <a:srgbClr val="424245"/>
                </a:solidFill>
                <a:latin typeface="Noto Sans JP"/>
              </a:rPr>
              <a:t>Linterや依存関係解決ツールを“ツール”として組み込み、生成コードを静的解析してから提示する。</a:t>
            </a:r>
          </a:p>
        </p:txBody>
      </p:sp>
      <p:sp>
        <p:nvSpPr>
          <p:cNvPr id="36" name="Rectangle 35"/>
          <p:cNvSpPr/>
          <p:nvPr/>
        </p:nvSpPr>
        <p:spPr>
          <a:xfrm>
            <a:off x="457200" y="6434633"/>
            <a:ext cx="11277295" cy="961949"/>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615683"/>
            <a:ext cx="171907" cy="171907"/>
          </a:xfrm>
          <a:prstGeom prst="rect">
            <a:avLst/>
          </a:prstGeom>
          <a:ln/>
        </p:spPr>
      </p:pic>
      <p:sp>
        <p:nvSpPr>
          <p:cNvPr id="38" name="TextBox 37"/>
          <p:cNvSpPr txBox="1"/>
          <p:nvPr/>
        </p:nvSpPr>
        <p:spPr>
          <a:xfrm>
            <a:off x="905256" y="6596482"/>
            <a:ext cx="10858500" cy="200254"/>
          </a:xfrm>
          <a:prstGeom prst="rect">
            <a:avLst/>
          </a:prstGeom>
          <a:noFill/>
          <a:ln/>
        </p:spPr>
        <p:txBody>
          <a:bodyPr wrap="square" lIns="0" rIns="0" tIns="0" bIns="0">
            <a:noAutofit/>
          </a:bodyPr>
          <a:lstStyle/>
          <a:p>
            <a:r>
              <a:rPr sz="1000" b="1">
                <a:solidFill>
                  <a:srgbClr val="78350F"/>
                </a:solidFill>
                <a:latin typeface="Noto Sans JP"/>
              </a:rPr>
              <a:t>パラメータ設定の含意</a:t>
            </a:r>
          </a:p>
        </p:txBody>
      </p:sp>
      <p:sp>
        <p:nvSpPr>
          <p:cNvPr id="39" name="TextBox 38"/>
          <p:cNvSpPr txBox="1"/>
          <p:nvPr/>
        </p:nvSpPr>
        <p:spPr>
          <a:xfrm>
            <a:off x="905256" y="6834226"/>
            <a:ext cx="10744200" cy="400507"/>
          </a:xfrm>
          <a:prstGeom prst="rect">
            <a:avLst/>
          </a:prstGeom>
          <a:noFill/>
          <a:ln/>
        </p:spPr>
        <p:txBody>
          <a:bodyPr wrap="square" lIns="0" rIns="0" tIns="0" bIns="0">
            <a:noAutofit/>
          </a:bodyPr>
          <a:lstStyle/>
          <a:p>
            <a:r>
              <a:rPr sz="1000">
                <a:solidFill>
                  <a:srgbClr val="78350F"/>
                </a:solidFill>
                <a:latin typeface="Noto Sans JP"/>
              </a:rPr>
              <a:t>コード生成では「創造性」よりも「正確性」が優先されます。温度（Temperature）を低く設定し、top_pや最大トークン数を固定することで、挙動のばらつきを抑制します。また、サンドボックス環境での実行を前提とし、セキュリティリスクを隔離します。</a:t>
            </a:r>
          </a:p>
        </p:txBody>
      </p:sp>
      <p:sp>
        <p:nvSpPr>
          <p:cNvPr id="40" name="Rectangle 39"/>
          <p:cNvSpPr/>
          <p:nvPr/>
        </p:nvSpPr>
        <p:spPr>
          <a:xfrm>
            <a:off x="0" y="7777886"/>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777886"/>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787030"/>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3" name="TextBox 42"/>
          <p:cNvSpPr txBox="1"/>
          <p:nvPr/>
        </p:nvSpPr>
        <p:spPr>
          <a:xfrm>
            <a:off x="11385194" y="7787030"/>
            <a:ext cx="428854" cy="171907"/>
          </a:xfrm>
          <a:prstGeom prst="rect">
            <a:avLst/>
          </a:prstGeom>
          <a:noFill/>
          <a:ln/>
        </p:spPr>
        <p:txBody>
          <a:bodyPr wrap="square" lIns="0" rIns="0" tIns="0" bIns="0">
            <a:noAutofit/>
          </a:bodyPr>
          <a:lstStyle/>
          <a:p>
            <a:r>
              <a:rPr sz="900">
                <a:solidFill>
                  <a:srgbClr val="86868B"/>
                </a:solidFill>
                <a:latin typeface="Noto Sans JP"/>
              </a:rPr>
              <a:t>68 / 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47649"/>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38505"/>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7005"/>
            <a:ext cx="304495" cy="304495"/>
          </a:xfrm>
          <a:prstGeom prst="rect">
            <a:avLst/>
          </a:prstGeom>
          <a:ln/>
        </p:spPr>
      </p:pic>
      <p:sp>
        <p:nvSpPr>
          <p:cNvPr id="8" name="TextBox 7"/>
          <p:cNvSpPr txBox="1"/>
          <p:nvPr/>
        </p:nvSpPr>
        <p:spPr>
          <a:xfrm>
            <a:off x="914400" y="190195"/>
            <a:ext cx="6578194" cy="457200"/>
          </a:xfrm>
          <a:prstGeom prst="rect">
            <a:avLst/>
          </a:prstGeom>
          <a:noFill/>
          <a:ln/>
        </p:spPr>
        <p:txBody>
          <a:bodyPr wrap="square" lIns="0" rIns="0" tIns="0" bIns="0">
            <a:noAutofit/>
          </a:bodyPr>
          <a:lstStyle/>
          <a:p>
            <a:r>
              <a:rPr sz="2400" b="1">
                <a:solidFill>
                  <a:srgbClr val="1D1D1F"/>
                </a:solidFill>
                <a:latin typeface="Noto Sans JP"/>
              </a:rPr>
              <a:t>ユースケース：画像生成（Diffusion）— 3構成</a:t>
            </a:r>
          </a:p>
        </p:txBody>
      </p:sp>
      <p:sp>
        <p:nvSpPr>
          <p:cNvPr id="9" name="TextBox 8"/>
          <p:cNvSpPr txBox="1"/>
          <p:nvPr/>
        </p:nvSpPr>
        <p:spPr>
          <a:xfrm>
            <a:off x="9044330" y="290779"/>
            <a:ext cx="2886760" cy="257861"/>
          </a:xfrm>
          <a:prstGeom prst="rect">
            <a:avLst/>
          </a:prstGeom>
          <a:noFill/>
          <a:ln/>
        </p:spPr>
        <p:txBody>
          <a:bodyPr wrap="square" lIns="0" rIns="0" tIns="0" bIns="0">
            <a:noAutofit/>
          </a:bodyPr>
          <a:lstStyle/>
          <a:p>
            <a:r>
              <a:rPr sz="1300">
                <a:solidFill>
                  <a:srgbClr val="86868B"/>
                </a:solidFill>
                <a:latin typeface="Noto Sans JP"/>
              </a:rPr>
              <a:t>推奨スタックとVRAM要件の最適化</a:t>
            </a:r>
          </a:p>
        </p:txBody>
      </p:sp>
      <p:sp>
        <p:nvSpPr>
          <p:cNvPr id="10" name="Rectangle 9"/>
          <p:cNvSpPr/>
          <p:nvPr/>
        </p:nvSpPr>
        <p:spPr>
          <a:xfrm>
            <a:off x="457200" y="1133856"/>
            <a:ext cx="11277295" cy="875994"/>
          </a:xfrm>
          <a:prstGeom prst="rect">
            <a:avLst/>
          </a:prstGeom>
          <a:solidFill>
            <a:srgbClr val="F0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133856"/>
            <a:ext cx="57606" cy="875994"/>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3407" y="1285646"/>
            <a:ext cx="10840212" cy="571500"/>
          </a:xfrm>
          <a:prstGeom prst="rect">
            <a:avLst/>
          </a:prstGeom>
          <a:noFill/>
          <a:ln/>
        </p:spPr>
        <p:txBody>
          <a:bodyPr wrap="square" lIns="0" rIns="0" tIns="0" bIns="0">
            <a:noAutofit/>
          </a:bodyPr>
          <a:lstStyle/>
          <a:p>
            <a:r>
              <a:rPr sz="1500" b="1">
                <a:solidFill>
                  <a:srgbClr val="1D1D1F"/>
                </a:solidFill>
                <a:latin typeface="Noto Sans JP"/>
              </a:rPr>
              <a:t> 結論：SDXLを軸にComfyUIでワークフローを資産化。FLUX等はライセンス精査が必須です。</a:t>
            </a:r>
          </a:p>
          <a:p>
            <a:r>
              <a:rPr sz="1200" b="1">
                <a:solidFill>
                  <a:srgbClr val="424245"/>
                </a:solidFill>
                <a:latin typeface="Noto Sans JP"/>
              </a:rPr>
              <a:t>※VRAM要件は解像度・バッチ・ステップ数に依存するため、プロファイル固定が重要です。</a:t>
            </a:r>
          </a:p>
        </p:txBody>
      </p:sp>
      <p:sp>
        <p:nvSpPr>
          <p:cNvPr id="13" name="TextBox 12"/>
          <p:cNvSpPr txBox="1"/>
          <p:nvPr/>
        </p:nvSpPr>
        <p:spPr>
          <a:xfrm>
            <a:off x="457200" y="2295144"/>
            <a:ext cx="3638398" cy="5333695"/>
          </a:xfrm>
          <a:prstGeom prst="rect">
            <a:avLst/>
          </a:prstGeom>
          <a:noFill/>
          <a:ln w="12700">
            <a:solidFill>
              <a:srgbClr val="E5E5E5"/>
            </a:solidFill>
          </a:ln>
        </p:spPr>
        <p:txBody>
          <a:bodyPr wrap="square" lIns="0" rIns="0" tIns="0" bIns="0">
            <a:noAutofit/>
          </a:bodyPr>
          <a:lstStyle/>
          <a:p/>
        </p:txBody>
      </p:sp>
      <p:sp>
        <p:nvSpPr>
          <p:cNvPr id="14" name="Rectangle 13"/>
          <p:cNvSpPr/>
          <p:nvPr/>
        </p:nvSpPr>
        <p:spPr>
          <a:xfrm>
            <a:off x="466344" y="2305202"/>
            <a:ext cx="3619195" cy="6473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82242" y="2457907"/>
            <a:ext cx="342899"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1578254" y="2542946"/>
            <a:ext cx="152704" cy="171906"/>
          </a:xfrm>
          <a:prstGeom prst="rect">
            <a:avLst/>
          </a:prstGeom>
          <a:ln/>
        </p:spPr>
      </p:pic>
      <p:sp>
        <p:nvSpPr>
          <p:cNvPr id="17" name="TextBox 16"/>
          <p:cNvSpPr txBox="1"/>
          <p:nvPr/>
        </p:nvSpPr>
        <p:spPr>
          <a:xfrm>
            <a:off x="1921154" y="2486254"/>
            <a:ext cx="1234440" cy="286206"/>
          </a:xfrm>
          <a:prstGeom prst="rect">
            <a:avLst/>
          </a:prstGeom>
          <a:noFill/>
          <a:ln/>
        </p:spPr>
        <p:txBody>
          <a:bodyPr wrap="square" lIns="0" rIns="0" tIns="0" bIns="0">
            <a:noAutofit/>
          </a:bodyPr>
          <a:lstStyle/>
          <a:p>
            <a:r>
              <a:rPr sz="1500" b="1">
                <a:solidFill>
                  <a:srgbClr val="FFFFFF"/>
                </a:solidFill>
                <a:latin typeface="Noto Sans JP"/>
              </a:rPr>
              <a:t>低コスト構成</a:t>
            </a:r>
          </a:p>
        </p:txBody>
      </p:sp>
      <p:sp>
        <p:nvSpPr>
          <p:cNvPr id="18" name="Rectangle 17"/>
          <p:cNvSpPr/>
          <p:nvPr/>
        </p:nvSpPr>
        <p:spPr>
          <a:xfrm>
            <a:off x="466344"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5" y="3143707"/>
            <a:ext cx="3172054" cy="191110"/>
          </a:xfrm>
          <a:prstGeom prst="rect">
            <a:avLst/>
          </a:prstGeom>
          <a:noFill/>
          <a:ln/>
        </p:spPr>
        <p:txBody>
          <a:bodyPr wrap="square" lIns="0" rIns="0" tIns="0" bIns="0">
            <a:noAutofit/>
          </a:bodyPr>
          <a:lstStyle/>
          <a:p>
            <a:r>
              <a:rPr sz="900" b="1">
                <a:solidFill>
                  <a:srgbClr val="86868B"/>
                </a:solidFill>
                <a:latin typeface="Noto Sans JP"/>
              </a:rPr>
              <a:t>Target VRAM</a:t>
            </a:r>
          </a:p>
        </p:txBody>
      </p:sp>
      <p:pic>
        <p:nvPicPr>
          <p:cNvPr id="20" name="Picture 19" descr="image.png"/>
          <p:cNvPicPr>
            <a:picLocks noChangeAspect="1"/>
          </p:cNvPicPr>
          <p:nvPr/>
        </p:nvPicPr>
        <p:blipFill>
          <a:blip r:embed="rId4"/>
          <a:stretch>
            <a:fillRect/>
          </a:stretch>
        </p:blipFill>
        <p:spPr>
          <a:xfrm>
            <a:off x="657454" y="3173882"/>
            <a:ext cx="123443" cy="123443"/>
          </a:xfrm>
          <a:prstGeom prst="rect">
            <a:avLst/>
          </a:prstGeom>
          <a:ln/>
        </p:spPr>
      </p:pic>
      <p:sp>
        <p:nvSpPr>
          <p:cNvPr id="21" name="Rectangle 20"/>
          <p:cNvSpPr/>
          <p:nvPr/>
        </p:nvSpPr>
        <p:spPr>
          <a:xfrm>
            <a:off x="657454"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 y="3481121"/>
            <a:ext cx="3048610" cy="428853"/>
          </a:xfrm>
          <a:prstGeom prst="rect">
            <a:avLst/>
          </a:prstGeom>
          <a:noFill/>
          <a:ln/>
        </p:spPr>
        <p:txBody>
          <a:bodyPr wrap="square" lIns="0" rIns="0" tIns="0" bIns="0">
            <a:noAutofit/>
          </a:bodyPr>
          <a:lstStyle/>
          <a:p>
            <a:r>
              <a:rPr sz="1100" b="1">
                <a:solidFill>
                  <a:srgbClr val="1D1D1F"/>
                </a:solidFill>
                <a:latin typeface="Noto Sans JP"/>
              </a:rPr>
              <a:t>VRAM 8GB〜12GB</a:t>
            </a:r>
          </a:p>
          <a:p>
            <a:r>
              <a:rPr sz="1100">
                <a:solidFill>
                  <a:srgbClr val="1D1D1F"/>
                </a:solidFill>
                <a:latin typeface="Noto Sans JP"/>
              </a:rPr>
              <a:t>(Apple Silicon 16GB)</a:t>
            </a:r>
          </a:p>
        </p:txBody>
      </p:sp>
      <p:sp>
        <p:nvSpPr>
          <p:cNvPr id="23" name="TextBox 22"/>
          <p:cNvSpPr txBox="1"/>
          <p:nvPr/>
        </p:nvSpPr>
        <p:spPr>
          <a:xfrm>
            <a:off x="838505" y="4138574"/>
            <a:ext cx="3172054" cy="191110"/>
          </a:xfrm>
          <a:prstGeom prst="rect">
            <a:avLst/>
          </a:prstGeom>
          <a:noFill/>
          <a:ln/>
        </p:spPr>
        <p:txBody>
          <a:bodyPr wrap="square" lIns="0" rIns="0" tIns="0" bIns="0">
            <a:noAutofit/>
          </a:bodyPr>
          <a:lstStyle/>
          <a:p>
            <a:r>
              <a:rPr sz="900" b="1">
                <a:solidFill>
                  <a:srgbClr val="86868B"/>
                </a:solidFill>
                <a:latin typeface="Noto Sans JP"/>
              </a:rPr>
              <a:t>Model / UI</a:t>
            </a:r>
          </a:p>
        </p:txBody>
      </p:sp>
      <p:pic>
        <p:nvPicPr>
          <p:cNvPr id="24" name="Picture 23" descr="image.png"/>
          <p:cNvPicPr>
            <a:picLocks noChangeAspect="1"/>
          </p:cNvPicPr>
          <p:nvPr/>
        </p:nvPicPr>
        <p:blipFill>
          <a:blip r:embed="rId5"/>
          <a:stretch>
            <a:fillRect/>
          </a:stretch>
        </p:blipFill>
        <p:spPr>
          <a:xfrm>
            <a:off x="657454" y="4169664"/>
            <a:ext cx="123443" cy="123444"/>
          </a:xfrm>
          <a:prstGeom prst="rect">
            <a:avLst/>
          </a:prstGeom>
          <a:ln/>
        </p:spPr>
      </p:pic>
      <p:sp>
        <p:nvSpPr>
          <p:cNvPr id="25" name="Rectangle 24"/>
          <p:cNvSpPr/>
          <p:nvPr/>
        </p:nvSpPr>
        <p:spPr>
          <a:xfrm>
            <a:off x="657454"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 y="4476902"/>
            <a:ext cx="3048610" cy="428853"/>
          </a:xfrm>
          <a:prstGeom prst="rect">
            <a:avLst/>
          </a:prstGeom>
          <a:noFill/>
          <a:ln/>
        </p:spPr>
        <p:txBody>
          <a:bodyPr wrap="square" lIns="0" rIns="0" tIns="0" bIns="0">
            <a:noAutofit/>
          </a:bodyPr>
          <a:lstStyle/>
          <a:p>
            <a:r>
              <a:rPr sz="1100" b="1">
                <a:solidFill>
                  <a:srgbClr val="1D1D1F"/>
                </a:solidFill>
                <a:latin typeface="Noto Sans JP"/>
              </a:rPr>
              <a:t>SDXL base 1.0</a:t>
            </a:r>
            <a:r>
              <a:rPr sz="1100">
                <a:solidFill>
                  <a:srgbClr val="1D1D1F"/>
                </a:solidFill>
                <a:latin typeface="Noto Sans JP"/>
              </a:rPr>
              <a:t> + Refinerなし</a:t>
            </a:r>
          </a:p>
          <a:p>
            <a:r>
              <a:rPr sz="1100">
                <a:solidFill>
                  <a:srgbClr val="1D1D1F"/>
                </a:solidFill>
                <a:latin typeface="Noto Sans JP"/>
              </a:rPr>
              <a:t>ComfyUI (Win/Linux/macOS)</a:t>
            </a:r>
          </a:p>
        </p:txBody>
      </p:sp>
      <p:sp>
        <p:nvSpPr>
          <p:cNvPr id="27" name="TextBox 26"/>
          <p:cNvSpPr txBox="1"/>
          <p:nvPr/>
        </p:nvSpPr>
        <p:spPr>
          <a:xfrm>
            <a:off x="838505" y="5134356"/>
            <a:ext cx="3172054" cy="191110"/>
          </a:xfrm>
          <a:prstGeom prst="rect">
            <a:avLst/>
          </a:prstGeom>
          <a:noFill/>
          <a:ln/>
        </p:spPr>
        <p:txBody>
          <a:bodyPr wrap="square" lIns="0" rIns="0" tIns="0" bIns="0">
            <a:noAutofit/>
          </a:bodyPr>
          <a:lstStyle/>
          <a:p>
            <a:r>
              <a:rPr sz="900" b="1">
                <a:solidFill>
                  <a:srgbClr val="86868B"/>
                </a:solidFill>
                <a:latin typeface="Noto Sans JP"/>
              </a:rPr>
              <a:t>Optimization</a:t>
            </a:r>
          </a:p>
        </p:txBody>
      </p:sp>
      <p:pic>
        <p:nvPicPr>
          <p:cNvPr id="28" name="Picture 27" descr="image.png"/>
          <p:cNvPicPr>
            <a:picLocks noChangeAspect="1"/>
          </p:cNvPicPr>
          <p:nvPr/>
        </p:nvPicPr>
        <p:blipFill>
          <a:blip r:embed="rId6"/>
          <a:stretch>
            <a:fillRect/>
          </a:stretch>
        </p:blipFill>
        <p:spPr>
          <a:xfrm>
            <a:off x="657454" y="5164531"/>
            <a:ext cx="123443" cy="123444"/>
          </a:xfrm>
          <a:prstGeom prst="rect">
            <a:avLst/>
          </a:prstGeom>
          <a:ln/>
        </p:spPr>
      </p:pic>
      <p:sp>
        <p:nvSpPr>
          <p:cNvPr id="29" name="Rectangle 28"/>
          <p:cNvSpPr/>
          <p:nvPr/>
        </p:nvSpPr>
        <p:spPr>
          <a:xfrm>
            <a:off x="657454"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956" y="5471770"/>
            <a:ext cx="3048610" cy="428853"/>
          </a:xfrm>
          <a:prstGeom prst="rect">
            <a:avLst/>
          </a:prstGeom>
          <a:noFill/>
          <a:ln/>
        </p:spPr>
        <p:txBody>
          <a:bodyPr wrap="square" lIns="0" rIns="0" tIns="0" bIns="0">
            <a:noAutofit/>
          </a:bodyPr>
          <a:lstStyle/>
          <a:p>
            <a:r>
              <a:rPr sz="1100">
                <a:solidFill>
                  <a:srgbClr val="1D1D1F"/>
                </a:solidFill>
                <a:latin typeface="Noto Sans JP"/>
              </a:rPr>
              <a:t>Attention Slicing有効化</a:t>
            </a:r>
          </a:p>
          <a:p>
            <a:r>
              <a:rPr sz="1100">
                <a:solidFill>
                  <a:srgbClr val="1D1D1F"/>
                </a:solidFill>
                <a:latin typeface="Noto Sans JP"/>
              </a:rPr>
              <a:t>FP16 / Tiled VAE活用</a:t>
            </a:r>
          </a:p>
        </p:txBody>
      </p:sp>
      <p:sp>
        <p:nvSpPr>
          <p:cNvPr id="31" name="TextBox 30"/>
          <p:cNvSpPr txBox="1"/>
          <p:nvPr/>
        </p:nvSpPr>
        <p:spPr>
          <a:xfrm>
            <a:off x="838505" y="6129223"/>
            <a:ext cx="3172054" cy="191110"/>
          </a:xfrm>
          <a:prstGeom prst="rect">
            <a:avLst/>
          </a:prstGeom>
          <a:noFill/>
          <a:ln/>
        </p:spPr>
        <p:txBody>
          <a:bodyPr wrap="square" lIns="0" rIns="0" tIns="0" bIns="0">
            <a:noAutofit/>
          </a:bodyPr>
          <a:lstStyle/>
          <a:p>
            <a:r>
              <a:rPr sz="900" b="1">
                <a:solidFill>
                  <a:srgbClr val="86868B"/>
                </a:solidFill>
                <a:latin typeface="Noto Sans JP"/>
              </a:rPr>
              <a:t>Resolution</a:t>
            </a:r>
          </a:p>
        </p:txBody>
      </p:sp>
      <p:pic>
        <p:nvPicPr>
          <p:cNvPr id="32" name="Picture 31" descr="image.png"/>
          <p:cNvPicPr>
            <a:picLocks noChangeAspect="1"/>
          </p:cNvPicPr>
          <p:nvPr/>
        </p:nvPicPr>
        <p:blipFill>
          <a:blip r:embed="rId7"/>
          <a:stretch>
            <a:fillRect/>
          </a:stretch>
        </p:blipFill>
        <p:spPr>
          <a:xfrm>
            <a:off x="657454" y="6160313"/>
            <a:ext cx="123443" cy="123444"/>
          </a:xfrm>
          <a:prstGeom prst="rect">
            <a:avLst/>
          </a:prstGeom>
          <a:ln/>
        </p:spPr>
      </p:pic>
      <p:sp>
        <p:nvSpPr>
          <p:cNvPr id="33" name="Rectangle 32"/>
          <p:cNvSpPr/>
          <p:nvPr/>
        </p:nvSpPr>
        <p:spPr>
          <a:xfrm>
            <a:off x="657454"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956" y="6467551"/>
            <a:ext cx="3048610" cy="428853"/>
          </a:xfrm>
          <a:prstGeom prst="rect">
            <a:avLst/>
          </a:prstGeom>
          <a:noFill/>
          <a:ln/>
        </p:spPr>
        <p:txBody>
          <a:bodyPr wrap="square" lIns="0" rIns="0" tIns="0" bIns="0">
            <a:noAutofit/>
          </a:bodyPr>
          <a:lstStyle/>
          <a:p>
            <a:r>
              <a:rPr sz="1100">
                <a:solidFill>
                  <a:srgbClr val="1D1D1F"/>
                </a:solidFill>
                <a:latin typeface="Noto Sans JP"/>
              </a:rPr>
              <a:t>1024x1024固定</a:t>
            </a:r>
          </a:p>
          <a:p>
            <a:r>
              <a:rPr sz="1100">
                <a:solidFill>
                  <a:srgbClr val="1D1D1F"/>
                </a:solidFill>
                <a:latin typeface="Noto Sans JP"/>
              </a:rPr>
              <a:t>Batch size = 1</a:t>
            </a:r>
          </a:p>
        </p:txBody>
      </p:sp>
      <p:pic>
        <p:nvPicPr>
          <p:cNvPr id="35" name="Picture 34" descr="image.png"/>
          <p:cNvPicPr>
            <a:picLocks noChangeAspect="1"/>
          </p:cNvPicPr>
          <p:nvPr/>
        </p:nvPicPr>
        <p:blipFill>
          <a:blip r:embed="rId8"/>
          <a:stretch>
            <a:fillRect/>
          </a:stretch>
        </p:blipFill>
        <p:spPr>
          <a:xfrm>
            <a:off x="657454" y="7125005"/>
            <a:ext cx="1781251" cy="304494"/>
          </a:xfrm>
          <a:prstGeom prst="rect">
            <a:avLst/>
          </a:prstGeom>
          <a:ln/>
        </p:spPr>
      </p:pic>
      <p:sp>
        <p:nvSpPr>
          <p:cNvPr id="36" name="TextBox 35"/>
          <p:cNvSpPr txBox="1"/>
          <p:nvPr/>
        </p:nvSpPr>
        <p:spPr>
          <a:xfrm>
            <a:off x="952805" y="7125005"/>
            <a:ext cx="1485900" cy="305410"/>
          </a:xfrm>
          <a:prstGeom prst="rect">
            <a:avLst/>
          </a:prstGeom>
          <a:noFill/>
          <a:ln>
            <a:solidFill>
              <a:srgbClr val="FFFFFF"/>
            </a:solidFill>
          </a:ln>
        </p:spPr>
        <p:txBody>
          <a:bodyPr wrap="square" lIns="0" rIns="0" tIns="0" bIns="0">
            <a:noAutofit/>
          </a:bodyPr>
          <a:lstStyle/>
          <a:p>
            <a:r>
              <a:rPr sz="900" b="1">
                <a:solidFill>
                  <a:srgbClr val="555555"/>
                </a:solidFill>
                <a:latin typeface="Noto Sans JP"/>
              </a:rPr>
              <a:t>標準的な資料・素材生成</a:t>
            </a:r>
          </a:p>
        </p:txBody>
      </p:sp>
      <p:pic>
        <p:nvPicPr>
          <p:cNvPr id="37" name="Picture 36" descr="image.png"/>
          <p:cNvPicPr>
            <a:picLocks noChangeAspect="1"/>
          </p:cNvPicPr>
          <p:nvPr/>
        </p:nvPicPr>
        <p:blipFill>
          <a:blip r:embed="rId9"/>
          <a:stretch>
            <a:fillRect/>
          </a:stretch>
        </p:blipFill>
        <p:spPr>
          <a:xfrm>
            <a:off x="771754" y="7212787"/>
            <a:ext cx="105156" cy="123444"/>
          </a:xfrm>
          <a:prstGeom prst="rect">
            <a:avLst/>
          </a:prstGeom>
          <a:ln/>
        </p:spPr>
      </p:pic>
      <p:sp>
        <p:nvSpPr>
          <p:cNvPr id="38" name="TextBox 37"/>
          <p:cNvSpPr txBox="1"/>
          <p:nvPr/>
        </p:nvSpPr>
        <p:spPr>
          <a:xfrm>
            <a:off x="4280306" y="2295144"/>
            <a:ext cx="3638398" cy="5333695"/>
          </a:xfrm>
          <a:prstGeom prst="rect">
            <a:avLst/>
          </a:prstGeom>
          <a:noFill/>
          <a:ln w="12700">
            <a:solidFill>
              <a:srgbClr val="E5E5E5"/>
            </a:solidFill>
          </a:ln>
        </p:spPr>
        <p:txBody>
          <a:bodyPr wrap="square" lIns="0" rIns="0" tIns="0" bIns="0">
            <a:noAutofit/>
          </a:bodyPr>
          <a:lstStyle/>
          <a:p/>
        </p:txBody>
      </p:sp>
      <p:sp>
        <p:nvSpPr>
          <p:cNvPr id="39" name="Rectangle 38"/>
          <p:cNvSpPr/>
          <p:nvPr/>
        </p:nvSpPr>
        <p:spPr>
          <a:xfrm>
            <a:off x="4289450" y="2305202"/>
            <a:ext cx="3619195" cy="6473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00446"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0"/>
          <a:stretch>
            <a:fillRect/>
          </a:stretch>
        </p:blipFill>
        <p:spPr>
          <a:xfrm>
            <a:off x="5486400" y="2542946"/>
            <a:ext cx="171906" cy="171906"/>
          </a:xfrm>
          <a:prstGeom prst="rect">
            <a:avLst/>
          </a:prstGeom>
          <a:ln/>
        </p:spPr>
      </p:pic>
      <p:sp>
        <p:nvSpPr>
          <p:cNvPr id="42" name="TextBox 41"/>
          <p:cNvSpPr txBox="1"/>
          <p:nvPr/>
        </p:nvSpPr>
        <p:spPr>
          <a:xfrm>
            <a:off x="5838444" y="2486254"/>
            <a:ext cx="1028700" cy="286206"/>
          </a:xfrm>
          <a:prstGeom prst="rect">
            <a:avLst/>
          </a:prstGeom>
          <a:noFill/>
          <a:ln/>
        </p:spPr>
        <p:txBody>
          <a:bodyPr wrap="square" lIns="0" rIns="0" tIns="0" bIns="0">
            <a:noAutofit/>
          </a:bodyPr>
          <a:lstStyle/>
          <a:p>
            <a:r>
              <a:rPr sz="1500" b="1">
                <a:solidFill>
                  <a:srgbClr val="FFFFFF"/>
                </a:solidFill>
                <a:latin typeface="Noto Sans JP"/>
              </a:rPr>
              <a:t>高品質構成</a:t>
            </a:r>
          </a:p>
        </p:txBody>
      </p:sp>
      <p:sp>
        <p:nvSpPr>
          <p:cNvPr id="43" name="Rectangle 42"/>
          <p:cNvSpPr/>
          <p:nvPr/>
        </p:nvSpPr>
        <p:spPr>
          <a:xfrm>
            <a:off x="4289450"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0697" y="3143707"/>
            <a:ext cx="3172054" cy="191110"/>
          </a:xfrm>
          <a:prstGeom prst="rect">
            <a:avLst/>
          </a:prstGeom>
          <a:noFill/>
          <a:ln/>
        </p:spPr>
        <p:txBody>
          <a:bodyPr wrap="square" lIns="0" rIns="0" tIns="0" bIns="0">
            <a:noAutofit/>
          </a:bodyPr>
          <a:lstStyle/>
          <a:p>
            <a:r>
              <a:rPr sz="900" b="1">
                <a:solidFill>
                  <a:srgbClr val="86868B"/>
                </a:solidFill>
                <a:latin typeface="Noto Sans JP"/>
              </a:rPr>
              <a:t>Target VRAM</a:t>
            </a:r>
          </a:p>
        </p:txBody>
      </p:sp>
      <p:pic>
        <p:nvPicPr>
          <p:cNvPr id="45" name="Picture 44" descr="image.png"/>
          <p:cNvPicPr>
            <a:picLocks noChangeAspect="1"/>
          </p:cNvPicPr>
          <p:nvPr/>
        </p:nvPicPr>
        <p:blipFill>
          <a:blip r:embed="rId4"/>
          <a:stretch>
            <a:fillRect/>
          </a:stretch>
        </p:blipFill>
        <p:spPr>
          <a:xfrm>
            <a:off x="4479646" y="3173882"/>
            <a:ext cx="123444" cy="123443"/>
          </a:xfrm>
          <a:prstGeom prst="rect">
            <a:avLst/>
          </a:prstGeom>
          <a:ln/>
        </p:spPr>
      </p:pic>
      <p:sp>
        <p:nvSpPr>
          <p:cNvPr id="46" name="Rectangle 45"/>
          <p:cNvSpPr/>
          <p:nvPr/>
        </p:nvSpPr>
        <p:spPr>
          <a:xfrm>
            <a:off x="4479646" y="338602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13148" y="3481121"/>
            <a:ext cx="3048610" cy="428853"/>
          </a:xfrm>
          <a:prstGeom prst="rect">
            <a:avLst/>
          </a:prstGeom>
          <a:noFill/>
          <a:ln/>
        </p:spPr>
        <p:txBody>
          <a:bodyPr wrap="square" lIns="0" rIns="0" tIns="0" bIns="0">
            <a:noAutofit/>
          </a:bodyPr>
          <a:lstStyle/>
          <a:p>
            <a:r>
              <a:rPr sz="1100" b="1">
                <a:solidFill>
                  <a:srgbClr val="1D1D1F"/>
                </a:solidFill>
                <a:latin typeface="Noto Sans JP"/>
              </a:rPr>
              <a:t>VRAM 24GB以上</a:t>
            </a:r>
          </a:p>
          <a:p>
            <a:r>
              <a:rPr sz="1100">
                <a:solidFill>
                  <a:srgbClr val="1D1D1F"/>
                </a:solidFill>
                <a:latin typeface="Noto Sans JP"/>
              </a:rPr>
              <a:t>(Apple Silicon 64GB+)</a:t>
            </a:r>
          </a:p>
        </p:txBody>
      </p:sp>
      <p:sp>
        <p:nvSpPr>
          <p:cNvPr id="48" name="TextBox 47"/>
          <p:cNvSpPr txBox="1"/>
          <p:nvPr/>
        </p:nvSpPr>
        <p:spPr>
          <a:xfrm>
            <a:off x="4660697" y="4138574"/>
            <a:ext cx="3172054" cy="191110"/>
          </a:xfrm>
          <a:prstGeom prst="rect">
            <a:avLst/>
          </a:prstGeom>
          <a:noFill/>
          <a:ln/>
        </p:spPr>
        <p:txBody>
          <a:bodyPr wrap="square" lIns="0" rIns="0" tIns="0" bIns="0">
            <a:noAutofit/>
          </a:bodyPr>
          <a:lstStyle/>
          <a:p>
            <a:r>
              <a:rPr sz="900" b="1">
                <a:solidFill>
                  <a:srgbClr val="86868B"/>
                </a:solidFill>
                <a:latin typeface="Noto Sans JP"/>
              </a:rPr>
              <a:t>Model / UI</a:t>
            </a:r>
          </a:p>
        </p:txBody>
      </p:sp>
      <p:pic>
        <p:nvPicPr>
          <p:cNvPr id="49" name="Picture 48" descr="image.png"/>
          <p:cNvPicPr>
            <a:picLocks noChangeAspect="1"/>
          </p:cNvPicPr>
          <p:nvPr/>
        </p:nvPicPr>
        <p:blipFill>
          <a:blip r:embed="rId5"/>
          <a:stretch>
            <a:fillRect/>
          </a:stretch>
        </p:blipFill>
        <p:spPr>
          <a:xfrm>
            <a:off x="4479646" y="4169664"/>
            <a:ext cx="123444" cy="123444"/>
          </a:xfrm>
          <a:prstGeom prst="rect">
            <a:avLst/>
          </a:prstGeom>
          <a:ln/>
        </p:spPr>
      </p:pic>
      <p:sp>
        <p:nvSpPr>
          <p:cNvPr id="50" name="Rectangle 49"/>
          <p:cNvSpPr/>
          <p:nvPr/>
        </p:nvSpPr>
        <p:spPr>
          <a:xfrm>
            <a:off x="4479646" y="4381805"/>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13148" y="4476902"/>
            <a:ext cx="3048610" cy="428853"/>
          </a:xfrm>
          <a:prstGeom prst="rect">
            <a:avLst/>
          </a:prstGeom>
          <a:noFill/>
          <a:ln/>
        </p:spPr>
        <p:txBody>
          <a:bodyPr wrap="square" lIns="0" rIns="0" tIns="0" bIns="0">
            <a:noAutofit/>
          </a:bodyPr>
          <a:lstStyle/>
          <a:p>
            <a:r>
              <a:rPr sz="1100" b="1">
                <a:solidFill>
                  <a:srgbClr val="1D1D1F"/>
                </a:solidFill>
                <a:latin typeface="Noto Sans JP"/>
              </a:rPr>
              <a:t>FLUX.1 [dev/pro]</a:t>
            </a:r>
            <a:r>
              <a:rPr sz="1100">
                <a:solidFill>
                  <a:srgbClr val="1D1D1F"/>
                </a:solidFill>
                <a:latin typeface="Noto Sans JP"/>
              </a:rPr>
              <a:t> 等の上位系</a:t>
            </a:r>
          </a:p>
          <a:p>
            <a:r>
              <a:rPr sz="1100">
                <a:solidFill>
                  <a:srgbClr val="1D1D1F"/>
                </a:solidFill>
                <a:latin typeface="Noto Sans JP"/>
              </a:rPr>
              <a:t>ComfyUI (ワークフロー資産化)</a:t>
            </a:r>
          </a:p>
        </p:txBody>
      </p:sp>
      <p:sp>
        <p:nvSpPr>
          <p:cNvPr id="52" name="TextBox 51"/>
          <p:cNvSpPr txBox="1"/>
          <p:nvPr/>
        </p:nvSpPr>
        <p:spPr>
          <a:xfrm>
            <a:off x="4660697" y="5134356"/>
            <a:ext cx="3172054" cy="191110"/>
          </a:xfrm>
          <a:prstGeom prst="rect">
            <a:avLst/>
          </a:prstGeom>
          <a:noFill/>
          <a:ln/>
        </p:spPr>
        <p:txBody>
          <a:bodyPr wrap="square" lIns="0" rIns="0" tIns="0" bIns="0">
            <a:noAutofit/>
          </a:bodyPr>
          <a:lstStyle/>
          <a:p>
            <a:r>
              <a:rPr sz="900" b="1">
                <a:solidFill>
                  <a:srgbClr val="86868B"/>
                </a:solidFill>
                <a:latin typeface="Noto Sans JP"/>
              </a:rPr>
              <a:t>Optimization</a:t>
            </a:r>
          </a:p>
        </p:txBody>
      </p:sp>
      <p:pic>
        <p:nvPicPr>
          <p:cNvPr id="53" name="Picture 52" descr="image.png"/>
          <p:cNvPicPr>
            <a:picLocks noChangeAspect="1"/>
          </p:cNvPicPr>
          <p:nvPr/>
        </p:nvPicPr>
        <p:blipFill>
          <a:blip r:embed="rId6"/>
          <a:stretch>
            <a:fillRect/>
          </a:stretch>
        </p:blipFill>
        <p:spPr>
          <a:xfrm>
            <a:off x="4479646" y="5164531"/>
            <a:ext cx="123444" cy="123444"/>
          </a:xfrm>
          <a:prstGeom prst="rect">
            <a:avLst/>
          </a:prstGeom>
          <a:ln/>
        </p:spPr>
      </p:pic>
      <p:sp>
        <p:nvSpPr>
          <p:cNvPr id="54" name="Rectangle 53"/>
          <p:cNvSpPr/>
          <p:nvPr/>
        </p:nvSpPr>
        <p:spPr>
          <a:xfrm>
            <a:off x="4479646" y="5376672"/>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3148" y="5471770"/>
            <a:ext cx="3048610" cy="428853"/>
          </a:xfrm>
          <a:prstGeom prst="rect">
            <a:avLst/>
          </a:prstGeom>
          <a:noFill/>
          <a:ln/>
        </p:spPr>
        <p:txBody>
          <a:bodyPr wrap="square" lIns="0" rIns="0" tIns="0" bIns="0">
            <a:noAutofit/>
          </a:bodyPr>
          <a:lstStyle/>
          <a:p>
            <a:r>
              <a:rPr sz="1100">
                <a:solidFill>
                  <a:srgbClr val="1D1D1F"/>
                </a:solidFill>
                <a:latin typeface="Noto Sans JP"/>
              </a:rPr>
              <a:t>Seed固定で再現性担保</a:t>
            </a:r>
          </a:p>
          <a:p>
            <a:r>
              <a:rPr sz="1100">
                <a:solidFill>
                  <a:srgbClr val="1D1D1F"/>
                </a:solidFill>
                <a:latin typeface="Noto Sans JP"/>
              </a:rPr>
              <a:t>Refiner / LoRA多重適用</a:t>
            </a:r>
          </a:p>
        </p:txBody>
      </p:sp>
      <p:sp>
        <p:nvSpPr>
          <p:cNvPr id="56" name="TextBox 55"/>
          <p:cNvSpPr txBox="1"/>
          <p:nvPr/>
        </p:nvSpPr>
        <p:spPr>
          <a:xfrm>
            <a:off x="4632350" y="6129223"/>
            <a:ext cx="3200399" cy="191110"/>
          </a:xfrm>
          <a:prstGeom prst="rect">
            <a:avLst/>
          </a:prstGeom>
          <a:noFill/>
          <a:ln/>
        </p:spPr>
        <p:txBody>
          <a:bodyPr wrap="square" lIns="0" rIns="0" tIns="0" bIns="0">
            <a:noAutofit/>
          </a:bodyPr>
          <a:lstStyle/>
          <a:p>
            <a:r>
              <a:rPr sz="900" b="1">
                <a:solidFill>
                  <a:srgbClr val="86868B"/>
                </a:solidFill>
                <a:latin typeface="Noto Sans JP"/>
              </a:rPr>
              <a:t>License Check</a:t>
            </a:r>
          </a:p>
        </p:txBody>
      </p:sp>
      <p:pic>
        <p:nvPicPr>
          <p:cNvPr id="57" name="Picture 56" descr="image.png"/>
          <p:cNvPicPr>
            <a:picLocks noChangeAspect="1"/>
          </p:cNvPicPr>
          <p:nvPr/>
        </p:nvPicPr>
        <p:blipFill>
          <a:blip r:embed="rId11"/>
          <a:stretch>
            <a:fillRect/>
          </a:stretch>
        </p:blipFill>
        <p:spPr>
          <a:xfrm>
            <a:off x="4479646" y="6160313"/>
            <a:ext cx="95098" cy="123444"/>
          </a:xfrm>
          <a:prstGeom prst="rect">
            <a:avLst/>
          </a:prstGeom>
          <a:ln/>
        </p:spPr>
      </p:pic>
      <p:sp>
        <p:nvSpPr>
          <p:cNvPr id="58" name="Rectangle 57"/>
          <p:cNvSpPr/>
          <p:nvPr/>
        </p:nvSpPr>
        <p:spPr>
          <a:xfrm>
            <a:off x="4479646" y="6372454"/>
            <a:ext cx="3238804"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13148" y="6467551"/>
            <a:ext cx="3048610" cy="428853"/>
          </a:xfrm>
          <a:prstGeom prst="rect">
            <a:avLst/>
          </a:prstGeom>
          <a:noFill/>
          <a:ln/>
        </p:spPr>
        <p:txBody>
          <a:bodyPr wrap="square" lIns="0" rIns="0" tIns="0" bIns="0">
            <a:noAutofit/>
          </a:bodyPr>
          <a:lstStyle/>
          <a:p>
            <a:r>
              <a:rPr sz="1100">
                <a:solidFill>
                  <a:srgbClr val="1D1D1F"/>
                </a:solidFill>
                <a:latin typeface="Noto Sans JP"/>
              </a:rPr>
              <a:t>⚠️ FLUX.1-dev等の商用条件</a:t>
            </a:r>
          </a:p>
          <a:p>
            <a:r>
              <a:rPr sz="1100">
                <a:solidFill>
                  <a:srgbClr val="1D1D1F"/>
                </a:solidFill>
                <a:latin typeface="Noto Sans JP"/>
              </a:rPr>
              <a:t>ライセンス精査が必須</a:t>
            </a:r>
          </a:p>
        </p:txBody>
      </p:sp>
      <p:pic>
        <p:nvPicPr>
          <p:cNvPr id="60" name="Picture 59" descr="image.png"/>
          <p:cNvPicPr>
            <a:picLocks noChangeAspect="1"/>
          </p:cNvPicPr>
          <p:nvPr/>
        </p:nvPicPr>
        <p:blipFill>
          <a:blip r:embed="rId12"/>
          <a:stretch>
            <a:fillRect/>
          </a:stretch>
        </p:blipFill>
        <p:spPr>
          <a:xfrm>
            <a:off x="4479646" y="7125005"/>
            <a:ext cx="1657807" cy="304494"/>
          </a:xfrm>
          <a:prstGeom prst="rect">
            <a:avLst/>
          </a:prstGeom>
          <a:ln/>
        </p:spPr>
      </p:pic>
      <p:sp>
        <p:nvSpPr>
          <p:cNvPr id="61" name="TextBox 60"/>
          <p:cNvSpPr txBox="1"/>
          <p:nvPr/>
        </p:nvSpPr>
        <p:spPr>
          <a:xfrm>
            <a:off x="4774997" y="7125005"/>
            <a:ext cx="1362456" cy="305410"/>
          </a:xfrm>
          <a:prstGeom prst="rect">
            <a:avLst/>
          </a:prstGeom>
          <a:noFill/>
          <a:ln>
            <a:solidFill>
              <a:srgbClr val="FFFFFF"/>
            </a:solidFill>
          </a:ln>
        </p:spPr>
        <p:txBody>
          <a:bodyPr wrap="square" lIns="0" rIns="0" tIns="0" bIns="0">
            <a:noAutofit/>
          </a:bodyPr>
          <a:lstStyle/>
          <a:p>
            <a:r>
              <a:rPr sz="900" b="1">
                <a:solidFill>
                  <a:srgbClr val="555555"/>
                </a:solidFill>
                <a:latin typeface="Noto Sans JP"/>
              </a:rPr>
              <a:t>UIモック・最終成果物</a:t>
            </a:r>
          </a:p>
        </p:txBody>
      </p:sp>
      <p:pic>
        <p:nvPicPr>
          <p:cNvPr id="62" name="Picture 61" descr="image.png"/>
          <p:cNvPicPr>
            <a:picLocks noChangeAspect="1"/>
          </p:cNvPicPr>
          <p:nvPr/>
        </p:nvPicPr>
        <p:blipFill>
          <a:blip r:embed="rId9"/>
          <a:stretch>
            <a:fillRect/>
          </a:stretch>
        </p:blipFill>
        <p:spPr>
          <a:xfrm>
            <a:off x="4593946" y="7212787"/>
            <a:ext cx="105155" cy="123444"/>
          </a:xfrm>
          <a:prstGeom prst="rect">
            <a:avLst/>
          </a:prstGeom>
          <a:ln/>
        </p:spPr>
      </p:pic>
      <p:sp>
        <p:nvSpPr>
          <p:cNvPr id="63" name="TextBox 62"/>
          <p:cNvSpPr txBox="1"/>
          <p:nvPr/>
        </p:nvSpPr>
        <p:spPr>
          <a:xfrm>
            <a:off x="8102497" y="2295144"/>
            <a:ext cx="3638398" cy="5333695"/>
          </a:xfrm>
          <a:prstGeom prst="rect">
            <a:avLst/>
          </a:prstGeom>
          <a:noFill/>
          <a:ln w="12700">
            <a:solidFill>
              <a:srgbClr val="E5E5E5"/>
            </a:solidFill>
          </a:ln>
        </p:spPr>
        <p:txBody>
          <a:bodyPr wrap="square" lIns="0" rIns="0" tIns="0" bIns="0">
            <a:noAutofit/>
          </a:bodyPr>
          <a:lstStyle/>
          <a:p/>
        </p:txBody>
      </p:sp>
      <p:sp>
        <p:nvSpPr>
          <p:cNvPr id="64" name="Rectangle 63"/>
          <p:cNvSpPr/>
          <p:nvPr/>
        </p:nvSpPr>
        <p:spPr>
          <a:xfrm>
            <a:off x="8112557" y="2305202"/>
            <a:ext cx="3619195" cy="647394"/>
          </a:xfrm>
          <a:prstGeom prst="rect">
            <a:avLst/>
          </a:prstGeom>
          <a:solidFill>
            <a:srgbClr val="FF95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32443" y="2457907"/>
            <a:ext cx="342900" cy="342900"/>
          </a:xfrm>
          <a:prstGeom prst="ellipse">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9128455" y="2542946"/>
            <a:ext cx="152705" cy="171906"/>
          </a:xfrm>
          <a:prstGeom prst="rect">
            <a:avLst/>
          </a:prstGeom>
          <a:ln/>
        </p:spPr>
      </p:pic>
      <p:sp>
        <p:nvSpPr>
          <p:cNvPr id="67" name="TextBox 66"/>
          <p:cNvSpPr txBox="1"/>
          <p:nvPr/>
        </p:nvSpPr>
        <p:spPr>
          <a:xfrm>
            <a:off x="9471355" y="2486254"/>
            <a:ext cx="1440179" cy="286206"/>
          </a:xfrm>
          <a:prstGeom prst="rect">
            <a:avLst/>
          </a:prstGeom>
          <a:noFill/>
          <a:ln/>
        </p:spPr>
        <p:txBody>
          <a:bodyPr wrap="square" lIns="0" rIns="0" tIns="0" bIns="0">
            <a:noAutofit/>
          </a:bodyPr>
          <a:lstStyle/>
          <a:p>
            <a:r>
              <a:rPr sz="1500" b="1">
                <a:solidFill>
                  <a:srgbClr val="FFFFFF"/>
                </a:solidFill>
                <a:latin typeface="Noto Sans JP"/>
              </a:rPr>
              <a:t>ハード制約構成</a:t>
            </a:r>
          </a:p>
        </p:txBody>
      </p:sp>
      <p:sp>
        <p:nvSpPr>
          <p:cNvPr id="68" name="Rectangle 67"/>
          <p:cNvSpPr/>
          <p:nvPr/>
        </p:nvSpPr>
        <p:spPr>
          <a:xfrm>
            <a:off x="8112557" y="2952598"/>
            <a:ext cx="3619195" cy="466709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83803" y="3143707"/>
            <a:ext cx="3172054" cy="191110"/>
          </a:xfrm>
          <a:prstGeom prst="rect">
            <a:avLst/>
          </a:prstGeom>
          <a:noFill/>
          <a:ln/>
        </p:spPr>
        <p:txBody>
          <a:bodyPr wrap="square" lIns="0" rIns="0" tIns="0" bIns="0">
            <a:noAutofit/>
          </a:bodyPr>
          <a:lstStyle/>
          <a:p>
            <a:r>
              <a:rPr sz="900" b="1">
                <a:solidFill>
                  <a:srgbClr val="86868B"/>
                </a:solidFill>
                <a:latin typeface="Noto Sans JP"/>
              </a:rPr>
              <a:t>Target VRAM</a:t>
            </a:r>
          </a:p>
        </p:txBody>
      </p:sp>
      <p:pic>
        <p:nvPicPr>
          <p:cNvPr id="70" name="Picture 69" descr="image.png"/>
          <p:cNvPicPr>
            <a:picLocks noChangeAspect="1"/>
          </p:cNvPicPr>
          <p:nvPr/>
        </p:nvPicPr>
        <p:blipFill>
          <a:blip r:embed="rId4"/>
          <a:stretch>
            <a:fillRect/>
          </a:stretch>
        </p:blipFill>
        <p:spPr>
          <a:xfrm>
            <a:off x="8302752" y="3173882"/>
            <a:ext cx="123444" cy="123443"/>
          </a:xfrm>
          <a:prstGeom prst="rect">
            <a:avLst/>
          </a:prstGeom>
          <a:ln/>
        </p:spPr>
      </p:pic>
      <p:sp>
        <p:nvSpPr>
          <p:cNvPr id="71" name="Rectangle 70"/>
          <p:cNvSpPr/>
          <p:nvPr/>
        </p:nvSpPr>
        <p:spPr>
          <a:xfrm>
            <a:off x="8302752" y="338602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6254" y="3481121"/>
            <a:ext cx="3048610" cy="428853"/>
          </a:xfrm>
          <a:prstGeom prst="rect">
            <a:avLst/>
          </a:prstGeom>
          <a:noFill/>
          <a:ln/>
        </p:spPr>
        <p:txBody>
          <a:bodyPr wrap="square" lIns="0" rIns="0" tIns="0" bIns="0">
            <a:noAutofit/>
          </a:bodyPr>
          <a:lstStyle/>
          <a:p>
            <a:r>
              <a:rPr sz="1100" b="1">
                <a:solidFill>
                  <a:srgbClr val="1D1D1F"/>
                </a:solidFill>
                <a:latin typeface="Noto Sans JP"/>
              </a:rPr>
              <a:t>VRAM 8GB未満</a:t>
            </a:r>
          </a:p>
          <a:p>
            <a:r>
              <a:rPr sz="1100">
                <a:solidFill>
                  <a:srgbClr val="1D1D1F"/>
                </a:solidFill>
                <a:latin typeface="Noto Sans JP"/>
              </a:rPr>
              <a:t>(メインメモリ共有等)</a:t>
            </a:r>
          </a:p>
        </p:txBody>
      </p:sp>
      <p:sp>
        <p:nvSpPr>
          <p:cNvPr id="73" name="TextBox 72"/>
          <p:cNvSpPr txBox="1"/>
          <p:nvPr/>
        </p:nvSpPr>
        <p:spPr>
          <a:xfrm>
            <a:off x="8483803" y="4138574"/>
            <a:ext cx="3172054" cy="191110"/>
          </a:xfrm>
          <a:prstGeom prst="rect">
            <a:avLst/>
          </a:prstGeom>
          <a:noFill/>
          <a:ln/>
        </p:spPr>
        <p:txBody>
          <a:bodyPr wrap="square" lIns="0" rIns="0" tIns="0" bIns="0">
            <a:noAutofit/>
          </a:bodyPr>
          <a:lstStyle/>
          <a:p>
            <a:r>
              <a:rPr sz="900" b="1">
                <a:solidFill>
                  <a:srgbClr val="86868B"/>
                </a:solidFill>
                <a:latin typeface="Noto Sans JP"/>
              </a:rPr>
              <a:t>Model / UI</a:t>
            </a:r>
          </a:p>
        </p:txBody>
      </p:sp>
      <p:pic>
        <p:nvPicPr>
          <p:cNvPr id="74" name="Picture 73" descr="image.png"/>
          <p:cNvPicPr>
            <a:picLocks noChangeAspect="1"/>
          </p:cNvPicPr>
          <p:nvPr/>
        </p:nvPicPr>
        <p:blipFill>
          <a:blip r:embed="rId5"/>
          <a:stretch>
            <a:fillRect/>
          </a:stretch>
        </p:blipFill>
        <p:spPr>
          <a:xfrm>
            <a:off x="8302752" y="4169664"/>
            <a:ext cx="123444" cy="123444"/>
          </a:xfrm>
          <a:prstGeom prst="rect">
            <a:avLst/>
          </a:prstGeom>
          <a:ln/>
        </p:spPr>
      </p:pic>
      <p:sp>
        <p:nvSpPr>
          <p:cNvPr id="75" name="Rectangle 74"/>
          <p:cNvSpPr/>
          <p:nvPr/>
        </p:nvSpPr>
        <p:spPr>
          <a:xfrm>
            <a:off x="8302752" y="4381805"/>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36254" y="4476902"/>
            <a:ext cx="3048610" cy="428853"/>
          </a:xfrm>
          <a:prstGeom prst="rect">
            <a:avLst/>
          </a:prstGeom>
          <a:noFill/>
          <a:ln/>
        </p:spPr>
        <p:txBody>
          <a:bodyPr wrap="square" lIns="0" rIns="0" tIns="0" bIns="0">
            <a:noAutofit/>
          </a:bodyPr>
          <a:lstStyle/>
          <a:p>
            <a:r>
              <a:rPr sz="1100">
                <a:solidFill>
                  <a:srgbClr val="1D1D1F"/>
                </a:solidFill>
                <a:latin typeface="Noto Sans JP"/>
              </a:rPr>
              <a:t>SD 1.5系 / LCM-LoRA (高速化)</a:t>
            </a:r>
          </a:p>
          <a:p>
            <a:r>
              <a:rPr sz="1100">
                <a:solidFill>
                  <a:srgbClr val="1D1D1F"/>
                </a:solidFill>
                <a:latin typeface="Noto Sans JP"/>
              </a:rPr>
              <a:t>Stable Diffusion WebUI (Forge)</a:t>
            </a:r>
          </a:p>
        </p:txBody>
      </p:sp>
      <p:sp>
        <p:nvSpPr>
          <p:cNvPr id="77" name="TextBox 76"/>
          <p:cNvSpPr txBox="1"/>
          <p:nvPr/>
        </p:nvSpPr>
        <p:spPr>
          <a:xfrm>
            <a:off x="8483803" y="5134356"/>
            <a:ext cx="3172054" cy="191110"/>
          </a:xfrm>
          <a:prstGeom prst="rect">
            <a:avLst/>
          </a:prstGeom>
          <a:noFill/>
          <a:ln/>
        </p:spPr>
        <p:txBody>
          <a:bodyPr wrap="square" lIns="0" rIns="0" tIns="0" bIns="0">
            <a:noAutofit/>
          </a:bodyPr>
          <a:lstStyle/>
          <a:p>
            <a:r>
              <a:rPr sz="900" b="1">
                <a:solidFill>
                  <a:srgbClr val="86868B"/>
                </a:solidFill>
                <a:latin typeface="Noto Sans JP"/>
              </a:rPr>
              <a:t>Offloading strategy</a:t>
            </a:r>
          </a:p>
        </p:txBody>
      </p:sp>
      <p:pic>
        <p:nvPicPr>
          <p:cNvPr id="78" name="Picture 77" descr="image.png"/>
          <p:cNvPicPr>
            <a:picLocks noChangeAspect="1"/>
          </p:cNvPicPr>
          <p:nvPr/>
        </p:nvPicPr>
        <p:blipFill>
          <a:blip r:embed="rId14"/>
          <a:stretch>
            <a:fillRect/>
          </a:stretch>
        </p:blipFill>
        <p:spPr>
          <a:xfrm>
            <a:off x="8302752" y="5164531"/>
            <a:ext cx="123444" cy="123444"/>
          </a:xfrm>
          <a:prstGeom prst="rect">
            <a:avLst/>
          </a:prstGeom>
          <a:ln/>
        </p:spPr>
      </p:pic>
      <p:sp>
        <p:nvSpPr>
          <p:cNvPr id="79" name="Rectangle 78"/>
          <p:cNvSpPr/>
          <p:nvPr/>
        </p:nvSpPr>
        <p:spPr>
          <a:xfrm>
            <a:off x="8302752" y="5376672"/>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36254" y="5471770"/>
            <a:ext cx="3048610" cy="428853"/>
          </a:xfrm>
          <a:prstGeom prst="rect">
            <a:avLst/>
          </a:prstGeom>
          <a:noFill/>
          <a:ln/>
        </p:spPr>
        <p:txBody>
          <a:bodyPr wrap="square" lIns="0" rIns="0" tIns="0" bIns="0">
            <a:noAutofit/>
          </a:bodyPr>
          <a:lstStyle/>
          <a:p>
            <a:r>
              <a:rPr sz="1100" b="1">
                <a:solidFill>
                  <a:srgbClr val="1D1D1F"/>
                </a:solidFill>
                <a:latin typeface="Noto Sans JP"/>
              </a:rPr>
              <a:t>夜間バッチ処理</a:t>
            </a:r>
          </a:p>
          <a:p>
            <a:r>
              <a:rPr sz="1100">
                <a:solidFill>
                  <a:srgbClr val="1D1D1F"/>
                </a:solidFill>
                <a:latin typeface="Noto Sans JP"/>
              </a:rPr>
              <a:t>またはLAN内別筐体へオフロード</a:t>
            </a:r>
          </a:p>
        </p:txBody>
      </p:sp>
      <p:sp>
        <p:nvSpPr>
          <p:cNvPr id="81" name="TextBox 80"/>
          <p:cNvSpPr txBox="1"/>
          <p:nvPr/>
        </p:nvSpPr>
        <p:spPr>
          <a:xfrm>
            <a:off x="8483803" y="6129223"/>
            <a:ext cx="3172054" cy="191110"/>
          </a:xfrm>
          <a:prstGeom prst="rect">
            <a:avLst/>
          </a:prstGeom>
          <a:noFill/>
          <a:ln/>
        </p:spPr>
        <p:txBody>
          <a:bodyPr wrap="square" lIns="0" rIns="0" tIns="0" bIns="0">
            <a:noAutofit/>
          </a:bodyPr>
          <a:lstStyle/>
          <a:p>
            <a:r>
              <a:rPr sz="900" b="1">
                <a:solidFill>
                  <a:srgbClr val="86868B"/>
                </a:solidFill>
                <a:latin typeface="Noto Sans JP"/>
              </a:rPr>
              <a:t>Limitation</a:t>
            </a:r>
          </a:p>
        </p:txBody>
      </p:sp>
      <p:pic>
        <p:nvPicPr>
          <p:cNvPr id="82" name="Picture 81" descr="image.png"/>
          <p:cNvPicPr>
            <a:picLocks noChangeAspect="1"/>
          </p:cNvPicPr>
          <p:nvPr/>
        </p:nvPicPr>
        <p:blipFill>
          <a:blip r:embed="rId15"/>
          <a:stretch>
            <a:fillRect/>
          </a:stretch>
        </p:blipFill>
        <p:spPr>
          <a:xfrm>
            <a:off x="8302752" y="6160313"/>
            <a:ext cx="123444" cy="123444"/>
          </a:xfrm>
          <a:prstGeom prst="rect">
            <a:avLst/>
          </a:prstGeom>
          <a:ln/>
        </p:spPr>
      </p:pic>
      <p:sp>
        <p:nvSpPr>
          <p:cNvPr id="83" name="Rectangle 82"/>
          <p:cNvSpPr/>
          <p:nvPr/>
        </p:nvSpPr>
        <p:spPr>
          <a:xfrm>
            <a:off x="8302752" y="6372454"/>
            <a:ext cx="3238805" cy="6190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36254" y="6467551"/>
            <a:ext cx="3048610" cy="428853"/>
          </a:xfrm>
          <a:prstGeom prst="rect">
            <a:avLst/>
          </a:prstGeom>
          <a:noFill/>
          <a:ln/>
        </p:spPr>
        <p:txBody>
          <a:bodyPr wrap="square" lIns="0" rIns="0" tIns="0" bIns="0">
            <a:noAutofit/>
          </a:bodyPr>
          <a:lstStyle/>
          <a:p>
            <a:r>
              <a:rPr sz="1100">
                <a:solidFill>
                  <a:srgbClr val="1D1D1F"/>
                </a:solidFill>
                <a:latin typeface="Noto Sans JP"/>
              </a:rPr>
              <a:t>解像度512x512等に制限</a:t>
            </a:r>
          </a:p>
          <a:p>
            <a:r>
              <a:rPr sz="1100">
                <a:solidFill>
                  <a:srgbClr val="1D1D1F"/>
                </a:solidFill>
                <a:latin typeface="Noto Sans JP"/>
              </a:rPr>
              <a:t>日中はLLMにリソース集中</a:t>
            </a:r>
          </a:p>
        </p:txBody>
      </p:sp>
      <p:pic>
        <p:nvPicPr>
          <p:cNvPr id="85" name="Picture 84" descr="image.png"/>
          <p:cNvPicPr>
            <a:picLocks noChangeAspect="1"/>
          </p:cNvPicPr>
          <p:nvPr/>
        </p:nvPicPr>
        <p:blipFill>
          <a:blip r:embed="rId16"/>
          <a:stretch>
            <a:fillRect/>
          </a:stretch>
        </p:blipFill>
        <p:spPr>
          <a:xfrm>
            <a:off x="8302752" y="7125005"/>
            <a:ext cx="1533449" cy="304494"/>
          </a:xfrm>
          <a:prstGeom prst="rect">
            <a:avLst/>
          </a:prstGeom>
          <a:ln/>
        </p:spPr>
      </p:pic>
      <p:sp>
        <p:nvSpPr>
          <p:cNvPr id="86" name="TextBox 85"/>
          <p:cNvSpPr txBox="1"/>
          <p:nvPr/>
        </p:nvSpPr>
        <p:spPr>
          <a:xfrm>
            <a:off x="8598103" y="7125005"/>
            <a:ext cx="1239012" cy="305410"/>
          </a:xfrm>
          <a:prstGeom prst="rect">
            <a:avLst/>
          </a:prstGeom>
          <a:noFill/>
          <a:ln>
            <a:solidFill>
              <a:srgbClr val="FFFFFF"/>
            </a:solidFill>
          </a:ln>
        </p:spPr>
        <p:txBody>
          <a:bodyPr wrap="square" lIns="0" rIns="0" tIns="0" bIns="0">
            <a:noAutofit/>
          </a:bodyPr>
          <a:lstStyle/>
          <a:p>
            <a:r>
              <a:rPr sz="900" b="1">
                <a:solidFill>
                  <a:srgbClr val="555555"/>
                </a:solidFill>
                <a:latin typeface="Noto Sans JP"/>
              </a:rPr>
              <a:t>ドラフト・実験用途</a:t>
            </a:r>
          </a:p>
        </p:txBody>
      </p:sp>
      <p:pic>
        <p:nvPicPr>
          <p:cNvPr id="87" name="Picture 86" descr="image.png"/>
          <p:cNvPicPr>
            <a:picLocks noChangeAspect="1"/>
          </p:cNvPicPr>
          <p:nvPr/>
        </p:nvPicPr>
        <p:blipFill>
          <a:blip r:embed="rId9"/>
          <a:stretch>
            <a:fillRect/>
          </a:stretch>
        </p:blipFill>
        <p:spPr>
          <a:xfrm>
            <a:off x="8417052" y="7212787"/>
            <a:ext cx="105155" cy="123444"/>
          </a:xfrm>
          <a:prstGeom prst="rect">
            <a:avLst/>
          </a:prstGeom>
          <a:ln/>
        </p:spPr>
      </p:pic>
      <p:sp>
        <p:nvSpPr>
          <p:cNvPr id="88" name="Rectangle 87"/>
          <p:cNvSpPr/>
          <p:nvPr/>
        </p:nvSpPr>
        <p:spPr>
          <a:xfrm>
            <a:off x="0" y="7910473"/>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0" y="7910473"/>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791961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91" name="TextBox 90"/>
          <p:cNvSpPr txBox="1"/>
          <p:nvPr/>
        </p:nvSpPr>
        <p:spPr>
          <a:xfrm>
            <a:off x="11385194" y="7919618"/>
            <a:ext cx="428854" cy="171907"/>
          </a:xfrm>
          <a:prstGeom prst="rect">
            <a:avLst/>
          </a:prstGeom>
          <a:noFill/>
          <a:ln/>
        </p:spPr>
        <p:txBody>
          <a:bodyPr wrap="square" lIns="0" rIns="0" tIns="0" bIns="0">
            <a:noAutofit/>
          </a:bodyPr>
          <a:lstStyle/>
          <a:p>
            <a:r>
              <a:rPr sz="900">
                <a:solidFill>
                  <a:srgbClr val="86868B"/>
                </a:solidFill>
                <a:latin typeface="Noto Sans JP"/>
              </a:rPr>
              <a:t>69 / 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23544"/>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0"/>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04495"/>
            <a:ext cx="304495" cy="304495"/>
          </a:xfrm>
          <a:prstGeom prst="rect">
            <a:avLst/>
          </a:prstGeom>
          <a:ln/>
        </p:spPr>
      </p:pic>
      <p:sp>
        <p:nvSpPr>
          <p:cNvPr id="8" name="TextBox 7"/>
          <p:cNvSpPr txBox="1"/>
          <p:nvPr/>
        </p:nvSpPr>
        <p:spPr>
          <a:xfrm>
            <a:off x="914400" y="228600"/>
            <a:ext cx="4467758" cy="457200"/>
          </a:xfrm>
          <a:prstGeom prst="rect">
            <a:avLst/>
          </a:prstGeom>
          <a:noFill/>
          <a:ln/>
        </p:spPr>
        <p:txBody>
          <a:bodyPr wrap="square" lIns="0" rIns="0" tIns="0" bIns="0">
            <a:noAutofit/>
          </a:bodyPr>
          <a:lstStyle/>
          <a:p>
            <a:r>
              <a:rPr sz="2400" b="1">
                <a:solidFill>
                  <a:srgbClr val="1D1D1F"/>
                </a:solidFill>
                <a:latin typeface="Noto Sans JP"/>
              </a:rPr>
              <a:t>画像生成：失敗モードと回避策</a:t>
            </a:r>
          </a:p>
        </p:txBody>
      </p:sp>
      <p:sp>
        <p:nvSpPr>
          <p:cNvPr id="9" name="TextBox 8"/>
          <p:cNvSpPr txBox="1"/>
          <p:nvPr/>
        </p:nvSpPr>
        <p:spPr>
          <a:xfrm>
            <a:off x="9047988" y="328270"/>
            <a:ext cx="2886760" cy="257861"/>
          </a:xfrm>
          <a:prstGeom prst="rect">
            <a:avLst/>
          </a:prstGeom>
          <a:noFill/>
          <a:ln/>
        </p:spPr>
        <p:txBody>
          <a:bodyPr wrap="square" lIns="0" rIns="0" tIns="0" bIns="0">
            <a:noAutofit/>
          </a:bodyPr>
          <a:lstStyle/>
          <a:p>
            <a:r>
              <a:rPr sz="1300">
                <a:solidFill>
                  <a:srgbClr val="86868B"/>
                </a:solidFill>
                <a:latin typeface="Noto Sans JP"/>
              </a:rPr>
              <a:t>VRAM制約と品質・ライセンス管理</a:t>
            </a:r>
          </a:p>
        </p:txBody>
      </p:sp>
      <p:pic>
        <p:nvPicPr>
          <p:cNvPr id="10" name="Picture 9" descr="image.png"/>
          <p:cNvPicPr>
            <a:picLocks noChangeAspect="1"/>
          </p:cNvPicPr>
          <p:nvPr/>
        </p:nvPicPr>
        <p:blipFill>
          <a:blip r:embed="rId3"/>
          <a:stretch>
            <a:fillRect/>
          </a:stretch>
        </p:blipFill>
        <p:spPr>
          <a:xfrm>
            <a:off x="457200" y="1304849"/>
            <a:ext cx="11277295" cy="1097280"/>
          </a:xfrm>
          <a:prstGeom prst="rect">
            <a:avLst/>
          </a:prstGeom>
          <a:ln/>
        </p:spPr>
      </p:pic>
      <p:sp>
        <p:nvSpPr>
          <p:cNvPr id="11" name="TextBox 10"/>
          <p:cNvSpPr txBox="1"/>
          <p:nvPr/>
        </p:nvSpPr>
        <p:spPr>
          <a:xfrm>
            <a:off x="743407" y="1533449"/>
            <a:ext cx="10849356" cy="648309"/>
          </a:xfrm>
          <a:prstGeom prst="rect">
            <a:avLst/>
          </a:prstGeom>
          <a:noFill/>
          <a:ln/>
        </p:spPr>
        <p:txBody>
          <a:bodyPr wrap="square" lIns="0" rIns="0" tIns="0" bIns="0">
            <a:noAutofit/>
          </a:bodyPr>
          <a:lstStyle/>
          <a:p>
            <a:r>
              <a:rPr sz="1800" b="1">
                <a:solidFill>
                  <a:srgbClr val="1D1D1F"/>
                </a:solidFill>
                <a:latin typeface="Noto Sans JP"/>
              </a:rPr>
              <a:t> 結論：VRAM不足と生成結果のブレを</a:t>
            </a:r>
            <a:r>
              <a:rPr sz="1800" b="1">
                <a:solidFill>
                  <a:srgbClr val="E11D48"/>
                </a:solidFill>
                <a:latin typeface="Noto Sans JP"/>
              </a:rPr>
              <a:t>「標準プロファイル」</a:t>
            </a:r>
            <a:r>
              <a:rPr sz="1800" b="1">
                <a:solidFill>
                  <a:srgbClr val="1D1D1F"/>
                </a:solidFill>
                <a:latin typeface="Noto Sans JP"/>
              </a:rPr>
              <a:t>で抑制し、 </a:t>
            </a:r>
          </a:p>
          <a:p>
            <a:r>
              <a:rPr sz="1800" b="1">
                <a:solidFill>
                  <a:srgbClr val="1D1D1F"/>
                </a:solidFill>
                <a:latin typeface="Noto Sans JP"/>
              </a:rPr>
              <a:t> ライセンス違反リスクを</a:t>
            </a:r>
            <a:r>
              <a:rPr sz="1800" b="1">
                <a:solidFill>
                  <a:srgbClr val="E11D48"/>
                </a:solidFill>
                <a:latin typeface="Noto Sans JP"/>
              </a:rPr>
              <a:t>「事前精査と監査」</a:t>
            </a:r>
            <a:r>
              <a:rPr sz="1800" b="1">
                <a:solidFill>
                  <a:srgbClr val="1D1D1F"/>
                </a:solidFill>
                <a:latin typeface="Noto Sans JP"/>
              </a:rPr>
              <a:t>で排除します。 </a:t>
            </a:r>
          </a:p>
        </p:txBody>
      </p:sp>
      <p:sp>
        <p:nvSpPr>
          <p:cNvPr id="12" name="Rectangle 11"/>
          <p:cNvSpPr/>
          <p:nvPr/>
        </p:nvSpPr>
        <p:spPr>
          <a:xfrm>
            <a:off x="457200"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4944" y="3344875"/>
            <a:ext cx="5009997"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94944" y="2992831"/>
            <a:ext cx="190194" cy="190194"/>
          </a:xfrm>
          <a:prstGeom prst="rect">
            <a:avLst/>
          </a:prstGeom>
          <a:ln/>
        </p:spPr>
      </p:pic>
      <p:sp>
        <p:nvSpPr>
          <p:cNvPr id="15" name="TextBox 14"/>
          <p:cNvSpPr txBox="1"/>
          <p:nvPr/>
        </p:nvSpPr>
        <p:spPr>
          <a:xfrm>
            <a:off x="1000354" y="2945282"/>
            <a:ext cx="3096158" cy="419709"/>
          </a:xfrm>
          <a:prstGeom prst="rect">
            <a:avLst/>
          </a:prstGeom>
          <a:noFill/>
          <a:ln/>
        </p:spPr>
        <p:txBody>
          <a:bodyPr wrap="square" lIns="0" rIns="0" tIns="0" bIns="0">
            <a:noAutofit/>
          </a:bodyPr>
          <a:lstStyle/>
          <a:p>
            <a:r>
              <a:rPr sz="1500" b="1">
                <a:solidFill>
                  <a:srgbClr val="1D1D1F"/>
                </a:solidFill>
                <a:latin typeface="Noto Sans JP"/>
              </a:rPr>
              <a:t>主な失敗モード（Failure Modes）</a:t>
            </a:r>
          </a:p>
        </p:txBody>
      </p:sp>
      <p:pic>
        <p:nvPicPr>
          <p:cNvPr id="16" name="Picture 15" descr="image.png"/>
          <p:cNvPicPr>
            <a:picLocks noChangeAspect="1"/>
          </p:cNvPicPr>
          <p:nvPr/>
        </p:nvPicPr>
        <p:blipFill>
          <a:blip r:embed="rId5"/>
          <a:stretch>
            <a:fillRect/>
          </a:stretch>
        </p:blipFill>
        <p:spPr>
          <a:xfrm>
            <a:off x="694944" y="3516782"/>
            <a:ext cx="105156" cy="133501"/>
          </a:xfrm>
          <a:prstGeom prst="rect">
            <a:avLst/>
          </a:prstGeom>
          <a:ln/>
        </p:spPr>
      </p:pic>
      <p:sp>
        <p:nvSpPr>
          <p:cNvPr id="17" name="TextBox 16"/>
          <p:cNvSpPr txBox="1"/>
          <p:nvPr/>
        </p:nvSpPr>
        <p:spPr>
          <a:xfrm>
            <a:off x="914400" y="3760013"/>
            <a:ext cx="4867351" cy="495605"/>
          </a:xfrm>
          <a:prstGeom prst="rect">
            <a:avLst/>
          </a:prstGeom>
          <a:noFill/>
          <a:ln/>
        </p:spPr>
        <p:txBody>
          <a:bodyPr wrap="square" lIns="0" rIns="0" tIns="0" bIns="0">
            <a:noAutofit/>
          </a:bodyPr>
          <a:lstStyle/>
          <a:p>
            <a:r>
              <a:rPr sz="1200">
                <a:solidFill>
                  <a:srgbClr val="424245"/>
                </a:solidFill>
                <a:latin typeface="Noto Sans JP"/>
              </a:rPr>
              <a:t>高解像度や大バッチ指定時にプロセスがクラッシュ。特にSDXL/FLUX等の大型モデルで頻発。</a:t>
            </a:r>
          </a:p>
        </p:txBody>
      </p:sp>
      <p:pic>
        <p:nvPicPr>
          <p:cNvPr id="18" name="Picture 17" descr="image.png"/>
          <p:cNvPicPr>
            <a:picLocks noChangeAspect="1"/>
          </p:cNvPicPr>
          <p:nvPr/>
        </p:nvPicPr>
        <p:blipFill>
          <a:blip r:embed="rId5"/>
          <a:stretch>
            <a:fillRect/>
          </a:stretch>
        </p:blipFill>
        <p:spPr>
          <a:xfrm>
            <a:off x="694944" y="4400093"/>
            <a:ext cx="105156" cy="133501"/>
          </a:xfrm>
          <a:prstGeom prst="rect">
            <a:avLst/>
          </a:prstGeom>
          <a:ln/>
        </p:spPr>
      </p:pic>
      <p:sp>
        <p:nvSpPr>
          <p:cNvPr id="19" name="TextBox 18"/>
          <p:cNvSpPr txBox="1"/>
          <p:nvPr/>
        </p:nvSpPr>
        <p:spPr>
          <a:xfrm>
            <a:off x="914400" y="4644238"/>
            <a:ext cx="4867351" cy="495605"/>
          </a:xfrm>
          <a:prstGeom prst="rect">
            <a:avLst/>
          </a:prstGeom>
          <a:noFill/>
          <a:ln/>
        </p:spPr>
        <p:txBody>
          <a:bodyPr wrap="square" lIns="0" rIns="0" tIns="0" bIns="0">
            <a:noAutofit/>
          </a:bodyPr>
          <a:lstStyle/>
          <a:p>
            <a:r>
              <a:rPr sz="1200">
                <a:solidFill>
                  <a:srgbClr val="424245"/>
                </a:solidFill>
                <a:latin typeface="Noto Sans JP"/>
              </a:rPr>
              <a:t>同じプロンプトでもSeedや設定の違いで出力が変動し、UIモック等の修正サイクルが回らない。</a:t>
            </a:r>
          </a:p>
        </p:txBody>
      </p:sp>
      <p:pic>
        <p:nvPicPr>
          <p:cNvPr id="20" name="Picture 19" descr="image.png"/>
          <p:cNvPicPr>
            <a:picLocks noChangeAspect="1"/>
          </p:cNvPicPr>
          <p:nvPr/>
        </p:nvPicPr>
        <p:blipFill>
          <a:blip r:embed="rId5"/>
          <a:stretch>
            <a:fillRect/>
          </a:stretch>
        </p:blipFill>
        <p:spPr>
          <a:xfrm>
            <a:off x="694944" y="5284318"/>
            <a:ext cx="105156" cy="133501"/>
          </a:xfrm>
          <a:prstGeom prst="rect">
            <a:avLst/>
          </a:prstGeom>
          <a:ln/>
        </p:spPr>
      </p:pic>
      <p:sp>
        <p:nvSpPr>
          <p:cNvPr id="21" name="TextBox 20"/>
          <p:cNvSpPr txBox="1"/>
          <p:nvPr/>
        </p:nvSpPr>
        <p:spPr>
          <a:xfrm>
            <a:off x="914400" y="5527548"/>
            <a:ext cx="4867351" cy="495605"/>
          </a:xfrm>
          <a:prstGeom prst="rect">
            <a:avLst/>
          </a:prstGeom>
          <a:noFill/>
          <a:ln/>
        </p:spPr>
        <p:txBody>
          <a:bodyPr wrap="square" lIns="0" rIns="0" tIns="0" bIns="0">
            <a:noAutofit/>
          </a:bodyPr>
          <a:lstStyle/>
          <a:p>
            <a:r>
              <a:rPr sz="1200">
                <a:solidFill>
                  <a:srgbClr val="424245"/>
                </a:solidFill>
                <a:latin typeface="Noto Sans JP"/>
              </a:rPr>
              <a:t>FLUX.1-dev等の非商用/開発用ライセンスを、誤って商用プロダクトや社内資料に利用してしまう。</a:t>
            </a:r>
          </a:p>
        </p:txBody>
      </p:sp>
      <p:sp>
        <p:nvSpPr>
          <p:cNvPr id="22" name="Rectangle 21"/>
          <p:cNvSpPr/>
          <p:nvPr/>
        </p:nvSpPr>
        <p:spPr>
          <a:xfrm>
            <a:off x="6248095" y="2706624"/>
            <a:ext cx="5486400" cy="355244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86754" y="3344875"/>
            <a:ext cx="50099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6"/>
          <a:stretch>
            <a:fillRect/>
          </a:stretch>
        </p:blipFill>
        <p:spPr>
          <a:xfrm>
            <a:off x="6486754" y="2992831"/>
            <a:ext cx="190195" cy="190194"/>
          </a:xfrm>
          <a:prstGeom prst="rect">
            <a:avLst/>
          </a:prstGeom>
          <a:ln/>
        </p:spPr>
      </p:pic>
      <p:sp>
        <p:nvSpPr>
          <p:cNvPr id="25" name="TextBox 24"/>
          <p:cNvSpPr txBox="1"/>
          <p:nvPr/>
        </p:nvSpPr>
        <p:spPr>
          <a:xfrm>
            <a:off x="6791249" y="2945282"/>
            <a:ext cx="3543300" cy="419709"/>
          </a:xfrm>
          <a:prstGeom prst="rect">
            <a:avLst/>
          </a:prstGeom>
          <a:noFill/>
          <a:ln/>
        </p:spPr>
        <p:txBody>
          <a:bodyPr wrap="square" lIns="0" rIns="0" tIns="0" bIns="0">
            <a:noAutofit/>
          </a:bodyPr>
          <a:lstStyle/>
          <a:p>
            <a:r>
              <a:rPr sz="1500" b="1">
                <a:solidFill>
                  <a:srgbClr val="1D1D1F"/>
                </a:solidFill>
                <a:latin typeface="Noto Sans JP"/>
              </a:rPr>
              <a:t>回避策と設計（Mitigation Strategies）</a:t>
            </a:r>
          </a:p>
        </p:txBody>
      </p:sp>
      <p:pic>
        <p:nvPicPr>
          <p:cNvPr id="26" name="Picture 25" descr="image.png"/>
          <p:cNvPicPr>
            <a:picLocks noChangeAspect="1"/>
          </p:cNvPicPr>
          <p:nvPr/>
        </p:nvPicPr>
        <p:blipFill>
          <a:blip r:embed="rId7"/>
          <a:stretch>
            <a:fillRect/>
          </a:stretch>
        </p:blipFill>
        <p:spPr>
          <a:xfrm>
            <a:off x="6486754" y="3516782"/>
            <a:ext cx="114300" cy="133501"/>
          </a:xfrm>
          <a:prstGeom prst="rect">
            <a:avLst/>
          </a:prstGeom>
          <a:ln/>
        </p:spPr>
      </p:pic>
      <p:sp>
        <p:nvSpPr>
          <p:cNvPr id="27" name="TextBox 26"/>
          <p:cNvSpPr txBox="1"/>
          <p:nvPr/>
        </p:nvSpPr>
        <p:spPr>
          <a:xfrm>
            <a:off x="6715354" y="3760013"/>
            <a:ext cx="4858207" cy="495605"/>
          </a:xfrm>
          <a:prstGeom prst="rect">
            <a:avLst/>
          </a:prstGeom>
          <a:noFill/>
          <a:ln/>
        </p:spPr>
        <p:txBody>
          <a:bodyPr wrap="square" lIns="0" rIns="0" tIns="0" bIns="0">
            <a:noAutofit/>
          </a:bodyPr>
          <a:lstStyle/>
          <a:p>
            <a:r>
              <a:rPr sz="1200">
                <a:solidFill>
                  <a:srgbClr val="424245"/>
                </a:solidFill>
                <a:latin typeface="Noto Sans JP"/>
              </a:rPr>
              <a:t>VRAM容量に応じた上限テーブルを作成。Attention SlicingやVAE Tiling等の最適化を強制適用。</a:t>
            </a:r>
          </a:p>
        </p:txBody>
      </p:sp>
      <p:pic>
        <p:nvPicPr>
          <p:cNvPr id="28" name="Picture 27" descr="image.png"/>
          <p:cNvPicPr>
            <a:picLocks noChangeAspect="1"/>
          </p:cNvPicPr>
          <p:nvPr/>
        </p:nvPicPr>
        <p:blipFill>
          <a:blip r:embed="rId7"/>
          <a:stretch>
            <a:fillRect/>
          </a:stretch>
        </p:blipFill>
        <p:spPr>
          <a:xfrm>
            <a:off x="6486754" y="4400093"/>
            <a:ext cx="114300" cy="133501"/>
          </a:xfrm>
          <a:prstGeom prst="rect">
            <a:avLst/>
          </a:prstGeom>
          <a:ln/>
        </p:spPr>
      </p:pic>
      <p:sp>
        <p:nvSpPr>
          <p:cNvPr id="29" name="TextBox 28"/>
          <p:cNvSpPr txBox="1"/>
          <p:nvPr/>
        </p:nvSpPr>
        <p:spPr>
          <a:xfrm>
            <a:off x="6715354" y="4644238"/>
            <a:ext cx="4858207" cy="495605"/>
          </a:xfrm>
          <a:prstGeom prst="rect">
            <a:avLst/>
          </a:prstGeom>
          <a:noFill/>
          <a:ln/>
        </p:spPr>
        <p:txBody>
          <a:bodyPr wrap="square" lIns="0" rIns="0" tIns="0" bIns="0">
            <a:noAutofit/>
          </a:bodyPr>
          <a:lstStyle/>
          <a:p>
            <a:r>
              <a:rPr sz="1200">
                <a:solidFill>
                  <a:srgbClr val="424245"/>
                </a:solidFill>
                <a:latin typeface="Noto Sans JP"/>
              </a:rPr>
              <a:t>Seedを固定し、ComfyUIワークフローをJSONとして資産化・バージョン管理する。</a:t>
            </a:r>
          </a:p>
        </p:txBody>
      </p:sp>
      <p:pic>
        <p:nvPicPr>
          <p:cNvPr id="30" name="Picture 29" descr="image.png"/>
          <p:cNvPicPr>
            <a:picLocks noChangeAspect="1"/>
          </p:cNvPicPr>
          <p:nvPr/>
        </p:nvPicPr>
        <p:blipFill>
          <a:blip r:embed="rId8"/>
          <a:stretch>
            <a:fillRect/>
          </a:stretch>
        </p:blipFill>
        <p:spPr>
          <a:xfrm>
            <a:off x="7858354" y="4926787"/>
            <a:ext cx="323697" cy="200253"/>
          </a:xfrm>
          <a:prstGeom prst="rect">
            <a:avLst/>
          </a:prstGeom>
          <a:ln/>
        </p:spPr>
      </p:pic>
      <p:sp>
        <p:nvSpPr>
          <p:cNvPr id="31" name="TextBox 30"/>
          <p:cNvSpPr txBox="1"/>
          <p:nvPr/>
        </p:nvSpPr>
        <p:spPr>
          <a:xfrm>
            <a:off x="7858354" y="4926787"/>
            <a:ext cx="32461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[72]</a:t>
            </a:r>
          </a:p>
        </p:txBody>
      </p:sp>
      <p:pic>
        <p:nvPicPr>
          <p:cNvPr id="32" name="Picture 31" descr="image.png"/>
          <p:cNvPicPr>
            <a:picLocks noChangeAspect="1"/>
          </p:cNvPicPr>
          <p:nvPr/>
        </p:nvPicPr>
        <p:blipFill>
          <a:blip r:embed="rId7"/>
          <a:stretch>
            <a:fillRect/>
          </a:stretch>
        </p:blipFill>
        <p:spPr>
          <a:xfrm>
            <a:off x="6486754" y="5284318"/>
            <a:ext cx="114300" cy="133501"/>
          </a:xfrm>
          <a:prstGeom prst="rect">
            <a:avLst/>
          </a:prstGeom>
          <a:ln/>
        </p:spPr>
      </p:pic>
      <p:sp>
        <p:nvSpPr>
          <p:cNvPr id="33" name="TextBox 32"/>
          <p:cNvSpPr txBox="1"/>
          <p:nvPr/>
        </p:nvSpPr>
        <p:spPr>
          <a:xfrm>
            <a:off x="6715354" y="5527548"/>
            <a:ext cx="4858207" cy="495605"/>
          </a:xfrm>
          <a:prstGeom prst="rect">
            <a:avLst/>
          </a:prstGeom>
          <a:noFill/>
          <a:ln/>
        </p:spPr>
        <p:txBody>
          <a:bodyPr wrap="square" lIns="0" rIns="0" tIns="0" bIns="0">
            <a:noAutofit/>
          </a:bodyPr>
          <a:lstStyle/>
          <a:p>
            <a:r>
              <a:rPr sz="1200">
                <a:solidFill>
                  <a:srgbClr val="424245"/>
                </a:solidFill>
                <a:latin typeface="Noto Sans JP"/>
              </a:rPr>
              <a:t>使用モデルのライセンス条項（商用可否）をリスト化し、生成ログにモデルハッシュを紐付ける。</a:t>
            </a:r>
          </a:p>
        </p:txBody>
      </p:sp>
      <p:pic>
        <p:nvPicPr>
          <p:cNvPr id="34" name="Picture 33" descr="image.png"/>
          <p:cNvPicPr>
            <a:picLocks noChangeAspect="1"/>
          </p:cNvPicPr>
          <p:nvPr/>
        </p:nvPicPr>
        <p:blipFill>
          <a:blip r:embed="rId8"/>
          <a:stretch>
            <a:fillRect/>
          </a:stretch>
        </p:blipFill>
        <p:spPr>
          <a:xfrm>
            <a:off x="8772754" y="5810098"/>
            <a:ext cx="323697" cy="200253"/>
          </a:xfrm>
          <a:prstGeom prst="rect">
            <a:avLst/>
          </a:prstGeom>
          <a:ln/>
        </p:spPr>
      </p:pic>
      <p:sp>
        <p:nvSpPr>
          <p:cNvPr id="35" name="TextBox 34"/>
          <p:cNvSpPr txBox="1"/>
          <p:nvPr/>
        </p:nvSpPr>
        <p:spPr>
          <a:xfrm>
            <a:off x="8772754" y="5810098"/>
            <a:ext cx="324611" cy="200253"/>
          </a:xfrm>
          <a:prstGeom prst="rect">
            <a:avLst/>
          </a:prstGeom>
          <a:noFill/>
          <a:ln>
            <a:solidFill>
              <a:srgbClr val="FFFFFF"/>
            </a:solidFill>
          </a:ln>
        </p:spPr>
        <p:txBody>
          <a:bodyPr wrap="square" lIns="0" rIns="0" tIns="0" bIns="0">
            <a:noAutofit/>
          </a:bodyPr>
          <a:lstStyle/>
          <a:p>
            <a:r>
              <a:rPr sz="900">
                <a:solidFill>
                  <a:srgbClr val="6B7280"/>
                </a:solidFill>
                <a:latin typeface="Noto Sans JP"/>
              </a:rPr>
              <a:t>[76]</a:t>
            </a:r>
          </a:p>
        </p:txBody>
      </p:sp>
      <p:sp>
        <p:nvSpPr>
          <p:cNvPr id="36" name="Rectangle 35"/>
          <p:cNvSpPr/>
          <p:nvPr/>
        </p:nvSpPr>
        <p:spPr>
          <a:xfrm>
            <a:off x="457200" y="6558077"/>
            <a:ext cx="11277295" cy="961949"/>
          </a:xfrm>
          <a:prstGeom prst="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9"/>
          <a:stretch>
            <a:fillRect/>
          </a:stretch>
        </p:blipFill>
        <p:spPr>
          <a:xfrm>
            <a:off x="619049" y="6739128"/>
            <a:ext cx="171907" cy="171907"/>
          </a:xfrm>
          <a:prstGeom prst="rect">
            <a:avLst/>
          </a:prstGeom>
          <a:ln/>
        </p:spPr>
      </p:pic>
      <p:sp>
        <p:nvSpPr>
          <p:cNvPr id="38" name="TextBox 37"/>
          <p:cNvSpPr txBox="1"/>
          <p:nvPr/>
        </p:nvSpPr>
        <p:spPr>
          <a:xfrm>
            <a:off x="905256" y="6719926"/>
            <a:ext cx="10782605" cy="200254"/>
          </a:xfrm>
          <a:prstGeom prst="rect">
            <a:avLst/>
          </a:prstGeom>
          <a:noFill/>
          <a:ln/>
        </p:spPr>
        <p:txBody>
          <a:bodyPr wrap="square" lIns="0" rIns="0" tIns="0" bIns="0">
            <a:noAutofit/>
          </a:bodyPr>
          <a:lstStyle/>
          <a:p>
            <a:r>
              <a:rPr sz="1000" b="1">
                <a:solidFill>
                  <a:srgbClr val="14532D"/>
                </a:solidFill>
                <a:latin typeface="Noto Sans JP"/>
              </a:rPr>
              <a:t>設計含意（Design Implication）</a:t>
            </a:r>
          </a:p>
        </p:txBody>
      </p:sp>
      <p:sp>
        <p:nvSpPr>
          <p:cNvPr id="39" name="TextBox 38"/>
          <p:cNvSpPr txBox="1"/>
          <p:nvPr/>
        </p:nvSpPr>
        <p:spPr>
          <a:xfrm>
            <a:off x="905256" y="6958583"/>
            <a:ext cx="10744200" cy="400507"/>
          </a:xfrm>
          <a:prstGeom prst="rect">
            <a:avLst/>
          </a:prstGeom>
          <a:noFill/>
          <a:ln/>
        </p:spPr>
        <p:txBody>
          <a:bodyPr wrap="square" lIns="0" rIns="0" tIns="0" bIns="0">
            <a:noAutofit/>
          </a:bodyPr>
          <a:lstStyle/>
          <a:p>
            <a:r>
              <a:rPr sz="1000">
                <a:solidFill>
                  <a:srgbClr val="14532D"/>
                </a:solidFill>
                <a:latin typeface="Noto Sans JP"/>
              </a:rPr>
              <a:t>処理時間とVRAMピークをログ保存し、運用監視を行います。リソースが厳しい場合は、「夜間バッチ（高画質生成）」と「日中オンデマンド（低画質プレビュー）」を使い分ける設計が現実的です。</a:t>
            </a:r>
          </a:p>
        </p:txBody>
      </p:sp>
      <p:sp>
        <p:nvSpPr>
          <p:cNvPr id="40" name="Rectangle 39"/>
          <p:cNvSpPr/>
          <p:nvPr/>
        </p:nvSpPr>
        <p:spPr>
          <a:xfrm>
            <a:off x="0" y="7901330"/>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790133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791047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3" name="TextBox 42"/>
          <p:cNvSpPr txBox="1"/>
          <p:nvPr/>
        </p:nvSpPr>
        <p:spPr>
          <a:xfrm>
            <a:off x="11385194" y="7910473"/>
            <a:ext cx="428854" cy="171907"/>
          </a:xfrm>
          <a:prstGeom prst="rect">
            <a:avLst/>
          </a:prstGeom>
          <a:noFill/>
          <a:ln/>
        </p:spPr>
        <p:txBody>
          <a:bodyPr wrap="square" lIns="0" rIns="0" tIns="0" bIns="0">
            <a:noAutofit/>
          </a:bodyPr>
          <a:lstStyle/>
          <a:p>
            <a:r>
              <a:rPr sz="900">
                <a:solidFill>
                  <a:srgbClr val="86868B"/>
                </a:solidFill>
                <a:latin typeface="Noto Sans JP"/>
              </a:rPr>
              <a:t>70 / 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10598" y="4476902"/>
            <a:ext cx="2857500" cy="2857499"/>
          </a:xfrm>
          <a:prstGeom prst="rect">
            <a:avLst/>
          </a:prstGeom>
          <a:ln/>
        </p:spPr>
      </p:pic>
      <p:sp>
        <p:nvSpPr>
          <p:cNvPr id="6" name="Rectangle 5"/>
          <p:cNvSpPr/>
          <p:nvPr/>
        </p:nvSpPr>
        <p:spPr>
          <a:xfrm>
            <a:off x="5486400" y="0"/>
            <a:ext cx="6705295" cy="6858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5486400" cy="6858000"/>
          </a:xfrm>
          <a:prstGeom prst="rect">
            <a:avLst/>
          </a:prstGeom>
          <a:solidFill>
            <a:srgbClr val="00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1695" y="1522476"/>
            <a:ext cx="4153205" cy="1143000"/>
          </a:xfrm>
          <a:prstGeom prst="rect">
            <a:avLst/>
          </a:prstGeom>
          <a:noFill/>
          <a:ln/>
        </p:spPr>
        <p:txBody>
          <a:bodyPr wrap="square" lIns="0" rIns="0" tIns="0" bIns="0">
            <a:noAutofit/>
          </a:bodyPr>
          <a:lstStyle/>
          <a:p>
            <a:r>
              <a:rPr sz="9000" b="1">
                <a:solidFill>
                  <a:srgbClr val="333336"/>
                </a:solidFill>
                <a:latin typeface="Helvetica Neue"/>
              </a:rPr>
              <a:t>10</a:t>
            </a:r>
          </a:p>
        </p:txBody>
      </p:sp>
      <p:pic>
        <p:nvPicPr>
          <p:cNvPr id="9" name="Picture 8" descr="image.png"/>
          <p:cNvPicPr>
            <a:picLocks noChangeAspect="1"/>
          </p:cNvPicPr>
          <p:nvPr/>
        </p:nvPicPr>
        <p:blipFill>
          <a:blip r:embed="rId3"/>
          <a:stretch>
            <a:fillRect/>
          </a:stretch>
        </p:blipFill>
        <p:spPr>
          <a:xfrm>
            <a:off x="761695" y="2855671"/>
            <a:ext cx="761695" cy="57606"/>
          </a:xfrm>
          <a:prstGeom prst="rect">
            <a:avLst/>
          </a:prstGeom>
          <a:ln/>
        </p:spPr>
      </p:pic>
      <p:sp>
        <p:nvSpPr>
          <p:cNvPr id="10" name="TextBox 9"/>
          <p:cNvSpPr txBox="1"/>
          <p:nvPr/>
        </p:nvSpPr>
        <p:spPr>
          <a:xfrm>
            <a:off x="761695" y="3293669"/>
            <a:ext cx="4121201" cy="1181405"/>
          </a:xfrm>
          <a:prstGeom prst="rect">
            <a:avLst/>
          </a:prstGeom>
          <a:noFill/>
          <a:ln/>
        </p:spPr>
        <p:txBody>
          <a:bodyPr wrap="square" lIns="0" rIns="0" tIns="0" bIns="0">
            <a:noAutofit/>
          </a:bodyPr>
          <a:lstStyle/>
          <a:p>
            <a:r>
              <a:rPr sz="4200" b="1">
                <a:solidFill>
                  <a:srgbClr val="FFFFFF"/>
                </a:solidFill>
                <a:latin typeface="Noto Sans JP"/>
              </a:rPr>
              <a:t>測定と比較の</a:t>
            </a:r>
          </a:p>
          <a:p>
            <a:r>
              <a:rPr sz="4200" b="1">
                <a:solidFill>
                  <a:srgbClr val="FFFFFF"/>
                </a:solidFill>
                <a:latin typeface="Noto Sans JP"/>
              </a:rPr>
              <a:t>方法</a:t>
            </a:r>
          </a:p>
        </p:txBody>
      </p:sp>
      <p:sp>
        <p:nvSpPr>
          <p:cNvPr id="11" name="TextBox 10"/>
          <p:cNvSpPr txBox="1"/>
          <p:nvPr/>
        </p:nvSpPr>
        <p:spPr>
          <a:xfrm>
            <a:off x="761695" y="4695444"/>
            <a:ext cx="4048963" cy="648310"/>
          </a:xfrm>
          <a:prstGeom prst="rect">
            <a:avLst/>
          </a:prstGeom>
          <a:noFill/>
          <a:ln/>
        </p:spPr>
        <p:txBody>
          <a:bodyPr wrap="square" lIns="0" rIns="0" tIns="0" bIns="0">
            <a:noAutofit/>
          </a:bodyPr>
          <a:lstStyle/>
          <a:p>
            <a:r>
              <a:rPr sz="1800">
                <a:solidFill>
                  <a:srgbClr val="86868B"/>
                </a:solidFill>
                <a:latin typeface="Noto Sans JP"/>
              </a:rPr>
              <a:t>ベンチマーク設計と</a:t>
            </a:r>
          </a:p>
          <a:p>
            <a:r>
              <a:rPr sz="1800">
                <a:solidFill>
                  <a:srgbClr val="86868B"/>
                </a:solidFill>
                <a:latin typeface="Noto Sans JP"/>
              </a:rPr>
              <a:t>再現性の担保</a:t>
            </a:r>
          </a:p>
        </p:txBody>
      </p:sp>
      <p:sp>
        <p:nvSpPr>
          <p:cNvPr id="12" name="TextBox 11"/>
          <p:cNvSpPr txBox="1"/>
          <p:nvPr/>
        </p:nvSpPr>
        <p:spPr>
          <a:xfrm>
            <a:off x="6248095" y="1009497"/>
            <a:ext cx="5296205" cy="228600"/>
          </a:xfrm>
          <a:prstGeom prst="rect">
            <a:avLst/>
          </a:prstGeom>
          <a:noFill/>
          <a:ln/>
        </p:spPr>
        <p:txBody>
          <a:bodyPr wrap="square" lIns="0" rIns="0" tIns="0" bIns="0">
            <a:noAutofit/>
          </a:bodyPr>
          <a:lstStyle/>
          <a:p>
            <a:r>
              <a:rPr sz="1200" b="1">
                <a:solidFill>
                  <a:srgbClr val="007AFF"/>
                </a:solidFill>
                <a:latin typeface="Noto Sans JP"/>
              </a:rPr>
              <a:t>KEY TAKEAWAYS</a:t>
            </a:r>
          </a:p>
        </p:txBody>
      </p:sp>
      <p:pic>
        <p:nvPicPr>
          <p:cNvPr id="13" name="Picture 12" descr="image.png"/>
          <p:cNvPicPr>
            <a:picLocks noChangeAspect="1"/>
          </p:cNvPicPr>
          <p:nvPr/>
        </p:nvPicPr>
        <p:blipFill>
          <a:blip r:embed="rId4"/>
          <a:stretch>
            <a:fillRect/>
          </a:stretch>
        </p:blipFill>
        <p:spPr>
          <a:xfrm>
            <a:off x="6248095" y="1429207"/>
            <a:ext cx="5181905" cy="3705148"/>
          </a:xfrm>
          <a:prstGeom prst="rect">
            <a:avLst/>
          </a:prstGeom>
          <a:ln/>
        </p:spPr>
      </p:pic>
      <p:sp>
        <p:nvSpPr>
          <p:cNvPr id="14" name="TextBox 13"/>
          <p:cNvSpPr txBox="1"/>
          <p:nvPr/>
        </p:nvSpPr>
        <p:spPr>
          <a:xfrm>
            <a:off x="6858914" y="1714500"/>
            <a:ext cx="4476902" cy="286206"/>
          </a:xfrm>
          <a:prstGeom prst="rect">
            <a:avLst/>
          </a:prstGeom>
          <a:noFill/>
          <a:ln/>
        </p:spPr>
        <p:txBody>
          <a:bodyPr wrap="square" lIns="0" rIns="0" tIns="0" bIns="0">
            <a:noAutofit/>
          </a:bodyPr>
          <a:lstStyle/>
          <a:p>
            <a:r>
              <a:rPr sz="1500" b="1">
                <a:solidFill>
                  <a:srgbClr val="FFFFFF"/>
                </a:solidFill>
                <a:latin typeface="Noto Sans JP"/>
              </a:rPr>
              <a:t> 本章の要点 </a:t>
            </a:r>
          </a:p>
        </p:txBody>
      </p:sp>
      <p:pic>
        <p:nvPicPr>
          <p:cNvPr id="15" name="Picture 14" descr="image.png"/>
          <p:cNvPicPr>
            <a:picLocks noChangeAspect="1"/>
          </p:cNvPicPr>
          <p:nvPr/>
        </p:nvPicPr>
        <p:blipFill>
          <a:blip r:embed="rId5"/>
          <a:stretch>
            <a:fillRect/>
          </a:stretch>
        </p:blipFill>
        <p:spPr>
          <a:xfrm>
            <a:off x="6572707" y="1762049"/>
            <a:ext cx="190194" cy="190194"/>
          </a:xfrm>
          <a:prstGeom prst="rect">
            <a:avLst/>
          </a:prstGeom>
          <a:ln/>
        </p:spPr>
      </p:pic>
      <p:sp>
        <p:nvSpPr>
          <p:cNvPr id="16" name="TextBox 15"/>
          <p:cNvSpPr txBox="1"/>
          <p:nvPr/>
        </p:nvSpPr>
        <p:spPr>
          <a:xfrm>
            <a:off x="6801307" y="2152498"/>
            <a:ext cx="4420210" cy="771753"/>
          </a:xfrm>
          <a:prstGeom prst="rect">
            <a:avLst/>
          </a:prstGeom>
          <a:noFill/>
          <a:ln/>
        </p:spPr>
        <p:txBody>
          <a:bodyPr wrap="square" lIns="0" rIns="0" tIns="0" bIns="0">
            <a:noAutofit/>
          </a:bodyPr>
          <a:lstStyle/>
          <a:p>
            <a:r>
              <a:rPr sz="1300" b="1">
                <a:solidFill>
                  <a:srgbClr val="E5E5E5"/>
                </a:solidFill>
                <a:latin typeface="Noto Sans JP"/>
              </a:rPr>
              <a:t>指標の厳密定義：</a:t>
            </a:r>
          </a:p>
          <a:p>
            <a:r>
              <a:rPr sz="1300">
                <a:solidFill>
                  <a:srgbClr val="E5E5E5"/>
                </a:solidFill>
                <a:latin typeface="Noto Sans JP"/>
              </a:rPr>
              <a:t> p50/p95レイテンシ、TTFT、tok/s、RTF等を定義し、JSON破壊率や意味改変率も定量化します。 </a:t>
            </a:r>
          </a:p>
        </p:txBody>
      </p:sp>
      <p:pic>
        <p:nvPicPr>
          <p:cNvPr id="17" name="Picture 16" descr="image.png"/>
          <p:cNvPicPr>
            <a:picLocks noChangeAspect="1"/>
          </p:cNvPicPr>
          <p:nvPr/>
        </p:nvPicPr>
        <p:blipFill>
          <a:blip r:embed="rId6"/>
          <a:stretch>
            <a:fillRect/>
          </a:stretch>
        </p:blipFill>
        <p:spPr>
          <a:xfrm>
            <a:off x="6572707" y="2200046"/>
            <a:ext cx="114300" cy="133501"/>
          </a:xfrm>
          <a:prstGeom prst="rect">
            <a:avLst/>
          </a:prstGeom>
          <a:ln/>
        </p:spPr>
      </p:pic>
      <p:sp>
        <p:nvSpPr>
          <p:cNvPr id="18" name="TextBox 17"/>
          <p:cNvSpPr txBox="1"/>
          <p:nvPr/>
        </p:nvSpPr>
        <p:spPr>
          <a:xfrm>
            <a:off x="6801307" y="3114446"/>
            <a:ext cx="4420210" cy="771754"/>
          </a:xfrm>
          <a:prstGeom prst="rect">
            <a:avLst/>
          </a:prstGeom>
          <a:noFill/>
          <a:ln/>
        </p:spPr>
        <p:txBody>
          <a:bodyPr wrap="square" lIns="0" rIns="0" tIns="0" bIns="0">
            <a:noAutofit/>
          </a:bodyPr>
          <a:lstStyle/>
          <a:p>
            <a:r>
              <a:rPr sz="1300" b="1">
                <a:solidFill>
                  <a:srgbClr val="E5E5E5"/>
                </a:solidFill>
                <a:latin typeface="Noto Sans JP"/>
              </a:rPr>
              <a:t>測定手順の標準化：</a:t>
            </a:r>
          </a:p>
          <a:p>
            <a:r>
              <a:rPr sz="1300">
                <a:solidFill>
                  <a:srgbClr val="E5E5E5"/>
                </a:solidFill>
                <a:latin typeface="Noto Sans JP"/>
              </a:rPr>
              <a:t> 条件固定（温度・量子化等）、ウォームアップ分離、KV影響の切り分け（短文/長文）を徹底します。 </a:t>
            </a:r>
          </a:p>
        </p:txBody>
      </p:sp>
      <p:pic>
        <p:nvPicPr>
          <p:cNvPr id="19" name="Picture 18" descr="image.png"/>
          <p:cNvPicPr>
            <a:picLocks noChangeAspect="1"/>
          </p:cNvPicPr>
          <p:nvPr/>
        </p:nvPicPr>
        <p:blipFill>
          <a:blip r:embed="rId6"/>
          <a:stretch>
            <a:fillRect/>
          </a:stretch>
        </p:blipFill>
        <p:spPr>
          <a:xfrm>
            <a:off x="6572707" y="3161995"/>
            <a:ext cx="114300" cy="133501"/>
          </a:xfrm>
          <a:prstGeom prst="rect">
            <a:avLst/>
          </a:prstGeom>
          <a:ln/>
        </p:spPr>
      </p:pic>
      <p:sp>
        <p:nvSpPr>
          <p:cNvPr id="20" name="TextBox 19"/>
          <p:cNvSpPr txBox="1"/>
          <p:nvPr/>
        </p:nvSpPr>
        <p:spPr>
          <a:xfrm>
            <a:off x="6801307" y="4076395"/>
            <a:ext cx="4420210" cy="771753"/>
          </a:xfrm>
          <a:prstGeom prst="rect">
            <a:avLst/>
          </a:prstGeom>
          <a:noFill/>
          <a:ln/>
        </p:spPr>
        <p:txBody>
          <a:bodyPr wrap="square" lIns="0" rIns="0" tIns="0" bIns="0">
            <a:noAutofit/>
          </a:bodyPr>
          <a:lstStyle/>
          <a:p>
            <a:r>
              <a:rPr sz="1300" b="1">
                <a:solidFill>
                  <a:srgbClr val="E5E5E5"/>
                </a:solidFill>
                <a:latin typeface="Noto Sans JP"/>
              </a:rPr>
              <a:t>再現性のコア要素：</a:t>
            </a:r>
          </a:p>
          <a:p>
            <a:r>
              <a:rPr sz="1300">
                <a:solidFill>
                  <a:srgbClr val="E5E5E5"/>
                </a:solidFill>
                <a:latin typeface="Noto Sans JP"/>
              </a:rPr>
              <a:t> ASR/TTSの前処理固定と、最小テストセット（短文/長文/構造化/音声）による比較を実施します。 </a:t>
            </a:r>
          </a:p>
        </p:txBody>
      </p:sp>
      <p:pic>
        <p:nvPicPr>
          <p:cNvPr id="21" name="Picture 20" descr="image.png"/>
          <p:cNvPicPr>
            <a:picLocks noChangeAspect="1"/>
          </p:cNvPicPr>
          <p:nvPr/>
        </p:nvPicPr>
        <p:blipFill>
          <a:blip r:embed="rId6"/>
          <a:stretch>
            <a:fillRect/>
          </a:stretch>
        </p:blipFill>
        <p:spPr>
          <a:xfrm>
            <a:off x="6572707" y="4123944"/>
            <a:ext cx="114300" cy="133501"/>
          </a:xfrm>
          <a:prstGeom prst="rect">
            <a:avLst/>
          </a:prstGeom>
          <a:ln/>
        </p:spPr>
      </p:pic>
      <p:pic>
        <p:nvPicPr>
          <p:cNvPr id="22" name="Picture 21" descr="image.png"/>
          <p:cNvPicPr>
            <a:picLocks noChangeAspect="1"/>
          </p:cNvPicPr>
          <p:nvPr/>
        </p:nvPicPr>
        <p:blipFill>
          <a:blip r:embed="rId7"/>
          <a:stretch>
            <a:fillRect/>
          </a:stretch>
        </p:blipFill>
        <p:spPr>
          <a:xfrm>
            <a:off x="6248095" y="5514746"/>
            <a:ext cx="857706" cy="333756"/>
          </a:xfrm>
          <a:prstGeom prst="rect">
            <a:avLst/>
          </a:prstGeom>
          <a:ln/>
        </p:spPr>
      </p:pic>
      <p:sp>
        <p:nvSpPr>
          <p:cNvPr id="23" name="TextBox 22"/>
          <p:cNvSpPr txBox="1"/>
          <p:nvPr/>
        </p:nvSpPr>
        <p:spPr>
          <a:xfrm>
            <a:off x="6248095" y="5514746"/>
            <a:ext cx="857706"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指標定義</a:t>
            </a:r>
          </a:p>
        </p:txBody>
      </p:sp>
      <p:pic>
        <p:nvPicPr>
          <p:cNvPr id="24" name="Picture 23" descr="image.png"/>
          <p:cNvPicPr>
            <a:picLocks noChangeAspect="1"/>
          </p:cNvPicPr>
          <p:nvPr/>
        </p:nvPicPr>
        <p:blipFill>
          <a:blip r:embed="rId7"/>
          <a:stretch>
            <a:fillRect/>
          </a:stretch>
        </p:blipFill>
        <p:spPr>
          <a:xfrm>
            <a:off x="7220102" y="5514746"/>
            <a:ext cx="857706" cy="333756"/>
          </a:xfrm>
          <a:prstGeom prst="rect">
            <a:avLst/>
          </a:prstGeom>
          <a:ln/>
        </p:spPr>
      </p:pic>
      <p:sp>
        <p:nvSpPr>
          <p:cNvPr id="25" name="TextBox 24"/>
          <p:cNvSpPr txBox="1"/>
          <p:nvPr/>
        </p:nvSpPr>
        <p:spPr>
          <a:xfrm>
            <a:off x="7220102" y="5514746"/>
            <a:ext cx="857706"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測定手順</a:t>
            </a:r>
          </a:p>
        </p:txBody>
      </p:sp>
      <p:pic>
        <p:nvPicPr>
          <p:cNvPr id="26" name="Picture 25" descr="image.png"/>
          <p:cNvPicPr>
            <a:picLocks noChangeAspect="1"/>
          </p:cNvPicPr>
          <p:nvPr/>
        </p:nvPicPr>
        <p:blipFill>
          <a:blip r:embed="rId7"/>
          <a:stretch>
            <a:fillRect/>
          </a:stretch>
        </p:blipFill>
        <p:spPr>
          <a:xfrm>
            <a:off x="8191195" y="5514746"/>
            <a:ext cx="857706" cy="333756"/>
          </a:xfrm>
          <a:prstGeom prst="rect">
            <a:avLst/>
          </a:prstGeom>
          <a:ln/>
        </p:spPr>
      </p:pic>
      <p:sp>
        <p:nvSpPr>
          <p:cNvPr id="27" name="TextBox 26"/>
          <p:cNvSpPr txBox="1"/>
          <p:nvPr/>
        </p:nvSpPr>
        <p:spPr>
          <a:xfrm>
            <a:off x="8191195" y="5514746"/>
            <a:ext cx="857706"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ログ保存</a:t>
            </a:r>
          </a:p>
        </p:txBody>
      </p:sp>
      <p:pic>
        <p:nvPicPr>
          <p:cNvPr id="28" name="Picture 27" descr="image.png"/>
          <p:cNvPicPr>
            <a:picLocks noChangeAspect="1"/>
          </p:cNvPicPr>
          <p:nvPr/>
        </p:nvPicPr>
        <p:blipFill>
          <a:blip r:embed="rId8"/>
          <a:stretch>
            <a:fillRect/>
          </a:stretch>
        </p:blipFill>
        <p:spPr>
          <a:xfrm>
            <a:off x="9163202" y="5514746"/>
            <a:ext cx="1123797" cy="333756"/>
          </a:xfrm>
          <a:prstGeom prst="rect">
            <a:avLst/>
          </a:prstGeom>
          <a:ln/>
        </p:spPr>
      </p:pic>
      <p:sp>
        <p:nvSpPr>
          <p:cNvPr id="29" name="TextBox 28"/>
          <p:cNvSpPr txBox="1"/>
          <p:nvPr/>
        </p:nvSpPr>
        <p:spPr>
          <a:xfrm>
            <a:off x="9163202" y="5514746"/>
            <a:ext cx="1124712" cy="333756"/>
          </a:xfrm>
          <a:prstGeom prst="rect">
            <a:avLst/>
          </a:prstGeom>
          <a:noFill/>
          <a:ln w="12700">
            <a:solidFill>
              <a:srgbClr val="FFFFFF"/>
            </a:solidFill>
          </a:ln>
        </p:spPr>
        <p:txBody>
          <a:bodyPr wrap="square" lIns="0" rIns="0" tIns="0" bIns="0">
            <a:noAutofit/>
          </a:bodyPr>
          <a:lstStyle/>
          <a:p>
            <a:r>
              <a:rPr sz="1000">
                <a:solidFill>
                  <a:srgbClr val="A1A1A6"/>
                </a:solidFill>
                <a:latin typeface="Noto Sans JP"/>
              </a:rPr>
              <a:t>テストセット</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819302"/>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810158"/>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61518"/>
            <a:ext cx="286206" cy="286207"/>
          </a:xfrm>
          <a:prstGeom prst="rect">
            <a:avLst/>
          </a:prstGeom>
          <a:ln/>
        </p:spPr>
      </p:pic>
      <p:sp>
        <p:nvSpPr>
          <p:cNvPr id="8" name="TextBox 7"/>
          <p:cNvSpPr txBox="1"/>
          <p:nvPr/>
        </p:nvSpPr>
        <p:spPr>
          <a:xfrm>
            <a:off x="895197" y="190195"/>
            <a:ext cx="2160726" cy="428853"/>
          </a:xfrm>
          <a:prstGeom prst="rect">
            <a:avLst/>
          </a:prstGeom>
          <a:noFill/>
          <a:ln/>
        </p:spPr>
        <p:txBody>
          <a:bodyPr wrap="square" lIns="0" rIns="0" tIns="0" bIns="0">
            <a:noAutofit/>
          </a:bodyPr>
          <a:lstStyle/>
          <a:p>
            <a:r>
              <a:rPr sz="2200" b="1">
                <a:solidFill>
                  <a:srgbClr val="1D1D1F"/>
                </a:solidFill>
                <a:latin typeface="Noto Sans JP"/>
              </a:rPr>
              <a:t>測定指標の定義</a:t>
            </a:r>
          </a:p>
        </p:txBody>
      </p:sp>
      <p:sp>
        <p:nvSpPr>
          <p:cNvPr id="9" name="TextBox 8"/>
          <p:cNvSpPr txBox="1"/>
          <p:nvPr/>
        </p:nvSpPr>
        <p:spPr>
          <a:xfrm>
            <a:off x="8549640" y="276149"/>
            <a:ext cx="3386022" cy="257860"/>
          </a:xfrm>
          <a:prstGeom prst="rect">
            <a:avLst/>
          </a:prstGeom>
          <a:noFill/>
          <a:ln/>
        </p:spPr>
        <p:txBody>
          <a:bodyPr wrap="square" lIns="0" rIns="0" tIns="0" bIns="0">
            <a:noAutofit/>
          </a:bodyPr>
          <a:lstStyle/>
          <a:p>
            <a:r>
              <a:rPr sz="1300">
                <a:solidFill>
                  <a:srgbClr val="86868B"/>
                </a:solidFill>
                <a:latin typeface="Noto Sans JP"/>
              </a:rPr>
              <a:t>p50/p95・TTFT・tok/s・RTF・品質指標</a:t>
            </a:r>
          </a:p>
        </p:txBody>
      </p:sp>
      <p:pic>
        <p:nvPicPr>
          <p:cNvPr id="10" name="Picture 9" descr="image.png"/>
          <p:cNvPicPr>
            <a:picLocks noChangeAspect="1"/>
          </p:cNvPicPr>
          <p:nvPr/>
        </p:nvPicPr>
        <p:blipFill>
          <a:blip r:embed="rId3"/>
          <a:stretch>
            <a:fillRect/>
          </a:stretch>
        </p:blipFill>
        <p:spPr>
          <a:xfrm>
            <a:off x="457200" y="1104595"/>
            <a:ext cx="11277295" cy="967434"/>
          </a:xfrm>
          <a:prstGeom prst="rect">
            <a:avLst/>
          </a:prstGeom>
          <a:ln/>
        </p:spPr>
      </p:pic>
      <p:sp>
        <p:nvSpPr>
          <p:cNvPr id="11" name="TextBox 10"/>
          <p:cNvSpPr txBox="1"/>
          <p:nvPr/>
        </p:nvSpPr>
        <p:spPr>
          <a:xfrm>
            <a:off x="705002" y="1295705"/>
            <a:ext cx="10918850" cy="590701"/>
          </a:xfrm>
          <a:prstGeom prst="rect">
            <a:avLst/>
          </a:prstGeom>
          <a:noFill/>
          <a:ln/>
        </p:spPr>
        <p:txBody>
          <a:bodyPr wrap="square" lIns="0" rIns="0" tIns="0" bIns="0">
            <a:noAutofit/>
          </a:bodyPr>
          <a:lstStyle/>
          <a:p>
            <a:r>
              <a:rPr sz="1600" b="1">
                <a:solidFill>
                  <a:srgbClr val="1D1D1F"/>
                </a:solidFill>
                <a:latin typeface="Noto Sans JP"/>
              </a:rPr>
              <a:t> 結論：LLMの「初速（TTFT）」と「生成速度（tok/s）」を分離して計測し、</a:t>
            </a:r>
          </a:p>
          <a:p>
            <a:r>
              <a:rPr sz="1600" b="1">
                <a:solidFill>
                  <a:srgbClr val="1D1D1F"/>
                </a:solidFill>
                <a:latin typeface="Noto Sans JP"/>
              </a:rPr>
              <a:t> 品質（JSON破壊率等）とリソース消費（RAM/VRAM）を定量化します。 </a:t>
            </a:r>
          </a:p>
        </p:txBody>
      </p:sp>
      <p:sp>
        <p:nvSpPr>
          <p:cNvPr id="12" name="Rectangle 11"/>
          <p:cNvSpPr/>
          <p:nvPr/>
        </p:nvSpPr>
        <p:spPr>
          <a:xfrm>
            <a:off x="457200"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543861"/>
            <a:ext cx="171906" cy="171906"/>
          </a:xfrm>
          <a:prstGeom prst="rect">
            <a:avLst/>
          </a:prstGeom>
          <a:ln/>
        </p:spPr>
      </p:pic>
      <p:sp>
        <p:nvSpPr>
          <p:cNvPr id="15" name="TextBox 14"/>
          <p:cNvSpPr txBox="1"/>
          <p:nvPr/>
        </p:nvSpPr>
        <p:spPr>
          <a:xfrm>
            <a:off x="923544" y="2500884"/>
            <a:ext cx="3600906" cy="372161"/>
          </a:xfrm>
          <a:prstGeom prst="rect">
            <a:avLst/>
          </a:prstGeom>
          <a:noFill/>
          <a:ln/>
        </p:spPr>
        <p:txBody>
          <a:bodyPr wrap="square" lIns="0" rIns="0" tIns="0" bIns="0">
            <a:noAutofit/>
          </a:bodyPr>
          <a:lstStyle/>
          <a:p>
            <a:r>
              <a:rPr sz="1300" b="1">
                <a:solidFill>
                  <a:srgbClr val="1D1D1F"/>
                </a:solidFill>
                <a:latin typeface="Noto Sans JP"/>
              </a:rPr>
              <a:t>速度・リソース指標（Latency &amp; Resource）</a:t>
            </a:r>
          </a:p>
        </p:txBody>
      </p:sp>
      <p:pic>
        <p:nvPicPr>
          <p:cNvPr id="16" name="Picture 15" descr="image.png"/>
          <p:cNvPicPr>
            <a:picLocks noChangeAspect="1"/>
          </p:cNvPicPr>
          <p:nvPr/>
        </p:nvPicPr>
        <p:blipFill>
          <a:blip r:embed="rId5"/>
          <a:stretch>
            <a:fillRect/>
          </a:stretch>
        </p:blipFill>
        <p:spPr>
          <a:xfrm>
            <a:off x="657454" y="3024835"/>
            <a:ext cx="105156" cy="114300"/>
          </a:xfrm>
          <a:prstGeom prst="rect">
            <a:avLst/>
          </a:prstGeom>
          <a:ln/>
        </p:spPr>
      </p:pic>
      <p:sp>
        <p:nvSpPr>
          <p:cNvPr id="17" name="TextBox 16"/>
          <p:cNvSpPr txBox="1"/>
          <p:nvPr/>
        </p:nvSpPr>
        <p:spPr>
          <a:xfrm>
            <a:off x="857707" y="3272638"/>
            <a:ext cx="5000854" cy="428853"/>
          </a:xfrm>
          <a:prstGeom prst="rect">
            <a:avLst/>
          </a:prstGeom>
          <a:noFill/>
          <a:ln/>
        </p:spPr>
        <p:txBody>
          <a:bodyPr wrap="square" lIns="0" rIns="0" tIns="0" bIns="0">
            <a:noAutofit/>
          </a:bodyPr>
          <a:lstStyle/>
          <a:p>
            <a:r>
              <a:rPr sz="1100">
                <a:solidFill>
                  <a:srgbClr val="424245"/>
                </a:solidFill>
                <a:latin typeface="Noto Sans JP"/>
              </a:rPr>
              <a:t>TTFT（Time To First Token）と生成完了時間を分離して計測。KV reuseやprompt cacheの効果はTTFTに現れるため分離が必須。</a:t>
            </a:r>
          </a:p>
        </p:txBody>
      </p:sp>
      <p:pic>
        <p:nvPicPr>
          <p:cNvPr id="18" name="Picture 17" descr="image.png"/>
          <p:cNvPicPr>
            <a:picLocks noChangeAspect="1"/>
          </p:cNvPicPr>
          <p:nvPr/>
        </p:nvPicPr>
        <p:blipFill>
          <a:blip r:embed="rId6"/>
          <a:stretch>
            <a:fillRect/>
          </a:stretch>
        </p:blipFill>
        <p:spPr>
          <a:xfrm>
            <a:off x="657454" y="3834994"/>
            <a:ext cx="114300" cy="114300"/>
          </a:xfrm>
          <a:prstGeom prst="rect">
            <a:avLst/>
          </a:prstGeom>
          <a:ln/>
        </p:spPr>
      </p:pic>
      <p:sp>
        <p:nvSpPr>
          <p:cNvPr id="19" name="TextBox 18"/>
          <p:cNvSpPr txBox="1"/>
          <p:nvPr/>
        </p:nvSpPr>
        <p:spPr>
          <a:xfrm>
            <a:off x="866850" y="4082796"/>
            <a:ext cx="4991710" cy="428853"/>
          </a:xfrm>
          <a:prstGeom prst="rect">
            <a:avLst/>
          </a:prstGeom>
          <a:noFill/>
          <a:ln/>
        </p:spPr>
        <p:txBody>
          <a:bodyPr wrap="square" lIns="0" rIns="0" tIns="0" bIns="0">
            <a:noAutofit/>
          </a:bodyPr>
          <a:lstStyle/>
          <a:p>
            <a:r>
              <a:rPr sz="1100">
                <a:solidFill>
                  <a:srgbClr val="424245"/>
                </a:solidFill>
                <a:latin typeface="Noto Sans JP"/>
              </a:rPr>
              <a:t>生成トークン数 ÷ 生成時間。ユーザーの体感速度やバッチ処理能力の指標。</a:t>
            </a:r>
          </a:p>
        </p:txBody>
      </p:sp>
      <p:pic>
        <p:nvPicPr>
          <p:cNvPr id="20" name="Picture 19" descr="image.png"/>
          <p:cNvPicPr>
            <a:picLocks noChangeAspect="1"/>
          </p:cNvPicPr>
          <p:nvPr/>
        </p:nvPicPr>
        <p:blipFill>
          <a:blip r:embed="rId7"/>
          <a:stretch>
            <a:fillRect/>
          </a:stretch>
        </p:blipFill>
        <p:spPr>
          <a:xfrm>
            <a:off x="657454" y="4644238"/>
            <a:ext cx="114300" cy="114300"/>
          </a:xfrm>
          <a:prstGeom prst="rect">
            <a:avLst/>
          </a:prstGeom>
          <a:ln/>
        </p:spPr>
      </p:pic>
      <p:sp>
        <p:nvSpPr>
          <p:cNvPr id="21" name="TextBox 20"/>
          <p:cNvSpPr txBox="1"/>
          <p:nvPr/>
        </p:nvSpPr>
        <p:spPr>
          <a:xfrm>
            <a:off x="866850" y="4892040"/>
            <a:ext cx="2572207" cy="467258"/>
          </a:xfrm>
          <a:prstGeom prst="rect">
            <a:avLst/>
          </a:prstGeom>
          <a:noFill/>
          <a:ln/>
        </p:spPr>
        <p:txBody>
          <a:bodyPr wrap="square" lIns="0" rIns="0" tIns="0" bIns="0">
            <a:noAutofit/>
          </a:bodyPr>
          <a:lstStyle/>
          <a:p>
            <a:r>
              <a:rPr sz="1100">
                <a:solidFill>
                  <a:srgbClr val="424245"/>
                </a:solidFill>
                <a:latin typeface="Noto Sans JP"/>
              </a:rPr>
              <a:t>ASR/TTS用指標。処理時間 ÷ 音声長。</a:t>
            </a:r>
          </a:p>
        </p:txBody>
      </p:sp>
      <p:pic>
        <p:nvPicPr>
          <p:cNvPr id="22" name="Picture 21" descr="image.png"/>
          <p:cNvPicPr>
            <a:picLocks noChangeAspect="1"/>
          </p:cNvPicPr>
          <p:nvPr/>
        </p:nvPicPr>
        <p:blipFill>
          <a:blip r:embed="rId8"/>
          <a:stretch>
            <a:fillRect/>
          </a:stretch>
        </p:blipFill>
        <p:spPr>
          <a:xfrm>
            <a:off x="866850" y="5144414"/>
            <a:ext cx="1742845" cy="209398"/>
          </a:xfrm>
          <a:prstGeom prst="rect">
            <a:avLst/>
          </a:prstGeom>
          <a:ln/>
        </p:spPr>
      </p:pic>
      <p:sp>
        <p:nvSpPr>
          <p:cNvPr id="23" name="TextBox 22"/>
          <p:cNvSpPr txBox="1"/>
          <p:nvPr/>
        </p:nvSpPr>
        <p:spPr>
          <a:xfrm>
            <a:off x="866850" y="5144414"/>
            <a:ext cx="1743761" cy="210312"/>
          </a:xfrm>
          <a:prstGeom prst="rect">
            <a:avLst/>
          </a:prstGeom>
          <a:noFill/>
          <a:ln>
            <a:solidFill>
              <a:srgbClr val="FFFFFF"/>
            </a:solidFill>
          </a:ln>
        </p:spPr>
        <p:txBody>
          <a:bodyPr wrap="square" lIns="0" rIns="0" tIns="0" bIns="0">
            <a:noAutofit/>
          </a:bodyPr>
          <a:lstStyle/>
          <a:p>
            <a:r>
              <a:rPr sz="900" b="1">
                <a:solidFill>
                  <a:srgbClr val="0369A1"/>
                </a:solidFill>
                <a:latin typeface="Noto Sans JP"/>
              </a:rPr>
              <a:t>RTF &lt; 1.0 なら実時間より高速</a:t>
            </a:r>
          </a:p>
        </p:txBody>
      </p:sp>
      <p:pic>
        <p:nvPicPr>
          <p:cNvPr id="24" name="Picture 23" descr="image.png"/>
          <p:cNvPicPr>
            <a:picLocks noChangeAspect="1"/>
          </p:cNvPicPr>
          <p:nvPr/>
        </p:nvPicPr>
        <p:blipFill>
          <a:blip r:embed="rId9"/>
          <a:stretch>
            <a:fillRect/>
          </a:stretch>
        </p:blipFill>
        <p:spPr>
          <a:xfrm>
            <a:off x="657454" y="5487314"/>
            <a:ext cx="133501" cy="114300"/>
          </a:xfrm>
          <a:prstGeom prst="rect">
            <a:avLst/>
          </a:prstGeom>
          <a:ln/>
        </p:spPr>
      </p:pic>
      <p:sp>
        <p:nvSpPr>
          <p:cNvPr id="25" name="TextBox 24"/>
          <p:cNvSpPr txBox="1"/>
          <p:nvPr/>
        </p:nvSpPr>
        <p:spPr>
          <a:xfrm>
            <a:off x="886054" y="5735117"/>
            <a:ext cx="4972507" cy="428853"/>
          </a:xfrm>
          <a:prstGeom prst="rect">
            <a:avLst/>
          </a:prstGeom>
          <a:noFill/>
          <a:ln/>
        </p:spPr>
        <p:txBody>
          <a:bodyPr wrap="square" lIns="0" rIns="0" tIns="0" bIns="0">
            <a:noAutofit/>
          </a:bodyPr>
          <a:lstStyle/>
          <a:p>
            <a:r>
              <a:rPr sz="1100">
                <a:solidFill>
                  <a:srgbClr val="424245"/>
                </a:solidFill>
                <a:latin typeface="Noto Sans JP"/>
              </a:rPr>
              <a:t>OS監視またはプロセス単位（nvidia-smi等）で計測。Apple Silicon等の統合メモリ環境ではシステム全体の圧迫度も注視。</a:t>
            </a:r>
          </a:p>
        </p:txBody>
      </p:sp>
      <p:sp>
        <p:nvSpPr>
          <p:cNvPr id="26" name="Rectangle 25"/>
          <p:cNvSpPr/>
          <p:nvPr/>
        </p:nvSpPr>
        <p:spPr>
          <a:xfrm>
            <a:off x="6210605" y="2301545"/>
            <a:ext cx="5524805" cy="4067251"/>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9944" y="2852928"/>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10"/>
          <a:stretch>
            <a:fillRect/>
          </a:stretch>
        </p:blipFill>
        <p:spPr>
          <a:xfrm>
            <a:off x="6409944" y="2543861"/>
            <a:ext cx="171907" cy="171906"/>
          </a:xfrm>
          <a:prstGeom prst="rect">
            <a:avLst/>
          </a:prstGeom>
          <a:ln/>
        </p:spPr>
      </p:pic>
      <p:sp>
        <p:nvSpPr>
          <p:cNvPr id="29" name="TextBox 28"/>
          <p:cNvSpPr txBox="1"/>
          <p:nvPr/>
        </p:nvSpPr>
        <p:spPr>
          <a:xfrm>
            <a:off x="6676949" y="2500884"/>
            <a:ext cx="3591763" cy="372161"/>
          </a:xfrm>
          <a:prstGeom prst="rect">
            <a:avLst/>
          </a:prstGeom>
          <a:noFill/>
          <a:ln/>
        </p:spPr>
        <p:txBody>
          <a:bodyPr wrap="square" lIns="0" rIns="0" tIns="0" bIns="0">
            <a:noAutofit/>
          </a:bodyPr>
          <a:lstStyle/>
          <a:p>
            <a:r>
              <a:rPr sz="1300" b="1">
                <a:solidFill>
                  <a:srgbClr val="1D1D1F"/>
                </a:solidFill>
                <a:latin typeface="Noto Sans JP"/>
              </a:rPr>
              <a:t>品質・堅牢性指標（Quality &amp; Robustness）</a:t>
            </a:r>
          </a:p>
        </p:txBody>
      </p:sp>
      <p:pic>
        <p:nvPicPr>
          <p:cNvPr id="30" name="Picture 29" descr="image.png"/>
          <p:cNvPicPr>
            <a:picLocks noChangeAspect="1"/>
          </p:cNvPicPr>
          <p:nvPr/>
        </p:nvPicPr>
        <p:blipFill>
          <a:blip r:embed="rId11"/>
          <a:stretch>
            <a:fillRect/>
          </a:stretch>
        </p:blipFill>
        <p:spPr>
          <a:xfrm>
            <a:off x="6409944" y="3024835"/>
            <a:ext cx="142645" cy="114300"/>
          </a:xfrm>
          <a:prstGeom prst="rect">
            <a:avLst/>
          </a:prstGeom>
          <a:ln/>
        </p:spPr>
      </p:pic>
      <p:sp>
        <p:nvSpPr>
          <p:cNvPr id="31" name="TextBox 30"/>
          <p:cNvSpPr txBox="1"/>
          <p:nvPr/>
        </p:nvSpPr>
        <p:spPr>
          <a:xfrm>
            <a:off x="6648602" y="3272638"/>
            <a:ext cx="4963363" cy="428853"/>
          </a:xfrm>
          <a:prstGeom prst="rect">
            <a:avLst/>
          </a:prstGeom>
          <a:noFill/>
          <a:ln/>
        </p:spPr>
        <p:txBody>
          <a:bodyPr wrap="square" lIns="0" rIns="0" tIns="0" bIns="0">
            <a:noAutofit/>
          </a:bodyPr>
          <a:lstStyle/>
          <a:p>
            <a:r>
              <a:rPr sz="1100">
                <a:solidFill>
                  <a:srgbClr val="424245"/>
                </a:solidFill>
                <a:latin typeface="Noto Sans JP"/>
              </a:rPr>
              <a:t>指定スキーマに対する「パース失敗」や「スキーマ不一致」の発生率。ツール呼び出し（Tool Use）の安定性を左右する重要指標。</a:t>
            </a:r>
          </a:p>
        </p:txBody>
      </p:sp>
      <p:pic>
        <p:nvPicPr>
          <p:cNvPr id="32" name="Picture 31" descr="image.png"/>
          <p:cNvPicPr>
            <a:picLocks noChangeAspect="1"/>
          </p:cNvPicPr>
          <p:nvPr/>
        </p:nvPicPr>
        <p:blipFill>
          <a:blip r:embed="rId12"/>
          <a:stretch>
            <a:fillRect/>
          </a:stretch>
        </p:blipFill>
        <p:spPr>
          <a:xfrm>
            <a:off x="6409944" y="3834994"/>
            <a:ext cx="142645" cy="114300"/>
          </a:xfrm>
          <a:prstGeom prst="rect">
            <a:avLst/>
          </a:prstGeom>
          <a:ln/>
        </p:spPr>
      </p:pic>
      <p:sp>
        <p:nvSpPr>
          <p:cNvPr id="33" name="TextBox 32"/>
          <p:cNvSpPr txBox="1"/>
          <p:nvPr/>
        </p:nvSpPr>
        <p:spPr>
          <a:xfrm>
            <a:off x="6648602" y="4082796"/>
            <a:ext cx="4963363" cy="428853"/>
          </a:xfrm>
          <a:prstGeom prst="rect">
            <a:avLst/>
          </a:prstGeom>
          <a:noFill/>
          <a:ln/>
        </p:spPr>
        <p:txBody>
          <a:bodyPr wrap="square" lIns="0" rIns="0" tIns="0" bIns="0">
            <a:noAutofit/>
          </a:bodyPr>
          <a:lstStyle/>
          <a:p>
            <a:r>
              <a:rPr sz="1100">
                <a:solidFill>
                  <a:srgbClr val="424245"/>
                </a:solidFill>
                <a:latin typeface="Noto Sans JP"/>
              </a:rPr>
              <a:t>要約やフォーマット変換において、元の意味が変わってしまった割合。Embedding類似度による自動評価＋人手監査で測定。</a:t>
            </a:r>
          </a:p>
        </p:txBody>
      </p:sp>
      <p:pic>
        <p:nvPicPr>
          <p:cNvPr id="34" name="Picture 33" descr="image.png"/>
          <p:cNvPicPr>
            <a:picLocks noChangeAspect="1"/>
          </p:cNvPicPr>
          <p:nvPr/>
        </p:nvPicPr>
        <p:blipFill>
          <a:blip r:embed="rId13"/>
          <a:stretch>
            <a:fillRect/>
          </a:stretch>
        </p:blipFill>
        <p:spPr>
          <a:xfrm>
            <a:off x="6409944" y="4644238"/>
            <a:ext cx="114300" cy="114300"/>
          </a:xfrm>
          <a:prstGeom prst="rect">
            <a:avLst/>
          </a:prstGeom>
          <a:ln/>
        </p:spPr>
      </p:pic>
      <p:sp>
        <p:nvSpPr>
          <p:cNvPr id="35" name="TextBox 34"/>
          <p:cNvSpPr txBox="1"/>
          <p:nvPr/>
        </p:nvSpPr>
        <p:spPr>
          <a:xfrm>
            <a:off x="6620256" y="4892040"/>
            <a:ext cx="4991710" cy="428853"/>
          </a:xfrm>
          <a:prstGeom prst="rect">
            <a:avLst/>
          </a:prstGeom>
          <a:noFill/>
          <a:ln/>
        </p:spPr>
        <p:txBody>
          <a:bodyPr wrap="square" lIns="0" rIns="0" tIns="0" bIns="0">
            <a:noAutofit/>
          </a:bodyPr>
          <a:lstStyle/>
          <a:p>
            <a:r>
              <a:rPr sz="1100">
                <a:solidFill>
                  <a:srgbClr val="424245"/>
                </a:solidFill>
                <a:latin typeface="Noto Sans JP"/>
              </a:rPr>
              <a:t>同一条件下（温度、シード等）での結果の安定性。推論ごとのブレ幅を確認。</a:t>
            </a:r>
          </a:p>
        </p:txBody>
      </p:sp>
      <p:sp>
        <p:nvSpPr>
          <p:cNvPr id="36" name="Rectangle 35"/>
          <p:cNvSpPr/>
          <p:nvPr/>
        </p:nvSpPr>
        <p:spPr>
          <a:xfrm>
            <a:off x="457200" y="6591910"/>
            <a:ext cx="11277295" cy="886054"/>
          </a:xfrm>
          <a:prstGeom prst="rect">
            <a:avLst/>
          </a:prstGeom>
          <a:solidFill>
            <a:srgbClr val="FFF8E6"/>
          </a:solidFill>
          <a:ln w="12700">
            <a:solidFill>
              <a:srgbClr val="FFEE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14"/>
          <a:stretch>
            <a:fillRect/>
          </a:stretch>
        </p:blipFill>
        <p:spPr>
          <a:xfrm>
            <a:off x="599846" y="6763816"/>
            <a:ext cx="152704" cy="152705"/>
          </a:xfrm>
          <a:prstGeom prst="rect">
            <a:avLst/>
          </a:prstGeom>
          <a:ln/>
        </p:spPr>
      </p:pic>
      <p:sp>
        <p:nvSpPr>
          <p:cNvPr id="38" name="TextBox 37"/>
          <p:cNvSpPr txBox="1"/>
          <p:nvPr/>
        </p:nvSpPr>
        <p:spPr>
          <a:xfrm>
            <a:off x="866850" y="6735470"/>
            <a:ext cx="10801807" cy="600760"/>
          </a:xfrm>
          <a:prstGeom prst="rect">
            <a:avLst/>
          </a:prstGeom>
          <a:noFill/>
          <a:ln/>
        </p:spPr>
        <p:txBody>
          <a:bodyPr wrap="square" lIns="0" rIns="0" tIns="0" bIns="0">
            <a:noAutofit/>
          </a:bodyPr>
          <a:lstStyle/>
          <a:p>
            <a:r>
              <a:rPr sz="1000" b="1">
                <a:solidFill>
                  <a:srgbClr val="78350F"/>
                </a:solidFill>
                <a:latin typeface="Noto Sans JP"/>
              </a:rPr>
              <a:t>測定上の注意（Apple Silicon）：</a:t>
            </a:r>
          </a:p>
          <a:p>
            <a:r>
              <a:rPr sz="1000">
                <a:solidFill>
                  <a:srgbClr val="78350F"/>
                </a:solidFill>
                <a:latin typeface="Noto Sans JP"/>
              </a:rPr>
              <a:t> Unified Memory環境では「VRAM」と「システムRAM」の境界が動的です。GPU使用量だけでなく、プロセス全体のResident Memory（物理メモリ使用量）を計測することで、実用的なメモリ圧迫度を評価します。</a:t>
            </a:r>
            <a:r>
              <a:rPr sz="1000">
                <a:solidFill>
                  <a:srgbClr val="78350F"/>
                </a:solidFill>
                <a:latin typeface="Noto Sans JP"/>
              </a:rPr>
              <a:t>[10][132]</a:t>
            </a:r>
          </a:p>
        </p:txBody>
      </p:sp>
      <p:sp>
        <p:nvSpPr>
          <p:cNvPr id="39" name="Rectangle 38"/>
          <p:cNvSpPr/>
          <p:nvPr/>
        </p:nvSpPr>
        <p:spPr>
          <a:xfrm>
            <a:off x="0" y="7764170"/>
            <a:ext cx="12191695" cy="18105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776417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7773314"/>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42" name="TextBox 41"/>
          <p:cNvSpPr txBox="1"/>
          <p:nvPr/>
        </p:nvSpPr>
        <p:spPr>
          <a:xfrm>
            <a:off x="11385194" y="7773314"/>
            <a:ext cx="428854" cy="171907"/>
          </a:xfrm>
          <a:prstGeom prst="rect">
            <a:avLst/>
          </a:prstGeom>
          <a:noFill/>
          <a:ln/>
        </p:spPr>
        <p:txBody>
          <a:bodyPr wrap="square" lIns="0" rIns="0" tIns="0" bIns="0">
            <a:noAutofit/>
          </a:bodyPr>
          <a:lstStyle/>
          <a:p>
            <a:r>
              <a:rPr sz="900">
                <a:solidFill>
                  <a:srgbClr val="86868B"/>
                </a:solidFill>
                <a:latin typeface="Noto Sans JP"/>
              </a:rPr>
              <a:t>72 / 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305" y="181051"/>
            <a:ext cx="6667805" cy="400506"/>
          </a:xfrm>
          <a:prstGeom prst="rect">
            <a:avLst/>
          </a:prstGeom>
          <a:noFill/>
          <a:ln/>
        </p:spPr>
        <p:txBody>
          <a:bodyPr wrap="square" lIns="0" rIns="0" tIns="0" bIns="0">
            <a:noAutofit/>
          </a:bodyPr>
          <a:lstStyle/>
          <a:p>
            <a:r>
              <a:rPr sz="2100" b="1">
                <a:solidFill>
                  <a:srgbClr val="FFFFFF"/>
                </a:solidFill>
                <a:latin typeface="Noto Sans JP"/>
              </a:rPr>
              <a:t>測定手順（条件固定・ウォームアップ・KV切り分け）</a:t>
            </a:r>
          </a:p>
        </p:txBody>
      </p:sp>
      <p:sp>
        <p:nvSpPr>
          <p:cNvPr id="7" name="TextBox 6"/>
          <p:cNvSpPr txBox="1"/>
          <p:nvPr/>
        </p:nvSpPr>
        <p:spPr>
          <a:xfrm>
            <a:off x="9068105" y="252374"/>
            <a:ext cx="2934310" cy="257860"/>
          </a:xfrm>
          <a:prstGeom prst="rect">
            <a:avLst/>
          </a:prstGeom>
          <a:noFill/>
          <a:ln/>
        </p:spPr>
        <p:txBody>
          <a:bodyPr wrap="square" lIns="0" rIns="0" tIns="0" bIns="0">
            <a:noAutofit/>
          </a:bodyPr>
          <a:lstStyle/>
          <a:p>
            <a:r>
              <a:rPr sz="1300">
                <a:solidFill>
                  <a:srgbClr val="A1A1A6"/>
                </a:solidFill>
                <a:latin typeface="Noto Sans JP"/>
              </a:rPr>
              <a:t>再現可能なベンチマーク設計の要件</a:t>
            </a:r>
          </a:p>
        </p:txBody>
      </p:sp>
      <p:sp>
        <p:nvSpPr>
          <p:cNvPr id="8" name="Rectangle 7"/>
          <p:cNvSpPr/>
          <p:nvPr/>
        </p:nvSpPr>
        <p:spPr>
          <a:xfrm>
            <a:off x="0" y="761695"/>
            <a:ext cx="12191695" cy="5724144"/>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1305"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6656"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 y="1438351"/>
            <a:ext cx="457200" cy="457200"/>
          </a:xfrm>
          <a:prstGeom prst="rect">
            <a:avLst/>
          </a:prstGeom>
          <a:solidFill>
            <a:srgbClr val="E3F2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771754" y="1533449"/>
            <a:ext cx="267004" cy="267005"/>
          </a:xfrm>
          <a:prstGeom prst="rect">
            <a:avLst/>
          </a:prstGeom>
          <a:ln/>
        </p:spPr>
      </p:pic>
      <p:sp>
        <p:nvSpPr>
          <p:cNvPr id="13" name="TextBox 12"/>
          <p:cNvSpPr txBox="1"/>
          <p:nvPr/>
        </p:nvSpPr>
        <p:spPr>
          <a:xfrm>
            <a:off x="1285646" y="1509674"/>
            <a:ext cx="1594714" cy="314554"/>
          </a:xfrm>
          <a:prstGeom prst="rect">
            <a:avLst/>
          </a:prstGeom>
          <a:noFill/>
          <a:ln/>
        </p:spPr>
        <p:txBody>
          <a:bodyPr wrap="square" lIns="0" rIns="0" tIns="0" bIns="0">
            <a:noAutofit/>
          </a:bodyPr>
          <a:lstStyle/>
          <a:p>
            <a:r>
              <a:rPr sz="1600" b="1">
                <a:solidFill>
                  <a:srgbClr val="1D1D1F"/>
                </a:solidFill>
                <a:latin typeface="Noto Sans JP"/>
              </a:rPr>
              <a:t>再現条件の固定</a:t>
            </a:r>
          </a:p>
        </p:txBody>
      </p:sp>
      <p:pic>
        <p:nvPicPr>
          <p:cNvPr id="14" name="Picture 13" descr="image.png"/>
          <p:cNvPicPr>
            <a:picLocks noChangeAspect="1"/>
          </p:cNvPicPr>
          <p:nvPr/>
        </p:nvPicPr>
        <p:blipFill>
          <a:blip r:embed="rId3"/>
          <a:stretch>
            <a:fillRect/>
          </a:stretch>
        </p:blipFill>
        <p:spPr>
          <a:xfrm>
            <a:off x="676656" y="2333549"/>
            <a:ext cx="152705" cy="152705"/>
          </a:xfrm>
          <a:prstGeom prst="rect">
            <a:avLst/>
          </a:prstGeom>
          <a:ln/>
        </p:spPr>
      </p:pic>
      <p:sp>
        <p:nvSpPr>
          <p:cNvPr id="15" name="TextBox 14"/>
          <p:cNvSpPr txBox="1"/>
          <p:nvPr/>
        </p:nvSpPr>
        <p:spPr>
          <a:xfrm>
            <a:off x="942746" y="2295144"/>
            <a:ext cx="4858207" cy="257861"/>
          </a:xfrm>
          <a:prstGeom prst="rect">
            <a:avLst/>
          </a:prstGeom>
          <a:noFill/>
          <a:ln/>
        </p:spPr>
        <p:txBody>
          <a:bodyPr wrap="square" lIns="0" rIns="0" tIns="0" bIns="0">
            <a:noAutofit/>
          </a:bodyPr>
          <a:lstStyle/>
          <a:p>
            <a:r>
              <a:rPr sz="1300" b="1">
                <a:solidFill>
                  <a:srgbClr val="1D1D1F"/>
                </a:solidFill>
                <a:latin typeface="Noto Sans JP"/>
              </a:rPr>
              <a:t>生成パラメータの統一</a:t>
            </a:r>
          </a:p>
        </p:txBody>
      </p:sp>
      <p:sp>
        <p:nvSpPr>
          <p:cNvPr id="16" name="TextBox 15"/>
          <p:cNvSpPr txBox="1"/>
          <p:nvPr/>
        </p:nvSpPr>
        <p:spPr>
          <a:xfrm>
            <a:off x="942746" y="2590495"/>
            <a:ext cx="4743907" cy="457200"/>
          </a:xfrm>
          <a:prstGeom prst="rect">
            <a:avLst/>
          </a:prstGeom>
          <a:noFill/>
          <a:ln/>
        </p:spPr>
        <p:txBody>
          <a:bodyPr wrap="square" lIns="0" rIns="0" tIns="0" bIns="0">
            <a:noAutofit/>
          </a:bodyPr>
          <a:lstStyle/>
          <a:p>
            <a:r>
              <a:rPr sz="1200">
                <a:solidFill>
                  <a:srgbClr val="424245"/>
                </a:solidFill>
                <a:latin typeface="Noto Sans JP"/>
              </a:rPr>
              <a:t>同一プロンプト、最大トークン数、温度（temperature）、top_p を固定し、ランダム性を排除または制御します。</a:t>
            </a:r>
          </a:p>
        </p:txBody>
      </p:sp>
      <p:pic>
        <p:nvPicPr>
          <p:cNvPr id="17" name="Picture 16" descr="image.png"/>
          <p:cNvPicPr>
            <a:picLocks noChangeAspect="1"/>
          </p:cNvPicPr>
          <p:nvPr/>
        </p:nvPicPr>
        <p:blipFill>
          <a:blip r:embed="rId3"/>
          <a:stretch>
            <a:fillRect/>
          </a:stretch>
        </p:blipFill>
        <p:spPr>
          <a:xfrm>
            <a:off x="676656" y="3276295"/>
            <a:ext cx="152705" cy="152705"/>
          </a:xfrm>
          <a:prstGeom prst="rect">
            <a:avLst/>
          </a:prstGeom>
          <a:ln/>
        </p:spPr>
      </p:pic>
      <p:sp>
        <p:nvSpPr>
          <p:cNvPr id="18" name="TextBox 17"/>
          <p:cNvSpPr txBox="1"/>
          <p:nvPr/>
        </p:nvSpPr>
        <p:spPr>
          <a:xfrm>
            <a:off x="942746" y="3238805"/>
            <a:ext cx="4858207" cy="257860"/>
          </a:xfrm>
          <a:prstGeom prst="rect">
            <a:avLst/>
          </a:prstGeom>
          <a:noFill/>
          <a:ln/>
        </p:spPr>
        <p:txBody>
          <a:bodyPr wrap="square" lIns="0" rIns="0" tIns="0" bIns="0">
            <a:noAutofit/>
          </a:bodyPr>
          <a:lstStyle/>
          <a:p>
            <a:r>
              <a:rPr sz="1300" b="1">
                <a:solidFill>
                  <a:srgbClr val="1D1D1F"/>
                </a:solidFill>
                <a:latin typeface="Noto Sans JP"/>
              </a:rPr>
              <a:t>モデル環境の固定</a:t>
            </a:r>
          </a:p>
        </p:txBody>
      </p:sp>
      <p:sp>
        <p:nvSpPr>
          <p:cNvPr id="19" name="TextBox 18"/>
          <p:cNvSpPr txBox="1"/>
          <p:nvPr/>
        </p:nvSpPr>
        <p:spPr>
          <a:xfrm>
            <a:off x="942746" y="3534155"/>
            <a:ext cx="4743907" cy="457200"/>
          </a:xfrm>
          <a:prstGeom prst="rect">
            <a:avLst/>
          </a:prstGeom>
          <a:noFill/>
          <a:ln/>
        </p:spPr>
        <p:txBody>
          <a:bodyPr wrap="square" lIns="0" rIns="0" tIns="0" bIns="0">
            <a:noAutofit/>
          </a:bodyPr>
          <a:lstStyle/>
          <a:p>
            <a:r>
              <a:rPr sz="1200">
                <a:solidFill>
                  <a:srgbClr val="424245"/>
                </a:solidFill>
                <a:latin typeface="Noto Sans JP"/>
              </a:rPr>
              <a:t>同一の量子化形式（GGUF Q4_K_Mなど）、コンテキスト長設定を使用します。</a:t>
            </a:r>
          </a:p>
        </p:txBody>
      </p:sp>
      <p:pic>
        <p:nvPicPr>
          <p:cNvPr id="20" name="Picture 19" descr="image.png"/>
          <p:cNvPicPr>
            <a:picLocks noChangeAspect="1"/>
          </p:cNvPicPr>
          <p:nvPr/>
        </p:nvPicPr>
        <p:blipFill>
          <a:blip r:embed="rId3"/>
          <a:stretch>
            <a:fillRect/>
          </a:stretch>
        </p:blipFill>
        <p:spPr>
          <a:xfrm>
            <a:off x="676656" y="4219956"/>
            <a:ext cx="152705" cy="152705"/>
          </a:xfrm>
          <a:prstGeom prst="rect">
            <a:avLst/>
          </a:prstGeom>
          <a:ln/>
        </p:spPr>
      </p:pic>
      <p:sp>
        <p:nvSpPr>
          <p:cNvPr id="21" name="TextBox 20"/>
          <p:cNvSpPr txBox="1"/>
          <p:nvPr/>
        </p:nvSpPr>
        <p:spPr>
          <a:xfrm>
            <a:off x="942746" y="4181551"/>
            <a:ext cx="4858207" cy="257860"/>
          </a:xfrm>
          <a:prstGeom prst="rect">
            <a:avLst/>
          </a:prstGeom>
          <a:noFill/>
          <a:ln/>
        </p:spPr>
        <p:txBody>
          <a:bodyPr wrap="square" lIns="0" rIns="0" tIns="0" bIns="0">
            <a:noAutofit/>
          </a:bodyPr>
          <a:lstStyle/>
          <a:p>
            <a:r>
              <a:rPr sz="1300" b="1">
                <a:solidFill>
                  <a:srgbClr val="1D1D1F"/>
                </a:solidFill>
                <a:latin typeface="Noto Sans JP"/>
              </a:rPr>
              <a:t>音声・画像系の前提</a:t>
            </a:r>
          </a:p>
        </p:txBody>
      </p:sp>
      <p:sp>
        <p:nvSpPr>
          <p:cNvPr id="22" name="TextBox 21"/>
          <p:cNvSpPr txBox="1"/>
          <p:nvPr/>
        </p:nvSpPr>
        <p:spPr>
          <a:xfrm>
            <a:off x="942746" y="4476902"/>
            <a:ext cx="4743907" cy="457200"/>
          </a:xfrm>
          <a:prstGeom prst="rect">
            <a:avLst/>
          </a:prstGeom>
          <a:noFill/>
          <a:ln/>
        </p:spPr>
        <p:txBody>
          <a:bodyPr wrap="square" lIns="0" rIns="0" tIns="0" bIns="0">
            <a:noAutofit/>
          </a:bodyPr>
          <a:lstStyle/>
          <a:p>
            <a:r>
              <a:rPr sz="1200">
                <a:solidFill>
                  <a:srgbClr val="424245"/>
                </a:solidFill>
                <a:latin typeface="Noto Sans JP"/>
              </a:rPr>
              <a:t>ASR/TTSは同一音声・同一前処理（VAD有無）、同一話者設定で品質と速度を分離測定します。</a:t>
            </a:r>
          </a:p>
        </p:txBody>
      </p:sp>
      <p:sp>
        <p:nvSpPr>
          <p:cNvPr id="23" name="Rectangle 22"/>
          <p:cNvSpPr/>
          <p:nvPr/>
        </p:nvSpPr>
        <p:spPr>
          <a:xfrm>
            <a:off x="676656" y="5124298"/>
            <a:ext cx="4934102" cy="685800"/>
          </a:xfrm>
          <a:prstGeom prst="rect">
            <a:avLst/>
          </a:prstGeom>
          <a:solidFill>
            <a:srgbClr val="E3F2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6656" y="5124298"/>
            <a:ext cx="38404" cy="685800"/>
          </a:xfrm>
          <a:prstGeom prst="rect">
            <a:avLst/>
          </a:prstGeom>
          <a:solidFill>
            <a:srgbClr val="007AFF"/>
          </a:solidFill>
          <a:ln w="12700">
            <a:solidFill>
              <a:srgbClr val="007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7105" y="5266944"/>
            <a:ext cx="4476902" cy="400506"/>
          </a:xfrm>
          <a:prstGeom prst="rect">
            <a:avLst/>
          </a:prstGeom>
          <a:noFill/>
          <a:ln/>
        </p:spPr>
        <p:txBody>
          <a:bodyPr wrap="square" lIns="0" rIns="0" tIns="0" bIns="0">
            <a:noAutofit/>
          </a:bodyPr>
          <a:lstStyle/>
          <a:p>
            <a:r>
              <a:rPr sz="1000" b="1">
                <a:solidFill>
                  <a:srgbClr val="0D47A1"/>
                </a:solidFill>
                <a:latin typeface="Noto Sans JP"/>
              </a:rPr>
              <a:t>Key Takeaway:</a:t>
            </a:r>
            <a:r>
              <a:rPr sz="1000">
                <a:solidFill>
                  <a:srgbClr val="0D47A1"/>
                </a:solidFill>
                <a:latin typeface="Noto Sans JP"/>
              </a:rPr>
              <a:t> 条件のわずかな違い（VAD有無など）が結果を大きく左右するため、メタデータとして全条件を記録します。 </a:t>
            </a:r>
          </a:p>
        </p:txBody>
      </p:sp>
      <p:pic>
        <p:nvPicPr>
          <p:cNvPr id="26" name="Picture 25" descr="image.png"/>
          <p:cNvPicPr>
            <a:picLocks noChangeAspect="1"/>
          </p:cNvPicPr>
          <p:nvPr/>
        </p:nvPicPr>
        <p:blipFill>
          <a:blip r:embed="rId4"/>
          <a:stretch>
            <a:fillRect/>
          </a:stretch>
        </p:blipFill>
        <p:spPr>
          <a:xfrm>
            <a:off x="857707" y="5302606"/>
            <a:ext cx="133502" cy="133501"/>
          </a:xfrm>
          <a:prstGeom prst="rect">
            <a:avLst/>
          </a:prstGeom>
          <a:ln/>
        </p:spPr>
      </p:pic>
      <p:sp>
        <p:nvSpPr>
          <p:cNvPr id="27" name="Rectangle 26"/>
          <p:cNvSpPr/>
          <p:nvPr/>
        </p:nvSpPr>
        <p:spPr>
          <a:xfrm>
            <a:off x="6286500" y="1143000"/>
            <a:ext cx="5524805" cy="4962449"/>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1851" y="2048256"/>
            <a:ext cx="4934102"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1851" y="1438351"/>
            <a:ext cx="457200" cy="457200"/>
          </a:xfrm>
          <a:prstGeom prst="rect">
            <a:avLst/>
          </a:prstGeom>
          <a:solidFill>
            <a:srgbClr val="F3E5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6691578" y="1533449"/>
            <a:ext cx="237744" cy="267005"/>
          </a:xfrm>
          <a:prstGeom prst="rect">
            <a:avLst/>
          </a:prstGeom>
          <a:ln/>
        </p:spPr>
      </p:pic>
      <p:sp>
        <p:nvSpPr>
          <p:cNvPr id="31" name="TextBox 30"/>
          <p:cNvSpPr txBox="1"/>
          <p:nvPr/>
        </p:nvSpPr>
        <p:spPr>
          <a:xfrm>
            <a:off x="7191756" y="1509674"/>
            <a:ext cx="924458" cy="314554"/>
          </a:xfrm>
          <a:prstGeom prst="rect">
            <a:avLst/>
          </a:prstGeom>
          <a:noFill/>
          <a:ln/>
        </p:spPr>
        <p:txBody>
          <a:bodyPr wrap="square" lIns="0" rIns="0" tIns="0" bIns="0">
            <a:noAutofit/>
          </a:bodyPr>
          <a:lstStyle/>
          <a:p>
            <a:r>
              <a:rPr sz="1600" b="1">
                <a:solidFill>
                  <a:srgbClr val="1D1D1F"/>
                </a:solidFill>
                <a:latin typeface="Noto Sans JP"/>
              </a:rPr>
              <a:t>測定手順</a:t>
            </a:r>
          </a:p>
        </p:txBody>
      </p:sp>
      <p:pic>
        <p:nvPicPr>
          <p:cNvPr id="32" name="Picture 31" descr="image.png"/>
          <p:cNvPicPr>
            <a:picLocks noChangeAspect="1"/>
          </p:cNvPicPr>
          <p:nvPr/>
        </p:nvPicPr>
        <p:blipFill>
          <a:blip r:embed="rId6"/>
          <a:stretch>
            <a:fillRect/>
          </a:stretch>
        </p:blipFill>
        <p:spPr>
          <a:xfrm>
            <a:off x="6581851" y="2333549"/>
            <a:ext cx="114300" cy="152705"/>
          </a:xfrm>
          <a:prstGeom prst="rect">
            <a:avLst/>
          </a:prstGeom>
          <a:ln/>
        </p:spPr>
      </p:pic>
      <p:sp>
        <p:nvSpPr>
          <p:cNvPr id="33" name="TextBox 32"/>
          <p:cNvSpPr txBox="1"/>
          <p:nvPr/>
        </p:nvSpPr>
        <p:spPr>
          <a:xfrm>
            <a:off x="6810451" y="2295144"/>
            <a:ext cx="4896612" cy="257861"/>
          </a:xfrm>
          <a:prstGeom prst="rect">
            <a:avLst/>
          </a:prstGeom>
          <a:noFill/>
          <a:ln/>
        </p:spPr>
        <p:txBody>
          <a:bodyPr wrap="square" lIns="0" rIns="0" tIns="0" bIns="0">
            <a:noAutofit/>
          </a:bodyPr>
          <a:lstStyle/>
          <a:p>
            <a:r>
              <a:rPr sz="1300" b="1">
                <a:solidFill>
                  <a:srgbClr val="1D1D1F"/>
                </a:solidFill>
                <a:latin typeface="Noto Sans JP"/>
              </a:rPr>
              <a:t>ウォームアップ分離</a:t>
            </a:r>
          </a:p>
        </p:txBody>
      </p:sp>
      <p:sp>
        <p:nvSpPr>
          <p:cNvPr id="34" name="TextBox 33"/>
          <p:cNvSpPr txBox="1"/>
          <p:nvPr/>
        </p:nvSpPr>
        <p:spPr>
          <a:xfrm>
            <a:off x="6810451" y="2590495"/>
            <a:ext cx="4782312" cy="457200"/>
          </a:xfrm>
          <a:prstGeom prst="rect">
            <a:avLst/>
          </a:prstGeom>
          <a:noFill/>
          <a:ln/>
        </p:spPr>
        <p:txBody>
          <a:bodyPr wrap="square" lIns="0" rIns="0" tIns="0" bIns="0">
            <a:noAutofit/>
          </a:bodyPr>
          <a:lstStyle/>
          <a:p>
            <a:r>
              <a:rPr sz="1200">
                <a:solidFill>
                  <a:srgbClr val="424245"/>
                </a:solidFill>
                <a:latin typeface="Noto Sans JP"/>
              </a:rPr>
              <a:t>初回ロード（モデル読込＋コンパイル）と2回目以降の推論を分離。常駐運用とオンデマンド運用の性能差を明確化します。</a:t>
            </a:r>
          </a:p>
        </p:txBody>
      </p:sp>
      <p:pic>
        <p:nvPicPr>
          <p:cNvPr id="35" name="Picture 34" descr="image.png"/>
          <p:cNvPicPr>
            <a:picLocks noChangeAspect="1"/>
          </p:cNvPicPr>
          <p:nvPr/>
        </p:nvPicPr>
        <p:blipFill>
          <a:blip r:embed="rId7"/>
          <a:stretch>
            <a:fillRect/>
          </a:stretch>
        </p:blipFill>
        <p:spPr>
          <a:xfrm>
            <a:off x="6581851" y="3276295"/>
            <a:ext cx="190194" cy="152705"/>
          </a:xfrm>
          <a:prstGeom prst="rect">
            <a:avLst/>
          </a:prstGeom>
          <a:ln/>
        </p:spPr>
      </p:pic>
      <p:sp>
        <p:nvSpPr>
          <p:cNvPr id="36" name="TextBox 35"/>
          <p:cNvSpPr txBox="1"/>
          <p:nvPr/>
        </p:nvSpPr>
        <p:spPr>
          <a:xfrm>
            <a:off x="6886345" y="3238805"/>
            <a:ext cx="4819801" cy="257860"/>
          </a:xfrm>
          <a:prstGeom prst="rect">
            <a:avLst/>
          </a:prstGeom>
          <a:noFill/>
          <a:ln/>
        </p:spPr>
        <p:txBody>
          <a:bodyPr wrap="square" lIns="0" rIns="0" tIns="0" bIns="0">
            <a:noAutofit/>
          </a:bodyPr>
          <a:lstStyle/>
          <a:p>
            <a:r>
              <a:rPr sz="1300" b="1">
                <a:solidFill>
                  <a:srgbClr val="1D1D1F"/>
                </a:solidFill>
                <a:latin typeface="Noto Sans JP"/>
              </a:rPr>
              <a:t>KV影響の切り分け</a:t>
            </a:r>
          </a:p>
        </p:txBody>
      </p:sp>
      <p:sp>
        <p:nvSpPr>
          <p:cNvPr id="37" name="TextBox 36"/>
          <p:cNvSpPr txBox="1"/>
          <p:nvPr/>
        </p:nvSpPr>
        <p:spPr>
          <a:xfrm>
            <a:off x="6886345" y="3534155"/>
            <a:ext cx="4705501" cy="457200"/>
          </a:xfrm>
          <a:prstGeom prst="rect">
            <a:avLst/>
          </a:prstGeom>
          <a:noFill/>
          <a:ln/>
        </p:spPr>
        <p:txBody>
          <a:bodyPr wrap="square" lIns="0" rIns="0" tIns="0" bIns="0">
            <a:noAutofit/>
          </a:bodyPr>
          <a:lstStyle/>
          <a:p>
            <a:r>
              <a:rPr sz="1200">
                <a:solidFill>
                  <a:srgbClr val="424245"/>
                </a:solidFill>
                <a:latin typeface="Noto Sans JP"/>
              </a:rPr>
              <a:t>短文（&lt;512 tokens）と長文（4k/8k/32k）を分けて測定し、paged/quantized KVの効果を評価します。</a:t>
            </a:r>
          </a:p>
        </p:txBody>
      </p:sp>
      <p:pic>
        <p:nvPicPr>
          <p:cNvPr id="38" name="Picture 37" descr="image.png"/>
          <p:cNvPicPr>
            <a:picLocks noChangeAspect="1"/>
          </p:cNvPicPr>
          <p:nvPr/>
        </p:nvPicPr>
        <p:blipFill>
          <a:blip r:embed="rId8"/>
          <a:stretch>
            <a:fillRect/>
          </a:stretch>
        </p:blipFill>
        <p:spPr>
          <a:xfrm>
            <a:off x="6581851" y="4219956"/>
            <a:ext cx="114300" cy="152705"/>
          </a:xfrm>
          <a:prstGeom prst="rect">
            <a:avLst/>
          </a:prstGeom>
          <a:ln/>
        </p:spPr>
      </p:pic>
      <p:sp>
        <p:nvSpPr>
          <p:cNvPr id="39" name="TextBox 38"/>
          <p:cNvSpPr txBox="1"/>
          <p:nvPr/>
        </p:nvSpPr>
        <p:spPr>
          <a:xfrm>
            <a:off x="6810451" y="4181551"/>
            <a:ext cx="4896612" cy="257860"/>
          </a:xfrm>
          <a:prstGeom prst="rect">
            <a:avLst/>
          </a:prstGeom>
          <a:noFill/>
          <a:ln/>
        </p:spPr>
        <p:txBody>
          <a:bodyPr wrap="square" lIns="0" rIns="0" tIns="0" bIns="0">
            <a:noAutofit/>
          </a:bodyPr>
          <a:lstStyle/>
          <a:p>
            <a:r>
              <a:rPr sz="1300" b="1">
                <a:solidFill>
                  <a:srgbClr val="1D1D1F"/>
                </a:solidFill>
                <a:latin typeface="Noto Sans JP"/>
              </a:rPr>
              <a:t>ログ保存要件</a:t>
            </a:r>
          </a:p>
        </p:txBody>
      </p:sp>
      <p:sp>
        <p:nvSpPr>
          <p:cNvPr id="40" name="TextBox 39"/>
          <p:cNvSpPr txBox="1"/>
          <p:nvPr/>
        </p:nvSpPr>
        <p:spPr>
          <a:xfrm>
            <a:off x="6810451" y="4476902"/>
            <a:ext cx="4782312" cy="457200"/>
          </a:xfrm>
          <a:prstGeom prst="rect">
            <a:avLst/>
          </a:prstGeom>
          <a:noFill/>
          <a:ln/>
        </p:spPr>
        <p:txBody>
          <a:bodyPr wrap="square" lIns="0" rIns="0" tIns="0" bIns="0">
            <a:noAutofit/>
          </a:bodyPr>
          <a:lstStyle/>
          <a:p>
            <a:r>
              <a:rPr sz="1200">
                <a:solidFill>
                  <a:srgbClr val="424245"/>
                </a:solidFill>
                <a:latin typeface="Noto Sans JP"/>
              </a:rPr>
              <a:t>モデルハッシュ、量子化方式、ランタイムVer、ハード情報（CPU命令、VRAM）を記録し、再現性を担保します。</a:t>
            </a:r>
          </a:p>
        </p:txBody>
      </p:sp>
      <p:sp>
        <p:nvSpPr>
          <p:cNvPr id="41" name="Rectangle 40"/>
          <p:cNvSpPr/>
          <p:nvPr/>
        </p:nvSpPr>
        <p:spPr>
          <a:xfrm>
            <a:off x="6581851" y="5124298"/>
            <a:ext cx="4934102" cy="504748"/>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9"/>
          <a:stretch>
            <a:fillRect/>
          </a:stretch>
        </p:blipFill>
        <p:spPr>
          <a:xfrm>
            <a:off x="7022592" y="5300777"/>
            <a:ext cx="152705" cy="152705"/>
          </a:xfrm>
          <a:prstGeom prst="rect">
            <a:avLst/>
          </a:prstGeom>
          <a:ln/>
        </p:spPr>
      </p:pic>
      <p:sp>
        <p:nvSpPr>
          <p:cNvPr id="43" name="TextBox 42"/>
          <p:cNvSpPr txBox="1"/>
          <p:nvPr/>
        </p:nvSpPr>
        <p:spPr>
          <a:xfrm>
            <a:off x="7251192" y="5277002"/>
            <a:ext cx="609905" cy="200253"/>
          </a:xfrm>
          <a:prstGeom prst="rect">
            <a:avLst/>
          </a:prstGeom>
          <a:noFill/>
          <a:ln/>
        </p:spPr>
        <p:txBody>
          <a:bodyPr wrap="square" lIns="0" rIns="0" tIns="0" bIns="0">
            <a:noAutofit/>
          </a:bodyPr>
          <a:lstStyle/>
          <a:p>
            <a:r>
              <a:rPr sz="1000">
                <a:solidFill>
                  <a:srgbClr val="1D1D1F"/>
                </a:solidFill>
                <a:latin typeface="Noto Sans JP"/>
              </a:rPr>
              <a:t>条件固定</a:t>
            </a:r>
          </a:p>
        </p:txBody>
      </p:sp>
      <p:pic>
        <p:nvPicPr>
          <p:cNvPr id="44" name="Picture 43" descr="image.png"/>
          <p:cNvPicPr>
            <a:picLocks noChangeAspect="1"/>
          </p:cNvPicPr>
          <p:nvPr/>
        </p:nvPicPr>
        <p:blipFill>
          <a:blip r:embed="rId10"/>
          <a:stretch>
            <a:fillRect/>
          </a:stretch>
        </p:blipFill>
        <p:spPr>
          <a:xfrm>
            <a:off x="8551469" y="5300777"/>
            <a:ext cx="114300" cy="152705"/>
          </a:xfrm>
          <a:prstGeom prst="rect">
            <a:avLst/>
          </a:prstGeom>
          <a:ln/>
        </p:spPr>
      </p:pic>
      <p:sp>
        <p:nvSpPr>
          <p:cNvPr id="45" name="TextBox 44"/>
          <p:cNvSpPr txBox="1"/>
          <p:nvPr/>
        </p:nvSpPr>
        <p:spPr>
          <a:xfrm>
            <a:off x="8741664" y="5277002"/>
            <a:ext cx="1010412" cy="200253"/>
          </a:xfrm>
          <a:prstGeom prst="rect">
            <a:avLst/>
          </a:prstGeom>
          <a:noFill/>
          <a:ln/>
        </p:spPr>
        <p:txBody>
          <a:bodyPr wrap="square" lIns="0" rIns="0" tIns="0" bIns="0">
            <a:noAutofit/>
          </a:bodyPr>
          <a:lstStyle/>
          <a:p>
            <a:r>
              <a:rPr sz="1000">
                <a:solidFill>
                  <a:srgbClr val="1D1D1F"/>
                </a:solidFill>
                <a:latin typeface="Noto Sans JP"/>
              </a:rPr>
              <a:t>ウォームアップ</a:t>
            </a:r>
          </a:p>
        </p:txBody>
      </p:sp>
      <p:pic>
        <p:nvPicPr>
          <p:cNvPr id="46" name="Picture 45" descr="image.png"/>
          <p:cNvPicPr>
            <a:picLocks noChangeAspect="1"/>
          </p:cNvPicPr>
          <p:nvPr/>
        </p:nvPicPr>
        <p:blipFill>
          <a:blip r:embed="rId11"/>
          <a:stretch>
            <a:fillRect/>
          </a:stretch>
        </p:blipFill>
        <p:spPr>
          <a:xfrm>
            <a:off x="10437876" y="5300777"/>
            <a:ext cx="133502" cy="152705"/>
          </a:xfrm>
          <a:prstGeom prst="rect">
            <a:avLst/>
          </a:prstGeom>
          <a:ln/>
        </p:spPr>
      </p:pic>
      <p:sp>
        <p:nvSpPr>
          <p:cNvPr id="47" name="TextBox 46"/>
          <p:cNvSpPr txBox="1"/>
          <p:nvPr/>
        </p:nvSpPr>
        <p:spPr>
          <a:xfrm>
            <a:off x="10647274" y="5277002"/>
            <a:ext cx="505663" cy="200253"/>
          </a:xfrm>
          <a:prstGeom prst="rect">
            <a:avLst/>
          </a:prstGeom>
          <a:noFill/>
          <a:ln/>
        </p:spPr>
        <p:txBody>
          <a:bodyPr wrap="square" lIns="0" rIns="0" tIns="0" bIns="0">
            <a:noAutofit/>
          </a:bodyPr>
          <a:lstStyle/>
          <a:p>
            <a:r>
              <a:rPr sz="1000">
                <a:solidFill>
                  <a:srgbClr val="1D1D1F"/>
                </a:solidFill>
                <a:latin typeface="Noto Sans JP"/>
              </a:rPr>
              <a:t>KV分離</a:t>
            </a:r>
          </a:p>
        </p:txBody>
      </p:sp>
      <p:pic>
        <p:nvPicPr>
          <p:cNvPr id="48" name="Picture 47" descr="image.png"/>
          <p:cNvPicPr>
            <a:picLocks noChangeAspect="1"/>
          </p:cNvPicPr>
          <p:nvPr/>
        </p:nvPicPr>
        <p:blipFill>
          <a:blip r:embed="rId12"/>
          <a:stretch>
            <a:fillRect/>
          </a:stretch>
        </p:blipFill>
        <p:spPr>
          <a:xfrm>
            <a:off x="0" y="6486754"/>
            <a:ext cx="12191695" cy="371246"/>
          </a:xfrm>
          <a:prstGeom prst="rect">
            <a:avLst/>
          </a:prstGeom>
          <a:ln/>
        </p:spPr>
      </p:pic>
      <p:sp>
        <p:nvSpPr>
          <p:cNvPr id="49" name="TextBox 48"/>
          <p:cNvSpPr txBox="1"/>
          <p:nvPr/>
        </p:nvSpPr>
        <p:spPr>
          <a:xfrm>
            <a:off x="0" y="6486754"/>
            <a:ext cx="12192610" cy="372161"/>
          </a:xfrm>
          <a:prstGeom prst="rect">
            <a:avLst/>
          </a:prstGeom>
          <a:noFill/>
          <a:ln>
            <a:solidFill>
              <a:srgbClr val="FFFFFF"/>
            </a:solidFill>
          </a:ln>
        </p:spPr>
        <p:txBody>
          <a:bodyPr wrap="square" lIns="0" rIns="0" tIns="0" bIns="0">
            <a:noAutofit/>
          </a:bodyPr>
          <a:lstStyle/>
          <a:p>
            <a:r>
              <a:rPr sz="900">
                <a:solidFill>
                  <a:srgbClr val="86868B"/>
                </a:solidFill>
                <a:latin typeface="Noto Sans JP"/>
              </a:rPr>
              <a:t>Page 73 | ローカルAI 技術調査レポート</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267005" cy="267004"/>
          </a:xfrm>
          <a:prstGeom prst="rect">
            <a:avLst/>
          </a:prstGeom>
          <a:ln/>
        </p:spPr>
      </p:pic>
      <p:sp>
        <p:nvSpPr>
          <p:cNvPr id="8" name="TextBox 7"/>
          <p:cNvSpPr txBox="1"/>
          <p:nvPr/>
        </p:nvSpPr>
        <p:spPr>
          <a:xfrm>
            <a:off x="875994" y="176479"/>
            <a:ext cx="3372307" cy="400507"/>
          </a:xfrm>
          <a:prstGeom prst="rect">
            <a:avLst/>
          </a:prstGeom>
          <a:noFill/>
          <a:ln/>
        </p:spPr>
        <p:txBody>
          <a:bodyPr wrap="square" lIns="0" rIns="0" tIns="0" bIns="0">
            <a:noAutofit/>
          </a:bodyPr>
          <a:lstStyle/>
          <a:p>
            <a:r>
              <a:rPr sz="2100" b="1">
                <a:solidFill>
                  <a:srgbClr val="1D1D1F"/>
                </a:solidFill>
                <a:latin typeface="Noto Sans JP"/>
              </a:rPr>
              <a:t>リスクとコンプライアンス</a:t>
            </a:r>
          </a:p>
        </p:txBody>
      </p:sp>
      <p:sp>
        <p:nvSpPr>
          <p:cNvPr id="9" name="TextBox 8"/>
          <p:cNvSpPr txBox="1"/>
          <p:nvPr/>
        </p:nvSpPr>
        <p:spPr>
          <a:xfrm>
            <a:off x="8693201" y="261518"/>
            <a:ext cx="3238805" cy="228600"/>
          </a:xfrm>
          <a:prstGeom prst="rect">
            <a:avLst/>
          </a:prstGeom>
          <a:noFill/>
          <a:ln/>
        </p:spPr>
        <p:txBody>
          <a:bodyPr wrap="square" lIns="0" rIns="0" tIns="0" bIns="0">
            <a:noAutofit/>
          </a:bodyPr>
          <a:lstStyle/>
          <a:p>
            <a:r>
              <a:rPr sz="1200">
                <a:solidFill>
                  <a:srgbClr val="86868B"/>
                </a:solidFill>
                <a:latin typeface="Noto Sans JP"/>
              </a:rPr>
              <a:t>ライセンス管理・プライバシー・安全性対策</a:t>
            </a:r>
          </a:p>
        </p:txBody>
      </p:sp>
      <p:sp>
        <p:nvSpPr>
          <p:cNvPr id="10" name="Rectangle 9"/>
          <p:cNvSpPr/>
          <p:nvPr/>
        </p:nvSpPr>
        <p:spPr>
          <a:xfrm>
            <a:off x="0" y="761695"/>
            <a:ext cx="12191695" cy="5715000"/>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457200" y="990294"/>
            <a:ext cx="11277295" cy="838505"/>
          </a:xfrm>
          <a:prstGeom prst="rect">
            <a:avLst/>
          </a:prstGeom>
          <a:ln/>
        </p:spPr>
      </p:pic>
      <p:sp>
        <p:nvSpPr>
          <p:cNvPr id="12" name="TextBox 11"/>
          <p:cNvSpPr txBox="1"/>
          <p:nvPr/>
        </p:nvSpPr>
        <p:spPr>
          <a:xfrm>
            <a:off x="743407" y="1143000"/>
            <a:ext cx="10840212" cy="534010"/>
          </a:xfrm>
          <a:prstGeom prst="rect">
            <a:avLst/>
          </a:prstGeom>
          <a:noFill/>
          <a:ln/>
        </p:spPr>
        <p:txBody>
          <a:bodyPr wrap="square" lIns="0" rIns="0" tIns="0" bIns="0">
            <a:noAutofit/>
          </a:bodyPr>
          <a:lstStyle/>
          <a:p>
            <a:r>
              <a:rPr sz="1500" b="1">
                <a:solidFill>
                  <a:srgbClr val="1D1D1F"/>
                </a:solidFill>
                <a:latin typeface="Noto Sans JP"/>
              </a:rPr>
              <a:t>結論：「コードのOSSライセンス」と「モデル重みの利用条件」を分離管理し、ローカル完結の利点を活かしつつ、検証ループによる安全性確保が必須です。</a:t>
            </a:r>
          </a:p>
        </p:txBody>
      </p:sp>
      <p:sp>
        <p:nvSpPr>
          <p:cNvPr id="13" name="Rectangle 12"/>
          <p:cNvSpPr/>
          <p:nvPr/>
        </p:nvSpPr>
        <p:spPr>
          <a:xfrm>
            <a:off x="457200" y="2095805"/>
            <a:ext cx="11277295" cy="14859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691994" y="2615184"/>
            <a:ext cx="105156" cy="171906"/>
          </a:xfrm>
          <a:prstGeom prst="rect">
            <a:avLst/>
          </a:prstGeom>
          <a:ln/>
        </p:spPr>
      </p:pic>
      <p:pic>
        <p:nvPicPr>
          <p:cNvPr id="15" name="Picture 14" descr="image.png"/>
          <p:cNvPicPr>
            <a:picLocks noChangeAspect="1"/>
          </p:cNvPicPr>
          <p:nvPr/>
        </p:nvPicPr>
        <p:blipFill>
          <a:blip r:embed="rId4"/>
          <a:stretch>
            <a:fillRect/>
          </a:stretch>
        </p:blipFill>
        <p:spPr>
          <a:xfrm>
            <a:off x="4926787" y="2615184"/>
            <a:ext cx="105155" cy="171906"/>
          </a:xfrm>
          <a:prstGeom prst="rect">
            <a:avLst/>
          </a:prstGeom>
          <a:ln/>
        </p:spPr>
      </p:pic>
      <p:pic>
        <p:nvPicPr>
          <p:cNvPr id="16" name="Picture 15" descr="image.png"/>
          <p:cNvPicPr>
            <a:picLocks noChangeAspect="1"/>
          </p:cNvPicPr>
          <p:nvPr/>
        </p:nvPicPr>
        <p:blipFill>
          <a:blip r:embed="rId4"/>
          <a:stretch>
            <a:fillRect/>
          </a:stretch>
        </p:blipFill>
        <p:spPr>
          <a:xfrm>
            <a:off x="7160666" y="2615184"/>
            <a:ext cx="105155" cy="171906"/>
          </a:xfrm>
          <a:prstGeom prst="rect">
            <a:avLst/>
          </a:prstGeom>
          <a:ln/>
        </p:spPr>
      </p:pic>
      <p:pic>
        <p:nvPicPr>
          <p:cNvPr id="17" name="Picture 16" descr="image.png"/>
          <p:cNvPicPr>
            <a:picLocks noChangeAspect="1"/>
          </p:cNvPicPr>
          <p:nvPr/>
        </p:nvPicPr>
        <p:blipFill>
          <a:blip r:embed="rId4"/>
          <a:stretch>
            <a:fillRect/>
          </a:stretch>
        </p:blipFill>
        <p:spPr>
          <a:xfrm>
            <a:off x="9395460" y="2615184"/>
            <a:ext cx="105155" cy="171906"/>
          </a:xfrm>
          <a:prstGeom prst="rect">
            <a:avLst/>
          </a:prstGeom>
          <a:ln/>
        </p:spPr>
      </p:pic>
      <p:sp>
        <p:nvSpPr>
          <p:cNvPr id="18" name="Rectangle 17"/>
          <p:cNvSpPr/>
          <p:nvPr/>
        </p:nvSpPr>
        <p:spPr>
          <a:xfrm>
            <a:off x="457200"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7454"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7454" y="4082796"/>
            <a:ext cx="304495" cy="304494"/>
          </a:xfrm>
          <a:prstGeom prst="rect">
            <a:avLst/>
          </a:prstGeom>
          <a:solidFill>
            <a:srgbClr val="007A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724205" y="4167835"/>
            <a:ext cx="171907" cy="133501"/>
          </a:xfrm>
          <a:prstGeom prst="rect">
            <a:avLst/>
          </a:prstGeom>
          <a:ln/>
        </p:spPr>
      </p:pic>
      <p:sp>
        <p:nvSpPr>
          <p:cNvPr id="22" name="TextBox 21"/>
          <p:cNvSpPr txBox="1"/>
          <p:nvPr/>
        </p:nvSpPr>
        <p:spPr>
          <a:xfrm>
            <a:off x="1057046" y="4120286"/>
            <a:ext cx="1152143" cy="228600"/>
          </a:xfrm>
          <a:prstGeom prst="rect">
            <a:avLst/>
          </a:prstGeom>
          <a:noFill/>
          <a:ln/>
        </p:spPr>
        <p:txBody>
          <a:bodyPr wrap="square" lIns="0" rIns="0" tIns="0" bIns="0">
            <a:noAutofit/>
          </a:bodyPr>
          <a:lstStyle/>
          <a:p>
            <a:r>
              <a:rPr sz="1200" b="1">
                <a:solidFill>
                  <a:srgbClr val="1D1D1F"/>
                </a:solidFill>
                <a:latin typeface="Noto Sans JP"/>
              </a:rPr>
              <a:t>ライセンス管理</a:t>
            </a:r>
          </a:p>
        </p:txBody>
      </p:sp>
      <p:pic>
        <p:nvPicPr>
          <p:cNvPr id="23" name="Picture 22" descr="image.png"/>
          <p:cNvPicPr>
            <a:picLocks noChangeAspect="1"/>
          </p:cNvPicPr>
          <p:nvPr/>
        </p:nvPicPr>
        <p:blipFill>
          <a:blip r:embed="rId6"/>
          <a:stretch>
            <a:fillRect/>
          </a:stretch>
        </p:blipFill>
        <p:spPr>
          <a:xfrm>
            <a:off x="657454" y="4646981"/>
            <a:ext cx="95098" cy="95098"/>
          </a:xfrm>
          <a:prstGeom prst="rect">
            <a:avLst/>
          </a:prstGeom>
          <a:ln/>
        </p:spPr>
      </p:pic>
      <p:sp>
        <p:nvSpPr>
          <p:cNvPr id="24" name="TextBox 23"/>
          <p:cNvSpPr txBox="1"/>
          <p:nvPr/>
        </p:nvSpPr>
        <p:spPr>
          <a:xfrm>
            <a:off x="752551" y="4773168"/>
            <a:ext cx="3219602" cy="562356"/>
          </a:xfrm>
          <a:prstGeom prst="rect">
            <a:avLst/>
          </a:prstGeom>
          <a:noFill/>
          <a:ln/>
        </p:spPr>
        <p:txBody>
          <a:bodyPr wrap="square" lIns="0" rIns="0" tIns="0" bIns="0">
            <a:noAutofit/>
          </a:bodyPr>
          <a:lstStyle/>
          <a:p>
            <a:r>
              <a:rPr sz="900" b="1">
                <a:solidFill>
                  <a:srgbClr val="1D1D1F"/>
                </a:solidFill>
                <a:latin typeface="Noto Sans JP"/>
              </a:rPr>
              <a:t>コードと重みの分離</a:t>
            </a:r>
          </a:p>
          <a:p>
            <a:r>
              <a:rPr sz="900">
                <a:solidFill>
                  <a:srgbClr val="424245"/>
                </a:solidFill>
                <a:latin typeface="Noto Sans JP"/>
              </a:rPr>
              <a:t> ランタイム(MIT/Apache)とモデル重み(Community/非商用)は別条件。利用範囲を台帳化する。 </a:t>
            </a:r>
          </a:p>
        </p:txBody>
      </p:sp>
      <p:pic>
        <p:nvPicPr>
          <p:cNvPr id="25" name="Picture 24" descr="image.png"/>
          <p:cNvPicPr>
            <a:picLocks noChangeAspect="1"/>
          </p:cNvPicPr>
          <p:nvPr/>
        </p:nvPicPr>
        <p:blipFill>
          <a:blip r:embed="rId6"/>
          <a:stretch>
            <a:fillRect/>
          </a:stretch>
        </p:blipFill>
        <p:spPr>
          <a:xfrm>
            <a:off x="657454" y="5484571"/>
            <a:ext cx="95098" cy="95098"/>
          </a:xfrm>
          <a:prstGeom prst="rect">
            <a:avLst/>
          </a:prstGeom>
          <a:ln/>
        </p:spPr>
      </p:pic>
      <p:sp>
        <p:nvSpPr>
          <p:cNvPr id="26" name="TextBox 25"/>
          <p:cNvSpPr txBox="1"/>
          <p:nvPr/>
        </p:nvSpPr>
        <p:spPr>
          <a:xfrm>
            <a:off x="752551" y="5610758"/>
            <a:ext cx="3219602" cy="562355"/>
          </a:xfrm>
          <a:prstGeom prst="rect">
            <a:avLst/>
          </a:prstGeom>
          <a:noFill/>
          <a:ln/>
        </p:spPr>
        <p:txBody>
          <a:bodyPr wrap="square" lIns="0" rIns="0" tIns="0" bIns="0">
            <a:noAutofit/>
          </a:bodyPr>
          <a:lstStyle/>
          <a:p>
            <a:r>
              <a:rPr sz="900" b="1">
                <a:solidFill>
                  <a:srgbClr val="1D1D1F"/>
                </a:solidFill>
                <a:latin typeface="Noto Sans JP"/>
              </a:rPr>
              <a:t>個別確認の義務化</a:t>
            </a:r>
          </a:p>
          <a:p>
            <a:r>
              <a:rPr sz="900">
                <a:solidFill>
                  <a:srgbClr val="424245"/>
                </a:solidFill>
                <a:latin typeface="Noto Sans JP"/>
              </a:rPr>
              <a:t> Qwen2.5のファミリー内例外</a:t>
            </a:r>
            <a:r>
              <a:rPr sz="900">
                <a:solidFill>
                  <a:srgbClr val="424245"/>
                </a:solidFill>
                <a:latin typeface="Noto Sans JP"/>
              </a:rPr>
              <a:t>や、FLUX.1-dev等の派生モデル条件を一次ソースで確認する。 </a:t>
            </a:r>
          </a:p>
        </p:txBody>
      </p:sp>
      <p:pic>
        <p:nvPicPr>
          <p:cNvPr id="27" name="Picture 26" descr="image.png"/>
          <p:cNvPicPr>
            <a:picLocks noChangeAspect="1"/>
          </p:cNvPicPr>
          <p:nvPr/>
        </p:nvPicPr>
        <p:blipFill>
          <a:blip r:embed="rId7"/>
          <a:stretch>
            <a:fillRect/>
          </a:stretch>
        </p:blipFill>
        <p:spPr>
          <a:xfrm>
            <a:off x="2316175" y="5815584"/>
            <a:ext cx="247801" cy="161848"/>
          </a:xfrm>
          <a:prstGeom prst="rect">
            <a:avLst/>
          </a:prstGeom>
          <a:ln/>
        </p:spPr>
      </p:pic>
      <p:sp>
        <p:nvSpPr>
          <p:cNvPr id="28" name="TextBox 27"/>
          <p:cNvSpPr txBox="1"/>
          <p:nvPr/>
        </p:nvSpPr>
        <p:spPr>
          <a:xfrm>
            <a:off x="2316175" y="5815584"/>
            <a:ext cx="247801" cy="162763"/>
          </a:xfrm>
          <a:prstGeom prst="rect">
            <a:avLst/>
          </a:prstGeom>
          <a:noFill/>
          <a:ln>
            <a:solidFill>
              <a:srgbClr val="FFFFFF"/>
            </a:solidFill>
          </a:ln>
        </p:spPr>
        <p:txBody>
          <a:bodyPr wrap="square" lIns="0" rIns="0" tIns="0" bIns="0">
            <a:noAutofit/>
          </a:bodyPr>
          <a:lstStyle/>
          <a:p>
            <a:r>
              <a:rPr sz="800">
                <a:solidFill>
                  <a:srgbClr val="636366"/>
                </a:solidFill>
                <a:latin typeface="Noto Sans JP"/>
              </a:rPr>
              <a:t>[33]</a:t>
            </a:r>
          </a:p>
        </p:txBody>
      </p:sp>
      <p:sp>
        <p:nvSpPr>
          <p:cNvPr id="29" name="Rectangle 28"/>
          <p:cNvSpPr/>
          <p:nvPr/>
        </p:nvSpPr>
        <p:spPr>
          <a:xfrm>
            <a:off x="4280306"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79646" y="4464101"/>
            <a:ext cx="3238804"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79646" y="4082796"/>
            <a:ext cx="304494" cy="304494"/>
          </a:xfrm>
          <a:prstGeom prst="rect">
            <a:avLst/>
          </a:prstGeom>
          <a:solidFill>
            <a:srgbClr val="34C75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8"/>
          <a:stretch>
            <a:fillRect/>
          </a:stretch>
        </p:blipFill>
        <p:spPr>
          <a:xfrm>
            <a:off x="4546397" y="4167835"/>
            <a:ext cx="171906" cy="133501"/>
          </a:xfrm>
          <a:prstGeom prst="rect">
            <a:avLst/>
          </a:prstGeom>
          <a:ln/>
        </p:spPr>
      </p:pic>
      <p:sp>
        <p:nvSpPr>
          <p:cNvPr id="33" name="TextBox 32"/>
          <p:cNvSpPr txBox="1"/>
          <p:nvPr/>
        </p:nvSpPr>
        <p:spPr>
          <a:xfrm>
            <a:off x="4880153" y="4120286"/>
            <a:ext cx="1481327" cy="228600"/>
          </a:xfrm>
          <a:prstGeom prst="rect">
            <a:avLst/>
          </a:prstGeom>
          <a:noFill/>
          <a:ln/>
        </p:spPr>
        <p:txBody>
          <a:bodyPr wrap="square" lIns="0" rIns="0" tIns="0" bIns="0">
            <a:noAutofit/>
          </a:bodyPr>
          <a:lstStyle/>
          <a:p>
            <a:r>
              <a:rPr sz="1200" b="1">
                <a:solidFill>
                  <a:srgbClr val="1D1D1F"/>
                </a:solidFill>
                <a:latin typeface="Noto Sans JP"/>
              </a:rPr>
              <a:t>プライバシー・安全</a:t>
            </a:r>
          </a:p>
        </p:txBody>
      </p:sp>
      <p:pic>
        <p:nvPicPr>
          <p:cNvPr id="34" name="Picture 33" descr="image.png"/>
          <p:cNvPicPr>
            <a:picLocks noChangeAspect="1"/>
          </p:cNvPicPr>
          <p:nvPr/>
        </p:nvPicPr>
        <p:blipFill>
          <a:blip r:embed="rId6"/>
          <a:stretch>
            <a:fillRect/>
          </a:stretch>
        </p:blipFill>
        <p:spPr>
          <a:xfrm>
            <a:off x="4479646" y="4646981"/>
            <a:ext cx="95098" cy="95098"/>
          </a:xfrm>
          <a:prstGeom prst="rect">
            <a:avLst/>
          </a:prstGeom>
          <a:ln/>
        </p:spPr>
      </p:pic>
      <p:sp>
        <p:nvSpPr>
          <p:cNvPr id="35" name="TextBox 34"/>
          <p:cNvSpPr txBox="1"/>
          <p:nvPr/>
        </p:nvSpPr>
        <p:spPr>
          <a:xfrm>
            <a:off x="4574743" y="4773168"/>
            <a:ext cx="3219602" cy="562356"/>
          </a:xfrm>
          <a:prstGeom prst="rect">
            <a:avLst/>
          </a:prstGeom>
          <a:noFill/>
          <a:ln/>
        </p:spPr>
        <p:txBody>
          <a:bodyPr wrap="square" lIns="0" rIns="0" tIns="0" bIns="0">
            <a:noAutofit/>
          </a:bodyPr>
          <a:lstStyle/>
          <a:p>
            <a:r>
              <a:rPr sz="900" b="1">
                <a:solidFill>
                  <a:srgbClr val="1D1D1F"/>
                </a:solidFill>
                <a:latin typeface="Noto Sans JP"/>
              </a:rPr>
              <a:t>ローカル完結の徹底</a:t>
            </a:r>
          </a:p>
          <a:p>
            <a:r>
              <a:rPr sz="900">
                <a:solidFill>
                  <a:srgbClr val="424245"/>
                </a:solidFill>
                <a:latin typeface="Noto Sans JP"/>
              </a:rPr>
              <a:t> 入力データがデフォルトで外部送信されない構成を物理/論理的に担保。LAN内APIも管理対象。 </a:t>
            </a:r>
          </a:p>
        </p:txBody>
      </p:sp>
      <p:pic>
        <p:nvPicPr>
          <p:cNvPr id="36" name="Picture 35" descr="image.png"/>
          <p:cNvPicPr>
            <a:picLocks noChangeAspect="1"/>
          </p:cNvPicPr>
          <p:nvPr/>
        </p:nvPicPr>
        <p:blipFill>
          <a:blip r:embed="rId6"/>
          <a:stretch>
            <a:fillRect/>
          </a:stretch>
        </p:blipFill>
        <p:spPr>
          <a:xfrm>
            <a:off x="4479646" y="5484571"/>
            <a:ext cx="95098" cy="95098"/>
          </a:xfrm>
          <a:prstGeom prst="rect">
            <a:avLst/>
          </a:prstGeom>
          <a:ln/>
        </p:spPr>
      </p:pic>
      <p:sp>
        <p:nvSpPr>
          <p:cNvPr id="37" name="TextBox 36"/>
          <p:cNvSpPr txBox="1"/>
          <p:nvPr/>
        </p:nvSpPr>
        <p:spPr>
          <a:xfrm>
            <a:off x="4574743" y="5610758"/>
            <a:ext cx="3219602" cy="562355"/>
          </a:xfrm>
          <a:prstGeom prst="rect">
            <a:avLst/>
          </a:prstGeom>
          <a:noFill/>
          <a:ln/>
        </p:spPr>
        <p:txBody>
          <a:bodyPr wrap="square" lIns="0" rIns="0" tIns="0" bIns="0">
            <a:noAutofit/>
          </a:bodyPr>
          <a:lstStyle/>
          <a:p>
            <a:r>
              <a:rPr sz="900" b="1">
                <a:solidFill>
                  <a:srgbClr val="1D1D1F"/>
                </a:solidFill>
                <a:latin typeface="Noto Sans JP"/>
              </a:rPr>
              <a:t>入力ガードレール</a:t>
            </a:r>
          </a:p>
          <a:p>
            <a:r>
              <a:rPr sz="900">
                <a:solidFill>
                  <a:srgbClr val="424245"/>
                </a:solidFill>
                <a:latin typeface="Noto Sans JP"/>
              </a:rPr>
              <a:t> プロンプトインジェクション対策やPII（個人情報）フィルタリングを前段に実装する。 </a:t>
            </a:r>
          </a:p>
        </p:txBody>
      </p:sp>
      <p:sp>
        <p:nvSpPr>
          <p:cNvPr id="38" name="Rectangle 37"/>
          <p:cNvSpPr/>
          <p:nvPr/>
        </p:nvSpPr>
        <p:spPr>
          <a:xfrm>
            <a:off x="8102497" y="3882541"/>
            <a:ext cx="3638398" cy="2486254"/>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02752" y="4464101"/>
            <a:ext cx="3238805" cy="9144"/>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02752" y="4082796"/>
            <a:ext cx="304494" cy="304494"/>
          </a:xfrm>
          <a:prstGeom prst="rect">
            <a:avLst/>
          </a:prstGeom>
          <a:solidFill>
            <a:srgbClr val="FF3B3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9"/>
          <a:stretch>
            <a:fillRect/>
          </a:stretch>
        </p:blipFill>
        <p:spPr>
          <a:xfrm>
            <a:off x="8402422" y="4167835"/>
            <a:ext cx="105155" cy="133501"/>
          </a:xfrm>
          <a:prstGeom prst="rect">
            <a:avLst/>
          </a:prstGeom>
          <a:ln/>
        </p:spPr>
      </p:pic>
      <p:sp>
        <p:nvSpPr>
          <p:cNvPr id="42" name="TextBox 41"/>
          <p:cNvSpPr txBox="1"/>
          <p:nvPr/>
        </p:nvSpPr>
        <p:spPr>
          <a:xfrm>
            <a:off x="8702345" y="4120286"/>
            <a:ext cx="1163116" cy="228600"/>
          </a:xfrm>
          <a:prstGeom prst="rect">
            <a:avLst/>
          </a:prstGeom>
          <a:noFill/>
          <a:ln/>
        </p:spPr>
        <p:txBody>
          <a:bodyPr wrap="square" lIns="0" rIns="0" tIns="0" bIns="0">
            <a:noAutofit/>
          </a:bodyPr>
          <a:lstStyle/>
          <a:p>
            <a:r>
              <a:rPr sz="1200" b="1">
                <a:solidFill>
                  <a:srgbClr val="1D1D1F"/>
                </a:solidFill>
                <a:latin typeface="Noto Sans JP"/>
              </a:rPr>
              <a:t>幻覚対策・監視</a:t>
            </a:r>
          </a:p>
        </p:txBody>
      </p:sp>
      <p:pic>
        <p:nvPicPr>
          <p:cNvPr id="43" name="Picture 42" descr="image.png"/>
          <p:cNvPicPr>
            <a:picLocks noChangeAspect="1"/>
          </p:cNvPicPr>
          <p:nvPr/>
        </p:nvPicPr>
        <p:blipFill>
          <a:blip r:embed="rId6"/>
          <a:stretch>
            <a:fillRect/>
          </a:stretch>
        </p:blipFill>
        <p:spPr>
          <a:xfrm>
            <a:off x="8302752" y="4646981"/>
            <a:ext cx="95097" cy="95098"/>
          </a:xfrm>
          <a:prstGeom prst="rect">
            <a:avLst/>
          </a:prstGeom>
          <a:ln/>
        </p:spPr>
      </p:pic>
      <p:sp>
        <p:nvSpPr>
          <p:cNvPr id="44" name="TextBox 43"/>
          <p:cNvSpPr txBox="1"/>
          <p:nvPr/>
        </p:nvSpPr>
        <p:spPr>
          <a:xfrm>
            <a:off x="8397850" y="4773168"/>
            <a:ext cx="3219602" cy="562356"/>
          </a:xfrm>
          <a:prstGeom prst="rect">
            <a:avLst/>
          </a:prstGeom>
          <a:noFill/>
          <a:ln/>
        </p:spPr>
        <p:txBody>
          <a:bodyPr wrap="square" lIns="0" rIns="0" tIns="0" bIns="0">
            <a:noAutofit/>
          </a:bodyPr>
          <a:lstStyle/>
          <a:p>
            <a:r>
              <a:rPr sz="900" b="1">
                <a:solidFill>
                  <a:srgbClr val="1D1D1F"/>
                </a:solidFill>
                <a:latin typeface="Noto Sans JP"/>
              </a:rPr>
              <a:t>検証ループの実装</a:t>
            </a:r>
          </a:p>
          <a:p>
            <a:r>
              <a:rPr sz="900">
                <a:solidFill>
                  <a:srgbClr val="424245"/>
                </a:solidFill>
                <a:latin typeface="Noto Sans JP"/>
              </a:rPr>
              <a:t> 生成コードの自動コンパイル/テスト実行や、RAG引用元の存在確認を自動化し、幻覚をフィルタする。 </a:t>
            </a:r>
          </a:p>
        </p:txBody>
      </p:sp>
      <p:pic>
        <p:nvPicPr>
          <p:cNvPr id="45" name="Picture 44" descr="image.png"/>
          <p:cNvPicPr>
            <a:picLocks noChangeAspect="1"/>
          </p:cNvPicPr>
          <p:nvPr/>
        </p:nvPicPr>
        <p:blipFill>
          <a:blip r:embed="rId6"/>
          <a:stretch>
            <a:fillRect/>
          </a:stretch>
        </p:blipFill>
        <p:spPr>
          <a:xfrm>
            <a:off x="8302752" y="5484571"/>
            <a:ext cx="95097" cy="95098"/>
          </a:xfrm>
          <a:prstGeom prst="rect">
            <a:avLst/>
          </a:prstGeom>
          <a:ln/>
        </p:spPr>
      </p:pic>
      <p:sp>
        <p:nvSpPr>
          <p:cNvPr id="46" name="TextBox 45"/>
          <p:cNvSpPr txBox="1"/>
          <p:nvPr/>
        </p:nvSpPr>
        <p:spPr>
          <a:xfrm>
            <a:off x="8397850" y="5610758"/>
            <a:ext cx="3219602" cy="562355"/>
          </a:xfrm>
          <a:prstGeom prst="rect">
            <a:avLst/>
          </a:prstGeom>
          <a:noFill/>
          <a:ln/>
        </p:spPr>
        <p:txBody>
          <a:bodyPr wrap="square" lIns="0" rIns="0" tIns="0" bIns="0">
            <a:noAutofit/>
          </a:bodyPr>
          <a:lstStyle/>
          <a:p>
            <a:r>
              <a:rPr sz="900" b="1">
                <a:solidFill>
                  <a:srgbClr val="1D1D1F"/>
                </a:solidFill>
                <a:latin typeface="Noto Sans JP"/>
              </a:rPr>
              <a:t>ログ監査</a:t>
            </a:r>
          </a:p>
          <a:p>
            <a:r>
              <a:rPr sz="900">
                <a:solidFill>
                  <a:srgbClr val="424245"/>
                </a:solidFill>
                <a:latin typeface="Noto Sans JP"/>
              </a:rPr>
              <a:t> 入出力、パラメータ、実行環境情報をログ保存し、事後監査や精度改善サイクルに活用する。 </a:t>
            </a:r>
          </a:p>
        </p:txBody>
      </p:sp>
      <p:pic>
        <p:nvPicPr>
          <p:cNvPr id="47" name="Picture 46" descr="image.png"/>
          <p:cNvPicPr>
            <a:picLocks noChangeAspect="1"/>
          </p:cNvPicPr>
          <p:nvPr/>
        </p:nvPicPr>
        <p:blipFill>
          <a:blip r:embed="rId10"/>
          <a:stretch>
            <a:fillRect/>
          </a:stretch>
        </p:blipFill>
        <p:spPr>
          <a:xfrm>
            <a:off x="0" y="6476695"/>
            <a:ext cx="12191695" cy="381305"/>
          </a:xfrm>
          <a:prstGeom prst="rect">
            <a:avLst/>
          </a:prstGeom>
          <a:ln/>
        </p:spPr>
      </p:pic>
      <p:sp>
        <p:nvSpPr>
          <p:cNvPr id="48" name="TextBox 47"/>
          <p:cNvSpPr txBox="1"/>
          <p:nvPr/>
        </p:nvSpPr>
        <p:spPr>
          <a:xfrm>
            <a:off x="0" y="6476695"/>
            <a:ext cx="12192610" cy="381305"/>
          </a:xfrm>
          <a:prstGeom prst="rect">
            <a:avLst/>
          </a:prstGeom>
          <a:noFill/>
          <a:ln w="12700">
            <a:solidFill>
              <a:srgbClr val="E5E5E5"/>
            </a:solidFill>
          </a:ln>
        </p:spPr>
        <p:txBody>
          <a:bodyPr wrap="square" lIns="0" rIns="0" tIns="0" bIns="0">
            <a:noAutofit/>
          </a:bodyPr>
          <a:lstStyle/>
          <a:p>
            <a:r>
              <a:rPr sz="900">
                <a:solidFill>
                  <a:srgbClr val="86868B"/>
                </a:solidFill>
                <a:latin typeface="Noto Sans JP"/>
              </a:rPr>
              <a:t>Page 74 | ローカルAI 技術調査レポート</a:t>
            </a:r>
          </a:p>
        </p:txBody>
      </p:sp>
      <p:pic>
        <p:nvPicPr>
          <p:cNvPr id="49" name="Picture 48" descr="image.png"/>
          <p:cNvPicPr>
            <a:picLocks noChangeAspect="1"/>
          </p:cNvPicPr>
          <p:nvPr/>
        </p:nvPicPr>
        <p:blipFill>
          <a:blip r:embed="rId11"/>
          <a:stretch>
            <a:fillRect/>
          </a:stretch>
        </p:blipFill>
        <p:spPr>
          <a:xfrm>
            <a:off x="1398118" y="2295144"/>
            <a:ext cx="457200" cy="457200"/>
          </a:xfrm>
          <a:prstGeom prst="rect">
            <a:avLst/>
          </a:prstGeom>
          <a:ln/>
        </p:spPr>
      </p:pic>
      <p:pic>
        <p:nvPicPr>
          <p:cNvPr id="50" name="Picture 49" descr="image.png"/>
          <p:cNvPicPr>
            <a:picLocks noChangeAspect="1"/>
          </p:cNvPicPr>
          <p:nvPr/>
        </p:nvPicPr>
        <p:blipFill>
          <a:blip r:embed="rId12"/>
          <a:stretch>
            <a:fillRect/>
          </a:stretch>
        </p:blipFill>
        <p:spPr>
          <a:xfrm>
            <a:off x="1555394" y="2428646"/>
            <a:ext cx="142645" cy="190194"/>
          </a:xfrm>
          <a:prstGeom prst="rect">
            <a:avLst/>
          </a:prstGeom>
          <a:ln/>
        </p:spPr>
      </p:pic>
      <p:sp>
        <p:nvSpPr>
          <p:cNvPr id="51" name="TextBox 50"/>
          <p:cNvSpPr txBox="1"/>
          <p:nvPr/>
        </p:nvSpPr>
        <p:spPr>
          <a:xfrm>
            <a:off x="1122883" y="2829154"/>
            <a:ext cx="1010411" cy="200254"/>
          </a:xfrm>
          <a:prstGeom prst="rect">
            <a:avLst/>
          </a:prstGeom>
          <a:noFill/>
          <a:ln/>
        </p:spPr>
        <p:txBody>
          <a:bodyPr wrap="square" lIns="0" rIns="0" tIns="0" bIns="0">
            <a:noAutofit/>
          </a:bodyPr>
          <a:lstStyle/>
          <a:p>
            <a:r>
              <a:rPr sz="1000" b="1">
                <a:solidFill>
                  <a:srgbClr val="1D1D1F"/>
                </a:solidFill>
                <a:latin typeface="Noto Sans JP"/>
              </a:rPr>
              <a:t>ライセンス確認</a:t>
            </a:r>
          </a:p>
        </p:txBody>
      </p:sp>
      <p:sp>
        <p:nvSpPr>
          <p:cNvPr id="52" name="TextBox 51"/>
          <p:cNvSpPr txBox="1"/>
          <p:nvPr/>
        </p:nvSpPr>
        <p:spPr>
          <a:xfrm>
            <a:off x="1231697" y="3105302"/>
            <a:ext cx="790956" cy="277063"/>
          </a:xfrm>
          <a:prstGeom prst="rect">
            <a:avLst/>
          </a:prstGeom>
          <a:noFill/>
          <a:ln/>
        </p:spPr>
        <p:txBody>
          <a:bodyPr wrap="square" lIns="0" rIns="0" tIns="0" bIns="0">
            <a:noAutofit/>
          </a:bodyPr>
          <a:lstStyle/>
          <a:p>
            <a:r>
              <a:rPr sz="800">
                <a:solidFill>
                  <a:srgbClr val="6E6E73"/>
                </a:solidFill>
                <a:latin typeface="Noto Sans JP"/>
              </a:rPr>
              <a:t>コードと重みを</a:t>
            </a:r>
          </a:p>
          <a:p>
            <a:r>
              <a:rPr sz="800">
                <a:solidFill>
                  <a:srgbClr val="6E6E73"/>
                </a:solidFill>
                <a:latin typeface="Noto Sans JP"/>
              </a:rPr>
              <a:t>分離して精査</a:t>
            </a:r>
          </a:p>
        </p:txBody>
      </p:sp>
      <p:pic>
        <p:nvPicPr>
          <p:cNvPr id="53" name="Picture 52" descr="image.png"/>
          <p:cNvPicPr>
            <a:picLocks noChangeAspect="1"/>
          </p:cNvPicPr>
          <p:nvPr/>
        </p:nvPicPr>
        <p:blipFill>
          <a:blip r:embed="rId13"/>
          <a:stretch>
            <a:fillRect/>
          </a:stretch>
        </p:blipFill>
        <p:spPr>
          <a:xfrm>
            <a:off x="3632910" y="2295144"/>
            <a:ext cx="457200" cy="457200"/>
          </a:xfrm>
          <a:prstGeom prst="rect">
            <a:avLst/>
          </a:prstGeom>
          <a:ln/>
        </p:spPr>
      </p:pic>
      <p:pic>
        <p:nvPicPr>
          <p:cNvPr id="54" name="Picture 53" descr="image.png"/>
          <p:cNvPicPr>
            <a:picLocks noChangeAspect="1"/>
          </p:cNvPicPr>
          <p:nvPr/>
        </p:nvPicPr>
        <p:blipFill>
          <a:blip r:embed="rId14"/>
          <a:stretch>
            <a:fillRect/>
          </a:stretch>
        </p:blipFill>
        <p:spPr>
          <a:xfrm>
            <a:off x="3751783" y="2428646"/>
            <a:ext cx="219456" cy="190194"/>
          </a:xfrm>
          <a:prstGeom prst="rect">
            <a:avLst/>
          </a:prstGeom>
          <a:ln/>
        </p:spPr>
      </p:pic>
      <p:sp>
        <p:nvSpPr>
          <p:cNvPr id="55" name="TextBox 54"/>
          <p:cNvSpPr txBox="1"/>
          <p:nvPr/>
        </p:nvSpPr>
        <p:spPr>
          <a:xfrm>
            <a:off x="3423514" y="2829154"/>
            <a:ext cx="876910" cy="200254"/>
          </a:xfrm>
          <a:prstGeom prst="rect">
            <a:avLst/>
          </a:prstGeom>
          <a:noFill/>
          <a:ln/>
        </p:spPr>
        <p:txBody>
          <a:bodyPr wrap="square" lIns="0" rIns="0" tIns="0" bIns="0">
            <a:noAutofit/>
          </a:bodyPr>
          <a:lstStyle/>
          <a:p>
            <a:r>
              <a:rPr sz="1000" b="1">
                <a:solidFill>
                  <a:srgbClr val="1D1D1F"/>
                </a:solidFill>
                <a:latin typeface="Noto Sans JP"/>
              </a:rPr>
              <a:t>商用利用判定</a:t>
            </a:r>
          </a:p>
        </p:txBody>
      </p:sp>
      <p:sp>
        <p:nvSpPr>
          <p:cNvPr id="56" name="TextBox 55"/>
          <p:cNvSpPr txBox="1"/>
          <p:nvPr/>
        </p:nvSpPr>
        <p:spPr>
          <a:xfrm>
            <a:off x="3374136" y="3105302"/>
            <a:ext cx="981151" cy="277063"/>
          </a:xfrm>
          <a:prstGeom prst="rect">
            <a:avLst/>
          </a:prstGeom>
          <a:noFill/>
          <a:ln/>
        </p:spPr>
        <p:txBody>
          <a:bodyPr wrap="square" lIns="0" rIns="0" tIns="0" bIns="0">
            <a:noAutofit/>
          </a:bodyPr>
          <a:lstStyle/>
          <a:p>
            <a:r>
              <a:rPr sz="800">
                <a:solidFill>
                  <a:srgbClr val="6E6E73"/>
                </a:solidFill>
                <a:latin typeface="Noto Sans JP"/>
              </a:rPr>
              <a:t>規約・例外条件</a:t>
            </a:r>
          </a:p>
          <a:p>
            <a:r>
              <a:rPr sz="800">
                <a:solidFill>
                  <a:srgbClr val="6E6E73"/>
                </a:solidFill>
                <a:latin typeface="Noto Sans JP"/>
              </a:rPr>
              <a:t>(Family内差分)確認</a:t>
            </a:r>
          </a:p>
        </p:txBody>
      </p:sp>
      <p:pic>
        <p:nvPicPr>
          <p:cNvPr id="57" name="Picture 56" descr="image.png"/>
          <p:cNvPicPr>
            <a:picLocks noChangeAspect="1"/>
          </p:cNvPicPr>
          <p:nvPr/>
        </p:nvPicPr>
        <p:blipFill>
          <a:blip r:embed="rId15"/>
          <a:stretch>
            <a:fillRect/>
          </a:stretch>
        </p:blipFill>
        <p:spPr>
          <a:xfrm>
            <a:off x="5867705" y="2295144"/>
            <a:ext cx="457200" cy="457200"/>
          </a:xfrm>
          <a:prstGeom prst="rect">
            <a:avLst/>
          </a:prstGeom>
          <a:ln/>
        </p:spPr>
      </p:pic>
      <p:pic>
        <p:nvPicPr>
          <p:cNvPr id="58" name="Picture 57" descr="image.png"/>
          <p:cNvPicPr>
            <a:picLocks noChangeAspect="1"/>
          </p:cNvPicPr>
          <p:nvPr/>
        </p:nvPicPr>
        <p:blipFill>
          <a:blip r:embed="rId16"/>
          <a:stretch>
            <a:fillRect/>
          </a:stretch>
        </p:blipFill>
        <p:spPr>
          <a:xfrm>
            <a:off x="5976518" y="2428646"/>
            <a:ext cx="237744" cy="190194"/>
          </a:xfrm>
          <a:prstGeom prst="rect">
            <a:avLst/>
          </a:prstGeom>
          <a:ln/>
        </p:spPr>
      </p:pic>
      <p:sp>
        <p:nvSpPr>
          <p:cNvPr id="59" name="TextBox 58"/>
          <p:cNvSpPr txBox="1"/>
          <p:nvPr/>
        </p:nvSpPr>
        <p:spPr>
          <a:xfrm>
            <a:off x="5658307" y="2829154"/>
            <a:ext cx="876909" cy="200254"/>
          </a:xfrm>
          <a:prstGeom prst="rect">
            <a:avLst/>
          </a:prstGeom>
          <a:noFill/>
          <a:ln/>
        </p:spPr>
        <p:txBody>
          <a:bodyPr wrap="square" lIns="0" rIns="0" tIns="0" bIns="0">
            <a:noAutofit/>
          </a:bodyPr>
          <a:lstStyle/>
          <a:p>
            <a:r>
              <a:rPr sz="1000" b="1">
                <a:solidFill>
                  <a:srgbClr val="1D1D1F"/>
                </a:solidFill>
                <a:latin typeface="Noto Sans JP"/>
              </a:rPr>
              <a:t>ローカル完結</a:t>
            </a:r>
          </a:p>
        </p:txBody>
      </p:sp>
      <p:sp>
        <p:nvSpPr>
          <p:cNvPr id="60" name="TextBox 59"/>
          <p:cNvSpPr txBox="1"/>
          <p:nvPr/>
        </p:nvSpPr>
        <p:spPr>
          <a:xfrm>
            <a:off x="5649163" y="3105302"/>
            <a:ext cx="896111" cy="277063"/>
          </a:xfrm>
          <a:prstGeom prst="rect">
            <a:avLst/>
          </a:prstGeom>
          <a:noFill/>
          <a:ln/>
        </p:spPr>
        <p:txBody>
          <a:bodyPr wrap="square" lIns="0" rIns="0" tIns="0" bIns="0">
            <a:noAutofit/>
          </a:bodyPr>
          <a:lstStyle/>
          <a:p>
            <a:r>
              <a:rPr sz="800">
                <a:solidFill>
                  <a:srgbClr val="6E6E73"/>
                </a:solidFill>
                <a:latin typeface="Noto Sans JP"/>
              </a:rPr>
              <a:t>データ送信遮断</a:t>
            </a:r>
          </a:p>
          <a:p>
            <a:r>
              <a:rPr sz="800">
                <a:solidFill>
                  <a:srgbClr val="6E6E73"/>
                </a:solidFill>
                <a:latin typeface="Noto Sans JP"/>
              </a:rPr>
              <a:t>プライバシー保護</a:t>
            </a:r>
          </a:p>
        </p:txBody>
      </p:sp>
      <p:pic>
        <p:nvPicPr>
          <p:cNvPr id="61" name="Picture 60" descr="image.png"/>
          <p:cNvPicPr>
            <a:picLocks noChangeAspect="1"/>
          </p:cNvPicPr>
          <p:nvPr/>
        </p:nvPicPr>
        <p:blipFill>
          <a:blip r:embed="rId17"/>
          <a:stretch>
            <a:fillRect/>
          </a:stretch>
        </p:blipFill>
        <p:spPr>
          <a:xfrm>
            <a:off x="8101583" y="2295144"/>
            <a:ext cx="457200" cy="457200"/>
          </a:xfrm>
          <a:prstGeom prst="rect">
            <a:avLst/>
          </a:prstGeom>
          <a:ln/>
        </p:spPr>
      </p:pic>
      <p:pic>
        <p:nvPicPr>
          <p:cNvPr id="62" name="Picture 61" descr="image.png"/>
          <p:cNvPicPr>
            <a:picLocks noChangeAspect="1"/>
          </p:cNvPicPr>
          <p:nvPr/>
        </p:nvPicPr>
        <p:blipFill>
          <a:blip r:embed="rId18"/>
          <a:stretch>
            <a:fillRect/>
          </a:stretch>
        </p:blipFill>
        <p:spPr>
          <a:xfrm>
            <a:off x="8235086" y="2428646"/>
            <a:ext cx="190194" cy="190194"/>
          </a:xfrm>
          <a:prstGeom prst="rect">
            <a:avLst/>
          </a:prstGeom>
          <a:ln/>
        </p:spPr>
      </p:pic>
      <p:sp>
        <p:nvSpPr>
          <p:cNvPr id="63" name="TextBox 62"/>
          <p:cNvSpPr txBox="1"/>
          <p:nvPr/>
        </p:nvSpPr>
        <p:spPr>
          <a:xfrm>
            <a:off x="7962595" y="2829154"/>
            <a:ext cx="743407" cy="200254"/>
          </a:xfrm>
          <a:prstGeom prst="rect">
            <a:avLst/>
          </a:prstGeom>
          <a:noFill/>
          <a:ln/>
        </p:spPr>
        <p:txBody>
          <a:bodyPr wrap="square" lIns="0" rIns="0" tIns="0" bIns="0">
            <a:noAutofit/>
          </a:bodyPr>
          <a:lstStyle/>
          <a:p>
            <a:r>
              <a:rPr sz="1000" b="1">
                <a:solidFill>
                  <a:srgbClr val="1D1D1F"/>
                </a:solidFill>
                <a:latin typeface="Noto Sans JP"/>
              </a:rPr>
              <a:t>検証ループ</a:t>
            </a:r>
          </a:p>
        </p:txBody>
      </p:sp>
      <p:sp>
        <p:nvSpPr>
          <p:cNvPr id="64" name="TextBox 63"/>
          <p:cNvSpPr txBox="1"/>
          <p:nvPr/>
        </p:nvSpPr>
        <p:spPr>
          <a:xfrm>
            <a:off x="7987283" y="3105302"/>
            <a:ext cx="685800" cy="277063"/>
          </a:xfrm>
          <a:prstGeom prst="rect">
            <a:avLst/>
          </a:prstGeom>
          <a:noFill/>
          <a:ln/>
        </p:spPr>
        <p:txBody>
          <a:bodyPr wrap="square" lIns="0" rIns="0" tIns="0" bIns="0">
            <a:noAutofit/>
          </a:bodyPr>
          <a:lstStyle/>
          <a:p>
            <a:r>
              <a:rPr sz="800">
                <a:solidFill>
                  <a:srgbClr val="6E6E73"/>
                </a:solidFill>
                <a:latin typeface="Noto Sans JP"/>
              </a:rPr>
              <a:t>幻覚・攻撃の</a:t>
            </a:r>
          </a:p>
          <a:p>
            <a:r>
              <a:rPr sz="800">
                <a:solidFill>
                  <a:srgbClr val="6E6E73"/>
                </a:solidFill>
                <a:latin typeface="Noto Sans JP"/>
              </a:rPr>
              <a:t>自動検知</a:t>
            </a:r>
          </a:p>
        </p:txBody>
      </p:sp>
      <p:pic>
        <p:nvPicPr>
          <p:cNvPr id="65" name="Picture 64" descr="image.png"/>
          <p:cNvPicPr>
            <a:picLocks noChangeAspect="1"/>
          </p:cNvPicPr>
          <p:nvPr/>
        </p:nvPicPr>
        <p:blipFill>
          <a:blip r:embed="rId19"/>
          <a:stretch>
            <a:fillRect/>
          </a:stretch>
        </p:blipFill>
        <p:spPr>
          <a:xfrm>
            <a:off x="10336378" y="2295144"/>
            <a:ext cx="457200" cy="457200"/>
          </a:xfrm>
          <a:prstGeom prst="rect">
            <a:avLst/>
          </a:prstGeom>
          <a:ln/>
        </p:spPr>
      </p:pic>
      <p:pic>
        <p:nvPicPr>
          <p:cNvPr id="66" name="Picture 65" descr="image.png"/>
          <p:cNvPicPr>
            <a:picLocks noChangeAspect="1"/>
          </p:cNvPicPr>
          <p:nvPr/>
        </p:nvPicPr>
        <p:blipFill>
          <a:blip r:embed="rId20"/>
          <a:stretch>
            <a:fillRect/>
          </a:stretch>
        </p:blipFill>
        <p:spPr>
          <a:xfrm>
            <a:off x="10455250" y="2428646"/>
            <a:ext cx="219455" cy="190194"/>
          </a:xfrm>
          <a:prstGeom prst="rect">
            <a:avLst/>
          </a:prstGeom>
          <a:ln/>
        </p:spPr>
      </p:pic>
      <p:sp>
        <p:nvSpPr>
          <p:cNvPr id="67" name="TextBox 66"/>
          <p:cNvSpPr txBox="1"/>
          <p:nvPr/>
        </p:nvSpPr>
        <p:spPr>
          <a:xfrm>
            <a:off x="10260482" y="2829154"/>
            <a:ext cx="609905" cy="200254"/>
          </a:xfrm>
          <a:prstGeom prst="rect">
            <a:avLst/>
          </a:prstGeom>
          <a:noFill/>
          <a:ln/>
        </p:spPr>
        <p:txBody>
          <a:bodyPr wrap="square" lIns="0" rIns="0" tIns="0" bIns="0">
            <a:noAutofit/>
          </a:bodyPr>
          <a:lstStyle/>
          <a:p>
            <a:r>
              <a:rPr sz="1000" b="1">
                <a:solidFill>
                  <a:srgbClr val="1D1D1F"/>
                </a:solidFill>
                <a:latin typeface="Noto Sans JP"/>
              </a:rPr>
              <a:t>継続監視</a:t>
            </a:r>
          </a:p>
        </p:txBody>
      </p:sp>
      <p:sp>
        <p:nvSpPr>
          <p:cNvPr id="68" name="TextBox 67"/>
          <p:cNvSpPr txBox="1"/>
          <p:nvPr/>
        </p:nvSpPr>
        <p:spPr>
          <a:xfrm>
            <a:off x="10224821" y="3105302"/>
            <a:ext cx="685800" cy="277063"/>
          </a:xfrm>
          <a:prstGeom prst="rect">
            <a:avLst/>
          </a:prstGeom>
          <a:noFill/>
          <a:ln/>
        </p:spPr>
        <p:txBody>
          <a:bodyPr wrap="square" lIns="0" rIns="0" tIns="0" bIns="0">
            <a:noAutofit/>
          </a:bodyPr>
          <a:lstStyle/>
          <a:p>
            <a:r>
              <a:rPr sz="800">
                <a:solidFill>
                  <a:srgbClr val="6E6E73"/>
                </a:solidFill>
                <a:latin typeface="Noto Sans JP"/>
              </a:rPr>
              <a:t>ログ監査と</a:t>
            </a:r>
          </a:p>
          <a:p>
            <a:r>
              <a:rPr sz="800">
                <a:solidFill>
                  <a:srgbClr val="6E6E73"/>
                </a:solidFill>
                <a:latin typeface="Noto Sans JP"/>
              </a:rPr>
              <a:t>是正サイクル</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76169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75255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243230"/>
            <a:ext cx="304495" cy="267004"/>
          </a:xfrm>
          <a:prstGeom prst="rect">
            <a:avLst/>
          </a:prstGeom>
          <a:ln/>
        </p:spPr>
      </p:pic>
      <p:sp>
        <p:nvSpPr>
          <p:cNvPr id="8" name="TextBox 7"/>
          <p:cNvSpPr txBox="1"/>
          <p:nvPr/>
        </p:nvSpPr>
        <p:spPr>
          <a:xfrm>
            <a:off x="914400" y="176479"/>
            <a:ext cx="3400654" cy="400507"/>
          </a:xfrm>
          <a:prstGeom prst="rect">
            <a:avLst/>
          </a:prstGeom>
          <a:noFill/>
          <a:ln/>
        </p:spPr>
        <p:txBody>
          <a:bodyPr wrap="square" lIns="0" rIns="0" tIns="0" bIns="0">
            <a:noAutofit/>
          </a:bodyPr>
          <a:lstStyle/>
          <a:p>
            <a:r>
              <a:rPr sz="2100" b="1">
                <a:solidFill>
                  <a:srgbClr val="1D1D1F"/>
                </a:solidFill>
                <a:latin typeface="Noto Sans JP"/>
              </a:rPr>
              <a:t>まとめ（意思決定フロー）</a:t>
            </a:r>
          </a:p>
        </p:txBody>
      </p:sp>
      <p:sp>
        <p:nvSpPr>
          <p:cNvPr id="9" name="TextBox 8"/>
          <p:cNvSpPr txBox="1"/>
          <p:nvPr/>
        </p:nvSpPr>
        <p:spPr>
          <a:xfrm>
            <a:off x="9067190" y="261518"/>
            <a:ext cx="2867558" cy="228600"/>
          </a:xfrm>
          <a:prstGeom prst="rect">
            <a:avLst/>
          </a:prstGeom>
          <a:noFill/>
          <a:ln/>
        </p:spPr>
        <p:txBody>
          <a:bodyPr wrap="square" lIns="0" rIns="0" tIns="0" bIns="0">
            <a:noAutofit/>
          </a:bodyPr>
          <a:lstStyle/>
          <a:p>
            <a:r>
              <a:rPr sz="1200">
                <a:solidFill>
                  <a:srgbClr val="86868B"/>
                </a:solidFill>
                <a:latin typeface="Noto Sans JP"/>
              </a:rPr>
              <a:t>ローカルAI導入の5ステップと判断基準</a:t>
            </a:r>
          </a:p>
        </p:txBody>
      </p:sp>
      <p:sp>
        <p:nvSpPr>
          <p:cNvPr id="10" name="Rectangle 9"/>
          <p:cNvSpPr/>
          <p:nvPr/>
        </p:nvSpPr>
        <p:spPr>
          <a:xfrm>
            <a:off x="45720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04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619049" y="1259129"/>
            <a:ext cx="267005" cy="267004"/>
          </a:xfrm>
          <a:prstGeom prst="rect">
            <a:avLst/>
          </a:prstGeom>
          <a:ln/>
        </p:spPr>
      </p:pic>
      <p:sp>
        <p:nvSpPr>
          <p:cNvPr id="13" name="TextBox 12"/>
          <p:cNvSpPr txBox="1"/>
          <p:nvPr/>
        </p:nvSpPr>
        <p:spPr>
          <a:xfrm>
            <a:off x="619049" y="1259129"/>
            <a:ext cx="267005" cy="267004"/>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1</a:t>
            </a:r>
          </a:p>
        </p:txBody>
      </p:sp>
      <p:sp>
        <p:nvSpPr>
          <p:cNvPr id="14" name="TextBox 13"/>
          <p:cNvSpPr txBox="1"/>
          <p:nvPr/>
        </p:nvSpPr>
        <p:spPr>
          <a:xfrm>
            <a:off x="981150" y="1209751"/>
            <a:ext cx="810157" cy="372161"/>
          </a:xfrm>
          <a:prstGeom prst="rect">
            <a:avLst/>
          </a:prstGeom>
          <a:noFill/>
          <a:ln/>
        </p:spPr>
        <p:txBody>
          <a:bodyPr wrap="square" lIns="0" rIns="0" tIns="0" bIns="0">
            <a:noAutofit/>
          </a:bodyPr>
          <a:lstStyle/>
          <a:p>
            <a:r>
              <a:rPr sz="1200" b="1">
                <a:solidFill>
                  <a:srgbClr val="1D1D1F"/>
                </a:solidFill>
                <a:latin typeface="Noto Sans JP"/>
              </a:rPr>
              <a:t>要件定義</a:t>
            </a:r>
          </a:p>
          <a:p>
            <a:r>
              <a:rPr sz="900" b="1">
                <a:solidFill>
                  <a:srgbClr val="6B7280"/>
                </a:solidFill>
                <a:latin typeface="Noto Sans JP"/>
              </a:rPr>
              <a:t>Requirements</a:t>
            </a:r>
          </a:p>
        </p:txBody>
      </p:sp>
      <p:sp>
        <p:nvSpPr>
          <p:cNvPr id="15" name="TextBox 14"/>
          <p:cNvSpPr txBox="1"/>
          <p:nvPr/>
        </p:nvSpPr>
        <p:spPr>
          <a:xfrm>
            <a:off x="981150" y="1411834"/>
            <a:ext cx="853135" cy="162762"/>
          </a:xfrm>
          <a:prstGeom prst="rect">
            <a:avLst/>
          </a:prstGeom>
          <a:noFill/>
          <a:ln/>
        </p:spPr>
        <p:txBody>
          <a:bodyPr wrap="square" lIns="0" rIns="0" tIns="0" bIns="0">
            <a:noAutofit/>
          </a:bodyPr>
          <a:lstStyle/>
          <a:p>
            <a:r>
              <a:rPr sz="900">
                <a:solidFill>
                  <a:srgbClr val="6B7280"/>
                </a:solidFill>
                <a:latin typeface="Noto Sans JP"/>
              </a:rPr>
              <a:t>Requirements</a:t>
            </a:r>
          </a:p>
        </p:txBody>
      </p:sp>
      <p:sp>
        <p:nvSpPr>
          <p:cNvPr id="16" name="TextBox 15"/>
          <p:cNvSpPr txBox="1"/>
          <p:nvPr/>
        </p:nvSpPr>
        <p:spPr>
          <a:xfrm>
            <a:off x="619049" y="1794052"/>
            <a:ext cx="1694383" cy="372161"/>
          </a:xfrm>
          <a:prstGeom prst="rect">
            <a:avLst/>
          </a:prstGeom>
          <a:noFill/>
          <a:ln/>
        </p:spPr>
        <p:txBody>
          <a:bodyPr wrap="square" lIns="0" rIns="0" tIns="0" bIns="0">
            <a:noAutofit/>
          </a:bodyPr>
          <a:lstStyle/>
          <a:p>
            <a:r>
              <a:rPr sz="900">
                <a:solidFill>
                  <a:srgbClr val="424245"/>
                </a:solidFill>
                <a:latin typeface="Noto Sans JP"/>
              </a:rPr>
              <a:t>業務課題から技術要件へ変換する始点。</a:t>
            </a:r>
          </a:p>
        </p:txBody>
      </p:sp>
      <p:sp>
        <p:nvSpPr>
          <p:cNvPr id="17" name="Rectangle 16"/>
          <p:cNvSpPr/>
          <p:nvPr/>
        </p:nvSpPr>
        <p:spPr>
          <a:xfrm>
            <a:off x="619049" y="2242109"/>
            <a:ext cx="1628545" cy="1600200"/>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002" y="2328062"/>
            <a:ext cx="1534363" cy="162762"/>
          </a:xfrm>
          <a:prstGeom prst="rect">
            <a:avLst/>
          </a:prstGeom>
          <a:noFill/>
          <a:ln/>
        </p:spPr>
        <p:txBody>
          <a:bodyPr wrap="square" lIns="0" rIns="0" tIns="0" bIns="0">
            <a:noAutofit/>
          </a:bodyPr>
          <a:lstStyle/>
          <a:p>
            <a:r>
              <a:rPr sz="800" b="1">
                <a:solidFill>
                  <a:srgbClr val="86868B"/>
                </a:solidFill>
                <a:latin typeface="Noto Sans JP"/>
              </a:rPr>
              <a:t>判断基準 (Criteria)</a:t>
            </a:r>
          </a:p>
        </p:txBody>
      </p:sp>
      <p:sp>
        <p:nvSpPr>
          <p:cNvPr id="19" name="TextBox 18"/>
          <p:cNvSpPr txBox="1"/>
          <p:nvPr/>
        </p:nvSpPr>
        <p:spPr>
          <a:xfrm>
            <a:off x="705002" y="2522830"/>
            <a:ext cx="1516075" cy="372161"/>
          </a:xfrm>
          <a:prstGeom prst="rect">
            <a:avLst/>
          </a:prstGeom>
          <a:noFill/>
          <a:ln/>
        </p:spPr>
        <p:txBody>
          <a:bodyPr wrap="square" lIns="0" rIns="0" tIns="0" bIns="0">
            <a:noAutofit/>
          </a:bodyPr>
          <a:lstStyle/>
          <a:p>
            <a:r>
              <a:rPr sz="900" b="1">
                <a:solidFill>
                  <a:srgbClr val="424245"/>
                </a:solidFill>
                <a:latin typeface="Noto Sans JP"/>
              </a:rPr>
              <a:t>品質:</a:t>
            </a:r>
            <a:r>
              <a:rPr sz="900">
                <a:solidFill>
                  <a:srgbClr val="424245"/>
                </a:solidFill>
                <a:latin typeface="Noto Sans JP"/>
              </a:rPr>
              <a:t> 日本語、JSON、専門性</a:t>
            </a:r>
          </a:p>
        </p:txBody>
      </p:sp>
      <p:sp>
        <p:nvSpPr>
          <p:cNvPr id="20" name="TextBox 19"/>
          <p:cNvSpPr txBox="1"/>
          <p:nvPr/>
        </p:nvSpPr>
        <p:spPr>
          <a:xfrm>
            <a:off x="705002" y="2932481"/>
            <a:ext cx="1516075" cy="372160"/>
          </a:xfrm>
          <a:prstGeom prst="rect">
            <a:avLst/>
          </a:prstGeom>
          <a:noFill/>
          <a:ln/>
        </p:spPr>
        <p:txBody>
          <a:bodyPr wrap="square" lIns="0" rIns="0" tIns="0" bIns="0">
            <a:noAutofit/>
          </a:bodyPr>
          <a:lstStyle/>
          <a:p>
            <a:r>
              <a:rPr sz="900" b="1">
                <a:solidFill>
                  <a:srgbClr val="424245"/>
                </a:solidFill>
                <a:latin typeface="Noto Sans JP"/>
              </a:rPr>
              <a:t>速度:</a:t>
            </a:r>
            <a:r>
              <a:rPr sz="900">
                <a:solidFill>
                  <a:srgbClr val="424245"/>
                </a:solidFill>
                <a:latin typeface="Noto Sans JP"/>
              </a:rPr>
              <a:t> p95レイテンシ、tok/s</a:t>
            </a:r>
          </a:p>
        </p:txBody>
      </p:sp>
      <p:sp>
        <p:nvSpPr>
          <p:cNvPr id="21" name="TextBox 20"/>
          <p:cNvSpPr txBox="1"/>
          <p:nvPr/>
        </p:nvSpPr>
        <p:spPr>
          <a:xfrm>
            <a:off x="705002" y="3342132"/>
            <a:ext cx="1516075" cy="372160"/>
          </a:xfrm>
          <a:prstGeom prst="rect">
            <a:avLst/>
          </a:prstGeom>
          <a:noFill/>
          <a:ln/>
        </p:spPr>
        <p:txBody>
          <a:bodyPr wrap="square" lIns="0" rIns="0" tIns="0" bIns="0">
            <a:noAutofit/>
          </a:bodyPr>
          <a:lstStyle/>
          <a:p>
            <a:r>
              <a:rPr sz="900" b="1">
                <a:solidFill>
                  <a:srgbClr val="424245"/>
                </a:solidFill>
                <a:latin typeface="Noto Sans JP"/>
              </a:rPr>
              <a:t>機能:</a:t>
            </a:r>
            <a:r>
              <a:rPr sz="900">
                <a:solidFill>
                  <a:srgbClr val="424245"/>
                </a:solidFill>
                <a:latin typeface="Noto Sans JP"/>
              </a:rPr>
              <a:t> Tool-use、RAG有無</a:t>
            </a:r>
          </a:p>
        </p:txBody>
      </p:sp>
      <p:sp>
        <p:nvSpPr>
          <p:cNvPr id="22" name="Rectangle 21"/>
          <p:cNvSpPr/>
          <p:nvPr/>
        </p:nvSpPr>
        <p:spPr>
          <a:xfrm>
            <a:off x="619049" y="3913632"/>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 y="3999586"/>
            <a:ext cx="1574597" cy="162763"/>
          </a:xfrm>
          <a:prstGeom prst="rect">
            <a:avLst/>
          </a:prstGeom>
          <a:noFill/>
          <a:ln/>
        </p:spPr>
        <p:txBody>
          <a:bodyPr wrap="square" lIns="0" rIns="0" tIns="0" bIns="0">
            <a:noAutofit/>
          </a:bodyPr>
          <a:lstStyle/>
          <a:p>
            <a:r>
              <a:rPr sz="800" b="1">
                <a:solidFill>
                  <a:srgbClr val="86868B"/>
                </a:solidFill>
                <a:latin typeface="Noto Sans JP"/>
              </a:rPr>
              <a:t>アクション</a:t>
            </a:r>
          </a:p>
        </p:txBody>
      </p:sp>
      <p:sp>
        <p:nvSpPr>
          <p:cNvPr id="24" name="TextBox 23"/>
          <p:cNvSpPr txBox="1"/>
          <p:nvPr/>
        </p:nvSpPr>
        <p:spPr>
          <a:xfrm>
            <a:off x="705002" y="4194353"/>
            <a:ext cx="1516075" cy="609905"/>
          </a:xfrm>
          <a:prstGeom prst="rect">
            <a:avLst/>
          </a:prstGeom>
          <a:noFill/>
          <a:ln/>
        </p:spPr>
        <p:txBody>
          <a:bodyPr wrap="square" lIns="0" rIns="0" tIns="0" bIns="0">
            <a:noAutofit/>
          </a:bodyPr>
          <a:lstStyle/>
          <a:p>
            <a:r>
              <a:rPr sz="900">
                <a:solidFill>
                  <a:srgbClr val="424245"/>
                </a:solidFill>
                <a:latin typeface="Noto Sans JP"/>
              </a:rPr>
              <a:t>許容レイテンシ目標（例: 10 tok/s）とJSONスキーマの厳格さを決定。</a:t>
            </a:r>
          </a:p>
        </p:txBody>
      </p:sp>
      <p:pic>
        <p:nvPicPr>
          <p:cNvPr id="25" name="Picture 24" descr="image.png"/>
          <p:cNvPicPr>
            <a:picLocks noChangeAspect="1"/>
          </p:cNvPicPr>
          <p:nvPr/>
        </p:nvPicPr>
        <p:blipFill>
          <a:blip r:embed="rId4"/>
          <a:stretch>
            <a:fillRect/>
          </a:stretch>
        </p:blipFill>
        <p:spPr>
          <a:xfrm>
            <a:off x="2536546" y="2915107"/>
            <a:ext cx="123443" cy="267005"/>
          </a:xfrm>
          <a:prstGeom prst="rect">
            <a:avLst/>
          </a:prstGeom>
          <a:ln/>
        </p:spPr>
      </p:pic>
      <p:sp>
        <p:nvSpPr>
          <p:cNvPr id="26" name="Rectangle 25"/>
          <p:cNvSpPr/>
          <p:nvPr/>
        </p:nvSpPr>
        <p:spPr>
          <a:xfrm>
            <a:off x="278892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5076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2950769" y="1259129"/>
            <a:ext cx="267005" cy="267004"/>
          </a:xfrm>
          <a:prstGeom prst="rect">
            <a:avLst/>
          </a:prstGeom>
          <a:ln/>
        </p:spPr>
      </p:pic>
      <p:sp>
        <p:nvSpPr>
          <p:cNvPr id="29" name="TextBox 28"/>
          <p:cNvSpPr txBox="1"/>
          <p:nvPr/>
        </p:nvSpPr>
        <p:spPr>
          <a:xfrm>
            <a:off x="2950769" y="1259129"/>
            <a:ext cx="267005" cy="267004"/>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2</a:t>
            </a:r>
          </a:p>
        </p:txBody>
      </p:sp>
      <p:sp>
        <p:nvSpPr>
          <p:cNvPr id="30" name="TextBox 29"/>
          <p:cNvSpPr txBox="1"/>
          <p:nvPr/>
        </p:nvSpPr>
        <p:spPr>
          <a:xfrm>
            <a:off x="3312871" y="1209751"/>
            <a:ext cx="819301" cy="372161"/>
          </a:xfrm>
          <a:prstGeom prst="rect">
            <a:avLst/>
          </a:prstGeom>
          <a:noFill/>
          <a:ln/>
        </p:spPr>
        <p:txBody>
          <a:bodyPr wrap="square" lIns="0" rIns="0" tIns="0" bIns="0">
            <a:noAutofit/>
          </a:bodyPr>
          <a:lstStyle/>
          <a:p>
            <a:r>
              <a:rPr sz="1200" b="1">
                <a:solidFill>
                  <a:srgbClr val="1D1D1F"/>
                </a:solidFill>
                <a:latin typeface="Noto Sans JP"/>
              </a:rPr>
              <a:t>Tier選定</a:t>
            </a:r>
          </a:p>
          <a:p>
            <a:r>
              <a:rPr sz="900" b="1">
                <a:solidFill>
                  <a:srgbClr val="6B7280"/>
                </a:solidFill>
                <a:latin typeface="Noto Sans JP"/>
              </a:rPr>
              <a:t>Hardware Tier</a:t>
            </a:r>
          </a:p>
        </p:txBody>
      </p:sp>
      <p:sp>
        <p:nvSpPr>
          <p:cNvPr id="31" name="TextBox 30"/>
          <p:cNvSpPr txBox="1"/>
          <p:nvPr/>
        </p:nvSpPr>
        <p:spPr>
          <a:xfrm>
            <a:off x="3312871" y="1411834"/>
            <a:ext cx="907084" cy="162762"/>
          </a:xfrm>
          <a:prstGeom prst="rect">
            <a:avLst/>
          </a:prstGeom>
          <a:noFill/>
          <a:ln/>
        </p:spPr>
        <p:txBody>
          <a:bodyPr wrap="square" lIns="0" rIns="0" tIns="0" bIns="0">
            <a:noAutofit/>
          </a:bodyPr>
          <a:lstStyle/>
          <a:p>
            <a:r>
              <a:rPr sz="900">
                <a:solidFill>
                  <a:srgbClr val="6B7280"/>
                </a:solidFill>
                <a:latin typeface="Noto Sans JP"/>
              </a:rPr>
              <a:t>Hardware Tier</a:t>
            </a:r>
          </a:p>
        </p:txBody>
      </p:sp>
      <p:sp>
        <p:nvSpPr>
          <p:cNvPr id="32" name="TextBox 31"/>
          <p:cNvSpPr txBox="1"/>
          <p:nvPr/>
        </p:nvSpPr>
        <p:spPr>
          <a:xfrm>
            <a:off x="2950769" y="1794052"/>
            <a:ext cx="1694383" cy="372161"/>
          </a:xfrm>
          <a:prstGeom prst="rect">
            <a:avLst/>
          </a:prstGeom>
          <a:noFill/>
          <a:ln/>
        </p:spPr>
        <p:txBody>
          <a:bodyPr wrap="square" lIns="0" rIns="0" tIns="0" bIns="0">
            <a:noAutofit/>
          </a:bodyPr>
          <a:lstStyle/>
          <a:p>
            <a:r>
              <a:rPr sz="900">
                <a:solidFill>
                  <a:srgbClr val="424245"/>
                </a:solidFill>
                <a:latin typeface="Noto Sans JP"/>
              </a:rPr>
              <a:t>メモリ制約に基づく現実ラインの把握。</a:t>
            </a:r>
          </a:p>
        </p:txBody>
      </p:sp>
      <p:sp>
        <p:nvSpPr>
          <p:cNvPr id="33" name="Rectangle 32"/>
          <p:cNvSpPr/>
          <p:nvPr/>
        </p:nvSpPr>
        <p:spPr>
          <a:xfrm>
            <a:off x="2950769" y="2242109"/>
            <a:ext cx="1628546"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36722" y="2328062"/>
            <a:ext cx="1534362" cy="162762"/>
          </a:xfrm>
          <a:prstGeom prst="rect">
            <a:avLst/>
          </a:prstGeom>
          <a:noFill/>
          <a:ln/>
        </p:spPr>
        <p:txBody>
          <a:bodyPr wrap="square" lIns="0" rIns="0" tIns="0" bIns="0">
            <a:noAutofit/>
          </a:bodyPr>
          <a:lstStyle/>
          <a:p>
            <a:r>
              <a:rPr sz="800" b="1">
                <a:solidFill>
                  <a:srgbClr val="86868B"/>
                </a:solidFill>
                <a:latin typeface="Noto Sans JP"/>
              </a:rPr>
              <a:t>判断基準 (Criteria)</a:t>
            </a:r>
          </a:p>
        </p:txBody>
      </p:sp>
      <p:sp>
        <p:nvSpPr>
          <p:cNvPr id="35" name="TextBox 34"/>
          <p:cNvSpPr txBox="1"/>
          <p:nvPr/>
        </p:nvSpPr>
        <p:spPr>
          <a:xfrm>
            <a:off x="3036722" y="2522830"/>
            <a:ext cx="1516075" cy="372161"/>
          </a:xfrm>
          <a:prstGeom prst="rect">
            <a:avLst/>
          </a:prstGeom>
          <a:noFill/>
          <a:ln/>
        </p:spPr>
        <p:txBody>
          <a:bodyPr wrap="square" lIns="0" rIns="0" tIns="0" bIns="0">
            <a:noAutofit/>
          </a:bodyPr>
          <a:lstStyle/>
          <a:p>
            <a:r>
              <a:rPr sz="900" b="1">
                <a:solidFill>
                  <a:srgbClr val="424245"/>
                </a:solidFill>
                <a:latin typeface="Noto Sans JP"/>
              </a:rPr>
              <a:t>Apple:</a:t>
            </a:r>
            <a:r>
              <a:rPr sz="900">
                <a:solidFill>
                  <a:srgbClr val="424245"/>
                </a:solidFill>
                <a:latin typeface="Noto Sans JP"/>
              </a:rPr>
              <a:t> 16〜128GB (UMA)</a:t>
            </a:r>
          </a:p>
        </p:txBody>
      </p:sp>
      <p:sp>
        <p:nvSpPr>
          <p:cNvPr id="36" name="TextBox 35"/>
          <p:cNvSpPr txBox="1"/>
          <p:nvPr/>
        </p:nvSpPr>
        <p:spPr>
          <a:xfrm>
            <a:off x="3036722" y="2932481"/>
            <a:ext cx="1516075" cy="372160"/>
          </a:xfrm>
          <a:prstGeom prst="rect">
            <a:avLst/>
          </a:prstGeom>
          <a:noFill/>
          <a:ln/>
        </p:spPr>
        <p:txBody>
          <a:bodyPr wrap="square" lIns="0" rIns="0" tIns="0" bIns="0">
            <a:noAutofit/>
          </a:bodyPr>
          <a:lstStyle/>
          <a:p>
            <a:r>
              <a:rPr sz="900" b="1">
                <a:solidFill>
                  <a:srgbClr val="424245"/>
                </a:solidFill>
                <a:latin typeface="Noto Sans JP"/>
              </a:rPr>
              <a:t>Windows:</a:t>
            </a:r>
            <a:r>
              <a:rPr sz="900">
                <a:solidFill>
                  <a:srgbClr val="424245"/>
                </a:solidFill>
                <a:latin typeface="Noto Sans JP"/>
              </a:rPr>
              <a:t> VRAM 8〜24GB</a:t>
            </a:r>
          </a:p>
        </p:txBody>
      </p:sp>
      <p:sp>
        <p:nvSpPr>
          <p:cNvPr id="37" name="TextBox 36"/>
          <p:cNvSpPr txBox="1"/>
          <p:nvPr/>
        </p:nvSpPr>
        <p:spPr>
          <a:xfrm>
            <a:off x="3036722" y="3342132"/>
            <a:ext cx="1534362" cy="191110"/>
          </a:xfrm>
          <a:prstGeom prst="rect">
            <a:avLst/>
          </a:prstGeom>
          <a:noFill/>
          <a:ln/>
        </p:spPr>
        <p:txBody>
          <a:bodyPr wrap="square" lIns="0" rIns="0" tIns="0" bIns="0">
            <a:noAutofit/>
          </a:bodyPr>
          <a:lstStyle/>
          <a:p>
            <a:r>
              <a:rPr sz="900" b="1">
                <a:solidFill>
                  <a:srgbClr val="424245"/>
                </a:solidFill>
                <a:latin typeface="Noto Sans JP"/>
              </a:rPr>
              <a:t>CPU:</a:t>
            </a:r>
            <a:r>
              <a:rPr sz="900">
                <a:solidFill>
                  <a:srgbClr val="424245"/>
                </a:solidFill>
                <a:latin typeface="Noto Sans JP"/>
              </a:rPr>
              <a:t> AVX/RAM容量</a:t>
            </a:r>
          </a:p>
        </p:txBody>
      </p:sp>
      <p:sp>
        <p:nvSpPr>
          <p:cNvPr id="38" name="Rectangle 37"/>
          <p:cNvSpPr/>
          <p:nvPr/>
        </p:nvSpPr>
        <p:spPr>
          <a:xfrm>
            <a:off x="2950769" y="3728009"/>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6722" y="3813962"/>
            <a:ext cx="1574596" cy="162763"/>
          </a:xfrm>
          <a:prstGeom prst="rect">
            <a:avLst/>
          </a:prstGeom>
          <a:noFill/>
          <a:ln/>
        </p:spPr>
        <p:txBody>
          <a:bodyPr wrap="square" lIns="0" rIns="0" tIns="0" bIns="0">
            <a:noAutofit/>
          </a:bodyPr>
          <a:lstStyle/>
          <a:p>
            <a:r>
              <a:rPr sz="800" b="1">
                <a:solidFill>
                  <a:srgbClr val="86868B"/>
                </a:solidFill>
                <a:latin typeface="Noto Sans JP"/>
              </a:rPr>
              <a:t>アクション</a:t>
            </a:r>
          </a:p>
        </p:txBody>
      </p:sp>
      <p:sp>
        <p:nvSpPr>
          <p:cNvPr id="40" name="TextBox 39"/>
          <p:cNvSpPr txBox="1"/>
          <p:nvPr/>
        </p:nvSpPr>
        <p:spPr>
          <a:xfrm>
            <a:off x="3036722" y="4008729"/>
            <a:ext cx="1516075" cy="609905"/>
          </a:xfrm>
          <a:prstGeom prst="rect">
            <a:avLst/>
          </a:prstGeom>
          <a:noFill/>
          <a:ln/>
        </p:spPr>
        <p:txBody>
          <a:bodyPr wrap="square" lIns="0" rIns="0" tIns="0" bIns="0">
            <a:noAutofit/>
          </a:bodyPr>
          <a:lstStyle/>
          <a:p>
            <a:r>
              <a:rPr sz="900">
                <a:solidFill>
                  <a:srgbClr val="424245"/>
                </a:solidFill>
                <a:latin typeface="Noto Sans JP"/>
              </a:rPr>
              <a:t>「重み4bit + KVキャッシュ」の理論値でTier (A-16〜G-24) を特定。</a:t>
            </a:r>
          </a:p>
        </p:txBody>
      </p:sp>
      <p:pic>
        <p:nvPicPr>
          <p:cNvPr id="41" name="Picture 40" descr="image.png"/>
          <p:cNvPicPr>
            <a:picLocks noChangeAspect="1"/>
          </p:cNvPicPr>
          <p:nvPr/>
        </p:nvPicPr>
        <p:blipFill>
          <a:blip r:embed="rId4"/>
          <a:stretch>
            <a:fillRect/>
          </a:stretch>
        </p:blipFill>
        <p:spPr>
          <a:xfrm>
            <a:off x="4868266" y="2915107"/>
            <a:ext cx="123444" cy="267005"/>
          </a:xfrm>
          <a:prstGeom prst="rect">
            <a:avLst/>
          </a:prstGeom>
          <a:ln/>
        </p:spPr>
      </p:pic>
      <p:sp>
        <p:nvSpPr>
          <p:cNvPr id="42" name="Rectangle 41"/>
          <p:cNvSpPr/>
          <p:nvPr/>
        </p:nvSpPr>
        <p:spPr>
          <a:xfrm>
            <a:off x="5120640" y="1047902"/>
            <a:ext cx="1952243"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282489" y="1677010"/>
            <a:ext cx="1628546"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mage.png"/>
          <p:cNvPicPr>
            <a:picLocks noChangeAspect="1"/>
          </p:cNvPicPr>
          <p:nvPr/>
        </p:nvPicPr>
        <p:blipFill>
          <a:blip r:embed="rId3"/>
          <a:stretch>
            <a:fillRect/>
          </a:stretch>
        </p:blipFill>
        <p:spPr>
          <a:xfrm>
            <a:off x="5282489" y="1259129"/>
            <a:ext cx="267005" cy="267004"/>
          </a:xfrm>
          <a:prstGeom prst="rect">
            <a:avLst/>
          </a:prstGeom>
          <a:ln/>
        </p:spPr>
      </p:pic>
      <p:sp>
        <p:nvSpPr>
          <p:cNvPr id="45" name="TextBox 44"/>
          <p:cNvSpPr txBox="1"/>
          <p:nvPr/>
        </p:nvSpPr>
        <p:spPr>
          <a:xfrm>
            <a:off x="5282489" y="1259129"/>
            <a:ext cx="267005" cy="267004"/>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3</a:t>
            </a:r>
          </a:p>
        </p:txBody>
      </p:sp>
      <p:sp>
        <p:nvSpPr>
          <p:cNvPr id="46" name="TextBox 45"/>
          <p:cNvSpPr txBox="1"/>
          <p:nvPr/>
        </p:nvSpPr>
        <p:spPr>
          <a:xfrm>
            <a:off x="5644591" y="1209751"/>
            <a:ext cx="829360" cy="372161"/>
          </a:xfrm>
          <a:prstGeom prst="rect">
            <a:avLst/>
          </a:prstGeom>
          <a:noFill/>
          <a:ln/>
        </p:spPr>
        <p:txBody>
          <a:bodyPr wrap="square" lIns="0" rIns="0" tIns="0" bIns="0">
            <a:noAutofit/>
          </a:bodyPr>
          <a:lstStyle/>
          <a:p>
            <a:r>
              <a:rPr sz="1200" b="1">
                <a:solidFill>
                  <a:srgbClr val="1D1D1F"/>
                </a:solidFill>
                <a:latin typeface="Noto Sans JP"/>
              </a:rPr>
              <a:t>モデル選定</a:t>
            </a:r>
          </a:p>
          <a:p>
            <a:r>
              <a:rPr sz="900" b="1">
                <a:solidFill>
                  <a:srgbClr val="6B7280"/>
                </a:solidFill>
                <a:latin typeface="Noto Sans JP"/>
              </a:rPr>
              <a:t>Model Select</a:t>
            </a:r>
          </a:p>
        </p:txBody>
      </p:sp>
      <p:sp>
        <p:nvSpPr>
          <p:cNvPr id="47" name="TextBox 46"/>
          <p:cNvSpPr txBox="1"/>
          <p:nvPr/>
        </p:nvSpPr>
        <p:spPr>
          <a:xfrm>
            <a:off x="5644591" y="1411834"/>
            <a:ext cx="816558" cy="162762"/>
          </a:xfrm>
          <a:prstGeom prst="rect">
            <a:avLst/>
          </a:prstGeom>
          <a:noFill/>
          <a:ln/>
        </p:spPr>
        <p:txBody>
          <a:bodyPr wrap="square" lIns="0" rIns="0" tIns="0" bIns="0">
            <a:noAutofit/>
          </a:bodyPr>
          <a:lstStyle/>
          <a:p>
            <a:r>
              <a:rPr sz="900">
                <a:solidFill>
                  <a:srgbClr val="6B7280"/>
                </a:solidFill>
                <a:latin typeface="Noto Sans JP"/>
              </a:rPr>
              <a:t>Model Select</a:t>
            </a:r>
          </a:p>
        </p:txBody>
      </p:sp>
      <p:sp>
        <p:nvSpPr>
          <p:cNvPr id="48" name="TextBox 47"/>
          <p:cNvSpPr txBox="1"/>
          <p:nvPr/>
        </p:nvSpPr>
        <p:spPr>
          <a:xfrm>
            <a:off x="5282489" y="1794052"/>
            <a:ext cx="1694383" cy="372161"/>
          </a:xfrm>
          <a:prstGeom prst="rect">
            <a:avLst/>
          </a:prstGeom>
          <a:noFill/>
          <a:ln/>
        </p:spPr>
        <p:txBody>
          <a:bodyPr wrap="square" lIns="0" rIns="0" tIns="0" bIns="0">
            <a:noAutofit/>
          </a:bodyPr>
          <a:lstStyle/>
          <a:p>
            <a:r>
              <a:rPr sz="900">
                <a:solidFill>
                  <a:srgbClr val="424245"/>
                </a:solidFill>
                <a:latin typeface="Noto Sans JP"/>
              </a:rPr>
              <a:t>Tier内で動く最適モデルの選定。</a:t>
            </a:r>
          </a:p>
        </p:txBody>
      </p:sp>
      <p:sp>
        <p:nvSpPr>
          <p:cNvPr id="49" name="Rectangle 48"/>
          <p:cNvSpPr/>
          <p:nvPr/>
        </p:nvSpPr>
        <p:spPr>
          <a:xfrm>
            <a:off x="5282489" y="2242109"/>
            <a:ext cx="1628546"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68442" y="2328062"/>
            <a:ext cx="1534363" cy="162762"/>
          </a:xfrm>
          <a:prstGeom prst="rect">
            <a:avLst/>
          </a:prstGeom>
          <a:noFill/>
          <a:ln/>
        </p:spPr>
        <p:txBody>
          <a:bodyPr wrap="square" lIns="0" rIns="0" tIns="0" bIns="0">
            <a:noAutofit/>
          </a:bodyPr>
          <a:lstStyle/>
          <a:p>
            <a:r>
              <a:rPr sz="800" b="1">
                <a:solidFill>
                  <a:srgbClr val="86868B"/>
                </a:solidFill>
                <a:latin typeface="Noto Sans JP"/>
              </a:rPr>
              <a:t>判断基準 (Criteria)</a:t>
            </a:r>
          </a:p>
        </p:txBody>
      </p:sp>
      <p:sp>
        <p:nvSpPr>
          <p:cNvPr id="51" name="TextBox 50"/>
          <p:cNvSpPr txBox="1"/>
          <p:nvPr/>
        </p:nvSpPr>
        <p:spPr>
          <a:xfrm>
            <a:off x="5368442" y="2522830"/>
            <a:ext cx="1516074" cy="372161"/>
          </a:xfrm>
          <a:prstGeom prst="rect">
            <a:avLst/>
          </a:prstGeom>
          <a:noFill/>
          <a:ln/>
        </p:spPr>
        <p:txBody>
          <a:bodyPr wrap="square" lIns="0" rIns="0" tIns="0" bIns="0">
            <a:noAutofit/>
          </a:bodyPr>
          <a:lstStyle/>
          <a:p>
            <a:r>
              <a:rPr sz="900" b="1">
                <a:solidFill>
                  <a:srgbClr val="424245"/>
                </a:solidFill>
                <a:latin typeface="Noto Sans JP"/>
              </a:rPr>
              <a:t>規模:</a:t>
            </a:r>
            <a:r>
              <a:rPr sz="900">
                <a:solidFill>
                  <a:srgbClr val="424245"/>
                </a:solidFill>
                <a:latin typeface="Noto Sans JP"/>
              </a:rPr>
              <a:t> 7B-14B (汎用), 32B+ (高品質)</a:t>
            </a:r>
          </a:p>
        </p:txBody>
      </p:sp>
      <p:sp>
        <p:nvSpPr>
          <p:cNvPr id="52" name="TextBox 51"/>
          <p:cNvSpPr txBox="1"/>
          <p:nvPr/>
        </p:nvSpPr>
        <p:spPr>
          <a:xfrm>
            <a:off x="5368442" y="2932481"/>
            <a:ext cx="1559052" cy="191110"/>
          </a:xfrm>
          <a:prstGeom prst="rect">
            <a:avLst/>
          </a:prstGeom>
          <a:noFill/>
          <a:ln/>
        </p:spPr>
        <p:txBody>
          <a:bodyPr wrap="square" lIns="0" rIns="0" tIns="0" bIns="0">
            <a:noAutofit/>
          </a:bodyPr>
          <a:lstStyle/>
          <a:p>
            <a:r>
              <a:rPr sz="900" b="1">
                <a:solidFill>
                  <a:srgbClr val="424245"/>
                </a:solidFill>
                <a:latin typeface="Noto Sans JP"/>
              </a:rPr>
              <a:t>形式:</a:t>
            </a:r>
            <a:r>
              <a:rPr sz="900">
                <a:solidFill>
                  <a:srgbClr val="424245"/>
                </a:solidFill>
                <a:latin typeface="Noto Sans JP"/>
              </a:rPr>
              <a:t> GGUF, EXL2, AWQ</a:t>
            </a:r>
          </a:p>
        </p:txBody>
      </p:sp>
      <p:sp>
        <p:nvSpPr>
          <p:cNvPr id="53" name="TextBox 52"/>
          <p:cNvSpPr txBox="1"/>
          <p:nvPr/>
        </p:nvSpPr>
        <p:spPr>
          <a:xfrm>
            <a:off x="5368442" y="3156509"/>
            <a:ext cx="1574597" cy="191110"/>
          </a:xfrm>
          <a:prstGeom prst="rect">
            <a:avLst/>
          </a:prstGeom>
          <a:noFill/>
          <a:ln/>
        </p:spPr>
        <p:txBody>
          <a:bodyPr wrap="square" lIns="0" rIns="0" tIns="0" bIns="0">
            <a:noAutofit/>
          </a:bodyPr>
          <a:lstStyle/>
          <a:p>
            <a:r>
              <a:rPr sz="900" b="1">
                <a:solidFill>
                  <a:srgbClr val="424245"/>
                </a:solidFill>
                <a:latin typeface="Noto Sans JP"/>
              </a:rPr>
              <a:t>権利:</a:t>
            </a:r>
            <a:r>
              <a:rPr sz="900">
                <a:solidFill>
                  <a:srgbClr val="424245"/>
                </a:solidFill>
                <a:latin typeface="Noto Sans JP"/>
              </a:rPr>
              <a:t> ライセンス条件</a:t>
            </a:r>
          </a:p>
        </p:txBody>
      </p:sp>
      <p:sp>
        <p:nvSpPr>
          <p:cNvPr id="54" name="Rectangle 53"/>
          <p:cNvSpPr/>
          <p:nvPr/>
        </p:nvSpPr>
        <p:spPr>
          <a:xfrm>
            <a:off x="5282489" y="3542386"/>
            <a:ext cx="1628546"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68442" y="3628339"/>
            <a:ext cx="1574597" cy="162763"/>
          </a:xfrm>
          <a:prstGeom prst="rect">
            <a:avLst/>
          </a:prstGeom>
          <a:noFill/>
          <a:ln/>
        </p:spPr>
        <p:txBody>
          <a:bodyPr wrap="square" lIns="0" rIns="0" tIns="0" bIns="0">
            <a:noAutofit/>
          </a:bodyPr>
          <a:lstStyle/>
          <a:p>
            <a:r>
              <a:rPr sz="800" b="1">
                <a:solidFill>
                  <a:srgbClr val="86868B"/>
                </a:solidFill>
                <a:latin typeface="Noto Sans JP"/>
              </a:rPr>
              <a:t>アクション</a:t>
            </a:r>
          </a:p>
        </p:txBody>
      </p:sp>
      <p:sp>
        <p:nvSpPr>
          <p:cNvPr id="56" name="TextBox 55"/>
          <p:cNvSpPr txBox="1"/>
          <p:nvPr/>
        </p:nvSpPr>
        <p:spPr>
          <a:xfrm>
            <a:off x="5368442" y="3823105"/>
            <a:ext cx="1516074" cy="609905"/>
          </a:xfrm>
          <a:prstGeom prst="rect">
            <a:avLst/>
          </a:prstGeom>
          <a:noFill/>
          <a:ln/>
        </p:spPr>
        <p:txBody>
          <a:bodyPr wrap="square" lIns="0" rIns="0" tIns="0" bIns="0">
            <a:noAutofit/>
          </a:bodyPr>
          <a:lstStyle/>
          <a:p>
            <a:r>
              <a:rPr sz="900">
                <a:solidFill>
                  <a:srgbClr val="424245"/>
                </a:solidFill>
                <a:latin typeface="Noto Sans JP"/>
              </a:rPr>
              <a:t>Llama/Qwen/Phi等からサイズ適合候補を選び、ライセンスを確認。</a:t>
            </a:r>
          </a:p>
        </p:txBody>
      </p:sp>
      <p:pic>
        <p:nvPicPr>
          <p:cNvPr id="57" name="Picture 56" descr="image.png"/>
          <p:cNvPicPr>
            <a:picLocks noChangeAspect="1"/>
          </p:cNvPicPr>
          <p:nvPr/>
        </p:nvPicPr>
        <p:blipFill>
          <a:blip r:embed="rId4"/>
          <a:stretch>
            <a:fillRect/>
          </a:stretch>
        </p:blipFill>
        <p:spPr>
          <a:xfrm>
            <a:off x="7199986" y="2915107"/>
            <a:ext cx="123444" cy="267005"/>
          </a:xfrm>
          <a:prstGeom prst="rect">
            <a:avLst/>
          </a:prstGeom>
          <a:ln/>
        </p:spPr>
      </p:pic>
      <p:sp>
        <p:nvSpPr>
          <p:cNvPr id="58" name="Rectangle 57"/>
          <p:cNvSpPr/>
          <p:nvPr/>
        </p:nvSpPr>
        <p:spPr>
          <a:xfrm>
            <a:off x="7452359"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1420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mage.png"/>
          <p:cNvPicPr>
            <a:picLocks noChangeAspect="1"/>
          </p:cNvPicPr>
          <p:nvPr/>
        </p:nvPicPr>
        <p:blipFill>
          <a:blip r:embed="rId3"/>
          <a:stretch>
            <a:fillRect/>
          </a:stretch>
        </p:blipFill>
        <p:spPr>
          <a:xfrm>
            <a:off x="7614209" y="1259129"/>
            <a:ext cx="267005" cy="267004"/>
          </a:xfrm>
          <a:prstGeom prst="rect">
            <a:avLst/>
          </a:prstGeom>
          <a:ln/>
        </p:spPr>
      </p:pic>
      <p:sp>
        <p:nvSpPr>
          <p:cNvPr id="61" name="TextBox 60"/>
          <p:cNvSpPr txBox="1"/>
          <p:nvPr/>
        </p:nvSpPr>
        <p:spPr>
          <a:xfrm>
            <a:off x="7614209" y="1259129"/>
            <a:ext cx="267005" cy="267004"/>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4</a:t>
            </a:r>
          </a:p>
        </p:txBody>
      </p:sp>
      <p:sp>
        <p:nvSpPr>
          <p:cNvPr id="62" name="TextBox 61"/>
          <p:cNvSpPr txBox="1"/>
          <p:nvPr/>
        </p:nvSpPr>
        <p:spPr>
          <a:xfrm>
            <a:off x="7976311" y="1209751"/>
            <a:ext cx="819302" cy="372161"/>
          </a:xfrm>
          <a:prstGeom prst="rect">
            <a:avLst/>
          </a:prstGeom>
          <a:noFill/>
          <a:ln/>
        </p:spPr>
        <p:txBody>
          <a:bodyPr wrap="square" lIns="0" rIns="0" tIns="0" bIns="0">
            <a:noAutofit/>
          </a:bodyPr>
          <a:lstStyle/>
          <a:p>
            <a:r>
              <a:rPr sz="1200" b="1">
                <a:solidFill>
                  <a:srgbClr val="1D1D1F"/>
                </a:solidFill>
                <a:latin typeface="Noto Sans JP"/>
              </a:rPr>
              <a:t>ランタイム</a:t>
            </a:r>
          </a:p>
          <a:p>
            <a:r>
              <a:rPr sz="900" b="1">
                <a:solidFill>
                  <a:srgbClr val="6B7280"/>
                </a:solidFill>
                <a:latin typeface="Noto Sans JP"/>
              </a:rPr>
              <a:t>Runtime</a:t>
            </a:r>
          </a:p>
        </p:txBody>
      </p:sp>
      <p:sp>
        <p:nvSpPr>
          <p:cNvPr id="63" name="TextBox 62"/>
          <p:cNvSpPr txBox="1"/>
          <p:nvPr/>
        </p:nvSpPr>
        <p:spPr>
          <a:xfrm>
            <a:off x="7976311" y="1411834"/>
            <a:ext cx="534010" cy="162762"/>
          </a:xfrm>
          <a:prstGeom prst="rect">
            <a:avLst/>
          </a:prstGeom>
          <a:noFill/>
          <a:ln/>
        </p:spPr>
        <p:txBody>
          <a:bodyPr wrap="square" lIns="0" rIns="0" tIns="0" bIns="0">
            <a:noAutofit/>
          </a:bodyPr>
          <a:lstStyle/>
          <a:p>
            <a:r>
              <a:rPr sz="900">
                <a:solidFill>
                  <a:srgbClr val="6B7280"/>
                </a:solidFill>
                <a:latin typeface="Noto Sans JP"/>
              </a:rPr>
              <a:t>Runtime</a:t>
            </a:r>
          </a:p>
        </p:txBody>
      </p:sp>
      <p:sp>
        <p:nvSpPr>
          <p:cNvPr id="64" name="TextBox 63"/>
          <p:cNvSpPr txBox="1"/>
          <p:nvPr/>
        </p:nvSpPr>
        <p:spPr>
          <a:xfrm>
            <a:off x="7614209" y="1794052"/>
            <a:ext cx="1694383" cy="372161"/>
          </a:xfrm>
          <a:prstGeom prst="rect">
            <a:avLst/>
          </a:prstGeom>
          <a:noFill/>
          <a:ln/>
        </p:spPr>
        <p:txBody>
          <a:bodyPr wrap="square" lIns="0" rIns="0" tIns="0" bIns="0">
            <a:noAutofit/>
          </a:bodyPr>
          <a:lstStyle/>
          <a:p>
            <a:r>
              <a:rPr sz="900">
                <a:solidFill>
                  <a:srgbClr val="424245"/>
                </a:solidFill>
                <a:latin typeface="Noto Sans JP"/>
              </a:rPr>
              <a:t>ハードウェア性能を引き出す実行環境。</a:t>
            </a:r>
          </a:p>
        </p:txBody>
      </p:sp>
      <p:sp>
        <p:nvSpPr>
          <p:cNvPr id="65" name="Rectangle 64"/>
          <p:cNvSpPr/>
          <p:nvPr/>
        </p:nvSpPr>
        <p:spPr>
          <a:xfrm>
            <a:off x="7614209" y="2242109"/>
            <a:ext cx="1628545" cy="1228953"/>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00162" y="2328062"/>
            <a:ext cx="1534363" cy="162762"/>
          </a:xfrm>
          <a:prstGeom prst="rect">
            <a:avLst/>
          </a:prstGeom>
          <a:noFill/>
          <a:ln/>
        </p:spPr>
        <p:txBody>
          <a:bodyPr wrap="square" lIns="0" rIns="0" tIns="0" bIns="0">
            <a:noAutofit/>
          </a:bodyPr>
          <a:lstStyle/>
          <a:p>
            <a:r>
              <a:rPr sz="800" b="1">
                <a:solidFill>
                  <a:srgbClr val="86868B"/>
                </a:solidFill>
                <a:latin typeface="Noto Sans JP"/>
              </a:rPr>
              <a:t>判断基準 (Criteria)</a:t>
            </a:r>
          </a:p>
        </p:txBody>
      </p:sp>
      <p:sp>
        <p:nvSpPr>
          <p:cNvPr id="67" name="TextBox 66"/>
          <p:cNvSpPr txBox="1"/>
          <p:nvPr/>
        </p:nvSpPr>
        <p:spPr>
          <a:xfrm>
            <a:off x="7700162" y="2522830"/>
            <a:ext cx="1544421" cy="191110"/>
          </a:xfrm>
          <a:prstGeom prst="rect">
            <a:avLst/>
          </a:prstGeom>
          <a:noFill/>
          <a:ln/>
        </p:spPr>
        <p:txBody>
          <a:bodyPr wrap="square" lIns="0" rIns="0" tIns="0" bIns="0">
            <a:noAutofit/>
          </a:bodyPr>
          <a:lstStyle/>
          <a:p>
            <a:r>
              <a:rPr sz="900" b="1">
                <a:solidFill>
                  <a:srgbClr val="424245"/>
                </a:solidFill>
                <a:latin typeface="Noto Sans JP"/>
              </a:rPr>
              <a:t>Mac:</a:t>
            </a:r>
            <a:r>
              <a:rPr sz="900">
                <a:solidFill>
                  <a:srgbClr val="424245"/>
                </a:solidFill>
                <a:latin typeface="Noto Sans JP"/>
              </a:rPr>
              <a:t> MLX / llama.cpp</a:t>
            </a:r>
          </a:p>
        </p:txBody>
      </p:sp>
      <p:sp>
        <p:nvSpPr>
          <p:cNvPr id="68" name="TextBox 67"/>
          <p:cNvSpPr txBox="1"/>
          <p:nvPr/>
        </p:nvSpPr>
        <p:spPr>
          <a:xfrm>
            <a:off x="7700162" y="2746858"/>
            <a:ext cx="1516074" cy="372161"/>
          </a:xfrm>
          <a:prstGeom prst="rect">
            <a:avLst/>
          </a:prstGeom>
          <a:noFill/>
          <a:ln/>
        </p:spPr>
        <p:txBody>
          <a:bodyPr wrap="square" lIns="0" rIns="0" tIns="0" bIns="0">
            <a:noAutofit/>
          </a:bodyPr>
          <a:lstStyle/>
          <a:p>
            <a:r>
              <a:rPr sz="900" b="1">
                <a:solidFill>
                  <a:srgbClr val="424245"/>
                </a:solidFill>
                <a:latin typeface="Noto Sans JP"/>
              </a:rPr>
              <a:t>Win:</a:t>
            </a:r>
            <a:r>
              <a:rPr sz="900">
                <a:solidFill>
                  <a:srgbClr val="424245"/>
                </a:solidFill>
                <a:latin typeface="Noto Sans JP"/>
              </a:rPr>
              <a:t> Ollama / LM Studio / vLLM</a:t>
            </a:r>
          </a:p>
        </p:txBody>
      </p:sp>
      <p:sp>
        <p:nvSpPr>
          <p:cNvPr id="69" name="TextBox 68"/>
          <p:cNvSpPr txBox="1"/>
          <p:nvPr/>
        </p:nvSpPr>
        <p:spPr>
          <a:xfrm>
            <a:off x="7700162" y="3156509"/>
            <a:ext cx="1534363" cy="191110"/>
          </a:xfrm>
          <a:prstGeom prst="rect">
            <a:avLst/>
          </a:prstGeom>
          <a:noFill/>
          <a:ln/>
        </p:spPr>
        <p:txBody>
          <a:bodyPr wrap="square" lIns="0" rIns="0" tIns="0" bIns="0">
            <a:noAutofit/>
          </a:bodyPr>
          <a:lstStyle/>
          <a:p>
            <a:r>
              <a:rPr sz="900" b="1">
                <a:solidFill>
                  <a:srgbClr val="424245"/>
                </a:solidFill>
                <a:latin typeface="Noto Sans JP"/>
              </a:rPr>
              <a:t>API:</a:t>
            </a:r>
            <a:r>
              <a:rPr sz="900">
                <a:solidFill>
                  <a:srgbClr val="424245"/>
                </a:solidFill>
                <a:latin typeface="Noto Sans JP"/>
              </a:rPr>
              <a:t> OpenAI互換性</a:t>
            </a:r>
          </a:p>
        </p:txBody>
      </p:sp>
      <p:sp>
        <p:nvSpPr>
          <p:cNvPr id="70" name="Rectangle 69"/>
          <p:cNvSpPr/>
          <p:nvPr/>
        </p:nvSpPr>
        <p:spPr>
          <a:xfrm>
            <a:off x="7614209" y="3542386"/>
            <a:ext cx="1628545" cy="1171346"/>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700162" y="3628339"/>
            <a:ext cx="1574597" cy="162763"/>
          </a:xfrm>
          <a:prstGeom prst="rect">
            <a:avLst/>
          </a:prstGeom>
          <a:noFill/>
          <a:ln/>
        </p:spPr>
        <p:txBody>
          <a:bodyPr wrap="square" lIns="0" rIns="0" tIns="0" bIns="0">
            <a:noAutofit/>
          </a:bodyPr>
          <a:lstStyle/>
          <a:p>
            <a:r>
              <a:rPr sz="800" b="1">
                <a:solidFill>
                  <a:srgbClr val="86868B"/>
                </a:solidFill>
                <a:latin typeface="Noto Sans JP"/>
              </a:rPr>
              <a:t>アクション</a:t>
            </a:r>
          </a:p>
        </p:txBody>
      </p:sp>
      <p:sp>
        <p:nvSpPr>
          <p:cNvPr id="72" name="TextBox 71"/>
          <p:cNvSpPr txBox="1"/>
          <p:nvPr/>
        </p:nvSpPr>
        <p:spPr>
          <a:xfrm>
            <a:off x="7700162" y="3823105"/>
            <a:ext cx="1516074" cy="810158"/>
          </a:xfrm>
          <a:prstGeom prst="rect">
            <a:avLst/>
          </a:prstGeom>
          <a:noFill/>
          <a:ln/>
        </p:spPr>
        <p:txBody>
          <a:bodyPr wrap="square" lIns="0" rIns="0" tIns="0" bIns="0">
            <a:noAutofit/>
          </a:bodyPr>
          <a:lstStyle/>
          <a:p>
            <a:r>
              <a:rPr sz="900">
                <a:solidFill>
                  <a:srgbClr val="424245"/>
                </a:solidFill>
                <a:latin typeface="Noto Sans JP"/>
              </a:rPr>
              <a:t>OSとモデル形式に合ったランタイムを選択。Server機能の有無を確認。</a:t>
            </a:r>
          </a:p>
        </p:txBody>
      </p:sp>
      <p:pic>
        <p:nvPicPr>
          <p:cNvPr id="73" name="Picture 72" descr="image.png"/>
          <p:cNvPicPr>
            <a:picLocks noChangeAspect="1"/>
          </p:cNvPicPr>
          <p:nvPr/>
        </p:nvPicPr>
        <p:blipFill>
          <a:blip r:embed="rId4"/>
          <a:stretch>
            <a:fillRect/>
          </a:stretch>
        </p:blipFill>
        <p:spPr>
          <a:xfrm>
            <a:off x="9531706" y="2915107"/>
            <a:ext cx="123444" cy="267005"/>
          </a:xfrm>
          <a:prstGeom prst="rect">
            <a:avLst/>
          </a:prstGeom>
          <a:ln/>
        </p:spPr>
      </p:pic>
      <p:sp>
        <p:nvSpPr>
          <p:cNvPr id="74" name="Rectangle 73"/>
          <p:cNvSpPr/>
          <p:nvPr/>
        </p:nvSpPr>
        <p:spPr>
          <a:xfrm>
            <a:off x="9784080" y="1047902"/>
            <a:ext cx="1952244" cy="4000500"/>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945929" y="1677010"/>
            <a:ext cx="1628545" cy="9143"/>
          </a:xfrm>
          <a:prstGeom prst="rect">
            <a:avLst/>
          </a:prstGeom>
          <a:solidFill>
            <a:srgbClr val="F0F0F0"/>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3"/>
          <a:stretch>
            <a:fillRect/>
          </a:stretch>
        </p:blipFill>
        <p:spPr>
          <a:xfrm>
            <a:off x="9945929" y="1259129"/>
            <a:ext cx="267005" cy="267004"/>
          </a:xfrm>
          <a:prstGeom prst="rect">
            <a:avLst/>
          </a:prstGeom>
          <a:ln/>
        </p:spPr>
      </p:pic>
      <p:sp>
        <p:nvSpPr>
          <p:cNvPr id="77" name="TextBox 76"/>
          <p:cNvSpPr txBox="1"/>
          <p:nvPr/>
        </p:nvSpPr>
        <p:spPr>
          <a:xfrm>
            <a:off x="9945929" y="1259129"/>
            <a:ext cx="267005" cy="267004"/>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5</a:t>
            </a:r>
          </a:p>
        </p:txBody>
      </p:sp>
      <p:sp>
        <p:nvSpPr>
          <p:cNvPr id="78" name="TextBox 77"/>
          <p:cNvSpPr txBox="1"/>
          <p:nvPr/>
        </p:nvSpPr>
        <p:spPr>
          <a:xfrm>
            <a:off x="10308031" y="1209751"/>
            <a:ext cx="981150" cy="372161"/>
          </a:xfrm>
          <a:prstGeom prst="rect">
            <a:avLst/>
          </a:prstGeom>
          <a:noFill/>
          <a:ln/>
        </p:spPr>
        <p:txBody>
          <a:bodyPr wrap="square" lIns="0" rIns="0" tIns="0" bIns="0">
            <a:noAutofit/>
          </a:bodyPr>
          <a:lstStyle/>
          <a:p>
            <a:r>
              <a:rPr sz="1200" b="1">
                <a:solidFill>
                  <a:srgbClr val="1D1D1F"/>
                </a:solidFill>
                <a:latin typeface="Noto Sans JP"/>
              </a:rPr>
              <a:t>検証・最適化</a:t>
            </a:r>
          </a:p>
          <a:p>
            <a:r>
              <a:rPr sz="900" b="1">
                <a:solidFill>
                  <a:srgbClr val="6B7280"/>
                </a:solidFill>
                <a:latin typeface="Noto Sans JP"/>
              </a:rPr>
              <a:t>Verify</a:t>
            </a:r>
          </a:p>
        </p:txBody>
      </p:sp>
      <p:sp>
        <p:nvSpPr>
          <p:cNvPr id="79" name="TextBox 78"/>
          <p:cNvSpPr txBox="1"/>
          <p:nvPr/>
        </p:nvSpPr>
        <p:spPr>
          <a:xfrm>
            <a:off x="10308031" y="1411834"/>
            <a:ext cx="381305" cy="162762"/>
          </a:xfrm>
          <a:prstGeom prst="rect">
            <a:avLst/>
          </a:prstGeom>
          <a:noFill/>
          <a:ln/>
        </p:spPr>
        <p:txBody>
          <a:bodyPr wrap="square" lIns="0" rIns="0" tIns="0" bIns="0">
            <a:noAutofit/>
          </a:bodyPr>
          <a:lstStyle/>
          <a:p>
            <a:r>
              <a:rPr sz="900">
                <a:solidFill>
                  <a:srgbClr val="6B7280"/>
                </a:solidFill>
                <a:latin typeface="Noto Sans JP"/>
              </a:rPr>
              <a:t>Verify</a:t>
            </a:r>
          </a:p>
        </p:txBody>
      </p:sp>
      <p:sp>
        <p:nvSpPr>
          <p:cNvPr id="80" name="TextBox 79"/>
          <p:cNvSpPr txBox="1"/>
          <p:nvPr/>
        </p:nvSpPr>
        <p:spPr>
          <a:xfrm>
            <a:off x="9945929" y="1794052"/>
            <a:ext cx="1694382" cy="372161"/>
          </a:xfrm>
          <a:prstGeom prst="rect">
            <a:avLst/>
          </a:prstGeom>
          <a:noFill/>
          <a:ln/>
        </p:spPr>
        <p:txBody>
          <a:bodyPr wrap="square" lIns="0" rIns="0" tIns="0" bIns="0">
            <a:noAutofit/>
          </a:bodyPr>
          <a:lstStyle/>
          <a:p>
            <a:r>
              <a:rPr sz="900">
                <a:solidFill>
                  <a:srgbClr val="424245"/>
                </a:solidFill>
                <a:latin typeface="Noto Sans JP"/>
              </a:rPr>
              <a:t>実機ベンチによる実用性の確定。</a:t>
            </a:r>
          </a:p>
        </p:txBody>
      </p:sp>
      <p:sp>
        <p:nvSpPr>
          <p:cNvPr id="81" name="Rectangle 80"/>
          <p:cNvSpPr/>
          <p:nvPr/>
        </p:nvSpPr>
        <p:spPr>
          <a:xfrm>
            <a:off x="9945929" y="2242109"/>
            <a:ext cx="1628545" cy="1410005"/>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031882" y="2328062"/>
            <a:ext cx="1534363" cy="162762"/>
          </a:xfrm>
          <a:prstGeom prst="rect">
            <a:avLst/>
          </a:prstGeom>
          <a:noFill/>
          <a:ln/>
        </p:spPr>
        <p:txBody>
          <a:bodyPr wrap="square" lIns="0" rIns="0" tIns="0" bIns="0">
            <a:noAutofit/>
          </a:bodyPr>
          <a:lstStyle/>
          <a:p>
            <a:r>
              <a:rPr sz="800" b="1">
                <a:solidFill>
                  <a:srgbClr val="86868B"/>
                </a:solidFill>
                <a:latin typeface="Noto Sans JP"/>
              </a:rPr>
              <a:t>判断基準 (Criteria)</a:t>
            </a:r>
          </a:p>
        </p:txBody>
      </p:sp>
      <p:sp>
        <p:nvSpPr>
          <p:cNvPr id="83" name="TextBox 82"/>
          <p:cNvSpPr txBox="1"/>
          <p:nvPr/>
        </p:nvSpPr>
        <p:spPr>
          <a:xfrm>
            <a:off x="10031882" y="2522830"/>
            <a:ext cx="1516074" cy="372161"/>
          </a:xfrm>
          <a:prstGeom prst="rect">
            <a:avLst/>
          </a:prstGeom>
          <a:noFill/>
          <a:ln/>
        </p:spPr>
        <p:txBody>
          <a:bodyPr wrap="square" lIns="0" rIns="0" tIns="0" bIns="0">
            <a:noAutofit/>
          </a:bodyPr>
          <a:lstStyle/>
          <a:p>
            <a:r>
              <a:rPr sz="900" b="1">
                <a:solidFill>
                  <a:srgbClr val="424245"/>
                </a:solidFill>
                <a:latin typeface="Noto Sans JP"/>
              </a:rPr>
              <a:t>指標:</a:t>
            </a:r>
            <a:r>
              <a:rPr sz="900">
                <a:solidFill>
                  <a:srgbClr val="424245"/>
                </a:solidFill>
                <a:latin typeface="Noto Sans JP"/>
              </a:rPr>
              <a:t> TTFT, p95, JSON破壊率</a:t>
            </a:r>
          </a:p>
        </p:txBody>
      </p:sp>
      <p:sp>
        <p:nvSpPr>
          <p:cNvPr id="84" name="TextBox 83"/>
          <p:cNvSpPr txBox="1"/>
          <p:nvPr/>
        </p:nvSpPr>
        <p:spPr>
          <a:xfrm>
            <a:off x="10031882" y="2932481"/>
            <a:ext cx="1516074" cy="372160"/>
          </a:xfrm>
          <a:prstGeom prst="rect">
            <a:avLst/>
          </a:prstGeom>
          <a:noFill/>
          <a:ln/>
        </p:spPr>
        <p:txBody>
          <a:bodyPr wrap="square" lIns="0" rIns="0" tIns="0" bIns="0">
            <a:noAutofit/>
          </a:bodyPr>
          <a:lstStyle/>
          <a:p>
            <a:r>
              <a:rPr sz="900" b="1">
                <a:solidFill>
                  <a:srgbClr val="424245"/>
                </a:solidFill>
                <a:latin typeface="Noto Sans JP"/>
              </a:rPr>
              <a:t>負荷:</a:t>
            </a:r>
            <a:r>
              <a:rPr sz="900">
                <a:solidFill>
                  <a:srgbClr val="424245"/>
                </a:solidFill>
                <a:latin typeface="Noto Sans JP"/>
              </a:rPr>
              <a:t> メモリピーク, KV推移</a:t>
            </a:r>
          </a:p>
        </p:txBody>
      </p:sp>
      <p:sp>
        <p:nvSpPr>
          <p:cNvPr id="85" name="TextBox 84"/>
          <p:cNvSpPr txBox="1"/>
          <p:nvPr/>
        </p:nvSpPr>
        <p:spPr>
          <a:xfrm>
            <a:off x="10031882" y="3342132"/>
            <a:ext cx="1574597" cy="191110"/>
          </a:xfrm>
          <a:prstGeom prst="rect">
            <a:avLst/>
          </a:prstGeom>
          <a:noFill/>
          <a:ln/>
        </p:spPr>
        <p:txBody>
          <a:bodyPr wrap="square" lIns="0" rIns="0" tIns="0" bIns="0">
            <a:noAutofit/>
          </a:bodyPr>
          <a:lstStyle/>
          <a:p>
            <a:r>
              <a:rPr sz="900" b="1">
                <a:solidFill>
                  <a:srgbClr val="424245"/>
                </a:solidFill>
                <a:latin typeface="Noto Sans JP"/>
              </a:rPr>
              <a:t>品質:</a:t>
            </a:r>
            <a:r>
              <a:rPr sz="900">
                <a:solidFill>
                  <a:srgbClr val="424245"/>
                </a:solidFill>
                <a:latin typeface="Noto Sans JP"/>
              </a:rPr>
              <a:t> 幻覚, 誤転記</a:t>
            </a:r>
          </a:p>
        </p:txBody>
      </p:sp>
      <p:sp>
        <p:nvSpPr>
          <p:cNvPr id="86" name="Rectangle 85"/>
          <p:cNvSpPr/>
          <p:nvPr/>
        </p:nvSpPr>
        <p:spPr>
          <a:xfrm>
            <a:off x="9945929" y="3728009"/>
            <a:ext cx="1628545" cy="972007"/>
          </a:xfrm>
          <a:prstGeom prst="rect">
            <a:avLst/>
          </a:prstGeom>
          <a:solidFill>
            <a:srgbClr val="FBFBFD"/>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031882" y="3813962"/>
            <a:ext cx="1574597" cy="162763"/>
          </a:xfrm>
          <a:prstGeom prst="rect">
            <a:avLst/>
          </a:prstGeom>
          <a:noFill/>
          <a:ln/>
        </p:spPr>
        <p:txBody>
          <a:bodyPr wrap="square" lIns="0" rIns="0" tIns="0" bIns="0">
            <a:noAutofit/>
          </a:bodyPr>
          <a:lstStyle/>
          <a:p>
            <a:r>
              <a:rPr sz="800" b="1">
                <a:solidFill>
                  <a:srgbClr val="86868B"/>
                </a:solidFill>
                <a:latin typeface="Noto Sans JP"/>
              </a:rPr>
              <a:t>アクション</a:t>
            </a:r>
          </a:p>
        </p:txBody>
      </p:sp>
      <p:sp>
        <p:nvSpPr>
          <p:cNvPr id="88" name="TextBox 87"/>
          <p:cNvSpPr txBox="1"/>
          <p:nvPr/>
        </p:nvSpPr>
        <p:spPr>
          <a:xfrm>
            <a:off x="10031882" y="4008729"/>
            <a:ext cx="1516074" cy="609905"/>
          </a:xfrm>
          <a:prstGeom prst="rect">
            <a:avLst/>
          </a:prstGeom>
          <a:noFill/>
          <a:ln/>
        </p:spPr>
        <p:txBody>
          <a:bodyPr wrap="square" lIns="0" rIns="0" tIns="0" bIns="0">
            <a:noAutofit/>
          </a:bodyPr>
          <a:lstStyle/>
          <a:p>
            <a:r>
              <a:rPr sz="900">
                <a:solidFill>
                  <a:srgbClr val="424245"/>
                </a:solidFill>
                <a:latin typeface="Noto Sans JP"/>
              </a:rPr>
              <a:t>条件固定ベンチで測定。KV量子化やプロンプトキャッシュで調整。</a:t>
            </a:r>
          </a:p>
        </p:txBody>
      </p:sp>
      <p:pic>
        <p:nvPicPr>
          <p:cNvPr id="89" name="Picture 88" descr="image.png"/>
          <p:cNvPicPr>
            <a:picLocks noChangeAspect="1"/>
          </p:cNvPicPr>
          <p:nvPr/>
        </p:nvPicPr>
        <p:blipFill>
          <a:blip r:embed="rId5"/>
          <a:stretch>
            <a:fillRect/>
          </a:stretch>
        </p:blipFill>
        <p:spPr>
          <a:xfrm>
            <a:off x="457200" y="5333695"/>
            <a:ext cx="11277295" cy="895198"/>
          </a:xfrm>
          <a:prstGeom prst="rect">
            <a:avLst/>
          </a:prstGeom>
          <a:ln/>
        </p:spPr>
      </p:pic>
      <p:pic>
        <p:nvPicPr>
          <p:cNvPr id="90" name="Picture 89" descr="image.png"/>
          <p:cNvPicPr>
            <a:picLocks noChangeAspect="1"/>
          </p:cNvPicPr>
          <p:nvPr/>
        </p:nvPicPr>
        <p:blipFill>
          <a:blip r:embed="rId6"/>
          <a:stretch>
            <a:fillRect/>
          </a:stretch>
        </p:blipFill>
        <p:spPr>
          <a:xfrm>
            <a:off x="685800" y="5514746"/>
            <a:ext cx="142646" cy="267005"/>
          </a:xfrm>
          <a:prstGeom prst="rect">
            <a:avLst/>
          </a:prstGeom>
          <a:ln/>
        </p:spPr>
      </p:pic>
      <p:sp>
        <p:nvSpPr>
          <p:cNvPr id="91" name="TextBox 90"/>
          <p:cNvSpPr txBox="1"/>
          <p:nvPr/>
        </p:nvSpPr>
        <p:spPr>
          <a:xfrm>
            <a:off x="942746" y="5477256"/>
            <a:ext cx="7610551" cy="191110"/>
          </a:xfrm>
          <a:prstGeom prst="rect">
            <a:avLst/>
          </a:prstGeom>
          <a:noFill/>
          <a:ln/>
        </p:spPr>
        <p:txBody>
          <a:bodyPr wrap="square" lIns="0" rIns="0" tIns="0" bIns="0">
            <a:noAutofit/>
          </a:bodyPr>
          <a:lstStyle/>
          <a:p>
            <a:r>
              <a:rPr sz="1000" b="1">
                <a:solidFill>
                  <a:srgbClr val="1F2937"/>
                </a:solidFill>
                <a:latin typeface="Noto Sans JP"/>
              </a:rPr>
              <a:t>意思決定の要点 (Key Takeaways)</a:t>
            </a:r>
          </a:p>
        </p:txBody>
      </p:sp>
      <p:sp>
        <p:nvSpPr>
          <p:cNvPr id="92" name="TextBox 91"/>
          <p:cNvSpPr txBox="1"/>
          <p:nvPr/>
        </p:nvSpPr>
        <p:spPr>
          <a:xfrm>
            <a:off x="942746" y="5705856"/>
            <a:ext cx="7573061" cy="381305"/>
          </a:xfrm>
          <a:prstGeom prst="rect">
            <a:avLst/>
          </a:prstGeom>
          <a:noFill/>
          <a:ln/>
        </p:spPr>
        <p:txBody>
          <a:bodyPr wrap="square" lIns="0" rIns="0" tIns="0" bIns="0">
            <a:noAutofit/>
          </a:bodyPr>
          <a:lstStyle/>
          <a:p>
            <a:r>
              <a:rPr sz="1000">
                <a:solidFill>
                  <a:srgbClr val="4B5563"/>
                </a:solidFill>
                <a:latin typeface="Noto Sans JP"/>
              </a:rPr>
              <a:t> 「ランタイム先行」ではなく</a:t>
            </a:r>
            <a:r>
              <a:rPr sz="1000" b="1">
                <a:solidFill>
                  <a:srgbClr val="4B5563"/>
                </a:solidFill>
                <a:latin typeface="Noto Sans JP"/>
              </a:rPr>
              <a:t>「要件→メモリ(Tier)→モデル」の順</a:t>
            </a:r>
            <a:r>
              <a:rPr sz="1000">
                <a:solidFill>
                  <a:srgbClr val="4B5563"/>
                </a:solidFill>
                <a:latin typeface="Noto Sans JP"/>
              </a:rPr>
              <a:t>で決定することで、手戻りを防ぎます。</a:t>
            </a:r>
          </a:p>
          <a:p>
            <a:r>
              <a:rPr sz="1000">
                <a:solidFill>
                  <a:srgbClr val="4B5563"/>
                </a:solidFill>
                <a:latin typeface="Noto Sans JP"/>
              </a:rPr>
              <a:t> 特に長文コンテキストではKVキャッシュが支配的になるため、</a:t>
            </a:r>
            <a:r>
              <a:rPr sz="1000" b="1">
                <a:solidFill>
                  <a:srgbClr val="4B5563"/>
                </a:solidFill>
                <a:latin typeface="Noto Sans JP"/>
              </a:rPr>
              <a:t>KV最適化（paged/quantized KV）</a:t>
            </a:r>
            <a:r>
              <a:rPr sz="1000">
                <a:solidFill>
                  <a:srgbClr val="4B5563"/>
                </a:solidFill>
                <a:latin typeface="Noto Sans JP"/>
              </a:rPr>
              <a:t>の活用が成否を分けます。 </a:t>
            </a:r>
          </a:p>
        </p:txBody>
      </p:sp>
      <p:sp>
        <p:nvSpPr>
          <p:cNvPr id="93" name="Rectangle 92"/>
          <p:cNvSpPr/>
          <p:nvPr/>
        </p:nvSpPr>
        <p:spPr>
          <a:xfrm>
            <a:off x="0" y="6515100"/>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0" y="6515100"/>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624828"/>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96" name="TextBox 95"/>
          <p:cNvSpPr txBox="1"/>
          <p:nvPr/>
        </p:nvSpPr>
        <p:spPr>
          <a:xfrm>
            <a:off x="11385194" y="6624828"/>
            <a:ext cx="428854" cy="171907"/>
          </a:xfrm>
          <a:prstGeom prst="rect">
            <a:avLst/>
          </a:prstGeom>
          <a:noFill/>
          <a:ln/>
        </p:spPr>
        <p:txBody>
          <a:bodyPr wrap="square" lIns="0" rIns="0" tIns="0" bIns="0">
            <a:noAutofit/>
          </a:bodyPr>
          <a:lstStyle/>
          <a:p>
            <a:r>
              <a:rPr sz="900">
                <a:solidFill>
                  <a:srgbClr val="86868B"/>
                </a:solidFill>
                <a:latin typeface="Noto Sans JP"/>
              </a:rPr>
              <a:t>75 / 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952805"/>
          </a:xfrm>
          <a:prstGeom prst="rect">
            <a:avLst/>
          </a:prstGeom>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43661"/>
            <a:ext cx="12191695"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57200" y="319126"/>
            <a:ext cx="267005" cy="304495"/>
          </a:xfrm>
          <a:prstGeom prst="rect">
            <a:avLst/>
          </a:prstGeom>
          <a:ln/>
        </p:spPr>
      </p:pic>
      <p:sp>
        <p:nvSpPr>
          <p:cNvPr id="8" name="TextBox 7"/>
          <p:cNvSpPr txBox="1"/>
          <p:nvPr/>
        </p:nvSpPr>
        <p:spPr>
          <a:xfrm>
            <a:off x="875994" y="243230"/>
            <a:ext cx="3248863" cy="457200"/>
          </a:xfrm>
          <a:prstGeom prst="rect">
            <a:avLst/>
          </a:prstGeom>
          <a:noFill/>
          <a:ln/>
        </p:spPr>
        <p:txBody>
          <a:bodyPr wrap="square" lIns="0" rIns="0" tIns="0" bIns="0">
            <a:noAutofit/>
          </a:bodyPr>
          <a:lstStyle/>
          <a:p>
            <a:r>
              <a:rPr sz="2400" b="1">
                <a:solidFill>
                  <a:srgbClr val="1D1D1F"/>
                </a:solidFill>
                <a:latin typeface="Noto Sans JP"/>
              </a:rPr>
              <a:t>総括（実務への適用）</a:t>
            </a:r>
          </a:p>
        </p:txBody>
      </p:sp>
      <p:sp>
        <p:nvSpPr>
          <p:cNvPr id="9" name="TextBox 8"/>
          <p:cNvSpPr txBox="1"/>
          <p:nvPr/>
        </p:nvSpPr>
        <p:spPr>
          <a:xfrm>
            <a:off x="9677095" y="342900"/>
            <a:ext cx="2221992" cy="257861"/>
          </a:xfrm>
          <a:prstGeom prst="rect">
            <a:avLst/>
          </a:prstGeom>
          <a:noFill/>
          <a:ln/>
        </p:spPr>
        <p:txBody>
          <a:bodyPr wrap="square" lIns="0" rIns="0" tIns="0" bIns="0">
            <a:noAutofit/>
          </a:bodyPr>
          <a:lstStyle/>
          <a:p>
            <a:r>
              <a:rPr sz="1300">
                <a:solidFill>
                  <a:srgbClr val="86868B"/>
                </a:solidFill>
                <a:latin typeface="Noto Sans JP"/>
              </a:rPr>
              <a:t>実装の原則と次のステップ</a:t>
            </a:r>
          </a:p>
        </p:txBody>
      </p:sp>
      <p:pic>
        <p:nvPicPr>
          <p:cNvPr id="10" name="Picture 9" descr="image.png"/>
          <p:cNvPicPr>
            <a:picLocks noChangeAspect="1"/>
          </p:cNvPicPr>
          <p:nvPr/>
        </p:nvPicPr>
        <p:blipFill>
          <a:blip r:embed="rId3"/>
          <a:stretch>
            <a:fillRect/>
          </a:stretch>
        </p:blipFill>
        <p:spPr>
          <a:xfrm>
            <a:off x="457200" y="1257300"/>
            <a:ext cx="11277295" cy="1021384"/>
          </a:xfrm>
          <a:prstGeom prst="rect">
            <a:avLst/>
          </a:prstGeom>
          <a:ln/>
        </p:spPr>
      </p:pic>
      <p:sp>
        <p:nvSpPr>
          <p:cNvPr id="11" name="TextBox 10"/>
          <p:cNvSpPr txBox="1"/>
          <p:nvPr/>
        </p:nvSpPr>
        <p:spPr>
          <a:xfrm>
            <a:off x="743407" y="1447495"/>
            <a:ext cx="10849356" cy="648310"/>
          </a:xfrm>
          <a:prstGeom prst="rect">
            <a:avLst/>
          </a:prstGeom>
          <a:noFill/>
          <a:ln/>
        </p:spPr>
        <p:txBody>
          <a:bodyPr wrap="square" lIns="0" rIns="0" tIns="0" bIns="0">
            <a:noAutofit/>
          </a:bodyPr>
          <a:lstStyle/>
          <a:p>
            <a:r>
              <a:rPr sz="1800" b="1">
                <a:solidFill>
                  <a:srgbClr val="1D1D1F"/>
                </a:solidFill>
                <a:latin typeface="Noto Sans JP"/>
              </a:rPr>
              <a:t> 結論：ローカルAIは「4bit量子化＋KV最適化」を前提に、 </a:t>
            </a:r>
          </a:p>
          <a:p>
            <a:r>
              <a:rPr sz="1800" b="1">
                <a:solidFill>
                  <a:srgbClr val="1D1D1F"/>
                </a:solidFill>
                <a:latin typeface="Noto Sans JP"/>
              </a:rPr>
              <a:t> 失敗モードを設計で抑え込むことで実務運用が可能です。 </a:t>
            </a:r>
          </a:p>
        </p:txBody>
      </p:sp>
      <p:sp>
        <p:nvSpPr>
          <p:cNvPr id="12" name="Rectangle 11"/>
          <p:cNvSpPr/>
          <p:nvPr/>
        </p:nvSpPr>
        <p:spPr>
          <a:xfrm>
            <a:off x="457200"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45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657454" y="2754173"/>
            <a:ext cx="190194" cy="190194"/>
          </a:xfrm>
          <a:prstGeom prst="rect">
            <a:avLst/>
          </a:prstGeom>
          <a:ln/>
        </p:spPr>
      </p:pic>
      <p:sp>
        <p:nvSpPr>
          <p:cNvPr id="15" name="TextBox 14"/>
          <p:cNvSpPr txBox="1"/>
          <p:nvPr/>
        </p:nvSpPr>
        <p:spPr>
          <a:xfrm>
            <a:off x="961949" y="2706624"/>
            <a:ext cx="2352751" cy="400506"/>
          </a:xfrm>
          <a:prstGeom prst="rect">
            <a:avLst/>
          </a:prstGeom>
          <a:noFill/>
          <a:ln/>
        </p:spPr>
        <p:txBody>
          <a:bodyPr wrap="square" lIns="0" rIns="0" tIns="0" bIns="0">
            <a:noAutofit/>
          </a:bodyPr>
          <a:lstStyle/>
          <a:p>
            <a:r>
              <a:rPr sz="1500" b="1">
                <a:solidFill>
                  <a:srgbClr val="1D1D1F"/>
                </a:solidFill>
                <a:latin typeface="Noto Sans JP"/>
              </a:rPr>
              <a:t>実装の原則（Principles）</a:t>
            </a:r>
          </a:p>
        </p:txBody>
      </p:sp>
      <p:pic>
        <p:nvPicPr>
          <p:cNvPr id="16" name="Picture 15" descr="image.png"/>
          <p:cNvPicPr>
            <a:picLocks noChangeAspect="1"/>
          </p:cNvPicPr>
          <p:nvPr/>
        </p:nvPicPr>
        <p:blipFill>
          <a:blip r:embed="rId5"/>
          <a:stretch>
            <a:fillRect/>
          </a:stretch>
        </p:blipFill>
        <p:spPr>
          <a:xfrm>
            <a:off x="657454" y="3240634"/>
            <a:ext cx="133501" cy="133502"/>
          </a:xfrm>
          <a:prstGeom prst="rect">
            <a:avLst/>
          </a:prstGeom>
          <a:ln/>
        </p:spPr>
      </p:pic>
      <p:sp>
        <p:nvSpPr>
          <p:cNvPr id="17" name="TextBox 16"/>
          <p:cNvSpPr txBox="1"/>
          <p:nvPr/>
        </p:nvSpPr>
        <p:spPr>
          <a:xfrm>
            <a:off x="886054" y="3469234"/>
            <a:ext cx="4972507" cy="534010"/>
          </a:xfrm>
          <a:prstGeom prst="rect">
            <a:avLst/>
          </a:prstGeom>
          <a:noFill/>
          <a:ln/>
        </p:spPr>
        <p:txBody>
          <a:bodyPr wrap="square" lIns="0" rIns="0" tIns="0" bIns="0">
            <a:noAutofit/>
          </a:bodyPr>
          <a:lstStyle/>
          <a:p>
            <a:r>
              <a:rPr sz="1200">
                <a:solidFill>
                  <a:srgbClr val="424245"/>
                </a:solidFill>
                <a:latin typeface="Noto Sans JP"/>
              </a:rPr>
              <a:t>重みは4bit（GGUF/AWQ/GPTQ）でメモリ理論値を計算し、Tierに合わせる。</a:t>
            </a:r>
          </a:p>
        </p:txBody>
      </p:sp>
      <p:pic>
        <p:nvPicPr>
          <p:cNvPr id="18" name="Picture 17" descr="image.png"/>
          <p:cNvPicPr>
            <a:picLocks noChangeAspect="1"/>
          </p:cNvPicPr>
          <p:nvPr/>
        </p:nvPicPr>
        <p:blipFill>
          <a:blip r:embed="rId6"/>
          <a:stretch>
            <a:fillRect/>
          </a:stretch>
        </p:blipFill>
        <p:spPr>
          <a:xfrm>
            <a:off x="1343254" y="3735324"/>
            <a:ext cx="1123798" cy="267005"/>
          </a:xfrm>
          <a:prstGeom prst="rect">
            <a:avLst/>
          </a:prstGeom>
          <a:ln/>
        </p:spPr>
      </p:pic>
      <p:sp>
        <p:nvSpPr>
          <p:cNvPr id="19" name="TextBox 18"/>
          <p:cNvSpPr txBox="1"/>
          <p:nvPr/>
        </p:nvSpPr>
        <p:spPr>
          <a:xfrm>
            <a:off x="1343254" y="3735324"/>
            <a:ext cx="1124711" cy="267005"/>
          </a:xfrm>
          <a:prstGeom prst="rect">
            <a:avLst/>
          </a:prstGeom>
          <a:noFill/>
          <a:ln>
            <a:solidFill>
              <a:srgbClr val="FFFFFF"/>
            </a:solidFill>
          </a:ln>
        </p:spPr>
        <p:txBody>
          <a:bodyPr wrap="square" lIns="0" rIns="0" tIns="0" bIns="0">
            <a:noAutofit/>
          </a:bodyPr>
          <a:lstStyle/>
          <a:p>
            <a:r>
              <a:rPr sz="900" b="1">
                <a:solidFill>
                  <a:srgbClr val="166534"/>
                </a:solidFill>
                <a:latin typeface="Noto Sans JP"/>
              </a:rPr>
              <a:t>Cost-Efficiency</a:t>
            </a:r>
          </a:p>
        </p:txBody>
      </p:sp>
      <p:pic>
        <p:nvPicPr>
          <p:cNvPr id="20" name="Picture 19" descr="image.png"/>
          <p:cNvPicPr>
            <a:picLocks noChangeAspect="1"/>
          </p:cNvPicPr>
          <p:nvPr/>
        </p:nvPicPr>
        <p:blipFill>
          <a:blip r:embed="rId5"/>
          <a:stretch>
            <a:fillRect/>
          </a:stretch>
        </p:blipFill>
        <p:spPr>
          <a:xfrm>
            <a:off x="657454" y="4131259"/>
            <a:ext cx="133501" cy="133501"/>
          </a:xfrm>
          <a:prstGeom prst="rect">
            <a:avLst/>
          </a:prstGeom>
          <a:ln/>
        </p:spPr>
      </p:pic>
      <p:sp>
        <p:nvSpPr>
          <p:cNvPr id="21" name="TextBox 20"/>
          <p:cNvSpPr txBox="1"/>
          <p:nvPr/>
        </p:nvSpPr>
        <p:spPr>
          <a:xfrm>
            <a:off x="886054" y="4359859"/>
            <a:ext cx="4972507" cy="534010"/>
          </a:xfrm>
          <a:prstGeom prst="rect">
            <a:avLst/>
          </a:prstGeom>
          <a:noFill/>
          <a:ln/>
        </p:spPr>
        <p:txBody>
          <a:bodyPr wrap="square" lIns="0" rIns="0" tIns="0" bIns="0">
            <a:noAutofit/>
          </a:bodyPr>
          <a:lstStyle/>
          <a:p>
            <a:r>
              <a:rPr sz="1200">
                <a:solidFill>
                  <a:srgbClr val="424245"/>
                </a:solidFill>
                <a:latin typeface="Noto Sans JP"/>
              </a:rPr>
              <a:t>長文・多同時接続時は、paged KV、KV量子化、prompt cacheを活用してメモリ爆発を防ぐ。</a:t>
            </a:r>
          </a:p>
        </p:txBody>
      </p:sp>
      <p:pic>
        <p:nvPicPr>
          <p:cNvPr id="22" name="Picture 21" descr="image.png"/>
          <p:cNvPicPr>
            <a:picLocks noChangeAspect="1"/>
          </p:cNvPicPr>
          <p:nvPr/>
        </p:nvPicPr>
        <p:blipFill>
          <a:blip r:embed="rId7"/>
          <a:stretch>
            <a:fillRect/>
          </a:stretch>
        </p:blipFill>
        <p:spPr>
          <a:xfrm>
            <a:off x="2410358" y="4625950"/>
            <a:ext cx="866850" cy="267005"/>
          </a:xfrm>
          <a:prstGeom prst="rect">
            <a:avLst/>
          </a:prstGeom>
          <a:ln/>
        </p:spPr>
      </p:pic>
      <p:sp>
        <p:nvSpPr>
          <p:cNvPr id="23" name="TextBox 22"/>
          <p:cNvSpPr txBox="1"/>
          <p:nvPr/>
        </p:nvSpPr>
        <p:spPr>
          <a:xfrm>
            <a:off x="2410358" y="4625950"/>
            <a:ext cx="866850" cy="267005"/>
          </a:xfrm>
          <a:prstGeom prst="rect">
            <a:avLst/>
          </a:prstGeom>
          <a:noFill/>
          <a:ln>
            <a:solidFill>
              <a:srgbClr val="FFFFFF"/>
            </a:solidFill>
          </a:ln>
        </p:spPr>
        <p:txBody>
          <a:bodyPr wrap="square" lIns="0" rIns="0" tIns="0" bIns="0">
            <a:noAutofit/>
          </a:bodyPr>
          <a:lstStyle/>
          <a:p>
            <a:r>
              <a:rPr sz="900" b="1">
                <a:solidFill>
                  <a:srgbClr val="166534"/>
                </a:solidFill>
                <a:latin typeface="Noto Sans JP"/>
              </a:rPr>
              <a:t>Scalability</a:t>
            </a:r>
          </a:p>
        </p:txBody>
      </p:sp>
      <p:pic>
        <p:nvPicPr>
          <p:cNvPr id="24" name="Picture 23" descr="image.png"/>
          <p:cNvPicPr>
            <a:picLocks noChangeAspect="1"/>
          </p:cNvPicPr>
          <p:nvPr/>
        </p:nvPicPr>
        <p:blipFill>
          <a:blip r:embed="rId5"/>
          <a:stretch>
            <a:fillRect/>
          </a:stretch>
        </p:blipFill>
        <p:spPr>
          <a:xfrm>
            <a:off x="657454" y="5021885"/>
            <a:ext cx="133501" cy="133501"/>
          </a:xfrm>
          <a:prstGeom prst="rect">
            <a:avLst/>
          </a:prstGeom>
          <a:ln/>
        </p:spPr>
      </p:pic>
      <p:sp>
        <p:nvSpPr>
          <p:cNvPr id="25" name="TextBox 24"/>
          <p:cNvSpPr txBox="1"/>
          <p:nvPr/>
        </p:nvSpPr>
        <p:spPr>
          <a:xfrm>
            <a:off x="886054" y="5250485"/>
            <a:ext cx="4972507" cy="534010"/>
          </a:xfrm>
          <a:prstGeom prst="rect">
            <a:avLst/>
          </a:prstGeom>
          <a:noFill/>
          <a:ln/>
        </p:spPr>
        <p:txBody>
          <a:bodyPr wrap="square" lIns="0" rIns="0" tIns="0" bIns="0">
            <a:noAutofit/>
          </a:bodyPr>
          <a:lstStyle/>
          <a:p>
            <a:r>
              <a:rPr sz="1200">
                <a:solidFill>
                  <a:srgbClr val="424245"/>
                </a:solidFill>
                <a:latin typeface="Noto Sans JP"/>
              </a:rPr>
              <a:t>幻覚・誤転記・JSON破壊は「起きるもの」とし、UI確認・検証ループ・再生成でカバーする。</a:t>
            </a:r>
          </a:p>
        </p:txBody>
      </p:sp>
      <p:pic>
        <p:nvPicPr>
          <p:cNvPr id="26" name="Picture 25" descr="image.png"/>
          <p:cNvPicPr>
            <a:picLocks noChangeAspect="1"/>
          </p:cNvPicPr>
          <p:nvPr/>
        </p:nvPicPr>
        <p:blipFill>
          <a:blip r:embed="rId8"/>
          <a:stretch>
            <a:fillRect/>
          </a:stretch>
        </p:blipFill>
        <p:spPr>
          <a:xfrm>
            <a:off x="2714854" y="5516575"/>
            <a:ext cx="923544" cy="267005"/>
          </a:xfrm>
          <a:prstGeom prst="rect">
            <a:avLst/>
          </a:prstGeom>
          <a:ln/>
        </p:spPr>
      </p:pic>
      <p:sp>
        <p:nvSpPr>
          <p:cNvPr id="27" name="TextBox 26"/>
          <p:cNvSpPr txBox="1"/>
          <p:nvPr/>
        </p:nvSpPr>
        <p:spPr>
          <a:xfrm>
            <a:off x="2714854" y="5516575"/>
            <a:ext cx="924457" cy="267005"/>
          </a:xfrm>
          <a:prstGeom prst="rect">
            <a:avLst/>
          </a:prstGeom>
          <a:noFill/>
          <a:ln>
            <a:solidFill>
              <a:srgbClr val="FFFFFF"/>
            </a:solidFill>
          </a:ln>
        </p:spPr>
        <p:txBody>
          <a:bodyPr wrap="square" lIns="0" rIns="0" tIns="0" bIns="0">
            <a:noAutofit/>
          </a:bodyPr>
          <a:lstStyle/>
          <a:p>
            <a:r>
              <a:rPr sz="900" b="1">
                <a:solidFill>
                  <a:srgbClr val="166534"/>
                </a:solidFill>
                <a:latin typeface="Noto Sans JP"/>
              </a:rPr>
              <a:t>Robustness</a:t>
            </a:r>
          </a:p>
        </p:txBody>
      </p:sp>
      <p:pic>
        <p:nvPicPr>
          <p:cNvPr id="28" name="Picture 27" descr="image.png"/>
          <p:cNvPicPr>
            <a:picLocks noChangeAspect="1"/>
          </p:cNvPicPr>
          <p:nvPr/>
        </p:nvPicPr>
        <p:blipFill>
          <a:blip r:embed="rId5"/>
          <a:stretch>
            <a:fillRect/>
          </a:stretch>
        </p:blipFill>
        <p:spPr>
          <a:xfrm>
            <a:off x="657454" y="5911596"/>
            <a:ext cx="133501" cy="133501"/>
          </a:xfrm>
          <a:prstGeom prst="rect">
            <a:avLst/>
          </a:prstGeom>
          <a:ln/>
        </p:spPr>
      </p:pic>
      <p:sp>
        <p:nvSpPr>
          <p:cNvPr id="29" name="TextBox 28"/>
          <p:cNvSpPr txBox="1"/>
          <p:nvPr/>
        </p:nvSpPr>
        <p:spPr>
          <a:xfrm>
            <a:off x="886054" y="6140196"/>
            <a:ext cx="4972507" cy="457200"/>
          </a:xfrm>
          <a:prstGeom prst="rect">
            <a:avLst/>
          </a:prstGeom>
          <a:noFill/>
          <a:ln/>
        </p:spPr>
        <p:txBody>
          <a:bodyPr wrap="square" lIns="0" rIns="0" tIns="0" bIns="0">
            <a:noAutofit/>
          </a:bodyPr>
          <a:lstStyle/>
          <a:p>
            <a:r>
              <a:rPr sz="1200">
                <a:solidFill>
                  <a:srgbClr val="424245"/>
                </a:solidFill>
                <a:latin typeface="Noto Sans JP"/>
              </a:rPr>
              <a:t>p50/p95レイテンシと品質（tok/s, RTF, JSON破壊率）を定量ベンチマークで測定し確定させる。</a:t>
            </a:r>
          </a:p>
        </p:txBody>
      </p:sp>
      <p:sp>
        <p:nvSpPr>
          <p:cNvPr id="30" name="Rectangle 29"/>
          <p:cNvSpPr/>
          <p:nvPr/>
        </p:nvSpPr>
        <p:spPr>
          <a:xfrm>
            <a:off x="6210605" y="2507285"/>
            <a:ext cx="5524805" cy="4629607"/>
          </a:xfrm>
          <a:prstGeom prst="rect">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9944" y="3087929"/>
            <a:ext cx="5124298" cy="19201"/>
          </a:xfrm>
          <a:prstGeom prst="rect">
            <a:avLst/>
          </a:prstGeom>
          <a:solidFill>
            <a:srgbClr val="F5F5F7"/>
          </a:solidFill>
          <a:ln w="12700">
            <a:solidFill>
              <a:srgbClr val="F5F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9"/>
          <a:stretch>
            <a:fillRect/>
          </a:stretch>
        </p:blipFill>
        <p:spPr>
          <a:xfrm>
            <a:off x="6409944" y="2754173"/>
            <a:ext cx="219455" cy="190194"/>
          </a:xfrm>
          <a:prstGeom prst="rect">
            <a:avLst/>
          </a:prstGeom>
          <a:ln/>
        </p:spPr>
      </p:pic>
      <p:sp>
        <p:nvSpPr>
          <p:cNvPr id="33" name="TextBox 32"/>
          <p:cNvSpPr txBox="1"/>
          <p:nvPr/>
        </p:nvSpPr>
        <p:spPr>
          <a:xfrm>
            <a:off x="6743700" y="2706624"/>
            <a:ext cx="2772460" cy="400506"/>
          </a:xfrm>
          <a:prstGeom prst="rect">
            <a:avLst/>
          </a:prstGeom>
          <a:noFill/>
          <a:ln/>
        </p:spPr>
        <p:txBody>
          <a:bodyPr wrap="square" lIns="0" rIns="0" tIns="0" bIns="0">
            <a:noAutofit/>
          </a:bodyPr>
          <a:lstStyle/>
          <a:p>
            <a:r>
              <a:rPr sz="1500" b="1">
                <a:solidFill>
                  <a:srgbClr val="1D1D1F"/>
                </a:solidFill>
                <a:latin typeface="Noto Sans JP"/>
              </a:rPr>
              <a:t>次のステップ（Action Items）</a:t>
            </a:r>
          </a:p>
        </p:txBody>
      </p:sp>
      <p:sp>
        <p:nvSpPr>
          <p:cNvPr id="34" name="Rectangle 33"/>
          <p:cNvSpPr/>
          <p:nvPr/>
        </p:nvSpPr>
        <p:spPr>
          <a:xfrm>
            <a:off x="6409944" y="3240634"/>
            <a:ext cx="5124298" cy="838505"/>
          </a:xfrm>
          <a:prstGeom prst="rect">
            <a:avLst/>
          </a:prstGeom>
          <a:solidFill>
            <a:srgbClr val="F9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9944" y="32406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0"/>
          <a:stretch>
            <a:fillRect/>
          </a:stretch>
        </p:blipFill>
        <p:spPr>
          <a:xfrm>
            <a:off x="6601054" y="3545129"/>
            <a:ext cx="228600" cy="228600"/>
          </a:xfrm>
          <a:prstGeom prst="rect">
            <a:avLst/>
          </a:prstGeom>
          <a:ln/>
        </p:spPr>
      </p:pic>
      <p:sp>
        <p:nvSpPr>
          <p:cNvPr id="37" name="TextBox 36"/>
          <p:cNvSpPr txBox="1"/>
          <p:nvPr/>
        </p:nvSpPr>
        <p:spPr>
          <a:xfrm>
            <a:off x="6601054" y="3545129"/>
            <a:ext cx="228600" cy="228600"/>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1</a:t>
            </a:r>
          </a:p>
        </p:txBody>
      </p:sp>
      <p:sp>
        <p:nvSpPr>
          <p:cNvPr id="38" name="TextBox 37"/>
          <p:cNvSpPr txBox="1"/>
          <p:nvPr/>
        </p:nvSpPr>
        <p:spPr>
          <a:xfrm>
            <a:off x="6943954" y="3354934"/>
            <a:ext cx="4553711" cy="228600"/>
          </a:xfrm>
          <a:prstGeom prst="rect">
            <a:avLst/>
          </a:prstGeom>
          <a:noFill/>
          <a:ln/>
        </p:spPr>
        <p:txBody>
          <a:bodyPr wrap="square" lIns="0" rIns="0" tIns="0" bIns="0">
            <a:noAutofit/>
          </a:bodyPr>
          <a:lstStyle/>
          <a:p>
            <a:r>
              <a:rPr sz="1200" b="1">
                <a:solidFill>
                  <a:srgbClr val="1F2937"/>
                </a:solidFill>
                <a:latin typeface="Noto Sans JP"/>
              </a:rPr>
              <a:t>Tierの確定：</a:t>
            </a:r>
          </a:p>
        </p:txBody>
      </p:sp>
      <p:sp>
        <p:nvSpPr>
          <p:cNvPr id="39" name="TextBox 38"/>
          <p:cNvSpPr txBox="1"/>
          <p:nvPr/>
        </p:nvSpPr>
        <p:spPr>
          <a:xfrm>
            <a:off x="6943954" y="3583534"/>
            <a:ext cx="4515307" cy="381305"/>
          </a:xfrm>
          <a:prstGeom prst="rect">
            <a:avLst/>
          </a:prstGeom>
          <a:noFill/>
          <a:ln/>
        </p:spPr>
        <p:txBody>
          <a:bodyPr wrap="square" lIns="0" rIns="0" tIns="0" bIns="0">
            <a:noAutofit/>
          </a:bodyPr>
          <a:lstStyle/>
          <a:p>
            <a:r>
              <a:rPr sz="1000">
                <a:solidFill>
                  <a:srgbClr val="4B5563"/>
                </a:solidFill>
                <a:latin typeface="Noto Sans JP"/>
              </a:rPr>
              <a:t>手持ちハードウェア（Apple/Win）とTier表を照合し、現実的なモデル規模を把握。</a:t>
            </a:r>
          </a:p>
        </p:txBody>
      </p:sp>
      <p:sp>
        <p:nvSpPr>
          <p:cNvPr id="40" name="Rectangle 39"/>
          <p:cNvSpPr/>
          <p:nvPr/>
        </p:nvSpPr>
        <p:spPr>
          <a:xfrm>
            <a:off x="6409944" y="4192524"/>
            <a:ext cx="5124298" cy="838505"/>
          </a:xfrm>
          <a:prstGeom prst="rect">
            <a:avLst/>
          </a:prstGeom>
          <a:solidFill>
            <a:srgbClr val="F9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9944" y="419252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0"/>
          <a:stretch>
            <a:fillRect/>
          </a:stretch>
        </p:blipFill>
        <p:spPr>
          <a:xfrm>
            <a:off x="6601054" y="4497934"/>
            <a:ext cx="228600" cy="228600"/>
          </a:xfrm>
          <a:prstGeom prst="rect">
            <a:avLst/>
          </a:prstGeom>
          <a:ln/>
        </p:spPr>
      </p:pic>
      <p:sp>
        <p:nvSpPr>
          <p:cNvPr id="43" name="TextBox 42"/>
          <p:cNvSpPr txBox="1"/>
          <p:nvPr/>
        </p:nvSpPr>
        <p:spPr>
          <a:xfrm>
            <a:off x="6601054" y="4497934"/>
            <a:ext cx="228600" cy="228600"/>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2</a:t>
            </a:r>
          </a:p>
        </p:txBody>
      </p:sp>
      <p:sp>
        <p:nvSpPr>
          <p:cNvPr id="44" name="TextBox 43"/>
          <p:cNvSpPr txBox="1"/>
          <p:nvPr/>
        </p:nvSpPr>
        <p:spPr>
          <a:xfrm>
            <a:off x="6943954" y="4306824"/>
            <a:ext cx="4629607" cy="228600"/>
          </a:xfrm>
          <a:prstGeom prst="rect">
            <a:avLst/>
          </a:prstGeom>
          <a:noFill/>
          <a:ln/>
        </p:spPr>
        <p:txBody>
          <a:bodyPr wrap="square" lIns="0" rIns="0" tIns="0" bIns="0">
            <a:noAutofit/>
          </a:bodyPr>
          <a:lstStyle/>
          <a:p>
            <a:r>
              <a:rPr sz="1200" b="1">
                <a:solidFill>
                  <a:srgbClr val="1F2937"/>
                </a:solidFill>
                <a:latin typeface="Noto Sans JP"/>
              </a:rPr>
              <a:t>パイロット構築：</a:t>
            </a:r>
          </a:p>
        </p:txBody>
      </p:sp>
      <p:sp>
        <p:nvSpPr>
          <p:cNvPr id="45" name="TextBox 44"/>
          <p:cNvSpPr txBox="1"/>
          <p:nvPr/>
        </p:nvSpPr>
        <p:spPr>
          <a:xfrm>
            <a:off x="6943954" y="4535424"/>
            <a:ext cx="4515307" cy="381305"/>
          </a:xfrm>
          <a:prstGeom prst="rect">
            <a:avLst/>
          </a:prstGeom>
          <a:noFill/>
          <a:ln/>
        </p:spPr>
        <p:txBody>
          <a:bodyPr wrap="square" lIns="0" rIns="0" tIns="0" bIns="0">
            <a:noAutofit/>
          </a:bodyPr>
          <a:lstStyle/>
          <a:p>
            <a:r>
              <a:rPr sz="1000">
                <a:solidFill>
                  <a:srgbClr val="4B5563"/>
                </a:solidFill>
                <a:latin typeface="Noto Sans JP"/>
              </a:rPr>
              <a:t>推奨スタック（低コスト/高品質）に基づき、llama.cpp/Ollama/faster-whisper等でプロトタイプ作成。</a:t>
            </a:r>
          </a:p>
        </p:txBody>
      </p:sp>
      <p:sp>
        <p:nvSpPr>
          <p:cNvPr id="46" name="Rectangle 45"/>
          <p:cNvSpPr/>
          <p:nvPr/>
        </p:nvSpPr>
        <p:spPr>
          <a:xfrm>
            <a:off x="6409944" y="5145329"/>
            <a:ext cx="5124298" cy="838505"/>
          </a:xfrm>
          <a:prstGeom prst="rect">
            <a:avLst/>
          </a:prstGeom>
          <a:solidFill>
            <a:srgbClr val="F9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9944" y="5145329"/>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10"/>
          <a:stretch>
            <a:fillRect/>
          </a:stretch>
        </p:blipFill>
        <p:spPr>
          <a:xfrm>
            <a:off x="6601054" y="5449824"/>
            <a:ext cx="228600" cy="228600"/>
          </a:xfrm>
          <a:prstGeom prst="rect">
            <a:avLst/>
          </a:prstGeom>
          <a:ln/>
        </p:spPr>
      </p:pic>
      <p:sp>
        <p:nvSpPr>
          <p:cNvPr id="49" name="TextBox 48"/>
          <p:cNvSpPr txBox="1"/>
          <p:nvPr/>
        </p:nvSpPr>
        <p:spPr>
          <a:xfrm>
            <a:off x="6601054" y="5449824"/>
            <a:ext cx="228600" cy="228600"/>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3</a:t>
            </a:r>
          </a:p>
        </p:txBody>
      </p:sp>
      <p:sp>
        <p:nvSpPr>
          <p:cNvPr id="50" name="TextBox 49"/>
          <p:cNvSpPr txBox="1"/>
          <p:nvPr/>
        </p:nvSpPr>
        <p:spPr>
          <a:xfrm>
            <a:off x="6943954" y="5259629"/>
            <a:ext cx="4629607" cy="228600"/>
          </a:xfrm>
          <a:prstGeom prst="rect">
            <a:avLst/>
          </a:prstGeom>
          <a:noFill/>
          <a:ln/>
        </p:spPr>
        <p:txBody>
          <a:bodyPr wrap="square" lIns="0" rIns="0" tIns="0" bIns="0">
            <a:noAutofit/>
          </a:bodyPr>
          <a:lstStyle/>
          <a:p>
            <a:r>
              <a:rPr sz="1200" b="1">
                <a:solidFill>
                  <a:srgbClr val="1F2937"/>
                </a:solidFill>
                <a:latin typeface="Noto Sans JP"/>
              </a:rPr>
              <a:t>ベンチマーク実施：</a:t>
            </a:r>
          </a:p>
        </p:txBody>
      </p:sp>
      <p:sp>
        <p:nvSpPr>
          <p:cNvPr id="51" name="TextBox 50"/>
          <p:cNvSpPr txBox="1"/>
          <p:nvPr/>
        </p:nvSpPr>
        <p:spPr>
          <a:xfrm>
            <a:off x="6943954" y="5488229"/>
            <a:ext cx="4515307" cy="381305"/>
          </a:xfrm>
          <a:prstGeom prst="rect">
            <a:avLst/>
          </a:prstGeom>
          <a:noFill/>
          <a:ln/>
        </p:spPr>
        <p:txBody>
          <a:bodyPr wrap="square" lIns="0" rIns="0" tIns="0" bIns="0">
            <a:noAutofit/>
          </a:bodyPr>
          <a:lstStyle/>
          <a:p>
            <a:r>
              <a:rPr sz="1000">
                <a:solidFill>
                  <a:srgbClr val="4B5563"/>
                </a:solidFill>
                <a:latin typeface="Noto Sans JP"/>
              </a:rPr>
              <a:t>条件固定（温度/トークン数）でログを取り、p95レイテンシと実用性を計測。</a:t>
            </a:r>
          </a:p>
        </p:txBody>
      </p:sp>
      <p:sp>
        <p:nvSpPr>
          <p:cNvPr id="52" name="Rectangle 51"/>
          <p:cNvSpPr/>
          <p:nvPr/>
        </p:nvSpPr>
        <p:spPr>
          <a:xfrm>
            <a:off x="6409944" y="6098134"/>
            <a:ext cx="5124298" cy="838505"/>
          </a:xfrm>
          <a:prstGeom prst="rect">
            <a:avLst/>
          </a:prstGeom>
          <a:solidFill>
            <a:srgbClr val="F9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9944" y="6098134"/>
            <a:ext cx="38405" cy="838505"/>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mage.png"/>
          <p:cNvPicPr>
            <a:picLocks noChangeAspect="1"/>
          </p:cNvPicPr>
          <p:nvPr/>
        </p:nvPicPr>
        <p:blipFill>
          <a:blip r:embed="rId10"/>
          <a:stretch>
            <a:fillRect/>
          </a:stretch>
        </p:blipFill>
        <p:spPr>
          <a:xfrm>
            <a:off x="6601054" y="6402629"/>
            <a:ext cx="228600" cy="228600"/>
          </a:xfrm>
          <a:prstGeom prst="rect">
            <a:avLst/>
          </a:prstGeom>
          <a:ln/>
        </p:spPr>
      </p:pic>
      <p:sp>
        <p:nvSpPr>
          <p:cNvPr id="55" name="TextBox 54"/>
          <p:cNvSpPr txBox="1"/>
          <p:nvPr/>
        </p:nvSpPr>
        <p:spPr>
          <a:xfrm>
            <a:off x="6601054" y="6402629"/>
            <a:ext cx="228600" cy="228600"/>
          </a:xfrm>
          <a:prstGeom prst="rect">
            <a:avLst/>
          </a:prstGeom>
          <a:noFill/>
          <a:ln>
            <a:solidFill>
              <a:srgbClr val="FFFFFF"/>
            </a:solidFill>
          </a:ln>
        </p:spPr>
        <p:txBody>
          <a:bodyPr wrap="square" lIns="0" rIns="0" tIns="0" bIns="0">
            <a:noAutofit/>
          </a:bodyPr>
          <a:lstStyle/>
          <a:p>
            <a:r>
              <a:rPr sz="1000" b="1">
                <a:solidFill>
                  <a:srgbClr val="FFFFFF"/>
                </a:solidFill>
                <a:latin typeface="Noto Sans JP"/>
              </a:rPr>
              <a:t>4</a:t>
            </a:r>
          </a:p>
        </p:txBody>
      </p:sp>
      <p:sp>
        <p:nvSpPr>
          <p:cNvPr id="56" name="TextBox 55"/>
          <p:cNvSpPr txBox="1"/>
          <p:nvPr/>
        </p:nvSpPr>
        <p:spPr>
          <a:xfrm>
            <a:off x="6943954" y="6212434"/>
            <a:ext cx="4629607" cy="228600"/>
          </a:xfrm>
          <a:prstGeom prst="rect">
            <a:avLst/>
          </a:prstGeom>
          <a:noFill/>
          <a:ln/>
        </p:spPr>
        <p:txBody>
          <a:bodyPr wrap="square" lIns="0" rIns="0" tIns="0" bIns="0">
            <a:noAutofit/>
          </a:bodyPr>
          <a:lstStyle/>
          <a:p>
            <a:r>
              <a:rPr sz="1200" b="1">
                <a:solidFill>
                  <a:srgbClr val="1F2937"/>
                </a:solidFill>
                <a:latin typeface="Noto Sans JP"/>
              </a:rPr>
              <a:t>リスク監査：</a:t>
            </a:r>
          </a:p>
        </p:txBody>
      </p:sp>
      <p:sp>
        <p:nvSpPr>
          <p:cNvPr id="57" name="TextBox 56"/>
          <p:cNvSpPr txBox="1"/>
          <p:nvPr/>
        </p:nvSpPr>
        <p:spPr>
          <a:xfrm>
            <a:off x="6943954" y="6441034"/>
            <a:ext cx="4515307" cy="381305"/>
          </a:xfrm>
          <a:prstGeom prst="rect">
            <a:avLst/>
          </a:prstGeom>
          <a:noFill/>
          <a:ln/>
        </p:spPr>
        <p:txBody>
          <a:bodyPr wrap="square" lIns="0" rIns="0" tIns="0" bIns="0">
            <a:noAutofit/>
          </a:bodyPr>
          <a:lstStyle/>
          <a:p>
            <a:r>
              <a:rPr sz="1000">
                <a:solidFill>
                  <a:srgbClr val="4B5563"/>
                </a:solidFill>
                <a:latin typeface="Noto Sans JP"/>
              </a:rPr>
              <a:t>ライセンス（特に画像生成/TTS）とプライバシー要件（外部送信なし）を最終確認。</a:t>
            </a:r>
          </a:p>
        </p:txBody>
      </p:sp>
      <p:sp>
        <p:nvSpPr>
          <p:cNvPr id="58" name="Rectangle 57"/>
          <p:cNvSpPr/>
          <p:nvPr/>
        </p:nvSpPr>
        <p:spPr>
          <a:xfrm>
            <a:off x="0" y="6476695"/>
            <a:ext cx="12191695" cy="381305"/>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6476695"/>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586423"/>
            <a:ext cx="2392070" cy="171907"/>
          </a:xfrm>
          <a:prstGeom prst="rect">
            <a:avLst/>
          </a:prstGeom>
          <a:noFill/>
          <a:ln/>
        </p:spPr>
        <p:txBody>
          <a:bodyPr wrap="square" lIns="0" rIns="0" tIns="0" bIns="0">
            <a:noAutofit/>
          </a:bodyPr>
          <a:lstStyle/>
          <a:p>
            <a:r>
              <a:rPr sz="900">
                <a:solidFill>
                  <a:srgbClr val="86868B"/>
                </a:solidFill>
                <a:latin typeface="Noto Sans JP"/>
              </a:rPr>
              <a:t>Local AI Technical Survey Report 2026</a:t>
            </a:r>
          </a:p>
        </p:txBody>
      </p:sp>
      <p:sp>
        <p:nvSpPr>
          <p:cNvPr id="61" name="TextBox 60"/>
          <p:cNvSpPr txBox="1"/>
          <p:nvPr/>
        </p:nvSpPr>
        <p:spPr>
          <a:xfrm>
            <a:off x="11385194" y="6586423"/>
            <a:ext cx="428854" cy="171907"/>
          </a:xfrm>
          <a:prstGeom prst="rect">
            <a:avLst/>
          </a:prstGeom>
          <a:noFill/>
          <a:ln/>
        </p:spPr>
        <p:txBody>
          <a:bodyPr wrap="square" lIns="0" rIns="0" tIns="0" bIns="0">
            <a:noAutofit/>
          </a:bodyPr>
          <a:lstStyle/>
          <a:p>
            <a:r>
              <a:rPr sz="900">
                <a:solidFill>
                  <a:srgbClr val="86868B"/>
                </a:solidFill>
                <a:latin typeface="Noto Sans JP"/>
              </a:rPr>
              <a:t>76 / 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p:spPr>
      </p:pic>
      <p:sp>
        <p:nvSpPr>
          <p:cNvPr id="7" name="TextBox 6"/>
          <p:cNvSpPr txBox="1"/>
          <p:nvPr/>
        </p:nvSpPr>
        <p:spPr>
          <a:xfrm>
            <a:off x="809244" y="381305"/>
            <a:ext cx="2576778" cy="381305"/>
          </a:xfrm>
          <a:prstGeom prst="rect">
            <a:avLst/>
          </a:prstGeom>
          <a:noFill/>
          <a:ln/>
        </p:spPr>
        <p:txBody>
          <a:bodyPr wrap="square" lIns="0" rIns="0" tIns="0" bIns="0">
            <a:noAutofit/>
          </a:bodyPr>
          <a:lstStyle/>
          <a:p>
            <a:r>
              <a:rPr sz="2100" b="1">
                <a:solidFill>
                  <a:srgbClr val="FFFFFF"/>
                </a:solidFill>
                <a:latin typeface="Noto Sans JP"/>
              </a:rPr>
              <a:t>References（1/4）</a:t>
            </a:r>
          </a:p>
        </p:txBody>
      </p:sp>
      <p:sp>
        <p:nvSpPr>
          <p:cNvPr id="8" name="TextBox 7"/>
          <p:cNvSpPr txBox="1"/>
          <p:nvPr/>
        </p:nvSpPr>
        <p:spPr>
          <a:xfrm>
            <a:off x="8753551" y="457200"/>
            <a:ext cx="3554272" cy="228600"/>
          </a:xfrm>
          <a:prstGeom prst="rect">
            <a:avLst/>
          </a:prstGeom>
          <a:noFill/>
          <a:ln/>
        </p:spPr>
        <p:txBody>
          <a:bodyPr wrap="square" lIns="0" rIns="0" tIns="0" bIns="0">
            <a:noAutofit/>
          </a:bodyPr>
          <a:lstStyle/>
          <a:p>
            <a:r>
              <a:rPr sz="1200">
                <a:solidFill>
                  <a:srgbClr val="A1A1A6"/>
                </a:solidFill>
                <a:latin typeface="Noto Sans JP"/>
              </a:rPr>
              <a:t>Technical Research Report Sources [1-34]</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4749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095" y="1505102"/>
            <a:ext cx="381305" cy="162763"/>
          </a:xfrm>
          <a:prstGeom prst="rect">
            <a:avLst/>
          </a:prstGeom>
          <a:noFill/>
          <a:ln/>
        </p:spPr>
        <p:txBody>
          <a:bodyPr wrap="square" lIns="0" rIns="0" tIns="0" bIns="0">
            <a:noAutofit/>
          </a:bodyPr>
          <a:lstStyle/>
          <a:p>
            <a:r>
              <a:rPr sz="900" b="1">
                <a:solidFill>
                  <a:srgbClr val="007AFF"/>
                </a:solidFill>
                <a:latin typeface="Courier New"/>
              </a:rPr>
              <a:t>[1]</a:t>
            </a:r>
          </a:p>
        </p:txBody>
      </p:sp>
      <p:sp>
        <p:nvSpPr>
          <p:cNvPr id="13" name="TextBox 12"/>
          <p:cNvSpPr txBox="1"/>
          <p:nvPr/>
        </p:nvSpPr>
        <p:spPr>
          <a:xfrm>
            <a:off x="952805" y="1514246"/>
            <a:ext cx="3762755" cy="143560"/>
          </a:xfrm>
          <a:prstGeom prst="rect">
            <a:avLst/>
          </a:prstGeom>
          <a:noFill/>
          <a:ln/>
        </p:spPr>
        <p:txBody>
          <a:bodyPr wrap="square" lIns="0" rIns="0" tIns="0" bIns="0">
            <a:noAutofit/>
          </a:bodyPr>
          <a:lstStyle/>
          <a:p>
            <a:r>
              <a:rPr sz="800">
                <a:solidFill>
                  <a:srgbClr val="1D1D1F"/>
                </a:solidFill>
                <a:latin typeface="Courier New"/>
              </a:rPr>
              <a:t>https://www.apple.com/newsroom/2020/11/apple-unleashes-m1/</a:t>
            </a:r>
          </a:p>
        </p:txBody>
      </p:sp>
      <p:sp>
        <p:nvSpPr>
          <p:cNvPr id="14" name="Rectangle 13"/>
          <p:cNvSpPr/>
          <p:nvPr/>
        </p:nvSpPr>
        <p:spPr>
          <a:xfrm>
            <a:off x="457200" y="1807769"/>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095" y="1865376"/>
            <a:ext cx="381305" cy="162762"/>
          </a:xfrm>
          <a:prstGeom prst="rect">
            <a:avLst/>
          </a:prstGeom>
          <a:noFill/>
          <a:ln/>
        </p:spPr>
        <p:txBody>
          <a:bodyPr wrap="square" lIns="0" rIns="0" tIns="0" bIns="0">
            <a:noAutofit/>
          </a:bodyPr>
          <a:lstStyle/>
          <a:p>
            <a:r>
              <a:rPr sz="900" b="1">
                <a:solidFill>
                  <a:srgbClr val="007AFF"/>
                </a:solidFill>
                <a:latin typeface="Courier New"/>
              </a:rPr>
              <a:t>[2]</a:t>
            </a:r>
          </a:p>
        </p:txBody>
      </p:sp>
      <p:sp>
        <p:nvSpPr>
          <p:cNvPr id="17" name="TextBox 16"/>
          <p:cNvSpPr txBox="1"/>
          <p:nvPr/>
        </p:nvSpPr>
        <p:spPr>
          <a:xfrm>
            <a:off x="952805" y="1874520"/>
            <a:ext cx="3762755" cy="143561"/>
          </a:xfrm>
          <a:prstGeom prst="rect">
            <a:avLst/>
          </a:prstGeom>
          <a:noFill/>
          <a:ln/>
        </p:spPr>
        <p:txBody>
          <a:bodyPr wrap="square" lIns="0" rIns="0" tIns="0" bIns="0">
            <a:noAutofit/>
          </a:bodyPr>
          <a:lstStyle/>
          <a:p>
            <a:r>
              <a:rPr sz="800">
                <a:solidFill>
                  <a:srgbClr val="1D1D1F"/>
                </a:solidFill>
                <a:latin typeface="Courier New"/>
              </a:rPr>
              <a:t>https://docs.openhands.dev/openhands/usage/llms/local-llms</a:t>
            </a:r>
          </a:p>
        </p:txBody>
      </p:sp>
      <p:sp>
        <p:nvSpPr>
          <p:cNvPr id="18" name="Rectangle 17"/>
          <p:cNvSpPr/>
          <p:nvPr/>
        </p:nvSpPr>
        <p:spPr>
          <a:xfrm>
            <a:off x="457200" y="216804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095" y="2224735"/>
            <a:ext cx="381305" cy="162762"/>
          </a:xfrm>
          <a:prstGeom prst="rect">
            <a:avLst/>
          </a:prstGeom>
          <a:noFill/>
          <a:ln/>
        </p:spPr>
        <p:txBody>
          <a:bodyPr wrap="square" lIns="0" rIns="0" tIns="0" bIns="0">
            <a:noAutofit/>
          </a:bodyPr>
          <a:lstStyle/>
          <a:p>
            <a:r>
              <a:rPr sz="900" b="1">
                <a:solidFill>
                  <a:srgbClr val="007AFF"/>
                </a:solidFill>
                <a:latin typeface="Courier New"/>
              </a:rPr>
              <a:t>[3]</a:t>
            </a:r>
          </a:p>
        </p:txBody>
      </p:sp>
      <p:sp>
        <p:nvSpPr>
          <p:cNvPr id="21" name="TextBox 20"/>
          <p:cNvSpPr txBox="1"/>
          <p:nvPr/>
        </p:nvSpPr>
        <p:spPr>
          <a:xfrm>
            <a:off x="952805" y="2234794"/>
            <a:ext cx="3010205" cy="143561"/>
          </a:xfrm>
          <a:prstGeom prst="rect">
            <a:avLst/>
          </a:prstGeom>
          <a:noFill/>
          <a:ln/>
        </p:spPr>
        <p:txBody>
          <a:bodyPr wrap="square" lIns="0" rIns="0" tIns="0" bIns="0">
            <a:noAutofit/>
          </a:bodyPr>
          <a:lstStyle/>
          <a:p>
            <a:r>
              <a:rPr sz="800">
                <a:solidFill>
                  <a:srgbClr val="1D1D1F"/>
                </a:solidFill>
                <a:latin typeface="Courier New"/>
              </a:rPr>
              <a:t>https://lmstudio.ai/docs/developer/core/server</a:t>
            </a:r>
          </a:p>
        </p:txBody>
      </p:sp>
      <p:sp>
        <p:nvSpPr>
          <p:cNvPr id="22" name="Rectangle 21"/>
          <p:cNvSpPr/>
          <p:nvPr/>
        </p:nvSpPr>
        <p:spPr>
          <a:xfrm>
            <a:off x="457200" y="252740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3095" y="2585009"/>
            <a:ext cx="381305" cy="162762"/>
          </a:xfrm>
          <a:prstGeom prst="rect">
            <a:avLst/>
          </a:prstGeom>
          <a:noFill/>
          <a:ln/>
        </p:spPr>
        <p:txBody>
          <a:bodyPr wrap="square" lIns="0" rIns="0" tIns="0" bIns="0">
            <a:noAutofit/>
          </a:bodyPr>
          <a:lstStyle/>
          <a:p>
            <a:r>
              <a:rPr sz="900" b="1">
                <a:solidFill>
                  <a:srgbClr val="007AFF"/>
                </a:solidFill>
                <a:latin typeface="Courier New"/>
              </a:rPr>
              <a:t>[4]</a:t>
            </a:r>
          </a:p>
        </p:txBody>
      </p:sp>
      <p:sp>
        <p:nvSpPr>
          <p:cNvPr id="25" name="TextBox 24"/>
          <p:cNvSpPr txBox="1"/>
          <p:nvPr/>
        </p:nvSpPr>
        <p:spPr>
          <a:xfrm>
            <a:off x="952805" y="2594153"/>
            <a:ext cx="2100377" cy="143561"/>
          </a:xfrm>
          <a:prstGeom prst="rect">
            <a:avLst/>
          </a:prstGeom>
          <a:noFill/>
          <a:ln/>
        </p:spPr>
        <p:txBody>
          <a:bodyPr wrap="square" lIns="0" rIns="0" tIns="0" bIns="0">
            <a:noAutofit/>
          </a:bodyPr>
          <a:lstStyle/>
          <a:p>
            <a:r>
              <a:rPr sz="800">
                <a:solidFill>
                  <a:srgbClr val="1D1D1F"/>
                </a:solidFill>
                <a:latin typeface="Courier New"/>
              </a:rPr>
              <a:t>https://arxiv.org/abs/2306.00978</a:t>
            </a:r>
          </a:p>
        </p:txBody>
      </p:sp>
      <p:sp>
        <p:nvSpPr>
          <p:cNvPr id="26" name="Rectangle 25"/>
          <p:cNvSpPr/>
          <p:nvPr/>
        </p:nvSpPr>
        <p:spPr>
          <a:xfrm>
            <a:off x="457200" y="288767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095" y="2945282"/>
            <a:ext cx="381305" cy="162762"/>
          </a:xfrm>
          <a:prstGeom prst="rect">
            <a:avLst/>
          </a:prstGeom>
          <a:noFill/>
          <a:ln/>
        </p:spPr>
        <p:txBody>
          <a:bodyPr wrap="square" lIns="0" rIns="0" tIns="0" bIns="0">
            <a:noAutofit/>
          </a:bodyPr>
          <a:lstStyle/>
          <a:p>
            <a:r>
              <a:rPr sz="900" b="1">
                <a:solidFill>
                  <a:srgbClr val="007AFF"/>
                </a:solidFill>
                <a:latin typeface="Courier New"/>
              </a:rPr>
              <a:t>[5]</a:t>
            </a:r>
          </a:p>
        </p:txBody>
      </p:sp>
      <p:sp>
        <p:nvSpPr>
          <p:cNvPr id="29" name="TextBox 28"/>
          <p:cNvSpPr txBox="1"/>
          <p:nvPr/>
        </p:nvSpPr>
        <p:spPr>
          <a:xfrm>
            <a:off x="952805" y="2954426"/>
            <a:ext cx="3514954" cy="143561"/>
          </a:xfrm>
          <a:prstGeom prst="rect">
            <a:avLst/>
          </a:prstGeom>
          <a:noFill/>
          <a:ln/>
        </p:spPr>
        <p:txBody>
          <a:bodyPr wrap="square" lIns="0" rIns="0" tIns="0" bIns="0">
            <a:noAutofit/>
          </a:bodyPr>
          <a:lstStyle/>
          <a:p>
            <a:r>
              <a:rPr sz="800">
                <a:solidFill>
                  <a:srgbClr val="1D1D1F"/>
                </a:solidFill>
                <a:latin typeface="Courier New"/>
              </a:rPr>
              <a:t>https://docs.vllm.ai/en/latest/design/paged_attention/</a:t>
            </a:r>
          </a:p>
        </p:txBody>
      </p:sp>
      <p:sp>
        <p:nvSpPr>
          <p:cNvPr id="30" name="Rectangle 29"/>
          <p:cNvSpPr/>
          <p:nvPr/>
        </p:nvSpPr>
        <p:spPr>
          <a:xfrm>
            <a:off x="457200" y="3247949"/>
            <a:ext cx="5486400" cy="286207"/>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3095" y="3304641"/>
            <a:ext cx="381305" cy="162763"/>
          </a:xfrm>
          <a:prstGeom prst="rect">
            <a:avLst/>
          </a:prstGeom>
          <a:noFill/>
          <a:ln/>
        </p:spPr>
        <p:txBody>
          <a:bodyPr wrap="square" lIns="0" rIns="0" tIns="0" bIns="0">
            <a:noAutofit/>
          </a:bodyPr>
          <a:lstStyle/>
          <a:p>
            <a:r>
              <a:rPr sz="900" b="1">
                <a:solidFill>
                  <a:srgbClr val="007AFF"/>
                </a:solidFill>
                <a:latin typeface="Courier New"/>
              </a:rPr>
              <a:t>[6]</a:t>
            </a:r>
          </a:p>
        </p:txBody>
      </p:sp>
      <p:sp>
        <p:nvSpPr>
          <p:cNvPr id="33" name="TextBox 32"/>
          <p:cNvSpPr txBox="1"/>
          <p:nvPr/>
        </p:nvSpPr>
        <p:spPr>
          <a:xfrm>
            <a:off x="952805" y="3314700"/>
            <a:ext cx="4582058" cy="143560"/>
          </a:xfrm>
          <a:prstGeom prst="rect">
            <a:avLst/>
          </a:prstGeom>
          <a:noFill/>
          <a:ln/>
        </p:spPr>
        <p:txBody>
          <a:bodyPr wrap="square" lIns="0" rIns="0" tIns="0" bIns="0">
            <a:noAutofit/>
          </a:bodyPr>
          <a:lstStyle/>
          <a:p>
            <a:r>
              <a:rPr sz="800">
                <a:solidFill>
                  <a:srgbClr val="1D1D1F"/>
                </a:solidFill>
                <a:latin typeface="Courier New"/>
              </a:rPr>
              <a:t>https://docs.vllm.ai/en/latest/features/quantization/quantized_kvcache/</a:t>
            </a:r>
          </a:p>
        </p:txBody>
      </p:sp>
      <p:sp>
        <p:nvSpPr>
          <p:cNvPr id="34" name="Rectangle 33"/>
          <p:cNvSpPr/>
          <p:nvPr/>
        </p:nvSpPr>
        <p:spPr>
          <a:xfrm>
            <a:off x="457200" y="360822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3095" y="3664915"/>
            <a:ext cx="381305" cy="162763"/>
          </a:xfrm>
          <a:prstGeom prst="rect">
            <a:avLst/>
          </a:prstGeom>
          <a:noFill/>
          <a:ln/>
        </p:spPr>
        <p:txBody>
          <a:bodyPr wrap="square" lIns="0" rIns="0" tIns="0" bIns="0">
            <a:noAutofit/>
          </a:bodyPr>
          <a:lstStyle/>
          <a:p>
            <a:r>
              <a:rPr sz="900" b="1">
                <a:solidFill>
                  <a:srgbClr val="007AFF"/>
                </a:solidFill>
                <a:latin typeface="Courier New"/>
              </a:rPr>
              <a:t>[7]</a:t>
            </a:r>
          </a:p>
        </p:txBody>
      </p:sp>
      <p:sp>
        <p:nvSpPr>
          <p:cNvPr id="37" name="TextBox 36"/>
          <p:cNvSpPr txBox="1"/>
          <p:nvPr/>
        </p:nvSpPr>
        <p:spPr>
          <a:xfrm>
            <a:off x="952805" y="3674974"/>
            <a:ext cx="2487168" cy="143560"/>
          </a:xfrm>
          <a:prstGeom prst="rect">
            <a:avLst/>
          </a:prstGeom>
          <a:noFill/>
          <a:ln/>
        </p:spPr>
        <p:txBody>
          <a:bodyPr wrap="square" lIns="0" rIns="0" tIns="0" bIns="0">
            <a:noAutofit/>
          </a:bodyPr>
          <a:lstStyle/>
          <a:p>
            <a:r>
              <a:rPr sz="800">
                <a:solidFill>
                  <a:srgbClr val="1D1D1F"/>
                </a:solidFill>
                <a:latin typeface="Courier New"/>
              </a:rPr>
              <a:t>https://github.com/NVIDIA/TensorRT-LLM</a:t>
            </a:r>
          </a:p>
        </p:txBody>
      </p:sp>
      <p:sp>
        <p:nvSpPr>
          <p:cNvPr id="38" name="Rectangle 37"/>
          <p:cNvSpPr/>
          <p:nvPr/>
        </p:nvSpPr>
        <p:spPr>
          <a:xfrm>
            <a:off x="457200" y="396758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3095" y="4025189"/>
            <a:ext cx="381305" cy="162763"/>
          </a:xfrm>
          <a:prstGeom prst="rect">
            <a:avLst/>
          </a:prstGeom>
          <a:noFill/>
          <a:ln/>
        </p:spPr>
        <p:txBody>
          <a:bodyPr wrap="square" lIns="0" rIns="0" tIns="0" bIns="0">
            <a:noAutofit/>
          </a:bodyPr>
          <a:lstStyle/>
          <a:p>
            <a:r>
              <a:rPr sz="900" b="1">
                <a:solidFill>
                  <a:srgbClr val="007AFF"/>
                </a:solidFill>
                <a:latin typeface="Courier New"/>
              </a:rPr>
              <a:t>[8]</a:t>
            </a:r>
          </a:p>
        </p:txBody>
      </p:sp>
      <p:sp>
        <p:nvSpPr>
          <p:cNvPr id="41" name="TextBox 40"/>
          <p:cNvSpPr txBox="1"/>
          <p:nvPr/>
        </p:nvSpPr>
        <p:spPr>
          <a:xfrm>
            <a:off x="952805" y="4034333"/>
            <a:ext cx="2427731" cy="143560"/>
          </a:xfrm>
          <a:prstGeom prst="rect">
            <a:avLst/>
          </a:prstGeom>
          <a:noFill/>
          <a:ln/>
        </p:spPr>
        <p:txBody>
          <a:bodyPr wrap="square" lIns="0" rIns="0" tIns="0" bIns="0">
            <a:noAutofit/>
          </a:bodyPr>
          <a:lstStyle/>
          <a:p>
            <a:r>
              <a:rPr sz="800">
                <a:solidFill>
                  <a:srgbClr val="1D1D1F"/>
                </a:solidFill>
                <a:latin typeface="Courier New"/>
              </a:rPr>
              <a:t>https://github.com/ggml-org/llama.cpp</a:t>
            </a:r>
          </a:p>
        </p:txBody>
      </p:sp>
      <p:sp>
        <p:nvSpPr>
          <p:cNvPr id="42" name="Rectangle 41"/>
          <p:cNvSpPr/>
          <p:nvPr/>
        </p:nvSpPr>
        <p:spPr>
          <a:xfrm>
            <a:off x="457200" y="4327855"/>
            <a:ext cx="5486400" cy="428853"/>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74756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3095" y="4385462"/>
            <a:ext cx="381305" cy="162763"/>
          </a:xfrm>
          <a:prstGeom prst="rect">
            <a:avLst/>
          </a:prstGeom>
          <a:noFill/>
          <a:ln/>
        </p:spPr>
        <p:txBody>
          <a:bodyPr wrap="square" lIns="0" rIns="0" tIns="0" bIns="0">
            <a:noAutofit/>
          </a:bodyPr>
          <a:lstStyle/>
          <a:p>
            <a:r>
              <a:rPr sz="900" b="1">
                <a:solidFill>
                  <a:srgbClr val="007AFF"/>
                </a:solidFill>
                <a:latin typeface="Courier New"/>
              </a:rPr>
              <a:t>[10]</a:t>
            </a:r>
          </a:p>
        </p:txBody>
      </p:sp>
      <p:sp>
        <p:nvSpPr>
          <p:cNvPr id="45" name="TextBox 44"/>
          <p:cNvSpPr txBox="1"/>
          <p:nvPr/>
        </p:nvSpPr>
        <p:spPr>
          <a:xfrm>
            <a:off x="952805" y="4394606"/>
            <a:ext cx="4981651" cy="295351"/>
          </a:xfrm>
          <a:prstGeom prst="rect">
            <a:avLst/>
          </a:prstGeom>
          <a:noFill/>
          <a:ln/>
        </p:spPr>
        <p:txBody>
          <a:bodyPr wrap="square" lIns="0" rIns="0" tIns="0" bIns="0">
            <a:noAutofit/>
          </a:bodyPr>
          <a:lstStyle/>
          <a:p>
            <a:r>
              <a:rPr sz="800">
                <a:solidFill>
                  <a:srgbClr val="1D1D1F"/>
                </a:solidFill>
                <a:latin typeface="Courier New"/>
              </a:rPr>
              <a:t>https://developer.apple.com/documentation/metal/choosing-a-resource-storage-mode-for-apple-gpus</a:t>
            </a:r>
          </a:p>
        </p:txBody>
      </p:sp>
      <p:sp>
        <p:nvSpPr>
          <p:cNvPr id="46" name="Rectangle 45"/>
          <p:cNvSpPr/>
          <p:nvPr/>
        </p:nvSpPr>
        <p:spPr>
          <a:xfrm>
            <a:off x="457200" y="483077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510783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3095" y="4888382"/>
            <a:ext cx="381305" cy="162763"/>
          </a:xfrm>
          <a:prstGeom prst="rect">
            <a:avLst/>
          </a:prstGeom>
          <a:noFill/>
          <a:ln/>
        </p:spPr>
        <p:txBody>
          <a:bodyPr wrap="square" lIns="0" rIns="0" tIns="0" bIns="0">
            <a:noAutofit/>
          </a:bodyPr>
          <a:lstStyle/>
          <a:p>
            <a:r>
              <a:rPr sz="900" b="1">
                <a:solidFill>
                  <a:srgbClr val="007AFF"/>
                </a:solidFill>
                <a:latin typeface="Courier New"/>
              </a:rPr>
              <a:t>[12]</a:t>
            </a:r>
          </a:p>
        </p:txBody>
      </p:sp>
      <p:sp>
        <p:nvSpPr>
          <p:cNvPr id="49" name="TextBox 48"/>
          <p:cNvSpPr txBox="1"/>
          <p:nvPr/>
        </p:nvSpPr>
        <p:spPr>
          <a:xfrm>
            <a:off x="952805" y="4897526"/>
            <a:ext cx="2754173" cy="143560"/>
          </a:xfrm>
          <a:prstGeom prst="rect">
            <a:avLst/>
          </a:prstGeom>
          <a:noFill/>
          <a:ln/>
        </p:spPr>
        <p:txBody>
          <a:bodyPr wrap="square" lIns="0" rIns="0" tIns="0" bIns="0">
            <a:noAutofit/>
          </a:bodyPr>
          <a:lstStyle/>
          <a:p>
            <a:r>
              <a:rPr sz="800">
                <a:solidFill>
                  <a:srgbClr val="1D1D1F"/>
                </a:solidFill>
                <a:latin typeface="Courier New"/>
              </a:rPr>
              <a:t>https://huggingface.co/wangkanai/sdxl-fp16</a:t>
            </a:r>
          </a:p>
        </p:txBody>
      </p:sp>
      <p:sp>
        <p:nvSpPr>
          <p:cNvPr id="50" name="Rectangle 49"/>
          <p:cNvSpPr/>
          <p:nvPr/>
        </p:nvSpPr>
        <p:spPr>
          <a:xfrm>
            <a:off x="457200" y="5191049"/>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57200" y="54681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3095" y="5247742"/>
            <a:ext cx="381305" cy="162763"/>
          </a:xfrm>
          <a:prstGeom prst="rect">
            <a:avLst/>
          </a:prstGeom>
          <a:noFill/>
          <a:ln/>
        </p:spPr>
        <p:txBody>
          <a:bodyPr wrap="square" lIns="0" rIns="0" tIns="0" bIns="0">
            <a:noAutofit/>
          </a:bodyPr>
          <a:lstStyle/>
          <a:p>
            <a:r>
              <a:rPr sz="900" b="1">
                <a:solidFill>
                  <a:srgbClr val="007AFF"/>
                </a:solidFill>
                <a:latin typeface="Courier New"/>
              </a:rPr>
              <a:t>[13]</a:t>
            </a:r>
          </a:p>
        </p:txBody>
      </p:sp>
      <p:sp>
        <p:nvSpPr>
          <p:cNvPr id="53" name="TextBox 52"/>
          <p:cNvSpPr txBox="1"/>
          <p:nvPr/>
        </p:nvSpPr>
        <p:spPr>
          <a:xfrm>
            <a:off x="952805" y="5257800"/>
            <a:ext cx="3391510" cy="143560"/>
          </a:xfrm>
          <a:prstGeom prst="rect">
            <a:avLst/>
          </a:prstGeom>
          <a:noFill/>
          <a:ln/>
        </p:spPr>
        <p:txBody>
          <a:bodyPr wrap="square" lIns="0" rIns="0" tIns="0" bIns="0">
            <a:noAutofit/>
          </a:bodyPr>
          <a:lstStyle/>
          <a:p>
            <a:r>
              <a:rPr sz="800">
                <a:solidFill>
                  <a:srgbClr val="1D1D1F"/>
                </a:solidFill>
                <a:latin typeface="Courier New"/>
              </a:rPr>
              <a:t>https://github.com/intel/intel-extension-for-pytorch</a:t>
            </a:r>
          </a:p>
        </p:txBody>
      </p:sp>
      <p:sp>
        <p:nvSpPr>
          <p:cNvPr id="54" name="Rectangle 53"/>
          <p:cNvSpPr/>
          <p:nvPr/>
        </p:nvSpPr>
        <p:spPr>
          <a:xfrm>
            <a:off x="457200" y="555132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58283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3095" y="5608015"/>
            <a:ext cx="381305" cy="162763"/>
          </a:xfrm>
          <a:prstGeom prst="rect">
            <a:avLst/>
          </a:prstGeom>
          <a:noFill/>
          <a:ln/>
        </p:spPr>
        <p:txBody>
          <a:bodyPr wrap="square" lIns="0" rIns="0" tIns="0" bIns="0">
            <a:noAutofit/>
          </a:bodyPr>
          <a:lstStyle/>
          <a:p>
            <a:r>
              <a:rPr sz="900" b="1">
                <a:solidFill>
                  <a:srgbClr val="007AFF"/>
                </a:solidFill>
                <a:latin typeface="Courier New"/>
              </a:rPr>
              <a:t>[14]</a:t>
            </a:r>
          </a:p>
        </p:txBody>
      </p:sp>
      <p:sp>
        <p:nvSpPr>
          <p:cNvPr id="57" name="TextBox 56"/>
          <p:cNvSpPr txBox="1"/>
          <p:nvPr/>
        </p:nvSpPr>
        <p:spPr>
          <a:xfrm>
            <a:off x="952805" y="5618074"/>
            <a:ext cx="2030882" cy="143560"/>
          </a:xfrm>
          <a:prstGeom prst="rect">
            <a:avLst/>
          </a:prstGeom>
          <a:noFill/>
          <a:ln/>
        </p:spPr>
        <p:txBody>
          <a:bodyPr wrap="square" lIns="0" rIns="0" tIns="0" bIns="0">
            <a:noAutofit/>
          </a:bodyPr>
          <a:lstStyle/>
          <a:p>
            <a:r>
              <a:rPr sz="800">
                <a:solidFill>
                  <a:srgbClr val="1D1D1F"/>
                </a:solidFill>
                <a:latin typeface="Courier New"/>
              </a:rPr>
              <a:t>https://github.com/xiph/rnnoise</a:t>
            </a:r>
          </a:p>
        </p:txBody>
      </p:sp>
      <p:sp>
        <p:nvSpPr>
          <p:cNvPr id="58" name="Rectangle 57"/>
          <p:cNvSpPr/>
          <p:nvPr/>
        </p:nvSpPr>
        <p:spPr>
          <a:xfrm>
            <a:off x="457200" y="591068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3095" y="5968289"/>
            <a:ext cx="381305" cy="162763"/>
          </a:xfrm>
          <a:prstGeom prst="rect">
            <a:avLst/>
          </a:prstGeom>
          <a:noFill/>
          <a:ln/>
        </p:spPr>
        <p:txBody>
          <a:bodyPr wrap="square" lIns="0" rIns="0" tIns="0" bIns="0">
            <a:noAutofit/>
          </a:bodyPr>
          <a:lstStyle/>
          <a:p>
            <a:r>
              <a:rPr sz="900" b="1">
                <a:solidFill>
                  <a:srgbClr val="007AFF"/>
                </a:solidFill>
                <a:latin typeface="Courier New"/>
              </a:rPr>
              <a:t>[16]</a:t>
            </a:r>
          </a:p>
        </p:txBody>
      </p:sp>
      <p:sp>
        <p:nvSpPr>
          <p:cNvPr id="60" name="TextBox 59"/>
          <p:cNvSpPr txBox="1"/>
          <p:nvPr/>
        </p:nvSpPr>
        <p:spPr>
          <a:xfrm>
            <a:off x="952805" y="5977433"/>
            <a:ext cx="3076955" cy="143560"/>
          </a:xfrm>
          <a:prstGeom prst="rect">
            <a:avLst/>
          </a:prstGeom>
          <a:noFill/>
          <a:ln/>
        </p:spPr>
        <p:txBody>
          <a:bodyPr wrap="square" lIns="0" rIns="0" tIns="0" bIns="0">
            <a:noAutofit/>
          </a:bodyPr>
          <a:lstStyle/>
          <a:p>
            <a:r>
              <a:rPr sz="800">
                <a:solidFill>
                  <a:srgbClr val="1D1D1F"/>
                </a:solidFill>
                <a:latin typeface="Courier New"/>
              </a:rPr>
              <a:t>https://huggingface.co/meta-llama/Llama-3.1-70B</a:t>
            </a:r>
          </a:p>
        </p:txBody>
      </p:sp>
      <p:sp>
        <p:nvSpPr>
          <p:cNvPr id="61" name="Rectangle 60"/>
          <p:cNvSpPr/>
          <p:nvPr/>
        </p:nvSpPr>
        <p:spPr>
          <a:xfrm>
            <a:off x="6248095" y="144749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48095" y="172455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24905" y="1505102"/>
            <a:ext cx="381305" cy="162763"/>
          </a:xfrm>
          <a:prstGeom prst="rect">
            <a:avLst/>
          </a:prstGeom>
          <a:noFill/>
          <a:ln/>
        </p:spPr>
        <p:txBody>
          <a:bodyPr wrap="square" lIns="0" rIns="0" tIns="0" bIns="0">
            <a:noAutofit/>
          </a:bodyPr>
          <a:lstStyle/>
          <a:p>
            <a:r>
              <a:rPr sz="900" b="1">
                <a:solidFill>
                  <a:srgbClr val="007AFF"/>
                </a:solidFill>
                <a:latin typeface="Courier New"/>
              </a:rPr>
              <a:t>[17]</a:t>
            </a:r>
          </a:p>
        </p:txBody>
      </p:sp>
      <p:sp>
        <p:nvSpPr>
          <p:cNvPr id="64" name="TextBox 63"/>
          <p:cNvSpPr txBox="1"/>
          <p:nvPr/>
        </p:nvSpPr>
        <p:spPr>
          <a:xfrm>
            <a:off x="6743700" y="1514246"/>
            <a:ext cx="3706063" cy="143560"/>
          </a:xfrm>
          <a:prstGeom prst="rect">
            <a:avLst/>
          </a:prstGeom>
          <a:noFill/>
          <a:ln/>
        </p:spPr>
        <p:txBody>
          <a:bodyPr wrap="square" lIns="0" rIns="0" tIns="0" bIns="0">
            <a:noAutofit/>
          </a:bodyPr>
          <a:lstStyle/>
          <a:p>
            <a:r>
              <a:rPr sz="800">
                <a:solidFill>
                  <a:srgbClr val="1D1D1F"/>
                </a:solidFill>
                <a:latin typeface="Courier New"/>
              </a:rPr>
              <a:t>https://huggingface.co/microsoft/Phi-3-mini-128k-instruct</a:t>
            </a:r>
          </a:p>
        </p:txBody>
      </p:sp>
      <p:sp>
        <p:nvSpPr>
          <p:cNvPr id="65" name="Rectangle 64"/>
          <p:cNvSpPr/>
          <p:nvPr/>
        </p:nvSpPr>
        <p:spPr>
          <a:xfrm>
            <a:off x="6248095" y="1807769"/>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48095" y="2084832"/>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905" y="1865376"/>
            <a:ext cx="381305" cy="162762"/>
          </a:xfrm>
          <a:prstGeom prst="rect">
            <a:avLst/>
          </a:prstGeom>
          <a:noFill/>
          <a:ln/>
        </p:spPr>
        <p:txBody>
          <a:bodyPr wrap="square" lIns="0" rIns="0" tIns="0" bIns="0">
            <a:noAutofit/>
          </a:bodyPr>
          <a:lstStyle/>
          <a:p>
            <a:r>
              <a:rPr sz="900" b="1">
                <a:solidFill>
                  <a:srgbClr val="007AFF"/>
                </a:solidFill>
                <a:latin typeface="Courier New"/>
              </a:rPr>
              <a:t>[19]</a:t>
            </a:r>
          </a:p>
        </p:txBody>
      </p:sp>
      <p:sp>
        <p:nvSpPr>
          <p:cNvPr id="68" name="TextBox 67"/>
          <p:cNvSpPr txBox="1"/>
          <p:nvPr/>
        </p:nvSpPr>
        <p:spPr>
          <a:xfrm>
            <a:off x="6743700" y="1874520"/>
            <a:ext cx="1838858" cy="143561"/>
          </a:xfrm>
          <a:prstGeom prst="rect">
            <a:avLst/>
          </a:prstGeom>
          <a:noFill/>
          <a:ln/>
        </p:spPr>
        <p:txBody>
          <a:bodyPr wrap="square" lIns="0" rIns="0" tIns="0" bIns="0">
            <a:noAutofit/>
          </a:bodyPr>
          <a:lstStyle/>
          <a:p>
            <a:r>
              <a:rPr sz="800">
                <a:solidFill>
                  <a:srgbClr val="1D1D1F"/>
                </a:solidFill>
                <a:latin typeface="Courier New"/>
              </a:rPr>
              <a:t>https://lmstudio.ai/docs/app</a:t>
            </a:r>
          </a:p>
        </p:txBody>
      </p:sp>
      <p:sp>
        <p:nvSpPr>
          <p:cNvPr id="69" name="Rectangle 68"/>
          <p:cNvSpPr/>
          <p:nvPr/>
        </p:nvSpPr>
        <p:spPr>
          <a:xfrm>
            <a:off x="6248095" y="216804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48095" y="2445106"/>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24905" y="2224735"/>
            <a:ext cx="381305" cy="162762"/>
          </a:xfrm>
          <a:prstGeom prst="rect">
            <a:avLst/>
          </a:prstGeom>
          <a:noFill/>
          <a:ln/>
        </p:spPr>
        <p:txBody>
          <a:bodyPr wrap="square" lIns="0" rIns="0" tIns="0" bIns="0">
            <a:noAutofit/>
          </a:bodyPr>
          <a:lstStyle/>
          <a:p>
            <a:r>
              <a:rPr sz="900" b="1">
                <a:solidFill>
                  <a:srgbClr val="007AFF"/>
                </a:solidFill>
                <a:latin typeface="Courier New"/>
              </a:rPr>
              <a:t>[20]</a:t>
            </a:r>
          </a:p>
        </p:txBody>
      </p:sp>
      <p:sp>
        <p:nvSpPr>
          <p:cNvPr id="72" name="TextBox 71"/>
          <p:cNvSpPr txBox="1"/>
          <p:nvPr/>
        </p:nvSpPr>
        <p:spPr>
          <a:xfrm>
            <a:off x="6743700" y="2234794"/>
            <a:ext cx="3076955" cy="143561"/>
          </a:xfrm>
          <a:prstGeom prst="rect">
            <a:avLst/>
          </a:prstGeom>
          <a:noFill/>
          <a:ln/>
        </p:spPr>
        <p:txBody>
          <a:bodyPr wrap="square" lIns="0" rIns="0" tIns="0" bIns="0">
            <a:noAutofit/>
          </a:bodyPr>
          <a:lstStyle/>
          <a:p>
            <a:r>
              <a:rPr sz="800">
                <a:solidFill>
                  <a:srgbClr val="1D1D1F"/>
                </a:solidFill>
                <a:latin typeface="Courier New"/>
              </a:rPr>
              <a:t>https://docs.nvidia.com/tensorrt-llm/index.html</a:t>
            </a:r>
          </a:p>
        </p:txBody>
      </p:sp>
      <p:sp>
        <p:nvSpPr>
          <p:cNvPr id="73" name="Rectangle 72"/>
          <p:cNvSpPr/>
          <p:nvPr/>
        </p:nvSpPr>
        <p:spPr>
          <a:xfrm>
            <a:off x="6248095" y="252740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48095" y="2804465"/>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24905" y="2585009"/>
            <a:ext cx="381305" cy="162762"/>
          </a:xfrm>
          <a:prstGeom prst="rect">
            <a:avLst/>
          </a:prstGeom>
          <a:noFill/>
          <a:ln/>
        </p:spPr>
        <p:txBody>
          <a:bodyPr wrap="square" lIns="0" rIns="0" tIns="0" bIns="0">
            <a:noAutofit/>
          </a:bodyPr>
          <a:lstStyle/>
          <a:p>
            <a:r>
              <a:rPr sz="900" b="1">
                <a:solidFill>
                  <a:srgbClr val="007AFF"/>
                </a:solidFill>
                <a:latin typeface="Courier New"/>
              </a:rPr>
              <a:t>[22]</a:t>
            </a:r>
          </a:p>
        </p:txBody>
      </p:sp>
      <p:sp>
        <p:nvSpPr>
          <p:cNvPr id="76" name="TextBox 75"/>
          <p:cNvSpPr txBox="1"/>
          <p:nvPr/>
        </p:nvSpPr>
        <p:spPr>
          <a:xfrm>
            <a:off x="6743700" y="2594153"/>
            <a:ext cx="2159812" cy="143561"/>
          </a:xfrm>
          <a:prstGeom prst="rect">
            <a:avLst/>
          </a:prstGeom>
          <a:noFill/>
          <a:ln/>
        </p:spPr>
        <p:txBody>
          <a:bodyPr wrap="square" lIns="0" rIns="0" tIns="0" bIns="0">
            <a:noAutofit/>
          </a:bodyPr>
          <a:lstStyle/>
          <a:p>
            <a:r>
              <a:rPr sz="800">
                <a:solidFill>
                  <a:srgbClr val="1D1D1F"/>
                </a:solidFill>
                <a:latin typeface="Courier New"/>
              </a:rPr>
              <a:t>https://github.com/ml-explore/mlx</a:t>
            </a:r>
          </a:p>
        </p:txBody>
      </p:sp>
      <p:sp>
        <p:nvSpPr>
          <p:cNvPr id="77" name="Rectangle 76"/>
          <p:cNvSpPr/>
          <p:nvPr/>
        </p:nvSpPr>
        <p:spPr>
          <a:xfrm>
            <a:off x="6248095" y="288767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248095" y="3164738"/>
            <a:ext cx="5486400" cy="9143"/>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24905" y="2945282"/>
            <a:ext cx="381305" cy="162762"/>
          </a:xfrm>
          <a:prstGeom prst="rect">
            <a:avLst/>
          </a:prstGeom>
          <a:noFill/>
          <a:ln/>
        </p:spPr>
        <p:txBody>
          <a:bodyPr wrap="square" lIns="0" rIns="0" tIns="0" bIns="0">
            <a:noAutofit/>
          </a:bodyPr>
          <a:lstStyle/>
          <a:p>
            <a:r>
              <a:rPr sz="900" b="1">
                <a:solidFill>
                  <a:srgbClr val="007AFF"/>
                </a:solidFill>
                <a:latin typeface="Courier New"/>
              </a:rPr>
              <a:t>[23]</a:t>
            </a:r>
          </a:p>
        </p:txBody>
      </p:sp>
      <p:sp>
        <p:nvSpPr>
          <p:cNvPr id="80" name="TextBox 79"/>
          <p:cNvSpPr txBox="1"/>
          <p:nvPr/>
        </p:nvSpPr>
        <p:spPr>
          <a:xfrm>
            <a:off x="6743700" y="2954426"/>
            <a:ext cx="2100377" cy="143561"/>
          </a:xfrm>
          <a:prstGeom prst="rect">
            <a:avLst/>
          </a:prstGeom>
          <a:noFill/>
          <a:ln/>
        </p:spPr>
        <p:txBody>
          <a:bodyPr wrap="square" lIns="0" rIns="0" tIns="0" bIns="0">
            <a:noAutofit/>
          </a:bodyPr>
          <a:lstStyle/>
          <a:p>
            <a:r>
              <a:rPr sz="800">
                <a:solidFill>
                  <a:srgbClr val="1D1D1F"/>
                </a:solidFill>
                <a:latin typeface="Courier New"/>
              </a:rPr>
              <a:t>https://github.com/ollama/ollama</a:t>
            </a:r>
          </a:p>
        </p:txBody>
      </p:sp>
      <p:sp>
        <p:nvSpPr>
          <p:cNvPr id="81" name="Rectangle 80"/>
          <p:cNvSpPr/>
          <p:nvPr/>
        </p:nvSpPr>
        <p:spPr>
          <a:xfrm>
            <a:off x="6248095" y="3247949"/>
            <a:ext cx="5486400" cy="286207"/>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248095" y="352501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24905" y="3304641"/>
            <a:ext cx="381305" cy="162763"/>
          </a:xfrm>
          <a:prstGeom prst="rect">
            <a:avLst/>
          </a:prstGeom>
          <a:noFill/>
          <a:ln/>
        </p:spPr>
        <p:txBody>
          <a:bodyPr wrap="square" lIns="0" rIns="0" tIns="0" bIns="0">
            <a:noAutofit/>
          </a:bodyPr>
          <a:lstStyle/>
          <a:p>
            <a:r>
              <a:rPr sz="900" b="1">
                <a:solidFill>
                  <a:srgbClr val="007AFF"/>
                </a:solidFill>
                <a:latin typeface="Courier New"/>
              </a:rPr>
              <a:t>[24]</a:t>
            </a:r>
          </a:p>
        </p:txBody>
      </p:sp>
      <p:sp>
        <p:nvSpPr>
          <p:cNvPr id="84" name="TextBox 83"/>
          <p:cNvSpPr txBox="1"/>
          <p:nvPr/>
        </p:nvSpPr>
        <p:spPr>
          <a:xfrm>
            <a:off x="6743700" y="3314700"/>
            <a:ext cx="3134563" cy="143560"/>
          </a:xfrm>
          <a:prstGeom prst="rect">
            <a:avLst/>
          </a:prstGeom>
          <a:noFill/>
          <a:ln/>
        </p:spPr>
        <p:txBody>
          <a:bodyPr wrap="square" lIns="0" rIns="0" tIns="0" bIns="0">
            <a:noAutofit/>
          </a:bodyPr>
          <a:lstStyle/>
          <a:p>
            <a:r>
              <a:rPr sz="800">
                <a:solidFill>
                  <a:srgbClr val="1D1D1F"/>
                </a:solidFill>
                <a:latin typeface="Courier New"/>
              </a:rPr>
              <a:t>https://docs.ollama.com/api/openai-compatibility</a:t>
            </a:r>
          </a:p>
        </p:txBody>
      </p:sp>
      <p:sp>
        <p:nvSpPr>
          <p:cNvPr id="85" name="Rectangle 84"/>
          <p:cNvSpPr/>
          <p:nvPr/>
        </p:nvSpPr>
        <p:spPr>
          <a:xfrm>
            <a:off x="6248095" y="360822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48095" y="388528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24905" y="3664915"/>
            <a:ext cx="381305" cy="162763"/>
          </a:xfrm>
          <a:prstGeom prst="rect">
            <a:avLst/>
          </a:prstGeom>
          <a:noFill/>
          <a:ln/>
        </p:spPr>
        <p:txBody>
          <a:bodyPr wrap="square" lIns="0" rIns="0" tIns="0" bIns="0">
            <a:noAutofit/>
          </a:bodyPr>
          <a:lstStyle/>
          <a:p>
            <a:r>
              <a:rPr sz="900" b="1">
                <a:solidFill>
                  <a:srgbClr val="007AFF"/>
                </a:solidFill>
                <a:latin typeface="Courier New"/>
              </a:rPr>
              <a:t>[25]</a:t>
            </a:r>
          </a:p>
        </p:txBody>
      </p:sp>
      <p:sp>
        <p:nvSpPr>
          <p:cNvPr id="88" name="TextBox 87"/>
          <p:cNvSpPr txBox="1"/>
          <p:nvPr/>
        </p:nvSpPr>
        <p:spPr>
          <a:xfrm>
            <a:off x="6743700" y="3674974"/>
            <a:ext cx="4144060" cy="143560"/>
          </a:xfrm>
          <a:prstGeom prst="rect">
            <a:avLst/>
          </a:prstGeom>
          <a:noFill/>
          <a:ln/>
        </p:spPr>
        <p:txBody>
          <a:bodyPr wrap="square" lIns="0" rIns="0" tIns="0" bIns="0">
            <a:noAutofit/>
          </a:bodyPr>
          <a:lstStyle/>
          <a:p>
            <a:r>
              <a:rPr sz="800">
                <a:solidFill>
                  <a:srgbClr val="1D1D1F"/>
                </a:solidFill>
                <a:latin typeface="Courier New"/>
              </a:rPr>
              <a:t>https://llama-cpp-python.readthedocs.io/en/latest/api-reference/</a:t>
            </a:r>
          </a:p>
        </p:txBody>
      </p:sp>
      <p:sp>
        <p:nvSpPr>
          <p:cNvPr id="89" name="Rectangle 88"/>
          <p:cNvSpPr/>
          <p:nvPr/>
        </p:nvSpPr>
        <p:spPr>
          <a:xfrm>
            <a:off x="6248095" y="396758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48095" y="4244645"/>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24905" y="4025189"/>
            <a:ext cx="381305" cy="162763"/>
          </a:xfrm>
          <a:prstGeom prst="rect">
            <a:avLst/>
          </a:prstGeom>
          <a:noFill/>
          <a:ln/>
        </p:spPr>
        <p:txBody>
          <a:bodyPr wrap="square" lIns="0" rIns="0" tIns="0" bIns="0">
            <a:noAutofit/>
          </a:bodyPr>
          <a:lstStyle/>
          <a:p>
            <a:r>
              <a:rPr sz="900" b="1">
                <a:solidFill>
                  <a:srgbClr val="007AFF"/>
                </a:solidFill>
                <a:latin typeface="Courier New"/>
              </a:rPr>
              <a:t>[27]</a:t>
            </a:r>
          </a:p>
        </p:txBody>
      </p:sp>
      <p:sp>
        <p:nvSpPr>
          <p:cNvPr id="92" name="TextBox 91"/>
          <p:cNvSpPr txBox="1"/>
          <p:nvPr/>
        </p:nvSpPr>
        <p:spPr>
          <a:xfrm>
            <a:off x="6743700" y="4034333"/>
            <a:ext cx="4839005" cy="143560"/>
          </a:xfrm>
          <a:prstGeom prst="rect">
            <a:avLst/>
          </a:prstGeom>
          <a:noFill/>
          <a:ln/>
        </p:spPr>
        <p:txBody>
          <a:bodyPr wrap="square" lIns="0" rIns="0" tIns="0" bIns="0">
            <a:noAutofit/>
          </a:bodyPr>
          <a:lstStyle/>
          <a:p>
            <a:r>
              <a:rPr sz="800">
                <a:solidFill>
                  <a:srgbClr val="1D1D1F"/>
                </a:solidFill>
                <a:latin typeface="Courier New"/>
              </a:rPr>
              <a:t>https://developers.openai.com/cookbook/articles/gpt-oss/run-locally-ollama/</a:t>
            </a:r>
          </a:p>
        </p:txBody>
      </p:sp>
      <p:sp>
        <p:nvSpPr>
          <p:cNvPr id="93" name="Rectangle 92"/>
          <p:cNvSpPr/>
          <p:nvPr/>
        </p:nvSpPr>
        <p:spPr>
          <a:xfrm>
            <a:off x="6248095" y="4327855"/>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48095" y="4604918"/>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24905" y="4385462"/>
            <a:ext cx="381305" cy="162763"/>
          </a:xfrm>
          <a:prstGeom prst="rect">
            <a:avLst/>
          </a:prstGeom>
          <a:noFill/>
          <a:ln/>
        </p:spPr>
        <p:txBody>
          <a:bodyPr wrap="square" lIns="0" rIns="0" tIns="0" bIns="0">
            <a:noAutofit/>
          </a:bodyPr>
          <a:lstStyle/>
          <a:p>
            <a:r>
              <a:rPr sz="900" b="1">
                <a:solidFill>
                  <a:srgbClr val="007AFF"/>
                </a:solidFill>
                <a:latin typeface="Courier New"/>
              </a:rPr>
              <a:t>[28]</a:t>
            </a:r>
          </a:p>
        </p:txBody>
      </p:sp>
      <p:sp>
        <p:nvSpPr>
          <p:cNvPr id="96" name="TextBox 95"/>
          <p:cNvSpPr txBox="1"/>
          <p:nvPr/>
        </p:nvSpPr>
        <p:spPr>
          <a:xfrm>
            <a:off x="6743700" y="4394606"/>
            <a:ext cx="2229307" cy="143560"/>
          </a:xfrm>
          <a:prstGeom prst="rect">
            <a:avLst/>
          </a:prstGeom>
          <a:noFill/>
          <a:ln/>
        </p:spPr>
        <p:txBody>
          <a:bodyPr wrap="square" lIns="0" rIns="0" tIns="0" bIns="0">
            <a:noAutofit/>
          </a:bodyPr>
          <a:lstStyle/>
          <a:p>
            <a:r>
              <a:rPr sz="800">
                <a:solidFill>
                  <a:srgbClr val="1D1D1F"/>
                </a:solidFill>
                <a:latin typeface="Courier New"/>
              </a:rPr>
              <a:t>https://github.com/Blaizzy/mlx-vlm</a:t>
            </a:r>
          </a:p>
        </p:txBody>
      </p:sp>
      <p:sp>
        <p:nvSpPr>
          <p:cNvPr id="97" name="Rectangle 96"/>
          <p:cNvSpPr/>
          <p:nvPr/>
        </p:nvSpPr>
        <p:spPr>
          <a:xfrm>
            <a:off x="6248095" y="4688129"/>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248095" y="4965192"/>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24905" y="4744822"/>
            <a:ext cx="381305" cy="162763"/>
          </a:xfrm>
          <a:prstGeom prst="rect">
            <a:avLst/>
          </a:prstGeom>
          <a:noFill/>
          <a:ln/>
        </p:spPr>
        <p:txBody>
          <a:bodyPr wrap="square" lIns="0" rIns="0" tIns="0" bIns="0">
            <a:noAutofit/>
          </a:bodyPr>
          <a:lstStyle/>
          <a:p>
            <a:r>
              <a:rPr sz="900" b="1">
                <a:solidFill>
                  <a:srgbClr val="007AFF"/>
                </a:solidFill>
                <a:latin typeface="Courier New"/>
              </a:rPr>
              <a:t>[31]</a:t>
            </a:r>
          </a:p>
        </p:txBody>
      </p:sp>
      <p:sp>
        <p:nvSpPr>
          <p:cNvPr id="100" name="TextBox 99"/>
          <p:cNvSpPr txBox="1"/>
          <p:nvPr/>
        </p:nvSpPr>
        <p:spPr>
          <a:xfrm>
            <a:off x="6743700" y="4754880"/>
            <a:ext cx="3829507" cy="143560"/>
          </a:xfrm>
          <a:prstGeom prst="rect">
            <a:avLst/>
          </a:prstGeom>
          <a:noFill/>
          <a:ln/>
        </p:spPr>
        <p:txBody>
          <a:bodyPr wrap="square" lIns="0" rIns="0" tIns="0" bIns="0">
            <a:noAutofit/>
          </a:bodyPr>
          <a:lstStyle/>
          <a:p>
            <a:r>
              <a:rPr sz="800">
                <a:solidFill>
                  <a:srgbClr val="1D1D1F"/>
                </a:solidFill>
                <a:latin typeface="Courier New"/>
              </a:rPr>
              <a:t>https://huggingface.co/meta-llama/Meta-Llama-3-70B-Instruct</a:t>
            </a:r>
          </a:p>
        </p:txBody>
      </p:sp>
      <p:sp>
        <p:nvSpPr>
          <p:cNvPr id="101" name="Rectangle 100"/>
          <p:cNvSpPr/>
          <p:nvPr/>
        </p:nvSpPr>
        <p:spPr>
          <a:xfrm>
            <a:off x="6248095" y="5048402"/>
            <a:ext cx="5486400" cy="286206"/>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248095" y="5325466"/>
            <a:ext cx="5486400"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24905" y="5105095"/>
            <a:ext cx="381305" cy="162763"/>
          </a:xfrm>
          <a:prstGeom prst="rect">
            <a:avLst/>
          </a:prstGeom>
          <a:noFill/>
          <a:ln/>
        </p:spPr>
        <p:txBody>
          <a:bodyPr wrap="square" lIns="0" rIns="0" tIns="0" bIns="0">
            <a:noAutofit/>
          </a:bodyPr>
          <a:lstStyle/>
          <a:p>
            <a:r>
              <a:rPr sz="900" b="1">
                <a:solidFill>
                  <a:srgbClr val="007AFF"/>
                </a:solidFill>
                <a:latin typeface="Courier New"/>
              </a:rPr>
              <a:t>[32]</a:t>
            </a:r>
          </a:p>
        </p:txBody>
      </p:sp>
      <p:sp>
        <p:nvSpPr>
          <p:cNvPr id="104" name="TextBox 103"/>
          <p:cNvSpPr txBox="1"/>
          <p:nvPr/>
        </p:nvSpPr>
        <p:spPr>
          <a:xfrm>
            <a:off x="6743700" y="5114239"/>
            <a:ext cx="3076955" cy="143560"/>
          </a:xfrm>
          <a:prstGeom prst="rect">
            <a:avLst/>
          </a:prstGeom>
          <a:noFill/>
          <a:ln/>
        </p:spPr>
        <p:txBody>
          <a:bodyPr wrap="square" lIns="0" rIns="0" tIns="0" bIns="0">
            <a:noAutofit/>
          </a:bodyPr>
          <a:lstStyle/>
          <a:p>
            <a:r>
              <a:rPr sz="800">
                <a:solidFill>
                  <a:srgbClr val="1D1D1F"/>
                </a:solidFill>
                <a:latin typeface="Courier New"/>
              </a:rPr>
              <a:t>https://huggingface.co/Qwen/Qwen2.5-7B-Instruct</a:t>
            </a:r>
          </a:p>
        </p:txBody>
      </p:sp>
      <p:sp>
        <p:nvSpPr>
          <p:cNvPr id="105" name="Rectangle 104"/>
          <p:cNvSpPr/>
          <p:nvPr/>
        </p:nvSpPr>
        <p:spPr>
          <a:xfrm>
            <a:off x="6248095" y="5407762"/>
            <a:ext cx="5486400" cy="2761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324905" y="5465369"/>
            <a:ext cx="381305" cy="162763"/>
          </a:xfrm>
          <a:prstGeom prst="rect">
            <a:avLst/>
          </a:prstGeom>
          <a:noFill/>
          <a:ln/>
        </p:spPr>
        <p:txBody>
          <a:bodyPr wrap="square" lIns="0" rIns="0" tIns="0" bIns="0">
            <a:noAutofit/>
          </a:bodyPr>
          <a:lstStyle/>
          <a:p>
            <a:r>
              <a:rPr sz="900" b="1">
                <a:solidFill>
                  <a:srgbClr val="007AFF"/>
                </a:solidFill>
                <a:latin typeface="Courier New"/>
              </a:rPr>
              <a:t>[33]</a:t>
            </a:r>
          </a:p>
        </p:txBody>
      </p:sp>
      <p:sp>
        <p:nvSpPr>
          <p:cNvPr id="107" name="TextBox 106"/>
          <p:cNvSpPr txBox="1"/>
          <p:nvPr/>
        </p:nvSpPr>
        <p:spPr>
          <a:xfrm>
            <a:off x="6743700" y="5474513"/>
            <a:ext cx="2487168" cy="143560"/>
          </a:xfrm>
          <a:prstGeom prst="rect">
            <a:avLst/>
          </a:prstGeom>
          <a:noFill/>
          <a:ln/>
        </p:spPr>
        <p:txBody>
          <a:bodyPr wrap="square" lIns="0" rIns="0" tIns="0" bIns="0">
            <a:noAutofit/>
          </a:bodyPr>
          <a:lstStyle/>
          <a:p>
            <a:r>
              <a:rPr sz="800">
                <a:solidFill>
                  <a:srgbClr val="1D1D1F"/>
                </a:solidFill>
                <a:latin typeface="Courier New"/>
              </a:rPr>
              <a:t>https://qwenlm.github.io/blog/qwen2.5/</a:t>
            </a:r>
          </a:p>
        </p:txBody>
      </p:sp>
      <p:sp>
        <p:nvSpPr>
          <p:cNvPr id="108" name="Rectangle 107"/>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77 | ローカルAI 技術調査レポート 2026</a:t>
            </a:r>
          </a:p>
        </p:txBody>
      </p:sp>
      <p:sp>
        <p:nvSpPr>
          <p:cNvPr id="111" name="TextBox 110"/>
          <p:cNvSpPr txBox="1"/>
          <p:nvPr/>
        </p:nvSpPr>
        <p:spPr>
          <a:xfrm>
            <a:off x="9121140" y="6586423"/>
            <a:ext cx="3117190" cy="162763"/>
          </a:xfrm>
          <a:prstGeom prst="rect">
            <a:avLst/>
          </a:prstGeom>
          <a:noFill/>
          <a:ln/>
        </p:spPr>
        <p:txBody>
          <a:bodyPr wrap="square" lIns="0" rIns="0" tIns="0" bIns="0">
            <a:noAutofit/>
          </a:bodyPr>
          <a:lstStyle/>
          <a:p>
            <a:r>
              <a:rPr sz="900">
                <a:solidFill>
                  <a:srgbClr val="86868B"/>
                </a:solidFill>
                <a:latin typeface="Noto Sans JP"/>
              </a:rPr>
              <a:t>Primary Information Source: Attached Report File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p:spPr>
      </p:pic>
      <p:sp>
        <p:nvSpPr>
          <p:cNvPr id="7" name="TextBox 6"/>
          <p:cNvSpPr txBox="1"/>
          <p:nvPr/>
        </p:nvSpPr>
        <p:spPr>
          <a:xfrm>
            <a:off x="809244" y="381305"/>
            <a:ext cx="4612234" cy="381305"/>
          </a:xfrm>
          <a:prstGeom prst="rect">
            <a:avLst/>
          </a:prstGeom>
          <a:noFill/>
          <a:ln/>
        </p:spPr>
        <p:txBody>
          <a:bodyPr wrap="square" lIns="0" rIns="0" tIns="0" bIns="0">
            <a:noAutofit/>
          </a:bodyPr>
          <a:lstStyle/>
          <a:p>
            <a:r>
              <a:rPr sz="2100" b="1">
                <a:solidFill>
                  <a:srgbClr val="FFFFFF"/>
                </a:solidFill>
                <a:latin typeface="Noto Sans JP"/>
              </a:rPr>
              <a:t>References（参考文献リスト 2/4）</a:t>
            </a:r>
          </a:p>
        </p:txBody>
      </p:sp>
      <p:sp>
        <p:nvSpPr>
          <p:cNvPr id="8" name="TextBox 7"/>
          <p:cNvSpPr txBox="1"/>
          <p:nvPr/>
        </p:nvSpPr>
        <p:spPr>
          <a:xfrm>
            <a:off x="6931152" y="457200"/>
            <a:ext cx="5496458" cy="228600"/>
          </a:xfrm>
          <a:prstGeom prst="rect">
            <a:avLst/>
          </a:prstGeom>
          <a:noFill/>
          <a:ln/>
        </p:spPr>
        <p:txBody>
          <a:bodyPr wrap="square" lIns="0" rIns="0" tIns="0" bIns="0">
            <a:noAutofit/>
          </a:bodyPr>
          <a:lstStyle/>
          <a:p>
            <a:r>
              <a:rPr sz="1200">
                <a:solidFill>
                  <a:srgbClr val="A1A1A6"/>
                </a:solidFill>
                <a:latin typeface="Noto Sans JP"/>
              </a:rPr>
              <a:t>[35]～[68] Llama / Qwen / Gemma / Phi / VLM / Whisper / TTS / OCR</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6334963"/>
        </p:xfrm>
        <a:graphic>
          <a:graphicData uri="http://schemas.openxmlformats.org/drawingml/2006/table">
            <a:tbl>
              <a:tblPr firstRow="1" bandRow="1">
                <a:tableStyleId>{5C22544A-7EE6-4342-B048-85BDC9FD1C3A}</a:tableStyleId>
              </a:tblPr>
              <a:tblGrid>
                <a:gridCol w="2743200"/>
                <a:gridCol w="2743200"/>
              </a:tblGrid>
              <a:tr h="487304">
                <a:tc>
                  <a:txBody>
                    <a:bodyPr/>
                    <a:lstStyle/>
                    <a:p>
                      <a:r>
                        <a:t>NO.</a:t>
                      </a:r>
                    </a:p>
                  </a:txBody>
                  <a:tcPr/>
                </a:tc>
                <a:tc>
                  <a:txBody>
                    <a:bodyPr/>
                    <a:lstStyle/>
                    <a:p>
                      <a:r>
                        <a:t>SOURCE URL / DESCRIPTION</a:t>
                      </a:r>
                    </a:p>
                  </a:txBody>
                  <a:tcPr/>
                </a:tc>
              </a:tr>
              <a:tr h="487304">
                <a:tc>
                  <a:txBody>
                    <a:bodyPr/>
                    <a:lstStyle/>
                    <a:p>
                      <a:r>
                        <a:t>[35]</a:t>
                      </a:r>
                    </a:p>
                  </a:txBody>
                  <a:tcPr/>
                </a:tc>
                <a:tc>
                  <a:txBody>
                    <a:bodyPr/>
                    <a:lstStyle/>
                    <a:p>
                      <a:r>
                        <a:t>Gemma 2 Model Card</a:t>
                      </a:r>
                    </a:p>
                    <a:p>
                      <a:r>
                        <a:t>https://ai.google.dev/gemma/docs/core/model_card_2</a:t>
                      </a:r>
                    </a:p>
                  </a:txBody>
                  <a:tcPr/>
                </a:tc>
              </a:tr>
              <a:tr h="487304">
                <a:tc>
                  <a:txBody>
                    <a:bodyPr/>
                    <a:lstStyle/>
                    <a:p>
                      <a:r>
                        <a:t>[37]</a:t>
                      </a:r>
                    </a:p>
                  </a:txBody>
                  <a:tcPr/>
                </a:tc>
                <a:tc>
                  <a:txBody>
                    <a:bodyPr/>
                    <a:lstStyle/>
                    <a:p>
                      <a:r>
                        <a:t>Mixtral 8x7B Instruct</a:t>
                      </a:r>
                    </a:p>
                    <a:p>
                      <a:r>
                        <a:t>https://huggingface.co/mistralai/Mixtral-8x7B-Instruct-v0.1</a:t>
                      </a:r>
                    </a:p>
                  </a:txBody>
                  <a:tcPr/>
                </a:tc>
              </a:tr>
              <a:tr h="487304">
                <a:tc>
                  <a:txBody>
                    <a:bodyPr/>
                    <a:lstStyle/>
                    <a:p>
                      <a:r>
                        <a:t>[40]</a:t>
                      </a:r>
                    </a:p>
                  </a:txBody>
                  <a:tcPr/>
                </a:tc>
                <a:tc>
                  <a:txBody>
                    <a:bodyPr/>
                    <a:lstStyle/>
                    <a:p>
                      <a:r>
                        <a:t>Phi-4 Technical Report (Arxiv)</a:t>
                      </a:r>
                    </a:p>
                    <a:p>
                      <a:r>
                        <a:t>https://arxiv.org/abs/2412.08905</a:t>
                      </a:r>
                    </a:p>
                  </a:txBody>
                  <a:tcPr/>
                </a:tc>
              </a:tr>
              <a:tr h="487304">
                <a:tc>
                  <a:txBody>
                    <a:bodyPr/>
                    <a:lstStyle/>
                    <a:p>
                      <a:r>
                        <a:t>[41]</a:t>
                      </a:r>
                    </a:p>
                  </a:txBody>
                  <a:tcPr/>
                </a:tc>
                <a:tc>
                  <a:txBody>
                    <a:bodyPr/>
                    <a:lstStyle/>
                    <a:p>
                      <a:r>
                        <a:t>OpenAI Cookbook (Run locally LM Studio)</a:t>
                      </a:r>
                    </a:p>
                    <a:p>
                      <a:r>
                        <a:t>https://developers.openai.com/cookbook/articles/gpt-oss/run-locally-lmstudio/</a:t>
                      </a:r>
                    </a:p>
                  </a:txBody>
                  <a:tcPr/>
                </a:tc>
              </a:tr>
              <a:tr h="487304">
                <a:tc>
                  <a:txBody>
                    <a:bodyPr/>
                    <a:lstStyle/>
                    <a:p>
                      <a:r>
                        <a:t>[42]</a:t>
                      </a:r>
                    </a:p>
                  </a:txBody>
                  <a:tcPr/>
                </a:tc>
                <a:tc>
                  <a:txBody>
                    <a:bodyPr/>
                    <a:lstStyle/>
                    <a:p>
                      <a:r>
                        <a:t>Qwen2-VL 72B</a:t>
                      </a:r>
                    </a:p>
                    <a:p>
                      <a:r>
                        <a:t>https://huggingface.co/Qwen/Qwen2-VL-72B</a:t>
                      </a:r>
                    </a:p>
                  </a:txBody>
                  <a:tcPr/>
                </a:tc>
              </a:tr>
              <a:tr h="487304">
                <a:tc>
                  <a:txBody>
                    <a:bodyPr/>
                    <a:lstStyle/>
                    <a:p>
                      <a:r>
                        <a:t>[43]</a:t>
                      </a:r>
                    </a:p>
                  </a:txBody>
                  <a:tcPr/>
                </a:tc>
                <a:tc>
                  <a:txBody>
                    <a:bodyPr/>
                    <a:lstStyle/>
                    <a:p>
                      <a:r>
                        <a:t>Phi-3-vision 128k Instruct</a:t>
                      </a:r>
                    </a:p>
                    <a:p>
                      <a:r>
                        <a:t>https://huggingface.co/microsoft/Phi-3-vision-128k-instruct</a:t>
                      </a:r>
                    </a:p>
                  </a:txBody>
                  <a:tcPr/>
                </a:tc>
              </a:tr>
              <a:tr h="487304">
                <a:tc>
                  <a:txBody>
                    <a:bodyPr/>
                    <a:lstStyle/>
                    <a:p>
                      <a:r>
                        <a:t>[45]</a:t>
                      </a:r>
                    </a:p>
                  </a:txBody>
                  <a:tcPr/>
                </a:tc>
                <a:tc>
                  <a:txBody>
                    <a:bodyPr/>
                    <a:lstStyle/>
                    <a:p>
                      <a:r>
                        <a:t>InternVL2 4B</a:t>
                      </a:r>
                    </a:p>
                    <a:p>
                      <a:r>
                        <a:t>https://huggingface.co/OpenGVLab/InternVL2-4B</a:t>
                      </a:r>
                    </a:p>
                  </a:txBody>
                  <a:tcPr/>
                </a:tc>
              </a:tr>
              <a:tr h="487304">
                <a:tc>
                  <a:txBody>
                    <a:bodyPr/>
                    <a:lstStyle/>
                    <a:p>
                      <a:r>
                        <a:t>[47]</a:t>
                      </a:r>
                    </a:p>
                  </a:txBody>
                  <a:tcPr/>
                </a:tc>
                <a:tc>
                  <a:txBody>
                    <a:bodyPr/>
                    <a:lstStyle/>
                    <a:p>
                      <a:r>
                        <a:t>LLaVA Repository</a:t>
                      </a:r>
                    </a:p>
                    <a:p>
                      <a:r>
                        <a:t>https://github.com/haotian-liu/LLaVA</a:t>
                      </a:r>
                    </a:p>
                  </a:txBody>
                  <a:tcPr/>
                </a:tc>
              </a:tr>
              <a:tr h="487304">
                <a:tc>
                  <a:txBody>
                    <a:bodyPr/>
                    <a:lstStyle/>
                    <a:p>
                      <a:r>
                        <a:t>[48]</a:t>
                      </a:r>
                    </a:p>
                  </a:txBody>
                  <a:tcPr/>
                </a:tc>
                <a:tc>
                  <a:txBody>
                    <a:bodyPr/>
                    <a:lstStyle/>
                    <a:p>
                      <a:r>
                        <a:t>OpenAI Whisper</a:t>
                      </a:r>
                    </a:p>
                    <a:p>
                      <a:r>
                        <a:t>https://openai.com/index/whisper/</a:t>
                      </a:r>
                    </a:p>
                  </a:txBody>
                  <a:tcPr/>
                </a:tc>
              </a:tr>
              <a:tr h="487304">
                <a:tc>
                  <a:txBody>
                    <a:bodyPr/>
                    <a:lstStyle/>
                    <a:p>
                      <a:r>
                        <a:t>[49]</a:t>
                      </a:r>
                    </a:p>
                  </a:txBody>
                  <a:tcPr/>
                </a:tc>
                <a:tc>
                  <a:txBody>
                    <a:bodyPr/>
                    <a:lstStyle/>
                    <a:p>
                      <a:r>
                        <a:t>AP News (Whisper Hallucination Risk)</a:t>
                      </a:r>
                    </a:p>
                    <a:p>
                      <a:r>
                        <a:t>https://apnews.com/article/90020cdf5fa16c79ca2e5b6c4c9bbb14</a:t>
                      </a:r>
                    </a:p>
                  </a:txBody>
                  <a:tcPr/>
                </a:tc>
              </a:tr>
              <a:tr h="487304">
                <a:tc>
                  <a:txBody>
                    <a:bodyPr/>
                    <a:lstStyle/>
                    <a:p>
                      <a:r>
                        <a:t>[50]</a:t>
                      </a:r>
                    </a:p>
                  </a:txBody>
                  <a:tcPr/>
                </a:tc>
                <a:tc>
                  <a:txBody>
                    <a:bodyPr/>
                    <a:lstStyle/>
                    <a:p>
                      <a:r>
                        <a:t>faster-whisper (SYSTRAN)</a:t>
                      </a:r>
                    </a:p>
                    <a:p>
                      <a:r>
                        <a:t>https://github.com/SYSTRAN/faster-whisper</a:t>
                      </a:r>
                    </a:p>
                  </a:txBody>
                  <a:tcPr/>
                </a:tc>
              </a:tr>
              <a:tr h="487315">
                <a:tc>
                  <a:txBody>
                    <a:bodyPr/>
                    <a:lstStyle/>
                    <a:p>
                      <a:r>
                        <a:t>[51]</a:t>
                      </a:r>
                    </a:p>
                  </a:txBody>
                  <a:tcPr/>
                </a:tc>
                <a:tc>
                  <a:txBody>
                    <a:bodyPr/>
                    <a:lstStyle/>
                    <a:p>
                      <a:r>
                        <a:t>whisper.cpp (ggml)</a:t>
                      </a:r>
                    </a:p>
                    <a:p>
                      <a:r>
                        <a:t>https://github.com/ggml-org/whisper.cpp</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6172200"/>
        </p:xfrm>
        <a:graphic>
          <a:graphicData uri="http://schemas.openxmlformats.org/drawingml/2006/table">
            <a:tbl>
              <a:tblPr firstRow="1" bandRow="1">
                <a:tableStyleId>{5C22544A-7EE6-4342-B048-85BDC9FD1C3A}</a:tableStyleId>
              </a:tblPr>
              <a:tblGrid>
                <a:gridCol w="2743200"/>
                <a:gridCol w="2743200"/>
              </a:tblGrid>
              <a:tr h="474784">
                <a:tc>
                  <a:txBody>
                    <a:bodyPr/>
                    <a:lstStyle/>
                    <a:p>
                      <a:r>
                        <a:t>NO.</a:t>
                      </a:r>
                    </a:p>
                  </a:txBody>
                  <a:tcPr/>
                </a:tc>
                <a:tc>
                  <a:txBody>
                    <a:bodyPr/>
                    <a:lstStyle/>
                    <a:p>
                      <a:r>
                        <a:t>SOURCE URL / DESCRIPTION</a:t>
                      </a:r>
                    </a:p>
                  </a:txBody>
                  <a:tcPr/>
                </a:tc>
              </a:tr>
              <a:tr h="474784">
                <a:tc>
                  <a:txBody>
                    <a:bodyPr/>
                    <a:lstStyle/>
                    <a:p>
                      <a:r>
                        <a:t>[52]</a:t>
                      </a:r>
                    </a:p>
                  </a:txBody>
                  <a:tcPr/>
                </a:tc>
                <a:tc>
                  <a:txBody>
                    <a:bodyPr/>
                    <a:lstStyle/>
                    <a:p>
                      <a:r>
                        <a:t>Piper TTS</a:t>
                      </a:r>
                    </a:p>
                    <a:p>
                      <a:r>
                        <a:t>https://github.com/rhasspy/piper</a:t>
                      </a:r>
                    </a:p>
                  </a:txBody>
                  <a:tcPr/>
                </a:tc>
              </a:tr>
              <a:tr h="474784">
                <a:tc>
                  <a:txBody>
                    <a:bodyPr/>
                    <a:lstStyle/>
                    <a:p>
                      <a:r>
                        <a:t>[53]</a:t>
                      </a:r>
                    </a:p>
                  </a:txBody>
                  <a:tcPr/>
                </a:tc>
                <a:tc>
                  <a:txBody>
                    <a:bodyPr/>
                    <a:lstStyle/>
                    <a:p>
                      <a:r>
                        <a:t>Kokoro TTS</a:t>
                      </a:r>
                    </a:p>
                    <a:p>
                      <a:r>
                        <a:t>https://github.com/hexgrad/kokoro</a:t>
                      </a:r>
                    </a:p>
                  </a:txBody>
                  <a:tcPr/>
                </a:tc>
              </a:tr>
              <a:tr h="474784">
                <a:tc>
                  <a:txBody>
                    <a:bodyPr/>
                    <a:lstStyle/>
                    <a:p>
                      <a:r>
                        <a:t>[54]</a:t>
                      </a:r>
                    </a:p>
                  </a:txBody>
                  <a:tcPr/>
                </a:tc>
                <a:tc>
                  <a:txBody>
                    <a:bodyPr/>
                    <a:lstStyle/>
                    <a:p>
                      <a:r>
                        <a:t>Coqui XTTS-v2</a:t>
                      </a:r>
                    </a:p>
                    <a:p>
                      <a:r>
                        <a:t>https://huggingface.co/coqui/XTTS-v2</a:t>
                      </a:r>
                    </a:p>
                  </a:txBody>
                  <a:tcPr/>
                </a:tc>
              </a:tr>
              <a:tr h="474784">
                <a:tc>
                  <a:txBody>
                    <a:bodyPr/>
                    <a:lstStyle/>
                    <a:p>
                      <a:r>
                        <a:t>[55]</a:t>
                      </a:r>
                    </a:p>
                  </a:txBody>
                  <a:tcPr/>
                </a:tc>
                <a:tc>
                  <a:txBody>
                    <a:bodyPr/>
                    <a:lstStyle/>
                    <a:p>
                      <a:r>
                        <a:t>StyleTTS2</a:t>
                      </a:r>
                    </a:p>
                    <a:p>
                      <a:r>
                        <a:t>https://github.com/yl4579/StyleTTS2</a:t>
                      </a:r>
                    </a:p>
                  </a:txBody>
                  <a:tcPr/>
                </a:tc>
              </a:tr>
              <a:tr h="474784">
                <a:tc>
                  <a:txBody>
                    <a:bodyPr/>
                    <a:lstStyle/>
                    <a:p>
                      <a:r>
                        <a:t>[58]</a:t>
                      </a:r>
                    </a:p>
                  </a:txBody>
                  <a:tcPr/>
                </a:tc>
                <a:tc>
                  <a:txBody>
                    <a:bodyPr/>
                    <a:lstStyle/>
                    <a:p>
                      <a:r>
                        <a:t>BGE-M3 Embedding</a:t>
                      </a:r>
                    </a:p>
                    <a:p>
                      <a:r>
                        <a:t>https://huggingface.co/BAAI/bge-m3</a:t>
                      </a:r>
                    </a:p>
                  </a:txBody>
                  <a:tcPr/>
                </a:tc>
              </a:tr>
              <a:tr h="474784">
                <a:tc>
                  <a:txBody>
                    <a:bodyPr/>
                    <a:lstStyle/>
                    <a:p>
                      <a:r>
                        <a:t>[59]</a:t>
                      </a:r>
                    </a:p>
                  </a:txBody>
                  <a:tcPr/>
                </a:tc>
                <a:tc>
                  <a:txBody>
                    <a:bodyPr/>
                    <a:lstStyle/>
                    <a:p>
                      <a:r>
                        <a:t>Multilingual-E5 Large</a:t>
                      </a:r>
                    </a:p>
                    <a:p>
                      <a:r>
                        <a:t>https://huggingface.co/intfloat/multilingual-e5-large</a:t>
                      </a:r>
                    </a:p>
                  </a:txBody>
                  <a:tcPr/>
                </a:tc>
              </a:tr>
              <a:tr h="474784">
                <a:tc>
                  <a:txBody>
                    <a:bodyPr/>
                    <a:lstStyle/>
                    <a:p>
                      <a:r>
                        <a:t>[60]</a:t>
                      </a:r>
                    </a:p>
                  </a:txBody>
                  <a:tcPr/>
                </a:tc>
                <a:tc>
                  <a:txBody>
                    <a:bodyPr/>
                    <a:lstStyle/>
                    <a:p>
                      <a:r>
                        <a:t>Multilingual-E5 Large Instruct</a:t>
                      </a:r>
                    </a:p>
                    <a:p>
                      <a:r>
                        <a:t>https://huggingface.co/intfloat/multilingual-e5-large-instruct</a:t>
                      </a:r>
                    </a:p>
                  </a:txBody>
                  <a:tcPr/>
                </a:tc>
              </a:tr>
              <a:tr h="474784">
                <a:tc>
                  <a:txBody>
                    <a:bodyPr/>
                    <a:lstStyle/>
                    <a:p>
                      <a:r>
                        <a:t>[61]</a:t>
                      </a:r>
                    </a:p>
                  </a:txBody>
                  <a:tcPr/>
                </a:tc>
                <a:tc>
                  <a:txBody>
                    <a:bodyPr/>
                    <a:lstStyle/>
                    <a:p>
                      <a:r>
                        <a:t>BGE Reranker Large</a:t>
                      </a:r>
                    </a:p>
                    <a:p>
                      <a:r>
                        <a:t>https://huggingface.co/BAAI/bge-reranker-large</a:t>
                      </a:r>
                    </a:p>
                  </a:txBody>
                  <a:tcPr/>
                </a:tc>
              </a:tr>
              <a:tr h="474784">
                <a:tc>
                  <a:txBody>
                    <a:bodyPr/>
                    <a:lstStyle/>
                    <a:p>
                      <a:r>
                        <a:t>[62]</a:t>
                      </a:r>
                    </a:p>
                  </a:txBody>
                  <a:tcPr/>
                </a:tc>
                <a:tc>
                  <a:txBody>
                    <a:bodyPr/>
                    <a:lstStyle/>
                    <a:p>
                      <a:r>
                        <a:t>BGE Reranker v2 M3</a:t>
                      </a:r>
                    </a:p>
                    <a:p>
                      <a:r>
                        <a:t>https://huggingface.co/BAAI/bge-reranker-v2-m3</a:t>
                      </a:r>
                    </a:p>
                  </a:txBody>
                  <a:tcPr/>
                </a:tc>
              </a:tr>
              <a:tr h="474784">
                <a:tc>
                  <a:txBody>
                    <a:bodyPr/>
                    <a:lstStyle/>
                    <a:p>
                      <a:r>
                        <a:t>[64]</a:t>
                      </a:r>
                    </a:p>
                  </a:txBody>
                  <a:tcPr/>
                </a:tc>
                <a:tc>
                  <a:txBody>
                    <a:bodyPr/>
                    <a:lstStyle/>
                    <a:p>
                      <a:r>
                        <a:t>Tesseract OCR</a:t>
                      </a:r>
                    </a:p>
                    <a:p>
                      <a:r>
                        <a:t>https://github.com/tesseract-ocr/tesseract</a:t>
                      </a:r>
                    </a:p>
                  </a:txBody>
                  <a:tcPr/>
                </a:tc>
              </a:tr>
              <a:tr h="474784">
                <a:tc>
                  <a:txBody>
                    <a:bodyPr/>
                    <a:lstStyle/>
                    <a:p>
                      <a:r>
                        <a:t>[66]</a:t>
                      </a:r>
                    </a:p>
                  </a:txBody>
                  <a:tcPr/>
                </a:tc>
                <a:tc>
                  <a:txBody>
                    <a:bodyPr/>
                    <a:lstStyle/>
                    <a:p>
                      <a:r>
                        <a:t>PaddleOCR</a:t>
                      </a:r>
                    </a:p>
                    <a:p>
                      <a:r>
                        <a:t>https://github.com/PaddlePaddle/PaddleOCR</a:t>
                      </a:r>
                    </a:p>
                  </a:txBody>
                  <a:tcPr/>
                </a:tc>
              </a:tr>
              <a:tr h="474792">
                <a:tc>
                  <a:txBody>
                    <a:bodyPr/>
                    <a:lstStyle/>
                    <a:p>
                      <a:r>
                        <a:t>[68]</a:t>
                      </a:r>
                    </a:p>
                  </a:txBody>
                  <a:tcPr/>
                </a:tc>
                <a:tc>
                  <a:txBody>
                    <a:bodyPr/>
                    <a:lstStyle/>
                    <a:p>
                      <a:r>
                        <a:t>Donut (Document Understanding Transformer)</a:t>
                      </a:r>
                    </a:p>
                    <a:p>
                      <a:r>
                        <a:t>https://github.com/clovaai/donut</a:t>
                      </a:r>
                    </a:p>
                  </a:txBody>
                  <a:tcPr/>
                </a:tc>
              </a:tr>
            </a:tbl>
          </a:graphicData>
        </a:graphic>
      </p:graphicFrame>
      <p:sp>
        <p:nvSpPr>
          <p:cNvPr id="14" name="Rectangle 13"/>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78 | ローカルAI 技術調査レポート 2026</a:t>
            </a:r>
          </a:p>
        </p:txBody>
      </p:sp>
      <p:sp>
        <p:nvSpPr>
          <p:cNvPr id="17" name="TextBox 16"/>
          <p:cNvSpPr txBox="1"/>
          <p:nvPr/>
        </p:nvSpPr>
        <p:spPr>
          <a:xfrm>
            <a:off x="10598810" y="6586423"/>
            <a:ext cx="1360626" cy="162763"/>
          </a:xfrm>
          <a:prstGeom prst="rect">
            <a:avLst/>
          </a:prstGeom>
          <a:noFill/>
          <a:ln/>
        </p:spPr>
        <p:txBody>
          <a:bodyPr wrap="square" lIns="0" rIns="0" tIns="0" bIns="0">
            <a:noAutofit/>
          </a:bodyPr>
          <a:lstStyle/>
          <a:p>
            <a:r>
              <a:rPr sz="900">
                <a:solidFill>
                  <a:srgbClr val="86868B"/>
                </a:solidFill>
                <a:latin typeface="Noto Sans JP"/>
              </a:rPr>
              <a:t>Reference List [35-68]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p:spPr>
      </p:pic>
      <p:sp>
        <p:nvSpPr>
          <p:cNvPr id="7" name="TextBox 6"/>
          <p:cNvSpPr txBox="1"/>
          <p:nvPr/>
        </p:nvSpPr>
        <p:spPr>
          <a:xfrm>
            <a:off x="809244" y="381305"/>
            <a:ext cx="2576778" cy="381305"/>
          </a:xfrm>
          <a:prstGeom prst="rect">
            <a:avLst/>
          </a:prstGeom>
          <a:noFill/>
          <a:ln/>
        </p:spPr>
        <p:txBody>
          <a:bodyPr wrap="square" lIns="0" rIns="0" tIns="0" bIns="0">
            <a:noAutofit/>
          </a:bodyPr>
          <a:lstStyle/>
          <a:p>
            <a:r>
              <a:rPr sz="2100" b="1">
                <a:solidFill>
                  <a:srgbClr val="FFFFFF"/>
                </a:solidFill>
                <a:latin typeface="Noto Sans JP"/>
              </a:rPr>
              <a:t>References（3/4）</a:t>
            </a:r>
          </a:p>
        </p:txBody>
      </p:sp>
      <p:sp>
        <p:nvSpPr>
          <p:cNvPr id="8" name="TextBox 7"/>
          <p:cNvSpPr txBox="1"/>
          <p:nvPr/>
        </p:nvSpPr>
        <p:spPr>
          <a:xfrm>
            <a:off x="9859061" y="457200"/>
            <a:ext cx="2232964" cy="228600"/>
          </a:xfrm>
          <a:prstGeom prst="rect">
            <a:avLst/>
          </a:prstGeom>
          <a:noFill/>
          <a:ln/>
        </p:spPr>
        <p:txBody>
          <a:bodyPr wrap="square" lIns="0" rIns="0" tIns="0" bIns="0">
            <a:noAutofit/>
          </a:bodyPr>
          <a:lstStyle/>
          <a:p>
            <a:r>
              <a:rPr sz="1200">
                <a:solidFill>
                  <a:srgbClr val="A1A1A6"/>
                </a:solidFill>
                <a:latin typeface="Noto Sans JP"/>
              </a:rPr>
              <a:t>参考文献リスト [69] - [102]</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6634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(Layout / Image Gen / Voice / HW)</a:t>
                      </a:r>
                    </a:p>
                  </a:txBody>
                  <a:tcPr/>
                </a:tc>
              </a:tr>
              <a:tr h="457200">
                <a:tc>
                  <a:txBody>
                    <a:bodyPr/>
                    <a:lstStyle/>
                    <a:p>
                      <a:r>
                        <a:t>[69]</a:t>
                      </a:r>
                    </a:p>
                  </a:txBody>
                  <a:tcPr/>
                </a:tc>
                <a:tc>
                  <a:txBody>
                    <a:bodyPr/>
                    <a:lstStyle/>
                    <a:p>
                      <a:r>
                        <a:t>LayoutLMv3: Pre-training for Document AI with Unified Text and Image Masking</a:t>
                      </a:r>
                    </a:p>
                    <a:p>
                      <a:r>
                        <a:t>https://arxiv.org/pdf/2204.08387</a:t>
                      </a:r>
                    </a:p>
                  </a:txBody>
                  <a:tcPr/>
                </a:tc>
              </a:tr>
              <a:tr h="457200">
                <a:tc>
                  <a:txBody>
                    <a:bodyPr/>
                    <a:lstStyle/>
                    <a:p>
                      <a:r>
                        <a:t>[71]</a:t>
                      </a:r>
                    </a:p>
                  </a:txBody>
                  <a:tcPr/>
                </a:tc>
                <a:tc>
                  <a:txBody>
                    <a:bodyPr/>
                    <a:lstStyle/>
                    <a:p>
                      <a:r>
                        <a:t>Stable Diffusion XL Base 1.0</a:t>
                      </a:r>
                    </a:p>
                    <a:p>
                      <a:r>
                        <a:t>https://huggingface.co/stabilityai/stable-diffusion-xl-base-1.0</a:t>
                      </a:r>
                    </a:p>
                  </a:txBody>
                  <a:tcPr/>
                </a:tc>
              </a:tr>
              <a:tr h="457200">
                <a:tc>
                  <a:txBody>
                    <a:bodyPr/>
                    <a:lstStyle/>
                    <a:p>
                      <a:r>
                        <a:t>[72]</a:t>
                      </a:r>
                    </a:p>
                  </a:txBody>
                  <a:tcPr/>
                </a:tc>
                <a:tc>
                  <a:txBody>
                    <a:bodyPr/>
                    <a:lstStyle/>
                    <a:p>
                      <a:r>
                        <a:t>ComfyUI (A powerful and modular stable diffusion GUI)</a:t>
                      </a:r>
                    </a:p>
                    <a:p>
                      <a:r>
                        <a:t>https://github.com/Comfy-Org/ComfyUI</a:t>
                      </a:r>
                    </a:p>
                  </a:txBody>
                  <a:tcPr/>
                </a:tc>
              </a:tr>
              <a:tr h="457200">
                <a:tc>
                  <a:txBody>
                    <a:bodyPr/>
                    <a:lstStyle/>
                    <a:p>
                      <a:r>
                        <a:t>[73]</a:t>
                      </a:r>
                    </a:p>
                  </a:txBody>
                  <a:tcPr/>
                </a:tc>
                <a:tc>
                  <a:txBody>
                    <a:bodyPr/>
                    <a:lstStyle/>
                    <a:p>
                      <a:r>
                        <a:t>Stable Diffusion WebUI (AUTOMATIC1111)</a:t>
                      </a:r>
                    </a:p>
                    <a:p>
                      <a:r>
                        <a:t>https://github.com/AUTOMATIC1111/stable-diffusion-webui</a:t>
                      </a:r>
                    </a:p>
                  </a:txBody>
                  <a:tcPr/>
                </a:tc>
              </a:tr>
              <a:tr h="457200">
                <a:tc>
                  <a:txBody>
                    <a:bodyPr/>
                    <a:lstStyle/>
                    <a:p>
                      <a:r>
                        <a:t>[75]</a:t>
                      </a:r>
                    </a:p>
                  </a:txBody>
                  <a:tcPr/>
                </a:tc>
                <a:tc>
                  <a:txBody>
                    <a:bodyPr/>
                    <a:lstStyle/>
                    <a:p>
                      <a:r>
                        <a:t>FLUX (Black Forest Labs)</a:t>
                      </a:r>
                    </a:p>
                    <a:p>
                      <a:r>
                        <a:t>https://github.com/black-forest-labs/flux</a:t>
                      </a:r>
                    </a:p>
                  </a:txBody>
                  <a:tcPr/>
                </a:tc>
              </a:tr>
              <a:tr h="457200">
                <a:tc>
                  <a:txBody>
                    <a:bodyPr/>
                    <a:lstStyle/>
                    <a:p>
                      <a:r>
                        <a:t>[76]</a:t>
                      </a:r>
                    </a:p>
                  </a:txBody>
                  <a:tcPr/>
                </a:tc>
                <a:tc>
                  <a:txBody>
                    <a:bodyPr/>
                    <a:lstStyle/>
                    <a:p>
                      <a:r>
                        <a:t>FLUX.1-dev Model License</a:t>
                      </a:r>
                    </a:p>
                    <a:p>
                      <a:r>
                        <a:t>https://github.com/black-forest-labs/flux/blob/main/model_licenses/LICENSE-FLUX1-dev</a:t>
                      </a:r>
                    </a:p>
                  </a:txBody>
                  <a:tcPr/>
                </a:tc>
              </a:tr>
              <a:tr h="457200">
                <a:tc>
                  <a:txBody>
                    <a:bodyPr/>
                    <a:lstStyle/>
                    <a:p>
                      <a:r>
                        <a:t>[82]</a:t>
                      </a:r>
                    </a:p>
                  </a:txBody>
                  <a:tcPr/>
                </a:tc>
                <a:tc>
                  <a:txBody>
                    <a:bodyPr/>
                    <a:lstStyle/>
                    <a:p>
                      <a:r>
                        <a:t>Silero VAD (Pre-trained enterprise-grade Voice Activity Detector)</a:t>
                      </a:r>
                    </a:p>
                    <a:p>
                      <a:r>
                        <a:t>https://github.com/snakers4/silero-vad</a:t>
                      </a:r>
                    </a:p>
                  </a:txBody>
                  <a:tcPr/>
                </a:tc>
              </a:tr>
              <a:tr h="457200">
                <a:tc>
                  <a:txBody>
                    <a:bodyPr/>
                    <a:lstStyle/>
                    <a:p>
                      <a:r>
                        <a:t>[84]</a:t>
                      </a:r>
                    </a:p>
                  </a:txBody>
                  <a:tcPr/>
                </a:tc>
                <a:tc>
                  <a:txBody>
                    <a:bodyPr/>
                    <a:lstStyle/>
                    <a:p>
                      <a:r>
                        <a:t>pyannote.audio (Neural building blocks for speaker diarization)</a:t>
                      </a:r>
                    </a:p>
                    <a:p>
                      <a:r>
                        <a:t>https://github.com/pyannote/pyannote-audio</a:t>
                      </a:r>
                    </a:p>
                  </a:txBody>
                  <a:tcPr/>
                </a:tc>
              </a:tr>
            </a:tbl>
          </a:graphicData>
        </a:graphic>
      </p:graphicFrame>
      <p:sp>
        <p:nvSpPr>
          <p:cNvPr id="12" name="Rectangle 11"/>
          <p:cNvSpPr/>
          <p:nvPr/>
        </p:nvSpPr>
        <p:spPr>
          <a:xfrm>
            <a:off x="6248095" y="1371600"/>
            <a:ext cx="5505602" cy="4867351"/>
          </a:xfrm>
          <a:prstGeom prst="rect">
            <a:avLst/>
          </a:prstGeom>
          <a:solidFill>
            <a:srgbClr val="FFFFFF"/>
          </a:solidFill>
          <a:ln w="12700">
            <a:solidFill>
              <a:srgbClr val="D2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258154" y="1380744"/>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No.</a:t>
                      </a:r>
                    </a:p>
                  </a:txBody>
                  <a:tcPr/>
                </a:tc>
                <a:tc>
                  <a:txBody>
                    <a:bodyPr/>
                    <a:lstStyle/>
                    <a:p>
                      <a:r>
                        <a:t>Reference Details (Voice / Optimization / Hardware)</a:t>
                      </a:r>
                    </a:p>
                  </a:txBody>
                  <a:tcPr/>
                </a:tc>
              </a:tr>
              <a:tr h="457200">
                <a:tc>
                  <a:txBody>
                    <a:bodyPr/>
                    <a:lstStyle/>
                    <a:p>
                      <a:r>
                        <a:t>[85]</a:t>
                      </a:r>
                    </a:p>
                  </a:txBody>
                  <a:tcPr/>
                </a:tc>
                <a:tc>
                  <a:txBody>
                    <a:bodyPr/>
                    <a:lstStyle/>
                    <a:p>
                      <a:r>
                        <a:t>openWakeWord (Open-source wake word detection)</a:t>
                      </a:r>
                    </a:p>
                    <a:p>
                      <a:r>
                        <a:t>https://github.com/dscripka/openWakeWord</a:t>
                      </a:r>
                    </a:p>
                  </a:txBody>
                  <a:tcPr/>
                </a:tc>
              </a:tr>
              <a:tr h="457200">
                <a:tc>
                  <a:txBody>
                    <a:bodyPr/>
                    <a:lstStyle/>
                    <a:p>
                      <a:r>
                        <a:t>[87]</a:t>
                      </a:r>
                    </a:p>
                  </a:txBody>
                  <a:tcPr/>
                </a:tc>
                <a:tc>
                  <a:txBody>
                    <a:bodyPr/>
                    <a:lstStyle/>
                    <a:p>
                      <a:r>
                        <a:t>ExLlamaV2 (Fast inference library for modern LLMs)</a:t>
                      </a:r>
                    </a:p>
                    <a:p>
                      <a:r>
                        <a:t>https://github.com/turboderp-org/exllamav2</a:t>
                      </a:r>
                    </a:p>
                  </a:txBody>
                  <a:tcPr/>
                </a:tc>
              </a:tr>
              <a:tr h="457200">
                <a:tc>
                  <a:txBody>
                    <a:bodyPr/>
                    <a:lstStyle/>
                    <a:p>
                      <a:r>
                        <a:t>[88]</a:t>
                      </a:r>
                    </a:p>
                  </a:txBody>
                  <a:tcPr/>
                </a:tc>
                <a:tc>
                  <a:txBody>
                    <a:bodyPr/>
                    <a:lstStyle/>
                    <a:p>
                      <a:r>
                        <a:t>llama.cpp Discussion: KV Cache Management</a:t>
                      </a:r>
                    </a:p>
                    <a:p>
                      <a:r>
                        <a:t>https://github.com/ggerganov/llama.cpp/discussions/7949</a:t>
                      </a:r>
                    </a:p>
                  </a:txBody>
                  <a:tcPr/>
                </a:tc>
              </a:tr>
              <a:tr h="457200">
                <a:tc>
                  <a:txBody>
                    <a:bodyPr/>
                    <a:lstStyle/>
                    <a:p>
                      <a:r>
                        <a:t>[90]</a:t>
                      </a:r>
                    </a:p>
                  </a:txBody>
                  <a:tcPr/>
                </a:tc>
                <a:tc>
                  <a:txBody>
                    <a:bodyPr/>
                    <a:lstStyle/>
                    <a:p>
                      <a:r>
                        <a:t>llama.cpp Discussion: Prompt Caching</a:t>
                      </a:r>
                    </a:p>
                    <a:p>
                      <a:r>
                        <a:t>https://github.com/ggml-org/llama.cpp/discussions/8860</a:t>
                      </a:r>
                    </a:p>
                  </a:txBody>
                  <a:tcPr/>
                </a:tc>
              </a:tr>
              <a:tr h="457200">
                <a:tc>
                  <a:txBody>
                    <a:bodyPr/>
                    <a:lstStyle/>
                    <a:p>
                      <a:r>
                        <a:t>[92]</a:t>
                      </a:r>
                    </a:p>
                  </a:txBody>
                  <a:tcPr/>
                </a:tc>
                <a:tc>
                  <a:txBody>
                    <a:bodyPr/>
                    <a:lstStyle/>
                    <a:p>
                      <a:r>
                        <a:t>Apple MacBook Pro Specs</a:t>
                      </a:r>
                    </a:p>
                    <a:p>
                      <a:r>
                        <a:t>https://www.apple.com/macbook-pro/specs/</a:t>
                      </a:r>
                    </a:p>
                  </a:txBody>
                  <a:tcPr/>
                </a:tc>
              </a:tr>
              <a:tr h="457200">
                <a:tc>
                  <a:txBody>
                    <a:bodyPr/>
                    <a:lstStyle/>
                    <a:p>
                      <a:r>
                        <a:t>[93]</a:t>
                      </a:r>
                    </a:p>
                  </a:txBody>
                  <a:tcPr/>
                </a:tc>
                <a:tc>
                  <a:txBody>
                    <a:bodyPr/>
                    <a:lstStyle/>
                    <a:p>
                      <a:r>
                        <a:t>Apple Support: Mac Memory Configurations</a:t>
                      </a:r>
                    </a:p>
                    <a:p>
                      <a:r>
                        <a:t>https://support.apple.com/en-us/111901</a:t>
                      </a:r>
                    </a:p>
                  </a:txBody>
                  <a:tcPr/>
                </a:tc>
              </a:tr>
              <a:tr h="457200">
                <a:tc>
                  <a:txBody>
                    <a:bodyPr/>
                    <a:lstStyle/>
                    <a:p>
                      <a:r>
                        <a:t>[94]</a:t>
                      </a:r>
                    </a:p>
                  </a:txBody>
                  <a:tcPr/>
                </a:tc>
                <a:tc>
                  <a:txBody>
                    <a:bodyPr/>
                    <a:lstStyle/>
                    <a:p>
                      <a:r>
                        <a:t>Apple Support: Mac Studio Memory Specs</a:t>
                      </a:r>
                    </a:p>
                    <a:p>
                      <a:r>
                        <a:t>https://support.apple.com/ja-jp/117736</a:t>
                      </a:r>
                    </a:p>
                  </a:txBody>
                  <a:tcPr/>
                </a:tc>
              </a:tr>
              <a:tr h="457200">
                <a:tc>
                  <a:txBody>
                    <a:bodyPr/>
                    <a:lstStyle/>
                    <a:p>
                      <a:r>
                        <a:t>[97]</a:t>
                      </a:r>
                    </a:p>
                  </a:txBody>
                  <a:tcPr/>
                </a:tc>
                <a:tc>
                  <a:txBody>
                    <a:bodyPr/>
                    <a:lstStyle/>
                    <a:p>
                      <a:r>
                        <a:t>AMD ROCm Documentation for Windows (Radeon/Ryzen)</a:t>
                      </a:r>
                    </a:p>
                    <a:p>
                      <a:r>
                        <a:t>https://rocm.docs.amd.com/projects/radeon-ryzen/en/latest/index.html</a:t>
                      </a:r>
                    </a:p>
                  </a:txBody>
                  <a:tcPr/>
                </a:tc>
              </a:tr>
            </a:tbl>
          </a:graphicData>
        </a:graphic>
      </p:graphicFrame>
      <p:sp>
        <p:nvSpPr>
          <p:cNvPr id="14" name="Rectangle 13"/>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79 | ローカルAI 技術調査レポート 2026</a:t>
            </a:r>
          </a:p>
        </p:txBody>
      </p:sp>
      <p:sp>
        <p:nvSpPr>
          <p:cNvPr id="17" name="TextBox 16"/>
          <p:cNvSpPr txBox="1"/>
          <p:nvPr/>
        </p:nvSpPr>
        <p:spPr>
          <a:xfrm>
            <a:off x="9752990" y="6586423"/>
            <a:ext cx="2369210" cy="162763"/>
          </a:xfrm>
          <a:prstGeom prst="rect">
            <a:avLst/>
          </a:prstGeom>
          <a:noFill/>
          <a:ln/>
        </p:spPr>
        <p:txBody>
          <a:bodyPr wrap="square" lIns="0" rIns="0" tIns="0" bIns="0">
            <a:noAutofit/>
          </a:bodyPr>
          <a:lstStyle/>
          <a:p>
            <a:r>
              <a:rPr sz="900">
                <a:solidFill>
                  <a:srgbClr val="86868B"/>
                </a:solidFill>
                <a:latin typeface="Noto Sans JP"/>
              </a:rPr>
              <a:t>Data Source: Technical Survey Report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5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43000"/>
          </a:xfrm>
          <a:prstGeom prst="rect">
            <a:avLst/>
          </a:prstGeom>
          <a:solidFill>
            <a:srgbClr val="1D1D1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457200" y="437998"/>
            <a:ext cx="237744" cy="267005"/>
          </a:xfrm>
          <a:prstGeom prst="rect">
            <a:avLst/>
          </a:prstGeom>
          <a:ln/>
        </p:spPr>
      </p:pic>
      <p:sp>
        <p:nvSpPr>
          <p:cNvPr id="7" name="TextBox 6"/>
          <p:cNvSpPr txBox="1"/>
          <p:nvPr/>
        </p:nvSpPr>
        <p:spPr>
          <a:xfrm>
            <a:off x="809244" y="381305"/>
            <a:ext cx="4446726" cy="381305"/>
          </a:xfrm>
          <a:prstGeom prst="rect">
            <a:avLst/>
          </a:prstGeom>
          <a:noFill/>
          <a:ln/>
        </p:spPr>
        <p:txBody>
          <a:bodyPr wrap="square" lIns="0" rIns="0" tIns="0" bIns="0">
            <a:noAutofit/>
          </a:bodyPr>
          <a:lstStyle/>
          <a:p>
            <a:r>
              <a:rPr sz="2100" b="1">
                <a:solidFill>
                  <a:srgbClr val="FFFFFF"/>
                </a:solidFill>
                <a:latin typeface="Noto Sans JP"/>
              </a:rPr>
              <a:t>References（参考文献リスト4/4）</a:t>
            </a:r>
          </a:p>
        </p:txBody>
      </p:sp>
      <p:sp>
        <p:nvSpPr>
          <p:cNvPr id="8" name="TextBox 7"/>
          <p:cNvSpPr txBox="1"/>
          <p:nvPr/>
        </p:nvSpPr>
        <p:spPr>
          <a:xfrm>
            <a:off x="6879945" y="457200"/>
            <a:ext cx="5275174" cy="228600"/>
          </a:xfrm>
          <a:prstGeom prst="rect">
            <a:avLst/>
          </a:prstGeom>
          <a:noFill/>
          <a:ln/>
        </p:spPr>
        <p:txBody>
          <a:bodyPr wrap="square" lIns="0" rIns="0" tIns="0" bIns="0">
            <a:noAutofit/>
          </a:bodyPr>
          <a:lstStyle/>
          <a:p>
            <a:r>
              <a:rPr sz="1200">
                <a:solidFill>
                  <a:srgbClr val="A1A1A6"/>
                </a:solidFill>
                <a:latin typeface="Noto Sans JP"/>
              </a:rPr>
              <a:t>音声周辺・ベンチマーク・最適化技術・ハードウェア関連 [103] - [136]</a:t>
            </a:r>
          </a:p>
        </p:txBody>
      </p:sp>
      <p:sp>
        <p:nvSpPr>
          <p:cNvPr id="9" name="Rectangle 8"/>
          <p:cNvSpPr/>
          <p:nvPr/>
        </p:nvSpPr>
        <p:spPr>
          <a:xfrm>
            <a:off x="0" y="1143000"/>
            <a:ext cx="12191695" cy="5324551"/>
          </a:xfrm>
          <a:prstGeom prst="rect">
            <a:avLst/>
          </a:prstGeom>
          <a:solidFill>
            <a:srgbClr val="FBFBF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457200"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[103]</a:t>
                      </a:r>
                    </a:p>
                  </a:txBody>
                  <a:tcPr/>
                </a:tc>
                <a:tc>
                  <a:txBody>
                    <a:bodyPr/>
                    <a:lstStyle/>
                    <a:p>
                      <a:r>
                        <a:t>Phi-3-mini-128k-instruct Model Card</a:t>
                      </a:r>
                    </a:p>
                    <a:p>
                      <a:r>
                        <a:t>https://huggingface.co/microsoft/Phi-3-mini-128k-instruct</a:t>
                      </a:r>
                    </a:p>
                  </a:txBody>
                  <a:tcPr/>
                </a:tc>
              </a:tr>
              <a:tr h="404003">
                <a:tc>
                  <a:txBody>
                    <a:bodyPr/>
                    <a:lstStyle/>
                    <a:p>
                      <a:r>
                        <a:t>[104]</a:t>
                      </a:r>
                    </a:p>
                  </a:txBody>
                  <a:tcPr/>
                </a:tc>
                <a:tc>
                  <a:txBody>
                    <a:bodyPr/>
                    <a:lstStyle/>
                    <a:p>
                      <a:r>
                        <a:t>vLLM: Quantized KV Cache</a:t>
                      </a:r>
                    </a:p>
                    <a:p>
                      <a:r>
                        <a:t>https://docs.vllm.ai/en/latest/features/quantization/quantized_kvcache/</a:t>
                      </a:r>
                    </a:p>
                  </a:txBody>
                  <a:tcPr/>
                </a:tc>
              </a:tr>
              <a:tr h="404003">
                <a:tc>
                  <a:txBody>
                    <a:bodyPr/>
                    <a:lstStyle/>
                    <a:p>
                      <a:r>
                        <a:t>[105]</a:t>
                      </a:r>
                    </a:p>
                  </a:txBody>
                  <a:tcPr/>
                </a:tc>
                <a:tc>
                  <a:txBody>
                    <a:bodyPr/>
                    <a:lstStyle/>
                    <a:p>
                      <a:r>
                        <a:t>OpenAI Whisper</a:t>
                      </a:r>
                    </a:p>
                    <a:p>
                      <a:r>
                        <a:t>https://openai.com/index/whisper/</a:t>
                      </a:r>
                    </a:p>
                  </a:txBody>
                  <a:tcPr/>
                </a:tc>
              </a:tr>
              <a:tr h="404003">
                <a:tc>
                  <a:txBody>
                    <a:bodyPr/>
                    <a:lstStyle/>
                    <a:p>
                      <a:r>
                        <a:t>[106]</a:t>
                      </a:r>
                    </a:p>
                  </a:txBody>
                  <a:tcPr/>
                </a:tc>
                <a:tc>
                  <a:txBody>
                    <a:bodyPr/>
                    <a:lstStyle/>
                    <a:p>
                      <a:r>
                        <a:t>LayoutLMv3: Pre-training for Document AI</a:t>
                      </a:r>
                    </a:p>
                    <a:p>
                      <a:r>
                        <a:t>https://arxiv.org/pdf/2204.08387</a:t>
                      </a:r>
                    </a:p>
                  </a:txBody>
                  <a:tcPr/>
                </a:tc>
              </a:tr>
              <a:tr h="404003">
                <a:tc>
                  <a:txBody>
                    <a:bodyPr/>
                    <a:lstStyle/>
                    <a:p>
                      <a:r>
                        <a:t>[107]</a:t>
                      </a:r>
                    </a:p>
                  </a:txBody>
                  <a:tcPr/>
                </a:tc>
                <a:tc>
                  <a:txBody>
                    <a:bodyPr/>
                    <a:lstStyle/>
                    <a:p>
                      <a:r>
                        <a:t>Qwen2-VL Collection</a:t>
                      </a:r>
                    </a:p>
                    <a:p>
                      <a:r>
                        <a:t>https://huggingface.co/collections/Qwen/qwen2-vl</a:t>
                      </a:r>
                    </a:p>
                  </a:txBody>
                  <a:tcPr/>
                </a:tc>
              </a:tr>
              <a:tr h="404003">
                <a:tc>
                  <a:txBody>
                    <a:bodyPr/>
                    <a:lstStyle/>
                    <a:p>
                      <a:r>
                        <a:t>[108]</a:t>
                      </a:r>
                    </a:p>
                  </a:txBody>
                  <a:tcPr/>
                </a:tc>
                <a:tc>
                  <a:txBody>
                    <a:bodyPr/>
                    <a:lstStyle/>
                    <a:p>
                      <a:r>
                        <a:t>Qwen2-VL-7B-Instruct</a:t>
                      </a:r>
                    </a:p>
                    <a:p>
                      <a:r>
                        <a:t>https://huggingface.co/Qwen/Qwen2-VL-7B-Instruct</a:t>
                      </a:r>
                    </a:p>
                  </a:txBody>
                  <a:tcPr/>
                </a:tc>
              </a:tr>
              <a:tr h="404003">
                <a:tc>
                  <a:txBody>
                    <a:bodyPr/>
                    <a:lstStyle/>
                    <a:p>
                      <a:r>
                        <a:t>[109]</a:t>
                      </a:r>
                    </a:p>
                  </a:txBody>
                  <a:tcPr/>
                </a:tc>
                <a:tc>
                  <a:txBody>
                    <a:bodyPr/>
                    <a:lstStyle/>
                    <a:p>
                      <a:r>
                        <a:t>Qwen2.5-Coder-7B-Instruct</a:t>
                      </a:r>
                    </a:p>
                    <a:p>
                      <a:r>
                        <a:t>https://huggingface.co/Qwen/Qwen2.5-Coder-7B-Instruct</a:t>
                      </a:r>
                    </a:p>
                  </a:txBody>
                  <a:tcPr/>
                </a:tc>
              </a:tr>
              <a:tr h="404003">
                <a:tc>
                  <a:txBody>
                    <a:bodyPr/>
                    <a:lstStyle/>
                    <a:p>
                      <a:r>
                        <a:t>[110]</a:t>
                      </a:r>
                    </a:p>
                  </a:txBody>
                  <a:tcPr/>
                </a:tc>
                <a:tc>
                  <a:txBody>
                    <a:bodyPr/>
                    <a:lstStyle/>
                    <a:p>
                      <a:r>
                        <a:t>Ollama Repository</a:t>
                      </a:r>
                    </a:p>
                    <a:p>
                      <a:r>
                        <a:t>https://github.com/ollama/ollama</a:t>
                      </a:r>
                    </a:p>
                  </a:txBody>
                  <a:tcPr/>
                </a:tc>
              </a:tr>
              <a:tr h="404003">
                <a:tc>
                  <a:txBody>
                    <a:bodyPr/>
                    <a:lstStyle/>
                    <a:p>
                      <a:r>
                        <a:t>[111]</a:t>
                      </a:r>
                    </a:p>
                  </a:txBody>
                  <a:tcPr/>
                </a:tc>
                <a:tc>
                  <a:txBody>
                    <a:bodyPr/>
                    <a:lstStyle/>
                    <a:p>
                      <a:r>
                        <a:t>StarCoder2 Documentation</a:t>
                      </a:r>
                    </a:p>
                    <a:p>
                      <a:r>
                        <a:t>https://huggingface.co/docs/transformers/en/model_doc/starcoder2</a:t>
                      </a:r>
                    </a:p>
                  </a:txBody>
                  <a:tcPr/>
                </a:tc>
              </a:tr>
              <a:tr h="404003">
                <a:tc>
                  <a:txBody>
                    <a:bodyPr/>
                    <a:lstStyle/>
                    <a:p>
                      <a:r>
                        <a:t>[112]</a:t>
                      </a:r>
                    </a:p>
                  </a:txBody>
                  <a:tcPr/>
                </a:tc>
                <a:tc>
                  <a:txBody>
                    <a:bodyPr/>
                    <a:lstStyle/>
                    <a:p>
                      <a:r>
                        <a:t>vLLM: Automatic Prefix Caching</a:t>
                      </a:r>
                    </a:p>
                    <a:p>
                      <a:r>
                        <a:t>https://docs.vllm.ai/en/v0.9.2/design/automatic_prefix_caching.html</a:t>
                      </a:r>
                    </a:p>
                  </a:txBody>
                  <a:tcPr/>
                </a:tc>
              </a:tr>
              <a:tr h="404003">
                <a:tc>
                  <a:txBody>
                    <a:bodyPr/>
                    <a:lstStyle/>
                    <a:p>
                      <a:r>
                        <a:t>[113]</a:t>
                      </a:r>
                    </a:p>
                  </a:txBody>
                  <a:tcPr/>
                </a:tc>
                <a:tc>
                  <a:txBody>
                    <a:bodyPr/>
                    <a:lstStyle/>
                    <a:p>
                      <a:r>
                        <a:t>SDXL-FP16 Model Card</a:t>
                      </a:r>
                    </a:p>
                    <a:p>
                      <a:r>
                        <a:t>https://huggingface.co/wangkanai/sdxl-fp16</a:t>
                      </a:r>
                    </a:p>
                  </a:txBody>
                  <a:tcPr/>
                </a:tc>
              </a:tr>
              <a:tr h="404003">
                <a:tc>
                  <a:txBody>
                    <a:bodyPr/>
                    <a:lstStyle/>
                    <a:p>
                      <a:r>
                        <a:t>[114]</a:t>
                      </a:r>
                    </a:p>
                  </a:txBody>
                  <a:tcPr/>
                </a:tc>
                <a:tc>
                  <a:txBody>
                    <a:bodyPr/>
                    <a:lstStyle/>
                    <a:p>
                      <a:r>
                        <a:t>TensorRT-LLM: KV Cache Reuse</a:t>
                      </a:r>
                    </a:p>
                    <a:p>
                      <a:r>
                        <a:t>https://nvidia.github.io/TensorRT-LLM/advanced/kv-cache-reuse.html</a:t>
                      </a:r>
                    </a:p>
                  </a:txBody>
                  <a:tcPr/>
                </a:tc>
              </a:tr>
              <a:tr h="404003">
                <a:tc>
                  <a:txBody>
                    <a:bodyPr/>
                    <a:lstStyle/>
                    <a:p>
                      <a:r>
                        <a:t>[115]</a:t>
                      </a:r>
                    </a:p>
                  </a:txBody>
                  <a:tcPr/>
                </a:tc>
                <a:tc>
                  <a:txBody>
                    <a:bodyPr/>
                    <a:lstStyle/>
                    <a:p>
                      <a:r>
                        <a:t>llama.cpp Repository</a:t>
                      </a:r>
                    </a:p>
                    <a:p>
                      <a:r>
                        <a:t>https://github.com/ggml-org/llama.cpp</a:t>
                      </a:r>
                    </a:p>
                  </a:txBody>
                  <a:tcPr/>
                </a:tc>
              </a:tr>
              <a:tr h="404003">
                <a:tc>
                  <a:txBody>
                    <a:bodyPr/>
                    <a:lstStyle/>
                    <a:p>
                      <a:r>
                        <a:t>[116]</a:t>
                      </a:r>
                    </a:p>
                  </a:txBody>
                  <a:tcPr/>
                </a:tc>
                <a:tc>
                  <a:txBody>
                    <a:bodyPr/>
                    <a:lstStyle/>
                    <a:p>
                      <a:r>
                        <a:t>GGUF Format Specification</a:t>
                      </a:r>
                    </a:p>
                    <a:p>
                      <a:r>
                        <a:t>https://github.com/ggml-org/ggml/blob/master/docs/gguf.md</a:t>
                      </a:r>
                    </a:p>
                  </a:txBody>
                  <a:tcPr/>
                </a:tc>
              </a:tr>
              <a:tr h="404003">
                <a:tc>
                  <a:txBody>
                    <a:bodyPr/>
                    <a:lstStyle/>
                    <a:p>
                      <a:r>
                        <a:t>[117]</a:t>
                      </a:r>
                    </a:p>
                  </a:txBody>
                  <a:tcPr/>
                </a:tc>
                <a:tc>
                  <a:txBody>
                    <a:bodyPr/>
                    <a:lstStyle/>
                    <a:p>
                      <a:r>
                        <a:t>Ollama OpenAI Compatibility</a:t>
                      </a:r>
                    </a:p>
                    <a:p>
                      <a:r>
                        <a:t>https://docs.ollama.com/api/openai-compatibility</a:t>
                      </a:r>
                    </a:p>
                  </a:txBody>
                  <a:tcPr/>
                </a:tc>
              </a:tr>
              <a:tr h="404003">
                <a:tc>
                  <a:txBody>
                    <a:bodyPr/>
                    <a:lstStyle/>
                    <a:p>
                      <a:r>
                        <a:t>[118]</a:t>
                      </a:r>
                    </a:p>
                  </a:txBody>
                  <a:tcPr/>
                </a:tc>
                <a:tc>
                  <a:txBody>
                    <a:bodyPr/>
                    <a:lstStyle/>
                    <a:p>
                      <a:r>
                        <a:t>LM Studio Documentation</a:t>
                      </a:r>
                    </a:p>
                    <a:p>
                      <a:r>
                        <a:t>https://lmstudio.ai/docs/app</a:t>
                      </a:r>
                    </a:p>
                  </a:txBody>
                  <a:tcPr/>
                </a:tc>
              </a:tr>
              <a:tr h="404010">
                <a:tc>
                  <a:txBody>
                    <a:bodyPr/>
                    <a:lstStyle/>
                    <a:p>
                      <a:r>
                        <a:t>[119]</a:t>
                      </a:r>
                    </a:p>
                  </a:txBody>
                  <a:tcPr/>
                </a:tc>
                <a:tc>
                  <a:txBody>
                    <a:bodyPr/>
                    <a:lstStyle/>
                    <a:p>
                      <a:r>
                        <a:t>MLX Framework</a:t>
                      </a:r>
                    </a:p>
                    <a:p>
                      <a:r>
                        <a:t>https://github.com/ml-explore/mlx</a:t>
                      </a:r>
                    </a:p>
                  </a:txBody>
                  <a:tcPr/>
                </a:tc>
              </a:tr>
            </a:tbl>
          </a:graphicData>
        </a:graphic>
      </p:graphicFrame>
      <p:graphicFrame>
        <p:nvGraphicFramePr>
          <p:cNvPr id="11" name="Table 10"/>
          <p:cNvGraphicFramePr>
            <a:graphicFrameLocks noGrp="1"/>
          </p:cNvGraphicFramePr>
          <p:nvPr/>
        </p:nvGraphicFramePr>
        <p:xfrm>
          <a:off x="6248095" y="1371600"/>
          <a:ext cx="5486400" cy="6868058"/>
        </p:xfrm>
        <a:graphic>
          <a:graphicData uri="http://schemas.openxmlformats.org/drawingml/2006/table">
            <a:tbl>
              <a:tblPr firstRow="1" bandRow="1">
                <a:tableStyleId>{5C22544A-7EE6-4342-B048-85BDC9FD1C3A}</a:tableStyleId>
              </a:tblPr>
              <a:tblGrid>
                <a:gridCol w="2743200"/>
                <a:gridCol w="2743200"/>
              </a:tblGrid>
              <a:tr h="404003">
                <a:tc>
                  <a:txBody>
                    <a:bodyPr/>
                    <a:lstStyle/>
                    <a:p>
                      <a:r>
                        <a:t>[120]</a:t>
                      </a:r>
                    </a:p>
                  </a:txBody>
                  <a:tcPr/>
                </a:tc>
                <a:tc>
                  <a:txBody>
                    <a:bodyPr/>
                    <a:lstStyle/>
                    <a:p>
                      <a:r>
                        <a:t>MLX-LM Repository</a:t>
                      </a:r>
                    </a:p>
                    <a:p>
                      <a:r>
                        <a:t>https://github.com/ml-explore/mlx-lm</a:t>
                      </a:r>
                    </a:p>
                  </a:txBody>
                  <a:tcPr/>
                </a:tc>
              </a:tr>
              <a:tr h="404003">
                <a:tc>
                  <a:txBody>
                    <a:bodyPr/>
                    <a:lstStyle/>
                    <a:p>
                      <a:r>
                        <a:t>[121]</a:t>
                      </a:r>
                    </a:p>
                  </a:txBody>
                  <a:tcPr/>
                </a:tc>
                <a:tc>
                  <a:txBody>
                    <a:bodyPr/>
                    <a:lstStyle/>
                    <a:p>
                      <a:r>
                        <a:t>vLLM Supported Platforms</a:t>
                      </a:r>
                    </a:p>
                    <a:p>
                      <a:r>
                        <a:t>https://docs.vllm.ai/en/latest/api/vllm/platforms/</a:t>
                      </a:r>
                    </a:p>
                  </a:txBody>
                  <a:tcPr/>
                </a:tc>
              </a:tr>
              <a:tr h="404003">
                <a:tc>
                  <a:txBody>
                    <a:bodyPr/>
                    <a:lstStyle/>
                    <a:p>
                      <a:r>
                        <a:t>[122]</a:t>
                      </a:r>
                    </a:p>
                  </a:txBody>
                  <a:tcPr/>
                </a:tc>
                <a:tc>
                  <a:txBody>
                    <a:bodyPr/>
                    <a:lstStyle/>
                    <a:p>
                      <a:r>
                        <a:t>NVIDIA TensorRT-LLM</a:t>
                      </a:r>
                    </a:p>
                    <a:p>
                      <a:r>
                        <a:t>https://github.com/NVIDIA/TensorRT-LLM</a:t>
                      </a:r>
                    </a:p>
                  </a:txBody>
                  <a:tcPr/>
                </a:tc>
              </a:tr>
              <a:tr h="404003">
                <a:tc>
                  <a:txBody>
                    <a:bodyPr/>
                    <a:lstStyle/>
                    <a:p>
                      <a:r>
                        <a:t>[123]</a:t>
                      </a:r>
                    </a:p>
                  </a:txBody>
                  <a:tcPr/>
                </a:tc>
                <a:tc>
                  <a:txBody>
                    <a:bodyPr/>
                    <a:lstStyle/>
                    <a:p>
                      <a:r>
                        <a:t>GPTQ: Accurate Post-Training Quantization</a:t>
                      </a:r>
                    </a:p>
                    <a:p>
                      <a:r>
                        <a:t>https://arxiv.org/pdf/2210.17323</a:t>
                      </a:r>
                    </a:p>
                  </a:txBody>
                  <a:tcPr/>
                </a:tc>
              </a:tr>
              <a:tr h="404003">
                <a:tc>
                  <a:txBody>
                    <a:bodyPr/>
                    <a:lstStyle/>
                    <a:p>
                      <a:r>
                        <a:t>[124]</a:t>
                      </a:r>
                    </a:p>
                  </a:txBody>
                  <a:tcPr/>
                </a:tc>
                <a:tc>
                  <a:txBody>
                    <a:bodyPr/>
                    <a:lstStyle/>
                    <a:p>
                      <a:r>
                        <a:t>AWQ: Activation-aware Weight Quantization</a:t>
                      </a:r>
                    </a:p>
                    <a:p>
                      <a:r>
                        <a:t>https://arxiv.org/abs/2306.00978</a:t>
                      </a:r>
                    </a:p>
                  </a:txBody>
                  <a:tcPr/>
                </a:tc>
              </a:tr>
              <a:tr h="404003">
                <a:tc>
                  <a:txBody>
                    <a:bodyPr/>
                    <a:lstStyle/>
                    <a:p>
                      <a:r>
                        <a:t>[125]</a:t>
                      </a:r>
                    </a:p>
                  </a:txBody>
                  <a:tcPr/>
                </a:tc>
                <a:tc>
                  <a:txBody>
                    <a:bodyPr/>
                    <a:lstStyle/>
                    <a:p>
                      <a:r>
                        <a:t>AutoAWQ Repository</a:t>
                      </a:r>
                    </a:p>
                    <a:p>
                      <a:r>
                        <a:t>https://github.com/casper-hansen/AutoAWQ</a:t>
                      </a:r>
                    </a:p>
                  </a:txBody>
                  <a:tcPr/>
                </a:tc>
              </a:tr>
              <a:tr h="404003">
                <a:tc>
                  <a:txBody>
                    <a:bodyPr/>
                    <a:lstStyle/>
                    <a:p>
                      <a:r>
                        <a:t>[126]</a:t>
                      </a:r>
                    </a:p>
                  </a:txBody>
                  <a:tcPr/>
                </a:tc>
                <a:tc>
                  <a:txBody>
                    <a:bodyPr/>
                    <a:lstStyle/>
                    <a:p>
                      <a:r>
                        <a:t>AutoGPTQ Repository</a:t>
                      </a:r>
                    </a:p>
                    <a:p>
                      <a:r>
                        <a:t>https://github.com/AutoGPTQ/AutoGPTQ</a:t>
                      </a:r>
                    </a:p>
                  </a:txBody>
                  <a:tcPr/>
                </a:tc>
              </a:tr>
              <a:tr h="404003">
                <a:tc>
                  <a:txBody>
                    <a:bodyPr/>
                    <a:lstStyle/>
                    <a:p>
                      <a:r>
                        <a:t>[127]</a:t>
                      </a:r>
                    </a:p>
                  </a:txBody>
                  <a:tcPr/>
                </a:tc>
                <a:tc>
                  <a:txBody>
                    <a:bodyPr/>
                    <a:lstStyle/>
                    <a:p>
                      <a:r>
                        <a:t>SmoothQuant: Accurate and Efficient 8-bit LLMs</a:t>
                      </a:r>
                    </a:p>
                    <a:p>
                      <a:r>
                        <a:t>https://arxiv.org/abs/2211.10438</a:t>
                      </a:r>
                    </a:p>
                  </a:txBody>
                  <a:tcPr/>
                </a:tc>
              </a:tr>
              <a:tr h="404003">
                <a:tc>
                  <a:txBody>
                    <a:bodyPr/>
                    <a:lstStyle/>
                    <a:p>
                      <a:r>
                        <a:t>[128]</a:t>
                      </a:r>
                    </a:p>
                  </a:txBody>
                  <a:tcPr/>
                </a:tc>
                <a:tc>
                  <a:txBody>
                    <a:bodyPr/>
                    <a:lstStyle/>
                    <a:p>
                      <a:r>
                        <a:t>Qwen2.5-7B-Instruct</a:t>
                      </a:r>
                    </a:p>
                    <a:p>
                      <a:r>
                        <a:t>https://huggingface.co/Qwen/Qwen2.5-7B-Instruct</a:t>
                      </a:r>
                    </a:p>
                  </a:txBody>
                  <a:tcPr/>
                </a:tc>
              </a:tr>
              <a:tr h="404003">
                <a:tc>
                  <a:txBody>
                    <a:bodyPr/>
                    <a:lstStyle/>
                    <a:p>
                      <a:r>
                        <a:t>[129]</a:t>
                      </a:r>
                    </a:p>
                  </a:txBody>
                  <a:tcPr/>
                </a:tc>
                <a:tc>
                  <a:txBody>
                    <a:bodyPr/>
                    <a:lstStyle/>
                    <a:p>
                      <a:r>
                        <a:t>FLUX Repository</a:t>
                      </a:r>
                    </a:p>
                    <a:p>
                      <a:r>
                        <a:t>https://github.com/black-forest-labs/flux</a:t>
                      </a:r>
                    </a:p>
                  </a:txBody>
                  <a:tcPr/>
                </a:tc>
              </a:tr>
              <a:tr h="404003">
                <a:tc>
                  <a:txBody>
                    <a:bodyPr/>
                    <a:lstStyle/>
                    <a:p>
                      <a:r>
                        <a:t>[130]</a:t>
                      </a:r>
                    </a:p>
                  </a:txBody>
                  <a:tcPr/>
                </a:tc>
                <a:tc>
                  <a:txBody>
                    <a:bodyPr/>
                    <a:lstStyle/>
                    <a:p>
                      <a:r>
                        <a:t>Choosing a Resource Storage Mode for Apple GPUs</a:t>
                      </a:r>
                    </a:p>
                    <a:p>
                      <a:r>
                        <a:t>https://developer.apple.com/documentation/metal/...</a:t>
                      </a:r>
                    </a:p>
                  </a:txBody>
                  <a:tcPr/>
                </a:tc>
              </a:tr>
              <a:tr h="404003">
                <a:tc>
                  <a:txBody>
                    <a:bodyPr/>
                    <a:lstStyle/>
                    <a:p>
                      <a:r>
                        <a:t>[131]</a:t>
                      </a:r>
                    </a:p>
                  </a:txBody>
                  <a:tcPr/>
                </a:tc>
                <a:tc>
                  <a:txBody>
                    <a:bodyPr/>
                    <a:lstStyle/>
                    <a:p>
                      <a:r>
                        <a:t>Apple M1 Announcement</a:t>
                      </a:r>
                    </a:p>
                    <a:p>
                      <a:r>
                        <a:t>https://www.apple.com/newsroom/2020/11/apple-unleashes-m1/</a:t>
                      </a:r>
                    </a:p>
                  </a:txBody>
                  <a:tcPr/>
                </a:tc>
              </a:tr>
              <a:tr h="404003">
                <a:tc>
                  <a:txBody>
                    <a:bodyPr/>
                    <a:lstStyle/>
                    <a:p>
                      <a:r>
                        <a:t>[132]</a:t>
                      </a:r>
                    </a:p>
                  </a:txBody>
                  <a:tcPr/>
                </a:tc>
                <a:tc>
                  <a:txBody>
                    <a:bodyPr/>
                    <a:lstStyle/>
                    <a:p>
                      <a:r>
                        <a:t>MLX Unified Memory Guide</a:t>
                      </a:r>
                    </a:p>
                    <a:p>
                      <a:r>
                        <a:t>https://ml-explore.github.io/mlx/build/html/usage/unified_memory.html</a:t>
                      </a:r>
                    </a:p>
                  </a:txBody>
                  <a:tcPr/>
                </a:tc>
              </a:tr>
              <a:tr h="404003">
                <a:tc>
                  <a:txBody>
                    <a:bodyPr/>
                    <a:lstStyle/>
                    <a:p>
                      <a:r>
                        <a:t>[133]</a:t>
                      </a:r>
                    </a:p>
                  </a:txBody>
                  <a:tcPr/>
                </a:tc>
                <a:tc>
                  <a:txBody>
                    <a:bodyPr/>
                    <a:lstStyle/>
                    <a:p>
                      <a:r>
                        <a:t>Check if your Mac has unified memory</a:t>
                      </a:r>
                    </a:p>
                    <a:p>
                      <a:r>
                        <a:t>https://support.apple.com/en-us/111901</a:t>
                      </a:r>
                    </a:p>
                  </a:txBody>
                  <a:tcPr/>
                </a:tc>
              </a:tr>
              <a:tr h="404003">
                <a:tc>
                  <a:txBody>
                    <a:bodyPr/>
                    <a:lstStyle/>
                    <a:p>
                      <a:r>
                        <a:t>[134]</a:t>
                      </a:r>
                    </a:p>
                  </a:txBody>
                  <a:tcPr/>
                </a:tc>
                <a:tc>
                  <a:txBody>
                    <a:bodyPr/>
                    <a:lstStyle/>
                    <a:p>
                      <a:r>
                        <a:t>Metal for PyTorch</a:t>
                      </a:r>
                    </a:p>
                    <a:p>
                      <a:r>
                        <a:t>https://developer.apple.com/metal/pytorch/</a:t>
                      </a:r>
                    </a:p>
                  </a:txBody>
                  <a:tcPr/>
                </a:tc>
              </a:tr>
              <a:tr h="404003">
                <a:tc>
                  <a:txBody>
                    <a:bodyPr/>
                    <a:lstStyle/>
                    <a:p>
                      <a:r>
                        <a:t>[135]</a:t>
                      </a:r>
                    </a:p>
                  </a:txBody>
                  <a:tcPr/>
                </a:tc>
                <a:tc>
                  <a:txBody>
                    <a:bodyPr/>
                    <a:lstStyle/>
                    <a:p>
                      <a:r>
                        <a:t>Run LLMs on Intel GPUs using llama.cpp</a:t>
                      </a:r>
                    </a:p>
                    <a:p>
                      <a:r>
                        <a:t>https://www.intel.com/.../run-llms-on-gpus-using-llama-cpp.html</a:t>
                      </a:r>
                    </a:p>
                  </a:txBody>
                  <a:tcPr/>
                </a:tc>
              </a:tr>
              <a:tr h="404010">
                <a:tc>
                  <a:txBody>
                    <a:bodyPr/>
                    <a:lstStyle/>
                    <a:p>
                      <a:r>
                        <a:t>[136]</a:t>
                      </a:r>
                    </a:p>
                  </a:txBody>
                  <a:tcPr/>
                </a:tc>
                <a:tc>
                  <a:txBody>
                    <a:bodyPr/>
                    <a:lstStyle/>
                    <a:p>
                      <a:r>
                        <a:t>OpenVINO Repository</a:t>
                      </a:r>
                    </a:p>
                    <a:p>
                      <a:r>
                        <a:t>https://github.com/openvinotoolkit/openvino</a:t>
                      </a:r>
                    </a:p>
                  </a:txBody>
                  <a:tcPr/>
                </a:tc>
              </a:tr>
            </a:tbl>
          </a:graphicData>
        </a:graphic>
      </p:graphicFrame>
      <p:sp>
        <p:nvSpPr>
          <p:cNvPr id="12" name="TextBox 11"/>
          <p:cNvSpPr txBox="1"/>
          <p:nvPr/>
        </p:nvSpPr>
        <p:spPr>
          <a:xfrm>
            <a:off x="10401300" y="4677156"/>
            <a:ext cx="1218895" cy="1218895"/>
          </a:xfrm>
          <a:prstGeom prst="rect">
            <a:avLst/>
          </a:prstGeom>
          <a:noFill/>
          <a:ln w="50800">
            <a:solidFill>
              <a:srgbClr val="1D1D1F"/>
            </a:solidFill>
          </a:ln>
        </p:spPr>
        <p:txBody>
          <a:bodyPr wrap="square" lIns="0" rIns="0" tIns="0" bIns="0">
            <a:noAutofit/>
          </a:bodyPr>
          <a:lstStyle/>
          <a:p/>
        </p:txBody>
      </p:sp>
      <p:sp>
        <p:nvSpPr>
          <p:cNvPr id="13" name="TextBox 12"/>
          <p:cNvSpPr txBox="1"/>
          <p:nvPr/>
        </p:nvSpPr>
        <p:spPr>
          <a:xfrm>
            <a:off x="10705795" y="4981651"/>
            <a:ext cx="791869" cy="609905"/>
          </a:xfrm>
          <a:prstGeom prst="rect">
            <a:avLst/>
          </a:prstGeom>
          <a:noFill/>
          <a:ln/>
        </p:spPr>
        <p:txBody>
          <a:bodyPr wrap="square" lIns="0" rIns="0" tIns="0" bIns="0">
            <a:noAutofit/>
          </a:bodyPr>
          <a:lstStyle/>
          <a:p>
            <a:r>
              <a:rPr sz="4800" b="1">
                <a:solidFill>
                  <a:srgbClr val="1D1D1F"/>
                </a:solidFill>
                <a:latin typeface="Times New Roman"/>
              </a:rPr>
              <a:t>完</a:t>
            </a:r>
          </a:p>
        </p:txBody>
      </p:sp>
      <p:sp>
        <p:nvSpPr>
          <p:cNvPr id="14" name="Rectangle 13"/>
          <p:cNvSpPr/>
          <p:nvPr/>
        </p:nvSpPr>
        <p:spPr>
          <a:xfrm>
            <a:off x="0" y="6467551"/>
            <a:ext cx="12191695" cy="390448"/>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67551"/>
            <a:ext cx="12191695" cy="9144"/>
          </a:xfrm>
          <a:prstGeom prst="rect">
            <a:avLst/>
          </a:prstGeom>
          <a:solidFill>
            <a:srgbClr val="E5E5E5"/>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86423"/>
            <a:ext cx="2642616" cy="162763"/>
          </a:xfrm>
          <a:prstGeom prst="rect">
            <a:avLst/>
          </a:prstGeom>
          <a:noFill/>
          <a:ln/>
        </p:spPr>
        <p:txBody>
          <a:bodyPr wrap="square" lIns="0" rIns="0" tIns="0" bIns="0">
            <a:noAutofit/>
          </a:bodyPr>
          <a:lstStyle/>
          <a:p>
            <a:r>
              <a:rPr sz="900">
                <a:solidFill>
                  <a:srgbClr val="86868B"/>
                </a:solidFill>
                <a:latin typeface="Noto Sans JP"/>
              </a:rPr>
              <a:t>Page 80 | ローカルAI 技術調査レポート 2026</a:t>
            </a:r>
          </a:p>
        </p:txBody>
      </p:sp>
      <p:sp>
        <p:nvSpPr>
          <p:cNvPr id="17" name="TextBox 16"/>
          <p:cNvSpPr txBox="1"/>
          <p:nvPr/>
        </p:nvSpPr>
        <p:spPr>
          <a:xfrm>
            <a:off x="10108692" y="6586423"/>
            <a:ext cx="1938527" cy="162763"/>
          </a:xfrm>
          <a:prstGeom prst="rect">
            <a:avLst/>
          </a:prstGeom>
          <a:noFill/>
          <a:ln/>
        </p:spPr>
        <p:txBody>
          <a:bodyPr wrap="square" lIns="0" rIns="0" tIns="0" bIns="0">
            <a:noAutofit/>
          </a:bodyPr>
          <a:lstStyle/>
          <a:p>
            <a:r>
              <a:rPr sz="900" b="1">
                <a:solidFill>
                  <a:srgbClr val="1D1D1F"/>
                </a:solidFill>
                <a:latin typeface="Noto Sans JP"/>
              </a:rPr>
              <a:t>Technical Survey Completed.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